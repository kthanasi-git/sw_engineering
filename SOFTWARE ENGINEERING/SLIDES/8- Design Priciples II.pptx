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3" r:id="rId3"/>
  </p:sldMasterIdLst>
  <p:notesMasterIdLst>
    <p:notesMasterId r:id="rId34"/>
  </p:notesMasterIdLst>
  <p:sldIdLst>
    <p:sldId id="339" r:id="rId4"/>
    <p:sldId id="771" r:id="rId5"/>
    <p:sldId id="545" r:id="rId6"/>
    <p:sldId id="430" r:id="rId7"/>
    <p:sldId id="431" r:id="rId8"/>
    <p:sldId id="432" r:id="rId9"/>
    <p:sldId id="433" r:id="rId10"/>
    <p:sldId id="434" r:id="rId11"/>
    <p:sldId id="435" r:id="rId12"/>
    <p:sldId id="436" r:id="rId13"/>
    <p:sldId id="776" r:id="rId14"/>
    <p:sldId id="552" r:id="rId15"/>
    <p:sldId id="544" r:id="rId16"/>
    <p:sldId id="422" r:id="rId17"/>
    <p:sldId id="529" r:id="rId18"/>
    <p:sldId id="530" r:id="rId19"/>
    <p:sldId id="425" r:id="rId20"/>
    <p:sldId id="533" r:id="rId21"/>
    <p:sldId id="426" r:id="rId22"/>
    <p:sldId id="427" r:id="rId23"/>
    <p:sldId id="428" r:id="rId24"/>
    <p:sldId id="429" r:id="rId25"/>
    <p:sldId id="553" r:id="rId26"/>
    <p:sldId id="546" r:id="rId27"/>
    <p:sldId id="437" r:id="rId28"/>
    <p:sldId id="438" r:id="rId29"/>
    <p:sldId id="439" r:id="rId30"/>
    <p:sldId id="532" r:id="rId31"/>
    <p:sldId id="775" r:id="rId32"/>
    <p:sldId id="472"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65" autoAdjust="0"/>
    <p:restoredTop sz="75332" autoAdjust="0"/>
  </p:normalViewPr>
  <p:slideViewPr>
    <p:cSldViewPr snapToGrid="0">
      <p:cViewPr varScale="1">
        <p:scale>
          <a:sx n="118" d="100"/>
          <a:sy n="118" d="100"/>
        </p:scale>
        <p:origin x="2712" y="200"/>
      </p:cViewPr>
      <p:guideLst/>
    </p:cSldViewPr>
  </p:slid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21" Type="http://schemas.openxmlformats.org/officeDocument/2006/relationships/slide" Target="slides/slide18.xml"/><Relationship Id="rId34" Type="http://schemas.openxmlformats.org/officeDocument/2006/relationships/notesMaster" Target="notesMasters/notesMaster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presProps" Target="presProps.xml"/><Relationship Id="rId8" Type="http://schemas.openxmlformats.org/officeDocument/2006/relationships/slide" Target="slides/slide5.xml"/><Relationship Id="rId3" Type="http://schemas.openxmlformats.org/officeDocument/2006/relationships/slideMaster" Target="slideMasters/slideMaster3.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68BBB8D-0C00-450C-9BD2-B3318261B7D1}" type="doc">
      <dgm:prSet loTypeId="urn:microsoft.com/office/officeart/2005/8/layout/vList2" loCatId="list" qsTypeId="urn:microsoft.com/office/officeart/2005/8/quickstyle/simple4" qsCatId="simple" csTypeId="urn:microsoft.com/office/officeart/2005/8/colors/colorful5" csCatId="colorful"/>
      <dgm:spPr/>
      <dgm:t>
        <a:bodyPr/>
        <a:lstStyle/>
        <a:p>
          <a:endParaRPr lang="en-US"/>
        </a:p>
      </dgm:t>
    </dgm:pt>
    <dgm:pt modelId="{B8B5973C-C26B-444C-9283-04A128C50ED1}">
      <dgm:prSet/>
      <dgm:spPr/>
      <dgm:t>
        <a:bodyPr/>
        <a:lstStyle/>
        <a:p>
          <a:r>
            <a:rPr lang="en-US"/>
            <a:t>Intent</a:t>
          </a:r>
        </a:p>
      </dgm:t>
    </dgm:pt>
    <dgm:pt modelId="{EE7BBEE6-54CE-4F32-9A3A-EAC9D1ABE371}" type="parTrans" cxnId="{17FE1171-AF79-4853-AC5F-89CAA608D0C0}">
      <dgm:prSet/>
      <dgm:spPr/>
      <dgm:t>
        <a:bodyPr/>
        <a:lstStyle/>
        <a:p>
          <a:endParaRPr lang="en-US"/>
        </a:p>
      </dgm:t>
    </dgm:pt>
    <dgm:pt modelId="{0AC3602A-8890-4286-BB1B-9E3ACF129C90}" type="sibTrans" cxnId="{17FE1171-AF79-4853-AC5F-89CAA608D0C0}">
      <dgm:prSet/>
      <dgm:spPr/>
      <dgm:t>
        <a:bodyPr/>
        <a:lstStyle/>
        <a:p>
          <a:endParaRPr lang="en-US"/>
        </a:p>
      </dgm:t>
    </dgm:pt>
    <dgm:pt modelId="{F3E7A6C3-8CA3-4DF5-8F85-7426F0612746}">
      <dgm:prSet/>
      <dgm:spPr/>
      <dgm:t>
        <a:bodyPr/>
        <a:lstStyle/>
        <a:p>
          <a:r>
            <a:rPr lang="en-US"/>
            <a:t>Assign a responsibility so that coupling remains low</a:t>
          </a:r>
        </a:p>
      </dgm:t>
    </dgm:pt>
    <dgm:pt modelId="{D50403DE-FD37-45B4-9A4B-5DD22AC45667}" type="parTrans" cxnId="{00C497D3-C79E-458D-94E8-3C9BB2C34362}">
      <dgm:prSet/>
      <dgm:spPr/>
      <dgm:t>
        <a:bodyPr/>
        <a:lstStyle/>
        <a:p>
          <a:endParaRPr lang="en-US"/>
        </a:p>
      </dgm:t>
    </dgm:pt>
    <dgm:pt modelId="{723AF8CC-6888-43E4-97E5-B64B1857C8D8}" type="sibTrans" cxnId="{00C497D3-C79E-458D-94E8-3C9BB2C34362}">
      <dgm:prSet/>
      <dgm:spPr/>
      <dgm:t>
        <a:bodyPr/>
        <a:lstStyle/>
        <a:p>
          <a:endParaRPr lang="en-US"/>
        </a:p>
      </dgm:t>
    </dgm:pt>
    <dgm:pt modelId="{DE761676-C521-40C5-8609-9EB510EFA655}">
      <dgm:prSet/>
      <dgm:spPr/>
      <dgm:t>
        <a:bodyPr/>
        <a:lstStyle/>
        <a:p>
          <a:r>
            <a:rPr lang="en-US"/>
            <a:t>Problem</a:t>
          </a:r>
        </a:p>
      </dgm:t>
    </dgm:pt>
    <dgm:pt modelId="{4FF8C472-566E-4352-A2AC-A74D57F11362}" type="parTrans" cxnId="{33F1170D-E081-4D57-B63A-3EEF83B32B0E}">
      <dgm:prSet/>
      <dgm:spPr/>
      <dgm:t>
        <a:bodyPr/>
        <a:lstStyle/>
        <a:p>
          <a:endParaRPr lang="en-US"/>
        </a:p>
      </dgm:t>
    </dgm:pt>
    <dgm:pt modelId="{724C7C1A-C9D6-4701-BAC5-86C939BE1798}" type="sibTrans" cxnId="{33F1170D-E081-4D57-B63A-3EEF83B32B0E}">
      <dgm:prSet/>
      <dgm:spPr/>
      <dgm:t>
        <a:bodyPr/>
        <a:lstStyle/>
        <a:p>
          <a:endParaRPr lang="en-US"/>
        </a:p>
      </dgm:t>
    </dgm:pt>
    <dgm:pt modelId="{ABD58951-F387-4681-B583-EC4AE017A7BE}">
      <dgm:prSet/>
      <dgm:spPr/>
      <dgm:t>
        <a:bodyPr/>
        <a:lstStyle/>
        <a:p>
          <a:r>
            <a:rPr lang="en-US"/>
            <a:t>How to support low dependency and increased reuse</a:t>
          </a:r>
        </a:p>
      </dgm:t>
    </dgm:pt>
    <dgm:pt modelId="{D9E4EFE3-EB00-4962-8AF8-2992774FDC13}" type="parTrans" cxnId="{A652FB55-4648-46BB-BF79-CD370341E272}">
      <dgm:prSet/>
      <dgm:spPr/>
      <dgm:t>
        <a:bodyPr/>
        <a:lstStyle/>
        <a:p>
          <a:endParaRPr lang="en-US"/>
        </a:p>
      </dgm:t>
    </dgm:pt>
    <dgm:pt modelId="{CEBCE1F2-DCA0-4DAE-B665-5EA80B3D3AC5}" type="sibTrans" cxnId="{A652FB55-4648-46BB-BF79-CD370341E272}">
      <dgm:prSet/>
      <dgm:spPr/>
      <dgm:t>
        <a:bodyPr/>
        <a:lstStyle/>
        <a:p>
          <a:endParaRPr lang="en-US"/>
        </a:p>
      </dgm:t>
    </dgm:pt>
    <dgm:pt modelId="{FF9CCEF9-BA7B-4DD4-A647-C8F64E8A1A6D}" type="pres">
      <dgm:prSet presAssocID="{668BBB8D-0C00-450C-9BD2-B3318261B7D1}" presName="linear" presStyleCnt="0">
        <dgm:presLayoutVars>
          <dgm:animLvl val="lvl"/>
          <dgm:resizeHandles val="exact"/>
        </dgm:presLayoutVars>
      </dgm:prSet>
      <dgm:spPr/>
    </dgm:pt>
    <dgm:pt modelId="{A0C732A9-3290-43E6-B4A7-67D547226BC8}" type="pres">
      <dgm:prSet presAssocID="{B8B5973C-C26B-444C-9283-04A128C50ED1}" presName="parentText" presStyleLbl="node1" presStyleIdx="0" presStyleCnt="2">
        <dgm:presLayoutVars>
          <dgm:chMax val="0"/>
          <dgm:bulletEnabled val="1"/>
        </dgm:presLayoutVars>
      </dgm:prSet>
      <dgm:spPr/>
    </dgm:pt>
    <dgm:pt modelId="{3BF3E095-EA6A-4D2E-B0A8-E4B78BF5EA6C}" type="pres">
      <dgm:prSet presAssocID="{B8B5973C-C26B-444C-9283-04A128C50ED1}" presName="childText" presStyleLbl="revTx" presStyleIdx="0" presStyleCnt="2">
        <dgm:presLayoutVars>
          <dgm:bulletEnabled val="1"/>
        </dgm:presLayoutVars>
      </dgm:prSet>
      <dgm:spPr/>
    </dgm:pt>
    <dgm:pt modelId="{218DDE7E-318B-458F-8B9C-744C426D5A94}" type="pres">
      <dgm:prSet presAssocID="{DE761676-C521-40C5-8609-9EB510EFA655}" presName="parentText" presStyleLbl="node1" presStyleIdx="1" presStyleCnt="2">
        <dgm:presLayoutVars>
          <dgm:chMax val="0"/>
          <dgm:bulletEnabled val="1"/>
        </dgm:presLayoutVars>
      </dgm:prSet>
      <dgm:spPr/>
    </dgm:pt>
    <dgm:pt modelId="{E71284E9-9C55-4577-BBB0-02C4ABC32879}" type="pres">
      <dgm:prSet presAssocID="{DE761676-C521-40C5-8609-9EB510EFA655}" presName="childText" presStyleLbl="revTx" presStyleIdx="1" presStyleCnt="2">
        <dgm:presLayoutVars>
          <dgm:bulletEnabled val="1"/>
        </dgm:presLayoutVars>
      </dgm:prSet>
      <dgm:spPr/>
    </dgm:pt>
  </dgm:ptLst>
  <dgm:cxnLst>
    <dgm:cxn modelId="{33F1170D-E081-4D57-B63A-3EEF83B32B0E}" srcId="{668BBB8D-0C00-450C-9BD2-B3318261B7D1}" destId="{DE761676-C521-40C5-8609-9EB510EFA655}" srcOrd="1" destOrd="0" parTransId="{4FF8C472-566E-4352-A2AC-A74D57F11362}" sibTransId="{724C7C1A-C9D6-4701-BAC5-86C939BE1798}"/>
    <dgm:cxn modelId="{6AA9A12C-98CF-40CD-99D3-1FEF7E5C9C21}" type="presOf" srcId="{DE761676-C521-40C5-8609-9EB510EFA655}" destId="{218DDE7E-318B-458F-8B9C-744C426D5A94}" srcOrd="0" destOrd="0" presId="urn:microsoft.com/office/officeart/2005/8/layout/vList2"/>
    <dgm:cxn modelId="{A652FB55-4648-46BB-BF79-CD370341E272}" srcId="{DE761676-C521-40C5-8609-9EB510EFA655}" destId="{ABD58951-F387-4681-B583-EC4AE017A7BE}" srcOrd="0" destOrd="0" parTransId="{D9E4EFE3-EB00-4962-8AF8-2992774FDC13}" sibTransId="{CEBCE1F2-DCA0-4DAE-B665-5EA80B3D3AC5}"/>
    <dgm:cxn modelId="{DAE3BC59-E29D-45B5-A0A0-009C99AB715D}" type="presOf" srcId="{ABD58951-F387-4681-B583-EC4AE017A7BE}" destId="{E71284E9-9C55-4577-BBB0-02C4ABC32879}" srcOrd="0" destOrd="0" presId="urn:microsoft.com/office/officeart/2005/8/layout/vList2"/>
    <dgm:cxn modelId="{17FE1171-AF79-4853-AC5F-89CAA608D0C0}" srcId="{668BBB8D-0C00-450C-9BD2-B3318261B7D1}" destId="{B8B5973C-C26B-444C-9283-04A128C50ED1}" srcOrd="0" destOrd="0" parTransId="{EE7BBEE6-54CE-4F32-9A3A-EAC9D1ABE371}" sibTransId="{0AC3602A-8890-4286-BB1B-9E3ACF129C90}"/>
    <dgm:cxn modelId="{38E57BB3-D560-435F-B8BC-BE133FCC5A36}" type="presOf" srcId="{668BBB8D-0C00-450C-9BD2-B3318261B7D1}" destId="{FF9CCEF9-BA7B-4DD4-A647-C8F64E8A1A6D}" srcOrd="0" destOrd="0" presId="urn:microsoft.com/office/officeart/2005/8/layout/vList2"/>
    <dgm:cxn modelId="{00C497D3-C79E-458D-94E8-3C9BB2C34362}" srcId="{B8B5973C-C26B-444C-9283-04A128C50ED1}" destId="{F3E7A6C3-8CA3-4DF5-8F85-7426F0612746}" srcOrd="0" destOrd="0" parTransId="{D50403DE-FD37-45B4-9A4B-5DD22AC45667}" sibTransId="{723AF8CC-6888-43E4-97E5-B64B1857C8D8}"/>
    <dgm:cxn modelId="{B39BC8D9-D5F8-48A4-96A2-CC62A8AB73F7}" type="presOf" srcId="{B8B5973C-C26B-444C-9283-04A128C50ED1}" destId="{A0C732A9-3290-43E6-B4A7-67D547226BC8}" srcOrd="0" destOrd="0" presId="urn:microsoft.com/office/officeart/2005/8/layout/vList2"/>
    <dgm:cxn modelId="{E6730DFF-7FA8-473E-B1C5-CF16886EDFD8}" type="presOf" srcId="{F3E7A6C3-8CA3-4DF5-8F85-7426F0612746}" destId="{3BF3E095-EA6A-4D2E-B0A8-E4B78BF5EA6C}" srcOrd="0" destOrd="0" presId="urn:microsoft.com/office/officeart/2005/8/layout/vList2"/>
    <dgm:cxn modelId="{D7D96917-1E1A-48EF-94AC-6B6CDD24045E}" type="presParOf" srcId="{FF9CCEF9-BA7B-4DD4-A647-C8F64E8A1A6D}" destId="{A0C732A9-3290-43E6-B4A7-67D547226BC8}" srcOrd="0" destOrd="0" presId="urn:microsoft.com/office/officeart/2005/8/layout/vList2"/>
    <dgm:cxn modelId="{DDA756BF-8129-475E-9FB2-3F23086E5444}" type="presParOf" srcId="{FF9CCEF9-BA7B-4DD4-A647-C8F64E8A1A6D}" destId="{3BF3E095-EA6A-4D2E-B0A8-E4B78BF5EA6C}" srcOrd="1" destOrd="0" presId="urn:microsoft.com/office/officeart/2005/8/layout/vList2"/>
    <dgm:cxn modelId="{3E68A74B-BAC4-44D6-9CE4-0686DE1733A3}" type="presParOf" srcId="{FF9CCEF9-BA7B-4DD4-A647-C8F64E8A1A6D}" destId="{218DDE7E-318B-458F-8B9C-744C426D5A94}" srcOrd="2" destOrd="0" presId="urn:microsoft.com/office/officeart/2005/8/layout/vList2"/>
    <dgm:cxn modelId="{7FFBF4F0-A49B-45CF-BD11-B29382F94443}" type="presParOf" srcId="{FF9CCEF9-BA7B-4DD4-A647-C8F64E8A1A6D}" destId="{E71284E9-9C55-4577-BBB0-02C4ABC3287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C732A9-3290-43E6-B4A7-67D547226BC8}">
      <dsp:nvSpPr>
        <dsp:cNvPr id="0" name=""/>
        <dsp:cNvSpPr/>
      </dsp:nvSpPr>
      <dsp:spPr>
        <a:xfrm>
          <a:off x="0" y="39897"/>
          <a:ext cx="6666833" cy="119925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90500" tIns="190500" rIns="190500" bIns="190500" numCol="1" spcCol="1270" anchor="ctr" anchorCtr="0">
          <a:noAutofit/>
        </a:bodyPr>
        <a:lstStyle/>
        <a:p>
          <a:pPr marL="0" lvl="0" indent="0" algn="l" defTabSz="2222500">
            <a:lnSpc>
              <a:spcPct val="90000"/>
            </a:lnSpc>
            <a:spcBef>
              <a:spcPct val="0"/>
            </a:spcBef>
            <a:spcAft>
              <a:spcPct val="35000"/>
            </a:spcAft>
            <a:buNone/>
          </a:pPr>
          <a:r>
            <a:rPr lang="en-US" sz="5000" kern="1200"/>
            <a:t>Intent</a:t>
          </a:r>
        </a:p>
      </dsp:txBody>
      <dsp:txXfrm>
        <a:off x="58543" y="98440"/>
        <a:ext cx="6549747" cy="1082164"/>
      </dsp:txXfrm>
    </dsp:sp>
    <dsp:sp modelId="{3BF3E095-EA6A-4D2E-B0A8-E4B78BF5EA6C}">
      <dsp:nvSpPr>
        <dsp:cNvPr id="0" name=""/>
        <dsp:cNvSpPr/>
      </dsp:nvSpPr>
      <dsp:spPr>
        <a:xfrm>
          <a:off x="0" y="1239147"/>
          <a:ext cx="6666833" cy="12161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63500" rIns="355600" bIns="63500" numCol="1" spcCol="1270" anchor="t" anchorCtr="0">
          <a:noAutofit/>
        </a:bodyPr>
        <a:lstStyle/>
        <a:p>
          <a:pPr marL="285750" lvl="1" indent="-285750" algn="l" defTabSz="1733550">
            <a:lnSpc>
              <a:spcPct val="90000"/>
            </a:lnSpc>
            <a:spcBef>
              <a:spcPct val="0"/>
            </a:spcBef>
            <a:spcAft>
              <a:spcPct val="20000"/>
            </a:spcAft>
            <a:buChar char="•"/>
          </a:pPr>
          <a:r>
            <a:rPr lang="en-US" sz="3900" kern="1200"/>
            <a:t>Assign a responsibility so that coupling remains low</a:t>
          </a:r>
        </a:p>
      </dsp:txBody>
      <dsp:txXfrm>
        <a:off x="0" y="1239147"/>
        <a:ext cx="6666833" cy="1216125"/>
      </dsp:txXfrm>
    </dsp:sp>
    <dsp:sp modelId="{218DDE7E-318B-458F-8B9C-744C426D5A94}">
      <dsp:nvSpPr>
        <dsp:cNvPr id="0" name=""/>
        <dsp:cNvSpPr/>
      </dsp:nvSpPr>
      <dsp:spPr>
        <a:xfrm>
          <a:off x="0" y="2455272"/>
          <a:ext cx="6666833" cy="1199250"/>
        </a:xfrm>
        <a:prstGeom prst="roundRect">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90500" tIns="190500" rIns="190500" bIns="190500" numCol="1" spcCol="1270" anchor="ctr" anchorCtr="0">
          <a:noAutofit/>
        </a:bodyPr>
        <a:lstStyle/>
        <a:p>
          <a:pPr marL="0" lvl="0" indent="0" algn="l" defTabSz="2222500">
            <a:lnSpc>
              <a:spcPct val="90000"/>
            </a:lnSpc>
            <a:spcBef>
              <a:spcPct val="0"/>
            </a:spcBef>
            <a:spcAft>
              <a:spcPct val="35000"/>
            </a:spcAft>
            <a:buNone/>
          </a:pPr>
          <a:r>
            <a:rPr lang="en-US" sz="5000" kern="1200"/>
            <a:t>Problem</a:t>
          </a:r>
        </a:p>
      </dsp:txBody>
      <dsp:txXfrm>
        <a:off x="58543" y="2513815"/>
        <a:ext cx="6549747" cy="1082164"/>
      </dsp:txXfrm>
    </dsp:sp>
    <dsp:sp modelId="{E71284E9-9C55-4577-BBB0-02C4ABC32879}">
      <dsp:nvSpPr>
        <dsp:cNvPr id="0" name=""/>
        <dsp:cNvSpPr/>
      </dsp:nvSpPr>
      <dsp:spPr>
        <a:xfrm>
          <a:off x="0" y="3654522"/>
          <a:ext cx="6666833" cy="1759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63500" rIns="355600" bIns="63500" numCol="1" spcCol="1270" anchor="t" anchorCtr="0">
          <a:noAutofit/>
        </a:bodyPr>
        <a:lstStyle/>
        <a:p>
          <a:pPr marL="285750" lvl="1" indent="-285750" algn="l" defTabSz="1733550">
            <a:lnSpc>
              <a:spcPct val="90000"/>
            </a:lnSpc>
            <a:spcBef>
              <a:spcPct val="0"/>
            </a:spcBef>
            <a:spcAft>
              <a:spcPct val="20000"/>
            </a:spcAft>
            <a:buChar char="•"/>
          </a:pPr>
          <a:r>
            <a:rPr lang="en-US" sz="3900" kern="1200"/>
            <a:t>How to support low dependency and increased reuse</a:t>
          </a:r>
        </a:p>
      </dsp:txBody>
      <dsp:txXfrm>
        <a:off x="0" y="3654522"/>
        <a:ext cx="6666833" cy="175950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9/24/25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en.wikipedia.org/wiki/Programming_language" TargetMode="External"/><Relationship Id="rId2" Type="http://schemas.openxmlformats.org/officeDocument/2006/relationships/slide" Target="../slides/slide26.xml"/><Relationship Id="rId1" Type="http://schemas.openxmlformats.org/officeDocument/2006/relationships/notesMaster" Target="../notesMasters/notesMaster1.xml"/><Relationship Id="rId4" Type="http://schemas.openxmlformats.org/officeDocument/2006/relationships/hyperlink" Target="http://en.wikipedia.org/wiki/Data_type" TargetMode="Externa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1</a:t>
            </a:fld>
            <a:endParaRPr lang="en-US"/>
          </a:p>
        </p:txBody>
      </p:sp>
    </p:spTree>
    <p:extLst>
      <p:ext uri="{BB962C8B-B14F-4D97-AF65-F5344CB8AC3E}">
        <p14:creationId xmlns:p14="http://schemas.microsoft.com/office/powerpoint/2010/main" val="39405564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a:extLst>
              <a:ext uri="{FF2B5EF4-FFF2-40B4-BE49-F238E27FC236}">
                <a16:creationId xmlns:a16="http://schemas.microsoft.com/office/drawing/2014/main" id="{EDC5D18B-F4BE-A02B-EC6D-0719096630AF}"/>
              </a:ext>
            </a:extLst>
          </p:cNvPr>
          <p:cNvSpPr>
            <a:spLocks noGrp="1" noRot="1" noChangeAspect="1" noTextEdit="1"/>
          </p:cNvSpPr>
          <p:nvPr>
            <p:ph type="sldImg"/>
          </p:nvPr>
        </p:nvSpPr>
        <p:spPr>
          <a:ln/>
        </p:spPr>
      </p:sp>
      <p:sp>
        <p:nvSpPr>
          <p:cNvPr id="82947" name="Notes Placeholder 2">
            <a:extLst>
              <a:ext uri="{FF2B5EF4-FFF2-40B4-BE49-F238E27FC236}">
                <a16:creationId xmlns:a16="http://schemas.microsoft.com/office/drawing/2014/main" id="{872F7D84-C7A6-4F2F-D467-A0BED00B6E5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a:t>Represents a use case scenario within which the system event occurs…</a:t>
            </a:r>
          </a:p>
          <a:p>
            <a:pPr>
              <a:buFontTx/>
              <a:buChar char="•"/>
            </a:pPr>
            <a:r>
              <a:rPr lang="en-US" altLang="en-US"/>
              <a:t>Represents the overall system, device, or subsystem</a:t>
            </a:r>
          </a:p>
          <a:p>
            <a:pPr>
              <a:buFontTx/>
              <a:buChar char="•"/>
            </a:pPr>
            <a:r>
              <a:rPr lang="en-US" altLang="en-US"/>
              <a:t>A controllers is a non-user interface object responsible for receiving or handling a system event.  A controller defines the method for the system operation.</a:t>
            </a:r>
          </a:p>
        </p:txBody>
      </p:sp>
      <p:sp>
        <p:nvSpPr>
          <p:cNvPr id="82948" name="Slide Number Placeholder 3">
            <a:extLst>
              <a:ext uri="{FF2B5EF4-FFF2-40B4-BE49-F238E27FC236}">
                <a16:creationId xmlns:a16="http://schemas.microsoft.com/office/drawing/2014/main" id="{86B4EFEA-EAAA-B933-F74C-BC3FDB12AC9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A707C773-2EB5-4538-BD0A-FE74E3E646DD}"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4</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Slide Image Placeholder 1">
            <a:extLst>
              <a:ext uri="{FF2B5EF4-FFF2-40B4-BE49-F238E27FC236}">
                <a16:creationId xmlns:a16="http://schemas.microsoft.com/office/drawing/2014/main" id="{C146B442-CD14-136B-1D81-9AA93591440D}"/>
              </a:ext>
            </a:extLst>
          </p:cNvPr>
          <p:cNvSpPr>
            <a:spLocks noGrp="1" noRot="1" noChangeAspect="1" noTextEdit="1"/>
          </p:cNvSpPr>
          <p:nvPr>
            <p:ph type="sldImg"/>
          </p:nvPr>
        </p:nvSpPr>
        <p:spPr>
          <a:ln/>
        </p:spPr>
      </p:sp>
      <p:sp>
        <p:nvSpPr>
          <p:cNvPr id="83971" name="Notes Placeholder 2">
            <a:extLst>
              <a:ext uri="{FF2B5EF4-FFF2-40B4-BE49-F238E27FC236}">
                <a16:creationId xmlns:a16="http://schemas.microsoft.com/office/drawing/2014/main" id="{E6C9FE0F-664B-B216-100B-3C7391B8E4B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An input system event is an event generated by the external actor.   They are associated with system operations (operations of the system in response to system events), just as messages and methods are related.</a:t>
            </a:r>
          </a:p>
          <a:p>
            <a:endParaRPr lang="en-US" altLang="en-US"/>
          </a:p>
          <a:p>
            <a:r>
              <a:rPr lang="en-US" altLang="en-US"/>
              <a:t>Example: cashier using POS terminal presses “end sale” – a system event is generated indicating “sale has ended”.  Or writer using word processor presses “spell check” button, system event indicating “perform spell check” is created.</a:t>
            </a:r>
          </a:p>
        </p:txBody>
      </p:sp>
      <p:sp>
        <p:nvSpPr>
          <p:cNvPr id="83972" name="Slide Number Placeholder 3">
            <a:extLst>
              <a:ext uri="{FF2B5EF4-FFF2-40B4-BE49-F238E27FC236}">
                <a16:creationId xmlns:a16="http://schemas.microsoft.com/office/drawing/2014/main" id="{300E8460-4C65-D08E-A54D-228F51B9167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CB99BF54-2C92-4167-8464-DD92D9489A7D}"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5</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887929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Slide Image Placeholder 1">
            <a:extLst>
              <a:ext uri="{FF2B5EF4-FFF2-40B4-BE49-F238E27FC236}">
                <a16:creationId xmlns:a16="http://schemas.microsoft.com/office/drawing/2014/main" id="{432B5662-968E-17C2-412E-BBDA573CF562}"/>
              </a:ext>
            </a:extLst>
          </p:cNvPr>
          <p:cNvSpPr>
            <a:spLocks noGrp="1" noRot="1" noChangeAspect="1" noTextEdit="1"/>
          </p:cNvSpPr>
          <p:nvPr>
            <p:ph type="sldImg"/>
          </p:nvPr>
        </p:nvSpPr>
        <p:spPr>
          <a:ln/>
        </p:spPr>
      </p:sp>
      <p:sp>
        <p:nvSpPr>
          <p:cNvPr id="84995" name="Notes Placeholder 2">
            <a:extLst>
              <a:ext uri="{FF2B5EF4-FFF2-40B4-BE49-F238E27FC236}">
                <a16:creationId xmlns:a16="http://schemas.microsoft.com/office/drawing/2014/main" id="{2662F388-1004-0532-8E2A-3F1AD907012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It is a controller or coordinator. It does not normally do the work, but delegates it to other objects.  The controller is a kind of façade onto the domain layer from the interface layer.</a:t>
            </a:r>
          </a:p>
          <a:p>
            <a:endParaRPr lang="en-US" altLang="en-US"/>
          </a:p>
          <a:p>
            <a:r>
              <a:rPr lang="en-US" altLang="en-US"/>
              <a:t>enterItem is the system event message – who Is the “controller” for enterItem?</a:t>
            </a:r>
          </a:p>
          <a:p>
            <a:endParaRPr lang="en-US" altLang="en-US"/>
          </a:p>
          <a:p>
            <a:endParaRPr lang="en-US" altLang="en-US"/>
          </a:p>
        </p:txBody>
      </p:sp>
      <p:sp>
        <p:nvSpPr>
          <p:cNvPr id="84996" name="Slide Number Placeholder 3">
            <a:extLst>
              <a:ext uri="{FF2B5EF4-FFF2-40B4-BE49-F238E27FC236}">
                <a16:creationId xmlns:a16="http://schemas.microsoft.com/office/drawing/2014/main" id="{D3C11A11-A73B-CFC3-00B6-0E696B3F405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135097F7-3671-45A7-BAED-22DBBB0D008E}"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6</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4962732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Slide Image Placeholder 1">
            <a:extLst>
              <a:ext uri="{FF2B5EF4-FFF2-40B4-BE49-F238E27FC236}">
                <a16:creationId xmlns:a16="http://schemas.microsoft.com/office/drawing/2014/main" id="{5C36468C-233B-01AD-0434-33B95BBFF563}"/>
              </a:ext>
            </a:extLst>
          </p:cNvPr>
          <p:cNvSpPr>
            <a:spLocks noGrp="1" noRot="1" noChangeAspect="1" noTextEdit="1"/>
          </p:cNvSpPr>
          <p:nvPr>
            <p:ph type="sldImg"/>
          </p:nvPr>
        </p:nvSpPr>
        <p:spPr>
          <a:ln/>
        </p:spPr>
      </p:sp>
      <p:sp>
        <p:nvSpPr>
          <p:cNvPr id="86019" name="Notes Placeholder 2">
            <a:extLst>
              <a:ext uri="{FF2B5EF4-FFF2-40B4-BE49-F238E27FC236}">
                <a16:creationId xmlns:a16="http://schemas.microsoft.com/office/drawing/2014/main" id="{7AF6B129-9DD2-AEB7-F277-CB59E4BD572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Here are the 4 choices </a:t>
            </a:r>
          </a:p>
        </p:txBody>
      </p:sp>
      <p:sp>
        <p:nvSpPr>
          <p:cNvPr id="86020" name="Slide Number Placeholder 3">
            <a:extLst>
              <a:ext uri="{FF2B5EF4-FFF2-40B4-BE49-F238E27FC236}">
                <a16:creationId xmlns:a16="http://schemas.microsoft.com/office/drawing/2014/main" id="{58C38A62-F246-244E-5918-6E13CCA81C3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8864E1BB-EC68-4CBB-A485-084EEB13DCD6}"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7</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2495654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Slide Image Placeholder 1">
            <a:extLst>
              <a:ext uri="{FF2B5EF4-FFF2-40B4-BE49-F238E27FC236}">
                <a16:creationId xmlns:a16="http://schemas.microsoft.com/office/drawing/2014/main" id="{1CB9EAC5-0239-239C-C397-1DF8C7F8076C}"/>
              </a:ext>
            </a:extLst>
          </p:cNvPr>
          <p:cNvSpPr>
            <a:spLocks noGrp="1" noRot="1" noChangeAspect="1" noTextEdit="1"/>
          </p:cNvSpPr>
          <p:nvPr>
            <p:ph type="sldImg"/>
          </p:nvPr>
        </p:nvSpPr>
        <p:spPr>
          <a:ln/>
        </p:spPr>
      </p:sp>
      <p:sp>
        <p:nvSpPr>
          <p:cNvPr id="87043" name="Notes Placeholder 2">
            <a:extLst>
              <a:ext uri="{FF2B5EF4-FFF2-40B4-BE49-F238E27FC236}">
                <a16:creationId xmlns:a16="http://schemas.microsoft.com/office/drawing/2014/main" id="{DAF4A0C3-D23A-3C4B-2CE7-FE1DEAA9553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a:t>The facade controller represents the overall system. The idea is that some class provides the main point of service calls from the other layers of the application and that provides the main point of service calls from the UI layer down to other layers</a:t>
            </a:r>
          </a:p>
          <a:p>
            <a:pPr>
              <a:buFontTx/>
              <a:buChar char="•"/>
            </a:pPr>
            <a:r>
              <a:rPr lang="en-US" altLang="en-US"/>
              <a:t>“bloated” – a single controller class receiving all system events</a:t>
            </a:r>
          </a:p>
          <a:p>
            <a:pPr>
              <a:buFontTx/>
              <a:buChar char="•"/>
            </a:pPr>
            <a:r>
              <a:rPr lang="en-US" altLang="en-US"/>
              <a:t>A controller should delegate to other objects the work that needs to be done; it coordinates or controls the activity.  It does not do much work iteself.</a:t>
            </a:r>
          </a:p>
          <a:p>
            <a:pPr>
              <a:buFontTx/>
              <a:buChar char="•"/>
            </a:pPr>
            <a:r>
              <a:rPr lang="en-US" altLang="en-US"/>
              <a:t>An important corollary of the controller patter is that interface objects (presentation layer) should not have responsibility for handling system events.</a:t>
            </a:r>
          </a:p>
        </p:txBody>
      </p:sp>
      <p:sp>
        <p:nvSpPr>
          <p:cNvPr id="87044" name="Slide Number Placeholder 3">
            <a:extLst>
              <a:ext uri="{FF2B5EF4-FFF2-40B4-BE49-F238E27FC236}">
                <a16:creationId xmlns:a16="http://schemas.microsoft.com/office/drawing/2014/main" id="{4A9A04F1-E808-5C78-F654-A1D313076A9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B024AE81-DA21-4CDF-B3EE-6CF11CF780A1}"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8</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838012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Slide Image Placeholder 1">
            <a:extLst>
              <a:ext uri="{FF2B5EF4-FFF2-40B4-BE49-F238E27FC236}">
                <a16:creationId xmlns:a16="http://schemas.microsoft.com/office/drawing/2014/main" id="{0BFD15EA-A0E4-2C0F-7D8F-6BAE26470DAC}"/>
              </a:ext>
            </a:extLst>
          </p:cNvPr>
          <p:cNvSpPr>
            <a:spLocks noGrp="1" noRot="1" noChangeAspect="1" noTextEdit="1"/>
          </p:cNvSpPr>
          <p:nvPr>
            <p:ph type="sldImg"/>
          </p:nvPr>
        </p:nvSpPr>
        <p:spPr>
          <a:ln/>
        </p:spPr>
      </p:sp>
      <p:sp>
        <p:nvSpPr>
          <p:cNvPr id="88067" name="Notes Placeholder 2">
            <a:extLst>
              <a:ext uri="{FF2B5EF4-FFF2-40B4-BE49-F238E27FC236}">
                <a16:creationId xmlns:a16="http://schemas.microsoft.com/office/drawing/2014/main" id="{CB63E79F-5285-D4E4-1AE6-670F077E692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On the right:  a window displays sale information and captures cashier operations.  Using the controller pattern, an acceptable relationship is shown between the applet and :POST (register) and other objects in a portion of the POS system.  Notice that the Applet class passes the </a:t>
            </a:r>
            <a:r>
              <a:rPr lang="en-US" altLang="en-US" dirty="0" err="1"/>
              <a:t>enterItem</a:t>
            </a:r>
            <a:r>
              <a:rPr lang="en-US" altLang="en-US" dirty="0"/>
              <a:t> message to the POST (register) object.  It did not get involved in processing the operation or deciding how to handle it; the window only delegated it to another layer. Placing system operation responsibility in a domain object controller makes it easier to reuse the program logic supporting the associated business process in future applications.  It also makes it easier to unplug the presentation layer and use a different interface framework or technology, or run the system in an offline batch mode.</a:t>
            </a:r>
          </a:p>
          <a:p>
            <a:endParaRPr lang="en-US" altLang="en-US" dirty="0"/>
          </a:p>
          <a:p>
            <a:r>
              <a:rPr lang="en-US" altLang="en-US" dirty="0"/>
              <a:t>On the Left:  (The business logic is embedded instead of it sending a message to delegate that responsibility. ) assigning the responsibility for system operation to objects in the application or domain layer – using the Controller pattern rather than the </a:t>
            </a:r>
            <a:r>
              <a:rPr lang="en-US" altLang="en-US" dirty="0" err="1"/>
              <a:t>inerface</a:t>
            </a:r>
            <a:r>
              <a:rPr lang="en-US" altLang="en-US" dirty="0"/>
              <a:t> layer supports increased reuse potential.  If the presentation layer object (applet) handles a system operation – which represents part of a business process – then business process logic would be contained in an interface object, which has low opportunity for reuse because of its coupling to a particular interface and </a:t>
            </a:r>
            <a:r>
              <a:rPr lang="en-US" altLang="en-US" dirty="0" err="1"/>
              <a:t>paplication</a:t>
            </a:r>
            <a:r>
              <a:rPr lang="en-US" altLang="en-US" dirty="0"/>
              <a:t>.</a:t>
            </a:r>
          </a:p>
        </p:txBody>
      </p:sp>
      <p:sp>
        <p:nvSpPr>
          <p:cNvPr id="88068" name="Slide Number Placeholder 3">
            <a:extLst>
              <a:ext uri="{FF2B5EF4-FFF2-40B4-BE49-F238E27FC236}">
                <a16:creationId xmlns:a16="http://schemas.microsoft.com/office/drawing/2014/main" id="{20A10144-7F9C-8ED7-FC48-7600C140AF7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72B0411C-D9C6-4EB4-8A7B-0269A1D8A5FF}"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9</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8052907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Slide Image Placeholder 1">
            <a:extLst>
              <a:ext uri="{FF2B5EF4-FFF2-40B4-BE49-F238E27FC236}">
                <a16:creationId xmlns:a16="http://schemas.microsoft.com/office/drawing/2014/main" id="{8A0AEDE6-3283-52D6-52F7-989960B1B654}"/>
              </a:ext>
            </a:extLst>
          </p:cNvPr>
          <p:cNvSpPr>
            <a:spLocks noGrp="1" noRot="1" noChangeAspect="1" noTextEdit="1"/>
          </p:cNvSpPr>
          <p:nvPr>
            <p:ph type="sldImg"/>
          </p:nvPr>
        </p:nvSpPr>
        <p:spPr>
          <a:ln/>
        </p:spPr>
      </p:sp>
      <p:sp>
        <p:nvSpPr>
          <p:cNvPr id="89091" name="Notes Placeholder 2">
            <a:extLst>
              <a:ext uri="{FF2B5EF4-FFF2-40B4-BE49-F238E27FC236}">
                <a16:creationId xmlns:a16="http://schemas.microsoft.com/office/drawing/2014/main" id="{9919FC53-73B4-C933-EC5D-34E5B054AA5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a:t>Ensures that application logic is not handled in the “presentation” layer.  A presentation as controller design reduces the opportunity to reuse logic in future applications, since it is bound to a particular interface.</a:t>
            </a:r>
          </a:p>
          <a:p>
            <a:pPr>
              <a:buFontTx/>
              <a:buChar char="•"/>
            </a:pPr>
            <a:r>
              <a:rPr lang="en-US" altLang="en-US"/>
              <a:t>For example, it may be necessary to guarantee that the makepayment operation can not occur until the endsale operation has occurred.  If so, this state information needs to be captured somewhere; the controller is one reasonable choice, especially if the same controller is used throught the  use case (recommended).</a:t>
            </a:r>
          </a:p>
        </p:txBody>
      </p:sp>
      <p:sp>
        <p:nvSpPr>
          <p:cNvPr id="89092" name="Slide Number Placeholder 3">
            <a:extLst>
              <a:ext uri="{FF2B5EF4-FFF2-40B4-BE49-F238E27FC236}">
                <a16:creationId xmlns:a16="http://schemas.microsoft.com/office/drawing/2014/main" id="{EB9CD370-FF16-F347-4CE1-9728234C1C4D}"/>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880974EA-C7A6-40F2-84AA-9A258787A052}"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10</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745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72700-C971-72F2-95A5-779FC7F92C74}"/>
            </a:ext>
          </a:extLst>
        </p:cNvPr>
        <p:cNvGrpSpPr/>
        <p:nvPr/>
      </p:nvGrpSpPr>
      <p:grpSpPr>
        <a:xfrm>
          <a:off x="0" y="0"/>
          <a:ext cx="0" cy="0"/>
          <a:chOff x="0" y="0"/>
          <a:chExt cx="0" cy="0"/>
        </a:xfrm>
      </p:grpSpPr>
      <p:sp>
        <p:nvSpPr>
          <p:cNvPr id="89090" name="Slide Image Placeholder 1">
            <a:extLst>
              <a:ext uri="{FF2B5EF4-FFF2-40B4-BE49-F238E27FC236}">
                <a16:creationId xmlns:a16="http://schemas.microsoft.com/office/drawing/2014/main" id="{3D890DC5-2F42-3C8A-5F43-3AE67E423C36}"/>
              </a:ext>
            </a:extLst>
          </p:cNvPr>
          <p:cNvSpPr>
            <a:spLocks noGrp="1" noRot="1" noChangeAspect="1" noTextEdit="1"/>
          </p:cNvSpPr>
          <p:nvPr>
            <p:ph type="sldImg"/>
          </p:nvPr>
        </p:nvSpPr>
        <p:spPr>
          <a:ln/>
        </p:spPr>
      </p:sp>
      <p:sp>
        <p:nvSpPr>
          <p:cNvPr id="89091" name="Notes Placeholder 2">
            <a:extLst>
              <a:ext uri="{FF2B5EF4-FFF2-40B4-BE49-F238E27FC236}">
                <a16:creationId xmlns:a16="http://schemas.microsoft.com/office/drawing/2014/main" id="{83F49B00-A408-00B5-E9D4-5ADC5593116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dirty="0"/>
              <a:t>Discuss the controller code here.</a:t>
            </a:r>
          </a:p>
        </p:txBody>
      </p:sp>
      <p:sp>
        <p:nvSpPr>
          <p:cNvPr id="89092" name="Slide Number Placeholder 3">
            <a:extLst>
              <a:ext uri="{FF2B5EF4-FFF2-40B4-BE49-F238E27FC236}">
                <a16:creationId xmlns:a16="http://schemas.microsoft.com/office/drawing/2014/main" id="{31026497-1626-BA8F-B647-51A0D9A9584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880974EA-C7A6-40F2-84AA-9A258787A052}"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11</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0404900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Slide Image Placeholder 1">
            <a:extLst>
              <a:ext uri="{FF2B5EF4-FFF2-40B4-BE49-F238E27FC236}">
                <a16:creationId xmlns:a16="http://schemas.microsoft.com/office/drawing/2014/main" id="{C36958E2-A6B2-D6F1-7BA0-834D96D126F9}"/>
              </a:ext>
            </a:extLst>
          </p:cNvPr>
          <p:cNvSpPr>
            <a:spLocks noGrp="1" noRot="1" noChangeAspect="1" noTextEdit="1"/>
          </p:cNvSpPr>
          <p:nvPr>
            <p:ph type="sldImg"/>
          </p:nvPr>
        </p:nvSpPr>
        <p:spPr>
          <a:ln/>
        </p:spPr>
      </p:sp>
      <p:sp>
        <p:nvSpPr>
          <p:cNvPr id="77827" name="Notes Placeholder 2">
            <a:extLst>
              <a:ext uri="{FF2B5EF4-FFF2-40B4-BE49-F238E27FC236}">
                <a16:creationId xmlns:a16="http://schemas.microsoft.com/office/drawing/2014/main" id="{F45B4F2F-CF33-C68E-8F33-2BE13C6767E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The register instance could send an </a:t>
            </a:r>
            <a:r>
              <a:rPr lang="en-US" altLang="en-US" dirty="0" err="1"/>
              <a:t>addpayment</a:t>
            </a:r>
            <a:r>
              <a:rPr lang="en-US" altLang="en-US" dirty="0"/>
              <a:t> message to the sale, passing along the new payment as a parameter.</a:t>
            </a:r>
          </a:p>
          <a:p>
            <a:r>
              <a:rPr lang="en-US" altLang="en-US" dirty="0"/>
              <a:t>This assignment of responsibilities couples the register class to knowledge of the payment class</a:t>
            </a:r>
          </a:p>
          <a:p>
            <a:endParaRPr lang="en-US" altLang="en-US" dirty="0"/>
          </a:p>
          <a:p>
            <a:r>
              <a:rPr lang="en-US" altLang="en-US" dirty="0"/>
              <a:t>second solution sale creates payment</a:t>
            </a:r>
          </a:p>
          <a:p>
            <a:endParaRPr lang="en-US" altLang="en-US" dirty="0"/>
          </a:p>
        </p:txBody>
      </p:sp>
      <p:sp>
        <p:nvSpPr>
          <p:cNvPr id="77828" name="Slide Number Placeholder 3">
            <a:extLst>
              <a:ext uri="{FF2B5EF4-FFF2-40B4-BE49-F238E27FC236}">
                <a16:creationId xmlns:a16="http://schemas.microsoft.com/office/drawing/2014/main" id="{E740DBAF-EF75-9E77-C4F8-408AEF29919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9363DBB-DCD5-41BF-8BD6-AF7FCCF4129B}" type="slidenum">
              <a:rPr lang="en-US" altLang="en-US" sz="1000">
                <a:solidFill>
                  <a:schemeClr val="tx1"/>
                </a:solidFill>
                <a:latin typeface="Times New Roman" panose="02020603050405020304" pitchFamily="18" charset="0"/>
              </a:rPr>
              <a:pPr/>
              <a:t>16</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Slide Image Placeholder 1">
            <a:extLst>
              <a:ext uri="{FF2B5EF4-FFF2-40B4-BE49-F238E27FC236}">
                <a16:creationId xmlns:a16="http://schemas.microsoft.com/office/drawing/2014/main" id="{E8C6949A-F08F-1B25-38D9-ACF5809E4A15}"/>
              </a:ext>
            </a:extLst>
          </p:cNvPr>
          <p:cNvSpPr>
            <a:spLocks noGrp="1" noRot="1" noChangeAspect="1" noTextEdit="1"/>
          </p:cNvSpPr>
          <p:nvPr>
            <p:ph type="sldImg"/>
          </p:nvPr>
        </p:nvSpPr>
        <p:spPr>
          <a:ln/>
        </p:spPr>
      </p:sp>
      <p:sp>
        <p:nvSpPr>
          <p:cNvPr id="78851" name="Notes Placeholder 2">
            <a:extLst>
              <a:ext uri="{FF2B5EF4-FFF2-40B4-BE49-F238E27FC236}">
                <a16:creationId xmlns:a16="http://schemas.microsoft.com/office/drawing/2014/main" id="{38BAED2E-599B-9C29-503A-1D60A22FB86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Sale must be coupled to knowledge of payment</a:t>
            </a:r>
          </a:p>
          <a:p>
            <a:endParaRPr lang="en-US" altLang="en-US" dirty="0"/>
          </a:p>
          <a:p>
            <a:r>
              <a:rPr lang="en-US" altLang="en-US" dirty="0"/>
              <a:t>First design adds coupling of register to payment – adds coupling of register to payment</a:t>
            </a:r>
          </a:p>
          <a:p>
            <a:endParaRPr lang="en-US" altLang="en-US" dirty="0"/>
          </a:p>
          <a:p>
            <a:r>
              <a:rPr lang="en-US" altLang="en-US" dirty="0"/>
              <a:t>Second design which the sale does the creation of a payment does not increase the coupling</a:t>
            </a:r>
          </a:p>
          <a:p>
            <a:endParaRPr lang="en-US" altLang="en-US" dirty="0"/>
          </a:p>
          <a:p>
            <a:r>
              <a:rPr lang="en-US" altLang="en-US" dirty="0"/>
              <a:t>Design 2 is preferable because overall lower coupling is maintained.</a:t>
            </a:r>
          </a:p>
          <a:p>
            <a:endParaRPr lang="en-US" altLang="en-US" dirty="0"/>
          </a:p>
          <a:p>
            <a:r>
              <a:rPr lang="en-US" altLang="en-US" dirty="0"/>
              <a:t>This is an example where two patterns - Low coupling and creator may - suggest different solutions</a:t>
            </a:r>
          </a:p>
        </p:txBody>
      </p:sp>
      <p:sp>
        <p:nvSpPr>
          <p:cNvPr id="78852" name="Slide Number Placeholder 3">
            <a:extLst>
              <a:ext uri="{FF2B5EF4-FFF2-40B4-BE49-F238E27FC236}">
                <a16:creationId xmlns:a16="http://schemas.microsoft.com/office/drawing/2014/main" id="{562AB807-2B63-13A0-25A3-5D9E2F0AB99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A390B0E7-7C50-44EC-BDBF-4EDA4D79261B}" type="slidenum">
              <a:rPr lang="en-US" altLang="en-US" sz="1000">
                <a:solidFill>
                  <a:schemeClr val="tx1"/>
                </a:solidFill>
                <a:latin typeface="Times New Roman" panose="02020603050405020304" pitchFamily="18" charset="0"/>
              </a:rPr>
              <a:pPr/>
              <a:t>17</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5239236-8648-4B3B-A92F-3045E7CAAD0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6674" name="Rectangle 2"/>
          <p:cNvSpPr>
            <a:spLocks noGrp="1" noRot="1" noChangeAspect="1" noChangeArrowheads="1" noTextEdit="1"/>
          </p:cNvSpPr>
          <p:nvPr>
            <p:ph type="sldImg"/>
          </p:nvPr>
        </p:nvSpPr>
        <p:spPr>
          <a:xfrm>
            <a:off x="404813" y="695325"/>
            <a:ext cx="6178550" cy="3476625"/>
          </a:xfrm>
          <a:ln/>
        </p:spPr>
      </p:sp>
      <p:sp>
        <p:nvSpPr>
          <p:cNvPr id="796675" name="Rectangle 3"/>
          <p:cNvSpPr>
            <a:spLocks noGrp="1" noChangeArrowheads="1"/>
          </p:cNvSpPr>
          <p:nvPr>
            <p:ph type="body" idx="1"/>
          </p:nvPr>
        </p:nvSpPr>
        <p:spPr>
          <a:xfrm>
            <a:off x="931863" y="4403725"/>
            <a:ext cx="5121275" cy="4171950"/>
          </a:xfrm>
        </p:spPr>
        <p:txBody>
          <a:bodyPr/>
          <a:lstStyle/>
          <a:p>
            <a:pPr defTabSz="914400"/>
            <a:r>
              <a:rPr lang="en-US" altLang="en-US" dirty="0"/>
              <a:t>Multiplicity – defines how many instances of class A can be associated with class B</a:t>
            </a:r>
          </a:p>
          <a:p>
            <a:pPr defTabSz="914400"/>
            <a:endParaRPr lang="en-US" altLang="en-US" dirty="0"/>
          </a:p>
          <a:p>
            <a:pPr defTabSz="914400"/>
            <a:r>
              <a:rPr lang="en-US" altLang="en-US" dirty="0"/>
              <a:t>Single</a:t>
            </a:r>
            <a:r>
              <a:rPr lang="en-US" altLang="en-US" baseline="0" dirty="0"/>
              <a:t> instance of store can be associated with “many” (zero or more, indicated by the *) Sale instance</a:t>
            </a:r>
            <a:endParaRPr lang="en-US" altLang="en-US" dirty="0"/>
          </a:p>
        </p:txBody>
      </p:sp>
    </p:spTree>
    <p:extLst>
      <p:ext uri="{BB962C8B-B14F-4D97-AF65-F5344CB8AC3E}">
        <p14:creationId xmlns:p14="http://schemas.microsoft.com/office/powerpoint/2010/main" val="5631095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Slide Image Placeholder 1">
            <a:extLst>
              <a:ext uri="{FF2B5EF4-FFF2-40B4-BE49-F238E27FC236}">
                <a16:creationId xmlns:a16="http://schemas.microsoft.com/office/drawing/2014/main" id="{0EF3AC0E-2C84-7DA5-330C-07CEE441E58B}"/>
              </a:ext>
            </a:extLst>
          </p:cNvPr>
          <p:cNvSpPr>
            <a:spLocks noGrp="1" noRot="1" noChangeAspect="1" noTextEdit="1"/>
          </p:cNvSpPr>
          <p:nvPr>
            <p:ph type="sldImg"/>
          </p:nvPr>
        </p:nvSpPr>
        <p:spPr>
          <a:ln/>
        </p:spPr>
      </p:sp>
      <p:sp>
        <p:nvSpPr>
          <p:cNvPr id="79875" name="Notes Placeholder 2">
            <a:extLst>
              <a:ext uri="{FF2B5EF4-FFF2-40B4-BE49-F238E27FC236}">
                <a16:creationId xmlns:a16="http://schemas.microsoft.com/office/drawing/2014/main" id="{2620B576-44B4-A32F-7BC7-62336D64DD8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Cohesion – is a measure of how strongly related and focused the responsibilities of an element are</a:t>
            </a:r>
          </a:p>
          <a:p>
            <a:endParaRPr lang="en-US" altLang="en-US"/>
          </a:p>
          <a:p>
            <a:r>
              <a:rPr lang="en-US" altLang="en-US"/>
              <a:t>An element with highly related responsibilities and which does not do a tremendous amount of work, has high cohesion </a:t>
            </a:r>
          </a:p>
        </p:txBody>
      </p:sp>
      <p:sp>
        <p:nvSpPr>
          <p:cNvPr id="79876" name="Slide Number Placeholder 3">
            <a:extLst>
              <a:ext uri="{FF2B5EF4-FFF2-40B4-BE49-F238E27FC236}">
                <a16:creationId xmlns:a16="http://schemas.microsoft.com/office/drawing/2014/main" id="{5ED12C6C-4AB3-C3F8-32BA-AB697C65500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53172E0-E3D7-466A-AE05-7A519DBC268F}" type="slidenum">
              <a:rPr lang="en-US" altLang="en-US" sz="1000">
                <a:solidFill>
                  <a:schemeClr val="tx1"/>
                </a:solidFill>
                <a:latin typeface="Times New Roman" panose="02020603050405020304" pitchFamily="18" charset="0"/>
              </a:rPr>
              <a:pPr/>
              <a:t>19</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Slide Image Placeholder 1">
            <a:extLst>
              <a:ext uri="{FF2B5EF4-FFF2-40B4-BE49-F238E27FC236}">
                <a16:creationId xmlns:a16="http://schemas.microsoft.com/office/drawing/2014/main" id="{9EDE45AF-7BD3-897C-C56C-7BCBEC1AFDDF}"/>
              </a:ext>
            </a:extLst>
          </p:cNvPr>
          <p:cNvSpPr>
            <a:spLocks noGrp="1" noRot="1" noChangeAspect="1" noTextEdit="1"/>
          </p:cNvSpPr>
          <p:nvPr>
            <p:ph type="sldImg"/>
          </p:nvPr>
        </p:nvSpPr>
        <p:spPr>
          <a:ln/>
        </p:spPr>
      </p:sp>
      <p:sp>
        <p:nvSpPr>
          <p:cNvPr id="80899" name="Notes Placeholder 2">
            <a:extLst>
              <a:ext uri="{FF2B5EF4-FFF2-40B4-BE49-F238E27FC236}">
                <a16:creationId xmlns:a16="http://schemas.microsoft.com/office/drawing/2014/main" id="{5CA3D21C-A3CA-ED82-A698-B55F4D388FF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Everything is strongly related – </a:t>
            </a:r>
          </a:p>
          <a:p>
            <a:endParaRPr lang="en-US" altLang="en-US"/>
          </a:p>
          <a:p>
            <a:r>
              <a:rPr lang="en-US" altLang="en-US"/>
              <a:t>If we have a cash payment instance and associate it with sale – register records payment – register could send addpayment message to sale with payment as the paremter</a:t>
            </a:r>
          </a:p>
          <a:p>
            <a:endParaRPr lang="en-US" altLang="en-US"/>
          </a:p>
          <a:p>
            <a:r>
              <a:rPr lang="en-US" altLang="en-US"/>
              <a:t>This is ok for an isolated example.  </a:t>
            </a:r>
          </a:p>
        </p:txBody>
      </p:sp>
      <p:sp>
        <p:nvSpPr>
          <p:cNvPr id="80900" name="Slide Number Placeholder 3">
            <a:extLst>
              <a:ext uri="{FF2B5EF4-FFF2-40B4-BE49-F238E27FC236}">
                <a16:creationId xmlns:a16="http://schemas.microsoft.com/office/drawing/2014/main" id="{C15963B7-5BFA-C9D2-3018-EEC2D17F262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A03D0418-F932-4365-BE47-44AC0B272AB6}" type="slidenum">
              <a:rPr lang="en-US" altLang="en-US" sz="1000">
                <a:solidFill>
                  <a:schemeClr val="tx1"/>
                </a:solidFill>
                <a:latin typeface="Times New Roman" panose="02020603050405020304" pitchFamily="18" charset="0"/>
              </a:rPr>
              <a:pPr/>
              <a:t>20</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Slide Image Placeholder 1">
            <a:extLst>
              <a:ext uri="{FF2B5EF4-FFF2-40B4-BE49-F238E27FC236}">
                <a16:creationId xmlns:a16="http://schemas.microsoft.com/office/drawing/2014/main" id="{8D95FBF9-8191-13CD-8D18-4D493D7D0917}"/>
              </a:ext>
            </a:extLst>
          </p:cNvPr>
          <p:cNvSpPr>
            <a:spLocks noGrp="1" noRot="1" noChangeAspect="1" noTextEdit="1"/>
          </p:cNvSpPr>
          <p:nvPr>
            <p:ph type="sldImg"/>
          </p:nvPr>
        </p:nvSpPr>
        <p:spPr>
          <a:ln/>
        </p:spPr>
      </p:sp>
      <p:sp>
        <p:nvSpPr>
          <p:cNvPr id="81923" name="Notes Placeholder 2">
            <a:extLst>
              <a:ext uri="{FF2B5EF4-FFF2-40B4-BE49-F238E27FC236}">
                <a16:creationId xmlns:a16="http://schemas.microsoft.com/office/drawing/2014/main" id="{4ED61E6C-F314-C69D-3177-451706B848B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If we continue to make the register class responsible for doing some or most of the work – it will be come increasingly burdened</a:t>
            </a:r>
          </a:p>
          <a:p>
            <a:endParaRPr lang="en-US" altLang="en-US"/>
          </a:p>
          <a:p>
            <a:r>
              <a:rPr lang="en-US" altLang="en-US"/>
              <a:t>In this design the payment creation responsibility to Sale which supports higher cohesion in the register.  This design supports both high cohesion and low coupling </a:t>
            </a:r>
          </a:p>
        </p:txBody>
      </p:sp>
      <p:sp>
        <p:nvSpPr>
          <p:cNvPr id="81924" name="Slide Number Placeholder 3">
            <a:extLst>
              <a:ext uri="{FF2B5EF4-FFF2-40B4-BE49-F238E27FC236}">
                <a16:creationId xmlns:a16="http://schemas.microsoft.com/office/drawing/2014/main" id="{7CD5A582-B043-92AC-215F-9F46B000CD2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946534AE-C94F-4BB7-9AC5-F654C615F6E7}" type="slidenum">
              <a:rPr lang="en-US" altLang="en-US" sz="1000">
                <a:solidFill>
                  <a:schemeClr val="tx1"/>
                </a:solidFill>
                <a:latin typeface="Times New Roman" panose="02020603050405020304" pitchFamily="18" charset="0"/>
              </a:rPr>
              <a:pPr/>
              <a:t>21</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Slide Image Placeholder 1">
            <a:extLst>
              <a:ext uri="{FF2B5EF4-FFF2-40B4-BE49-F238E27FC236}">
                <a16:creationId xmlns:a16="http://schemas.microsoft.com/office/drawing/2014/main" id="{1EC3B5F8-D1FB-F746-21B9-11563AD1988C}"/>
              </a:ext>
            </a:extLst>
          </p:cNvPr>
          <p:cNvSpPr>
            <a:spLocks noGrp="1" noRot="1" noChangeAspect="1" noTextEdit="1"/>
          </p:cNvSpPr>
          <p:nvPr>
            <p:ph type="sldImg"/>
          </p:nvPr>
        </p:nvSpPr>
        <p:spPr>
          <a:ln/>
        </p:spPr>
      </p:sp>
      <p:sp>
        <p:nvSpPr>
          <p:cNvPr id="90115" name="Notes Placeholder 2">
            <a:extLst>
              <a:ext uri="{FF2B5EF4-FFF2-40B4-BE49-F238E27FC236}">
                <a16:creationId xmlns:a16="http://schemas.microsoft.com/office/drawing/2014/main" id="{E9BA8753-180F-0A13-AC4D-70616552BD9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According to the </a:t>
            </a:r>
            <a:r>
              <a:rPr lang="en-US" altLang="en-US" b="1"/>
              <a:t>Polymorphism</a:t>
            </a:r>
            <a:r>
              <a:rPr lang="en-US" altLang="en-US"/>
              <a:t> pattern, responsibility of defining the variation of behaviors based on type is assigned to the types for which this variation happens</a:t>
            </a:r>
          </a:p>
          <a:p>
            <a:endParaRPr lang="en-US" altLang="en-US"/>
          </a:p>
          <a:p>
            <a:r>
              <a:rPr lang="en-US" altLang="en-US" b="1"/>
              <a:t>polymorphism</a:t>
            </a:r>
            <a:r>
              <a:rPr lang="en-US" altLang="en-US"/>
              <a:t> is a </a:t>
            </a:r>
            <a:r>
              <a:rPr lang="en-US" altLang="en-US">
                <a:hlinkClick r:id="rId3" action="ppaction://hlinkfile" tooltip="Programming language"/>
              </a:rPr>
              <a:t>programming language</a:t>
            </a:r>
            <a:r>
              <a:rPr lang="en-US" altLang="en-US"/>
              <a:t> feature that allows values of different </a:t>
            </a:r>
            <a:r>
              <a:rPr lang="en-US" altLang="en-US">
                <a:hlinkClick r:id="rId4" action="ppaction://hlinkfile" tooltip="Data type"/>
              </a:rPr>
              <a:t>data types</a:t>
            </a:r>
            <a:r>
              <a:rPr lang="en-US" altLang="en-US"/>
              <a:t> to be handled using a uniform interface</a:t>
            </a:r>
          </a:p>
        </p:txBody>
      </p:sp>
      <p:sp>
        <p:nvSpPr>
          <p:cNvPr id="90116" name="Slide Number Placeholder 3">
            <a:extLst>
              <a:ext uri="{FF2B5EF4-FFF2-40B4-BE49-F238E27FC236}">
                <a16:creationId xmlns:a16="http://schemas.microsoft.com/office/drawing/2014/main" id="{E0072E1F-D296-96EC-D3AC-C09C420B8F4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2347456-53A2-4032-8C3B-D626E4CB5682}" type="slidenum">
              <a:rPr lang="en-US" altLang="en-US" sz="1000">
                <a:solidFill>
                  <a:schemeClr val="tx1"/>
                </a:solidFill>
                <a:latin typeface="Times New Roman" panose="02020603050405020304" pitchFamily="18" charset="0"/>
              </a:rPr>
              <a:pPr/>
              <a:t>26</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Slide Image Placeholder 1">
            <a:extLst>
              <a:ext uri="{FF2B5EF4-FFF2-40B4-BE49-F238E27FC236}">
                <a16:creationId xmlns:a16="http://schemas.microsoft.com/office/drawing/2014/main" id="{2E8995D8-DF4D-B841-C63C-439CF4A4596F}"/>
              </a:ext>
            </a:extLst>
          </p:cNvPr>
          <p:cNvSpPr>
            <a:spLocks noGrp="1" noRot="1" noChangeAspect="1" noTextEdit="1"/>
          </p:cNvSpPr>
          <p:nvPr>
            <p:ph type="sldImg"/>
          </p:nvPr>
        </p:nvSpPr>
        <p:spPr>
          <a:ln/>
        </p:spPr>
      </p:sp>
      <p:sp>
        <p:nvSpPr>
          <p:cNvPr id="91139" name="Notes Placeholder 2">
            <a:extLst>
              <a:ext uri="{FF2B5EF4-FFF2-40B4-BE49-F238E27FC236}">
                <a16:creationId xmlns:a16="http://schemas.microsoft.com/office/drawing/2014/main" id="{623A5959-66D6-4B96-0F9C-02C5AD28F0C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91140" name="Slide Number Placeholder 3">
            <a:extLst>
              <a:ext uri="{FF2B5EF4-FFF2-40B4-BE49-F238E27FC236}">
                <a16:creationId xmlns:a16="http://schemas.microsoft.com/office/drawing/2014/main" id="{B0B74E14-32F0-B993-FD78-808EAED16C2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B5F2C37D-D589-4078-AF7C-9A30EE9A0739}" type="slidenum">
              <a:rPr lang="en-US" altLang="en-US" sz="1000">
                <a:solidFill>
                  <a:schemeClr val="tx1"/>
                </a:solidFill>
                <a:latin typeface="Times New Roman" panose="02020603050405020304" pitchFamily="18" charset="0"/>
              </a:rPr>
              <a:pPr/>
              <a:t>27</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Slide Image Placeholder 1">
            <a:extLst>
              <a:ext uri="{FF2B5EF4-FFF2-40B4-BE49-F238E27FC236}">
                <a16:creationId xmlns:a16="http://schemas.microsoft.com/office/drawing/2014/main" id="{BE635922-A9F3-80C7-817D-C95FDCE2FC7B}"/>
              </a:ext>
            </a:extLst>
          </p:cNvPr>
          <p:cNvSpPr>
            <a:spLocks noGrp="1" noRot="1" noChangeAspect="1" noTextEdit="1"/>
          </p:cNvSpPr>
          <p:nvPr>
            <p:ph type="sldImg"/>
          </p:nvPr>
        </p:nvSpPr>
        <p:spPr>
          <a:ln/>
        </p:spPr>
      </p:sp>
      <p:sp>
        <p:nvSpPr>
          <p:cNvPr id="92163" name="Notes Placeholder 2">
            <a:extLst>
              <a:ext uri="{FF2B5EF4-FFF2-40B4-BE49-F238E27FC236}">
                <a16:creationId xmlns:a16="http://schemas.microsoft.com/office/drawing/2014/main" id="{72978951-7383-947A-114A-FE77201267F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Creator: . Given two classes, class B and Class A, class B should be responsible for the creation of A if class B contains or compositely aggregates, records, closely uses or contains the initializing information for class A. It could then be stated that B is natural object to be a creator of A objects</a:t>
            </a:r>
          </a:p>
          <a:p>
            <a:r>
              <a:rPr lang="en-US" altLang="en-US"/>
              <a:t>Each payment type should authorize itself – by “Creator” sale initiates a :creditpayment and :checkpayment and asks it to authorize itself by “polymorphism”</a:t>
            </a:r>
          </a:p>
          <a:p>
            <a:endParaRPr lang="en-US" altLang="en-US"/>
          </a:p>
          <a:p>
            <a:r>
              <a:rPr lang="en-US" altLang="en-US"/>
              <a:t>Post initiates sale (creator)</a:t>
            </a:r>
          </a:p>
          <a:p>
            <a:r>
              <a:rPr lang="en-US" altLang="en-US"/>
              <a:t>Definition: Since the behavior of authorize varies by the type of payment, by polymorphism we should assign the responsibility for authorizing to different payment objects. </a:t>
            </a:r>
          </a:p>
          <a:p>
            <a:endParaRPr lang="en-US" altLang="en-US"/>
          </a:p>
        </p:txBody>
      </p:sp>
      <p:sp>
        <p:nvSpPr>
          <p:cNvPr id="92164" name="Slide Number Placeholder 3">
            <a:extLst>
              <a:ext uri="{FF2B5EF4-FFF2-40B4-BE49-F238E27FC236}">
                <a16:creationId xmlns:a16="http://schemas.microsoft.com/office/drawing/2014/main" id="{E976F9C3-764A-5E78-66CE-0A63425044A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0" fontAlgn="base" latinLnBrk="0" hangingPunct="0">
              <a:lnSpc>
                <a:spcPct val="100000"/>
              </a:lnSpc>
              <a:spcBef>
                <a:spcPct val="0"/>
              </a:spcBef>
              <a:spcAft>
                <a:spcPct val="0"/>
              </a:spcAft>
              <a:buClrTx/>
              <a:buSzTx/>
              <a:buFontTx/>
              <a:buNone/>
              <a:tabLst/>
              <a:defRPr/>
            </a:pPr>
            <a:fld id="{8166F77E-2329-4F5A-B521-651296E2BE2A}" type="slidenum">
              <a:rPr kumimoji="0" lang="en-US" altLang="en-US" sz="1000" b="0" i="1"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804863" rtl="0" eaLnBrk="0" fontAlgn="base" latinLnBrk="0" hangingPunct="0">
                <a:lnSpc>
                  <a:spcPct val="100000"/>
                </a:lnSpc>
                <a:spcBef>
                  <a:spcPct val="0"/>
                </a:spcBef>
                <a:spcAft>
                  <a:spcPct val="0"/>
                </a:spcAft>
                <a:buClrTx/>
                <a:buSzTx/>
                <a:buFontTx/>
                <a:buNone/>
                <a:tabLst/>
                <a:defRPr/>
              </a:pPr>
              <a:t>28</a:t>
            </a:fld>
            <a:endParaRPr kumimoji="0" lang="en-US" altLang="en-US" sz="1000" b="0" i="1"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29</a:t>
            </a:fld>
            <a:endParaRPr lang="en-US"/>
          </a:p>
        </p:txBody>
      </p:sp>
    </p:spTree>
    <p:extLst>
      <p:ext uri="{BB962C8B-B14F-4D97-AF65-F5344CB8AC3E}">
        <p14:creationId xmlns:p14="http://schemas.microsoft.com/office/powerpoint/2010/main" val="12180619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C7F33F08-D016-6ED5-B138-B93CDD4D75FC}"/>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a:defRPr/>
            </a:pPr>
            <a:endParaRPr lang="en-US" sz="1800"/>
          </a:p>
        </p:txBody>
      </p:sp>
      <p:sp>
        <p:nvSpPr>
          <p:cNvPr id="3" name="Text Box 5">
            <a:extLst>
              <a:ext uri="{FF2B5EF4-FFF2-40B4-BE49-F238E27FC236}">
                <a16:creationId xmlns:a16="http://schemas.microsoft.com/office/drawing/2014/main" id="{95271A30-4721-8D61-C73E-A7C7F17BC2AE}"/>
              </a:ext>
            </a:extLst>
          </p:cNvPr>
          <p:cNvSpPr txBox="1">
            <a:spLocks noChangeArrowheads="1"/>
          </p:cNvSpPr>
          <p:nvPr/>
        </p:nvSpPr>
        <p:spPr bwMode="auto">
          <a:xfrm>
            <a:off x="491067" y="104775"/>
            <a:ext cx="11700933" cy="600164"/>
          </a:xfrm>
          <a:prstGeom prst="rect">
            <a:avLst/>
          </a:prstGeom>
          <a:noFill/>
          <a:ln w="9525">
            <a:noFill/>
            <a:miter lim="800000"/>
            <a:headEnd/>
            <a:tailEnd/>
          </a:ln>
          <a:effectLst/>
        </p:spPr>
        <p:txBody>
          <a:bodyPr lIns="0" tIns="91440">
            <a:spAutoFit/>
          </a:bodyPr>
          <a:lstStyle/>
          <a:p>
            <a:pPr>
              <a:spcBef>
                <a:spcPct val="50000"/>
              </a:spcBef>
              <a:defRPr/>
            </a:pPr>
            <a:r>
              <a:rPr lang="en-US" sz="3000">
                <a:solidFill>
                  <a:schemeClr val="bg1"/>
                </a:solidFill>
                <a:latin typeface="SIEMENS-Firmenmarke" pitchFamily="2" charset="0"/>
              </a:rPr>
              <a:t>SWENG 537: Software Systems Design</a:t>
            </a:r>
            <a:endParaRPr lang="en-US" sz="2800">
              <a:solidFill>
                <a:schemeClr val="bg1"/>
              </a:solidFill>
              <a:latin typeface="SIEMENS-Firmenmarke" pitchFamily="2" charset="0"/>
            </a:endParaRPr>
          </a:p>
        </p:txBody>
      </p:sp>
      <p:sp>
        <p:nvSpPr>
          <p:cNvPr id="4" name="Text Box 6">
            <a:extLst>
              <a:ext uri="{FF2B5EF4-FFF2-40B4-BE49-F238E27FC236}">
                <a16:creationId xmlns:a16="http://schemas.microsoft.com/office/drawing/2014/main" id="{AA06E916-F9EF-BB91-1539-3B53D89551F4}"/>
              </a:ext>
            </a:extLst>
          </p:cNvPr>
          <p:cNvSpPr txBox="1">
            <a:spLocks noChangeArrowheads="1"/>
          </p:cNvSpPr>
          <p:nvPr/>
        </p:nvSpPr>
        <p:spPr bwMode="auto">
          <a:xfrm>
            <a:off x="8026400" y="6523039"/>
            <a:ext cx="3759200" cy="323165"/>
          </a:xfrm>
          <a:prstGeom prst="rect">
            <a:avLst/>
          </a:prstGeom>
          <a:noFill/>
          <a:ln w="9525">
            <a:noFill/>
            <a:miter lim="800000"/>
            <a:headEnd/>
            <a:tailEnd/>
          </a:ln>
          <a:effectLst/>
        </p:spPr>
        <p:txBody>
          <a:bodyPr lIns="0" tIns="0">
            <a:spAutoFit/>
          </a:bodyPr>
          <a:lstStyle/>
          <a:p>
            <a:pPr algn="r">
              <a:lnSpc>
                <a:spcPct val="90000"/>
              </a:lnSpc>
              <a:defRPr/>
            </a:pPr>
            <a:r>
              <a:rPr lang="de-DE" sz="1000">
                <a:solidFill>
                  <a:srgbClr val="336699"/>
                </a:solidFill>
              </a:rPr>
              <a:t>© Engineering Division, Penn State Great Valley</a:t>
            </a:r>
          </a:p>
          <a:p>
            <a:pPr algn="r">
              <a:lnSpc>
                <a:spcPct val="90000"/>
              </a:lnSpc>
              <a:defRPr/>
            </a:pPr>
            <a:r>
              <a:rPr lang="de-DE" sz="1000">
                <a:solidFill>
                  <a:srgbClr val="336699"/>
                </a:solidFill>
              </a:rPr>
              <a:t>Last Updated: </a:t>
            </a:r>
            <a:fld id="{76AEC2A7-4FC1-486E-9F5F-8DDAB7DDBC36}" type="datetime4">
              <a:rPr lang="en-US" sz="1000">
                <a:solidFill>
                  <a:srgbClr val="336699"/>
                </a:solidFill>
              </a:rPr>
              <a:pPr algn="r">
                <a:lnSpc>
                  <a:spcPct val="90000"/>
                </a:lnSpc>
                <a:defRPr/>
              </a:pPr>
              <a:t>September 24, 2025</a:t>
            </a:fld>
            <a:endParaRPr lang="de-DE" sz="1600">
              <a:latin typeface="Arial" charset="0"/>
            </a:endParaRPr>
          </a:p>
        </p:txBody>
      </p:sp>
      <p:sp>
        <p:nvSpPr>
          <p:cNvPr id="5" name="Text Box 8">
            <a:extLst>
              <a:ext uri="{FF2B5EF4-FFF2-40B4-BE49-F238E27FC236}">
                <a16:creationId xmlns:a16="http://schemas.microsoft.com/office/drawing/2014/main" id="{798A1968-A2F0-D475-33DA-03D232BC2817}"/>
              </a:ext>
            </a:extLst>
          </p:cNvPr>
          <p:cNvSpPr txBox="1">
            <a:spLocks noChangeArrowheads="1"/>
          </p:cNvSpPr>
          <p:nvPr/>
        </p:nvSpPr>
        <p:spPr bwMode="auto">
          <a:xfrm rot="16200000">
            <a:off x="-2931054" y="3578697"/>
            <a:ext cx="6321425"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p>
        </p:txBody>
      </p:sp>
      <p:sp>
        <p:nvSpPr>
          <p:cNvPr id="119810" name="Rectangle 2"/>
          <p:cNvSpPr>
            <a:spLocks noGrp="1" noChangeArrowheads="1"/>
          </p:cNvSpPr>
          <p:nvPr>
            <p:ph type="ctrTitle" sz="quarter"/>
          </p:nvPr>
        </p:nvSpPr>
        <p:spPr>
          <a:xfrm>
            <a:off x="2235200" y="1219200"/>
            <a:ext cx="9144000" cy="1447800"/>
          </a:xfrm>
        </p:spPr>
        <p:txBody>
          <a:bodyPr rIns="0" anchor="b"/>
          <a:lstStyle>
            <a:lvl1pPr>
              <a:defRPr sz="3400">
                <a:solidFill>
                  <a:srgbClr val="990000"/>
                </a:solidFill>
              </a:defRPr>
            </a:lvl1pPr>
          </a:lstStyle>
          <a:p>
            <a:r>
              <a:rPr lang="de-DE"/>
              <a:t>headline arial narrow bold</a:t>
            </a:r>
            <a:br>
              <a:rPr lang="de-DE"/>
            </a:br>
            <a:r>
              <a:rPr lang="de-DE"/>
              <a:t>44 pt, 0 pt leading</a:t>
            </a:r>
          </a:p>
        </p:txBody>
      </p:sp>
      <p:sp>
        <p:nvSpPr>
          <p:cNvPr id="119811" name="Rectangle 3"/>
          <p:cNvSpPr>
            <a:spLocks noGrp="1" noChangeArrowheads="1"/>
          </p:cNvSpPr>
          <p:nvPr>
            <p:ph type="subTitle" sz="quarter" idx="1"/>
          </p:nvPr>
        </p:nvSpPr>
        <p:spPr>
          <a:xfrm>
            <a:off x="2224617" y="3614738"/>
            <a:ext cx="9144000" cy="1752600"/>
          </a:xfrm>
        </p:spPr>
        <p:txBody>
          <a:bodyPr rIns="0"/>
          <a:lstStyle>
            <a:lvl1pPr marL="0" indent="0" algn="ctr">
              <a:buFont typeface="Wingdings" pitchFamily="2" charset="2"/>
              <a:buNone/>
              <a:defRPr sz="2400" b="1"/>
            </a:lvl1pPr>
          </a:lstStyle>
          <a:p>
            <a:r>
              <a:rPr lang="de-DE"/>
              <a:t>arial narrow 24 pt. bold</a:t>
            </a:r>
          </a:p>
        </p:txBody>
      </p:sp>
    </p:spTree>
    <p:extLst>
      <p:ext uri="{BB962C8B-B14F-4D97-AF65-F5344CB8AC3E}">
        <p14:creationId xmlns:p14="http://schemas.microsoft.com/office/powerpoint/2010/main" val="810008466"/>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DFE61C6-DBA0-BD74-142E-68756D37EF39}"/>
              </a:ext>
            </a:extLst>
          </p:cNvPr>
          <p:cNvSpPr>
            <a:spLocks noGrp="1" noChangeArrowheads="1"/>
          </p:cNvSpPr>
          <p:nvPr>
            <p:ph type="sldNum" sz="quarter" idx="10"/>
          </p:nvPr>
        </p:nvSpPr>
        <p:spPr>
          <a:ln/>
        </p:spPr>
        <p:txBody>
          <a:bodyPr/>
          <a:lstStyle>
            <a:lvl1pPr>
              <a:defRPr/>
            </a:lvl1pPr>
          </a:lstStyle>
          <a:p>
            <a:fld id="{DC03EE66-85A7-42E5-BCB9-2884DF035A82}" type="slidenum">
              <a:rPr lang="de-DE" altLang="en-US"/>
              <a:pPr/>
              <a:t>‹#›</a:t>
            </a:fld>
            <a:endParaRPr lang="de-DE" altLang="en-US"/>
          </a:p>
        </p:txBody>
      </p:sp>
    </p:spTree>
    <p:extLst>
      <p:ext uri="{BB962C8B-B14F-4D97-AF65-F5344CB8AC3E}">
        <p14:creationId xmlns:p14="http://schemas.microsoft.com/office/powerpoint/2010/main" val="3145244014"/>
      </p:ext>
    </p:extLst>
  </p:cSld>
  <p:clrMapOvr>
    <a:masterClrMapping/>
  </p:clrMapOvr>
  <p:transition>
    <p:strips dir="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a:extLst>
              <a:ext uri="{FF2B5EF4-FFF2-40B4-BE49-F238E27FC236}">
                <a16:creationId xmlns:a16="http://schemas.microsoft.com/office/drawing/2014/main" id="{4CE2F57C-A21D-B485-AF29-40E5F8945C1E}"/>
              </a:ext>
            </a:extLst>
          </p:cNvPr>
          <p:cNvSpPr>
            <a:spLocks noGrp="1" noChangeArrowheads="1"/>
          </p:cNvSpPr>
          <p:nvPr>
            <p:ph type="sldNum" sz="quarter" idx="10"/>
          </p:nvPr>
        </p:nvSpPr>
        <p:spPr>
          <a:ln/>
        </p:spPr>
        <p:txBody>
          <a:bodyPr/>
          <a:lstStyle>
            <a:lvl1pPr>
              <a:defRPr/>
            </a:lvl1pPr>
          </a:lstStyle>
          <a:p>
            <a:fld id="{0EBD54E7-5F7C-4CC0-81D1-A19AC002651B}" type="slidenum">
              <a:rPr lang="de-DE" altLang="en-US"/>
              <a:pPr/>
              <a:t>‹#›</a:t>
            </a:fld>
            <a:endParaRPr lang="de-DE" altLang="en-US"/>
          </a:p>
        </p:txBody>
      </p:sp>
    </p:spTree>
    <p:extLst>
      <p:ext uri="{BB962C8B-B14F-4D97-AF65-F5344CB8AC3E}">
        <p14:creationId xmlns:p14="http://schemas.microsoft.com/office/powerpoint/2010/main" val="2091857135"/>
      </p:ext>
    </p:extLst>
  </p:cSld>
  <p:clrMapOvr>
    <a:masterClrMapping/>
  </p:clrMapOvr>
  <p:transition>
    <p:strips dir="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21317" y="1828800"/>
            <a:ext cx="5128683"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a:extLst>
              <a:ext uri="{FF2B5EF4-FFF2-40B4-BE49-F238E27FC236}">
                <a16:creationId xmlns:a16="http://schemas.microsoft.com/office/drawing/2014/main" id="{57448D6C-E875-AD2A-4D9C-79719B8B3030}"/>
              </a:ext>
            </a:extLst>
          </p:cNvPr>
          <p:cNvSpPr>
            <a:spLocks noGrp="1" noChangeArrowheads="1"/>
          </p:cNvSpPr>
          <p:nvPr>
            <p:ph type="sldNum" sz="quarter" idx="10"/>
          </p:nvPr>
        </p:nvSpPr>
        <p:spPr>
          <a:ln/>
        </p:spPr>
        <p:txBody>
          <a:bodyPr/>
          <a:lstStyle>
            <a:lvl1pPr>
              <a:defRPr/>
            </a:lvl1pPr>
          </a:lstStyle>
          <a:p>
            <a:fld id="{4FEE65DB-B2AB-495D-9299-B5DFCFA28388}" type="slidenum">
              <a:rPr lang="de-DE" altLang="en-US"/>
              <a:pPr/>
              <a:t>‹#›</a:t>
            </a:fld>
            <a:endParaRPr lang="de-DE" altLang="en-US"/>
          </a:p>
        </p:txBody>
      </p:sp>
    </p:spTree>
    <p:extLst>
      <p:ext uri="{BB962C8B-B14F-4D97-AF65-F5344CB8AC3E}">
        <p14:creationId xmlns:p14="http://schemas.microsoft.com/office/powerpoint/2010/main" val="1941692148"/>
      </p:ext>
    </p:extLst>
  </p:cSld>
  <p:clrMapOvr>
    <a:masterClrMapping/>
  </p:clrMapOvr>
  <p:transition>
    <p:strips dir="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a:extLst>
              <a:ext uri="{FF2B5EF4-FFF2-40B4-BE49-F238E27FC236}">
                <a16:creationId xmlns:a16="http://schemas.microsoft.com/office/drawing/2014/main" id="{486ED3EF-C3EA-8B5D-4B16-559D86A4E0CE}"/>
              </a:ext>
            </a:extLst>
          </p:cNvPr>
          <p:cNvSpPr>
            <a:spLocks noGrp="1" noChangeArrowheads="1"/>
          </p:cNvSpPr>
          <p:nvPr>
            <p:ph type="sldNum" sz="quarter" idx="10"/>
          </p:nvPr>
        </p:nvSpPr>
        <p:spPr>
          <a:ln/>
        </p:spPr>
        <p:txBody>
          <a:bodyPr/>
          <a:lstStyle>
            <a:lvl1pPr>
              <a:defRPr/>
            </a:lvl1pPr>
          </a:lstStyle>
          <a:p>
            <a:fld id="{30F98CF5-9AE7-4786-B13E-797328401BF6}" type="slidenum">
              <a:rPr lang="de-DE" altLang="en-US"/>
              <a:pPr/>
              <a:t>‹#›</a:t>
            </a:fld>
            <a:endParaRPr lang="de-DE" altLang="en-US"/>
          </a:p>
        </p:txBody>
      </p:sp>
    </p:spTree>
    <p:extLst>
      <p:ext uri="{BB962C8B-B14F-4D97-AF65-F5344CB8AC3E}">
        <p14:creationId xmlns:p14="http://schemas.microsoft.com/office/powerpoint/2010/main" val="1396810015"/>
      </p:ext>
    </p:extLst>
  </p:cSld>
  <p:clrMapOvr>
    <a:masterClrMapping/>
  </p:clrMapOvr>
  <p:transition>
    <p:strips dir="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a:extLst>
              <a:ext uri="{FF2B5EF4-FFF2-40B4-BE49-F238E27FC236}">
                <a16:creationId xmlns:a16="http://schemas.microsoft.com/office/drawing/2014/main" id="{E36A3930-6349-12FB-5192-86424ADD8930}"/>
              </a:ext>
            </a:extLst>
          </p:cNvPr>
          <p:cNvSpPr>
            <a:spLocks noGrp="1" noChangeArrowheads="1"/>
          </p:cNvSpPr>
          <p:nvPr>
            <p:ph type="sldNum" sz="quarter" idx="10"/>
          </p:nvPr>
        </p:nvSpPr>
        <p:spPr>
          <a:ln/>
        </p:spPr>
        <p:txBody>
          <a:bodyPr/>
          <a:lstStyle>
            <a:lvl1pPr>
              <a:defRPr/>
            </a:lvl1pPr>
          </a:lstStyle>
          <a:p>
            <a:fld id="{F527568B-A8F3-4468-9EF1-2B509F023149}" type="slidenum">
              <a:rPr lang="de-DE" altLang="en-US"/>
              <a:pPr/>
              <a:t>‹#›</a:t>
            </a:fld>
            <a:endParaRPr lang="de-DE" altLang="en-US"/>
          </a:p>
        </p:txBody>
      </p:sp>
    </p:spTree>
    <p:extLst>
      <p:ext uri="{BB962C8B-B14F-4D97-AF65-F5344CB8AC3E}">
        <p14:creationId xmlns:p14="http://schemas.microsoft.com/office/powerpoint/2010/main" val="3683681138"/>
      </p:ext>
    </p:extLst>
  </p:cSld>
  <p:clrMapOvr>
    <a:masterClrMapping/>
  </p:clrMapOvr>
  <p:transition>
    <p:strips dir="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a:extLst>
              <a:ext uri="{FF2B5EF4-FFF2-40B4-BE49-F238E27FC236}">
                <a16:creationId xmlns:a16="http://schemas.microsoft.com/office/drawing/2014/main" id="{B441927B-3258-E4C3-CE6C-550F37628F2D}"/>
              </a:ext>
            </a:extLst>
          </p:cNvPr>
          <p:cNvSpPr>
            <a:spLocks noGrp="1" noChangeArrowheads="1"/>
          </p:cNvSpPr>
          <p:nvPr>
            <p:ph type="sldNum" sz="quarter" idx="10"/>
          </p:nvPr>
        </p:nvSpPr>
        <p:spPr>
          <a:ln/>
        </p:spPr>
        <p:txBody>
          <a:bodyPr/>
          <a:lstStyle>
            <a:lvl1pPr>
              <a:defRPr/>
            </a:lvl1pPr>
          </a:lstStyle>
          <a:p>
            <a:fld id="{D8037515-ABFA-425C-A5BB-467EEDC3C6CD}" type="slidenum">
              <a:rPr lang="de-DE" altLang="en-US"/>
              <a:pPr/>
              <a:t>‹#›</a:t>
            </a:fld>
            <a:endParaRPr lang="de-DE" altLang="en-US"/>
          </a:p>
        </p:txBody>
      </p:sp>
    </p:spTree>
    <p:extLst>
      <p:ext uri="{BB962C8B-B14F-4D97-AF65-F5344CB8AC3E}">
        <p14:creationId xmlns:p14="http://schemas.microsoft.com/office/powerpoint/2010/main" val="2214041240"/>
      </p:ext>
    </p:extLst>
  </p:cSld>
  <p:clrMapOvr>
    <a:masterClrMapping/>
  </p:clrMapOvr>
  <p:transition>
    <p:strips dir="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7CAC1458-2254-43E1-BBC2-13C3021A8411}"/>
              </a:ext>
            </a:extLst>
          </p:cNvPr>
          <p:cNvSpPr>
            <a:spLocks noGrp="1" noChangeArrowheads="1"/>
          </p:cNvSpPr>
          <p:nvPr>
            <p:ph type="sldNum" sz="quarter" idx="10"/>
          </p:nvPr>
        </p:nvSpPr>
        <p:spPr>
          <a:ln/>
        </p:spPr>
        <p:txBody>
          <a:bodyPr/>
          <a:lstStyle>
            <a:lvl1pPr>
              <a:defRPr/>
            </a:lvl1pPr>
          </a:lstStyle>
          <a:p>
            <a:fld id="{8918E807-297E-4F87-ACBA-A9BDCFAB9B75}" type="slidenum">
              <a:rPr lang="de-DE" altLang="en-US"/>
              <a:pPr/>
              <a:t>‹#›</a:t>
            </a:fld>
            <a:endParaRPr lang="de-DE" altLang="en-US"/>
          </a:p>
        </p:txBody>
      </p:sp>
    </p:spTree>
    <p:extLst>
      <p:ext uri="{BB962C8B-B14F-4D97-AF65-F5344CB8AC3E}">
        <p14:creationId xmlns:p14="http://schemas.microsoft.com/office/powerpoint/2010/main" val="2042409524"/>
      </p:ext>
    </p:extLst>
  </p:cSld>
  <p:clrMapOvr>
    <a:masterClrMapping/>
  </p:clrMapOvr>
  <p:transition>
    <p:strips dir="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280C4D00-106C-6C34-336C-9AD363A1511B}"/>
              </a:ext>
            </a:extLst>
          </p:cNvPr>
          <p:cNvSpPr>
            <a:spLocks noGrp="1" noChangeArrowheads="1"/>
          </p:cNvSpPr>
          <p:nvPr>
            <p:ph type="sldNum" sz="quarter" idx="10"/>
          </p:nvPr>
        </p:nvSpPr>
        <p:spPr>
          <a:ln/>
        </p:spPr>
        <p:txBody>
          <a:bodyPr/>
          <a:lstStyle>
            <a:lvl1pPr>
              <a:defRPr/>
            </a:lvl1pPr>
          </a:lstStyle>
          <a:p>
            <a:fld id="{A953752E-C382-4970-A515-C6C47B2256A5}" type="slidenum">
              <a:rPr lang="de-DE" altLang="en-US"/>
              <a:pPr/>
              <a:t>‹#›</a:t>
            </a:fld>
            <a:endParaRPr lang="de-DE" altLang="en-US"/>
          </a:p>
        </p:txBody>
      </p:sp>
    </p:spTree>
    <p:extLst>
      <p:ext uri="{BB962C8B-B14F-4D97-AF65-F5344CB8AC3E}">
        <p14:creationId xmlns:p14="http://schemas.microsoft.com/office/powerpoint/2010/main" val="1993135771"/>
      </p:ext>
    </p:extLst>
  </p:cSld>
  <p:clrMapOvr>
    <a:masterClrMapping/>
  </p:clrMapOvr>
  <p:transition>
    <p:strips dir="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1BDCA160-64B8-B2DF-0A57-8B117EE1005F}"/>
              </a:ext>
            </a:extLst>
          </p:cNvPr>
          <p:cNvSpPr>
            <a:spLocks noGrp="1" noChangeArrowheads="1"/>
          </p:cNvSpPr>
          <p:nvPr>
            <p:ph type="sldNum" sz="quarter" idx="10"/>
          </p:nvPr>
        </p:nvSpPr>
        <p:spPr>
          <a:ln/>
        </p:spPr>
        <p:txBody>
          <a:bodyPr/>
          <a:lstStyle>
            <a:lvl1pPr>
              <a:defRPr/>
            </a:lvl1pPr>
          </a:lstStyle>
          <a:p>
            <a:fld id="{51BFFDC5-0B19-42D5-A7FB-FFDBB9E974CB}" type="slidenum">
              <a:rPr lang="de-DE" altLang="en-US"/>
              <a:pPr/>
              <a:t>‹#›</a:t>
            </a:fld>
            <a:endParaRPr lang="de-DE" altLang="en-US"/>
          </a:p>
        </p:txBody>
      </p:sp>
    </p:spTree>
    <p:extLst>
      <p:ext uri="{BB962C8B-B14F-4D97-AF65-F5344CB8AC3E}">
        <p14:creationId xmlns:p14="http://schemas.microsoft.com/office/powerpoint/2010/main" val="2094030374"/>
      </p:ext>
    </p:extLst>
  </p:cSld>
  <p:clrMapOvr>
    <a:masterClrMapping/>
  </p:clrMapOvr>
  <p:transition>
    <p:strips dir="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9917" y="609600"/>
            <a:ext cx="2614083"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21317" y="609600"/>
            <a:ext cx="76454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6C9261F-98D6-FBD5-D721-5C0B664941D1}"/>
              </a:ext>
            </a:extLst>
          </p:cNvPr>
          <p:cNvSpPr>
            <a:spLocks noGrp="1" noChangeArrowheads="1"/>
          </p:cNvSpPr>
          <p:nvPr>
            <p:ph type="sldNum" sz="quarter" idx="10"/>
          </p:nvPr>
        </p:nvSpPr>
        <p:spPr>
          <a:ln/>
        </p:spPr>
        <p:txBody>
          <a:bodyPr/>
          <a:lstStyle>
            <a:lvl1pPr>
              <a:defRPr/>
            </a:lvl1pPr>
          </a:lstStyle>
          <a:p>
            <a:fld id="{0386F535-B57D-425A-BFA5-AA4AC0F0DE9D}" type="slidenum">
              <a:rPr lang="de-DE" altLang="en-US"/>
              <a:pPr/>
              <a:t>‹#›</a:t>
            </a:fld>
            <a:endParaRPr lang="de-DE" altLang="en-US"/>
          </a:p>
        </p:txBody>
      </p:sp>
    </p:spTree>
    <p:extLst>
      <p:ext uri="{BB962C8B-B14F-4D97-AF65-F5344CB8AC3E}">
        <p14:creationId xmlns:p14="http://schemas.microsoft.com/office/powerpoint/2010/main" val="4117519442"/>
      </p:ext>
    </p:extLst>
  </p:cSld>
  <p:clrMapOvr>
    <a:masterClrMapping/>
  </p:clrMapOvr>
  <p:transition>
    <p:strips dir="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9/24/25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6178349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9/24/25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17370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9/24/25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035764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9/24/25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7532930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9/24/25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5577221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9/24/25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252459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9/24/25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818578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9/24/25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2554817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9/24/25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410741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9/24/25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5498794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9/24/25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6815653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71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6" Type="http://schemas.openxmlformats.org/officeDocument/2006/relationships/image" Target="../media/image3.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microsoft.com/office/2007/relationships/hdphoto" Target="../media/hdphoto1.wdp"/><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18F1ECE1-9929-DE64-5632-72540D1E07E9}"/>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defTabSz="762000">
              <a:defRPr/>
            </a:pPr>
            <a:endParaRPr lang="en-US" sz="1600">
              <a:solidFill>
                <a:schemeClr val="bg1"/>
              </a:solidFill>
            </a:endParaRPr>
          </a:p>
        </p:txBody>
      </p:sp>
      <p:sp>
        <p:nvSpPr>
          <p:cNvPr id="118787" name="Text Box 3">
            <a:extLst>
              <a:ext uri="{FF2B5EF4-FFF2-40B4-BE49-F238E27FC236}">
                <a16:creationId xmlns:a16="http://schemas.microsoft.com/office/drawing/2014/main" id="{76FAA039-BCD5-DF52-3464-54E83919E58D}"/>
              </a:ext>
            </a:extLst>
          </p:cNvPr>
          <p:cNvSpPr txBox="1">
            <a:spLocks noChangeArrowheads="1"/>
          </p:cNvSpPr>
          <p:nvPr/>
        </p:nvSpPr>
        <p:spPr bwMode="auto">
          <a:xfrm>
            <a:off x="789518" y="95250"/>
            <a:ext cx="10674349" cy="446276"/>
          </a:xfrm>
          <a:prstGeom prst="rect">
            <a:avLst/>
          </a:prstGeom>
          <a:noFill/>
          <a:ln w="9525">
            <a:noFill/>
            <a:miter lim="800000"/>
            <a:headEnd/>
            <a:tailEnd/>
          </a:ln>
          <a:effectLst/>
        </p:spPr>
        <p:txBody>
          <a:bodyPr lIns="0" tIns="0">
            <a:spAutoFit/>
          </a:bodyPr>
          <a:lstStyle/>
          <a:p>
            <a:pPr>
              <a:spcBef>
                <a:spcPct val="50000"/>
              </a:spcBef>
              <a:defRPr/>
            </a:pPr>
            <a:r>
              <a:rPr lang="en-US" sz="2600">
                <a:solidFill>
                  <a:schemeClr val="bg1"/>
                </a:solidFill>
                <a:latin typeface="SIEMENS-Firmenmarke" pitchFamily="2" charset="0"/>
              </a:rPr>
              <a:t>SWENG 537: Software Systems Design</a:t>
            </a:r>
            <a:endParaRPr lang="en-US" sz="2400">
              <a:solidFill>
                <a:schemeClr val="bg1"/>
              </a:solidFill>
              <a:latin typeface="SIEMENS-Firmenmarke" pitchFamily="2" charset="0"/>
            </a:endParaRPr>
          </a:p>
        </p:txBody>
      </p:sp>
      <p:sp>
        <p:nvSpPr>
          <p:cNvPr id="2052" name="Rectangle 4">
            <a:extLst>
              <a:ext uri="{FF2B5EF4-FFF2-40B4-BE49-F238E27FC236}">
                <a16:creationId xmlns:a16="http://schemas.microsoft.com/office/drawing/2014/main" id="{EEE92D2C-33B8-70ED-16BA-3A755D5F5C30}"/>
              </a:ext>
            </a:extLst>
          </p:cNvPr>
          <p:cNvSpPr>
            <a:spLocks noGrp="1" noChangeArrowheads="1"/>
          </p:cNvSpPr>
          <p:nvPr>
            <p:ph type="title"/>
          </p:nvPr>
        </p:nvSpPr>
        <p:spPr bwMode="auto">
          <a:xfrm>
            <a:off x="1221317" y="609600"/>
            <a:ext cx="10462683"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ctr" anchorCtr="0" compatLnSpc="1">
            <a:prstTxWarp prst="textNoShape">
              <a:avLst/>
            </a:prstTxWarp>
          </a:bodyPr>
          <a:lstStyle/>
          <a:p>
            <a:pPr lvl="0"/>
            <a:r>
              <a:rPr lang="de-DE" altLang="en-US"/>
              <a:t>Click to edit mater Title style</a:t>
            </a:r>
          </a:p>
        </p:txBody>
      </p:sp>
      <p:sp>
        <p:nvSpPr>
          <p:cNvPr id="2053" name="Rectangle 5">
            <a:extLst>
              <a:ext uri="{FF2B5EF4-FFF2-40B4-BE49-F238E27FC236}">
                <a16:creationId xmlns:a16="http://schemas.microsoft.com/office/drawing/2014/main" id="{136EAA36-8F01-3A0D-8422-3765DC01E178}"/>
              </a:ext>
            </a:extLst>
          </p:cNvPr>
          <p:cNvSpPr>
            <a:spLocks noGrp="1" noChangeArrowheads="1"/>
          </p:cNvSpPr>
          <p:nvPr>
            <p:ph type="body" idx="1"/>
          </p:nvPr>
        </p:nvSpPr>
        <p:spPr bwMode="auto">
          <a:xfrm>
            <a:off x="1221317" y="1828800"/>
            <a:ext cx="10462683"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t" anchorCtr="0" compatLnSpc="1">
            <a:prstTxWarp prst="textNoShape">
              <a:avLst/>
            </a:prstTxWarp>
          </a:bodyPr>
          <a:lstStyle/>
          <a:p>
            <a:pPr lvl="0"/>
            <a:r>
              <a:rPr lang="de-DE" altLang="en-US"/>
              <a:t>Click to edit Master text styles</a:t>
            </a:r>
          </a:p>
          <a:p>
            <a:pPr lvl="1"/>
            <a:r>
              <a:rPr lang="de-DE" altLang="en-US"/>
              <a:t>Second level</a:t>
            </a:r>
          </a:p>
          <a:p>
            <a:pPr lvl="2"/>
            <a:r>
              <a:rPr lang="de-DE" altLang="en-US"/>
              <a:t>Third level</a:t>
            </a:r>
          </a:p>
          <a:p>
            <a:pPr lvl="3"/>
            <a:r>
              <a:rPr lang="de-DE" altLang="en-US"/>
              <a:t>Fourth level</a:t>
            </a:r>
          </a:p>
          <a:p>
            <a:pPr lvl="4"/>
            <a:r>
              <a:rPr lang="de-DE" altLang="en-US"/>
              <a:t>Fifth level</a:t>
            </a:r>
          </a:p>
        </p:txBody>
      </p:sp>
      <p:sp>
        <p:nvSpPr>
          <p:cNvPr id="118803" name="Rectangle 19">
            <a:extLst>
              <a:ext uri="{FF2B5EF4-FFF2-40B4-BE49-F238E27FC236}">
                <a16:creationId xmlns:a16="http://schemas.microsoft.com/office/drawing/2014/main" id="{CCC05AEF-4FC5-7CA8-848A-24CEB999B89A}"/>
              </a:ext>
            </a:extLst>
          </p:cNvPr>
          <p:cNvSpPr>
            <a:spLocks noGrp="1" noChangeArrowheads="1"/>
          </p:cNvSpPr>
          <p:nvPr>
            <p:ph type="sldNum" sz="quarter" idx="4"/>
          </p:nvPr>
        </p:nvSpPr>
        <p:spPr bwMode="auto">
          <a:xfrm>
            <a:off x="9213851" y="6400800"/>
            <a:ext cx="2470149" cy="304800"/>
          </a:xfrm>
          <a:prstGeom prst="rect">
            <a:avLst/>
          </a:prstGeom>
          <a:noFill/>
          <a:ln w="9525">
            <a:noFill/>
            <a:miter lim="800000"/>
            <a:headEnd/>
            <a:tailEnd/>
          </a:ln>
          <a:effectLst/>
        </p:spPr>
        <p:txBody>
          <a:bodyPr vert="horz" wrap="square" lIns="0" tIns="0" rIns="91440" bIns="45720" numCol="1" anchor="t" anchorCtr="0" compatLnSpc="1">
            <a:prstTxWarp prst="textNoShape">
              <a:avLst/>
            </a:prstTxWarp>
          </a:bodyPr>
          <a:lstStyle>
            <a:lvl1pPr algn="r">
              <a:lnSpc>
                <a:spcPct val="110000"/>
              </a:lnSpc>
              <a:defRPr sz="1000"/>
            </a:lvl1pPr>
          </a:lstStyle>
          <a:p>
            <a:fld id="{E0656729-D543-4138-8524-6AD43830E923}" type="slidenum">
              <a:rPr lang="de-DE" altLang="en-US"/>
              <a:pPr/>
              <a:t>‹#›</a:t>
            </a:fld>
            <a:endParaRPr lang="de-DE" altLang="en-US"/>
          </a:p>
        </p:txBody>
      </p:sp>
      <p:sp>
        <p:nvSpPr>
          <p:cNvPr id="118804" name="Text Box 20">
            <a:extLst>
              <a:ext uri="{FF2B5EF4-FFF2-40B4-BE49-F238E27FC236}">
                <a16:creationId xmlns:a16="http://schemas.microsoft.com/office/drawing/2014/main" id="{DFA5C3A8-C016-4867-F5D6-A2ACFA93DCCB}"/>
              </a:ext>
            </a:extLst>
          </p:cNvPr>
          <p:cNvSpPr txBox="1">
            <a:spLocks noChangeArrowheads="1"/>
          </p:cNvSpPr>
          <p:nvPr userDrawn="1"/>
        </p:nvSpPr>
        <p:spPr bwMode="auto">
          <a:xfrm rot="16200000">
            <a:off x="-2930790" y="3582666"/>
            <a:ext cx="6329363"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r>
              <a:rPr lang="en-US" sz="1200" b="1">
                <a:solidFill>
                  <a:schemeClr val="bg1"/>
                </a:solidFill>
                <a:latin typeface="Arial" charset="0"/>
                <a:cs typeface="Arial" charset="0"/>
              </a:rPr>
              <a:t>© ENGINEERING DIVISION, </a:t>
            </a:r>
            <a:r>
              <a:rPr lang="de-DE" sz="1200" b="1">
                <a:solidFill>
                  <a:schemeClr val="bg1"/>
                </a:solidFill>
                <a:latin typeface="Arial" charset="0"/>
              </a:rPr>
              <a:t>PENN STATE UNIVERSITY</a:t>
            </a:r>
          </a:p>
        </p:txBody>
      </p:sp>
    </p:spTree>
    <p:extLst>
      <p:ext uri="{BB962C8B-B14F-4D97-AF65-F5344CB8AC3E}">
        <p14:creationId xmlns:p14="http://schemas.microsoft.com/office/powerpoint/2010/main" val="33745619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p:strips dir="rd"/>
  </p:transition>
  <p:hf hdr="0" ftr="0" dt="0"/>
  <p:txStyles>
    <p:titleStyle>
      <a:lvl1pPr algn="ctr" rtl="0" eaLnBrk="0" fontAlgn="base" hangingPunct="0">
        <a:spcBef>
          <a:spcPct val="0"/>
        </a:spcBef>
        <a:spcAft>
          <a:spcPct val="0"/>
        </a:spcAft>
        <a:defRPr sz="2400" b="1">
          <a:solidFill>
            <a:srgbClr val="666666"/>
          </a:solidFill>
          <a:latin typeface="+mj-lt"/>
          <a:ea typeface="+mj-ea"/>
          <a:cs typeface="+mj-cs"/>
        </a:defRPr>
      </a:lvl1pPr>
      <a:lvl2pPr algn="ctr" rtl="0" eaLnBrk="0" fontAlgn="base" hangingPunct="0">
        <a:spcBef>
          <a:spcPct val="0"/>
        </a:spcBef>
        <a:spcAft>
          <a:spcPct val="0"/>
        </a:spcAft>
        <a:defRPr sz="2400" b="1">
          <a:solidFill>
            <a:srgbClr val="666666"/>
          </a:solidFill>
          <a:latin typeface="Arial Narrow" pitchFamily="34" charset="0"/>
        </a:defRPr>
      </a:lvl2pPr>
      <a:lvl3pPr algn="ctr" rtl="0" eaLnBrk="0" fontAlgn="base" hangingPunct="0">
        <a:spcBef>
          <a:spcPct val="0"/>
        </a:spcBef>
        <a:spcAft>
          <a:spcPct val="0"/>
        </a:spcAft>
        <a:defRPr sz="2400" b="1">
          <a:solidFill>
            <a:srgbClr val="666666"/>
          </a:solidFill>
          <a:latin typeface="Arial Narrow" pitchFamily="34" charset="0"/>
        </a:defRPr>
      </a:lvl3pPr>
      <a:lvl4pPr algn="ctr" rtl="0" eaLnBrk="0" fontAlgn="base" hangingPunct="0">
        <a:spcBef>
          <a:spcPct val="0"/>
        </a:spcBef>
        <a:spcAft>
          <a:spcPct val="0"/>
        </a:spcAft>
        <a:defRPr sz="2400" b="1">
          <a:solidFill>
            <a:srgbClr val="666666"/>
          </a:solidFill>
          <a:latin typeface="Arial Narrow" pitchFamily="34" charset="0"/>
        </a:defRPr>
      </a:lvl4pPr>
      <a:lvl5pPr algn="ctr" rtl="0" eaLnBrk="0" fontAlgn="base" hangingPunct="0">
        <a:spcBef>
          <a:spcPct val="0"/>
        </a:spcBef>
        <a:spcAft>
          <a:spcPct val="0"/>
        </a:spcAft>
        <a:defRPr sz="2400" b="1">
          <a:solidFill>
            <a:srgbClr val="666666"/>
          </a:solidFill>
          <a:latin typeface="Arial Narrow" pitchFamily="34" charset="0"/>
        </a:defRPr>
      </a:lvl5pPr>
      <a:lvl6pPr marL="457200" algn="ctr" rtl="0" eaLnBrk="0" fontAlgn="base" hangingPunct="0">
        <a:spcBef>
          <a:spcPct val="0"/>
        </a:spcBef>
        <a:spcAft>
          <a:spcPct val="0"/>
        </a:spcAft>
        <a:defRPr sz="2400" b="1">
          <a:solidFill>
            <a:srgbClr val="666666"/>
          </a:solidFill>
          <a:latin typeface="Arial Narrow" pitchFamily="34" charset="0"/>
        </a:defRPr>
      </a:lvl6pPr>
      <a:lvl7pPr marL="914400" algn="ctr" rtl="0" eaLnBrk="0" fontAlgn="base" hangingPunct="0">
        <a:spcBef>
          <a:spcPct val="0"/>
        </a:spcBef>
        <a:spcAft>
          <a:spcPct val="0"/>
        </a:spcAft>
        <a:defRPr sz="2400" b="1">
          <a:solidFill>
            <a:srgbClr val="666666"/>
          </a:solidFill>
          <a:latin typeface="Arial Narrow" pitchFamily="34" charset="0"/>
        </a:defRPr>
      </a:lvl7pPr>
      <a:lvl8pPr marL="1371600" algn="ctr" rtl="0" eaLnBrk="0" fontAlgn="base" hangingPunct="0">
        <a:spcBef>
          <a:spcPct val="0"/>
        </a:spcBef>
        <a:spcAft>
          <a:spcPct val="0"/>
        </a:spcAft>
        <a:defRPr sz="2400" b="1">
          <a:solidFill>
            <a:srgbClr val="666666"/>
          </a:solidFill>
          <a:latin typeface="Arial Narrow" pitchFamily="34" charset="0"/>
        </a:defRPr>
      </a:lvl8pPr>
      <a:lvl9pPr marL="1828800" algn="ctr" rtl="0" eaLnBrk="0" fontAlgn="base" hangingPunct="0">
        <a:spcBef>
          <a:spcPct val="0"/>
        </a:spcBef>
        <a:spcAft>
          <a:spcPct val="0"/>
        </a:spcAft>
        <a:defRPr sz="2400" b="1">
          <a:solidFill>
            <a:srgbClr val="666666"/>
          </a:solidFill>
          <a:latin typeface="Arial Narrow" pitchFamily="34" charset="0"/>
        </a:defRPr>
      </a:lvl9pPr>
    </p:titleStyle>
    <p:bodyStyle>
      <a:lvl1pPr marL="190500" indent="-190500" algn="l" rtl="0" eaLnBrk="0" fontAlgn="base" hangingPunct="0">
        <a:spcBef>
          <a:spcPct val="15000"/>
        </a:spcBef>
        <a:spcAft>
          <a:spcPct val="0"/>
        </a:spcAft>
        <a:buSzPct val="70000"/>
        <a:buFont typeface="Wingdings" panose="05000000000000000000" pitchFamily="2" charset="2"/>
        <a:buChar char="q"/>
        <a:defRPr>
          <a:solidFill>
            <a:schemeClr val="tx1"/>
          </a:solidFill>
          <a:latin typeface="+mn-lt"/>
          <a:ea typeface="+mn-ea"/>
          <a:cs typeface="+mn-cs"/>
        </a:defRPr>
      </a:lvl1pPr>
      <a:lvl2pPr marL="571500" indent="-190500" algn="l" rtl="0" eaLnBrk="0" fontAlgn="base" hangingPunct="0">
        <a:spcBef>
          <a:spcPct val="0"/>
        </a:spcBef>
        <a:spcAft>
          <a:spcPts val="400"/>
        </a:spcAft>
        <a:buSzPct val="70000"/>
        <a:buFont typeface="Marlett" pitchFamily="2" charset="2"/>
        <a:buChar char="i"/>
        <a:defRPr sz="1600">
          <a:solidFill>
            <a:schemeClr val="tx1"/>
          </a:solidFill>
          <a:latin typeface="+mn-lt"/>
        </a:defRPr>
      </a:lvl2pPr>
      <a:lvl3pPr marL="952500" indent="-190500" algn="l" rtl="0" eaLnBrk="0" fontAlgn="base" hangingPunct="0">
        <a:lnSpc>
          <a:spcPct val="110000"/>
        </a:lnSpc>
        <a:spcBef>
          <a:spcPct val="0"/>
        </a:spcBef>
        <a:spcAft>
          <a:spcPts val="400"/>
        </a:spcAft>
        <a:buSzPct val="70000"/>
        <a:buFont typeface="Marlett" pitchFamily="2" charset="2"/>
        <a:buChar char="i"/>
        <a:defRPr sz="1400">
          <a:solidFill>
            <a:schemeClr val="tx1"/>
          </a:solidFill>
          <a:latin typeface="+mn-lt"/>
        </a:defRPr>
      </a:lvl3pPr>
      <a:lvl4pPr marL="1333500" indent="-190500" algn="l" rtl="0" eaLnBrk="0" fontAlgn="base" hangingPunct="0">
        <a:lnSpc>
          <a:spcPct val="150000"/>
        </a:lnSpc>
        <a:spcBef>
          <a:spcPct val="0"/>
        </a:spcBef>
        <a:spcAft>
          <a:spcPts val="400"/>
        </a:spcAft>
        <a:buSzPct val="70000"/>
        <a:buFont typeface="Marlett" pitchFamily="2" charset="2"/>
        <a:buChar char="i"/>
        <a:defRPr sz="1200">
          <a:solidFill>
            <a:schemeClr val="tx1"/>
          </a:solidFill>
          <a:latin typeface="+mn-lt"/>
        </a:defRPr>
      </a:lvl4pPr>
      <a:lvl5pPr marL="17145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5pPr>
      <a:lvl6pPr marL="21717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6pPr>
      <a:lvl7pPr marL="26289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7pPr>
      <a:lvl8pPr marL="30861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8pPr>
      <a:lvl9pPr marL="35433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9/24/25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32827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23.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wmf"/></Relationships>
</file>

<file path=ppt/slides/_rels/slide7.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3.wmf"/><Relationship Id="rId5" Type="http://schemas.openxmlformats.org/officeDocument/2006/relationships/image" Target="../media/image12.wmf"/><Relationship Id="rId4" Type="http://schemas.openxmlformats.org/officeDocument/2006/relationships/image" Target="../media/image11.w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18.xml"/><Relationship Id="rId1" Type="http://schemas.openxmlformats.org/officeDocument/2006/relationships/slideLayout" Target="../slideLayouts/slideLayout18.xml"/><Relationship Id="rId4" Type="http://schemas.openxmlformats.org/officeDocument/2006/relationships/image" Target="../media/image22.wmf"/></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slides/_rels/slide3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a:latin typeface="Calibri" panose="020F0502020204030204" pitchFamily="34" charset="0"/>
                <a:cs typeface="Calibri" panose="020F0502020204030204" pitchFamily="34" charset="0"/>
              </a:rPr>
            </a:br>
            <a:r>
              <a:rPr lang="en-US" sz="6100">
                <a:latin typeface="Calibri" panose="020F0502020204030204" pitchFamily="34" charset="0"/>
                <a:cs typeface="Calibri" panose="020F0502020204030204" pitchFamily="34" charset="0"/>
              </a:rPr>
              <a:t>CS411, FALL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8: Design Principles II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fontScale="92500" lnSpcReduction="20000"/>
          </a:bodyPr>
          <a:lstStyle/>
          <a:p>
            <a:pPr marL="0" indent="0" algn="just">
              <a:buNone/>
            </a:pPr>
            <a:endParaRPr lang="en-US" sz="3400" dirty="0">
              <a:latin typeface="Times New Roman" panose="02020603050405020304" pitchFamily="18" charset="0"/>
              <a:cs typeface="Times New Roman" panose="02020603050405020304" pitchFamily="18" charset="0"/>
            </a:endParaRPr>
          </a:p>
          <a:p>
            <a:pPr marL="342900" indent="-342900"/>
            <a:r>
              <a:rPr lang="en-US" altLang="en-US" sz="3600" dirty="0">
                <a:solidFill>
                  <a:schemeClr val="accent1">
                    <a:lumMod val="75000"/>
                  </a:schemeClr>
                </a:solidFill>
              </a:rPr>
              <a:t>GRASP Patterns:</a:t>
            </a:r>
          </a:p>
          <a:p>
            <a:pPr marL="608012" lvl="1" indent="-342900"/>
            <a:r>
              <a:rPr lang="en-US" altLang="en-US" dirty="0"/>
              <a:t>Expert    </a:t>
            </a:r>
          </a:p>
          <a:p>
            <a:pPr marL="608012" lvl="1" indent="-342900"/>
            <a:r>
              <a:rPr lang="en-US" altLang="en-US" dirty="0"/>
              <a:t>Creator</a:t>
            </a:r>
          </a:p>
          <a:p>
            <a:pPr marL="608012" lvl="1" indent="-342900"/>
            <a:r>
              <a:rPr lang="en-US" altLang="en-US" dirty="0"/>
              <a:t>Controller</a:t>
            </a:r>
          </a:p>
          <a:p>
            <a:pPr marL="608012" lvl="1" indent="-342900"/>
            <a:r>
              <a:rPr lang="en-US" altLang="en-US" dirty="0"/>
              <a:t>Low Coupling/High Cohesion</a:t>
            </a:r>
          </a:p>
          <a:p>
            <a:pPr marL="608012" lvl="1" indent="-342900"/>
            <a:r>
              <a:rPr lang="en-US" altLang="en-US" dirty="0"/>
              <a:t>Polymorphism</a:t>
            </a:r>
          </a:p>
          <a:p>
            <a:pPr marL="608012" lvl="1" indent="-342900"/>
            <a:r>
              <a:rPr lang="en-US" altLang="en-US" dirty="0"/>
              <a:t>Pure Fabrication</a:t>
            </a:r>
          </a:p>
          <a:p>
            <a:pPr marL="608012" lvl="1" indent="-342900"/>
            <a:r>
              <a:rPr lang="en-US" altLang="en-US" dirty="0"/>
              <a:t>Indirection</a:t>
            </a:r>
          </a:p>
          <a:p>
            <a:pPr marL="608012" lvl="1" indent="-342900"/>
            <a:r>
              <a:rPr lang="en-US" altLang="en-US" dirty="0"/>
              <a:t>Don’t Talk to Strangers (Law of Demeter)</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 name="Right Brace 5">
            <a:extLst>
              <a:ext uri="{FF2B5EF4-FFF2-40B4-BE49-F238E27FC236}">
                <a16:creationId xmlns:a16="http://schemas.microsoft.com/office/drawing/2014/main" id="{3E4F3252-7D2C-3003-86C3-E3ED47410D51}"/>
              </a:ext>
            </a:extLst>
          </p:cNvPr>
          <p:cNvSpPr/>
          <p:nvPr/>
        </p:nvSpPr>
        <p:spPr>
          <a:xfrm>
            <a:off x="5757334" y="3828123"/>
            <a:ext cx="338666" cy="119543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7D350DB9-71AF-BE1B-D545-849303FE64B5}"/>
              </a:ext>
            </a:extLst>
          </p:cNvPr>
          <p:cNvCxnSpPr>
            <a:cxnSpLocks/>
          </p:cNvCxnSpPr>
          <p:nvPr/>
        </p:nvCxnSpPr>
        <p:spPr>
          <a:xfrm>
            <a:off x="6096000" y="4421847"/>
            <a:ext cx="4481689" cy="3992"/>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DC17E876-CBAE-BE0E-4D6D-EB2C1B5F0E89}"/>
              </a:ext>
            </a:extLst>
          </p:cNvPr>
          <p:cNvSpPr txBox="1"/>
          <p:nvPr/>
        </p:nvSpPr>
        <p:spPr>
          <a:xfrm>
            <a:off x="5926667" y="4017090"/>
            <a:ext cx="5642918" cy="369332"/>
          </a:xfrm>
          <a:prstGeom prst="rect">
            <a:avLst/>
          </a:prstGeom>
          <a:noFill/>
        </p:spPr>
        <p:txBody>
          <a:bodyPr wrap="square" rtlCol="0">
            <a:spAutoFit/>
          </a:bodyPr>
          <a:lstStyle/>
          <a:p>
            <a:r>
              <a:rPr lang="en-US" b="1" dirty="0">
                <a:solidFill>
                  <a:schemeClr val="accent1">
                    <a:lumMod val="75000"/>
                  </a:schemeClr>
                </a:solidFill>
              </a:rPr>
              <a:t>we will focus on these three patterns in this lecture</a:t>
            </a:r>
          </a:p>
        </p:txBody>
      </p:sp>
    </p:spTree>
    <p:extLst>
      <p:ext uri="{BB962C8B-B14F-4D97-AF65-F5344CB8AC3E}">
        <p14:creationId xmlns:p14="http://schemas.microsoft.com/office/powerpoint/2010/main" val="332822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D0D6D3E-D7F9-4591-9CA9-DDF4DB1F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C3634FA-10F1-5B31-A630-B91EB6B8CD55}"/>
              </a:ext>
            </a:extLst>
          </p:cNvPr>
          <p:cNvSpPr>
            <a:spLocks noGrp="1"/>
          </p:cNvSpPr>
          <p:nvPr>
            <p:ph type="title"/>
          </p:nvPr>
        </p:nvSpPr>
        <p:spPr>
          <a:xfrm>
            <a:off x="982639" y="1012536"/>
            <a:ext cx="4613300" cy="3163224"/>
          </a:xfrm>
        </p:spPr>
        <p:txBody>
          <a:bodyPr vert="horz" lIns="91440" tIns="45720" rIns="91440" bIns="45720" rtlCol="0" anchor="t">
            <a:normAutofit/>
          </a:bodyPr>
          <a:lstStyle/>
          <a:p>
            <a:r>
              <a:rPr lang="en-US" sz="4800" dirty="0"/>
              <a:t>CONTROLLER PATTERN</a:t>
            </a:r>
          </a:p>
        </p:txBody>
      </p:sp>
      <p:sp>
        <p:nvSpPr>
          <p:cNvPr id="11" name="Rectangle 10">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4068664" cy="6858000"/>
          </a:xfrm>
          <a:prstGeom prst="rect">
            <a:avLst/>
          </a:prstGeom>
          <a:gradFill>
            <a:gsLst>
              <a:gs pos="26000">
                <a:srgbClr val="000000"/>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3611463" cy="6858000"/>
          </a:xfrm>
          <a:prstGeom prst="rect">
            <a:avLst/>
          </a:prstGeom>
          <a:gradFill>
            <a:gsLst>
              <a:gs pos="0">
                <a:schemeClr val="accent1">
                  <a:lumMod val="75000"/>
                  <a:alpha val="56000"/>
                </a:schemeClr>
              </a:gs>
              <a:gs pos="100000">
                <a:srgbClr val="000000">
                  <a:alpha val="52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230721" y="-107390"/>
            <a:ext cx="3853890" cy="4068665"/>
          </a:xfrm>
          <a:prstGeom prst="rect">
            <a:avLst/>
          </a:prstGeom>
          <a:gradFill>
            <a:gsLst>
              <a:gs pos="0">
                <a:srgbClr val="000000">
                  <a:alpha val="34000"/>
                </a:srgbClr>
              </a:gs>
              <a:gs pos="96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Gadgets on a desk">
            <a:extLst>
              <a:ext uri="{FF2B5EF4-FFF2-40B4-BE49-F238E27FC236}">
                <a16:creationId xmlns:a16="http://schemas.microsoft.com/office/drawing/2014/main" id="{8186943B-0E01-9788-AE8E-3DDE9F4B8597}"/>
              </a:ext>
            </a:extLst>
          </p:cNvPr>
          <p:cNvPicPr>
            <a:picLocks noChangeAspect="1"/>
          </p:cNvPicPr>
          <p:nvPr/>
        </p:nvPicPr>
        <p:blipFill rotWithShape="1">
          <a:blip r:embed="rId2"/>
          <a:srcRect l="893" r="24107" b="1"/>
          <a:stretch/>
        </p:blipFill>
        <p:spPr>
          <a:xfrm>
            <a:off x="6096000" y="1012536"/>
            <a:ext cx="4756162" cy="4756162"/>
          </a:xfrm>
          <a:custGeom>
            <a:avLst/>
            <a:gdLst/>
            <a:ahLst/>
            <a:cxnLst/>
            <a:rect l="l" t="t" r="r" b="b"/>
            <a:pathLst>
              <a:path w="5031136" h="5031136">
                <a:moveTo>
                  <a:pt x="2515568" y="0"/>
                </a:moveTo>
                <a:cubicBezTo>
                  <a:pt x="3904878" y="0"/>
                  <a:pt x="5031136" y="1126258"/>
                  <a:pt x="5031136" y="2515568"/>
                </a:cubicBezTo>
                <a:cubicBezTo>
                  <a:pt x="5031136" y="3904878"/>
                  <a:pt x="3904878" y="5031136"/>
                  <a:pt x="2515568" y="5031136"/>
                </a:cubicBezTo>
                <a:cubicBezTo>
                  <a:pt x="1126258" y="5031136"/>
                  <a:pt x="0" y="3904878"/>
                  <a:pt x="0" y="2515568"/>
                </a:cubicBezTo>
                <a:cubicBezTo>
                  <a:pt x="0" y="1126258"/>
                  <a:pt x="1126258" y="0"/>
                  <a:pt x="2515568" y="0"/>
                </a:cubicBezTo>
                <a:close/>
              </a:path>
            </a:pathLst>
          </a:custGeom>
        </p:spPr>
      </p:pic>
    </p:spTree>
    <p:extLst>
      <p:ext uri="{BB962C8B-B14F-4D97-AF65-F5344CB8AC3E}">
        <p14:creationId xmlns:p14="http://schemas.microsoft.com/office/powerpoint/2010/main" val="260337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777" name="Rectangle 3277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2779" name="Rectangle 3277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81" name="Rectangle 3278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83" name="Rectangle 3278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85" name="Rectangle 3278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2787" name="Freeform: Shape 3278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2789" name="Rectangle 3278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71" name="Rectangle 2">
            <a:extLst>
              <a:ext uri="{FF2B5EF4-FFF2-40B4-BE49-F238E27FC236}">
                <a16:creationId xmlns:a16="http://schemas.microsoft.com/office/drawing/2014/main" id="{931EEF92-1D75-63FD-7A1D-68266D1ABFBD}"/>
              </a:ext>
            </a:extLst>
          </p:cNvPr>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Controller</a:t>
            </a:r>
          </a:p>
        </p:txBody>
      </p:sp>
      <p:sp>
        <p:nvSpPr>
          <p:cNvPr id="32772" name="Rectangle 3">
            <a:extLst>
              <a:ext uri="{FF2B5EF4-FFF2-40B4-BE49-F238E27FC236}">
                <a16:creationId xmlns:a16="http://schemas.microsoft.com/office/drawing/2014/main" id="{26EA3B65-784D-ECF7-0E67-592314F3216A}"/>
              </a:ext>
            </a:extLst>
          </p:cNvPr>
          <p:cNvSpPr>
            <a:spLocks noGrp="1" noChangeArrowheads="1"/>
          </p:cNvSpPr>
          <p:nvPr>
            <p:ph type="body" idx="1"/>
          </p:nvPr>
        </p:nvSpPr>
        <p:spPr>
          <a:xfrm>
            <a:off x="4134811" y="649480"/>
            <a:ext cx="7230796" cy="6406076"/>
          </a:xfrm>
        </p:spPr>
        <p:txBody>
          <a:bodyPr anchor="ctr">
            <a:normAutofit/>
          </a:bodyPr>
          <a:lstStyle/>
          <a:p>
            <a:pPr marL="342900" indent="-342900" algn="just"/>
            <a:r>
              <a:rPr lang="en-US" altLang="en-US" sz="2400" dirty="0"/>
              <a:t>Intent:</a:t>
            </a:r>
          </a:p>
          <a:p>
            <a:pPr marL="742950" lvl="1" indent="-285750" algn="just"/>
            <a:r>
              <a:rPr lang="en-US" altLang="en-US" dirty="0"/>
              <a:t>Assign the responsibility for handling a system event to a class representing one of the following choices:</a:t>
            </a:r>
          </a:p>
          <a:p>
            <a:pPr lvl="2" algn="just"/>
            <a:r>
              <a:rPr lang="en-US" altLang="en-US" sz="2400" dirty="0"/>
              <a:t>An object whose name reflects the use case.</a:t>
            </a:r>
          </a:p>
          <a:p>
            <a:pPr lvl="3" algn="just"/>
            <a:r>
              <a:rPr lang="en-US" altLang="en-US" sz="2400" dirty="0"/>
              <a:t>&lt;</a:t>
            </a:r>
            <a:r>
              <a:rPr lang="en-US" altLang="en-US" sz="2400" dirty="0" err="1"/>
              <a:t>UseCaseName</a:t>
            </a:r>
            <a:r>
              <a:rPr lang="en-US" altLang="en-US" sz="2400" dirty="0"/>
              <a:t>&gt;Handler</a:t>
            </a:r>
          </a:p>
          <a:p>
            <a:pPr lvl="2" algn="just"/>
            <a:r>
              <a:rPr lang="en-US" altLang="en-US" sz="2400" dirty="0"/>
              <a:t>An object whose name reflects the overall system, business, or large-scale entity.</a:t>
            </a:r>
          </a:p>
          <a:p>
            <a:pPr lvl="3" algn="just"/>
            <a:r>
              <a:rPr lang="en-US" altLang="en-US" sz="2400" dirty="0"/>
              <a:t>A kind of “façade” object.</a:t>
            </a:r>
          </a:p>
          <a:p>
            <a:pPr lvl="2" algn="just"/>
            <a:r>
              <a:rPr lang="en-US" altLang="en-US" sz="2400" dirty="0"/>
              <a:t>An object whose name reflects something in the real-world involved in the task.</a:t>
            </a:r>
          </a:p>
          <a:p>
            <a:pPr lvl="3" algn="just"/>
            <a:r>
              <a:rPr lang="en-US" altLang="en-US" sz="2400" dirty="0"/>
              <a:t>A role controller</a:t>
            </a:r>
          </a:p>
          <a:p>
            <a:pPr marL="742950" lvl="1" indent="-285750"/>
            <a:endParaRPr lang="en-US" altLang="en-US" sz="2000" dirty="0"/>
          </a:p>
        </p:txBody>
      </p:sp>
      <p:sp>
        <p:nvSpPr>
          <p:cNvPr id="32770" name="Slide Number Placeholder 3">
            <a:extLst>
              <a:ext uri="{FF2B5EF4-FFF2-40B4-BE49-F238E27FC236}">
                <a16:creationId xmlns:a16="http://schemas.microsoft.com/office/drawing/2014/main" id="{A4157494-44B8-9778-390C-9CC2D5413B5B}"/>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600"/>
              </a:spcAft>
              <a:buClrTx/>
              <a:buSzTx/>
              <a:buFontTx/>
              <a:buNone/>
              <a:tabLst/>
              <a:defRPr/>
            </a:pPr>
            <a:fld id="{63A78803-DCB6-4F8E-B234-32CFBDFAC774}" type="slidenum">
              <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4</a:t>
            </a:fld>
            <a:endPar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801" name="Rectangle 33800">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3803" name="Rectangle 33802">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805" name="Rectangle 33804">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807" name="Rectangle 33806">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809" name="Rectangle 33808">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3811" name="Freeform: Shape 33810">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3813" name="Rectangle 33812">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795" name="Rectangle 2">
            <a:extLst>
              <a:ext uri="{FF2B5EF4-FFF2-40B4-BE49-F238E27FC236}">
                <a16:creationId xmlns:a16="http://schemas.microsoft.com/office/drawing/2014/main" id="{BF3FE3E2-6C71-A367-1F8D-9E298F4FCA1D}"/>
              </a:ext>
            </a:extLst>
          </p:cNvPr>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…Controller</a:t>
            </a:r>
          </a:p>
        </p:txBody>
      </p:sp>
      <p:sp>
        <p:nvSpPr>
          <p:cNvPr id="33796" name="Rectangle 3">
            <a:extLst>
              <a:ext uri="{FF2B5EF4-FFF2-40B4-BE49-F238E27FC236}">
                <a16:creationId xmlns:a16="http://schemas.microsoft.com/office/drawing/2014/main" id="{329FFA6A-4046-9ADB-0D0A-AA040FA1CCAD}"/>
              </a:ext>
            </a:extLst>
          </p:cNvPr>
          <p:cNvSpPr>
            <a:spLocks noGrp="1" noChangeArrowheads="1"/>
          </p:cNvSpPr>
          <p:nvPr>
            <p:ph type="body" idx="1"/>
          </p:nvPr>
        </p:nvSpPr>
        <p:spPr>
          <a:xfrm>
            <a:off x="4367695" y="649480"/>
            <a:ext cx="7357583" cy="5546047"/>
          </a:xfrm>
        </p:spPr>
        <p:txBody>
          <a:bodyPr anchor="ctr">
            <a:normAutofit/>
          </a:bodyPr>
          <a:lstStyle/>
          <a:p>
            <a:pPr marL="342900" indent="-342900"/>
            <a:r>
              <a:rPr lang="en-US" altLang="en-US" sz="3600" dirty="0"/>
              <a:t>Problem:</a:t>
            </a:r>
          </a:p>
          <a:p>
            <a:pPr marL="342900" indent="-342900"/>
            <a:endParaRPr lang="en-US" altLang="en-US" sz="3600" dirty="0"/>
          </a:p>
          <a:p>
            <a:pPr marL="742950" lvl="1" indent="-285750"/>
            <a:r>
              <a:rPr lang="en-US" altLang="en-US" sz="3600" dirty="0"/>
              <a:t>Who should be responsible for handling input system events?</a:t>
            </a:r>
          </a:p>
          <a:p>
            <a:pPr marL="742950" lvl="1" indent="-285750"/>
            <a:endParaRPr lang="en-US" altLang="en-US" sz="3600" dirty="0"/>
          </a:p>
          <a:p>
            <a:pPr marL="742950" lvl="1" indent="-285750"/>
            <a:r>
              <a:rPr lang="en-US" altLang="en-US" sz="3600" dirty="0"/>
              <a:t>An input system event is a high-level event generated by an external actor; it is an external input event.</a:t>
            </a:r>
          </a:p>
        </p:txBody>
      </p:sp>
      <p:sp>
        <p:nvSpPr>
          <p:cNvPr id="33794" name="Slide Number Placeholder 3">
            <a:extLst>
              <a:ext uri="{FF2B5EF4-FFF2-40B4-BE49-F238E27FC236}">
                <a16:creationId xmlns:a16="http://schemas.microsoft.com/office/drawing/2014/main" id="{79658056-BC60-D9F0-BA73-36F8B49AB537}"/>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600"/>
              </a:spcAft>
              <a:buClrTx/>
              <a:buSzTx/>
              <a:buFontTx/>
              <a:buNone/>
              <a:tabLst/>
              <a:defRPr/>
            </a:pPr>
            <a:fld id="{85044F76-A9E7-4BF2-BFBD-812E415A2AB3}" type="slidenum">
              <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5</a:t>
            </a:fld>
            <a:endPar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42771962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827" name="Rectangle 34826">
            <a:extLst>
              <a:ext uri="{FF2B5EF4-FFF2-40B4-BE49-F238E27FC236}">
                <a16:creationId xmlns:a16="http://schemas.microsoft.com/office/drawing/2014/main" id="{B712E947-0734-45F9-9C4F-41114EC3A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819" name="Rectangle 2">
            <a:extLst>
              <a:ext uri="{FF2B5EF4-FFF2-40B4-BE49-F238E27FC236}">
                <a16:creationId xmlns:a16="http://schemas.microsoft.com/office/drawing/2014/main" id="{32BE0511-C135-E0D9-113B-156AB34F6441}"/>
              </a:ext>
            </a:extLst>
          </p:cNvPr>
          <p:cNvSpPr>
            <a:spLocks noGrp="1" noChangeArrowheads="1"/>
          </p:cNvSpPr>
          <p:nvPr>
            <p:ph type="title"/>
          </p:nvPr>
        </p:nvSpPr>
        <p:spPr>
          <a:xfrm>
            <a:off x="1136396" y="457201"/>
            <a:ext cx="5814240" cy="1556870"/>
          </a:xfrm>
        </p:spPr>
        <p:txBody>
          <a:bodyPr anchor="b">
            <a:normAutofit/>
          </a:bodyPr>
          <a:lstStyle/>
          <a:p>
            <a:r>
              <a:rPr lang="en-US" altLang="en-US" sz="4000"/>
              <a:t>Controller – Example…</a:t>
            </a:r>
          </a:p>
        </p:txBody>
      </p:sp>
      <p:sp>
        <p:nvSpPr>
          <p:cNvPr id="34820" name="Rectangle 3">
            <a:extLst>
              <a:ext uri="{FF2B5EF4-FFF2-40B4-BE49-F238E27FC236}">
                <a16:creationId xmlns:a16="http://schemas.microsoft.com/office/drawing/2014/main" id="{3B88DD6C-323F-A1E9-E1E3-D4C1C653AC9B}"/>
              </a:ext>
            </a:extLst>
          </p:cNvPr>
          <p:cNvSpPr>
            <a:spLocks noGrp="1" noChangeArrowheads="1"/>
          </p:cNvSpPr>
          <p:nvPr>
            <p:ph type="body" idx="1"/>
          </p:nvPr>
        </p:nvSpPr>
        <p:spPr>
          <a:xfrm>
            <a:off x="1136396" y="2277036"/>
            <a:ext cx="5814239" cy="3461155"/>
          </a:xfrm>
        </p:spPr>
        <p:txBody>
          <a:bodyPr>
            <a:normAutofit/>
          </a:bodyPr>
          <a:lstStyle/>
          <a:p>
            <a:pPr marL="342900" indent="-342900"/>
            <a:r>
              <a:rPr lang="en-US" altLang="en-US" sz="2000"/>
              <a:t>In POS app, there are several system operations.</a:t>
            </a:r>
          </a:p>
          <a:p>
            <a:pPr marL="342900" indent="-342900"/>
            <a:endParaRPr lang="en-US" altLang="en-US" sz="2000"/>
          </a:p>
          <a:p>
            <a:pPr marL="342900" indent="-342900"/>
            <a:endParaRPr lang="en-US" altLang="en-US" sz="2000"/>
          </a:p>
          <a:p>
            <a:pPr marL="342900" indent="-342900"/>
            <a:endParaRPr lang="en-US" altLang="en-US" sz="2000"/>
          </a:p>
          <a:p>
            <a:pPr marL="342900" indent="-342900"/>
            <a:r>
              <a:rPr lang="en-US" altLang="en-US" sz="2000"/>
              <a:t>Who should be responsible for the system events?</a:t>
            </a:r>
          </a:p>
        </p:txBody>
      </p:sp>
      <p:pic>
        <p:nvPicPr>
          <p:cNvPr id="34822" name="Picture 5">
            <a:extLst>
              <a:ext uri="{FF2B5EF4-FFF2-40B4-BE49-F238E27FC236}">
                <a16:creationId xmlns:a16="http://schemas.microsoft.com/office/drawing/2014/main" id="{17377086-0910-5DD8-EB73-FE6474901B95}"/>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79766" y="1021661"/>
            <a:ext cx="3712869" cy="1765560"/>
          </a:xfrm>
          <a:prstGeom prst="rect">
            <a:avLst/>
          </a:prstGeom>
          <a:solidFill>
            <a:schemeClr val="bg1"/>
          </a:solidFill>
          <a:extLst>
            <a:ext uri="{91240B29-F687-4F45-9708-019B960494DF}">
              <a14:hiddenLine xmlns:a14="http://schemas.microsoft.com/office/drawing/2010/main" w="12700">
                <a:solidFill>
                  <a:srgbClr val="000000"/>
                </a:solidFill>
                <a:miter lim="800000"/>
                <a:headEnd type="none" w="sm" len="sm"/>
                <a:tailEnd type="none" w="sm" len="sm"/>
              </a14:hiddenLine>
            </a:ext>
          </a:extLst>
        </p:spPr>
      </p:pic>
      <p:pic>
        <p:nvPicPr>
          <p:cNvPr id="34821" name="Picture 4">
            <a:extLst>
              <a:ext uri="{FF2B5EF4-FFF2-40B4-BE49-F238E27FC236}">
                <a16:creationId xmlns:a16="http://schemas.microsoft.com/office/drawing/2014/main" id="{0D84ACF1-101F-EEA6-6825-CD16AF772C24}"/>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759281" y="3375824"/>
            <a:ext cx="3525127" cy="2243263"/>
          </a:xfrm>
          <a:prstGeom prst="rect">
            <a:avLst/>
          </a:prstGeom>
          <a:solidFill>
            <a:schemeClr val="bg1"/>
          </a:solidFill>
          <a:extLst>
            <a:ext uri="{91240B29-F687-4F45-9708-019B960494DF}">
              <a14:hiddenLine xmlns:a14="http://schemas.microsoft.com/office/drawing/2010/main" w="12700">
                <a:solidFill>
                  <a:srgbClr val="000000"/>
                </a:solidFill>
                <a:miter lim="800000"/>
                <a:headEnd type="none" w="sm" len="sm"/>
                <a:tailEnd type="none" w="sm" len="sm"/>
              </a14:hiddenLine>
            </a:ext>
          </a:extLst>
        </p:spPr>
      </p:pic>
      <p:sp>
        <p:nvSpPr>
          <p:cNvPr id="34829" name="Rectangle 34828">
            <a:extLst>
              <a:ext uri="{FF2B5EF4-FFF2-40B4-BE49-F238E27FC236}">
                <a16:creationId xmlns:a16="http://schemas.microsoft.com/office/drawing/2014/main" id="{5A65989E-BBD5-44D7-AA86-7AFD5D46B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66000">
                <a:srgbClr val="000000"/>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831" name="Rectangle 34830">
            <a:extLst>
              <a:ext uri="{FF2B5EF4-FFF2-40B4-BE49-F238E27FC236}">
                <a16:creationId xmlns:a16="http://schemas.microsoft.com/office/drawing/2014/main" id="{231A2881-D8D7-4A7D-ACA3-E9F849F853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6400800"/>
            <a:ext cx="8153398" cy="456772"/>
          </a:xfrm>
          <a:prstGeom prst="rect">
            <a:avLst/>
          </a:prstGeom>
          <a:gradFill>
            <a:gsLst>
              <a:gs pos="0">
                <a:srgbClr val="000000">
                  <a:alpha val="63000"/>
                </a:srgbClr>
              </a:gs>
              <a:gs pos="100000">
                <a:schemeClr val="accent1">
                  <a:lumMod val="7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818" name="Slide Number Placeholder 3">
            <a:extLst>
              <a:ext uri="{FF2B5EF4-FFF2-40B4-BE49-F238E27FC236}">
                <a16:creationId xmlns:a16="http://schemas.microsoft.com/office/drawing/2014/main" id="{76BAB797-4F04-7A74-4A14-389FDCF89B73}"/>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600"/>
              </a:spcAft>
              <a:buClrTx/>
              <a:buSzTx/>
              <a:buFontTx/>
              <a:buNone/>
              <a:tabLst/>
              <a:defRPr/>
            </a:pPr>
            <a:fld id="{CCE0A2E9-3488-4BE9-A42C-B95EE87DD811}" type="slidenum">
              <a:rPr kumimoji="0" lang="de-DE" altLang="en-US" sz="1100" b="0" i="0" u="none" strike="noStrike" kern="1200" cap="none" spc="0" normalizeH="0" baseline="0" noProof="0">
                <a:ln>
                  <a:noFill/>
                </a:ln>
                <a:solidFill>
                  <a:srgbClr val="FFFFFF"/>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6</a:t>
            </a:fld>
            <a:endParaRPr kumimoji="0" lang="de-DE" altLang="en-US" sz="1100" b="0" i="0" u="none" strike="noStrike" kern="1200" cap="none" spc="0" normalizeH="0" baseline="0" noProof="0">
              <a:ln>
                <a:noFill/>
              </a:ln>
              <a:solidFill>
                <a:srgbClr val="FFFFFF"/>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13075038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Number Placeholder 3">
            <a:extLst>
              <a:ext uri="{FF2B5EF4-FFF2-40B4-BE49-F238E27FC236}">
                <a16:creationId xmlns:a16="http://schemas.microsoft.com/office/drawing/2014/main" id="{5F6D32DB-1E68-A3E7-2832-D66FA92A7B34}"/>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9A3F59C5-8D1E-4F6B-89D6-1D1BE50AFD1E}" type="slidenum">
              <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endParaRPr>
          </a:p>
        </p:txBody>
      </p:sp>
      <p:sp>
        <p:nvSpPr>
          <p:cNvPr id="35843" name="Rectangle 2">
            <a:extLst>
              <a:ext uri="{FF2B5EF4-FFF2-40B4-BE49-F238E27FC236}">
                <a16:creationId xmlns:a16="http://schemas.microsoft.com/office/drawing/2014/main" id="{8ED60091-CB5E-979B-1D7D-C0C82D406901}"/>
              </a:ext>
            </a:extLst>
          </p:cNvPr>
          <p:cNvSpPr>
            <a:spLocks noGrp="1" noChangeArrowheads="1"/>
          </p:cNvSpPr>
          <p:nvPr>
            <p:ph type="title"/>
          </p:nvPr>
        </p:nvSpPr>
        <p:spPr/>
        <p:txBody>
          <a:bodyPr/>
          <a:lstStyle/>
          <a:p>
            <a:r>
              <a:rPr lang="en-US" altLang="en-US"/>
              <a:t>…Controller – Example…</a:t>
            </a:r>
          </a:p>
        </p:txBody>
      </p:sp>
      <p:sp>
        <p:nvSpPr>
          <p:cNvPr id="35844" name="Rectangle 3">
            <a:extLst>
              <a:ext uri="{FF2B5EF4-FFF2-40B4-BE49-F238E27FC236}">
                <a16:creationId xmlns:a16="http://schemas.microsoft.com/office/drawing/2014/main" id="{8E6613A3-9F04-B4EB-FB96-66C4ECB62C73}"/>
              </a:ext>
            </a:extLst>
          </p:cNvPr>
          <p:cNvSpPr>
            <a:spLocks noGrp="1" noChangeArrowheads="1"/>
          </p:cNvSpPr>
          <p:nvPr>
            <p:ph type="body" idx="1"/>
          </p:nvPr>
        </p:nvSpPr>
        <p:spPr>
          <a:xfrm>
            <a:off x="214489" y="1828800"/>
            <a:ext cx="11740444" cy="4495800"/>
          </a:xfrm>
        </p:spPr>
        <p:txBody>
          <a:bodyPr/>
          <a:lstStyle/>
          <a:p>
            <a:pPr marL="342900" indent="-342900"/>
            <a:r>
              <a:rPr lang="en-US" altLang="en-US" sz="3200" dirty="0"/>
              <a:t>By </a:t>
            </a:r>
            <a:r>
              <a:rPr lang="en-US" altLang="en-US" sz="3200" b="1" dirty="0">
                <a:solidFill>
                  <a:srgbClr val="FF0000"/>
                </a:solidFill>
              </a:rPr>
              <a:t>Controller </a:t>
            </a:r>
            <a:r>
              <a:rPr lang="en-US" altLang="en-US" sz="3200" dirty="0"/>
              <a:t>pattern, choices are:</a:t>
            </a:r>
          </a:p>
          <a:p>
            <a:pPr marL="742950" lvl="1" indent="-285750"/>
            <a:r>
              <a:rPr lang="en-US" altLang="en-US" sz="2800" i="1" dirty="0"/>
              <a:t>POST</a:t>
            </a:r>
            <a:r>
              <a:rPr lang="en-US" altLang="en-US" sz="2800" dirty="0"/>
              <a:t> – overall “system”</a:t>
            </a:r>
          </a:p>
          <a:p>
            <a:pPr marL="742950" lvl="1" indent="-285750"/>
            <a:r>
              <a:rPr lang="en-US" altLang="en-US" sz="2800" i="1" dirty="0"/>
              <a:t>Store</a:t>
            </a:r>
            <a:r>
              <a:rPr lang="en-US" altLang="en-US" sz="2800" dirty="0"/>
              <a:t> – overall business/organization</a:t>
            </a:r>
          </a:p>
          <a:p>
            <a:pPr marL="742950" lvl="1" indent="-285750"/>
            <a:r>
              <a:rPr lang="en-US" altLang="en-US" sz="2800" i="1" dirty="0"/>
              <a:t>Cashier</a:t>
            </a:r>
            <a:r>
              <a:rPr lang="en-US" altLang="en-US" sz="2800" dirty="0"/>
              <a:t> – real-world entity involved in task</a:t>
            </a:r>
          </a:p>
          <a:p>
            <a:pPr marL="742950" lvl="1" indent="-285750"/>
            <a:r>
              <a:rPr lang="en-US" altLang="en-US" sz="2800" i="1" dirty="0" err="1"/>
              <a:t>BuyItemsHandler</a:t>
            </a:r>
            <a:r>
              <a:rPr lang="en-US" altLang="en-US" sz="2800" dirty="0"/>
              <a:t> – artificial handler of all system ops of a use case</a:t>
            </a:r>
          </a:p>
        </p:txBody>
      </p:sp>
      <p:pic>
        <p:nvPicPr>
          <p:cNvPr id="35845" name="Picture 4">
            <a:extLst>
              <a:ext uri="{FF2B5EF4-FFF2-40B4-BE49-F238E27FC236}">
                <a16:creationId xmlns:a16="http://schemas.microsoft.com/office/drawing/2014/main" id="{D9A2B5C7-3E00-F4D3-FBCE-3688A09B27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4375150"/>
            <a:ext cx="3162300" cy="217805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pic>
    </p:spTree>
    <p:extLst>
      <p:ext uri="{BB962C8B-B14F-4D97-AF65-F5344CB8AC3E}">
        <p14:creationId xmlns:p14="http://schemas.microsoft.com/office/powerpoint/2010/main" val="19433046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873" name="Rectangle 36872">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867" name="Rectangle 2">
            <a:extLst>
              <a:ext uri="{FF2B5EF4-FFF2-40B4-BE49-F238E27FC236}">
                <a16:creationId xmlns:a16="http://schemas.microsoft.com/office/drawing/2014/main" id="{406E8EF1-595F-28FC-BB52-561BEDE745BF}"/>
              </a:ext>
            </a:extLst>
          </p:cNvPr>
          <p:cNvSpPr>
            <a:spLocks noGrp="1" noChangeArrowheads="1"/>
          </p:cNvSpPr>
          <p:nvPr>
            <p:ph type="title"/>
          </p:nvPr>
        </p:nvSpPr>
        <p:spPr>
          <a:xfrm>
            <a:off x="838200" y="365125"/>
            <a:ext cx="10515600" cy="1325563"/>
          </a:xfrm>
        </p:spPr>
        <p:txBody>
          <a:bodyPr>
            <a:normAutofit/>
          </a:bodyPr>
          <a:lstStyle/>
          <a:p>
            <a:r>
              <a:rPr lang="en-US" altLang="en-US" sz="5400"/>
              <a:t>…Controller – Example…</a:t>
            </a:r>
          </a:p>
        </p:txBody>
      </p:sp>
      <p:sp>
        <p:nvSpPr>
          <p:cNvPr id="36875"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868" name="Rectangle 3">
            <a:extLst>
              <a:ext uri="{FF2B5EF4-FFF2-40B4-BE49-F238E27FC236}">
                <a16:creationId xmlns:a16="http://schemas.microsoft.com/office/drawing/2014/main" id="{CC02FABB-A57E-989D-A73C-5109869369D5}"/>
              </a:ext>
            </a:extLst>
          </p:cNvPr>
          <p:cNvSpPr>
            <a:spLocks noGrp="1" noChangeArrowheads="1"/>
          </p:cNvSpPr>
          <p:nvPr>
            <p:ph type="body" idx="1"/>
          </p:nvPr>
        </p:nvSpPr>
        <p:spPr>
          <a:xfrm>
            <a:off x="242047" y="1929384"/>
            <a:ext cx="11631705" cy="4673122"/>
          </a:xfrm>
        </p:spPr>
        <p:txBody>
          <a:bodyPr>
            <a:normAutofit/>
          </a:bodyPr>
          <a:lstStyle/>
          <a:p>
            <a:pPr marL="342900" indent="-342900"/>
            <a:r>
              <a:rPr lang="en-US" altLang="en-US" sz="2200" dirty="0"/>
              <a:t>The appropriate choice is dependent on other factors (coupling and cohesion) but some guidelines are:</a:t>
            </a:r>
          </a:p>
          <a:p>
            <a:pPr marL="342900" indent="-342900"/>
            <a:endParaRPr lang="en-US" altLang="en-US" sz="2200" dirty="0"/>
          </a:p>
          <a:p>
            <a:pPr marL="742950" lvl="1" indent="-285750"/>
            <a:r>
              <a:rPr lang="en-US" altLang="en-US" sz="2200" dirty="0"/>
              <a:t>Use façade controllers when there are only a few system events, or it is not possible to redirect system event messages to alternating controllers, such as in a message processing system.</a:t>
            </a:r>
          </a:p>
          <a:p>
            <a:pPr marL="742950" lvl="1" indent="-285750"/>
            <a:r>
              <a:rPr lang="en-US" altLang="en-US" sz="2200" dirty="0" err="1"/>
              <a:t>UseCaseHandler</a:t>
            </a:r>
            <a:r>
              <a:rPr lang="en-US" altLang="en-US" sz="2200" dirty="0"/>
              <a:t> is good choice when there are many system events across different processes and façade controllers would become “bloated”</a:t>
            </a:r>
          </a:p>
          <a:p>
            <a:pPr marL="742950" lvl="1" indent="-285750"/>
            <a:r>
              <a:rPr lang="en-US" altLang="en-US" sz="2200" dirty="0"/>
              <a:t>Use role controllers sparingly. It is easy to assign all the work to person-like objects; instead, delegate.</a:t>
            </a:r>
          </a:p>
          <a:p>
            <a:pPr marL="742950" lvl="1" indent="-285750"/>
            <a:r>
              <a:rPr lang="en-US" altLang="en-US" sz="2200" dirty="0"/>
              <a:t>Note: Presentation layer does not handle system events.</a:t>
            </a:r>
          </a:p>
        </p:txBody>
      </p:sp>
      <p:sp>
        <p:nvSpPr>
          <p:cNvPr id="36866" name="Slide Number Placeholder 3">
            <a:extLst>
              <a:ext uri="{FF2B5EF4-FFF2-40B4-BE49-F238E27FC236}">
                <a16:creationId xmlns:a16="http://schemas.microsoft.com/office/drawing/2014/main" id="{8D4AE8C2-DA7C-8CF9-E7BC-4A36FEE707C1}"/>
              </a:ext>
            </a:extLst>
          </p:cNvPr>
          <p:cNvSpPr>
            <a:spLocks noGrp="1"/>
          </p:cNvSpPr>
          <p:nvPr>
            <p:ph type="sldNum" sz="quarter" idx="10"/>
          </p:nvPr>
        </p:nvSpPr>
        <p:spPr>
          <a:xfrm>
            <a:off x="11672046" y="6249399"/>
            <a:ext cx="313765" cy="50165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90000"/>
              </a:lnSpc>
              <a:spcBef>
                <a:spcPts val="0"/>
              </a:spcBef>
              <a:spcAft>
                <a:spcPts val="600"/>
              </a:spcAft>
              <a:buClrTx/>
              <a:buSzTx/>
              <a:buFontTx/>
              <a:buNone/>
              <a:tabLst/>
              <a:defRPr/>
            </a:pPr>
            <a:fld id="{F1683950-D921-44AA-A1E7-E88D7BC4EE8D}" type="slidenum">
              <a:rPr kumimoji="0" lang="de-DE" altLang="en-US" sz="19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90000"/>
                </a:lnSpc>
                <a:spcBef>
                  <a:spcPts val="0"/>
                </a:spcBef>
                <a:spcAft>
                  <a:spcPts val="600"/>
                </a:spcAft>
                <a:buClrTx/>
                <a:buSzTx/>
                <a:buFontTx/>
                <a:buNone/>
                <a:tabLst/>
                <a:defRPr/>
              </a:pPr>
              <a:t>8</a:t>
            </a:fld>
            <a:endParaRPr kumimoji="0" lang="de-DE" altLang="en-US" sz="1900" b="0" i="0" u="none" strike="noStrike" kern="1200" cap="none" spc="0" normalizeH="0" baseline="0" noProof="0" dirty="0">
              <a:ln>
                <a:noFill/>
              </a:ln>
              <a:solidFill>
                <a:srgbClr val="002B5D"/>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3624484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890" name="Picture 3">
            <a:extLst>
              <a:ext uri="{FF2B5EF4-FFF2-40B4-BE49-F238E27FC236}">
                <a16:creationId xmlns:a16="http://schemas.microsoft.com/office/drawing/2014/main" id="{9FE5278C-1706-AACC-FA1B-9F6FA660AB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1" y="533400"/>
            <a:ext cx="4149725" cy="3697288"/>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37891" name="Slide Number Placeholder 3">
            <a:extLst>
              <a:ext uri="{FF2B5EF4-FFF2-40B4-BE49-F238E27FC236}">
                <a16:creationId xmlns:a16="http://schemas.microsoft.com/office/drawing/2014/main" id="{2F84F4B3-FAA7-D7DD-FFE7-BCB91953FE1F}"/>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C0CD6DFB-EDB8-43FE-B8A3-E2EE1B3BE375}" type="slidenum">
              <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endParaRPr>
          </a:p>
        </p:txBody>
      </p:sp>
      <p:pic>
        <p:nvPicPr>
          <p:cNvPr id="37892" name="Picture 2">
            <a:extLst>
              <a:ext uri="{FF2B5EF4-FFF2-40B4-BE49-F238E27FC236}">
                <a16:creationId xmlns:a16="http://schemas.microsoft.com/office/drawing/2014/main" id="{F1C39494-F86E-72D3-DCA8-D396D899CC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81200" y="533400"/>
            <a:ext cx="4337050" cy="537210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pic>
        <p:nvPicPr>
          <p:cNvPr id="37893" name="Picture 4">
            <a:extLst>
              <a:ext uri="{FF2B5EF4-FFF2-40B4-BE49-F238E27FC236}">
                <a16:creationId xmlns:a16="http://schemas.microsoft.com/office/drawing/2014/main" id="{C5DBB9C5-BE5E-8AD6-7246-F46A17BB95A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57401" y="5181601"/>
            <a:ext cx="917575"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pic>
        <p:nvPicPr>
          <p:cNvPr id="37894" name="Picture 5">
            <a:extLst>
              <a:ext uri="{FF2B5EF4-FFF2-40B4-BE49-F238E27FC236}">
                <a16:creationId xmlns:a16="http://schemas.microsoft.com/office/drawing/2014/main" id="{A94951BA-EA7D-574F-2C1F-FF3C906B4E8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91601" y="4953001"/>
            <a:ext cx="1052513"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spTree>
    <p:extLst>
      <p:ext uri="{BB962C8B-B14F-4D97-AF65-F5344CB8AC3E}">
        <p14:creationId xmlns:p14="http://schemas.microsoft.com/office/powerpoint/2010/main" val="1631161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921" name="Rectangle 38920">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915" name="Rectangle 2">
            <a:extLst>
              <a:ext uri="{FF2B5EF4-FFF2-40B4-BE49-F238E27FC236}">
                <a16:creationId xmlns:a16="http://schemas.microsoft.com/office/drawing/2014/main" id="{F7F3A7C2-6E14-BDE5-7FB6-E9B6CE8F1419}"/>
              </a:ext>
            </a:extLst>
          </p:cNvPr>
          <p:cNvSpPr>
            <a:spLocks noGrp="1" noChangeArrowheads="1"/>
          </p:cNvSpPr>
          <p:nvPr>
            <p:ph type="title"/>
          </p:nvPr>
        </p:nvSpPr>
        <p:spPr>
          <a:xfrm>
            <a:off x="838200" y="365125"/>
            <a:ext cx="10515600" cy="1325563"/>
          </a:xfrm>
        </p:spPr>
        <p:txBody>
          <a:bodyPr>
            <a:normAutofit/>
          </a:bodyPr>
          <a:lstStyle/>
          <a:p>
            <a:r>
              <a:rPr lang="en-US" altLang="en-US" sz="5400" dirty="0"/>
              <a:t>Controller</a:t>
            </a:r>
          </a:p>
        </p:txBody>
      </p:sp>
      <p:sp>
        <p:nvSpPr>
          <p:cNvPr id="3892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916" name="Rectangle 3">
            <a:extLst>
              <a:ext uri="{FF2B5EF4-FFF2-40B4-BE49-F238E27FC236}">
                <a16:creationId xmlns:a16="http://schemas.microsoft.com/office/drawing/2014/main" id="{97272BD8-9A39-5253-925C-5F6CD29F7BB6}"/>
              </a:ext>
            </a:extLst>
          </p:cNvPr>
          <p:cNvSpPr>
            <a:spLocks noGrp="1" noChangeArrowheads="1"/>
          </p:cNvSpPr>
          <p:nvPr>
            <p:ph type="body" idx="1"/>
          </p:nvPr>
        </p:nvSpPr>
        <p:spPr>
          <a:xfrm>
            <a:off x="295835" y="1929384"/>
            <a:ext cx="11766177" cy="4251960"/>
          </a:xfrm>
        </p:spPr>
        <p:txBody>
          <a:bodyPr>
            <a:noAutofit/>
          </a:bodyPr>
          <a:lstStyle/>
          <a:p>
            <a:pPr marL="342900" indent="-342900"/>
            <a:r>
              <a:rPr lang="en-US" altLang="en-US" sz="4000" dirty="0"/>
              <a:t>Consequences:</a:t>
            </a:r>
          </a:p>
          <a:p>
            <a:pPr marL="742950" lvl="1" indent="-285750"/>
            <a:r>
              <a:rPr lang="en-US" altLang="en-US" sz="4000" dirty="0"/>
              <a:t>Increased potential for reusable components </a:t>
            </a:r>
          </a:p>
          <a:p>
            <a:pPr marL="457200" lvl="1" indent="0">
              <a:buNone/>
            </a:pPr>
            <a:endParaRPr lang="en-US" altLang="en-US" sz="4000" dirty="0"/>
          </a:p>
          <a:p>
            <a:pPr marL="742950" lvl="1" indent="-285750"/>
            <a:r>
              <a:rPr lang="en-US" altLang="en-US" sz="4000" dirty="0"/>
              <a:t>Allows reasoning about the state of the use case</a:t>
            </a:r>
          </a:p>
          <a:p>
            <a:pPr marL="457200" lvl="1" indent="0">
              <a:buNone/>
            </a:pPr>
            <a:endParaRPr lang="en-US" altLang="en-US" sz="4000" dirty="0"/>
          </a:p>
          <a:p>
            <a:pPr lvl="2"/>
            <a:r>
              <a:rPr lang="en-US" altLang="en-US" sz="4000" dirty="0"/>
              <a:t>if </a:t>
            </a:r>
            <a:r>
              <a:rPr lang="en-US" altLang="en-US" sz="4000" i="1" dirty="0" err="1"/>
              <a:t>UseCaseHandler</a:t>
            </a:r>
            <a:r>
              <a:rPr lang="en-US" altLang="en-US" sz="4000" dirty="0"/>
              <a:t> used for all system events pertaining to that use case, it’s possible to ensure system operations occur in legal sequence.</a:t>
            </a:r>
          </a:p>
        </p:txBody>
      </p:sp>
      <p:sp>
        <p:nvSpPr>
          <p:cNvPr id="38914" name="Slide Number Placeholder 3">
            <a:extLst>
              <a:ext uri="{FF2B5EF4-FFF2-40B4-BE49-F238E27FC236}">
                <a16:creationId xmlns:a16="http://schemas.microsoft.com/office/drawing/2014/main" id="{03F5C140-1115-18E0-5538-8F9F22A8C6F4}"/>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90000"/>
              </a:lnSpc>
              <a:spcBef>
                <a:spcPts val="0"/>
              </a:spcBef>
              <a:spcAft>
                <a:spcPts val="600"/>
              </a:spcAft>
              <a:buClrTx/>
              <a:buSzTx/>
              <a:buFontTx/>
              <a:buNone/>
              <a:tabLst/>
              <a:defRPr/>
            </a:pPr>
            <a:fld id="{2EC746DB-D230-4183-AD5A-D8A05F9E15DF}" type="slidenum">
              <a:rPr kumimoji="0" lang="de-DE" altLang="en-US" sz="19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90000"/>
                </a:lnSpc>
                <a:spcBef>
                  <a:spcPts val="0"/>
                </a:spcBef>
                <a:spcAft>
                  <a:spcPts val="600"/>
                </a:spcAft>
                <a:buClrTx/>
                <a:buSzTx/>
                <a:buFontTx/>
                <a:buNone/>
                <a:tabLst/>
                <a:defRPr/>
              </a:pPr>
              <a:t>10</a:t>
            </a:fld>
            <a:endParaRPr kumimoji="0" lang="de-DE" altLang="en-US" sz="19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1561845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AE97E7-DFED-0ACF-168D-7EC8EFA71B32}"/>
            </a:ext>
          </a:extLst>
        </p:cNvPr>
        <p:cNvGrpSpPr/>
        <p:nvPr/>
      </p:nvGrpSpPr>
      <p:grpSpPr>
        <a:xfrm>
          <a:off x="0" y="0"/>
          <a:ext cx="0" cy="0"/>
          <a:chOff x="0" y="0"/>
          <a:chExt cx="0" cy="0"/>
        </a:xfrm>
      </p:grpSpPr>
      <p:sp useBgFill="1">
        <p:nvSpPr>
          <p:cNvPr id="38921" name="Rectangle 38920">
            <a:extLst>
              <a:ext uri="{FF2B5EF4-FFF2-40B4-BE49-F238E27FC236}">
                <a16:creationId xmlns:a16="http://schemas.microsoft.com/office/drawing/2014/main" id="{19B65686-5F6F-2B93-AA63-E25915EE43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915" name="Rectangle 2">
            <a:extLst>
              <a:ext uri="{FF2B5EF4-FFF2-40B4-BE49-F238E27FC236}">
                <a16:creationId xmlns:a16="http://schemas.microsoft.com/office/drawing/2014/main" id="{4374271E-67AF-767C-3076-23140B062F1B}"/>
              </a:ext>
            </a:extLst>
          </p:cNvPr>
          <p:cNvSpPr>
            <a:spLocks noGrp="1" noChangeArrowheads="1"/>
          </p:cNvSpPr>
          <p:nvPr>
            <p:ph type="title"/>
          </p:nvPr>
        </p:nvSpPr>
        <p:spPr>
          <a:xfrm>
            <a:off x="838200" y="365125"/>
            <a:ext cx="10515600" cy="1325563"/>
          </a:xfrm>
        </p:spPr>
        <p:txBody>
          <a:bodyPr>
            <a:normAutofit/>
          </a:bodyPr>
          <a:lstStyle/>
          <a:p>
            <a:r>
              <a:rPr lang="en-US" altLang="en-US" sz="5400" dirty="0"/>
              <a:t>Controller Summary</a:t>
            </a:r>
          </a:p>
        </p:txBody>
      </p:sp>
      <p:sp>
        <p:nvSpPr>
          <p:cNvPr id="38923" name="sketch line">
            <a:extLst>
              <a:ext uri="{FF2B5EF4-FFF2-40B4-BE49-F238E27FC236}">
                <a16:creationId xmlns:a16="http://schemas.microsoft.com/office/drawing/2014/main" id="{23FFCAA5-C870-D8F2-3850-20AD28C5A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916" name="Rectangle 3">
            <a:extLst>
              <a:ext uri="{FF2B5EF4-FFF2-40B4-BE49-F238E27FC236}">
                <a16:creationId xmlns:a16="http://schemas.microsoft.com/office/drawing/2014/main" id="{197CB4B6-43FC-4F8E-81E5-E11FACA80154}"/>
              </a:ext>
            </a:extLst>
          </p:cNvPr>
          <p:cNvSpPr>
            <a:spLocks noGrp="1" noChangeArrowheads="1"/>
          </p:cNvSpPr>
          <p:nvPr>
            <p:ph type="body" idx="1"/>
          </p:nvPr>
        </p:nvSpPr>
        <p:spPr>
          <a:xfrm>
            <a:off x="295835" y="1929384"/>
            <a:ext cx="11766177" cy="4251960"/>
          </a:xfrm>
        </p:spPr>
        <p:txBody>
          <a:bodyPr>
            <a:noAutofit/>
          </a:bodyPr>
          <a:lstStyle/>
          <a:p>
            <a:r>
              <a:rPr lang="en-US" sz="1600" b="1" dirty="0"/>
              <a:t>When to Introduce a New Controller Class</a:t>
            </a:r>
          </a:p>
          <a:p>
            <a:pPr lvl="1"/>
            <a:r>
              <a:rPr lang="en-US" sz="1600" b="1" dirty="0"/>
              <a:t>Use-case driven systems</a:t>
            </a:r>
            <a:r>
              <a:rPr lang="en-US" sz="1600" dirty="0"/>
              <a:t>: If you have a large set of system operations tied to a single use case (like “Process Sale”), creating a dedicated controller class (</a:t>
            </a:r>
            <a:r>
              <a:rPr lang="en-US" sz="1600" dirty="0" err="1"/>
              <a:t>ProcessSaleHandler</a:t>
            </a:r>
            <a:r>
              <a:rPr lang="en-US" sz="1600" dirty="0"/>
              <a:t>) keeps those responsibilities grouped.</a:t>
            </a:r>
          </a:p>
          <a:p>
            <a:pPr lvl="1"/>
            <a:r>
              <a:rPr lang="en-US" sz="1600" b="1" dirty="0"/>
              <a:t>Separation of concerns</a:t>
            </a:r>
            <a:r>
              <a:rPr lang="en-US" sz="1600" dirty="0"/>
              <a:t>: If no existing domain class is a good “face” for the system, a separate controller isolates the system interaction layer from the domain layer.</a:t>
            </a:r>
          </a:p>
          <a:p>
            <a:pPr lvl="1"/>
            <a:r>
              <a:rPr lang="en-US" sz="1600" b="1" dirty="0"/>
              <a:t>Future flexibility</a:t>
            </a:r>
            <a:r>
              <a:rPr lang="en-US" sz="1600" dirty="0"/>
              <a:t>: If you anticipate system event handling logic will expand (authentication, logging, validation), a dedicated controller prevents polluting domain classes.</a:t>
            </a:r>
          </a:p>
          <a:p>
            <a:pPr lvl="1"/>
            <a:r>
              <a:rPr lang="en-US" sz="1600" b="1" dirty="0"/>
              <a:t>Multiple entry points</a:t>
            </a:r>
            <a:r>
              <a:rPr lang="en-US" sz="1600" dirty="0"/>
              <a:t>: If multiple UI elements or devices trigger the same system operation, a controller class provides a stable, centralized handler.  Preserve flexibility in case operation triggered by UI changes down the road.</a:t>
            </a:r>
          </a:p>
          <a:p>
            <a:r>
              <a:rPr lang="en-US" sz="1600" b="1" dirty="0"/>
              <a:t>When to Use an Existing Class</a:t>
            </a:r>
          </a:p>
          <a:p>
            <a:pPr lvl="1"/>
            <a:r>
              <a:rPr lang="en-US" sz="1600" b="1" dirty="0"/>
              <a:t>Representative domain class exists</a:t>
            </a:r>
            <a:r>
              <a:rPr lang="en-US" sz="1600" dirty="0"/>
              <a:t>: If the system event clearly belongs to a conceptual domain object that represents the system or a major subsystem (e.g., Register in a POS system), it’s reasonable to let that class act as the controller.</a:t>
            </a:r>
          </a:p>
          <a:p>
            <a:pPr lvl="1"/>
            <a:r>
              <a:rPr lang="en-US" sz="1600" b="1" dirty="0"/>
              <a:t>Keeps model simple</a:t>
            </a:r>
            <a:r>
              <a:rPr lang="en-US" sz="1600" dirty="0"/>
              <a:t>: If the system is small and adding a separate controller would only add unnecessary indirection, giving the responsibility to an existing class keeps things lean.</a:t>
            </a:r>
          </a:p>
          <a:p>
            <a:pPr lvl="1"/>
            <a:r>
              <a:rPr lang="en-US" sz="1600" b="1" dirty="0"/>
              <a:t>Tight semantic match</a:t>
            </a:r>
            <a:r>
              <a:rPr lang="en-US" sz="1600" dirty="0"/>
              <a:t>: If the operation really is the responsibility of that domain object (e.g., </a:t>
            </a:r>
            <a:r>
              <a:rPr lang="en-US" sz="1600" dirty="0" err="1"/>
              <a:t>Sale.addLineItem</a:t>
            </a:r>
            <a:r>
              <a:rPr lang="en-US" sz="1600" dirty="0"/>
              <a:t>() being initiated through Sale itself), then creating a separate controller adds no value.</a:t>
            </a:r>
          </a:p>
          <a:p>
            <a:pPr marL="0" indent="0">
              <a:buNone/>
            </a:pPr>
            <a:endParaRPr lang="en-US" altLang="en-US" sz="1600" dirty="0"/>
          </a:p>
        </p:txBody>
      </p:sp>
      <p:sp>
        <p:nvSpPr>
          <p:cNvPr id="38914" name="Slide Number Placeholder 3">
            <a:extLst>
              <a:ext uri="{FF2B5EF4-FFF2-40B4-BE49-F238E27FC236}">
                <a16:creationId xmlns:a16="http://schemas.microsoft.com/office/drawing/2014/main" id="{25FE83C6-892B-7C8E-D439-5BA900EF291F}"/>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90000"/>
              </a:lnSpc>
              <a:spcBef>
                <a:spcPts val="0"/>
              </a:spcBef>
              <a:spcAft>
                <a:spcPts val="600"/>
              </a:spcAft>
              <a:buClrTx/>
              <a:buSzTx/>
              <a:buFontTx/>
              <a:buNone/>
              <a:tabLst/>
              <a:defRPr/>
            </a:pPr>
            <a:fld id="{2EC746DB-D230-4183-AD5A-D8A05F9E15DF}" type="slidenum">
              <a:rPr kumimoji="0" lang="de-DE" altLang="en-US" sz="19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90000"/>
                </a:lnSpc>
                <a:spcBef>
                  <a:spcPts val="0"/>
                </a:spcBef>
                <a:spcAft>
                  <a:spcPts val="600"/>
                </a:spcAft>
                <a:buClrTx/>
                <a:buSzTx/>
                <a:buFontTx/>
                <a:buNone/>
                <a:tabLst/>
                <a:defRPr/>
              </a:pPr>
              <a:t>11</a:t>
            </a:fld>
            <a:endParaRPr kumimoji="0" lang="de-DE" altLang="en-US" sz="1900" b="0" i="0" u="none" strike="noStrike" kern="1200" cap="none" spc="0" normalizeH="0" baseline="0" noProof="0" dirty="0">
              <a:ln>
                <a:noFill/>
              </a:ln>
              <a:solidFill>
                <a:srgbClr val="002B5D"/>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33376725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F331AB-F875-F226-06E9-548149E673CB}"/>
              </a:ext>
            </a:extLst>
          </p:cNvPr>
          <p:cNvPicPr>
            <a:picLocks noChangeAspect="1"/>
          </p:cNvPicPr>
          <p:nvPr/>
        </p:nvPicPr>
        <p:blipFill>
          <a:blip r:embed="rId2"/>
          <a:stretch>
            <a:fillRect/>
          </a:stretch>
        </p:blipFill>
        <p:spPr>
          <a:xfrm>
            <a:off x="643467" y="839047"/>
            <a:ext cx="10905066" cy="5179904"/>
          </a:xfrm>
          <a:prstGeom prst="rect">
            <a:avLst/>
          </a:prstGeom>
        </p:spPr>
      </p:pic>
    </p:spTree>
    <p:extLst>
      <p:ext uri="{BB962C8B-B14F-4D97-AF65-F5344CB8AC3E}">
        <p14:creationId xmlns:p14="http://schemas.microsoft.com/office/powerpoint/2010/main" val="1184281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D0D6D3E-D7F9-4591-9CA9-DDF4DB1F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E365153-A86A-9FA1-604E-C1846BF2917B}"/>
              </a:ext>
            </a:extLst>
          </p:cNvPr>
          <p:cNvSpPr>
            <a:spLocks noGrp="1"/>
          </p:cNvSpPr>
          <p:nvPr>
            <p:ph type="title"/>
          </p:nvPr>
        </p:nvSpPr>
        <p:spPr>
          <a:xfrm>
            <a:off x="982639" y="1012536"/>
            <a:ext cx="4613300" cy="3163224"/>
          </a:xfrm>
        </p:spPr>
        <p:txBody>
          <a:bodyPr vert="horz" lIns="91440" tIns="45720" rIns="91440" bIns="45720" rtlCol="0" anchor="t">
            <a:normAutofit/>
          </a:bodyPr>
          <a:lstStyle/>
          <a:p>
            <a:r>
              <a:rPr lang="en-US" sz="4800"/>
              <a:t>LOW COUPLING AND HIGH COHESION</a:t>
            </a:r>
          </a:p>
        </p:txBody>
      </p:sp>
      <p:sp>
        <p:nvSpPr>
          <p:cNvPr id="19" name="Rectangle 18">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4068664" cy="6858000"/>
          </a:xfrm>
          <a:prstGeom prst="rect">
            <a:avLst/>
          </a:prstGeom>
          <a:gradFill>
            <a:gsLst>
              <a:gs pos="26000">
                <a:srgbClr val="000000"/>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3611463" cy="6858000"/>
          </a:xfrm>
          <a:prstGeom prst="rect">
            <a:avLst/>
          </a:prstGeom>
          <a:gradFill>
            <a:gsLst>
              <a:gs pos="0">
                <a:schemeClr val="accent1">
                  <a:lumMod val="75000"/>
                  <a:alpha val="56000"/>
                </a:schemeClr>
              </a:gs>
              <a:gs pos="100000">
                <a:srgbClr val="000000">
                  <a:alpha val="52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230721" y="-107390"/>
            <a:ext cx="3853890" cy="4068665"/>
          </a:xfrm>
          <a:prstGeom prst="rect">
            <a:avLst/>
          </a:prstGeom>
          <a:gradFill>
            <a:gsLst>
              <a:gs pos="0">
                <a:srgbClr val="000000">
                  <a:alpha val="34000"/>
                </a:srgbClr>
              </a:gs>
              <a:gs pos="96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metal dumbell">
            <a:extLst>
              <a:ext uri="{FF2B5EF4-FFF2-40B4-BE49-F238E27FC236}">
                <a16:creationId xmlns:a16="http://schemas.microsoft.com/office/drawing/2014/main" id="{18F31A65-FF7F-2299-75EC-A422C9D0A957}"/>
              </a:ext>
            </a:extLst>
          </p:cNvPr>
          <p:cNvPicPr>
            <a:picLocks noChangeAspect="1"/>
          </p:cNvPicPr>
          <p:nvPr/>
        </p:nvPicPr>
        <p:blipFill rotWithShape="1">
          <a:blip r:embed="rId2"/>
          <a:srcRect l="2000" r="-1" b="-1"/>
          <a:stretch/>
        </p:blipFill>
        <p:spPr>
          <a:xfrm>
            <a:off x="6096000" y="1012536"/>
            <a:ext cx="4756162" cy="4756162"/>
          </a:xfrm>
          <a:custGeom>
            <a:avLst/>
            <a:gdLst/>
            <a:ahLst/>
            <a:cxnLst/>
            <a:rect l="l" t="t" r="r" b="b"/>
            <a:pathLst>
              <a:path w="5031136" h="5031136">
                <a:moveTo>
                  <a:pt x="2515568" y="0"/>
                </a:moveTo>
                <a:cubicBezTo>
                  <a:pt x="3904878" y="0"/>
                  <a:pt x="5031136" y="1126258"/>
                  <a:pt x="5031136" y="2515568"/>
                </a:cubicBezTo>
                <a:cubicBezTo>
                  <a:pt x="5031136" y="3904878"/>
                  <a:pt x="3904878" y="5031136"/>
                  <a:pt x="2515568" y="5031136"/>
                </a:cubicBezTo>
                <a:cubicBezTo>
                  <a:pt x="1126258" y="5031136"/>
                  <a:pt x="0" y="3904878"/>
                  <a:pt x="0" y="2515568"/>
                </a:cubicBezTo>
                <a:cubicBezTo>
                  <a:pt x="0" y="1126258"/>
                  <a:pt x="1126258" y="0"/>
                  <a:pt x="2515568" y="0"/>
                </a:cubicBezTo>
                <a:close/>
              </a:path>
            </a:pathLst>
          </a:custGeom>
        </p:spPr>
      </p:pic>
    </p:spTree>
    <p:extLst>
      <p:ext uri="{BB962C8B-B14F-4D97-AF65-F5344CB8AC3E}">
        <p14:creationId xmlns:p14="http://schemas.microsoft.com/office/powerpoint/2010/main" val="253460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86" name="Rectangle 2458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88" name="Rectangle 24587">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90" name="Rectangle 24589">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92" name="Rectangle 24591">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594" name="Freeform: Shape 24593">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596" name="Rectangle 24595">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79" name="Rectangle 2">
            <a:extLst>
              <a:ext uri="{FF2B5EF4-FFF2-40B4-BE49-F238E27FC236}">
                <a16:creationId xmlns:a16="http://schemas.microsoft.com/office/drawing/2014/main" id="{E604864A-04D2-CDFE-E664-D25065D022FF}"/>
              </a:ext>
            </a:extLst>
          </p:cNvPr>
          <p:cNvSpPr>
            <a:spLocks noGrp="1" noChangeArrowheads="1"/>
          </p:cNvSpPr>
          <p:nvPr>
            <p:ph type="title"/>
          </p:nvPr>
        </p:nvSpPr>
        <p:spPr>
          <a:xfrm>
            <a:off x="586478" y="1683756"/>
            <a:ext cx="3115265" cy="2396359"/>
          </a:xfrm>
        </p:spPr>
        <p:txBody>
          <a:bodyPr anchor="b">
            <a:normAutofit/>
          </a:bodyPr>
          <a:lstStyle/>
          <a:p>
            <a:pPr algn="r"/>
            <a:r>
              <a:rPr lang="en-US" altLang="en-US" sz="4000">
                <a:solidFill>
                  <a:srgbClr val="FFFFFF"/>
                </a:solidFill>
              </a:rPr>
              <a:t>Low Coupling</a:t>
            </a:r>
          </a:p>
        </p:txBody>
      </p:sp>
      <p:sp>
        <p:nvSpPr>
          <p:cNvPr id="24578" name="Slide Number Placeholder 3">
            <a:extLst>
              <a:ext uri="{FF2B5EF4-FFF2-40B4-BE49-F238E27FC236}">
                <a16:creationId xmlns:a16="http://schemas.microsoft.com/office/drawing/2014/main" id="{178F1A58-6235-A069-AD84-AE81719E710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6DA71021-2A4B-4851-B16E-10BA56A5AB2C}" type="slidenum">
              <a:rPr lang="de-DE" altLang="en-US" sz="1100">
                <a:solidFill>
                  <a:schemeClr val="tx1">
                    <a:lumMod val="50000"/>
                    <a:lumOff val="50000"/>
                  </a:schemeClr>
                </a:solidFill>
              </a:rPr>
              <a:pPr>
                <a:spcAft>
                  <a:spcPts val="600"/>
                </a:spcAft>
              </a:pPr>
              <a:t>14</a:t>
            </a:fld>
            <a:endParaRPr lang="de-DE" altLang="en-US" sz="1100">
              <a:solidFill>
                <a:schemeClr val="tx1">
                  <a:lumMod val="50000"/>
                  <a:lumOff val="50000"/>
                </a:schemeClr>
              </a:solidFill>
            </a:endParaRPr>
          </a:p>
        </p:txBody>
      </p:sp>
      <p:graphicFrame>
        <p:nvGraphicFramePr>
          <p:cNvPr id="24582" name="Rectangle 3">
            <a:extLst>
              <a:ext uri="{FF2B5EF4-FFF2-40B4-BE49-F238E27FC236}">
                <a16:creationId xmlns:a16="http://schemas.microsoft.com/office/drawing/2014/main" id="{E4F5C132-BC92-EEE5-ABFE-602D4C908141}"/>
              </a:ext>
            </a:extLst>
          </p:cNvPr>
          <p:cNvGraphicFramePr/>
          <p:nvPr>
            <p:extLst>
              <p:ext uri="{D42A27DB-BD31-4B8C-83A1-F6EECF244321}">
                <p14:modId xmlns:p14="http://schemas.microsoft.com/office/powerpoint/2010/main" val="815112563"/>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Number Placeholder 3">
            <a:extLst>
              <a:ext uri="{FF2B5EF4-FFF2-40B4-BE49-F238E27FC236}">
                <a16:creationId xmlns:a16="http://schemas.microsoft.com/office/drawing/2014/main" id="{837E77CE-7EE4-CE8D-AB3C-C122D8D28171}"/>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B0681D29-28F1-483D-8C4D-1C9A845C2413}" type="slidenum">
              <a:rPr lang="de-DE" altLang="en-US" sz="1000"/>
              <a:pPr/>
              <a:t>15</a:t>
            </a:fld>
            <a:endParaRPr lang="de-DE" altLang="en-US" sz="1000"/>
          </a:p>
        </p:txBody>
      </p:sp>
      <p:sp>
        <p:nvSpPr>
          <p:cNvPr id="25603" name="Rectangle 2">
            <a:extLst>
              <a:ext uri="{FF2B5EF4-FFF2-40B4-BE49-F238E27FC236}">
                <a16:creationId xmlns:a16="http://schemas.microsoft.com/office/drawing/2014/main" id="{8AAA226D-7DE1-B3AF-788B-E51396F152FB}"/>
              </a:ext>
            </a:extLst>
          </p:cNvPr>
          <p:cNvSpPr>
            <a:spLocks noGrp="1" noChangeArrowheads="1"/>
          </p:cNvSpPr>
          <p:nvPr>
            <p:ph type="title"/>
          </p:nvPr>
        </p:nvSpPr>
        <p:spPr/>
        <p:txBody>
          <a:bodyPr/>
          <a:lstStyle/>
          <a:p>
            <a:r>
              <a:rPr lang="en-US" altLang="en-US"/>
              <a:t>Low-Coupling – Example…</a:t>
            </a:r>
          </a:p>
        </p:txBody>
      </p:sp>
      <p:sp>
        <p:nvSpPr>
          <p:cNvPr id="25604" name="Rectangle 3">
            <a:extLst>
              <a:ext uri="{FF2B5EF4-FFF2-40B4-BE49-F238E27FC236}">
                <a16:creationId xmlns:a16="http://schemas.microsoft.com/office/drawing/2014/main" id="{D86C71E6-53C7-1D8E-7F4D-40091E5622BC}"/>
              </a:ext>
            </a:extLst>
          </p:cNvPr>
          <p:cNvSpPr>
            <a:spLocks noGrp="1" noChangeArrowheads="1"/>
          </p:cNvSpPr>
          <p:nvPr>
            <p:ph type="body" idx="1"/>
          </p:nvPr>
        </p:nvSpPr>
        <p:spPr/>
        <p:txBody>
          <a:bodyPr/>
          <a:lstStyle/>
          <a:p>
            <a:pPr marL="342900" indent="-342900"/>
            <a:r>
              <a:rPr lang="en-US" altLang="en-US"/>
              <a:t>In POS app, need to create </a:t>
            </a:r>
            <a:r>
              <a:rPr lang="en-US" altLang="en-US" i="1"/>
              <a:t>Payment</a:t>
            </a:r>
            <a:r>
              <a:rPr lang="en-US" altLang="en-US"/>
              <a:t> instance and associate it with </a:t>
            </a:r>
            <a:r>
              <a:rPr lang="en-US" altLang="en-US" i="1"/>
              <a:t>Sale</a:t>
            </a:r>
            <a:r>
              <a:rPr lang="en-US" altLang="en-US"/>
              <a:t>.</a:t>
            </a:r>
          </a:p>
          <a:p>
            <a:pPr marL="342900" indent="-342900"/>
            <a:r>
              <a:rPr lang="en-US" altLang="en-US"/>
              <a:t>What class should be responsible for this?</a:t>
            </a:r>
          </a:p>
          <a:p>
            <a:pPr marL="342900" indent="-342900"/>
            <a:endParaRPr lang="en-US" altLang="en-US"/>
          </a:p>
          <a:p>
            <a:pPr marL="342900" indent="-342900"/>
            <a:endParaRPr lang="en-US" altLang="en-US"/>
          </a:p>
          <a:p>
            <a:pPr marL="342900" indent="-342900"/>
            <a:endParaRPr lang="en-US" altLang="en-US"/>
          </a:p>
          <a:p>
            <a:pPr marL="342900" indent="-342900"/>
            <a:r>
              <a:rPr lang="en-US" altLang="en-US"/>
              <a:t>Two choices: </a:t>
            </a:r>
          </a:p>
          <a:p>
            <a:pPr marL="742950" lvl="1" indent="-285750"/>
            <a:r>
              <a:rPr lang="en-US" altLang="en-US" i="1"/>
              <a:t>Register </a:t>
            </a:r>
            <a:r>
              <a:rPr lang="en-US" altLang="en-US"/>
              <a:t>records </a:t>
            </a:r>
            <a:r>
              <a:rPr lang="en-US" altLang="en-US" i="1"/>
              <a:t>Payment</a:t>
            </a:r>
            <a:r>
              <a:rPr lang="en-US" altLang="en-US"/>
              <a:t> so it is a candidate</a:t>
            </a:r>
          </a:p>
          <a:p>
            <a:pPr marL="742950" lvl="1" indent="-285750"/>
            <a:r>
              <a:rPr lang="en-US" altLang="en-US"/>
              <a:t>Payments are associated with Sales so </a:t>
            </a:r>
            <a:r>
              <a:rPr lang="en-US" altLang="en-US" i="1"/>
              <a:t>Sale</a:t>
            </a:r>
            <a:r>
              <a:rPr lang="en-US" altLang="en-US"/>
              <a:t> is a candidate</a:t>
            </a:r>
          </a:p>
        </p:txBody>
      </p:sp>
      <p:grpSp>
        <p:nvGrpSpPr>
          <p:cNvPr id="25605" name="Group 7">
            <a:extLst>
              <a:ext uri="{FF2B5EF4-FFF2-40B4-BE49-F238E27FC236}">
                <a16:creationId xmlns:a16="http://schemas.microsoft.com/office/drawing/2014/main" id="{03EF199F-A761-6811-153C-BDF0D3E795B1}"/>
              </a:ext>
            </a:extLst>
          </p:cNvPr>
          <p:cNvGrpSpPr>
            <a:grpSpLocks noChangeAspect="1"/>
          </p:cNvGrpSpPr>
          <p:nvPr/>
        </p:nvGrpSpPr>
        <p:grpSpPr bwMode="auto">
          <a:xfrm>
            <a:off x="4114800" y="3581400"/>
            <a:ext cx="4387850" cy="393700"/>
            <a:chOff x="1632" y="2256"/>
            <a:chExt cx="2764" cy="248"/>
          </a:xfrm>
        </p:grpSpPr>
        <p:sp>
          <p:nvSpPr>
            <p:cNvPr id="25606" name="AutoShape 6">
              <a:extLst>
                <a:ext uri="{FF2B5EF4-FFF2-40B4-BE49-F238E27FC236}">
                  <a16:creationId xmlns:a16="http://schemas.microsoft.com/office/drawing/2014/main" id="{0DC030C7-6F3F-8349-5D96-AD6C57881660}"/>
                </a:ext>
              </a:extLst>
            </p:cNvPr>
            <p:cNvSpPr>
              <a:spLocks noChangeAspect="1" noChangeArrowheads="1" noTextEdit="1"/>
            </p:cNvSpPr>
            <p:nvPr/>
          </p:nvSpPr>
          <p:spPr bwMode="auto">
            <a:xfrm>
              <a:off x="1632" y="2256"/>
              <a:ext cx="2764" cy="24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5607" name="Rectangle 8">
              <a:extLst>
                <a:ext uri="{FF2B5EF4-FFF2-40B4-BE49-F238E27FC236}">
                  <a16:creationId xmlns:a16="http://schemas.microsoft.com/office/drawing/2014/main" id="{904FD5F3-D797-F83A-D6DA-C07479ED7EA5}"/>
                </a:ext>
              </a:extLst>
            </p:cNvPr>
            <p:cNvSpPr>
              <a:spLocks noChangeArrowheads="1"/>
            </p:cNvSpPr>
            <p:nvPr/>
          </p:nvSpPr>
          <p:spPr bwMode="auto">
            <a:xfrm>
              <a:off x="1647" y="2271"/>
              <a:ext cx="707" cy="218"/>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5608" name="Rectangle 9">
              <a:extLst>
                <a:ext uri="{FF2B5EF4-FFF2-40B4-BE49-F238E27FC236}">
                  <a16:creationId xmlns:a16="http://schemas.microsoft.com/office/drawing/2014/main" id="{9200118D-6C12-9F74-16BC-DC8841CF6AF1}"/>
                </a:ext>
              </a:extLst>
            </p:cNvPr>
            <p:cNvSpPr>
              <a:spLocks noChangeArrowheads="1"/>
            </p:cNvSpPr>
            <p:nvPr/>
          </p:nvSpPr>
          <p:spPr bwMode="auto">
            <a:xfrm>
              <a:off x="1846" y="2322"/>
              <a:ext cx="31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Payment</a:t>
              </a:r>
              <a:endParaRPr lang="en-US" altLang="en-US"/>
            </a:p>
          </p:txBody>
        </p:sp>
        <p:sp>
          <p:nvSpPr>
            <p:cNvPr id="25609" name="Rectangle 10">
              <a:extLst>
                <a:ext uri="{FF2B5EF4-FFF2-40B4-BE49-F238E27FC236}">
                  <a16:creationId xmlns:a16="http://schemas.microsoft.com/office/drawing/2014/main" id="{C4130A40-37E8-A980-4ACB-5E3B117656BD}"/>
                </a:ext>
              </a:extLst>
            </p:cNvPr>
            <p:cNvSpPr>
              <a:spLocks noChangeArrowheads="1"/>
            </p:cNvSpPr>
            <p:nvPr/>
          </p:nvSpPr>
          <p:spPr bwMode="auto">
            <a:xfrm>
              <a:off x="2664" y="2271"/>
              <a:ext cx="707" cy="218"/>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5610" name="Rectangle 11">
              <a:extLst>
                <a:ext uri="{FF2B5EF4-FFF2-40B4-BE49-F238E27FC236}">
                  <a16:creationId xmlns:a16="http://schemas.microsoft.com/office/drawing/2014/main" id="{B594F470-E371-5518-37B7-0EA39673EC23}"/>
                </a:ext>
              </a:extLst>
            </p:cNvPr>
            <p:cNvSpPr>
              <a:spLocks noChangeArrowheads="1"/>
            </p:cNvSpPr>
            <p:nvPr/>
          </p:nvSpPr>
          <p:spPr bwMode="auto">
            <a:xfrm>
              <a:off x="2914" y="2322"/>
              <a:ext cx="296" cy="1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200">
                  <a:solidFill>
                    <a:srgbClr val="080808"/>
                  </a:solidFill>
                </a:rPr>
                <a:t>Register</a:t>
              </a:r>
            </a:p>
          </p:txBody>
        </p:sp>
        <p:sp>
          <p:nvSpPr>
            <p:cNvPr id="25611" name="Rectangle 12">
              <a:extLst>
                <a:ext uri="{FF2B5EF4-FFF2-40B4-BE49-F238E27FC236}">
                  <a16:creationId xmlns:a16="http://schemas.microsoft.com/office/drawing/2014/main" id="{FBE2E1AF-7C63-7F3E-1CDD-862532E6663D}"/>
                </a:ext>
              </a:extLst>
            </p:cNvPr>
            <p:cNvSpPr>
              <a:spLocks noChangeArrowheads="1"/>
            </p:cNvSpPr>
            <p:nvPr/>
          </p:nvSpPr>
          <p:spPr bwMode="auto">
            <a:xfrm>
              <a:off x="3681" y="2271"/>
              <a:ext cx="708" cy="218"/>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5612" name="Rectangle 13">
              <a:extLst>
                <a:ext uri="{FF2B5EF4-FFF2-40B4-BE49-F238E27FC236}">
                  <a16:creationId xmlns:a16="http://schemas.microsoft.com/office/drawing/2014/main" id="{44760C61-84AE-3861-0DBD-E1046ADFDCBC}"/>
                </a:ext>
              </a:extLst>
            </p:cNvPr>
            <p:cNvSpPr>
              <a:spLocks noChangeArrowheads="1"/>
            </p:cNvSpPr>
            <p:nvPr/>
          </p:nvSpPr>
          <p:spPr bwMode="auto">
            <a:xfrm>
              <a:off x="3954" y="2322"/>
              <a:ext cx="16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a:t>
              </a:r>
              <a:endParaRPr lang="en-US" altLang="en-US"/>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626" name="Group 8">
            <a:extLst>
              <a:ext uri="{FF2B5EF4-FFF2-40B4-BE49-F238E27FC236}">
                <a16:creationId xmlns:a16="http://schemas.microsoft.com/office/drawing/2014/main" id="{A8E1D61A-B805-C5BD-5AE7-F1DF3AC96BCB}"/>
              </a:ext>
            </a:extLst>
          </p:cNvPr>
          <p:cNvGrpSpPr>
            <a:grpSpLocks noChangeAspect="1"/>
          </p:cNvGrpSpPr>
          <p:nvPr/>
        </p:nvGrpSpPr>
        <p:grpSpPr bwMode="auto">
          <a:xfrm>
            <a:off x="4668839" y="2846389"/>
            <a:ext cx="5178425" cy="1393825"/>
            <a:chOff x="1966" y="1340"/>
            <a:chExt cx="3262" cy="878"/>
          </a:xfrm>
        </p:grpSpPr>
        <p:sp>
          <p:nvSpPr>
            <p:cNvPr id="26653" name="AutoShape 7">
              <a:extLst>
                <a:ext uri="{FF2B5EF4-FFF2-40B4-BE49-F238E27FC236}">
                  <a16:creationId xmlns:a16="http://schemas.microsoft.com/office/drawing/2014/main" id="{208D6B38-7536-EA01-BA13-BA2AD8D604D1}"/>
                </a:ext>
              </a:extLst>
            </p:cNvPr>
            <p:cNvSpPr>
              <a:spLocks noChangeAspect="1" noChangeArrowheads="1" noTextEdit="1"/>
            </p:cNvSpPr>
            <p:nvPr/>
          </p:nvSpPr>
          <p:spPr bwMode="auto">
            <a:xfrm>
              <a:off x="1966" y="1340"/>
              <a:ext cx="3219" cy="79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6654" name="Rectangle 9">
              <a:extLst>
                <a:ext uri="{FF2B5EF4-FFF2-40B4-BE49-F238E27FC236}">
                  <a16:creationId xmlns:a16="http://schemas.microsoft.com/office/drawing/2014/main" id="{4B00E149-F1EA-7E68-6B3D-291FADE06524}"/>
                </a:ext>
              </a:extLst>
            </p:cNvPr>
            <p:cNvSpPr>
              <a:spLocks noChangeArrowheads="1"/>
            </p:cNvSpPr>
            <p:nvPr/>
          </p:nvSpPr>
          <p:spPr bwMode="auto">
            <a:xfrm>
              <a:off x="2897"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55" name="Line 10">
              <a:extLst>
                <a:ext uri="{FF2B5EF4-FFF2-40B4-BE49-F238E27FC236}">
                  <a16:creationId xmlns:a16="http://schemas.microsoft.com/office/drawing/2014/main" id="{6F80A2C7-1DBB-C816-EB71-401672A072EC}"/>
                </a:ext>
              </a:extLst>
            </p:cNvPr>
            <p:cNvSpPr>
              <a:spLocks noChangeShapeType="1"/>
            </p:cNvSpPr>
            <p:nvPr/>
          </p:nvSpPr>
          <p:spPr bwMode="auto">
            <a:xfrm>
              <a:off x="3144" y="1672"/>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6" name="Rectangle 11">
              <a:extLst>
                <a:ext uri="{FF2B5EF4-FFF2-40B4-BE49-F238E27FC236}">
                  <a16:creationId xmlns:a16="http://schemas.microsoft.com/office/drawing/2014/main" id="{40B7DEFA-D125-15B6-895F-F2532029D2D9}"/>
                </a:ext>
              </a:extLst>
            </p:cNvPr>
            <p:cNvSpPr>
              <a:spLocks noChangeArrowheads="1"/>
            </p:cNvSpPr>
            <p:nvPr/>
          </p:nvSpPr>
          <p:spPr bwMode="auto">
            <a:xfrm>
              <a:off x="3132" y="1555"/>
              <a:ext cx="32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:Register</a:t>
              </a:r>
              <a:endParaRPr lang="en-US" altLang="en-US" dirty="0"/>
            </a:p>
          </p:txBody>
        </p:sp>
        <p:sp>
          <p:nvSpPr>
            <p:cNvPr id="26657" name="Rectangle 12">
              <a:extLst>
                <a:ext uri="{FF2B5EF4-FFF2-40B4-BE49-F238E27FC236}">
                  <a16:creationId xmlns:a16="http://schemas.microsoft.com/office/drawing/2014/main" id="{BEEC791F-CAB5-959C-3EB4-C2381E002B25}"/>
                </a:ext>
              </a:extLst>
            </p:cNvPr>
            <p:cNvSpPr>
              <a:spLocks noChangeArrowheads="1"/>
            </p:cNvSpPr>
            <p:nvPr/>
          </p:nvSpPr>
          <p:spPr bwMode="auto">
            <a:xfrm>
              <a:off x="4511"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58" name="Line 13">
              <a:extLst>
                <a:ext uri="{FF2B5EF4-FFF2-40B4-BE49-F238E27FC236}">
                  <a16:creationId xmlns:a16="http://schemas.microsoft.com/office/drawing/2014/main" id="{030FBD5D-C70B-C85F-6FAE-F5DF34CE5AE3}"/>
                </a:ext>
              </a:extLst>
            </p:cNvPr>
            <p:cNvSpPr>
              <a:spLocks noChangeShapeType="1"/>
            </p:cNvSpPr>
            <p:nvPr/>
          </p:nvSpPr>
          <p:spPr bwMode="auto">
            <a:xfrm>
              <a:off x="4660" y="1672"/>
              <a:ext cx="41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9" name="Rectangle 14">
              <a:extLst>
                <a:ext uri="{FF2B5EF4-FFF2-40B4-BE49-F238E27FC236}">
                  <a16:creationId xmlns:a16="http://schemas.microsoft.com/office/drawing/2014/main" id="{D6AB2E17-4BCB-6191-55BB-2B596AEDA11F}"/>
                </a:ext>
              </a:extLst>
            </p:cNvPr>
            <p:cNvSpPr>
              <a:spLocks noChangeArrowheads="1"/>
            </p:cNvSpPr>
            <p:nvPr/>
          </p:nvSpPr>
          <p:spPr bwMode="auto">
            <a:xfrm>
              <a:off x="4624" y="1546"/>
              <a:ext cx="42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p : Payment</a:t>
              </a:r>
              <a:endParaRPr lang="en-US" altLang="en-US" dirty="0"/>
            </a:p>
          </p:txBody>
        </p:sp>
        <p:sp>
          <p:nvSpPr>
            <p:cNvPr id="26660" name="Rectangle 15">
              <a:extLst>
                <a:ext uri="{FF2B5EF4-FFF2-40B4-BE49-F238E27FC236}">
                  <a16:creationId xmlns:a16="http://schemas.microsoft.com/office/drawing/2014/main" id="{102A9579-F095-01C8-D0F6-F4CA6A3A2FAB}"/>
                </a:ext>
              </a:extLst>
            </p:cNvPr>
            <p:cNvSpPr>
              <a:spLocks noChangeArrowheads="1"/>
            </p:cNvSpPr>
            <p:nvPr/>
          </p:nvSpPr>
          <p:spPr bwMode="auto">
            <a:xfrm>
              <a:off x="4511" y="1994"/>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61" name="Line 16">
              <a:extLst>
                <a:ext uri="{FF2B5EF4-FFF2-40B4-BE49-F238E27FC236}">
                  <a16:creationId xmlns:a16="http://schemas.microsoft.com/office/drawing/2014/main" id="{779EBD4C-8181-67D3-A564-06D4A162A770}"/>
                </a:ext>
              </a:extLst>
            </p:cNvPr>
            <p:cNvSpPr>
              <a:spLocks noChangeShapeType="1"/>
            </p:cNvSpPr>
            <p:nvPr/>
          </p:nvSpPr>
          <p:spPr bwMode="auto">
            <a:xfrm>
              <a:off x="4779" y="2143"/>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62" name="Rectangle 17">
              <a:extLst>
                <a:ext uri="{FF2B5EF4-FFF2-40B4-BE49-F238E27FC236}">
                  <a16:creationId xmlns:a16="http://schemas.microsoft.com/office/drawing/2014/main" id="{A9FB463B-C704-6FAB-73D1-1F073004BBA7}"/>
                </a:ext>
              </a:extLst>
            </p:cNvPr>
            <p:cNvSpPr>
              <a:spLocks noChangeArrowheads="1"/>
            </p:cNvSpPr>
            <p:nvPr/>
          </p:nvSpPr>
          <p:spPr bwMode="auto">
            <a:xfrm>
              <a:off x="4779" y="1996"/>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:Sale</a:t>
              </a:r>
              <a:endParaRPr lang="en-US" altLang="en-US" dirty="0"/>
            </a:p>
          </p:txBody>
        </p:sp>
        <p:sp>
          <p:nvSpPr>
            <p:cNvPr id="26663" name="Line 18">
              <a:extLst>
                <a:ext uri="{FF2B5EF4-FFF2-40B4-BE49-F238E27FC236}">
                  <a16:creationId xmlns:a16="http://schemas.microsoft.com/office/drawing/2014/main" id="{EE8C37D4-7334-7776-7754-69FC04084C59}"/>
                </a:ext>
              </a:extLst>
            </p:cNvPr>
            <p:cNvSpPr>
              <a:spLocks noChangeShapeType="1"/>
            </p:cNvSpPr>
            <p:nvPr/>
          </p:nvSpPr>
          <p:spPr bwMode="auto">
            <a:xfrm>
              <a:off x="2031" y="1635"/>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64" name="Rectangle 19">
              <a:extLst>
                <a:ext uri="{FF2B5EF4-FFF2-40B4-BE49-F238E27FC236}">
                  <a16:creationId xmlns:a16="http://schemas.microsoft.com/office/drawing/2014/main" id="{5B228F9D-5557-1F1F-219F-6E181A2B77F9}"/>
                </a:ext>
              </a:extLst>
            </p:cNvPr>
            <p:cNvSpPr>
              <a:spLocks noChangeArrowheads="1"/>
            </p:cNvSpPr>
            <p:nvPr/>
          </p:nvSpPr>
          <p:spPr bwMode="auto">
            <a:xfrm>
              <a:off x="2210" y="1369"/>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err="1">
                  <a:solidFill>
                    <a:srgbClr val="000000"/>
                  </a:solidFill>
                  <a:latin typeface="Helvetica" panose="020B0604020202020204" pitchFamily="34" charset="0"/>
                </a:rPr>
                <a:t>makePayment</a:t>
              </a:r>
              <a:r>
                <a:rPr lang="en-US" altLang="en-US" sz="1000" dirty="0">
                  <a:solidFill>
                    <a:srgbClr val="000000"/>
                  </a:solidFill>
                  <a:latin typeface="Helvetica" panose="020B0604020202020204" pitchFamily="34" charset="0"/>
                </a:rPr>
                <a:t>()</a:t>
              </a:r>
              <a:endParaRPr lang="en-US" altLang="en-US" dirty="0"/>
            </a:p>
          </p:txBody>
        </p:sp>
        <p:sp>
          <p:nvSpPr>
            <p:cNvPr id="26665" name="Line 20">
              <a:extLst>
                <a:ext uri="{FF2B5EF4-FFF2-40B4-BE49-F238E27FC236}">
                  <a16:creationId xmlns:a16="http://schemas.microsoft.com/office/drawing/2014/main" id="{7DE46E2C-A99F-92A8-C515-8F5D9616D868}"/>
                </a:ext>
              </a:extLst>
            </p:cNvPr>
            <p:cNvSpPr>
              <a:spLocks noChangeShapeType="1"/>
            </p:cNvSpPr>
            <p:nvPr/>
          </p:nvSpPr>
          <p:spPr bwMode="auto">
            <a:xfrm>
              <a:off x="3614" y="1635"/>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66" name="Rectangle 21">
              <a:extLst>
                <a:ext uri="{FF2B5EF4-FFF2-40B4-BE49-F238E27FC236}">
                  <a16:creationId xmlns:a16="http://schemas.microsoft.com/office/drawing/2014/main" id="{7B3C50F3-C61C-F980-91C4-28BE9D54F117}"/>
                </a:ext>
              </a:extLst>
            </p:cNvPr>
            <p:cNvSpPr>
              <a:spLocks noChangeArrowheads="1"/>
            </p:cNvSpPr>
            <p:nvPr/>
          </p:nvSpPr>
          <p:spPr bwMode="auto">
            <a:xfrm>
              <a:off x="3861" y="1473"/>
              <a:ext cx="36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create()</a:t>
              </a:r>
              <a:endParaRPr lang="en-US" altLang="en-US"/>
            </a:p>
          </p:txBody>
        </p:sp>
        <p:sp>
          <p:nvSpPr>
            <p:cNvPr id="26667" name="Freeform 22">
              <a:extLst>
                <a:ext uri="{FF2B5EF4-FFF2-40B4-BE49-F238E27FC236}">
                  <a16:creationId xmlns:a16="http://schemas.microsoft.com/office/drawing/2014/main" id="{751A0FC1-7B11-248B-5337-49F22BC67158}"/>
                </a:ext>
              </a:extLst>
            </p:cNvPr>
            <p:cNvSpPr>
              <a:spLocks/>
            </p:cNvSpPr>
            <p:nvPr/>
          </p:nvSpPr>
          <p:spPr bwMode="auto">
            <a:xfrm>
              <a:off x="3256" y="1747"/>
              <a:ext cx="1255" cy="359"/>
            </a:xfrm>
            <a:custGeom>
              <a:avLst/>
              <a:gdLst>
                <a:gd name="T0" fmla="*/ 0 w 1255"/>
                <a:gd name="T1" fmla="*/ 0 h 359"/>
                <a:gd name="T2" fmla="*/ 0 w 1255"/>
                <a:gd name="T3" fmla="*/ 359 h 359"/>
                <a:gd name="T4" fmla="*/ 1255 w 1255"/>
                <a:gd name="T5" fmla="*/ 359 h 359"/>
                <a:gd name="T6" fmla="*/ 0 60000 65536"/>
                <a:gd name="T7" fmla="*/ 0 60000 65536"/>
                <a:gd name="T8" fmla="*/ 0 60000 65536"/>
                <a:gd name="T9" fmla="*/ 0 w 1255"/>
                <a:gd name="T10" fmla="*/ 0 h 359"/>
                <a:gd name="T11" fmla="*/ 1255 w 1255"/>
                <a:gd name="T12" fmla="*/ 359 h 359"/>
              </a:gdLst>
              <a:ahLst/>
              <a:cxnLst>
                <a:cxn ang="T6">
                  <a:pos x="T0" y="T1"/>
                </a:cxn>
                <a:cxn ang="T7">
                  <a:pos x="T2" y="T3"/>
                </a:cxn>
                <a:cxn ang="T8">
                  <a:pos x="T4" y="T5"/>
                </a:cxn>
              </a:cxnLst>
              <a:rect l="T9" t="T10" r="T11" b="T12"/>
              <a:pathLst>
                <a:path w="1255" h="359">
                  <a:moveTo>
                    <a:pt x="0" y="0"/>
                  </a:moveTo>
                  <a:lnTo>
                    <a:pt x="0" y="359"/>
                  </a:lnTo>
                  <a:lnTo>
                    <a:pt x="1255" y="359"/>
                  </a:lnTo>
                </a:path>
              </a:pathLst>
            </a:custGeom>
            <a:noFill/>
            <a:ln w="7">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68" name="Rectangle 23">
              <a:extLst>
                <a:ext uri="{FF2B5EF4-FFF2-40B4-BE49-F238E27FC236}">
                  <a16:creationId xmlns:a16="http://schemas.microsoft.com/office/drawing/2014/main" id="{EE7A8D33-5F5B-7436-B34F-73594D50D01F}"/>
                </a:ext>
              </a:extLst>
            </p:cNvPr>
            <p:cNvSpPr>
              <a:spLocks noChangeArrowheads="1"/>
            </p:cNvSpPr>
            <p:nvPr/>
          </p:nvSpPr>
          <p:spPr bwMode="auto">
            <a:xfrm>
              <a:off x="3435" y="1900"/>
              <a:ext cx="63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2: addPayment(p)</a:t>
              </a:r>
              <a:endParaRPr lang="en-US" altLang="en-US"/>
            </a:p>
          </p:txBody>
        </p:sp>
        <p:sp>
          <p:nvSpPr>
            <p:cNvPr id="26669" name="Line 24">
              <a:extLst>
                <a:ext uri="{FF2B5EF4-FFF2-40B4-BE49-F238E27FC236}">
                  <a16:creationId xmlns:a16="http://schemas.microsoft.com/office/drawing/2014/main" id="{380FF402-9B81-26B0-C3DD-CEADB14D18FB}"/>
                </a:ext>
              </a:extLst>
            </p:cNvPr>
            <p:cNvSpPr>
              <a:spLocks noChangeShapeType="1"/>
            </p:cNvSpPr>
            <p:nvPr/>
          </p:nvSpPr>
          <p:spPr bwMode="auto">
            <a:xfrm>
              <a:off x="2449" y="1500"/>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70" name="Freeform 25">
              <a:extLst>
                <a:ext uri="{FF2B5EF4-FFF2-40B4-BE49-F238E27FC236}">
                  <a16:creationId xmlns:a16="http://schemas.microsoft.com/office/drawing/2014/main" id="{28470CE9-3224-E6D2-AC9D-8F10B8623366}"/>
                </a:ext>
              </a:extLst>
            </p:cNvPr>
            <p:cNvSpPr>
              <a:spLocks/>
            </p:cNvSpPr>
            <p:nvPr/>
          </p:nvSpPr>
          <p:spPr bwMode="auto">
            <a:xfrm>
              <a:off x="2531" y="1485"/>
              <a:ext cx="53" cy="37"/>
            </a:xfrm>
            <a:custGeom>
              <a:avLst/>
              <a:gdLst>
                <a:gd name="T0" fmla="*/ 0 w 53"/>
                <a:gd name="T1" fmla="*/ 37 h 37"/>
                <a:gd name="T2" fmla="*/ 53 w 53"/>
                <a:gd name="T3" fmla="*/ 15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71" name="Line 26">
              <a:extLst>
                <a:ext uri="{FF2B5EF4-FFF2-40B4-BE49-F238E27FC236}">
                  <a16:creationId xmlns:a16="http://schemas.microsoft.com/office/drawing/2014/main" id="{CF6EAFAA-188D-482D-E3CB-04B48204B431}"/>
                </a:ext>
              </a:extLst>
            </p:cNvPr>
            <p:cNvSpPr>
              <a:spLocks noChangeShapeType="1"/>
            </p:cNvSpPr>
            <p:nvPr/>
          </p:nvSpPr>
          <p:spPr bwMode="auto">
            <a:xfrm>
              <a:off x="4242" y="1590"/>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72" name="Freeform 27">
              <a:extLst>
                <a:ext uri="{FF2B5EF4-FFF2-40B4-BE49-F238E27FC236}">
                  <a16:creationId xmlns:a16="http://schemas.microsoft.com/office/drawing/2014/main" id="{D9D3B1A9-8F6A-A92F-72F8-F7F8D56B47A7}"/>
                </a:ext>
              </a:extLst>
            </p:cNvPr>
            <p:cNvSpPr>
              <a:spLocks/>
            </p:cNvSpPr>
            <p:nvPr/>
          </p:nvSpPr>
          <p:spPr bwMode="auto">
            <a:xfrm>
              <a:off x="4324" y="1575"/>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73" name="Line 28">
              <a:extLst>
                <a:ext uri="{FF2B5EF4-FFF2-40B4-BE49-F238E27FC236}">
                  <a16:creationId xmlns:a16="http://schemas.microsoft.com/office/drawing/2014/main" id="{B64EAE5A-558A-6552-6642-E7065BA3B481}"/>
                </a:ext>
              </a:extLst>
            </p:cNvPr>
            <p:cNvSpPr>
              <a:spLocks noChangeShapeType="1"/>
            </p:cNvSpPr>
            <p:nvPr/>
          </p:nvSpPr>
          <p:spPr bwMode="auto">
            <a:xfrm>
              <a:off x="4107" y="2038"/>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74" name="Freeform 29">
              <a:extLst>
                <a:ext uri="{FF2B5EF4-FFF2-40B4-BE49-F238E27FC236}">
                  <a16:creationId xmlns:a16="http://schemas.microsoft.com/office/drawing/2014/main" id="{C48C9150-0744-65F7-FDD5-37EF5CFF4248}"/>
                </a:ext>
              </a:extLst>
            </p:cNvPr>
            <p:cNvSpPr>
              <a:spLocks/>
            </p:cNvSpPr>
            <p:nvPr/>
          </p:nvSpPr>
          <p:spPr bwMode="auto">
            <a:xfrm>
              <a:off x="4189" y="2024"/>
              <a:ext cx="53" cy="37"/>
            </a:xfrm>
            <a:custGeom>
              <a:avLst/>
              <a:gdLst>
                <a:gd name="T0" fmla="*/ 0 w 53"/>
                <a:gd name="T1" fmla="*/ 37 h 37"/>
                <a:gd name="T2" fmla="*/ 53 w 53"/>
                <a:gd name="T3" fmla="*/ 14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4"/>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
        <p:nvSpPr>
          <p:cNvPr id="26627" name="Slide Number Placeholder 3">
            <a:extLst>
              <a:ext uri="{FF2B5EF4-FFF2-40B4-BE49-F238E27FC236}">
                <a16:creationId xmlns:a16="http://schemas.microsoft.com/office/drawing/2014/main" id="{EB429E45-0EA4-D21E-6127-A94D8C8472E8}"/>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3DFC0067-8CF0-42EA-A6B9-1D0DE096FF61}" type="slidenum">
              <a:rPr lang="de-DE" altLang="en-US" sz="1000"/>
              <a:pPr/>
              <a:t>16</a:t>
            </a:fld>
            <a:endParaRPr lang="de-DE" altLang="en-US" sz="1000"/>
          </a:p>
        </p:txBody>
      </p:sp>
      <p:sp>
        <p:nvSpPr>
          <p:cNvPr id="26628" name="Rectangle 2">
            <a:extLst>
              <a:ext uri="{FF2B5EF4-FFF2-40B4-BE49-F238E27FC236}">
                <a16:creationId xmlns:a16="http://schemas.microsoft.com/office/drawing/2014/main" id="{7F88D991-5079-B350-7928-25A09B2FBD74}"/>
              </a:ext>
            </a:extLst>
          </p:cNvPr>
          <p:cNvSpPr>
            <a:spLocks noGrp="1" noChangeArrowheads="1"/>
          </p:cNvSpPr>
          <p:nvPr>
            <p:ph type="title"/>
          </p:nvPr>
        </p:nvSpPr>
        <p:spPr/>
        <p:txBody>
          <a:bodyPr/>
          <a:lstStyle/>
          <a:p>
            <a:r>
              <a:rPr lang="en-US" altLang="en-US"/>
              <a:t>…Low-Coupling – Example…</a:t>
            </a:r>
          </a:p>
        </p:txBody>
      </p:sp>
      <p:sp>
        <p:nvSpPr>
          <p:cNvPr id="26629" name="Rectangle 5">
            <a:extLst>
              <a:ext uri="{FF2B5EF4-FFF2-40B4-BE49-F238E27FC236}">
                <a16:creationId xmlns:a16="http://schemas.microsoft.com/office/drawing/2014/main" id="{03EDD40A-FB68-B078-FC81-4B4A9EDE7811}"/>
              </a:ext>
            </a:extLst>
          </p:cNvPr>
          <p:cNvSpPr>
            <a:spLocks noGrp="1" noChangeArrowheads="1"/>
          </p:cNvSpPr>
          <p:nvPr>
            <p:ph type="body" idx="1"/>
          </p:nvPr>
        </p:nvSpPr>
        <p:spPr>
          <a:xfrm>
            <a:off x="2362200" y="1908176"/>
            <a:ext cx="4237038" cy="4416425"/>
          </a:xfrm>
        </p:spPr>
        <p:txBody>
          <a:bodyPr>
            <a:normAutofit fontScale="92500" lnSpcReduction="10000"/>
          </a:bodyPr>
          <a:lstStyle/>
          <a:p>
            <a:pPr marL="342900" indent="-342900"/>
            <a:r>
              <a:rPr lang="en-US" altLang="en-US"/>
              <a:t>Which supports Low Coupling?</a:t>
            </a:r>
          </a:p>
          <a:p>
            <a:pPr marL="342900" indent="-342900"/>
            <a:endParaRPr lang="en-US" altLang="en-US"/>
          </a:p>
          <a:p>
            <a:pPr marL="342900" indent="-342900"/>
            <a:endParaRPr lang="en-US" altLang="en-US"/>
          </a:p>
          <a:p>
            <a:pPr marL="342900" indent="-342900">
              <a:buNone/>
            </a:pPr>
            <a:r>
              <a:rPr lang="en-US" altLang="en-US" sz="2400" i="1"/>
              <a:t>Register</a:t>
            </a:r>
            <a:r>
              <a:rPr lang="en-US" altLang="en-US" sz="2400"/>
              <a:t> creates </a:t>
            </a:r>
            <a:r>
              <a:rPr lang="en-US" altLang="en-US" sz="2400" i="1"/>
              <a:t>Payment</a:t>
            </a:r>
          </a:p>
          <a:p>
            <a:pPr marL="342900" indent="-342900">
              <a:buNone/>
            </a:pPr>
            <a:endParaRPr lang="en-US" altLang="en-US" sz="2400" i="1"/>
          </a:p>
          <a:p>
            <a:pPr marL="342900" indent="-342900">
              <a:buNone/>
            </a:pPr>
            <a:endParaRPr lang="en-US" altLang="en-US" sz="2400" i="1"/>
          </a:p>
          <a:p>
            <a:pPr marL="342900" indent="-342900">
              <a:buNone/>
            </a:pPr>
            <a:endParaRPr lang="en-US" altLang="en-US" sz="2400" i="1"/>
          </a:p>
          <a:p>
            <a:pPr marL="342900" indent="-342900">
              <a:buNone/>
            </a:pPr>
            <a:endParaRPr lang="en-US" altLang="en-US" sz="2400" i="1"/>
          </a:p>
          <a:p>
            <a:pPr marL="342900" indent="-342900">
              <a:buNone/>
            </a:pPr>
            <a:endParaRPr lang="en-US" altLang="en-US" sz="2400" i="1"/>
          </a:p>
          <a:p>
            <a:pPr marL="342900" indent="-342900">
              <a:buNone/>
            </a:pPr>
            <a:r>
              <a:rPr lang="en-US" altLang="en-US" sz="2400" i="1"/>
              <a:t>Sale </a:t>
            </a:r>
            <a:r>
              <a:rPr lang="en-US" altLang="en-US" sz="2400"/>
              <a:t>creates</a:t>
            </a:r>
            <a:r>
              <a:rPr lang="en-US" altLang="en-US" sz="2400" i="1"/>
              <a:t> Payment</a:t>
            </a:r>
          </a:p>
        </p:txBody>
      </p:sp>
      <p:grpSp>
        <p:nvGrpSpPr>
          <p:cNvPr id="26630" name="Group 32">
            <a:extLst>
              <a:ext uri="{FF2B5EF4-FFF2-40B4-BE49-F238E27FC236}">
                <a16:creationId xmlns:a16="http://schemas.microsoft.com/office/drawing/2014/main" id="{0437B33E-FC6A-8A82-DF20-CF789BC54404}"/>
              </a:ext>
            </a:extLst>
          </p:cNvPr>
          <p:cNvGrpSpPr>
            <a:grpSpLocks noChangeAspect="1"/>
          </p:cNvGrpSpPr>
          <p:nvPr/>
        </p:nvGrpSpPr>
        <p:grpSpPr bwMode="auto">
          <a:xfrm>
            <a:off x="4772027" y="4723872"/>
            <a:ext cx="5121275" cy="1543050"/>
            <a:chOff x="2016" y="2784"/>
            <a:chExt cx="3226" cy="972"/>
          </a:xfrm>
        </p:grpSpPr>
        <p:sp>
          <p:nvSpPr>
            <p:cNvPr id="26631" name="AutoShape 31">
              <a:extLst>
                <a:ext uri="{FF2B5EF4-FFF2-40B4-BE49-F238E27FC236}">
                  <a16:creationId xmlns:a16="http://schemas.microsoft.com/office/drawing/2014/main" id="{DCAE00CA-AE28-433D-19F0-DA17DA778244}"/>
                </a:ext>
              </a:extLst>
            </p:cNvPr>
            <p:cNvSpPr>
              <a:spLocks noChangeAspect="1" noChangeArrowheads="1" noTextEdit="1"/>
            </p:cNvSpPr>
            <p:nvPr/>
          </p:nvSpPr>
          <p:spPr bwMode="auto">
            <a:xfrm>
              <a:off x="2016" y="2784"/>
              <a:ext cx="3219" cy="97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6632" name="Rectangle 33">
              <a:extLst>
                <a:ext uri="{FF2B5EF4-FFF2-40B4-BE49-F238E27FC236}">
                  <a16:creationId xmlns:a16="http://schemas.microsoft.com/office/drawing/2014/main" id="{B7818428-3F71-9EEE-A9A3-14069D1C2303}"/>
                </a:ext>
              </a:extLst>
            </p:cNvPr>
            <p:cNvSpPr>
              <a:spLocks noChangeArrowheads="1"/>
            </p:cNvSpPr>
            <p:nvPr/>
          </p:nvSpPr>
          <p:spPr bwMode="auto">
            <a:xfrm>
              <a:off x="2897" y="2866"/>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33" name="Line 34">
              <a:extLst>
                <a:ext uri="{FF2B5EF4-FFF2-40B4-BE49-F238E27FC236}">
                  <a16:creationId xmlns:a16="http://schemas.microsoft.com/office/drawing/2014/main" id="{6AA16D86-0E0E-0E48-236C-D6A63D6A7547}"/>
                </a:ext>
              </a:extLst>
            </p:cNvPr>
            <p:cNvSpPr>
              <a:spLocks noChangeShapeType="1"/>
            </p:cNvSpPr>
            <p:nvPr/>
          </p:nvSpPr>
          <p:spPr bwMode="auto">
            <a:xfrm>
              <a:off x="3144" y="3016"/>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4" name="Rectangle 35">
              <a:extLst>
                <a:ext uri="{FF2B5EF4-FFF2-40B4-BE49-F238E27FC236}">
                  <a16:creationId xmlns:a16="http://schemas.microsoft.com/office/drawing/2014/main" id="{6B8E1390-CDA0-44EF-9DD8-4183F24C2A48}"/>
                </a:ext>
              </a:extLst>
            </p:cNvPr>
            <p:cNvSpPr>
              <a:spLocks noChangeArrowheads="1"/>
            </p:cNvSpPr>
            <p:nvPr/>
          </p:nvSpPr>
          <p:spPr bwMode="auto">
            <a:xfrm>
              <a:off x="3123" y="2882"/>
              <a:ext cx="32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:Register</a:t>
              </a:r>
              <a:endParaRPr lang="en-US" altLang="en-US" dirty="0"/>
            </a:p>
          </p:txBody>
        </p:sp>
        <p:sp>
          <p:nvSpPr>
            <p:cNvPr id="26635" name="Rectangle 36">
              <a:extLst>
                <a:ext uri="{FF2B5EF4-FFF2-40B4-BE49-F238E27FC236}">
                  <a16:creationId xmlns:a16="http://schemas.microsoft.com/office/drawing/2014/main" id="{C62F25AF-0C55-B69D-6443-9BCD522912A9}"/>
                </a:ext>
              </a:extLst>
            </p:cNvPr>
            <p:cNvSpPr>
              <a:spLocks noChangeArrowheads="1"/>
            </p:cNvSpPr>
            <p:nvPr/>
          </p:nvSpPr>
          <p:spPr bwMode="auto">
            <a:xfrm>
              <a:off x="4525" y="2866"/>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36" name="Line 37">
              <a:extLst>
                <a:ext uri="{FF2B5EF4-FFF2-40B4-BE49-F238E27FC236}">
                  <a16:creationId xmlns:a16="http://schemas.microsoft.com/office/drawing/2014/main" id="{9EC0580A-D4DC-7CD8-250C-C813D16D2876}"/>
                </a:ext>
              </a:extLst>
            </p:cNvPr>
            <p:cNvSpPr>
              <a:spLocks noChangeShapeType="1"/>
            </p:cNvSpPr>
            <p:nvPr/>
          </p:nvSpPr>
          <p:spPr bwMode="auto">
            <a:xfrm>
              <a:off x="4800" y="2988"/>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7" name="Rectangle 38">
              <a:extLst>
                <a:ext uri="{FF2B5EF4-FFF2-40B4-BE49-F238E27FC236}">
                  <a16:creationId xmlns:a16="http://schemas.microsoft.com/office/drawing/2014/main" id="{6F0749BB-4829-44D9-B64D-D1C379E9FADD}"/>
                </a:ext>
              </a:extLst>
            </p:cNvPr>
            <p:cNvSpPr>
              <a:spLocks noChangeArrowheads="1"/>
            </p:cNvSpPr>
            <p:nvPr/>
          </p:nvSpPr>
          <p:spPr bwMode="auto">
            <a:xfrm>
              <a:off x="4793" y="2875"/>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:Sale</a:t>
              </a:r>
              <a:endParaRPr lang="en-US" altLang="en-US" dirty="0"/>
            </a:p>
          </p:txBody>
        </p:sp>
        <p:sp>
          <p:nvSpPr>
            <p:cNvPr id="26638" name="Rectangle 39">
              <a:extLst>
                <a:ext uri="{FF2B5EF4-FFF2-40B4-BE49-F238E27FC236}">
                  <a16:creationId xmlns:a16="http://schemas.microsoft.com/office/drawing/2014/main" id="{593FF91E-76C4-42AE-FA3F-C5D10C3B7EB9}"/>
                </a:ext>
              </a:extLst>
            </p:cNvPr>
            <p:cNvSpPr>
              <a:spLocks noChangeArrowheads="1"/>
            </p:cNvSpPr>
            <p:nvPr/>
          </p:nvSpPr>
          <p:spPr bwMode="auto">
            <a:xfrm>
              <a:off x="4511" y="3517"/>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39" name="Line 40">
              <a:extLst>
                <a:ext uri="{FF2B5EF4-FFF2-40B4-BE49-F238E27FC236}">
                  <a16:creationId xmlns:a16="http://schemas.microsoft.com/office/drawing/2014/main" id="{9C574CC9-2DC1-7963-E379-8040BE8C59E1}"/>
                </a:ext>
              </a:extLst>
            </p:cNvPr>
            <p:cNvSpPr>
              <a:spLocks noChangeShapeType="1"/>
            </p:cNvSpPr>
            <p:nvPr/>
          </p:nvSpPr>
          <p:spPr bwMode="auto">
            <a:xfrm>
              <a:off x="4705" y="3666"/>
              <a:ext cx="32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0" name="Rectangle 41">
              <a:extLst>
                <a:ext uri="{FF2B5EF4-FFF2-40B4-BE49-F238E27FC236}">
                  <a16:creationId xmlns:a16="http://schemas.microsoft.com/office/drawing/2014/main" id="{CB57B0A9-7226-D50F-1B79-0A702B5845C3}"/>
                </a:ext>
              </a:extLst>
            </p:cNvPr>
            <p:cNvSpPr>
              <a:spLocks noChangeArrowheads="1"/>
            </p:cNvSpPr>
            <p:nvPr/>
          </p:nvSpPr>
          <p:spPr bwMode="auto">
            <a:xfrm>
              <a:off x="4698" y="3512"/>
              <a:ext cx="33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:Payment</a:t>
              </a:r>
              <a:endParaRPr lang="en-US" altLang="en-US"/>
            </a:p>
          </p:txBody>
        </p:sp>
        <p:sp>
          <p:nvSpPr>
            <p:cNvPr id="26641" name="Line 42">
              <a:extLst>
                <a:ext uri="{FF2B5EF4-FFF2-40B4-BE49-F238E27FC236}">
                  <a16:creationId xmlns:a16="http://schemas.microsoft.com/office/drawing/2014/main" id="{9D21A092-BB04-9F57-3BD1-6144995852E2}"/>
                </a:ext>
              </a:extLst>
            </p:cNvPr>
            <p:cNvSpPr>
              <a:spLocks noChangeShapeType="1"/>
            </p:cNvSpPr>
            <p:nvPr/>
          </p:nvSpPr>
          <p:spPr bwMode="auto">
            <a:xfrm>
              <a:off x="2031" y="2978"/>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2" name="Rectangle 43">
              <a:extLst>
                <a:ext uri="{FF2B5EF4-FFF2-40B4-BE49-F238E27FC236}">
                  <a16:creationId xmlns:a16="http://schemas.microsoft.com/office/drawing/2014/main" id="{9716621B-6EA4-074A-F21F-E69B16F538A0}"/>
                </a:ext>
              </a:extLst>
            </p:cNvPr>
            <p:cNvSpPr>
              <a:spLocks noChangeArrowheads="1"/>
            </p:cNvSpPr>
            <p:nvPr/>
          </p:nvSpPr>
          <p:spPr bwMode="auto">
            <a:xfrm>
              <a:off x="2188" y="2823"/>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makePayment()</a:t>
              </a:r>
              <a:endParaRPr lang="en-US" altLang="en-US"/>
            </a:p>
          </p:txBody>
        </p:sp>
        <p:sp>
          <p:nvSpPr>
            <p:cNvPr id="26643" name="Line 44">
              <a:extLst>
                <a:ext uri="{FF2B5EF4-FFF2-40B4-BE49-F238E27FC236}">
                  <a16:creationId xmlns:a16="http://schemas.microsoft.com/office/drawing/2014/main" id="{970D5C01-4582-9FFA-3E60-FB2D8B0299F9}"/>
                </a:ext>
              </a:extLst>
            </p:cNvPr>
            <p:cNvSpPr>
              <a:spLocks noChangeShapeType="1"/>
            </p:cNvSpPr>
            <p:nvPr/>
          </p:nvSpPr>
          <p:spPr bwMode="auto">
            <a:xfrm>
              <a:off x="3614" y="2978"/>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4" name="Rectangle 45">
              <a:extLst>
                <a:ext uri="{FF2B5EF4-FFF2-40B4-BE49-F238E27FC236}">
                  <a16:creationId xmlns:a16="http://schemas.microsoft.com/office/drawing/2014/main" id="{2098FEC5-FF99-3E2F-F44C-25EA4D844DB7}"/>
                </a:ext>
              </a:extLst>
            </p:cNvPr>
            <p:cNvSpPr>
              <a:spLocks noChangeArrowheads="1"/>
            </p:cNvSpPr>
            <p:nvPr/>
          </p:nvSpPr>
          <p:spPr bwMode="auto">
            <a:xfrm>
              <a:off x="3741" y="2809"/>
              <a:ext cx="65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makePayment()</a:t>
              </a:r>
              <a:endParaRPr lang="en-US" altLang="en-US"/>
            </a:p>
          </p:txBody>
        </p:sp>
        <p:sp>
          <p:nvSpPr>
            <p:cNvPr id="26645" name="Line 46">
              <a:extLst>
                <a:ext uri="{FF2B5EF4-FFF2-40B4-BE49-F238E27FC236}">
                  <a16:creationId xmlns:a16="http://schemas.microsoft.com/office/drawing/2014/main" id="{5B182601-2240-10BD-D8C3-9B0C1A85918F}"/>
                </a:ext>
              </a:extLst>
            </p:cNvPr>
            <p:cNvSpPr>
              <a:spLocks noChangeShapeType="1"/>
            </p:cNvSpPr>
            <p:nvPr/>
          </p:nvSpPr>
          <p:spPr bwMode="auto">
            <a:xfrm>
              <a:off x="4869" y="3091"/>
              <a:ext cx="1" cy="426"/>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6" name="Rectangle 47">
              <a:extLst>
                <a:ext uri="{FF2B5EF4-FFF2-40B4-BE49-F238E27FC236}">
                  <a16:creationId xmlns:a16="http://schemas.microsoft.com/office/drawing/2014/main" id="{869DD8F0-B7A0-003E-A2FA-871714CCEE4B}"/>
                </a:ext>
              </a:extLst>
            </p:cNvPr>
            <p:cNvSpPr>
              <a:spLocks noChangeArrowheads="1"/>
            </p:cNvSpPr>
            <p:nvPr/>
          </p:nvSpPr>
          <p:spPr bwMode="auto">
            <a:xfrm>
              <a:off x="4309" y="3248"/>
              <a:ext cx="43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1.1. create()</a:t>
              </a:r>
              <a:endParaRPr lang="en-US" altLang="en-US"/>
            </a:p>
          </p:txBody>
        </p:sp>
        <p:sp>
          <p:nvSpPr>
            <p:cNvPr id="26647" name="Line 48">
              <a:extLst>
                <a:ext uri="{FF2B5EF4-FFF2-40B4-BE49-F238E27FC236}">
                  <a16:creationId xmlns:a16="http://schemas.microsoft.com/office/drawing/2014/main" id="{EFBE6792-B9D6-5664-FF2A-B185DA500E95}"/>
                </a:ext>
              </a:extLst>
            </p:cNvPr>
            <p:cNvSpPr>
              <a:spLocks noChangeShapeType="1"/>
            </p:cNvSpPr>
            <p:nvPr/>
          </p:nvSpPr>
          <p:spPr bwMode="auto">
            <a:xfrm>
              <a:off x="2494" y="2934"/>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8" name="Freeform 49">
              <a:extLst>
                <a:ext uri="{FF2B5EF4-FFF2-40B4-BE49-F238E27FC236}">
                  <a16:creationId xmlns:a16="http://schemas.microsoft.com/office/drawing/2014/main" id="{70E53914-5235-BA43-9FA9-4413543FFA7B}"/>
                </a:ext>
              </a:extLst>
            </p:cNvPr>
            <p:cNvSpPr>
              <a:spLocks/>
            </p:cNvSpPr>
            <p:nvPr/>
          </p:nvSpPr>
          <p:spPr bwMode="auto">
            <a:xfrm>
              <a:off x="2576" y="2925"/>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49" name="Line 50">
              <a:extLst>
                <a:ext uri="{FF2B5EF4-FFF2-40B4-BE49-F238E27FC236}">
                  <a16:creationId xmlns:a16="http://schemas.microsoft.com/office/drawing/2014/main" id="{84347112-A755-7155-B813-300B2F793D14}"/>
                </a:ext>
              </a:extLst>
            </p:cNvPr>
            <p:cNvSpPr>
              <a:spLocks noChangeShapeType="1"/>
            </p:cNvSpPr>
            <p:nvPr/>
          </p:nvSpPr>
          <p:spPr bwMode="auto">
            <a:xfrm>
              <a:off x="4018" y="2928"/>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0" name="Freeform 51">
              <a:extLst>
                <a:ext uri="{FF2B5EF4-FFF2-40B4-BE49-F238E27FC236}">
                  <a16:creationId xmlns:a16="http://schemas.microsoft.com/office/drawing/2014/main" id="{C8D4BBB1-05B1-7F36-A237-6A5DF51CB75E}"/>
                </a:ext>
              </a:extLst>
            </p:cNvPr>
            <p:cNvSpPr>
              <a:spLocks/>
            </p:cNvSpPr>
            <p:nvPr/>
          </p:nvSpPr>
          <p:spPr bwMode="auto">
            <a:xfrm>
              <a:off x="4100" y="2919"/>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51" name="Line 52">
              <a:extLst>
                <a:ext uri="{FF2B5EF4-FFF2-40B4-BE49-F238E27FC236}">
                  <a16:creationId xmlns:a16="http://schemas.microsoft.com/office/drawing/2014/main" id="{6403F96B-8204-87B8-87E3-4DA2D7EA8E24}"/>
                </a:ext>
              </a:extLst>
            </p:cNvPr>
            <p:cNvSpPr>
              <a:spLocks noChangeShapeType="1"/>
            </p:cNvSpPr>
            <p:nvPr/>
          </p:nvSpPr>
          <p:spPr bwMode="auto">
            <a:xfrm>
              <a:off x="4362" y="3323"/>
              <a:ext cx="1" cy="90"/>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2" name="Freeform 53">
              <a:extLst>
                <a:ext uri="{FF2B5EF4-FFF2-40B4-BE49-F238E27FC236}">
                  <a16:creationId xmlns:a16="http://schemas.microsoft.com/office/drawing/2014/main" id="{4E94AC13-BCDB-D18A-A916-D9302F23441F}"/>
                </a:ext>
              </a:extLst>
            </p:cNvPr>
            <p:cNvSpPr>
              <a:spLocks/>
            </p:cNvSpPr>
            <p:nvPr/>
          </p:nvSpPr>
          <p:spPr bwMode="auto">
            <a:xfrm>
              <a:off x="4361" y="3427"/>
              <a:ext cx="30" cy="45"/>
            </a:xfrm>
            <a:custGeom>
              <a:avLst/>
              <a:gdLst>
                <a:gd name="T0" fmla="*/ 0 w 30"/>
                <a:gd name="T1" fmla="*/ 0 h 45"/>
                <a:gd name="T2" fmla="*/ 15 w 30"/>
                <a:gd name="T3" fmla="*/ 45 h 45"/>
                <a:gd name="T4" fmla="*/ 30 w 30"/>
                <a:gd name="T5" fmla="*/ 0 h 45"/>
                <a:gd name="T6" fmla="*/ 0 w 30"/>
                <a:gd name="T7" fmla="*/ 0 h 45"/>
                <a:gd name="T8" fmla="*/ 0 60000 65536"/>
                <a:gd name="T9" fmla="*/ 0 60000 65536"/>
                <a:gd name="T10" fmla="*/ 0 60000 65536"/>
                <a:gd name="T11" fmla="*/ 0 60000 65536"/>
                <a:gd name="T12" fmla="*/ 0 w 30"/>
                <a:gd name="T13" fmla="*/ 0 h 45"/>
                <a:gd name="T14" fmla="*/ 30 w 30"/>
                <a:gd name="T15" fmla="*/ 45 h 45"/>
              </a:gdLst>
              <a:ahLst/>
              <a:cxnLst>
                <a:cxn ang="T8">
                  <a:pos x="T0" y="T1"/>
                </a:cxn>
                <a:cxn ang="T9">
                  <a:pos x="T2" y="T3"/>
                </a:cxn>
                <a:cxn ang="T10">
                  <a:pos x="T4" y="T5"/>
                </a:cxn>
                <a:cxn ang="T11">
                  <a:pos x="T6" y="T7"/>
                </a:cxn>
              </a:cxnLst>
              <a:rect l="T12" t="T13" r="T14" b="T15"/>
              <a:pathLst>
                <a:path w="30" h="45">
                  <a:moveTo>
                    <a:pt x="0" y="0"/>
                  </a:moveTo>
                  <a:lnTo>
                    <a:pt x="15" y="45"/>
                  </a:lnTo>
                  <a:lnTo>
                    <a:pt x="3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651" name="Rectangle 2">
            <a:extLst>
              <a:ext uri="{FF2B5EF4-FFF2-40B4-BE49-F238E27FC236}">
                <a16:creationId xmlns:a16="http://schemas.microsoft.com/office/drawing/2014/main" id="{18A1E80D-A323-21AB-3256-7D8A658CA7AF}"/>
              </a:ext>
            </a:extLst>
          </p:cNvPr>
          <p:cNvSpPr>
            <a:spLocks noGrp="1" noChangeArrowheads="1"/>
          </p:cNvSpPr>
          <p:nvPr>
            <p:ph type="title"/>
          </p:nvPr>
        </p:nvSpPr>
        <p:spPr>
          <a:xfrm>
            <a:off x="5868557" y="1138036"/>
            <a:ext cx="5444382" cy="1402470"/>
          </a:xfrm>
        </p:spPr>
        <p:txBody>
          <a:bodyPr anchor="t">
            <a:normAutofit/>
          </a:bodyPr>
          <a:lstStyle/>
          <a:p>
            <a:r>
              <a:rPr lang="en-US" altLang="en-US" sz="3200"/>
              <a:t>Low Coupling</a:t>
            </a:r>
          </a:p>
        </p:txBody>
      </p:sp>
      <p:pic>
        <p:nvPicPr>
          <p:cNvPr id="27654" name="Picture 27653" descr="A gold and silver sphere balancing on a platform">
            <a:extLst>
              <a:ext uri="{FF2B5EF4-FFF2-40B4-BE49-F238E27FC236}">
                <a16:creationId xmlns:a16="http://schemas.microsoft.com/office/drawing/2014/main" id="{8F99A586-1470-1C49-644E-C5676A3C12EE}"/>
              </a:ext>
            </a:extLst>
          </p:cNvPr>
          <p:cNvPicPr>
            <a:picLocks noChangeAspect="1"/>
          </p:cNvPicPr>
          <p:nvPr/>
        </p:nvPicPr>
        <p:blipFill rotWithShape="1">
          <a:blip r:embed="rId3"/>
          <a:srcRect r="43666"/>
          <a:stretch/>
        </p:blipFill>
        <p:spPr>
          <a:xfrm>
            <a:off x="-1" y="10"/>
            <a:ext cx="5151179" cy="6857990"/>
          </a:xfrm>
          <a:prstGeom prst="rect">
            <a:avLst/>
          </a:prstGeom>
        </p:spPr>
      </p:pic>
      <p:cxnSp>
        <p:nvCxnSpPr>
          <p:cNvPr id="27658" name="Straight Connector 27657">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7652" name="Rectangle 3">
            <a:extLst>
              <a:ext uri="{FF2B5EF4-FFF2-40B4-BE49-F238E27FC236}">
                <a16:creationId xmlns:a16="http://schemas.microsoft.com/office/drawing/2014/main" id="{33CE3F2F-46BA-281F-4E8C-AB33ADF26B5D}"/>
              </a:ext>
            </a:extLst>
          </p:cNvPr>
          <p:cNvSpPr>
            <a:spLocks noGrp="1" noChangeArrowheads="1"/>
          </p:cNvSpPr>
          <p:nvPr>
            <p:ph type="body" idx="1"/>
          </p:nvPr>
        </p:nvSpPr>
        <p:spPr>
          <a:xfrm>
            <a:off x="5868556" y="2551176"/>
            <a:ext cx="6165399" cy="3591207"/>
          </a:xfrm>
        </p:spPr>
        <p:txBody>
          <a:bodyPr>
            <a:normAutofit/>
          </a:bodyPr>
          <a:lstStyle/>
          <a:p>
            <a:pPr marL="342900" indent="-342900"/>
            <a:r>
              <a:rPr lang="en-US" altLang="en-US" sz="2000" dirty="0"/>
              <a:t>Consequences:</a:t>
            </a:r>
          </a:p>
          <a:p>
            <a:pPr marL="742950" lvl="1" indent="-285750"/>
            <a:r>
              <a:rPr lang="en-US" altLang="en-US" sz="2000" dirty="0"/>
              <a:t>Not affected by changes in other components</a:t>
            </a:r>
          </a:p>
          <a:p>
            <a:pPr marL="742950" lvl="1" indent="-285750"/>
            <a:endParaRPr lang="en-US" altLang="en-US" sz="2000" dirty="0"/>
          </a:p>
          <a:p>
            <a:pPr marL="742950" lvl="1" indent="-285750"/>
            <a:r>
              <a:rPr lang="en-US" altLang="en-US" sz="2000" dirty="0"/>
              <a:t>Simple to understand</a:t>
            </a:r>
          </a:p>
          <a:p>
            <a:pPr marL="457200" lvl="1" indent="0">
              <a:buNone/>
            </a:pPr>
            <a:endParaRPr lang="en-US" altLang="en-US" sz="2000" dirty="0"/>
          </a:p>
          <a:p>
            <a:pPr marL="742950" lvl="1" indent="-285750"/>
            <a:r>
              <a:rPr lang="en-US" altLang="en-US" sz="2000" dirty="0"/>
              <a:t>Convenient to reuse</a:t>
            </a:r>
          </a:p>
        </p:txBody>
      </p:sp>
      <p:sp>
        <p:nvSpPr>
          <p:cNvPr id="27650" name="Slide Number Placeholder 3">
            <a:extLst>
              <a:ext uri="{FF2B5EF4-FFF2-40B4-BE49-F238E27FC236}">
                <a16:creationId xmlns:a16="http://schemas.microsoft.com/office/drawing/2014/main" id="{10220430-003F-1574-CD36-5C53AE5B8C2B}"/>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3C4BCF3E-D5E7-4169-BCAE-C71DA6307CD0}" type="slidenum">
              <a:rPr lang="de-DE" altLang="en-US" sz="1900">
                <a:solidFill>
                  <a:schemeClr val="tx1">
                    <a:lumMod val="50000"/>
                    <a:lumOff val="50000"/>
                  </a:schemeClr>
                </a:solidFill>
              </a:rPr>
              <a:pPr>
                <a:lnSpc>
                  <a:spcPct val="90000"/>
                </a:lnSpc>
                <a:spcAft>
                  <a:spcPts val="600"/>
                </a:spcAft>
              </a:pPr>
              <a:t>17</a:t>
            </a:fld>
            <a:endParaRPr lang="de-DE" altLang="en-US" sz="1900">
              <a:solidFill>
                <a:schemeClr val="tx1">
                  <a:lumMod val="50000"/>
                  <a:lumOff val="50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a:xfrm>
            <a:off x="910119" y="572569"/>
            <a:ext cx="3380527" cy="1642956"/>
          </a:xfrm>
        </p:spPr>
        <p:txBody>
          <a:bodyPr anchor="b">
            <a:normAutofit/>
          </a:bodyPr>
          <a:lstStyle/>
          <a:p>
            <a:r>
              <a:rPr lang="en-US" altLang="en-US" sz="3600" dirty="0">
                <a:solidFill>
                  <a:schemeClr val="tx2"/>
                </a:solidFill>
              </a:rPr>
              <a:t>Example: Domain Model Diagram</a:t>
            </a:r>
          </a:p>
        </p:txBody>
      </p:sp>
      <p:sp>
        <p:nvSpPr>
          <p:cNvPr id="4" name="Slide Number Placeholder 3"/>
          <p:cNvSpPr>
            <a:spLocks noGrp="1"/>
          </p:cNvSpPr>
          <p:nvPr>
            <p:ph type="sldNum" sz="quarter" idx="10"/>
          </p:nvPr>
        </p:nvSpPr>
        <p:spPr>
          <a:xfrm>
            <a:off x="11445238" y="6356350"/>
            <a:ext cx="54864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CABEAC46-B3E9-42FD-B02C-5AE907EC9AF9}" type="slidenum">
              <a:rPr kumimoji="0" lang="de-DE" sz="1200" b="0" i="0" u="none" strike="noStrike" kern="1200" cap="none" spc="0" normalizeH="0" baseline="0" noProof="0">
                <a:ln>
                  <a:noFill/>
                </a:ln>
                <a:solidFill>
                  <a:srgbClr val="44546A"/>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18</a:t>
            </a:fld>
            <a:endParaRPr kumimoji="0" lang="de-DE" sz="1200" b="0" i="0" u="none" strike="noStrike" kern="1200" cap="none" spc="0" normalizeH="0" baseline="0" noProof="0">
              <a:ln>
                <a:noFill/>
              </a:ln>
              <a:solidFill>
                <a:srgbClr val="44546A"/>
              </a:solidFill>
              <a:effectLst/>
              <a:uLnTx/>
              <a:uFillTx/>
              <a:latin typeface="Calibri" panose="020F0502020204030204"/>
              <a:ea typeface="+mn-ea"/>
              <a:cs typeface="+mn-cs"/>
            </a:endParaRPr>
          </a:p>
        </p:txBody>
      </p:sp>
      <p:grpSp>
        <p:nvGrpSpPr>
          <p:cNvPr id="1028" name="Group 4"/>
          <p:cNvGrpSpPr>
            <a:grpSpLocks noChangeAspect="1"/>
          </p:cNvGrpSpPr>
          <p:nvPr/>
        </p:nvGrpSpPr>
        <p:grpSpPr bwMode="auto">
          <a:xfrm>
            <a:off x="5139176" y="609600"/>
            <a:ext cx="6298079" cy="5638800"/>
            <a:chOff x="863" y="962"/>
            <a:chExt cx="3697" cy="3310"/>
          </a:xfrm>
        </p:grpSpPr>
        <p:sp>
          <p:nvSpPr>
            <p:cNvPr id="1027" name="AutoShape 3"/>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9" name="Rectangle 5"/>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0" name="Rectangle 6"/>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register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1" name="Rectangle 7"/>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2" name="Rectangle 8"/>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3" name="Rectangle 9"/>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4" name="Rectangle 10"/>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5" name="Rectangle 11"/>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6" name="Rectangle 12"/>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Store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7" name="Rectangle 13"/>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8" name="Rectangle 14"/>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address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9" name="Rectangle 15"/>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name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0" name="Rectangle 16"/>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1" name="Rectangle 17"/>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Sale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2" name="Rectangle 18"/>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3" name="Rectangle 19"/>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date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4" name="Rectangle 20"/>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time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5" name="Rectangle 21"/>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6" name="Rectangle 22"/>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Payment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7" name="Rectangle 23"/>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8" name="Rectangle 24"/>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amount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9" name="Rectangle 25"/>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0" name="Rectangle 26"/>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Sales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1" name="Rectangle 27"/>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LineItem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2" name="Rectangle 28"/>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3" name="Rectangle 29"/>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quantity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4" name="Rectangle 30"/>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5" name="Rectangle 31"/>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Cashier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6" name="Rectangle 32"/>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7" name="Rectangle 33"/>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8" name="Rectangle 34"/>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Customer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9" name="Rectangle 35"/>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0" name="Rectangle 36"/>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1" name="Rectangle 37"/>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Manager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2" name="Rectangle 38"/>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3" name="Rectangle 39"/>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4" name="Rectangle 40"/>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5" name="Rectangle 41"/>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Catalog</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6" name="Rectangle 42"/>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7" name="Rectangle 43"/>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8" name="Rectangle 44"/>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9" name="Rectangle 45"/>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Specification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0" name="Rectangle 46"/>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1" name="Rectangle 47"/>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description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2" name="Rectangle 48"/>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price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3" name="Rectangle 49"/>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UPC</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4" name="Line 50"/>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5" name="Rectangle 51"/>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Stocks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6" name="Rectangle 52"/>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7" name="Line 53"/>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8" name="Rectangle 54"/>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Houses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9" name="Rectangle 55"/>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0" name="Rectangle 56"/>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1" name="Line 57"/>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2" name="Rectangle 58"/>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Used-by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3" name="Rectangle 59"/>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4" name="Line 60"/>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5" name="Rectangle 61"/>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Contains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6" name="Rectangle 62"/>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7" name="Rectangle 63"/>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8" name="Line 64"/>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9" name="Rectangle 65"/>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Describes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0" name="Rectangle 66"/>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1" name="Line 67"/>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2" name="Rectangle 68"/>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Captured-on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3" name="Line 69"/>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4" name="Rectangle 70"/>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Contained-in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5" name="Rectangle 71"/>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6" name="Rectangle 72"/>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7" name="Freeform 73"/>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8" name="Rectangle 74"/>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Described-by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9" name="Rectangle 75"/>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0" name="Freeform 76"/>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1" name="Rectangle 77"/>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Records-sale-of</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2" name="Rectangle 78"/>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0..1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3" name="Line 79"/>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4" name="Rectangle 80"/>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Started-by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5" name="Freeform 81"/>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6" name="Rectangle 82"/>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Paid-by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7" name="Freeform 83"/>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8" name="Rectangle 84"/>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Initiated-by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9" name="Freeform 85"/>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0" name="Rectangle 86"/>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Logs-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1" name="Rectangle 87"/>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completed</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2" name="Rectangle 88"/>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6</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3" name="Rectangle 89"/>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4" name="Freeform 90"/>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5" name="Rectangle 91"/>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3</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6" name="Rectangle 92"/>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 Records-sales-on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7" name="Rectangle 93"/>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8" name="Rectangle 94"/>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9" name="Rectangle 95"/>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0" name="Rectangle 96"/>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1" name="Rectangle 97"/>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2" name="Rectangle 98"/>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3" name="Rectangle 99"/>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4" name="Rectangle 100"/>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5" name="Rectangle 101"/>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6" name="Rectangle 102"/>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7" name="Rectangle 103"/>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8" name="Rectangle 104"/>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9" name="Rectangle 105"/>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0" name="Rectangle 106"/>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1" name="Rectangle 107"/>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2" name="Rectangle 108"/>
            <p:cNvSpPr>
              <a:spLocks noChangeArrowheads="1"/>
            </p:cNvSpPr>
            <p:nvPr/>
          </p:nvSpPr>
          <p:spPr bwMode="auto">
            <a:xfrm>
              <a:off x="1873"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3" name="Rectangle 109"/>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4" name="Rectangle 110"/>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grpSp>
    </p:spTree>
    <p:extLst>
      <p:ext uri="{BB962C8B-B14F-4D97-AF65-F5344CB8AC3E}">
        <p14:creationId xmlns:p14="http://schemas.microsoft.com/office/powerpoint/2010/main" val="40813639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696" name="Rectangle 28695">
            <a:extLst>
              <a:ext uri="{FF2B5EF4-FFF2-40B4-BE49-F238E27FC236}">
                <a16:creationId xmlns:a16="http://schemas.microsoft.com/office/drawing/2014/main" id="{57F72BCA-EE24-40BE-9ECA-E10C9BA55F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75" name="Rectangle 2">
            <a:extLst>
              <a:ext uri="{FF2B5EF4-FFF2-40B4-BE49-F238E27FC236}">
                <a16:creationId xmlns:a16="http://schemas.microsoft.com/office/drawing/2014/main" id="{52C14DC4-565E-5A54-7524-7F7FFE563663}"/>
              </a:ext>
            </a:extLst>
          </p:cNvPr>
          <p:cNvSpPr>
            <a:spLocks noGrp="1" noChangeArrowheads="1"/>
          </p:cNvSpPr>
          <p:nvPr>
            <p:ph type="title"/>
          </p:nvPr>
        </p:nvSpPr>
        <p:spPr>
          <a:xfrm>
            <a:off x="6775703" y="566928"/>
            <a:ext cx="4578337" cy="1161288"/>
          </a:xfrm>
        </p:spPr>
        <p:txBody>
          <a:bodyPr anchor="b">
            <a:normAutofit/>
          </a:bodyPr>
          <a:lstStyle/>
          <a:p>
            <a:r>
              <a:rPr lang="en-US" altLang="en-US" sz="3600"/>
              <a:t>High Cohesion…</a:t>
            </a:r>
          </a:p>
        </p:txBody>
      </p:sp>
      <p:pic>
        <p:nvPicPr>
          <p:cNvPr id="3" name="Picture 2">
            <a:extLst>
              <a:ext uri="{FF2B5EF4-FFF2-40B4-BE49-F238E27FC236}">
                <a16:creationId xmlns:a16="http://schemas.microsoft.com/office/drawing/2014/main" id="{36F123F4-6B55-77F4-C184-A580CF4C9A81}"/>
              </a:ext>
            </a:extLst>
          </p:cNvPr>
          <p:cNvPicPr>
            <a:picLocks noChangeAspect="1"/>
          </p:cNvPicPr>
          <p:nvPr/>
        </p:nvPicPr>
        <p:blipFill rotWithShape="1">
          <a:blip r:embed="rId3"/>
          <a:srcRect r="1" b="1044"/>
          <a:stretch/>
        </p:blipFill>
        <p:spPr>
          <a:xfrm>
            <a:off x="838199" y="566928"/>
            <a:ext cx="5157216" cy="5285232"/>
          </a:xfrm>
          <a:prstGeom prst="rect">
            <a:avLst/>
          </a:prstGeom>
        </p:spPr>
      </p:pic>
      <p:sp>
        <p:nvSpPr>
          <p:cNvPr id="28676" name="Rectangle 3">
            <a:extLst>
              <a:ext uri="{FF2B5EF4-FFF2-40B4-BE49-F238E27FC236}">
                <a16:creationId xmlns:a16="http://schemas.microsoft.com/office/drawing/2014/main" id="{C719C942-CBA9-5082-4F24-0E1454D1547A}"/>
              </a:ext>
            </a:extLst>
          </p:cNvPr>
          <p:cNvSpPr>
            <a:spLocks noGrp="1" noChangeArrowheads="1"/>
          </p:cNvSpPr>
          <p:nvPr>
            <p:ph type="body" idx="1"/>
          </p:nvPr>
        </p:nvSpPr>
        <p:spPr>
          <a:xfrm>
            <a:off x="6096000" y="2057400"/>
            <a:ext cx="5634446" cy="3776472"/>
          </a:xfrm>
        </p:spPr>
        <p:txBody>
          <a:bodyPr>
            <a:normAutofit/>
          </a:bodyPr>
          <a:lstStyle/>
          <a:p>
            <a:pPr marL="342900" indent="-342900"/>
            <a:r>
              <a:rPr lang="en-US" altLang="en-US" sz="2400" dirty="0"/>
              <a:t>Intent:</a:t>
            </a:r>
          </a:p>
          <a:p>
            <a:pPr marL="742950" lvl="1" indent="-285750"/>
            <a:r>
              <a:rPr lang="en-US" altLang="en-US" dirty="0"/>
              <a:t>Assign a responsibility so that cohesion remains high</a:t>
            </a:r>
          </a:p>
          <a:p>
            <a:pPr marL="457200" lvl="1" indent="0">
              <a:buNone/>
            </a:pPr>
            <a:endParaRPr lang="en-US" altLang="en-US" dirty="0"/>
          </a:p>
          <a:p>
            <a:pPr marL="342900" indent="-342900"/>
            <a:r>
              <a:rPr lang="en-US" altLang="en-US" sz="2400" dirty="0"/>
              <a:t>Problem:</a:t>
            </a:r>
          </a:p>
          <a:p>
            <a:pPr marL="742950" lvl="1" indent="-285750"/>
            <a:r>
              <a:rPr lang="en-US" altLang="en-US" dirty="0"/>
              <a:t>How to keep </a:t>
            </a:r>
            <a:r>
              <a:rPr lang="en-US" altLang="en-US" b="1" dirty="0"/>
              <a:t>complexity manageable</a:t>
            </a:r>
          </a:p>
          <a:p>
            <a:pPr marL="742950" lvl="1" indent="-285750"/>
            <a:r>
              <a:rPr lang="en-US" altLang="en-US" dirty="0"/>
              <a:t>In OO, cohesion is a measure of how strongly related and focused the responsibilities of a class are</a:t>
            </a:r>
          </a:p>
          <a:p>
            <a:pPr marL="742950" lvl="1" indent="-285750"/>
            <a:endParaRPr lang="en-US" altLang="en-US" sz="1800" dirty="0"/>
          </a:p>
        </p:txBody>
      </p:sp>
      <p:sp>
        <p:nvSpPr>
          <p:cNvPr id="28698" name="Rectangle 28697">
            <a:extLst>
              <a:ext uri="{FF2B5EF4-FFF2-40B4-BE49-F238E27FC236}">
                <a16:creationId xmlns:a16="http://schemas.microsoft.com/office/drawing/2014/main" id="{6B3C4597-DD46-4BFC-B999-C52879B95B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6112341"/>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8700" name="Rectangle 28699">
            <a:extLst>
              <a:ext uri="{FF2B5EF4-FFF2-40B4-BE49-F238E27FC236}">
                <a16:creationId xmlns:a16="http://schemas.microsoft.com/office/drawing/2014/main" id="{632B59AC-0160-4F1D-934F-B7D8B6AE44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034272" y="3817404"/>
            <a:ext cx="54864" cy="457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8674" name="Slide Number Placeholder 3">
            <a:extLst>
              <a:ext uri="{FF2B5EF4-FFF2-40B4-BE49-F238E27FC236}">
                <a16:creationId xmlns:a16="http://schemas.microsoft.com/office/drawing/2014/main" id="{00A5D6C7-3405-08BA-B096-0E4200C0F434}"/>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5926777F-C384-4E90-97EC-5CF933AF3A10}" type="slidenum">
              <a:rPr lang="de-DE" altLang="en-US" sz="1900">
                <a:solidFill>
                  <a:schemeClr val="tx1">
                    <a:lumMod val="50000"/>
                    <a:lumOff val="50000"/>
                  </a:schemeClr>
                </a:solidFill>
              </a:rPr>
              <a:pPr>
                <a:lnSpc>
                  <a:spcPct val="90000"/>
                </a:lnSpc>
                <a:spcAft>
                  <a:spcPts val="600"/>
                </a:spcAft>
              </a:pPr>
              <a:t>19</a:t>
            </a:fld>
            <a:endParaRPr lang="de-DE" altLang="en-US" sz="1900">
              <a:solidFill>
                <a:schemeClr val="tx1">
                  <a:lumMod val="50000"/>
                  <a:lumOff val="50000"/>
                </a:schemeClr>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3">
            <a:extLst>
              <a:ext uri="{FF2B5EF4-FFF2-40B4-BE49-F238E27FC236}">
                <a16:creationId xmlns:a16="http://schemas.microsoft.com/office/drawing/2014/main" id="{051BADBA-0C09-3E13-0D95-4E43DBF84C44}"/>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162FE9B4-EF57-46E1-917A-7CB845E837F1}" type="slidenum">
              <a:rPr lang="de-DE" altLang="en-US" sz="1000"/>
              <a:pPr/>
              <a:t>20</a:t>
            </a:fld>
            <a:endParaRPr lang="de-DE" altLang="en-US" sz="1000"/>
          </a:p>
        </p:txBody>
      </p:sp>
      <p:sp>
        <p:nvSpPr>
          <p:cNvPr id="29699" name="Rectangle 2">
            <a:extLst>
              <a:ext uri="{FF2B5EF4-FFF2-40B4-BE49-F238E27FC236}">
                <a16:creationId xmlns:a16="http://schemas.microsoft.com/office/drawing/2014/main" id="{B430E8A2-1EB2-4C11-B059-723EA571D65A}"/>
              </a:ext>
            </a:extLst>
          </p:cNvPr>
          <p:cNvSpPr>
            <a:spLocks noGrp="1" noChangeArrowheads="1"/>
          </p:cNvSpPr>
          <p:nvPr>
            <p:ph type="title"/>
          </p:nvPr>
        </p:nvSpPr>
        <p:spPr/>
        <p:txBody>
          <a:bodyPr/>
          <a:lstStyle/>
          <a:p>
            <a:r>
              <a:rPr lang="en-US" altLang="en-US"/>
              <a:t>High Cohesion – Example…</a:t>
            </a:r>
          </a:p>
        </p:txBody>
      </p:sp>
      <p:sp>
        <p:nvSpPr>
          <p:cNvPr id="29700" name="Rectangle 3">
            <a:extLst>
              <a:ext uri="{FF2B5EF4-FFF2-40B4-BE49-F238E27FC236}">
                <a16:creationId xmlns:a16="http://schemas.microsoft.com/office/drawing/2014/main" id="{140C6E7D-884A-D44A-4989-D202411AB2F0}"/>
              </a:ext>
            </a:extLst>
          </p:cNvPr>
          <p:cNvSpPr>
            <a:spLocks noGrp="1" noChangeArrowheads="1"/>
          </p:cNvSpPr>
          <p:nvPr>
            <p:ph type="body" idx="1"/>
          </p:nvPr>
        </p:nvSpPr>
        <p:spPr>
          <a:xfrm>
            <a:off x="1519236" y="1620839"/>
            <a:ext cx="10119607" cy="4419600"/>
          </a:xfrm>
        </p:spPr>
        <p:txBody>
          <a:bodyPr/>
          <a:lstStyle/>
          <a:p>
            <a:pPr marL="342900" indent="-342900"/>
            <a:r>
              <a:rPr lang="en-US" altLang="en-US" dirty="0"/>
              <a:t>Examine previous example for high cohesion.</a:t>
            </a:r>
          </a:p>
          <a:p>
            <a:pPr marL="342900" indent="-342900"/>
            <a:r>
              <a:rPr lang="en-US" altLang="en-US" dirty="0"/>
              <a:t>We need to create </a:t>
            </a:r>
            <a:r>
              <a:rPr lang="en-US" altLang="en-US" i="1" dirty="0"/>
              <a:t>Payment</a:t>
            </a:r>
            <a:r>
              <a:rPr lang="en-US" altLang="en-US" dirty="0"/>
              <a:t> instance and associate it with </a:t>
            </a:r>
            <a:r>
              <a:rPr lang="en-US" altLang="en-US" i="1" dirty="0"/>
              <a:t>Sale</a:t>
            </a:r>
            <a:r>
              <a:rPr lang="en-US" altLang="en-US" dirty="0"/>
              <a:t>.</a:t>
            </a:r>
          </a:p>
          <a:p>
            <a:pPr marL="342900" indent="-342900"/>
            <a:r>
              <a:rPr lang="en-US" altLang="en-US" dirty="0"/>
              <a:t>What class is responsible?</a:t>
            </a:r>
          </a:p>
          <a:p>
            <a:pPr marL="342900" indent="-342900"/>
            <a:r>
              <a:rPr lang="en-US" altLang="en-US" i="1" dirty="0"/>
              <a:t>Register</a:t>
            </a:r>
            <a:r>
              <a:rPr lang="en-US" altLang="en-US" dirty="0"/>
              <a:t> records </a:t>
            </a:r>
            <a:r>
              <a:rPr lang="en-US" altLang="en-US" i="1" dirty="0"/>
              <a:t>Payment</a:t>
            </a:r>
            <a:r>
              <a:rPr lang="en-US" altLang="en-US" dirty="0"/>
              <a:t> so </a:t>
            </a:r>
            <a:r>
              <a:rPr lang="en-US" altLang="en-US" dirty="0">
                <a:solidFill>
                  <a:srgbClr val="FF0000"/>
                </a:solidFill>
              </a:rPr>
              <a:t>Creator</a:t>
            </a:r>
            <a:r>
              <a:rPr lang="en-US" altLang="en-US" dirty="0"/>
              <a:t> suggests </a:t>
            </a:r>
            <a:r>
              <a:rPr lang="en-US" altLang="en-US" i="1" dirty="0"/>
              <a:t>Register</a:t>
            </a:r>
            <a:r>
              <a:rPr lang="en-US" altLang="en-US" dirty="0"/>
              <a:t> for creating </a:t>
            </a:r>
            <a:r>
              <a:rPr lang="en-US" altLang="en-US" i="1" dirty="0"/>
              <a:t>Payment</a:t>
            </a:r>
            <a:r>
              <a:rPr lang="en-US" altLang="en-US" dirty="0"/>
              <a:t>. </a:t>
            </a:r>
            <a:r>
              <a:rPr lang="en-US" altLang="en-US" i="1" dirty="0"/>
              <a:t>Register</a:t>
            </a:r>
            <a:r>
              <a:rPr lang="en-US" altLang="en-US" dirty="0"/>
              <a:t> could then send </a:t>
            </a:r>
            <a:r>
              <a:rPr lang="en-US" altLang="en-US" i="1" dirty="0" err="1"/>
              <a:t>addPayment</a:t>
            </a:r>
            <a:r>
              <a:rPr lang="en-US" altLang="en-US" dirty="0"/>
              <a:t> message to </a:t>
            </a:r>
            <a:r>
              <a:rPr lang="en-US" altLang="en-US" i="1" dirty="0"/>
              <a:t>Sale</a:t>
            </a:r>
            <a:r>
              <a:rPr lang="en-US" altLang="en-US" dirty="0"/>
              <a:t>, passing </a:t>
            </a:r>
            <a:r>
              <a:rPr lang="en-US" altLang="en-US" i="1" dirty="0"/>
              <a:t>Payment</a:t>
            </a:r>
            <a:r>
              <a:rPr lang="en-US" altLang="en-US" dirty="0"/>
              <a:t> as parameter.</a:t>
            </a:r>
          </a:p>
        </p:txBody>
      </p:sp>
      <p:grpSp>
        <p:nvGrpSpPr>
          <p:cNvPr id="29701" name="Group 8">
            <a:extLst>
              <a:ext uri="{FF2B5EF4-FFF2-40B4-BE49-F238E27FC236}">
                <a16:creationId xmlns:a16="http://schemas.microsoft.com/office/drawing/2014/main" id="{D3FAA509-85B8-6563-2917-308573141BE7}"/>
              </a:ext>
            </a:extLst>
          </p:cNvPr>
          <p:cNvGrpSpPr>
            <a:grpSpLocks noChangeAspect="1"/>
          </p:cNvGrpSpPr>
          <p:nvPr/>
        </p:nvGrpSpPr>
        <p:grpSpPr bwMode="auto">
          <a:xfrm>
            <a:off x="3797300" y="5175251"/>
            <a:ext cx="5945188" cy="1357313"/>
            <a:chOff x="2031" y="1363"/>
            <a:chExt cx="3745" cy="855"/>
          </a:xfrm>
        </p:grpSpPr>
        <p:sp>
          <p:nvSpPr>
            <p:cNvPr id="29702" name="AutoShape 7">
              <a:extLst>
                <a:ext uri="{FF2B5EF4-FFF2-40B4-BE49-F238E27FC236}">
                  <a16:creationId xmlns:a16="http://schemas.microsoft.com/office/drawing/2014/main" id="{FCA3E93E-9AEE-8CED-FDC8-62C843319285}"/>
                </a:ext>
              </a:extLst>
            </p:cNvPr>
            <p:cNvSpPr>
              <a:spLocks noChangeAspect="1" noChangeArrowheads="1" noTextEdit="1"/>
            </p:cNvSpPr>
            <p:nvPr/>
          </p:nvSpPr>
          <p:spPr bwMode="auto">
            <a:xfrm>
              <a:off x="2557" y="1363"/>
              <a:ext cx="3219" cy="79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9703" name="Rectangle 9">
              <a:extLst>
                <a:ext uri="{FF2B5EF4-FFF2-40B4-BE49-F238E27FC236}">
                  <a16:creationId xmlns:a16="http://schemas.microsoft.com/office/drawing/2014/main" id="{C007A7B0-6405-EF1B-D772-BBA3F7CBBDD7}"/>
                </a:ext>
              </a:extLst>
            </p:cNvPr>
            <p:cNvSpPr>
              <a:spLocks noChangeArrowheads="1"/>
            </p:cNvSpPr>
            <p:nvPr/>
          </p:nvSpPr>
          <p:spPr bwMode="auto">
            <a:xfrm>
              <a:off x="2897"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04" name="Line 10">
              <a:extLst>
                <a:ext uri="{FF2B5EF4-FFF2-40B4-BE49-F238E27FC236}">
                  <a16:creationId xmlns:a16="http://schemas.microsoft.com/office/drawing/2014/main" id="{72EE64E8-CEAD-316A-B5AB-9B9B30284B7A}"/>
                </a:ext>
              </a:extLst>
            </p:cNvPr>
            <p:cNvSpPr>
              <a:spLocks noChangeShapeType="1"/>
            </p:cNvSpPr>
            <p:nvPr/>
          </p:nvSpPr>
          <p:spPr bwMode="auto">
            <a:xfrm>
              <a:off x="3144" y="1672"/>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5" name="Rectangle 11">
              <a:extLst>
                <a:ext uri="{FF2B5EF4-FFF2-40B4-BE49-F238E27FC236}">
                  <a16:creationId xmlns:a16="http://schemas.microsoft.com/office/drawing/2014/main" id="{1193D3D5-B136-7A2D-8919-ECEB778F57F9}"/>
                </a:ext>
              </a:extLst>
            </p:cNvPr>
            <p:cNvSpPr>
              <a:spLocks noChangeArrowheads="1"/>
            </p:cNvSpPr>
            <p:nvPr/>
          </p:nvSpPr>
          <p:spPr bwMode="auto">
            <a:xfrm>
              <a:off x="3137" y="1532"/>
              <a:ext cx="32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:Register</a:t>
              </a:r>
              <a:endParaRPr lang="en-US" altLang="en-US" dirty="0"/>
            </a:p>
          </p:txBody>
        </p:sp>
        <p:sp>
          <p:nvSpPr>
            <p:cNvPr id="29706" name="Rectangle 12">
              <a:extLst>
                <a:ext uri="{FF2B5EF4-FFF2-40B4-BE49-F238E27FC236}">
                  <a16:creationId xmlns:a16="http://schemas.microsoft.com/office/drawing/2014/main" id="{13F1B42B-DC88-C885-5B14-854FD2D79615}"/>
                </a:ext>
              </a:extLst>
            </p:cNvPr>
            <p:cNvSpPr>
              <a:spLocks noChangeArrowheads="1"/>
            </p:cNvSpPr>
            <p:nvPr/>
          </p:nvSpPr>
          <p:spPr bwMode="auto">
            <a:xfrm>
              <a:off x="4511"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07" name="Line 13">
              <a:extLst>
                <a:ext uri="{FF2B5EF4-FFF2-40B4-BE49-F238E27FC236}">
                  <a16:creationId xmlns:a16="http://schemas.microsoft.com/office/drawing/2014/main" id="{D1B47B46-6990-BB55-6DC2-726EC7E8D88C}"/>
                </a:ext>
              </a:extLst>
            </p:cNvPr>
            <p:cNvSpPr>
              <a:spLocks noChangeShapeType="1"/>
            </p:cNvSpPr>
            <p:nvPr/>
          </p:nvSpPr>
          <p:spPr bwMode="auto">
            <a:xfrm>
              <a:off x="4660" y="1672"/>
              <a:ext cx="41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8" name="Rectangle 14">
              <a:extLst>
                <a:ext uri="{FF2B5EF4-FFF2-40B4-BE49-F238E27FC236}">
                  <a16:creationId xmlns:a16="http://schemas.microsoft.com/office/drawing/2014/main" id="{D981A6E0-F50E-43AE-A047-AB6D6DD1B623}"/>
                </a:ext>
              </a:extLst>
            </p:cNvPr>
            <p:cNvSpPr>
              <a:spLocks noChangeArrowheads="1"/>
            </p:cNvSpPr>
            <p:nvPr/>
          </p:nvSpPr>
          <p:spPr bwMode="auto">
            <a:xfrm>
              <a:off x="4624" y="1541"/>
              <a:ext cx="42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p : Payment</a:t>
              </a:r>
              <a:endParaRPr lang="en-US" altLang="en-US" dirty="0"/>
            </a:p>
          </p:txBody>
        </p:sp>
        <p:sp>
          <p:nvSpPr>
            <p:cNvPr id="29709" name="Rectangle 15">
              <a:extLst>
                <a:ext uri="{FF2B5EF4-FFF2-40B4-BE49-F238E27FC236}">
                  <a16:creationId xmlns:a16="http://schemas.microsoft.com/office/drawing/2014/main" id="{EF331B42-905C-6B45-7394-6D543CBC1FCD}"/>
                </a:ext>
              </a:extLst>
            </p:cNvPr>
            <p:cNvSpPr>
              <a:spLocks noChangeArrowheads="1"/>
            </p:cNvSpPr>
            <p:nvPr/>
          </p:nvSpPr>
          <p:spPr bwMode="auto">
            <a:xfrm>
              <a:off x="4511" y="1994"/>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10" name="Line 16">
              <a:extLst>
                <a:ext uri="{FF2B5EF4-FFF2-40B4-BE49-F238E27FC236}">
                  <a16:creationId xmlns:a16="http://schemas.microsoft.com/office/drawing/2014/main" id="{BBEB3DD2-040E-33D0-746C-19A22866F925}"/>
                </a:ext>
              </a:extLst>
            </p:cNvPr>
            <p:cNvSpPr>
              <a:spLocks noChangeShapeType="1"/>
            </p:cNvSpPr>
            <p:nvPr/>
          </p:nvSpPr>
          <p:spPr bwMode="auto">
            <a:xfrm>
              <a:off x="4779" y="2143"/>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1" name="Rectangle 17">
              <a:extLst>
                <a:ext uri="{FF2B5EF4-FFF2-40B4-BE49-F238E27FC236}">
                  <a16:creationId xmlns:a16="http://schemas.microsoft.com/office/drawing/2014/main" id="{A44EDC0A-48F8-BC00-8EA6-4BA3C3FFB6DB}"/>
                </a:ext>
              </a:extLst>
            </p:cNvPr>
            <p:cNvSpPr>
              <a:spLocks noChangeArrowheads="1"/>
            </p:cNvSpPr>
            <p:nvPr/>
          </p:nvSpPr>
          <p:spPr bwMode="auto">
            <a:xfrm>
              <a:off x="4779" y="1975"/>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a:t>
              </a:r>
              <a:endParaRPr lang="en-US" altLang="en-US"/>
            </a:p>
          </p:txBody>
        </p:sp>
        <p:sp>
          <p:nvSpPr>
            <p:cNvPr id="29712" name="Line 18">
              <a:extLst>
                <a:ext uri="{FF2B5EF4-FFF2-40B4-BE49-F238E27FC236}">
                  <a16:creationId xmlns:a16="http://schemas.microsoft.com/office/drawing/2014/main" id="{524C7CD3-50AA-122B-19A7-03451CD63579}"/>
                </a:ext>
              </a:extLst>
            </p:cNvPr>
            <p:cNvSpPr>
              <a:spLocks noChangeShapeType="1"/>
            </p:cNvSpPr>
            <p:nvPr/>
          </p:nvSpPr>
          <p:spPr bwMode="auto">
            <a:xfrm>
              <a:off x="2031" y="1635"/>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3" name="Rectangle 19">
              <a:extLst>
                <a:ext uri="{FF2B5EF4-FFF2-40B4-BE49-F238E27FC236}">
                  <a16:creationId xmlns:a16="http://schemas.microsoft.com/office/drawing/2014/main" id="{2A4896F6-6287-0898-8B57-7B3B2D00EC80}"/>
                </a:ext>
              </a:extLst>
            </p:cNvPr>
            <p:cNvSpPr>
              <a:spLocks noChangeArrowheads="1"/>
            </p:cNvSpPr>
            <p:nvPr/>
          </p:nvSpPr>
          <p:spPr bwMode="auto">
            <a:xfrm>
              <a:off x="2195" y="1374"/>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err="1">
                  <a:solidFill>
                    <a:srgbClr val="000000"/>
                  </a:solidFill>
                  <a:latin typeface="Helvetica" panose="020B0604020202020204" pitchFamily="34" charset="0"/>
                </a:rPr>
                <a:t>makePayment</a:t>
              </a:r>
              <a:r>
                <a:rPr lang="en-US" altLang="en-US" sz="1000" dirty="0">
                  <a:solidFill>
                    <a:srgbClr val="000000"/>
                  </a:solidFill>
                  <a:latin typeface="Helvetica" panose="020B0604020202020204" pitchFamily="34" charset="0"/>
                </a:rPr>
                <a:t>()</a:t>
              </a:r>
              <a:endParaRPr lang="en-US" altLang="en-US" dirty="0"/>
            </a:p>
          </p:txBody>
        </p:sp>
        <p:sp>
          <p:nvSpPr>
            <p:cNvPr id="29714" name="Line 20">
              <a:extLst>
                <a:ext uri="{FF2B5EF4-FFF2-40B4-BE49-F238E27FC236}">
                  <a16:creationId xmlns:a16="http://schemas.microsoft.com/office/drawing/2014/main" id="{CD2FA9C5-968E-65FE-C226-4EE633FB9B23}"/>
                </a:ext>
              </a:extLst>
            </p:cNvPr>
            <p:cNvSpPr>
              <a:spLocks noChangeShapeType="1"/>
            </p:cNvSpPr>
            <p:nvPr/>
          </p:nvSpPr>
          <p:spPr bwMode="auto">
            <a:xfrm>
              <a:off x="3614" y="1635"/>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5" name="Rectangle 21">
              <a:extLst>
                <a:ext uri="{FF2B5EF4-FFF2-40B4-BE49-F238E27FC236}">
                  <a16:creationId xmlns:a16="http://schemas.microsoft.com/office/drawing/2014/main" id="{CA109CE0-FBBB-F289-34A9-59B4BF97A411}"/>
                </a:ext>
              </a:extLst>
            </p:cNvPr>
            <p:cNvSpPr>
              <a:spLocks noChangeArrowheads="1"/>
            </p:cNvSpPr>
            <p:nvPr/>
          </p:nvSpPr>
          <p:spPr bwMode="auto">
            <a:xfrm>
              <a:off x="3861" y="1473"/>
              <a:ext cx="36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create()</a:t>
              </a:r>
              <a:endParaRPr lang="en-US" altLang="en-US"/>
            </a:p>
          </p:txBody>
        </p:sp>
        <p:sp>
          <p:nvSpPr>
            <p:cNvPr id="29716" name="Freeform 22">
              <a:extLst>
                <a:ext uri="{FF2B5EF4-FFF2-40B4-BE49-F238E27FC236}">
                  <a16:creationId xmlns:a16="http://schemas.microsoft.com/office/drawing/2014/main" id="{F03FAC5A-9A15-7516-D00F-779CF8D89A26}"/>
                </a:ext>
              </a:extLst>
            </p:cNvPr>
            <p:cNvSpPr>
              <a:spLocks/>
            </p:cNvSpPr>
            <p:nvPr/>
          </p:nvSpPr>
          <p:spPr bwMode="auto">
            <a:xfrm>
              <a:off x="3256" y="1747"/>
              <a:ext cx="1255" cy="359"/>
            </a:xfrm>
            <a:custGeom>
              <a:avLst/>
              <a:gdLst>
                <a:gd name="T0" fmla="*/ 0 w 1255"/>
                <a:gd name="T1" fmla="*/ 0 h 359"/>
                <a:gd name="T2" fmla="*/ 0 w 1255"/>
                <a:gd name="T3" fmla="*/ 359 h 359"/>
                <a:gd name="T4" fmla="*/ 1255 w 1255"/>
                <a:gd name="T5" fmla="*/ 359 h 359"/>
                <a:gd name="T6" fmla="*/ 0 60000 65536"/>
                <a:gd name="T7" fmla="*/ 0 60000 65536"/>
                <a:gd name="T8" fmla="*/ 0 60000 65536"/>
                <a:gd name="T9" fmla="*/ 0 w 1255"/>
                <a:gd name="T10" fmla="*/ 0 h 359"/>
                <a:gd name="T11" fmla="*/ 1255 w 1255"/>
                <a:gd name="T12" fmla="*/ 359 h 359"/>
              </a:gdLst>
              <a:ahLst/>
              <a:cxnLst>
                <a:cxn ang="T6">
                  <a:pos x="T0" y="T1"/>
                </a:cxn>
                <a:cxn ang="T7">
                  <a:pos x="T2" y="T3"/>
                </a:cxn>
                <a:cxn ang="T8">
                  <a:pos x="T4" y="T5"/>
                </a:cxn>
              </a:cxnLst>
              <a:rect l="T9" t="T10" r="T11" b="T12"/>
              <a:pathLst>
                <a:path w="1255" h="359">
                  <a:moveTo>
                    <a:pt x="0" y="0"/>
                  </a:moveTo>
                  <a:lnTo>
                    <a:pt x="0" y="359"/>
                  </a:lnTo>
                  <a:lnTo>
                    <a:pt x="1255" y="359"/>
                  </a:lnTo>
                </a:path>
              </a:pathLst>
            </a:custGeom>
            <a:noFill/>
            <a:ln w="7">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17" name="Rectangle 23">
              <a:extLst>
                <a:ext uri="{FF2B5EF4-FFF2-40B4-BE49-F238E27FC236}">
                  <a16:creationId xmlns:a16="http://schemas.microsoft.com/office/drawing/2014/main" id="{E292500F-C80E-D6A9-E914-98DAA9E3F890}"/>
                </a:ext>
              </a:extLst>
            </p:cNvPr>
            <p:cNvSpPr>
              <a:spLocks noChangeArrowheads="1"/>
            </p:cNvSpPr>
            <p:nvPr/>
          </p:nvSpPr>
          <p:spPr bwMode="auto">
            <a:xfrm>
              <a:off x="3435" y="1900"/>
              <a:ext cx="63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2: addPayment(p)</a:t>
              </a:r>
              <a:endParaRPr lang="en-US" altLang="en-US"/>
            </a:p>
          </p:txBody>
        </p:sp>
        <p:sp>
          <p:nvSpPr>
            <p:cNvPr id="29718" name="Line 24">
              <a:extLst>
                <a:ext uri="{FF2B5EF4-FFF2-40B4-BE49-F238E27FC236}">
                  <a16:creationId xmlns:a16="http://schemas.microsoft.com/office/drawing/2014/main" id="{1C8F3469-B5BE-01DB-2471-45956ED74EB5}"/>
                </a:ext>
              </a:extLst>
            </p:cNvPr>
            <p:cNvSpPr>
              <a:spLocks noChangeShapeType="1"/>
            </p:cNvSpPr>
            <p:nvPr/>
          </p:nvSpPr>
          <p:spPr bwMode="auto">
            <a:xfrm>
              <a:off x="2449" y="1500"/>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9" name="Freeform 25">
              <a:extLst>
                <a:ext uri="{FF2B5EF4-FFF2-40B4-BE49-F238E27FC236}">
                  <a16:creationId xmlns:a16="http://schemas.microsoft.com/office/drawing/2014/main" id="{81068154-4651-5123-1B7D-740FC763AF75}"/>
                </a:ext>
              </a:extLst>
            </p:cNvPr>
            <p:cNvSpPr>
              <a:spLocks/>
            </p:cNvSpPr>
            <p:nvPr/>
          </p:nvSpPr>
          <p:spPr bwMode="auto">
            <a:xfrm>
              <a:off x="2531" y="1485"/>
              <a:ext cx="53" cy="37"/>
            </a:xfrm>
            <a:custGeom>
              <a:avLst/>
              <a:gdLst>
                <a:gd name="T0" fmla="*/ 0 w 53"/>
                <a:gd name="T1" fmla="*/ 37 h 37"/>
                <a:gd name="T2" fmla="*/ 53 w 53"/>
                <a:gd name="T3" fmla="*/ 15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20" name="Line 26">
              <a:extLst>
                <a:ext uri="{FF2B5EF4-FFF2-40B4-BE49-F238E27FC236}">
                  <a16:creationId xmlns:a16="http://schemas.microsoft.com/office/drawing/2014/main" id="{B657E96F-7343-7CD0-7F9A-4F4187792D0F}"/>
                </a:ext>
              </a:extLst>
            </p:cNvPr>
            <p:cNvSpPr>
              <a:spLocks noChangeShapeType="1"/>
            </p:cNvSpPr>
            <p:nvPr/>
          </p:nvSpPr>
          <p:spPr bwMode="auto">
            <a:xfrm>
              <a:off x="4242" y="1590"/>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21" name="Freeform 27">
              <a:extLst>
                <a:ext uri="{FF2B5EF4-FFF2-40B4-BE49-F238E27FC236}">
                  <a16:creationId xmlns:a16="http://schemas.microsoft.com/office/drawing/2014/main" id="{1736675C-D370-7C51-C855-99B05CB58E0B}"/>
                </a:ext>
              </a:extLst>
            </p:cNvPr>
            <p:cNvSpPr>
              <a:spLocks/>
            </p:cNvSpPr>
            <p:nvPr/>
          </p:nvSpPr>
          <p:spPr bwMode="auto">
            <a:xfrm>
              <a:off x="4324" y="1575"/>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22" name="Line 28">
              <a:extLst>
                <a:ext uri="{FF2B5EF4-FFF2-40B4-BE49-F238E27FC236}">
                  <a16:creationId xmlns:a16="http://schemas.microsoft.com/office/drawing/2014/main" id="{55286C2F-CB79-7F11-2164-55488D13EE91}"/>
                </a:ext>
              </a:extLst>
            </p:cNvPr>
            <p:cNvSpPr>
              <a:spLocks noChangeShapeType="1"/>
            </p:cNvSpPr>
            <p:nvPr/>
          </p:nvSpPr>
          <p:spPr bwMode="auto">
            <a:xfrm>
              <a:off x="4107" y="2038"/>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23" name="Freeform 29">
              <a:extLst>
                <a:ext uri="{FF2B5EF4-FFF2-40B4-BE49-F238E27FC236}">
                  <a16:creationId xmlns:a16="http://schemas.microsoft.com/office/drawing/2014/main" id="{3F2AEA5A-3FE0-ED1D-629F-B862528F70A4}"/>
                </a:ext>
              </a:extLst>
            </p:cNvPr>
            <p:cNvSpPr>
              <a:spLocks/>
            </p:cNvSpPr>
            <p:nvPr/>
          </p:nvSpPr>
          <p:spPr bwMode="auto">
            <a:xfrm>
              <a:off x="4189" y="2024"/>
              <a:ext cx="53" cy="37"/>
            </a:xfrm>
            <a:custGeom>
              <a:avLst/>
              <a:gdLst>
                <a:gd name="T0" fmla="*/ 0 w 53"/>
                <a:gd name="T1" fmla="*/ 37 h 37"/>
                <a:gd name="T2" fmla="*/ 53 w 53"/>
                <a:gd name="T3" fmla="*/ 14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4"/>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Number Placeholder 3">
            <a:extLst>
              <a:ext uri="{FF2B5EF4-FFF2-40B4-BE49-F238E27FC236}">
                <a16:creationId xmlns:a16="http://schemas.microsoft.com/office/drawing/2014/main" id="{0B289C59-F208-8B28-8F9F-DBAD756FE29B}"/>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C00C42CB-B021-4040-8F9C-A3AD1E1FA6C4}" type="slidenum">
              <a:rPr lang="de-DE" altLang="en-US" sz="1000"/>
              <a:pPr/>
              <a:t>21</a:t>
            </a:fld>
            <a:endParaRPr lang="de-DE" altLang="en-US" sz="1000"/>
          </a:p>
        </p:txBody>
      </p:sp>
      <p:sp>
        <p:nvSpPr>
          <p:cNvPr id="30723" name="Rectangle 2">
            <a:extLst>
              <a:ext uri="{FF2B5EF4-FFF2-40B4-BE49-F238E27FC236}">
                <a16:creationId xmlns:a16="http://schemas.microsoft.com/office/drawing/2014/main" id="{7722EDF4-7E90-BE06-9885-36DE6FBCA7A3}"/>
              </a:ext>
            </a:extLst>
          </p:cNvPr>
          <p:cNvSpPr>
            <a:spLocks noGrp="1" noChangeArrowheads="1"/>
          </p:cNvSpPr>
          <p:nvPr>
            <p:ph type="title"/>
          </p:nvPr>
        </p:nvSpPr>
        <p:spPr/>
        <p:txBody>
          <a:bodyPr/>
          <a:lstStyle/>
          <a:p>
            <a:r>
              <a:rPr lang="en-US" altLang="en-US"/>
              <a:t>…High Cohesion – Example…</a:t>
            </a:r>
          </a:p>
        </p:txBody>
      </p:sp>
      <p:sp>
        <p:nvSpPr>
          <p:cNvPr id="30724" name="Rectangle 3">
            <a:extLst>
              <a:ext uri="{FF2B5EF4-FFF2-40B4-BE49-F238E27FC236}">
                <a16:creationId xmlns:a16="http://schemas.microsoft.com/office/drawing/2014/main" id="{A6C3C75C-EAAB-F4B4-A2B1-EFB0D83BF3A3}"/>
              </a:ext>
            </a:extLst>
          </p:cNvPr>
          <p:cNvSpPr>
            <a:spLocks noGrp="1" noChangeArrowheads="1"/>
          </p:cNvSpPr>
          <p:nvPr>
            <p:ph type="body" idx="1"/>
          </p:nvPr>
        </p:nvSpPr>
        <p:spPr/>
        <p:txBody>
          <a:bodyPr/>
          <a:lstStyle/>
          <a:p>
            <a:pPr marL="342900" indent="-342900"/>
            <a:r>
              <a:rPr lang="en-US" altLang="en-US" dirty="0"/>
              <a:t>This is acceptable, but if we continue to make register class responsible for doing some or most of the work related to more and more system operations, it may become overworked and incohesive.</a:t>
            </a:r>
          </a:p>
          <a:p>
            <a:pPr marL="342900" indent="-342900"/>
            <a:r>
              <a:rPr lang="en-US" altLang="en-US" dirty="0"/>
              <a:t>The alternative as suggested by </a:t>
            </a:r>
            <a:r>
              <a:rPr lang="en-US" altLang="en-US" dirty="0">
                <a:solidFill>
                  <a:srgbClr val="FF0000"/>
                </a:solidFill>
              </a:rPr>
              <a:t>Low Coupling </a:t>
            </a:r>
            <a:r>
              <a:rPr lang="en-US" altLang="en-US" dirty="0"/>
              <a:t>delegates </a:t>
            </a:r>
            <a:r>
              <a:rPr lang="en-US" altLang="en-US" i="1" dirty="0"/>
              <a:t>Payment</a:t>
            </a:r>
            <a:r>
              <a:rPr lang="en-US" altLang="en-US" dirty="0"/>
              <a:t> creation to </a:t>
            </a:r>
            <a:r>
              <a:rPr lang="en-US" altLang="en-US" i="1" dirty="0"/>
              <a:t>Sale</a:t>
            </a:r>
            <a:r>
              <a:rPr lang="en-US" altLang="en-US" dirty="0"/>
              <a:t>, which supports higher cohesion.</a:t>
            </a:r>
            <a:endParaRPr lang="en-US" altLang="en-US" i="1" dirty="0"/>
          </a:p>
        </p:txBody>
      </p:sp>
      <p:grpSp>
        <p:nvGrpSpPr>
          <p:cNvPr id="30725" name="Group 8">
            <a:extLst>
              <a:ext uri="{FF2B5EF4-FFF2-40B4-BE49-F238E27FC236}">
                <a16:creationId xmlns:a16="http://schemas.microsoft.com/office/drawing/2014/main" id="{9CD15DFA-0EF7-99AB-725A-5A1E4233FE59}"/>
              </a:ext>
            </a:extLst>
          </p:cNvPr>
          <p:cNvGrpSpPr>
            <a:grpSpLocks noChangeAspect="1"/>
          </p:cNvGrpSpPr>
          <p:nvPr/>
        </p:nvGrpSpPr>
        <p:grpSpPr bwMode="auto">
          <a:xfrm>
            <a:off x="3581401" y="4860926"/>
            <a:ext cx="5110163" cy="1592263"/>
            <a:chOff x="1296" y="3062"/>
            <a:chExt cx="3219" cy="1003"/>
          </a:xfrm>
        </p:grpSpPr>
        <p:sp>
          <p:nvSpPr>
            <p:cNvPr id="30726" name="AutoShape 7">
              <a:extLst>
                <a:ext uri="{FF2B5EF4-FFF2-40B4-BE49-F238E27FC236}">
                  <a16:creationId xmlns:a16="http://schemas.microsoft.com/office/drawing/2014/main" id="{8F7AF381-EF25-3B8B-4482-256F8F52B4CB}"/>
                </a:ext>
              </a:extLst>
            </p:cNvPr>
            <p:cNvSpPr>
              <a:spLocks noChangeAspect="1" noChangeArrowheads="1" noTextEdit="1"/>
            </p:cNvSpPr>
            <p:nvPr/>
          </p:nvSpPr>
          <p:spPr bwMode="auto">
            <a:xfrm>
              <a:off x="1296" y="3062"/>
              <a:ext cx="3219" cy="97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30727" name="Rectangle 9">
              <a:extLst>
                <a:ext uri="{FF2B5EF4-FFF2-40B4-BE49-F238E27FC236}">
                  <a16:creationId xmlns:a16="http://schemas.microsoft.com/office/drawing/2014/main" id="{0EFC3D0E-F38C-2E8A-8A3A-5458B9380F39}"/>
                </a:ext>
              </a:extLst>
            </p:cNvPr>
            <p:cNvSpPr>
              <a:spLocks noChangeArrowheads="1"/>
            </p:cNvSpPr>
            <p:nvPr/>
          </p:nvSpPr>
          <p:spPr bwMode="auto">
            <a:xfrm>
              <a:off x="2169" y="318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28" name="Line 10">
              <a:extLst>
                <a:ext uri="{FF2B5EF4-FFF2-40B4-BE49-F238E27FC236}">
                  <a16:creationId xmlns:a16="http://schemas.microsoft.com/office/drawing/2014/main" id="{EB5622FB-643A-4EF7-C07F-9732F391B23F}"/>
                </a:ext>
              </a:extLst>
            </p:cNvPr>
            <p:cNvSpPr>
              <a:spLocks noChangeShapeType="1"/>
            </p:cNvSpPr>
            <p:nvPr/>
          </p:nvSpPr>
          <p:spPr bwMode="auto">
            <a:xfrm>
              <a:off x="2424" y="3340"/>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29" name="Rectangle 11">
              <a:extLst>
                <a:ext uri="{FF2B5EF4-FFF2-40B4-BE49-F238E27FC236}">
                  <a16:creationId xmlns:a16="http://schemas.microsoft.com/office/drawing/2014/main" id="{399AF180-5660-FF4C-B466-B799399EFE91}"/>
                </a:ext>
              </a:extLst>
            </p:cNvPr>
            <p:cNvSpPr>
              <a:spLocks noChangeArrowheads="1"/>
            </p:cNvSpPr>
            <p:nvPr/>
          </p:nvSpPr>
          <p:spPr bwMode="auto">
            <a:xfrm>
              <a:off x="2424" y="3181"/>
              <a:ext cx="29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:register</a:t>
              </a:r>
              <a:endParaRPr lang="en-US" altLang="en-US"/>
            </a:p>
          </p:txBody>
        </p:sp>
        <p:sp>
          <p:nvSpPr>
            <p:cNvPr id="30730" name="Rectangle 12">
              <a:extLst>
                <a:ext uri="{FF2B5EF4-FFF2-40B4-BE49-F238E27FC236}">
                  <a16:creationId xmlns:a16="http://schemas.microsoft.com/office/drawing/2014/main" id="{692736DA-2275-6A72-A065-7D630DEAB2E3}"/>
                </a:ext>
              </a:extLst>
            </p:cNvPr>
            <p:cNvSpPr>
              <a:spLocks noChangeArrowheads="1"/>
            </p:cNvSpPr>
            <p:nvPr/>
          </p:nvSpPr>
          <p:spPr bwMode="auto">
            <a:xfrm>
              <a:off x="3791" y="3190"/>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31" name="Line 13">
              <a:extLst>
                <a:ext uri="{FF2B5EF4-FFF2-40B4-BE49-F238E27FC236}">
                  <a16:creationId xmlns:a16="http://schemas.microsoft.com/office/drawing/2014/main" id="{45C1AD75-A88C-83F1-BF23-0F0576578DC0}"/>
                </a:ext>
              </a:extLst>
            </p:cNvPr>
            <p:cNvSpPr>
              <a:spLocks noChangeShapeType="1"/>
            </p:cNvSpPr>
            <p:nvPr/>
          </p:nvSpPr>
          <p:spPr bwMode="auto">
            <a:xfrm>
              <a:off x="4059" y="3340"/>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2" name="Rectangle 14">
              <a:extLst>
                <a:ext uri="{FF2B5EF4-FFF2-40B4-BE49-F238E27FC236}">
                  <a16:creationId xmlns:a16="http://schemas.microsoft.com/office/drawing/2014/main" id="{7D7C5CD6-498A-78EB-64E9-910EF5438248}"/>
                </a:ext>
              </a:extLst>
            </p:cNvPr>
            <p:cNvSpPr>
              <a:spLocks noChangeArrowheads="1"/>
            </p:cNvSpPr>
            <p:nvPr/>
          </p:nvSpPr>
          <p:spPr bwMode="auto">
            <a:xfrm>
              <a:off x="4044" y="3221"/>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:Sale</a:t>
              </a:r>
              <a:endParaRPr lang="en-US" altLang="en-US" dirty="0"/>
            </a:p>
          </p:txBody>
        </p:sp>
        <p:sp>
          <p:nvSpPr>
            <p:cNvPr id="30733" name="Rectangle 15">
              <a:extLst>
                <a:ext uri="{FF2B5EF4-FFF2-40B4-BE49-F238E27FC236}">
                  <a16:creationId xmlns:a16="http://schemas.microsoft.com/office/drawing/2014/main" id="{8C784869-78E5-984B-DD64-B9DD182AF749}"/>
                </a:ext>
              </a:extLst>
            </p:cNvPr>
            <p:cNvSpPr>
              <a:spLocks noChangeArrowheads="1"/>
            </p:cNvSpPr>
            <p:nvPr/>
          </p:nvSpPr>
          <p:spPr bwMode="auto">
            <a:xfrm>
              <a:off x="3791" y="3841"/>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34" name="Line 16">
              <a:extLst>
                <a:ext uri="{FF2B5EF4-FFF2-40B4-BE49-F238E27FC236}">
                  <a16:creationId xmlns:a16="http://schemas.microsoft.com/office/drawing/2014/main" id="{858AE055-2990-B4B0-64AF-A745CBEA67C0}"/>
                </a:ext>
              </a:extLst>
            </p:cNvPr>
            <p:cNvSpPr>
              <a:spLocks noChangeShapeType="1"/>
            </p:cNvSpPr>
            <p:nvPr/>
          </p:nvSpPr>
          <p:spPr bwMode="auto">
            <a:xfrm>
              <a:off x="3985" y="3990"/>
              <a:ext cx="32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5" name="Rectangle 17">
              <a:extLst>
                <a:ext uri="{FF2B5EF4-FFF2-40B4-BE49-F238E27FC236}">
                  <a16:creationId xmlns:a16="http://schemas.microsoft.com/office/drawing/2014/main" id="{2E733F17-6479-5BA8-2C34-C82682CC1FD8}"/>
                </a:ext>
              </a:extLst>
            </p:cNvPr>
            <p:cNvSpPr>
              <a:spLocks noChangeArrowheads="1"/>
            </p:cNvSpPr>
            <p:nvPr/>
          </p:nvSpPr>
          <p:spPr bwMode="auto">
            <a:xfrm>
              <a:off x="3954" y="3845"/>
              <a:ext cx="33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:Payment</a:t>
              </a:r>
              <a:endParaRPr lang="en-US" altLang="en-US" dirty="0"/>
            </a:p>
          </p:txBody>
        </p:sp>
        <p:sp>
          <p:nvSpPr>
            <p:cNvPr id="30736" name="Line 18">
              <a:extLst>
                <a:ext uri="{FF2B5EF4-FFF2-40B4-BE49-F238E27FC236}">
                  <a16:creationId xmlns:a16="http://schemas.microsoft.com/office/drawing/2014/main" id="{565D1A4B-C030-D6C4-7A4C-22A6C7A99A2B}"/>
                </a:ext>
              </a:extLst>
            </p:cNvPr>
            <p:cNvSpPr>
              <a:spLocks noChangeShapeType="1"/>
            </p:cNvSpPr>
            <p:nvPr/>
          </p:nvSpPr>
          <p:spPr bwMode="auto">
            <a:xfrm>
              <a:off x="1311" y="3302"/>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7" name="Rectangle 19">
              <a:extLst>
                <a:ext uri="{FF2B5EF4-FFF2-40B4-BE49-F238E27FC236}">
                  <a16:creationId xmlns:a16="http://schemas.microsoft.com/office/drawing/2014/main" id="{9F8B96C9-62D7-B1F4-8B7F-E415351E63F4}"/>
                </a:ext>
              </a:extLst>
            </p:cNvPr>
            <p:cNvSpPr>
              <a:spLocks noChangeArrowheads="1"/>
            </p:cNvSpPr>
            <p:nvPr/>
          </p:nvSpPr>
          <p:spPr bwMode="auto">
            <a:xfrm>
              <a:off x="1468" y="3121"/>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makePayment()</a:t>
              </a:r>
              <a:endParaRPr lang="en-US" altLang="en-US"/>
            </a:p>
          </p:txBody>
        </p:sp>
        <p:sp>
          <p:nvSpPr>
            <p:cNvPr id="30738" name="Line 20">
              <a:extLst>
                <a:ext uri="{FF2B5EF4-FFF2-40B4-BE49-F238E27FC236}">
                  <a16:creationId xmlns:a16="http://schemas.microsoft.com/office/drawing/2014/main" id="{EC353CD2-3691-6275-CE28-B31E1E473A47}"/>
                </a:ext>
              </a:extLst>
            </p:cNvPr>
            <p:cNvSpPr>
              <a:spLocks noChangeShapeType="1"/>
            </p:cNvSpPr>
            <p:nvPr/>
          </p:nvSpPr>
          <p:spPr bwMode="auto">
            <a:xfrm>
              <a:off x="2894" y="3302"/>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9" name="Rectangle 21">
              <a:extLst>
                <a:ext uri="{FF2B5EF4-FFF2-40B4-BE49-F238E27FC236}">
                  <a16:creationId xmlns:a16="http://schemas.microsoft.com/office/drawing/2014/main" id="{03EFA749-5A4B-0FF5-BB1E-FEA2318966B9}"/>
                </a:ext>
              </a:extLst>
            </p:cNvPr>
            <p:cNvSpPr>
              <a:spLocks noChangeArrowheads="1"/>
            </p:cNvSpPr>
            <p:nvPr/>
          </p:nvSpPr>
          <p:spPr bwMode="auto">
            <a:xfrm>
              <a:off x="3013" y="3136"/>
              <a:ext cx="65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makePayment()</a:t>
              </a:r>
              <a:endParaRPr lang="en-US" altLang="en-US"/>
            </a:p>
          </p:txBody>
        </p:sp>
        <p:sp>
          <p:nvSpPr>
            <p:cNvPr id="30740" name="Line 22">
              <a:extLst>
                <a:ext uri="{FF2B5EF4-FFF2-40B4-BE49-F238E27FC236}">
                  <a16:creationId xmlns:a16="http://schemas.microsoft.com/office/drawing/2014/main" id="{CD1A0052-E42E-E0FE-66CE-29BBEF9BF610}"/>
                </a:ext>
              </a:extLst>
            </p:cNvPr>
            <p:cNvSpPr>
              <a:spLocks noChangeShapeType="1"/>
            </p:cNvSpPr>
            <p:nvPr/>
          </p:nvSpPr>
          <p:spPr bwMode="auto">
            <a:xfrm>
              <a:off x="4149" y="3415"/>
              <a:ext cx="1" cy="426"/>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1" name="Rectangle 23">
              <a:extLst>
                <a:ext uri="{FF2B5EF4-FFF2-40B4-BE49-F238E27FC236}">
                  <a16:creationId xmlns:a16="http://schemas.microsoft.com/office/drawing/2014/main" id="{40B3DE98-54E7-422F-6DC4-B0884F724D75}"/>
                </a:ext>
              </a:extLst>
            </p:cNvPr>
            <p:cNvSpPr>
              <a:spLocks noChangeArrowheads="1"/>
            </p:cNvSpPr>
            <p:nvPr/>
          </p:nvSpPr>
          <p:spPr bwMode="auto">
            <a:xfrm>
              <a:off x="3558" y="3488"/>
              <a:ext cx="43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1.1. create()</a:t>
              </a:r>
              <a:endParaRPr lang="en-US" altLang="en-US"/>
            </a:p>
          </p:txBody>
        </p:sp>
        <p:sp>
          <p:nvSpPr>
            <p:cNvPr id="30742" name="Line 24">
              <a:extLst>
                <a:ext uri="{FF2B5EF4-FFF2-40B4-BE49-F238E27FC236}">
                  <a16:creationId xmlns:a16="http://schemas.microsoft.com/office/drawing/2014/main" id="{99E65871-AD96-25DA-B403-18EC453D44EF}"/>
                </a:ext>
              </a:extLst>
            </p:cNvPr>
            <p:cNvSpPr>
              <a:spLocks noChangeShapeType="1"/>
            </p:cNvSpPr>
            <p:nvPr/>
          </p:nvSpPr>
          <p:spPr bwMode="auto">
            <a:xfrm>
              <a:off x="1774" y="3240"/>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3" name="Freeform 25">
              <a:extLst>
                <a:ext uri="{FF2B5EF4-FFF2-40B4-BE49-F238E27FC236}">
                  <a16:creationId xmlns:a16="http://schemas.microsoft.com/office/drawing/2014/main" id="{DE596865-40A8-4560-BF71-AEEB0038BFCD}"/>
                </a:ext>
              </a:extLst>
            </p:cNvPr>
            <p:cNvSpPr>
              <a:spLocks/>
            </p:cNvSpPr>
            <p:nvPr/>
          </p:nvSpPr>
          <p:spPr bwMode="auto">
            <a:xfrm>
              <a:off x="1856" y="3243"/>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44" name="Line 26">
              <a:extLst>
                <a:ext uri="{FF2B5EF4-FFF2-40B4-BE49-F238E27FC236}">
                  <a16:creationId xmlns:a16="http://schemas.microsoft.com/office/drawing/2014/main" id="{6B67FDC4-DF14-D620-C9BC-4FBCB04A0B8A}"/>
                </a:ext>
              </a:extLst>
            </p:cNvPr>
            <p:cNvSpPr>
              <a:spLocks noChangeShapeType="1"/>
            </p:cNvSpPr>
            <p:nvPr/>
          </p:nvSpPr>
          <p:spPr bwMode="auto">
            <a:xfrm>
              <a:off x="3298" y="3249"/>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5" name="Freeform 27">
              <a:extLst>
                <a:ext uri="{FF2B5EF4-FFF2-40B4-BE49-F238E27FC236}">
                  <a16:creationId xmlns:a16="http://schemas.microsoft.com/office/drawing/2014/main" id="{5A69542C-6545-F963-A64D-32A0028D6437}"/>
                </a:ext>
              </a:extLst>
            </p:cNvPr>
            <p:cNvSpPr>
              <a:spLocks/>
            </p:cNvSpPr>
            <p:nvPr/>
          </p:nvSpPr>
          <p:spPr bwMode="auto">
            <a:xfrm>
              <a:off x="3380" y="3234"/>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46" name="Line 28">
              <a:extLst>
                <a:ext uri="{FF2B5EF4-FFF2-40B4-BE49-F238E27FC236}">
                  <a16:creationId xmlns:a16="http://schemas.microsoft.com/office/drawing/2014/main" id="{44633BE5-DDDE-E481-DA39-9581A2D4DFB0}"/>
                </a:ext>
              </a:extLst>
            </p:cNvPr>
            <p:cNvSpPr>
              <a:spLocks noChangeShapeType="1"/>
            </p:cNvSpPr>
            <p:nvPr/>
          </p:nvSpPr>
          <p:spPr bwMode="auto">
            <a:xfrm>
              <a:off x="3656" y="3661"/>
              <a:ext cx="1" cy="90"/>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7" name="Freeform 29">
              <a:extLst>
                <a:ext uri="{FF2B5EF4-FFF2-40B4-BE49-F238E27FC236}">
                  <a16:creationId xmlns:a16="http://schemas.microsoft.com/office/drawing/2014/main" id="{E7ADC318-5C64-590C-1F78-A0F6C83D26B9}"/>
                </a:ext>
              </a:extLst>
            </p:cNvPr>
            <p:cNvSpPr>
              <a:spLocks/>
            </p:cNvSpPr>
            <p:nvPr/>
          </p:nvSpPr>
          <p:spPr bwMode="auto">
            <a:xfrm>
              <a:off x="3641" y="3751"/>
              <a:ext cx="30" cy="45"/>
            </a:xfrm>
            <a:custGeom>
              <a:avLst/>
              <a:gdLst>
                <a:gd name="T0" fmla="*/ 0 w 30"/>
                <a:gd name="T1" fmla="*/ 0 h 45"/>
                <a:gd name="T2" fmla="*/ 15 w 30"/>
                <a:gd name="T3" fmla="*/ 45 h 45"/>
                <a:gd name="T4" fmla="*/ 30 w 30"/>
                <a:gd name="T5" fmla="*/ 0 h 45"/>
                <a:gd name="T6" fmla="*/ 0 w 30"/>
                <a:gd name="T7" fmla="*/ 0 h 45"/>
                <a:gd name="T8" fmla="*/ 0 60000 65536"/>
                <a:gd name="T9" fmla="*/ 0 60000 65536"/>
                <a:gd name="T10" fmla="*/ 0 60000 65536"/>
                <a:gd name="T11" fmla="*/ 0 60000 65536"/>
                <a:gd name="T12" fmla="*/ 0 w 30"/>
                <a:gd name="T13" fmla="*/ 0 h 45"/>
                <a:gd name="T14" fmla="*/ 30 w 30"/>
                <a:gd name="T15" fmla="*/ 45 h 45"/>
              </a:gdLst>
              <a:ahLst/>
              <a:cxnLst>
                <a:cxn ang="T8">
                  <a:pos x="T0" y="T1"/>
                </a:cxn>
                <a:cxn ang="T9">
                  <a:pos x="T2" y="T3"/>
                </a:cxn>
                <a:cxn ang="T10">
                  <a:pos x="T4" y="T5"/>
                </a:cxn>
                <a:cxn ang="T11">
                  <a:pos x="T6" y="T7"/>
                </a:cxn>
              </a:cxnLst>
              <a:rect l="T12" t="T13" r="T14" b="T15"/>
              <a:pathLst>
                <a:path w="30" h="45">
                  <a:moveTo>
                    <a:pt x="0" y="0"/>
                  </a:moveTo>
                  <a:lnTo>
                    <a:pt x="15" y="45"/>
                  </a:lnTo>
                  <a:lnTo>
                    <a:pt x="3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753" name="Rectangle 3175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5" name="Rectangle 3175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7" name="Rectangle 3175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9" name="Rectangle 3175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61" name="Rectangle 3176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47" name="Rectangle 2">
            <a:extLst>
              <a:ext uri="{FF2B5EF4-FFF2-40B4-BE49-F238E27FC236}">
                <a16:creationId xmlns:a16="http://schemas.microsoft.com/office/drawing/2014/main" id="{D1A0D336-496F-CABB-1049-3C7DB0D150A2}"/>
              </a:ext>
            </a:extLst>
          </p:cNvPr>
          <p:cNvSpPr>
            <a:spLocks noGrp="1" noChangeArrowheads="1"/>
          </p:cNvSpPr>
          <p:nvPr>
            <p:ph type="title"/>
          </p:nvPr>
        </p:nvSpPr>
        <p:spPr>
          <a:xfrm>
            <a:off x="1371599" y="294538"/>
            <a:ext cx="9895951" cy="1033669"/>
          </a:xfrm>
        </p:spPr>
        <p:txBody>
          <a:bodyPr>
            <a:normAutofit/>
          </a:bodyPr>
          <a:lstStyle/>
          <a:p>
            <a:r>
              <a:rPr lang="en-US" altLang="en-US" sz="4000">
                <a:solidFill>
                  <a:srgbClr val="FFFFFF"/>
                </a:solidFill>
              </a:rPr>
              <a:t>High Cohesion</a:t>
            </a:r>
          </a:p>
        </p:txBody>
      </p:sp>
      <p:sp>
        <p:nvSpPr>
          <p:cNvPr id="31748" name="Rectangle 3">
            <a:extLst>
              <a:ext uri="{FF2B5EF4-FFF2-40B4-BE49-F238E27FC236}">
                <a16:creationId xmlns:a16="http://schemas.microsoft.com/office/drawing/2014/main" id="{B14422E4-50B7-729F-B3D0-07FB3536F96B}"/>
              </a:ext>
            </a:extLst>
          </p:cNvPr>
          <p:cNvSpPr>
            <a:spLocks noGrp="1" noChangeArrowheads="1"/>
          </p:cNvSpPr>
          <p:nvPr>
            <p:ph type="body" idx="1"/>
          </p:nvPr>
        </p:nvSpPr>
        <p:spPr>
          <a:xfrm>
            <a:off x="1371599" y="2318197"/>
            <a:ext cx="9724031" cy="3683358"/>
          </a:xfrm>
        </p:spPr>
        <p:txBody>
          <a:bodyPr anchor="ctr">
            <a:normAutofit/>
          </a:bodyPr>
          <a:lstStyle/>
          <a:p>
            <a:pPr marL="342900" indent="-342900"/>
            <a:r>
              <a:rPr lang="en-US" altLang="en-US" sz="4400" dirty="0"/>
              <a:t>Consequences</a:t>
            </a:r>
          </a:p>
          <a:p>
            <a:pPr marL="742950" lvl="1" indent="-285750"/>
            <a:r>
              <a:rPr lang="en-US" altLang="en-US" sz="4400" dirty="0"/>
              <a:t>Clarity and ease of comprehension</a:t>
            </a:r>
          </a:p>
          <a:p>
            <a:pPr marL="742950" lvl="1" indent="-285750"/>
            <a:r>
              <a:rPr lang="en-US" altLang="en-US" sz="4400" dirty="0"/>
              <a:t>Low coupling is often supported</a:t>
            </a:r>
          </a:p>
          <a:p>
            <a:pPr marL="742950" lvl="1" indent="-285750"/>
            <a:r>
              <a:rPr lang="en-US" altLang="en-US" sz="4400" dirty="0"/>
              <a:t>Supports increased reuse potential.</a:t>
            </a:r>
          </a:p>
        </p:txBody>
      </p:sp>
      <p:sp>
        <p:nvSpPr>
          <p:cNvPr id="31746" name="Slide Number Placeholder 3">
            <a:extLst>
              <a:ext uri="{FF2B5EF4-FFF2-40B4-BE49-F238E27FC236}">
                <a16:creationId xmlns:a16="http://schemas.microsoft.com/office/drawing/2014/main" id="{DF8CFE19-BFBA-FF08-1CD0-7DE713BF4325}"/>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A1F3CA20-C447-4404-AD13-73FE43DF50BD}" type="slidenum">
              <a:rPr lang="de-DE" altLang="en-US" sz="1100">
                <a:solidFill>
                  <a:schemeClr val="tx1">
                    <a:lumMod val="50000"/>
                    <a:lumOff val="50000"/>
                  </a:schemeClr>
                </a:solidFill>
              </a:rPr>
              <a:pPr>
                <a:spcAft>
                  <a:spcPts val="600"/>
                </a:spcAft>
              </a:pPr>
              <a:t>22</a:t>
            </a:fld>
            <a:endParaRPr lang="de-DE" altLang="en-US" sz="1100">
              <a:solidFill>
                <a:schemeClr val="tx1">
                  <a:lumMod val="50000"/>
                  <a:lumOff val="50000"/>
                </a:schemeClr>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141685C1-E6EA-B542-FF35-01E7852CF0CB}"/>
              </a:ext>
            </a:extLst>
          </p:cNvPr>
          <p:cNvPicPr>
            <a:picLocks noGrp="1" noChangeAspect="1"/>
          </p:cNvPicPr>
          <p:nvPr>
            <p:ph idx="1"/>
          </p:nvPr>
        </p:nvPicPr>
        <p:blipFill>
          <a:blip r:embed="rId2"/>
          <a:stretch>
            <a:fillRect/>
          </a:stretch>
        </p:blipFill>
        <p:spPr>
          <a:xfrm>
            <a:off x="739206" y="643467"/>
            <a:ext cx="10713588" cy="5571065"/>
          </a:xfrm>
          <a:prstGeom prst="rect">
            <a:avLst/>
          </a:prstGeom>
          <a:ln>
            <a:noFill/>
          </a:ln>
        </p:spPr>
      </p:pic>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057998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D0D6D3E-D7F9-4591-9CA9-DDF4DB1F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C7171DC-2539-1D3C-C96B-BD5B726605E2}"/>
              </a:ext>
            </a:extLst>
          </p:cNvPr>
          <p:cNvSpPr>
            <a:spLocks noGrp="1"/>
          </p:cNvSpPr>
          <p:nvPr>
            <p:ph type="title"/>
          </p:nvPr>
        </p:nvSpPr>
        <p:spPr>
          <a:xfrm>
            <a:off x="982639" y="1012536"/>
            <a:ext cx="4613300" cy="3163224"/>
          </a:xfrm>
        </p:spPr>
        <p:txBody>
          <a:bodyPr vert="horz" lIns="91440" tIns="45720" rIns="91440" bIns="45720" rtlCol="0" anchor="t">
            <a:normAutofit/>
          </a:bodyPr>
          <a:lstStyle/>
          <a:p>
            <a:r>
              <a:rPr lang="en-US" altLang="en-US" sz="4800"/>
              <a:t>Polymorphism…</a:t>
            </a:r>
            <a:endParaRPr lang="en-US" sz="4800"/>
          </a:p>
        </p:txBody>
      </p:sp>
      <p:sp>
        <p:nvSpPr>
          <p:cNvPr id="17" name="Rectangle 16">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4068664" cy="6858000"/>
          </a:xfrm>
          <a:prstGeom prst="rect">
            <a:avLst/>
          </a:prstGeom>
          <a:gradFill>
            <a:gsLst>
              <a:gs pos="26000">
                <a:srgbClr val="000000"/>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3611463" cy="6858000"/>
          </a:xfrm>
          <a:prstGeom prst="rect">
            <a:avLst/>
          </a:prstGeom>
          <a:gradFill>
            <a:gsLst>
              <a:gs pos="0">
                <a:schemeClr val="accent1">
                  <a:lumMod val="75000"/>
                  <a:alpha val="56000"/>
                </a:schemeClr>
              </a:gs>
              <a:gs pos="100000">
                <a:srgbClr val="000000">
                  <a:alpha val="52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230721" y="-107390"/>
            <a:ext cx="3853890" cy="4068665"/>
          </a:xfrm>
          <a:prstGeom prst="rect">
            <a:avLst/>
          </a:prstGeom>
          <a:gradFill>
            <a:gsLst>
              <a:gs pos="0">
                <a:srgbClr val="000000">
                  <a:alpha val="34000"/>
                </a:srgbClr>
              </a:gs>
              <a:gs pos="96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F19CA2D-D8F6-CF33-9E2F-B670F1D78BB5}"/>
              </a:ext>
            </a:extLst>
          </p:cNvPr>
          <p:cNvPicPr>
            <a:picLocks noChangeAspect="1"/>
          </p:cNvPicPr>
          <p:nvPr/>
        </p:nvPicPr>
        <p:blipFill rotWithShape="1">
          <a:blip r:embed="rId2"/>
          <a:srcRect l="14633" r="18368" b="1"/>
          <a:stretch/>
        </p:blipFill>
        <p:spPr>
          <a:xfrm>
            <a:off x="6096000" y="1012536"/>
            <a:ext cx="4756162" cy="4756162"/>
          </a:xfrm>
          <a:custGeom>
            <a:avLst/>
            <a:gdLst/>
            <a:ahLst/>
            <a:cxnLst/>
            <a:rect l="l" t="t" r="r" b="b"/>
            <a:pathLst>
              <a:path w="5031136" h="5031136">
                <a:moveTo>
                  <a:pt x="2515568" y="0"/>
                </a:moveTo>
                <a:cubicBezTo>
                  <a:pt x="3904878" y="0"/>
                  <a:pt x="5031136" y="1126258"/>
                  <a:pt x="5031136" y="2515568"/>
                </a:cubicBezTo>
                <a:cubicBezTo>
                  <a:pt x="5031136" y="3904878"/>
                  <a:pt x="3904878" y="5031136"/>
                  <a:pt x="2515568" y="5031136"/>
                </a:cubicBezTo>
                <a:cubicBezTo>
                  <a:pt x="1126258" y="5031136"/>
                  <a:pt x="0" y="3904878"/>
                  <a:pt x="0" y="2515568"/>
                </a:cubicBezTo>
                <a:cubicBezTo>
                  <a:pt x="0" y="1126258"/>
                  <a:pt x="1126258" y="0"/>
                  <a:pt x="2515568" y="0"/>
                </a:cubicBezTo>
                <a:close/>
              </a:path>
            </a:pathLst>
          </a:custGeom>
        </p:spPr>
      </p:pic>
    </p:spTree>
    <p:extLst>
      <p:ext uri="{BB962C8B-B14F-4D97-AF65-F5344CB8AC3E}">
        <p14:creationId xmlns:p14="http://schemas.microsoft.com/office/powerpoint/2010/main" val="3587251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952" name="Rectangle 3994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4" name="Rectangle 3994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5" name="Rectangle 3994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1" name="Rectangle 39950">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3" name="Rectangle 39952">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9" name="Rectangle 2">
            <a:extLst>
              <a:ext uri="{FF2B5EF4-FFF2-40B4-BE49-F238E27FC236}">
                <a16:creationId xmlns:a16="http://schemas.microsoft.com/office/drawing/2014/main" id="{318EDFC4-37B2-CFAD-6840-C75A1587E882}"/>
              </a:ext>
            </a:extLst>
          </p:cNvPr>
          <p:cNvSpPr>
            <a:spLocks noGrp="1" noChangeArrowheads="1"/>
          </p:cNvSpPr>
          <p:nvPr>
            <p:ph type="title"/>
          </p:nvPr>
        </p:nvSpPr>
        <p:spPr>
          <a:xfrm>
            <a:off x="1371599" y="294538"/>
            <a:ext cx="9895951" cy="1033669"/>
          </a:xfrm>
        </p:spPr>
        <p:txBody>
          <a:bodyPr>
            <a:normAutofit/>
          </a:bodyPr>
          <a:lstStyle/>
          <a:p>
            <a:r>
              <a:rPr lang="en-US" altLang="en-US" sz="4000" dirty="0">
                <a:solidFill>
                  <a:srgbClr val="FFFFFF"/>
                </a:solidFill>
              </a:rPr>
              <a:t>Polymorphism…</a:t>
            </a:r>
          </a:p>
        </p:txBody>
      </p:sp>
      <p:sp>
        <p:nvSpPr>
          <p:cNvPr id="39940" name="Rectangle 3">
            <a:extLst>
              <a:ext uri="{FF2B5EF4-FFF2-40B4-BE49-F238E27FC236}">
                <a16:creationId xmlns:a16="http://schemas.microsoft.com/office/drawing/2014/main" id="{B78036A4-BEEE-9B73-55FA-AE188D5D7ADE}"/>
              </a:ext>
            </a:extLst>
          </p:cNvPr>
          <p:cNvSpPr>
            <a:spLocks noGrp="1" noChangeArrowheads="1"/>
          </p:cNvSpPr>
          <p:nvPr>
            <p:ph type="body" idx="1"/>
          </p:nvPr>
        </p:nvSpPr>
        <p:spPr>
          <a:xfrm>
            <a:off x="114301" y="2318197"/>
            <a:ext cx="11858624" cy="3683358"/>
          </a:xfrm>
        </p:spPr>
        <p:txBody>
          <a:bodyPr anchor="ctr">
            <a:noAutofit/>
          </a:bodyPr>
          <a:lstStyle/>
          <a:p>
            <a:pPr marL="342900" indent="-342900"/>
            <a:r>
              <a:rPr lang="en-US" altLang="en-US" sz="4000" dirty="0"/>
              <a:t>Intent:</a:t>
            </a:r>
          </a:p>
          <a:p>
            <a:pPr marL="742950" lvl="1" indent="-285750"/>
            <a:r>
              <a:rPr lang="en-US" altLang="en-US" sz="4000" dirty="0"/>
              <a:t>When related alternatives vary by type, assign responsibilities for the behavior – using polymorphic operations – to types for which the behavior varies</a:t>
            </a:r>
          </a:p>
          <a:p>
            <a:pPr marL="457200" lvl="1" indent="0">
              <a:buNone/>
            </a:pPr>
            <a:endParaRPr lang="en-US" altLang="en-US" sz="4000" dirty="0"/>
          </a:p>
          <a:p>
            <a:pPr marL="742950" lvl="1" indent="-285750"/>
            <a:r>
              <a:rPr lang="en-US" altLang="en-US" sz="4000" dirty="0"/>
              <a:t>BUT, do not test for the type of an object and use conditional logic to choose alternative.</a:t>
            </a:r>
          </a:p>
        </p:txBody>
      </p:sp>
      <p:sp>
        <p:nvSpPr>
          <p:cNvPr id="39938" name="Slide Number Placeholder 3">
            <a:extLst>
              <a:ext uri="{FF2B5EF4-FFF2-40B4-BE49-F238E27FC236}">
                <a16:creationId xmlns:a16="http://schemas.microsoft.com/office/drawing/2014/main" id="{917FE2C1-60C7-55AE-96B4-E03CDD0B539F}"/>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139D6EEB-E608-45BF-8CFC-0FCFFE7A0288}" type="slidenum">
              <a:rPr lang="de-DE" altLang="en-US" sz="1100">
                <a:solidFill>
                  <a:schemeClr val="tx1">
                    <a:lumMod val="50000"/>
                    <a:lumOff val="50000"/>
                  </a:schemeClr>
                </a:solidFill>
              </a:rPr>
              <a:pPr>
                <a:spcAft>
                  <a:spcPts val="600"/>
                </a:spcAft>
              </a:pPr>
              <a:t>25</a:t>
            </a:fld>
            <a:endParaRPr lang="de-DE" altLang="en-US" sz="1100">
              <a:solidFill>
                <a:schemeClr val="tx1">
                  <a:lumMod val="50000"/>
                  <a:lumOff val="50000"/>
                </a:schemeClr>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969" name="Rectangle 4096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1" name="Rectangle 4097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3" name="Rectangle 4097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5" name="Rectangle 4097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7" name="Rectangle 4097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3" name="Rectangle 2">
            <a:extLst>
              <a:ext uri="{FF2B5EF4-FFF2-40B4-BE49-F238E27FC236}">
                <a16:creationId xmlns:a16="http://schemas.microsoft.com/office/drawing/2014/main" id="{C3FBB1A6-A4E3-3168-E09B-52D86F3576EA}"/>
              </a:ext>
            </a:extLst>
          </p:cNvPr>
          <p:cNvSpPr>
            <a:spLocks noGrp="1" noChangeArrowheads="1"/>
          </p:cNvSpPr>
          <p:nvPr>
            <p:ph type="title"/>
          </p:nvPr>
        </p:nvSpPr>
        <p:spPr>
          <a:xfrm>
            <a:off x="1371599" y="294538"/>
            <a:ext cx="9895951" cy="1033669"/>
          </a:xfrm>
        </p:spPr>
        <p:txBody>
          <a:bodyPr>
            <a:normAutofit/>
          </a:bodyPr>
          <a:lstStyle/>
          <a:p>
            <a:r>
              <a:rPr lang="en-US" altLang="en-US" sz="4000">
                <a:solidFill>
                  <a:srgbClr val="FFFFFF"/>
                </a:solidFill>
              </a:rPr>
              <a:t>…Polymorphism</a:t>
            </a:r>
          </a:p>
        </p:txBody>
      </p:sp>
      <p:sp>
        <p:nvSpPr>
          <p:cNvPr id="40964" name="Rectangle 3">
            <a:extLst>
              <a:ext uri="{FF2B5EF4-FFF2-40B4-BE49-F238E27FC236}">
                <a16:creationId xmlns:a16="http://schemas.microsoft.com/office/drawing/2014/main" id="{8324C773-09EE-F595-F534-EA18259B58F8}"/>
              </a:ext>
            </a:extLst>
          </p:cNvPr>
          <p:cNvSpPr>
            <a:spLocks noGrp="1" noChangeArrowheads="1"/>
          </p:cNvSpPr>
          <p:nvPr>
            <p:ph type="body" idx="1"/>
          </p:nvPr>
        </p:nvSpPr>
        <p:spPr>
          <a:xfrm>
            <a:off x="459351" y="1885279"/>
            <a:ext cx="11456424" cy="4116276"/>
          </a:xfrm>
        </p:spPr>
        <p:txBody>
          <a:bodyPr anchor="ctr">
            <a:normAutofit/>
          </a:bodyPr>
          <a:lstStyle/>
          <a:p>
            <a:pPr marL="342900" indent="-342900"/>
            <a:r>
              <a:rPr lang="en-US" altLang="en-US" sz="3600" dirty="0"/>
              <a:t>Problem:</a:t>
            </a:r>
          </a:p>
          <a:p>
            <a:pPr marL="742950" lvl="1" indent="-285750"/>
            <a:r>
              <a:rPr lang="en-US" altLang="en-US" sz="3600" dirty="0"/>
              <a:t>How to handle alternatives based on type? How to create pluggable software components?</a:t>
            </a:r>
          </a:p>
          <a:p>
            <a:pPr lvl="2"/>
            <a:r>
              <a:rPr lang="en-US" altLang="en-US" sz="3600" dirty="0"/>
              <a:t>If a program uses conditional logic to choose, if a new variation arises it requires modification to the logic</a:t>
            </a:r>
          </a:p>
        </p:txBody>
      </p:sp>
      <p:sp>
        <p:nvSpPr>
          <p:cNvPr id="40962" name="Slide Number Placeholder 3">
            <a:extLst>
              <a:ext uri="{FF2B5EF4-FFF2-40B4-BE49-F238E27FC236}">
                <a16:creationId xmlns:a16="http://schemas.microsoft.com/office/drawing/2014/main" id="{B00596E8-37A8-4FAC-9216-41B2E3F6738A}"/>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A2EB8741-5B77-42B2-B531-F135458F4BD7}" type="slidenum">
              <a:rPr lang="de-DE" altLang="en-US" sz="1100">
                <a:solidFill>
                  <a:schemeClr val="tx1">
                    <a:lumMod val="50000"/>
                    <a:lumOff val="50000"/>
                  </a:schemeClr>
                </a:solidFill>
              </a:rPr>
              <a:pPr>
                <a:spcAft>
                  <a:spcPts val="600"/>
                </a:spcAft>
              </a:pPr>
              <a:t>26</a:t>
            </a:fld>
            <a:endParaRPr lang="de-DE" altLang="en-US" sz="1100">
              <a:solidFill>
                <a:schemeClr val="tx1">
                  <a:lumMod val="50000"/>
                  <a:lumOff val="50000"/>
                </a:schemeClr>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3">
            <a:extLst>
              <a:ext uri="{FF2B5EF4-FFF2-40B4-BE49-F238E27FC236}">
                <a16:creationId xmlns:a16="http://schemas.microsoft.com/office/drawing/2014/main" id="{DCCB7624-B102-F0BE-7A11-C0EDE2BA2D00}"/>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98C7974-E7D0-459C-AC94-F83012E546C1}" type="slidenum">
              <a:rPr lang="de-DE" altLang="en-US" sz="1000"/>
              <a:pPr/>
              <a:t>27</a:t>
            </a:fld>
            <a:endParaRPr lang="de-DE" altLang="en-US" sz="1000"/>
          </a:p>
        </p:txBody>
      </p:sp>
      <p:pic>
        <p:nvPicPr>
          <p:cNvPr id="41987" name="Picture 2">
            <a:extLst>
              <a:ext uri="{FF2B5EF4-FFF2-40B4-BE49-F238E27FC236}">
                <a16:creationId xmlns:a16="http://schemas.microsoft.com/office/drawing/2014/main" id="{BBBD81C7-6907-48B0-3CCF-9F6D5B9804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7800" y="4495801"/>
            <a:ext cx="3227388" cy="1812925"/>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41988" name="Rectangle 3">
            <a:extLst>
              <a:ext uri="{FF2B5EF4-FFF2-40B4-BE49-F238E27FC236}">
                <a16:creationId xmlns:a16="http://schemas.microsoft.com/office/drawing/2014/main" id="{C91A806F-7534-18AF-9EC7-2D23CEAA78D7}"/>
              </a:ext>
            </a:extLst>
          </p:cNvPr>
          <p:cNvSpPr>
            <a:spLocks noGrp="1" noChangeArrowheads="1"/>
          </p:cNvSpPr>
          <p:nvPr>
            <p:ph type="title"/>
          </p:nvPr>
        </p:nvSpPr>
        <p:spPr/>
        <p:txBody>
          <a:bodyPr/>
          <a:lstStyle/>
          <a:p>
            <a:r>
              <a:rPr lang="en-US" altLang="en-US"/>
              <a:t>Polymorphism – Example…</a:t>
            </a:r>
          </a:p>
        </p:txBody>
      </p:sp>
      <p:sp>
        <p:nvSpPr>
          <p:cNvPr id="41989" name="Rectangle 4">
            <a:extLst>
              <a:ext uri="{FF2B5EF4-FFF2-40B4-BE49-F238E27FC236}">
                <a16:creationId xmlns:a16="http://schemas.microsoft.com/office/drawing/2014/main" id="{F9F4D520-5368-6BB1-01DE-9F522FC2DCBD}"/>
              </a:ext>
            </a:extLst>
          </p:cNvPr>
          <p:cNvSpPr>
            <a:spLocks noGrp="1" noChangeArrowheads="1"/>
          </p:cNvSpPr>
          <p:nvPr>
            <p:ph type="body" idx="1"/>
          </p:nvPr>
        </p:nvSpPr>
        <p:spPr>
          <a:xfrm>
            <a:off x="838200" y="1857375"/>
            <a:ext cx="11006138" cy="4114800"/>
          </a:xfrm>
        </p:spPr>
        <p:txBody>
          <a:bodyPr/>
          <a:lstStyle/>
          <a:p>
            <a:pPr marL="342900" indent="-342900"/>
            <a:r>
              <a:rPr lang="en-US" altLang="en-US" sz="2400" dirty="0"/>
              <a:t>In POS app, who should be responsible for authorizing different kinds of payments?</a:t>
            </a:r>
          </a:p>
          <a:p>
            <a:pPr marL="342900" indent="-342900"/>
            <a:r>
              <a:rPr lang="en-US" altLang="en-US" sz="2400" dirty="0"/>
              <a:t>We can take cash, check, credit or ATM payments and the authorize operation is different for each.</a:t>
            </a:r>
          </a:p>
          <a:p>
            <a:pPr marL="342900" indent="-342900"/>
            <a:r>
              <a:rPr lang="en-US" altLang="en-US" sz="2400" dirty="0"/>
              <a:t>By </a:t>
            </a:r>
            <a:r>
              <a:rPr lang="en-US" altLang="en-US" sz="2400" b="1" dirty="0">
                <a:solidFill>
                  <a:srgbClr val="FF0000"/>
                </a:solidFill>
              </a:rPr>
              <a:t>Polymorphism</a:t>
            </a:r>
            <a:r>
              <a:rPr lang="en-US" altLang="en-US" sz="2400" dirty="0"/>
              <a:t>, we assign responsibility to each payment type (inherit interface from abstract </a:t>
            </a:r>
            <a:r>
              <a:rPr lang="en-US" altLang="en-US" sz="2400" i="1" dirty="0"/>
              <a:t>Payment</a:t>
            </a:r>
            <a:r>
              <a:rPr lang="en-US" altLang="en-US" sz="2400" dirty="0"/>
              <a:t> class)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Number Placeholder 1">
            <a:extLst>
              <a:ext uri="{FF2B5EF4-FFF2-40B4-BE49-F238E27FC236}">
                <a16:creationId xmlns:a16="http://schemas.microsoft.com/office/drawing/2014/main" id="{0C84A4C1-546F-F212-506F-8C24284F4620}"/>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eaLnBrk="0" fontAlgn="base" hangingPunct="0">
              <a:spcBef>
                <a:spcPct val="0"/>
              </a:spcBef>
              <a:spcAft>
                <a:spcPct val="0"/>
              </a:spcAft>
            </a:pPr>
            <a:fld id="{8AFF950C-D448-4823-AAA3-F2DBC90E798F}" type="slidenum">
              <a:rPr lang="de-DE" altLang="en-US" sz="1000"/>
              <a:pPr eaLnBrk="0" fontAlgn="base" hangingPunct="0">
                <a:spcBef>
                  <a:spcPct val="0"/>
                </a:spcBef>
                <a:spcAft>
                  <a:spcPct val="0"/>
                </a:spcAft>
              </a:pPr>
              <a:t>28</a:t>
            </a:fld>
            <a:endParaRPr lang="de-DE" altLang="en-US" sz="1000"/>
          </a:p>
        </p:txBody>
      </p:sp>
      <p:pic>
        <p:nvPicPr>
          <p:cNvPr id="43011" name="Picture 2">
            <a:extLst>
              <a:ext uri="{FF2B5EF4-FFF2-40B4-BE49-F238E27FC236}">
                <a16:creationId xmlns:a16="http://schemas.microsoft.com/office/drawing/2014/main" id="{72D7830E-139D-4537-FEBB-E7C08AD44A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5789" y="600075"/>
            <a:ext cx="4740275" cy="354965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pic>
        <p:nvPicPr>
          <p:cNvPr id="891907" name="Picture 3">
            <a:extLst>
              <a:ext uri="{FF2B5EF4-FFF2-40B4-BE49-F238E27FC236}">
                <a16:creationId xmlns:a16="http://schemas.microsoft.com/office/drawing/2014/main" id="{E0363EF0-0C5C-36D9-4D88-9C28C312D9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59450" y="4038600"/>
            <a:ext cx="4749800" cy="2814638"/>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grpSp>
        <p:nvGrpSpPr>
          <p:cNvPr id="2" name="Group 4">
            <a:extLst>
              <a:ext uri="{FF2B5EF4-FFF2-40B4-BE49-F238E27FC236}">
                <a16:creationId xmlns:a16="http://schemas.microsoft.com/office/drawing/2014/main" id="{E7258EC0-1B83-CF8B-14DC-4408C0DCF5A9}"/>
              </a:ext>
            </a:extLst>
          </p:cNvPr>
          <p:cNvGrpSpPr>
            <a:grpSpLocks/>
          </p:cNvGrpSpPr>
          <p:nvPr/>
        </p:nvGrpSpPr>
        <p:grpSpPr bwMode="auto">
          <a:xfrm>
            <a:off x="4421189" y="850901"/>
            <a:ext cx="5349875" cy="4352925"/>
            <a:chOff x="1728" y="192"/>
            <a:chExt cx="3496" cy="2880"/>
          </a:xfrm>
        </p:grpSpPr>
        <p:sp>
          <p:nvSpPr>
            <p:cNvPr id="43018" name="Text Box 5">
              <a:extLst>
                <a:ext uri="{FF2B5EF4-FFF2-40B4-BE49-F238E27FC236}">
                  <a16:creationId xmlns:a16="http://schemas.microsoft.com/office/drawing/2014/main" id="{150C0414-ADF8-5730-D622-D25A24DEAABA}"/>
                </a:ext>
              </a:extLst>
            </p:cNvPr>
            <p:cNvSpPr txBox="1">
              <a:spLocks noChangeArrowheads="1"/>
            </p:cNvSpPr>
            <p:nvPr/>
          </p:nvSpPr>
          <p:spPr bwMode="auto">
            <a:xfrm>
              <a:off x="4176" y="846"/>
              <a:ext cx="962" cy="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fontAlgn="base">
                <a:spcBef>
                  <a:spcPct val="0"/>
                </a:spcBef>
                <a:spcAft>
                  <a:spcPct val="0"/>
                </a:spcAft>
              </a:pPr>
              <a:r>
                <a:rPr lang="en-US" altLang="en-US">
                  <a:solidFill>
                    <a:srgbClr val="990000"/>
                  </a:solidFill>
                  <a:latin typeface="Comic Sans MS" panose="030F0702030302020204" pitchFamily="66" charset="0"/>
                </a:rPr>
                <a:t>By Creator</a:t>
              </a:r>
            </a:p>
          </p:txBody>
        </p:sp>
        <p:sp>
          <p:nvSpPr>
            <p:cNvPr id="43019" name="Freeform 6">
              <a:extLst>
                <a:ext uri="{FF2B5EF4-FFF2-40B4-BE49-F238E27FC236}">
                  <a16:creationId xmlns:a16="http://schemas.microsoft.com/office/drawing/2014/main" id="{29BEA267-3778-DB6F-91BD-D3D9926A2FF1}"/>
                </a:ext>
              </a:extLst>
            </p:cNvPr>
            <p:cNvSpPr>
              <a:spLocks/>
            </p:cNvSpPr>
            <p:nvPr/>
          </p:nvSpPr>
          <p:spPr bwMode="auto">
            <a:xfrm>
              <a:off x="1728" y="192"/>
              <a:ext cx="2303" cy="800"/>
            </a:xfrm>
            <a:custGeom>
              <a:avLst/>
              <a:gdLst>
                <a:gd name="T0" fmla="*/ 2300 w 2304"/>
                <a:gd name="T1" fmla="*/ 800 h 800"/>
                <a:gd name="T2" fmla="*/ 912 w 2304"/>
                <a:gd name="T3" fmla="*/ 80 h 800"/>
                <a:gd name="T4" fmla="*/ 0 w 2304"/>
                <a:gd name="T5" fmla="*/ 320 h 800"/>
                <a:gd name="T6" fmla="*/ 0 60000 65536"/>
                <a:gd name="T7" fmla="*/ 0 60000 65536"/>
                <a:gd name="T8" fmla="*/ 0 60000 65536"/>
                <a:gd name="T9" fmla="*/ 0 w 2304"/>
                <a:gd name="T10" fmla="*/ 0 h 800"/>
                <a:gd name="T11" fmla="*/ 2304 w 2304"/>
                <a:gd name="T12" fmla="*/ 800 h 800"/>
              </a:gdLst>
              <a:ahLst/>
              <a:cxnLst>
                <a:cxn ang="T6">
                  <a:pos x="T0" y="T1"/>
                </a:cxn>
                <a:cxn ang="T7">
                  <a:pos x="T2" y="T3"/>
                </a:cxn>
                <a:cxn ang="T8">
                  <a:pos x="T4" y="T5"/>
                </a:cxn>
              </a:cxnLst>
              <a:rect l="T9" t="T10" r="T11" b="T12"/>
              <a:pathLst>
                <a:path w="2304" h="800">
                  <a:moveTo>
                    <a:pt x="2304" y="800"/>
                  </a:moveTo>
                  <a:cubicBezTo>
                    <a:pt x="1800" y="480"/>
                    <a:pt x="1296" y="160"/>
                    <a:pt x="912" y="80"/>
                  </a:cubicBezTo>
                  <a:cubicBezTo>
                    <a:pt x="528" y="0"/>
                    <a:pt x="152" y="280"/>
                    <a:pt x="0" y="320"/>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20" name="Freeform 7">
              <a:extLst>
                <a:ext uri="{FF2B5EF4-FFF2-40B4-BE49-F238E27FC236}">
                  <a16:creationId xmlns:a16="http://schemas.microsoft.com/office/drawing/2014/main" id="{A6F287EA-375E-9F64-4287-E9D7E3C9D31B}"/>
                </a:ext>
              </a:extLst>
            </p:cNvPr>
            <p:cNvSpPr>
              <a:spLocks/>
            </p:cNvSpPr>
            <p:nvPr/>
          </p:nvSpPr>
          <p:spPr bwMode="auto">
            <a:xfrm>
              <a:off x="2256" y="1008"/>
              <a:ext cx="1776" cy="240"/>
            </a:xfrm>
            <a:custGeom>
              <a:avLst/>
              <a:gdLst>
                <a:gd name="T0" fmla="*/ 0 w 1776"/>
                <a:gd name="T1" fmla="*/ 0 h 240"/>
                <a:gd name="T2" fmla="*/ 1248 w 1776"/>
                <a:gd name="T3" fmla="*/ 240 h 240"/>
                <a:gd name="T4" fmla="*/ 1776 w 1776"/>
                <a:gd name="T5" fmla="*/ 0 h 240"/>
                <a:gd name="T6" fmla="*/ 0 60000 65536"/>
                <a:gd name="T7" fmla="*/ 0 60000 65536"/>
                <a:gd name="T8" fmla="*/ 0 60000 65536"/>
                <a:gd name="T9" fmla="*/ 0 w 1776"/>
                <a:gd name="T10" fmla="*/ 0 h 240"/>
                <a:gd name="T11" fmla="*/ 1776 w 1776"/>
                <a:gd name="T12" fmla="*/ 240 h 240"/>
              </a:gdLst>
              <a:ahLst/>
              <a:cxnLst>
                <a:cxn ang="T6">
                  <a:pos x="T0" y="T1"/>
                </a:cxn>
                <a:cxn ang="T7">
                  <a:pos x="T2" y="T3"/>
                </a:cxn>
                <a:cxn ang="T8">
                  <a:pos x="T4" y="T5"/>
                </a:cxn>
              </a:cxnLst>
              <a:rect l="T9" t="T10" r="T11" b="T12"/>
              <a:pathLst>
                <a:path w="1776" h="240">
                  <a:moveTo>
                    <a:pt x="0" y="0"/>
                  </a:moveTo>
                  <a:cubicBezTo>
                    <a:pt x="476" y="120"/>
                    <a:pt x="952" y="240"/>
                    <a:pt x="1248" y="240"/>
                  </a:cubicBezTo>
                  <a:cubicBezTo>
                    <a:pt x="1544" y="240"/>
                    <a:pt x="1660" y="120"/>
                    <a:pt x="1776" y="0"/>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21" name="Freeform 8">
              <a:extLst>
                <a:ext uri="{FF2B5EF4-FFF2-40B4-BE49-F238E27FC236}">
                  <a16:creationId xmlns:a16="http://schemas.microsoft.com/office/drawing/2014/main" id="{6DF88656-A458-9A18-C406-A5B583E2D3B2}"/>
                </a:ext>
              </a:extLst>
            </p:cNvPr>
            <p:cNvSpPr>
              <a:spLocks/>
            </p:cNvSpPr>
            <p:nvPr/>
          </p:nvSpPr>
          <p:spPr bwMode="auto">
            <a:xfrm>
              <a:off x="4032" y="1008"/>
              <a:ext cx="744" cy="1776"/>
            </a:xfrm>
            <a:custGeom>
              <a:avLst/>
              <a:gdLst>
                <a:gd name="T0" fmla="*/ 0 w 744"/>
                <a:gd name="T1" fmla="*/ 0 h 1776"/>
                <a:gd name="T2" fmla="*/ 672 w 744"/>
                <a:gd name="T3" fmla="*/ 1008 h 1776"/>
                <a:gd name="T4" fmla="*/ 432 w 744"/>
                <a:gd name="T5" fmla="*/ 1776 h 1776"/>
                <a:gd name="T6" fmla="*/ 0 60000 65536"/>
                <a:gd name="T7" fmla="*/ 0 60000 65536"/>
                <a:gd name="T8" fmla="*/ 0 60000 65536"/>
                <a:gd name="T9" fmla="*/ 0 w 744"/>
                <a:gd name="T10" fmla="*/ 0 h 1776"/>
                <a:gd name="T11" fmla="*/ 744 w 744"/>
                <a:gd name="T12" fmla="*/ 1776 h 1776"/>
              </a:gdLst>
              <a:ahLst/>
              <a:cxnLst>
                <a:cxn ang="T6">
                  <a:pos x="T0" y="T1"/>
                </a:cxn>
                <a:cxn ang="T7">
                  <a:pos x="T2" y="T3"/>
                </a:cxn>
                <a:cxn ang="T8">
                  <a:pos x="T4" y="T5"/>
                </a:cxn>
              </a:cxnLst>
              <a:rect l="T9" t="T10" r="T11" b="T12"/>
              <a:pathLst>
                <a:path w="744" h="1776">
                  <a:moveTo>
                    <a:pt x="0" y="0"/>
                  </a:moveTo>
                  <a:cubicBezTo>
                    <a:pt x="300" y="356"/>
                    <a:pt x="600" y="712"/>
                    <a:pt x="672" y="1008"/>
                  </a:cubicBezTo>
                  <a:cubicBezTo>
                    <a:pt x="744" y="1304"/>
                    <a:pt x="588" y="1540"/>
                    <a:pt x="432" y="1776"/>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22" name="Freeform 9">
              <a:extLst>
                <a:ext uri="{FF2B5EF4-FFF2-40B4-BE49-F238E27FC236}">
                  <a16:creationId xmlns:a16="http://schemas.microsoft.com/office/drawing/2014/main" id="{786F3657-0588-E1DD-C39E-5787726CC544}"/>
                </a:ext>
              </a:extLst>
            </p:cNvPr>
            <p:cNvSpPr>
              <a:spLocks/>
            </p:cNvSpPr>
            <p:nvPr/>
          </p:nvSpPr>
          <p:spPr bwMode="auto">
            <a:xfrm>
              <a:off x="4032" y="1008"/>
              <a:ext cx="1192" cy="2064"/>
            </a:xfrm>
            <a:custGeom>
              <a:avLst/>
              <a:gdLst>
                <a:gd name="T0" fmla="*/ 0 w 1192"/>
                <a:gd name="T1" fmla="*/ 0 h 2064"/>
                <a:gd name="T2" fmla="*/ 1056 w 1192"/>
                <a:gd name="T3" fmla="*/ 960 h 2064"/>
                <a:gd name="T4" fmla="*/ 816 w 1192"/>
                <a:gd name="T5" fmla="*/ 2064 h 2064"/>
                <a:gd name="T6" fmla="*/ 0 60000 65536"/>
                <a:gd name="T7" fmla="*/ 0 60000 65536"/>
                <a:gd name="T8" fmla="*/ 0 60000 65536"/>
                <a:gd name="T9" fmla="*/ 0 w 1192"/>
                <a:gd name="T10" fmla="*/ 0 h 2064"/>
                <a:gd name="T11" fmla="*/ 1192 w 1192"/>
                <a:gd name="T12" fmla="*/ 2064 h 2064"/>
              </a:gdLst>
              <a:ahLst/>
              <a:cxnLst>
                <a:cxn ang="T6">
                  <a:pos x="T0" y="T1"/>
                </a:cxn>
                <a:cxn ang="T7">
                  <a:pos x="T2" y="T3"/>
                </a:cxn>
                <a:cxn ang="T8">
                  <a:pos x="T4" y="T5"/>
                </a:cxn>
              </a:cxnLst>
              <a:rect l="T9" t="T10" r="T11" b="T12"/>
              <a:pathLst>
                <a:path w="1192" h="2064">
                  <a:moveTo>
                    <a:pt x="0" y="0"/>
                  </a:moveTo>
                  <a:cubicBezTo>
                    <a:pt x="460" y="308"/>
                    <a:pt x="920" y="616"/>
                    <a:pt x="1056" y="960"/>
                  </a:cubicBezTo>
                  <a:cubicBezTo>
                    <a:pt x="1192" y="1304"/>
                    <a:pt x="1004" y="1684"/>
                    <a:pt x="816" y="2064"/>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grpSp>
      <p:grpSp>
        <p:nvGrpSpPr>
          <p:cNvPr id="3" name="Group 10">
            <a:extLst>
              <a:ext uri="{FF2B5EF4-FFF2-40B4-BE49-F238E27FC236}">
                <a16:creationId xmlns:a16="http://schemas.microsoft.com/office/drawing/2014/main" id="{EF3CC615-0DAF-5A06-49A6-3F66DB7870B0}"/>
              </a:ext>
            </a:extLst>
          </p:cNvPr>
          <p:cNvGrpSpPr>
            <a:grpSpLocks/>
          </p:cNvGrpSpPr>
          <p:nvPr/>
        </p:nvGrpSpPr>
        <p:grpSpPr bwMode="auto">
          <a:xfrm>
            <a:off x="2400301" y="2362200"/>
            <a:ext cx="5141913" cy="3416300"/>
            <a:chOff x="480" y="1152"/>
            <a:chExt cx="3360" cy="2261"/>
          </a:xfrm>
        </p:grpSpPr>
        <p:sp>
          <p:nvSpPr>
            <p:cNvPr id="43015" name="Text Box 11">
              <a:extLst>
                <a:ext uri="{FF2B5EF4-FFF2-40B4-BE49-F238E27FC236}">
                  <a16:creationId xmlns:a16="http://schemas.microsoft.com/office/drawing/2014/main" id="{2DEB2165-351B-D907-E403-5C2709CD3051}"/>
                </a:ext>
              </a:extLst>
            </p:cNvPr>
            <p:cNvSpPr txBox="1">
              <a:spLocks noChangeArrowheads="1"/>
            </p:cNvSpPr>
            <p:nvPr/>
          </p:nvSpPr>
          <p:spPr bwMode="auto">
            <a:xfrm>
              <a:off x="480" y="3150"/>
              <a:ext cx="1403" cy="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fontAlgn="base">
                <a:spcBef>
                  <a:spcPct val="0"/>
                </a:spcBef>
                <a:spcAft>
                  <a:spcPct val="0"/>
                </a:spcAft>
              </a:pPr>
              <a:r>
                <a:rPr lang="en-US" altLang="en-US">
                  <a:solidFill>
                    <a:srgbClr val="990000"/>
                  </a:solidFill>
                  <a:latin typeface="Comic Sans MS" panose="030F0702030302020204" pitchFamily="66" charset="0"/>
                </a:rPr>
                <a:t>By Polymorphism</a:t>
              </a:r>
            </a:p>
          </p:txBody>
        </p:sp>
        <p:sp>
          <p:nvSpPr>
            <p:cNvPr id="43016" name="Freeform 12">
              <a:extLst>
                <a:ext uri="{FF2B5EF4-FFF2-40B4-BE49-F238E27FC236}">
                  <a16:creationId xmlns:a16="http://schemas.microsoft.com/office/drawing/2014/main" id="{D906BC62-5264-2B05-EDA8-86E86566FD23}"/>
                </a:ext>
              </a:extLst>
            </p:cNvPr>
            <p:cNvSpPr>
              <a:spLocks/>
            </p:cNvSpPr>
            <p:nvPr/>
          </p:nvSpPr>
          <p:spPr bwMode="auto">
            <a:xfrm>
              <a:off x="1296" y="1152"/>
              <a:ext cx="480" cy="1872"/>
            </a:xfrm>
            <a:custGeom>
              <a:avLst/>
              <a:gdLst>
                <a:gd name="T0" fmla="*/ 480 w 480"/>
                <a:gd name="T1" fmla="*/ 0 h 1872"/>
                <a:gd name="T2" fmla="*/ 96 w 480"/>
                <a:gd name="T3" fmla="*/ 1008 h 1872"/>
                <a:gd name="T4" fmla="*/ 0 w 480"/>
                <a:gd name="T5" fmla="*/ 1872 h 1872"/>
                <a:gd name="T6" fmla="*/ 0 60000 65536"/>
                <a:gd name="T7" fmla="*/ 0 60000 65536"/>
                <a:gd name="T8" fmla="*/ 0 60000 65536"/>
                <a:gd name="T9" fmla="*/ 0 w 480"/>
                <a:gd name="T10" fmla="*/ 0 h 1872"/>
                <a:gd name="T11" fmla="*/ 480 w 480"/>
                <a:gd name="T12" fmla="*/ 1872 h 1872"/>
              </a:gdLst>
              <a:ahLst/>
              <a:cxnLst>
                <a:cxn ang="T6">
                  <a:pos x="T0" y="T1"/>
                </a:cxn>
                <a:cxn ang="T7">
                  <a:pos x="T2" y="T3"/>
                </a:cxn>
                <a:cxn ang="T8">
                  <a:pos x="T4" y="T5"/>
                </a:cxn>
              </a:cxnLst>
              <a:rect l="T9" t="T10" r="T11" b="T12"/>
              <a:pathLst>
                <a:path w="480" h="1872">
                  <a:moveTo>
                    <a:pt x="480" y="0"/>
                  </a:moveTo>
                  <a:cubicBezTo>
                    <a:pt x="328" y="348"/>
                    <a:pt x="176" y="696"/>
                    <a:pt x="96" y="1008"/>
                  </a:cubicBezTo>
                  <a:cubicBezTo>
                    <a:pt x="16" y="1320"/>
                    <a:pt x="8" y="1596"/>
                    <a:pt x="0" y="1872"/>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17" name="Freeform 13">
              <a:extLst>
                <a:ext uri="{FF2B5EF4-FFF2-40B4-BE49-F238E27FC236}">
                  <a16:creationId xmlns:a16="http://schemas.microsoft.com/office/drawing/2014/main" id="{12E0CC7E-52A8-EB16-11C6-2ACA4F89DBD9}"/>
                </a:ext>
              </a:extLst>
            </p:cNvPr>
            <p:cNvSpPr>
              <a:spLocks/>
            </p:cNvSpPr>
            <p:nvPr/>
          </p:nvSpPr>
          <p:spPr bwMode="auto">
            <a:xfrm>
              <a:off x="2112" y="3256"/>
              <a:ext cx="1728" cy="56"/>
            </a:xfrm>
            <a:custGeom>
              <a:avLst/>
              <a:gdLst>
                <a:gd name="T0" fmla="*/ 0 w 1728"/>
                <a:gd name="T1" fmla="*/ 8 h 56"/>
                <a:gd name="T2" fmla="*/ 1248 w 1728"/>
                <a:gd name="T3" fmla="*/ 8 h 56"/>
                <a:gd name="T4" fmla="*/ 1728 w 1728"/>
                <a:gd name="T5" fmla="*/ 56 h 56"/>
                <a:gd name="T6" fmla="*/ 0 60000 65536"/>
                <a:gd name="T7" fmla="*/ 0 60000 65536"/>
                <a:gd name="T8" fmla="*/ 0 60000 65536"/>
                <a:gd name="T9" fmla="*/ 0 w 1728"/>
                <a:gd name="T10" fmla="*/ 0 h 56"/>
                <a:gd name="T11" fmla="*/ 1728 w 1728"/>
                <a:gd name="T12" fmla="*/ 56 h 56"/>
              </a:gdLst>
              <a:ahLst/>
              <a:cxnLst>
                <a:cxn ang="T6">
                  <a:pos x="T0" y="T1"/>
                </a:cxn>
                <a:cxn ang="T7">
                  <a:pos x="T2" y="T3"/>
                </a:cxn>
                <a:cxn ang="T8">
                  <a:pos x="T4" y="T5"/>
                </a:cxn>
              </a:cxnLst>
              <a:rect l="T9" t="T10" r="T11" b="T12"/>
              <a:pathLst>
                <a:path w="1728" h="56">
                  <a:moveTo>
                    <a:pt x="0" y="8"/>
                  </a:moveTo>
                  <a:cubicBezTo>
                    <a:pt x="480" y="4"/>
                    <a:pt x="960" y="0"/>
                    <a:pt x="1248" y="8"/>
                  </a:cubicBezTo>
                  <a:cubicBezTo>
                    <a:pt x="1536" y="16"/>
                    <a:pt x="1632" y="36"/>
                    <a:pt x="1728" y="56"/>
                  </a:cubicBezTo>
                </a:path>
              </a:pathLst>
            </a:custGeom>
            <a:noFill/>
            <a:ln w="12700">
              <a:solidFill>
                <a:srgbClr val="FF0000"/>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solidFill>
                  <a:srgbClr val="FF0000"/>
                </a:solidFill>
              </a:endParaRPr>
            </a:p>
          </p:txBody>
        </p:sp>
      </p:grpSp>
    </p:spTree>
  </p:cSld>
  <p:clrMapOvr>
    <a:masterClrMapping/>
  </p:clrMapOvr>
  <p:transition>
    <p:strips dir="rd"/>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9190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7"/>
            <a:ext cx="10881360" cy="4600067"/>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8, 9, 10, 11, 12, 13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marL="0" lvl="1" indent="0">
              <a:spcBef>
                <a:spcPts val="1200"/>
              </a:spcBef>
              <a:buNone/>
            </a:pPr>
            <a:endParaRPr lang="en-US" sz="3100" b="1" dirty="0"/>
          </a:p>
          <a:p>
            <a:pPr lvl="2" algn="just"/>
            <a:r>
              <a:rPr lang="en-US" sz="3100" dirty="0"/>
              <a:t>Project Deliverable 2 is due next Wednesday. </a:t>
            </a:r>
            <a:r>
              <a:rPr lang="en-US" sz="3100" u="sng" dirty="0"/>
              <a:t>This is a Team Submission.</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29</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43277" y="3553169"/>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002 My SCR template">
  <a:themeElements>
    <a:clrScheme name="">
      <a:dk1>
        <a:srgbClr val="336699"/>
      </a:dk1>
      <a:lt1>
        <a:srgbClr val="FFFFFF"/>
      </a:lt1>
      <a:dk2>
        <a:srgbClr val="999999"/>
      </a:dk2>
      <a:lt2>
        <a:srgbClr val="990000"/>
      </a:lt2>
      <a:accent1>
        <a:srgbClr val="FFCC00"/>
      </a:accent1>
      <a:accent2>
        <a:srgbClr val="FF9900"/>
      </a:accent2>
      <a:accent3>
        <a:srgbClr val="FFFFFF"/>
      </a:accent3>
      <a:accent4>
        <a:srgbClr val="2A5682"/>
      </a:accent4>
      <a:accent5>
        <a:srgbClr val="FFE2AA"/>
      </a:accent5>
      <a:accent6>
        <a:srgbClr val="E78A00"/>
      </a:accent6>
      <a:hlink>
        <a:srgbClr val="99CC66"/>
      </a:hlink>
      <a:folHlink>
        <a:srgbClr val="336699"/>
      </a:folHlink>
    </a:clrScheme>
    <a:fontScheme name="2002 My SCR template">
      <a:majorFont>
        <a:latin typeface="Arial Narrow"/>
        <a:ea typeface=""/>
        <a:cs typeface=""/>
      </a:majorFont>
      <a:minorFont>
        <a:latin typeface="Arial Narro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lnDef>
  </a:objectDefaults>
  <a:extraClrSchemeLst>
    <a:extraClrScheme>
      <a:clrScheme name="2002 My SCR template 1">
        <a:dk1>
          <a:srgbClr val="002B5D"/>
        </a:dk1>
        <a:lt1>
          <a:srgbClr val="FFFFFF"/>
        </a:lt1>
        <a:dk2>
          <a:srgbClr val="FF9B06"/>
        </a:dk2>
        <a:lt2>
          <a:srgbClr val="641014"/>
        </a:lt2>
        <a:accent1>
          <a:srgbClr val="ACCF00"/>
        </a:accent1>
        <a:accent2>
          <a:srgbClr val="C8DB57"/>
        </a:accent2>
        <a:accent3>
          <a:srgbClr val="FFFFFF"/>
        </a:accent3>
        <a:accent4>
          <a:srgbClr val="00234E"/>
        </a:accent4>
        <a:accent5>
          <a:srgbClr val="D2E4AA"/>
        </a:accent5>
        <a:accent6>
          <a:srgbClr val="B5C64E"/>
        </a:accent6>
        <a:hlink>
          <a:srgbClr val="D8DE91"/>
        </a:hlink>
        <a:folHlink>
          <a:srgbClr val="E4E8B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1094</TotalTime>
  <Words>2411</Words>
  <Application>Microsoft Macintosh PowerPoint</Application>
  <PresentationFormat>Widescreen</PresentationFormat>
  <Paragraphs>344</Paragraphs>
  <Slides>30</Slides>
  <Notes>19</Notes>
  <HiddenSlides>0</HiddenSlides>
  <MMClips>1</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30</vt:i4>
      </vt:variant>
    </vt:vector>
  </HeadingPairs>
  <TitlesOfParts>
    <vt:vector size="44" baseType="lpstr">
      <vt:lpstr>Arial</vt:lpstr>
      <vt:lpstr>Arial Narrow</vt:lpstr>
      <vt:lpstr>Calibri</vt:lpstr>
      <vt:lpstr>Calibri Light</vt:lpstr>
      <vt:lpstr>Comic Sans MS</vt:lpstr>
      <vt:lpstr>Helvetica</vt:lpstr>
      <vt:lpstr>Marlett</vt:lpstr>
      <vt:lpstr>Rockwell Extra Bold</vt:lpstr>
      <vt:lpstr>SIEMENS-Firmenmarke</vt:lpstr>
      <vt:lpstr>Times New Roman</vt:lpstr>
      <vt:lpstr>Wingdings</vt:lpstr>
      <vt:lpstr>Office Theme</vt:lpstr>
      <vt:lpstr>2002 My SCR template</vt:lpstr>
      <vt:lpstr>Wood Type</vt:lpstr>
      <vt:lpstr>Software Engineering CS411, FALL 2025 </vt:lpstr>
      <vt:lpstr>Lesson plan</vt:lpstr>
      <vt:lpstr>CONTROLLER PATTERN</vt:lpstr>
      <vt:lpstr>Controller</vt:lpstr>
      <vt:lpstr>…Controller</vt:lpstr>
      <vt:lpstr>Controller – Example…</vt:lpstr>
      <vt:lpstr>…Controller – Example…</vt:lpstr>
      <vt:lpstr>…Controller – Example…</vt:lpstr>
      <vt:lpstr>PowerPoint Presentation</vt:lpstr>
      <vt:lpstr>Controller</vt:lpstr>
      <vt:lpstr>Controller Summary</vt:lpstr>
      <vt:lpstr>PowerPoint Presentation</vt:lpstr>
      <vt:lpstr>LOW COUPLING AND HIGH COHESION</vt:lpstr>
      <vt:lpstr>Low Coupling</vt:lpstr>
      <vt:lpstr>Low-Coupling – Example…</vt:lpstr>
      <vt:lpstr>…Low-Coupling – Example…</vt:lpstr>
      <vt:lpstr>Low Coupling</vt:lpstr>
      <vt:lpstr>Example: Domain Model Diagram</vt:lpstr>
      <vt:lpstr>High Cohesion…</vt:lpstr>
      <vt:lpstr>High Cohesion – Example…</vt:lpstr>
      <vt:lpstr>…High Cohesion – Example…</vt:lpstr>
      <vt:lpstr>High Cohesion</vt:lpstr>
      <vt:lpstr>PowerPoint Presentation</vt:lpstr>
      <vt:lpstr>Polymorphism…</vt:lpstr>
      <vt:lpstr>Polymorphism…</vt:lpstr>
      <vt:lpstr>…Polymorphism</vt:lpstr>
      <vt:lpstr>Polymorphism – Example…</vt:lpstr>
      <vt:lpstr>PowerPoint Presentation</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Kontothanassis, Leonidas</cp:lastModifiedBy>
  <cp:revision>68</cp:revision>
  <dcterms:created xsi:type="dcterms:W3CDTF">2022-09-05T18:50:47Z</dcterms:created>
  <dcterms:modified xsi:type="dcterms:W3CDTF">2025-09-24T17:27:08Z</dcterms:modified>
</cp:coreProperties>
</file>