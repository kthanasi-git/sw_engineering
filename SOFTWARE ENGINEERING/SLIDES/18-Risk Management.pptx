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4.xml" ContentType="application/vnd.openxmlformats-officedocument.theme+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5.xml" ContentType="application/vnd.openxmlformats-officedocument.theme+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theme/theme6.xml" ContentType="application/vnd.openxmlformats-officedocument.theme+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2" r:id="rId3"/>
    <p:sldMasterId id="2147483697" r:id="rId4"/>
    <p:sldMasterId id="2147483724" r:id="rId5"/>
    <p:sldMasterId id="2147483737" r:id="rId6"/>
    <p:sldMasterId id="2147483749" r:id="rId7"/>
  </p:sldMasterIdLst>
  <p:notesMasterIdLst>
    <p:notesMasterId r:id="rId63"/>
  </p:notesMasterIdLst>
  <p:sldIdLst>
    <p:sldId id="777" r:id="rId8"/>
    <p:sldId id="781" r:id="rId9"/>
    <p:sldId id="778" r:id="rId10"/>
    <p:sldId id="412" r:id="rId11"/>
    <p:sldId id="414" r:id="rId12"/>
    <p:sldId id="415" r:id="rId13"/>
    <p:sldId id="382" r:id="rId14"/>
    <p:sldId id="383" r:id="rId15"/>
    <p:sldId id="390" r:id="rId16"/>
    <p:sldId id="391" r:id="rId17"/>
    <p:sldId id="783" r:id="rId18"/>
    <p:sldId id="417" r:id="rId19"/>
    <p:sldId id="368" r:id="rId20"/>
    <p:sldId id="385" r:id="rId21"/>
    <p:sldId id="386" r:id="rId22"/>
    <p:sldId id="418" r:id="rId23"/>
    <p:sldId id="419" r:id="rId24"/>
    <p:sldId id="434" r:id="rId25"/>
    <p:sldId id="433" r:id="rId26"/>
    <p:sldId id="436" r:id="rId27"/>
    <p:sldId id="779" r:id="rId28"/>
    <p:sldId id="665" r:id="rId29"/>
    <p:sldId id="666" r:id="rId30"/>
    <p:sldId id="667" r:id="rId31"/>
    <p:sldId id="668" r:id="rId32"/>
    <p:sldId id="670" r:id="rId33"/>
    <p:sldId id="782" r:id="rId34"/>
    <p:sldId id="775" r:id="rId35"/>
    <p:sldId id="357" r:id="rId36"/>
    <p:sldId id="776" r:id="rId37"/>
    <p:sldId id="764" r:id="rId38"/>
    <p:sldId id="765" r:id="rId39"/>
    <p:sldId id="354" r:id="rId40"/>
    <p:sldId id="355" r:id="rId41"/>
    <p:sldId id="358" r:id="rId42"/>
    <p:sldId id="359" r:id="rId43"/>
    <p:sldId id="360" r:id="rId44"/>
    <p:sldId id="768" r:id="rId45"/>
    <p:sldId id="376" r:id="rId46"/>
    <p:sldId id="451" r:id="rId47"/>
    <p:sldId id="452" r:id="rId48"/>
    <p:sldId id="757" r:id="rId49"/>
    <p:sldId id="406" r:id="rId50"/>
    <p:sldId id="442" r:id="rId51"/>
    <p:sldId id="407" r:id="rId52"/>
    <p:sldId id="468" r:id="rId53"/>
    <p:sldId id="769" r:id="rId54"/>
    <p:sldId id="435" r:id="rId55"/>
    <p:sldId id="770" r:id="rId56"/>
    <p:sldId id="437" r:id="rId57"/>
    <p:sldId id="438" r:id="rId58"/>
    <p:sldId id="439" r:id="rId59"/>
    <p:sldId id="440" r:id="rId60"/>
    <p:sldId id="441" r:id="rId61"/>
    <p:sldId id="780"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76986"/>
  </p:normalViewPr>
  <p:slideViewPr>
    <p:cSldViewPr snapToGrid="0">
      <p:cViewPr varScale="1">
        <p:scale>
          <a:sx n="96" d="100"/>
          <a:sy n="96"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notesMaster" Target="notesMasters/notesMaster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theme" Target="theme/theme1.xml"/><Relationship Id="rId5" Type="http://schemas.openxmlformats.org/officeDocument/2006/relationships/slideMaster" Target="slideMasters/slideMaster5.xml"/><Relationship Id="rId61" Type="http://schemas.openxmlformats.org/officeDocument/2006/relationships/slide" Target="slides/slide54.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presProps" Target="presProps.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tableStyles" Target="tableStyles.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F6DED4B-9FE1-4C85-A603-F6AD2710929E}"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D65F50E8-6D9B-4D72-89E5-D93CB541B7ED}">
      <dgm:prSet/>
      <dgm:spPr/>
      <dgm:t>
        <a:bodyPr/>
        <a:lstStyle/>
        <a:p>
          <a:r>
            <a:rPr lang="en-US"/>
            <a:t>Requirement links to tests</a:t>
          </a:r>
        </a:p>
      </dgm:t>
    </dgm:pt>
    <dgm:pt modelId="{19F90551-79DD-48D4-96AB-D0B758DE9CA4}" type="parTrans" cxnId="{EEA794C2-226D-446F-A251-A4A5D41B5FE2}">
      <dgm:prSet/>
      <dgm:spPr/>
      <dgm:t>
        <a:bodyPr/>
        <a:lstStyle/>
        <a:p>
          <a:endParaRPr lang="en-US"/>
        </a:p>
      </dgm:t>
    </dgm:pt>
    <dgm:pt modelId="{900731CD-5548-4D59-BA3A-269E2D92DF4F}" type="sibTrans" cxnId="{EEA794C2-226D-446F-A251-A4A5D41B5FE2}">
      <dgm:prSet/>
      <dgm:spPr/>
      <dgm:t>
        <a:bodyPr/>
        <a:lstStyle/>
        <a:p>
          <a:endParaRPr lang="en-US"/>
        </a:p>
      </dgm:t>
    </dgm:pt>
    <dgm:pt modelId="{152A698C-54C4-4383-8351-347E07173046}">
      <dgm:prSet/>
      <dgm:spPr/>
      <dgm:t>
        <a:bodyPr/>
        <a:lstStyle/>
        <a:p>
          <a:r>
            <a:rPr lang="en-US"/>
            <a:t>Level 3 requirement linkage to tests</a:t>
          </a:r>
        </a:p>
      </dgm:t>
    </dgm:pt>
    <dgm:pt modelId="{3F60445C-BAE0-43FE-8350-675FB60F9873}" type="parTrans" cxnId="{9F54D1F5-39E6-4E95-B5C8-18BCCE1A067D}">
      <dgm:prSet/>
      <dgm:spPr/>
      <dgm:t>
        <a:bodyPr/>
        <a:lstStyle/>
        <a:p>
          <a:endParaRPr lang="en-US"/>
        </a:p>
      </dgm:t>
    </dgm:pt>
    <dgm:pt modelId="{2261B979-FDBB-494B-81AE-7DDA1A7BB0B3}" type="sibTrans" cxnId="{9F54D1F5-39E6-4E95-B5C8-18BCCE1A067D}">
      <dgm:prSet/>
      <dgm:spPr/>
      <dgm:t>
        <a:bodyPr/>
        <a:lstStyle/>
        <a:p>
          <a:endParaRPr lang="en-US"/>
        </a:p>
      </dgm:t>
    </dgm:pt>
    <dgm:pt modelId="{2D705008-3884-4836-83D6-DBCE855945BC}">
      <dgm:prSet/>
      <dgm:spPr/>
      <dgm:t>
        <a:bodyPr/>
        <a:lstStyle/>
        <a:p>
          <a:r>
            <a:rPr lang="en-US"/>
            <a:t>Level 4 requirement linkage to tests</a:t>
          </a:r>
        </a:p>
      </dgm:t>
    </dgm:pt>
    <dgm:pt modelId="{814E87FB-220E-4EDD-B15A-01CFE4378CB6}" type="parTrans" cxnId="{60701E3A-F8CC-408D-935D-EAFEAB34DD70}">
      <dgm:prSet/>
      <dgm:spPr/>
      <dgm:t>
        <a:bodyPr/>
        <a:lstStyle/>
        <a:p>
          <a:endParaRPr lang="en-US"/>
        </a:p>
      </dgm:t>
    </dgm:pt>
    <dgm:pt modelId="{B36DD97E-CE67-4355-96A4-2D4189A21722}" type="sibTrans" cxnId="{60701E3A-F8CC-408D-935D-EAFEAB34DD70}">
      <dgm:prSet/>
      <dgm:spPr/>
      <dgm:t>
        <a:bodyPr/>
        <a:lstStyle/>
        <a:p>
          <a:endParaRPr lang="en-US"/>
        </a:p>
      </dgm:t>
    </dgm:pt>
    <dgm:pt modelId="{16F0A57C-1173-41C2-8B36-0673C397CC00}">
      <dgm:prSet/>
      <dgm:spPr/>
      <dgm:t>
        <a:bodyPr/>
        <a:lstStyle/>
        <a:p>
          <a:r>
            <a:rPr lang="en-US"/>
            <a:t>Test span</a:t>
          </a:r>
        </a:p>
      </dgm:t>
    </dgm:pt>
    <dgm:pt modelId="{A9845214-A29A-4C36-8A41-B7420CE5B1C6}" type="parTrans" cxnId="{F07F077A-5AE4-4A05-A2DA-DB818300DC7C}">
      <dgm:prSet/>
      <dgm:spPr/>
      <dgm:t>
        <a:bodyPr/>
        <a:lstStyle/>
        <a:p>
          <a:endParaRPr lang="en-US"/>
        </a:p>
      </dgm:t>
    </dgm:pt>
    <dgm:pt modelId="{D86EA2E6-3681-4B3A-801E-1B9215E9E472}" type="sibTrans" cxnId="{F07F077A-5AE4-4A05-A2DA-DB818300DC7C}">
      <dgm:prSet/>
      <dgm:spPr/>
      <dgm:t>
        <a:bodyPr/>
        <a:lstStyle/>
        <a:p>
          <a:endParaRPr lang="en-US"/>
        </a:p>
      </dgm:t>
    </dgm:pt>
    <dgm:pt modelId="{245EA806-FE61-4ECD-8AE1-ED53967218E6}">
      <dgm:prSet/>
      <dgm:spPr/>
      <dgm:t>
        <a:bodyPr/>
        <a:lstStyle/>
        <a:p>
          <a:r>
            <a:rPr lang="en-US"/>
            <a:t>Testing complexity</a:t>
          </a:r>
        </a:p>
      </dgm:t>
    </dgm:pt>
    <dgm:pt modelId="{14BEB3E9-1526-45BD-AA2C-F9BA71CCF5CF}" type="parTrans" cxnId="{4DD06DA3-28C4-446C-8B97-98B9CFB77848}">
      <dgm:prSet/>
      <dgm:spPr/>
      <dgm:t>
        <a:bodyPr/>
        <a:lstStyle/>
        <a:p>
          <a:endParaRPr lang="en-US"/>
        </a:p>
      </dgm:t>
    </dgm:pt>
    <dgm:pt modelId="{E0ACFA95-67FD-422B-908E-C4BD3DAB635A}" type="sibTrans" cxnId="{4DD06DA3-28C4-446C-8B97-98B9CFB77848}">
      <dgm:prSet/>
      <dgm:spPr/>
      <dgm:t>
        <a:bodyPr/>
        <a:lstStyle/>
        <a:p>
          <a:endParaRPr lang="en-US"/>
        </a:p>
      </dgm:t>
    </dgm:pt>
    <dgm:pt modelId="{264DBD2A-B7EB-4361-9C96-40D867F901B2}" type="pres">
      <dgm:prSet presAssocID="{EF6DED4B-9FE1-4C85-A603-F6AD2710929E}" presName="linear" presStyleCnt="0">
        <dgm:presLayoutVars>
          <dgm:animLvl val="lvl"/>
          <dgm:resizeHandles val="exact"/>
        </dgm:presLayoutVars>
      </dgm:prSet>
      <dgm:spPr/>
    </dgm:pt>
    <dgm:pt modelId="{B271213F-C21A-45D3-88A4-4B18198EFE0E}" type="pres">
      <dgm:prSet presAssocID="{D65F50E8-6D9B-4D72-89E5-D93CB541B7ED}" presName="parentText" presStyleLbl="node1" presStyleIdx="0" presStyleCnt="3">
        <dgm:presLayoutVars>
          <dgm:chMax val="0"/>
          <dgm:bulletEnabled val="1"/>
        </dgm:presLayoutVars>
      </dgm:prSet>
      <dgm:spPr/>
    </dgm:pt>
    <dgm:pt modelId="{957EEE85-9C69-4FBE-A052-8D349038A324}" type="pres">
      <dgm:prSet presAssocID="{D65F50E8-6D9B-4D72-89E5-D93CB541B7ED}" presName="childText" presStyleLbl="revTx" presStyleIdx="0" presStyleCnt="1">
        <dgm:presLayoutVars>
          <dgm:bulletEnabled val="1"/>
        </dgm:presLayoutVars>
      </dgm:prSet>
      <dgm:spPr/>
    </dgm:pt>
    <dgm:pt modelId="{A388C055-F77B-4D4C-8C5A-2D2330F9AD45}" type="pres">
      <dgm:prSet presAssocID="{16F0A57C-1173-41C2-8B36-0673C397CC00}" presName="parentText" presStyleLbl="node1" presStyleIdx="1" presStyleCnt="3">
        <dgm:presLayoutVars>
          <dgm:chMax val="0"/>
          <dgm:bulletEnabled val="1"/>
        </dgm:presLayoutVars>
      </dgm:prSet>
      <dgm:spPr/>
    </dgm:pt>
    <dgm:pt modelId="{61EF74B4-A8D0-4153-88B1-B36124613CDD}" type="pres">
      <dgm:prSet presAssocID="{D86EA2E6-3681-4B3A-801E-1B9215E9E472}" presName="spacer" presStyleCnt="0"/>
      <dgm:spPr/>
    </dgm:pt>
    <dgm:pt modelId="{AB49BDCB-944D-44F0-8212-FEAEB03CDFD4}" type="pres">
      <dgm:prSet presAssocID="{245EA806-FE61-4ECD-8AE1-ED53967218E6}" presName="parentText" presStyleLbl="node1" presStyleIdx="2" presStyleCnt="3">
        <dgm:presLayoutVars>
          <dgm:chMax val="0"/>
          <dgm:bulletEnabled val="1"/>
        </dgm:presLayoutVars>
      </dgm:prSet>
      <dgm:spPr/>
    </dgm:pt>
  </dgm:ptLst>
  <dgm:cxnLst>
    <dgm:cxn modelId="{753A3122-66D8-4CEC-B468-E2428599FAE4}" type="presOf" srcId="{152A698C-54C4-4383-8351-347E07173046}" destId="{957EEE85-9C69-4FBE-A052-8D349038A324}" srcOrd="0" destOrd="0" presId="urn:microsoft.com/office/officeart/2005/8/layout/vList2"/>
    <dgm:cxn modelId="{96BE9922-BA4C-4C08-9FB6-45FCA9CDBE23}" type="presOf" srcId="{EF6DED4B-9FE1-4C85-A603-F6AD2710929E}" destId="{264DBD2A-B7EB-4361-9C96-40D867F901B2}" srcOrd="0" destOrd="0" presId="urn:microsoft.com/office/officeart/2005/8/layout/vList2"/>
    <dgm:cxn modelId="{60701E3A-F8CC-408D-935D-EAFEAB34DD70}" srcId="{D65F50E8-6D9B-4D72-89E5-D93CB541B7ED}" destId="{2D705008-3884-4836-83D6-DBCE855945BC}" srcOrd="1" destOrd="0" parTransId="{814E87FB-220E-4EDD-B15A-01CFE4378CB6}" sibTransId="{B36DD97E-CE67-4355-96A4-2D4189A21722}"/>
    <dgm:cxn modelId="{F07F077A-5AE4-4A05-A2DA-DB818300DC7C}" srcId="{EF6DED4B-9FE1-4C85-A603-F6AD2710929E}" destId="{16F0A57C-1173-41C2-8B36-0673C397CC00}" srcOrd="1" destOrd="0" parTransId="{A9845214-A29A-4C36-8A41-B7420CE5B1C6}" sibTransId="{D86EA2E6-3681-4B3A-801E-1B9215E9E472}"/>
    <dgm:cxn modelId="{9788A39B-0A69-4AA0-9533-0D4F30A3FB05}" type="presOf" srcId="{D65F50E8-6D9B-4D72-89E5-D93CB541B7ED}" destId="{B271213F-C21A-45D3-88A4-4B18198EFE0E}" srcOrd="0" destOrd="0" presId="urn:microsoft.com/office/officeart/2005/8/layout/vList2"/>
    <dgm:cxn modelId="{4DD06DA3-28C4-446C-8B97-98B9CFB77848}" srcId="{EF6DED4B-9FE1-4C85-A603-F6AD2710929E}" destId="{245EA806-FE61-4ECD-8AE1-ED53967218E6}" srcOrd="2" destOrd="0" parTransId="{14BEB3E9-1526-45BD-AA2C-F9BA71CCF5CF}" sibTransId="{E0ACFA95-67FD-422B-908E-C4BD3DAB635A}"/>
    <dgm:cxn modelId="{EEA794C2-226D-446F-A251-A4A5D41B5FE2}" srcId="{EF6DED4B-9FE1-4C85-A603-F6AD2710929E}" destId="{D65F50E8-6D9B-4D72-89E5-D93CB541B7ED}" srcOrd="0" destOrd="0" parTransId="{19F90551-79DD-48D4-96AB-D0B758DE9CA4}" sibTransId="{900731CD-5548-4D59-BA3A-269E2D92DF4F}"/>
    <dgm:cxn modelId="{2544D2C4-1C9F-4A2C-9BA1-F0FD2FFBC487}" type="presOf" srcId="{16F0A57C-1173-41C2-8B36-0673C397CC00}" destId="{A388C055-F77B-4D4C-8C5A-2D2330F9AD45}" srcOrd="0" destOrd="0" presId="urn:microsoft.com/office/officeart/2005/8/layout/vList2"/>
    <dgm:cxn modelId="{6C5ACACB-7C2F-49D6-A66F-A74507FC5E54}" type="presOf" srcId="{2D705008-3884-4836-83D6-DBCE855945BC}" destId="{957EEE85-9C69-4FBE-A052-8D349038A324}" srcOrd="0" destOrd="1" presId="urn:microsoft.com/office/officeart/2005/8/layout/vList2"/>
    <dgm:cxn modelId="{9F54D1F5-39E6-4E95-B5C8-18BCCE1A067D}" srcId="{D65F50E8-6D9B-4D72-89E5-D93CB541B7ED}" destId="{152A698C-54C4-4383-8351-347E07173046}" srcOrd="0" destOrd="0" parTransId="{3F60445C-BAE0-43FE-8350-675FB60F9873}" sibTransId="{2261B979-FDBB-494B-81AE-7DDA1A7BB0B3}"/>
    <dgm:cxn modelId="{6BFA7EFD-2233-4C41-BCEA-D9E943F5662D}" type="presOf" srcId="{245EA806-FE61-4ECD-8AE1-ED53967218E6}" destId="{AB49BDCB-944D-44F0-8212-FEAEB03CDFD4}" srcOrd="0" destOrd="0" presId="urn:microsoft.com/office/officeart/2005/8/layout/vList2"/>
    <dgm:cxn modelId="{B919FBC9-6E55-4095-AC96-F18267F28946}" type="presParOf" srcId="{264DBD2A-B7EB-4361-9C96-40D867F901B2}" destId="{B271213F-C21A-45D3-88A4-4B18198EFE0E}" srcOrd="0" destOrd="0" presId="urn:microsoft.com/office/officeart/2005/8/layout/vList2"/>
    <dgm:cxn modelId="{417B6B5C-2028-4D68-9E08-26E147A012E6}" type="presParOf" srcId="{264DBD2A-B7EB-4361-9C96-40D867F901B2}" destId="{957EEE85-9C69-4FBE-A052-8D349038A324}" srcOrd="1" destOrd="0" presId="urn:microsoft.com/office/officeart/2005/8/layout/vList2"/>
    <dgm:cxn modelId="{71AC55F0-2228-459F-97DC-563BF647C4A4}" type="presParOf" srcId="{264DBD2A-B7EB-4361-9C96-40D867F901B2}" destId="{A388C055-F77B-4D4C-8C5A-2D2330F9AD45}" srcOrd="2" destOrd="0" presId="urn:microsoft.com/office/officeart/2005/8/layout/vList2"/>
    <dgm:cxn modelId="{8CC3EA8E-0256-4D33-8D80-2C37545F8EDB}" type="presParOf" srcId="{264DBD2A-B7EB-4361-9C96-40D867F901B2}" destId="{61EF74B4-A8D0-4153-88B1-B36124613CDD}" srcOrd="3" destOrd="0" presId="urn:microsoft.com/office/officeart/2005/8/layout/vList2"/>
    <dgm:cxn modelId="{C6E99A50-DB57-4324-A4D3-7C8CCFE66FFB}" type="presParOf" srcId="{264DBD2A-B7EB-4361-9C96-40D867F901B2}" destId="{AB49BDCB-944D-44F0-8212-FEAEB03CDFD4}"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7F474B6-0C72-4B39-BBAE-A39F5010598E}"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F491C2A8-F16C-451E-9918-B3B57BDC5707}">
      <dgm:prSet/>
      <dgm:spPr/>
      <dgm:t>
        <a:bodyPr/>
        <a:lstStyle/>
        <a:p>
          <a:r>
            <a:rPr lang="en-US"/>
            <a:t>Used to characterize the test plan and identify insufficient or excessive testing</a:t>
          </a:r>
        </a:p>
      </dgm:t>
    </dgm:pt>
    <dgm:pt modelId="{806799D4-B442-4BC8-BBCD-D7B99BF0BA2A}" type="parTrans" cxnId="{338CB5A4-5313-40D7-A4E5-BE6E1DAC4843}">
      <dgm:prSet/>
      <dgm:spPr/>
      <dgm:t>
        <a:bodyPr/>
        <a:lstStyle/>
        <a:p>
          <a:endParaRPr lang="en-US"/>
        </a:p>
      </dgm:t>
    </dgm:pt>
    <dgm:pt modelId="{9FDEA7FE-7BE3-4031-8DF6-1B067400CC8A}" type="sibTrans" cxnId="{338CB5A4-5313-40D7-A4E5-BE6E1DAC4843}">
      <dgm:prSet/>
      <dgm:spPr/>
      <dgm:t>
        <a:bodyPr/>
        <a:lstStyle/>
        <a:p>
          <a:endParaRPr lang="en-US"/>
        </a:p>
      </dgm:t>
    </dgm:pt>
    <dgm:pt modelId="{D02E07E1-7187-4005-8B0F-98A93ED559F9}">
      <dgm:prSet/>
      <dgm:spPr/>
      <dgm:t>
        <a:bodyPr/>
        <a:lstStyle/>
        <a:p>
          <a:r>
            <a:rPr lang="en-US"/>
            <a:t>Requirements per test</a:t>
          </a:r>
        </a:p>
      </dgm:t>
    </dgm:pt>
    <dgm:pt modelId="{08CADD5E-BA87-4057-8ADB-72830CC55115}" type="parTrans" cxnId="{34A74DE8-6BE3-466D-BF98-CFB9CD5D7E21}">
      <dgm:prSet/>
      <dgm:spPr/>
      <dgm:t>
        <a:bodyPr/>
        <a:lstStyle/>
        <a:p>
          <a:endParaRPr lang="en-US"/>
        </a:p>
      </dgm:t>
    </dgm:pt>
    <dgm:pt modelId="{39B25034-432A-41F1-A57C-AAF11C73BE41}" type="sibTrans" cxnId="{34A74DE8-6BE3-466D-BF98-CFB9CD5D7E21}">
      <dgm:prSet/>
      <dgm:spPr/>
      <dgm:t>
        <a:bodyPr/>
        <a:lstStyle/>
        <a:p>
          <a:endParaRPr lang="en-US"/>
        </a:p>
      </dgm:t>
    </dgm:pt>
    <dgm:pt modelId="{7ED98F10-CDAD-465F-B4A5-22B1F1FEF4FD}">
      <dgm:prSet/>
      <dgm:spPr/>
      <dgm:t>
        <a:bodyPr/>
        <a:lstStyle/>
        <a:p>
          <a:r>
            <a:rPr lang="en-US"/>
            <a:t>Tests per requirement</a:t>
          </a:r>
        </a:p>
      </dgm:t>
    </dgm:pt>
    <dgm:pt modelId="{2DD58D32-28CF-471A-877A-FD1569C3A1FF}" type="parTrans" cxnId="{3EB3B8BF-CCD6-4ED5-ACD3-C529A389D3D9}">
      <dgm:prSet/>
      <dgm:spPr/>
      <dgm:t>
        <a:bodyPr/>
        <a:lstStyle/>
        <a:p>
          <a:endParaRPr lang="en-US"/>
        </a:p>
      </dgm:t>
    </dgm:pt>
    <dgm:pt modelId="{6C47AB09-A5D0-4866-8050-C64FC778B021}" type="sibTrans" cxnId="{3EB3B8BF-CCD6-4ED5-ACD3-C529A389D3D9}">
      <dgm:prSet/>
      <dgm:spPr/>
      <dgm:t>
        <a:bodyPr/>
        <a:lstStyle/>
        <a:p>
          <a:endParaRPr lang="en-US"/>
        </a:p>
      </dgm:t>
    </dgm:pt>
    <dgm:pt modelId="{B1C2F882-F394-49DB-9125-23972A9ACE41}">
      <dgm:prSet/>
      <dgm:spPr/>
      <dgm:t>
        <a:bodyPr/>
        <a:lstStyle/>
        <a:p>
          <a:r>
            <a:rPr lang="en-US"/>
            <a:t>Research still ongoing to determine appropriate statistics. Look for inconsistencies.</a:t>
          </a:r>
        </a:p>
      </dgm:t>
    </dgm:pt>
    <dgm:pt modelId="{12C3EB13-DAA1-4A8E-B797-7A93287D3FA6}" type="parTrans" cxnId="{89A767BE-6666-48BE-9002-7D5AFC99CBE7}">
      <dgm:prSet/>
      <dgm:spPr/>
      <dgm:t>
        <a:bodyPr/>
        <a:lstStyle/>
        <a:p>
          <a:endParaRPr lang="en-US"/>
        </a:p>
      </dgm:t>
    </dgm:pt>
    <dgm:pt modelId="{67AB9DD9-3A2C-4343-ACB8-30BCB14D61EE}" type="sibTrans" cxnId="{89A767BE-6666-48BE-9002-7D5AFC99CBE7}">
      <dgm:prSet/>
      <dgm:spPr/>
      <dgm:t>
        <a:bodyPr/>
        <a:lstStyle/>
        <a:p>
          <a:endParaRPr lang="en-US"/>
        </a:p>
      </dgm:t>
    </dgm:pt>
    <dgm:pt modelId="{B7907030-DD75-4FF3-B9C4-871C352AD8AB}">
      <dgm:prSet/>
      <dgm:spPr/>
      <dgm:t>
        <a:bodyPr/>
        <a:lstStyle/>
        <a:p>
          <a:r>
            <a:rPr lang="en-US"/>
            <a:t>But, there is always a trade off between time and cost of testing versus the comprehensiveness of testing.</a:t>
          </a:r>
        </a:p>
      </dgm:t>
    </dgm:pt>
    <dgm:pt modelId="{09CF4156-E06E-4CE3-9251-7B36A9F6688E}" type="parTrans" cxnId="{BD6C8145-6C3F-482A-A8AB-1F5292E3C6C3}">
      <dgm:prSet/>
      <dgm:spPr/>
      <dgm:t>
        <a:bodyPr/>
        <a:lstStyle/>
        <a:p>
          <a:endParaRPr lang="en-US"/>
        </a:p>
      </dgm:t>
    </dgm:pt>
    <dgm:pt modelId="{EEEF0D8C-90D1-48F5-880C-B198CC1A100A}" type="sibTrans" cxnId="{BD6C8145-6C3F-482A-A8AB-1F5292E3C6C3}">
      <dgm:prSet/>
      <dgm:spPr/>
      <dgm:t>
        <a:bodyPr/>
        <a:lstStyle/>
        <a:p>
          <a:endParaRPr lang="en-US"/>
        </a:p>
      </dgm:t>
    </dgm:pt>
    <dgm:pt modelId="{356FE67F-99F4-412A-8E5D-26259AE9E94A}" type="pres">
      <dgm:prSet presAssocID="{17F474B6-0C72-4B39-BBAE-A39F5010598E}" presName="linear" presStyleCnt="0">
        <dgm:presLayoutVars>
          <dgm:animLvl val="lvl"/>
          <dgm:resizeHandles val="exact"/>
        </dgm:presLayoutVars>
      </dgm:prSet>
      <dgm:spPr/>
    </dgm:pt>
    <dgm:pt modelId="{9385D1EE-8FF6-4265-BCC2-6ECDE50313E9}" type="pres">
      <dgm:prSet presAssocID="{F491C2A8-F16C-451E-9918-B3B57BDC5707}" presName="parentText" presStyleLbl="node1" presStyleIdx="0" presStyleCnt="3">
        <dgm:presLayoutVars>
          <dgm:chMax val="0"/>
          <dgm:bulletEnabled val="1"/>
        </dgm:presLayoutVars>
      </dgm:prSet>
      <dgm:spPr/>
    </dgm:pt>
    <dgm:pt modelId="{E2258C9F-F93A-4301-8AAE-8020BC247758}" type="pres">
      <dgm:prSet presAssocID="{F491C2A8-F16C-451E-9918-B3B57BDC5707}" presName="childText" presStyleLbl="revTx" presStyleIdx="0" presStyleCnt="1">
        <dgm:presLayoutVars>
          <dgm:bulletEnabled val="1"/>
        </dgm:presLayoutVars>
      </dgm:prSet>
      <dgm:spPr/>
    </dgm:pt>
    <dgm:pt modelId="{B7321B02-D032-4577-B179-06B1AE6D6AFC}" type="pres">
      <dgm:prSet presAssocID="{B1C2F882-F394-49DB-9125-23972A9ACE41}" presName="parentText" presStyleLbl="node1" presStyleIdx="1" presStyleCnt="3">
        <dgm:presLayoutVars>
          <dgm:chMax val="0"/>
          <dgm:bulletEnabled val="1"/>
        </dgm:presLayoutVars>
      </dgm:prSet>
      <dgm:spPr/>
    </dgm:pt>
    <dgm:pt modelId="{DA65D0F3-FCC5-4CD5-BFB2-87FB5F263AF3}" type="pres">
      <dgm:prSet presAssocID="{67AB9DD9-3A2C-4343-ACB8-30BCB14D61EE}" presName="spacer" presStyleCnt="0"/>
      <dgm:spPr/>
    </dgm:pt>
    <dgm:pt modelId="{F3F70F6D-0B86-4051-9AB0-EB269A9759B4}" type="pres">
      <dgm:prSet presAssocID="{B7907030-DD75-4FF3-B9C4-871C352AD8AB}" presName="parentText" presStyleLbl="node1" presStyleIdx="2" presStyleCnt="3">
        <dgm:presLayoutVars>
          <dgm:chMax val="0"/>
          <dgm:bulletEnabled val="1"/>
        </dgm:presLayoutVars>
      </dgm:prSet>
      <dgm:spPr/>
    </dgm:pt>
  </dgm:ptLst>
  <dgm:cxnLst>
    <dgm:cxn modelId="{C73FB315-6DB9-48FF-BA25-84D6E20C7D61}" type="presOf" srcId="{B1C2F882-F394-49DB-9125-23972A9ACE41}" destId="{B7321B02-D032-4577-B179-06B1AE6D6AFC}" srcOrd="0" destOrd="0" presId="urn:microsoft.com/office/officeart/2005/8/layout/vList2"/>
    <dgm:cxn modelId="{1DB9A81D-DC16-4D0F-B9B6-E11C1823CF46}" type="presOf" srcId="{17F474B6-0C72-4B39-BBAE-A39F5010598E}" destId="{356FE67F-99F4-412A-8E5D-26259AE9E94A}" srcOrd="0" destOrd="0" presId="urn:microsoft.com/office/officeart/2005/8/layout/vList2"/>
    <dgm:cxn modelId="{BD6C8145-6C3F-482A-A8AB-1F5292E3C6C3}" srcId="{17F474B6-0C72-4B39-BBAE-A39F5010598E}" destId="{B7907030-DD75-4FF3-B9C4-871C352AD8AB}" srcOrd="2" destOrd="0" parTransId="{09CF4156-E06E-4CE3-9251-7B36A9F6688E}" sibTransId="{EEEF0D8C-90D1-48F5-880C-B198CC1A100A}"/>
    <dgm:cxn modelId="{38BD584E-3D81-4122-9623-9246D60A2E20}" type="presOf" srcId="{D02E07E1-7187-4005-8B0F-98A93ED559F9}" destId="{E2258C9F-F93A-4301-8AAE-8020BC247758}" srcOrd="0" destOrd="0" presId="urn:microsoft.com/office/officeart/2005/8/layout/vList2"/>
    <dgm:cxn modelId="{71729F95-2C1B-4757-9D1F-40A31AB1F481}" type="presOf" srcId="{7ED98F10-CDAD-465F-B4A5-22B1F1FEF4FD}" destId="{E2258C9F-F93A-4301-8AAE-8020BC247758}" srcOrd="0" destOrd="1" presId="urn:microsoft.com/office/officeart/2005/8/layout/vList2"/>
    <dgm:cxn modelId="{F894619D-53DB-497F-BB5F-D199705E4CC7}" type="presOf" srcId="{F491C2A8-F16C-451E-9918-B3B57BDC5707}" destId="{9385D1EE-8FF6-4265-BCC2-6ECDE50313E9}" srcOrd="0" destOrd="0" presId="urn:microsoft.com/office/officeart/2005/8/layout/vList2"/>
    <dgm:cxn modelId="{338CB5A4-5313-40D7-A4E5-BE6E1DAC4843}" srcId="{17F474B6-0C72-4B39-BBAE-A39F5010598E}" destId="{F491C2A8-F16C-451E-9918-B3B57BDC5707}" srcOrd="0" destOrd="0" parTransId="{806799D4-B442-4BC8-BBCD-D7B99BF0BA2A}" sibTransId="{9FDEA7FE-7BE3-4031-8DF6-1B067400CC8A}"/>
    <dgm:cxn modelId="{5283BBAB-4C49-40AA-B0F1-6757EC0609D4}" type="presOf" srcId="{B7907030-DD75-4FF3-B9C4-871C352AD8AB}" destId="{F3F70F6D-0B86-4051-9AB0-EB269A9759B4}" srcOrd="0" destOrd="0" presId="urn:microsoft.com/office/officeart/2005/8/layout/vList2"/>
    <dgm:cxn modelId="{89A767BE-6666-48BE-9002-7D5AFC99CBE7}" srcId="{17F474B6-0C72-4B39-BBAE-A39F5010598E}" destId="{B1C2F882-F394-49DB-9125-23972A9ACE41}" srcOrd="1" destOrd="0" parTransId="{12C3EB13-DAA1-4A8E-B797-7A93287D3FA6}" sibTransId="{67AB9DD9-3A2C-4343-ACB8-30BCB14D61EE}"/>
    <dgm:cxn modelId="{3EB3B8BF-CCD6-4ED5-ACD3-C529A389D3D9}" srcId="{F491C2A8-F16C-451E-9918-B3B57BDC5707}" destId="{7ED98F10-CDAD-465F-B4A5-22B1F1FEF4FD}" srcOrd="1" destOrd="0" parTransId="{2DD58D32-28CF-471A-877A-FD1569C3A1FF}" sibTransId="{6C47AB09-A5D0-4866-8050-C64FC778B021}"/>
    <dgm:cxn modelId="{34A74DE8-6BE3-466D-BF98-CFB9CD5D7E21}" srcId="{F491C2A8-F16C-451E-9918-B3B57BDC5707}" destId="{D02E07E1-7187-4005-8B0F-98A93ED559F9}" srcOrd="0" destOrd="0" parTransId="{08CADD5E-BA87-4057-8ADB-72830CC55115}" sibTransId="{39B25034-432A-41F1-A57C-AAF11C73BE41}"/>
    <dgm:cxn modelId="{9C54C9B5-E6F4-4BDE-A741-977357D227B8}" type="presParOf" srcId="{356FE67F-99F4-412A-8E5D-26259AE9E94A}" destId="{9385D1EE-8FF6-4265-BCC2-6ECDE50313E9}" srcOrd="0" destOrd="0" presId="urn:microsoft.com/office/officeart/2005/8/layout/vList2"/>
    <dgm:cxn modelId="{42ABCB2C-3850-4EF0-822F-B1BACF4F217B}" type="presParOf" srcId="{356FE67F-99F4-412A-8E5D-26259AE9E94A}" destId="{E2258C9F-F93A-4301-8AAE-8020BC247758}" srcOrd="1" destOrd="0" presId="urn:microsoft.com/office/officeart/2005/8/layout/vList2"/>
    <dgm:cxn modelId="{99365527-469C-4F3B-9DD0-96D99D9ECB60}" type="presParOf" srcId="{356FE67F-99F4-412A-8E5D-26259AE9E94A}" destId="{B7321B02-D032-4577-B179-06B1AE6D6AFC}" srcOrd="2" destOrd="0" presId="urn:microsoft.com/office/officeart/2005/8/layout/vList2"/>
    <dgm:cxn modelId="{2D38333C-2AEF-4109-8634-BB4F768F10C0}" type="presParOf" srcId="{356FE67F-99F4-412A-8E5D-26259AE9E94A}" destId="{DA65D0F3-FCC5-4CD5-BFB2-87FB5F263AF3}" srcOrd="3" destOrd="0" presId="urn:microsoft.com/office/officeart/2005/8/layout/vList2"/>
    <dgm:cxn modelId="{F740A36F-0620-4F5B-B3F8-DC8731988094}" type="presParOf" srcId="{356FE67F-99F4-412A-8E5D-26259AE9E94A}" destId="{F3F70F6D-0B86-4051-9AB0-EB269A9759B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71213F-C21A-45D3-88A4-4B18198EFE0E}">
      <dsp:nvSpPr>
        <dsp:cNvPr id="0" name=""/>
        <dsp:cNvSpPr/>
      </dsp:nvSpPr>
      <dsp:spPr>
        <a:xfrm>
          <a:off x="0" y="10399"/>
          <a:ext cx="6666833" cy="10553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a:t>Requirement links to tests</a:t>
          </a:r>
        </a:p>
      </dsp:txBody>
      <dsp:txXfrm>
        <a:off x="51517" y="61916"/>
        <a:ext cx="6563799" cy="952306"/>
      </dsp:txXfrm>
    </dsp:sp>
    <dsp:sp modelId="{957EEE85-9C69-4FBE-A052-8D349038A324}">
      <dsp:nvSpPr>
        <dsp:cNvPr id="0" name=""/>
        <dsp:cNvSpPr/>
      </dsp:nvSpPr>
      <dsp:spPr>
        <a:xfrm>
          <a:off x="0" y="1065739"/>
          <a:ext cx="6666833" cy="21403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55880" rIns="312928" bIns="55880" numCol="1" spcCol="1270" anchor="t" anchorCtr="0">
          <a:noAutofit/>
        </a:bodyPr>
        <a:lstStyle/>
        <a:p>
          <a:pPr marL="285750" lvl="1" indent="-285750" algn="l" defTabSz="1511300">
            <a:lnSpc>
              <a:spcPct val="90000"/>
            </a:lnSpc>
            <a:spcBef>
              <a:spcPct val="0"/>
            </a:spcBef>
            <a:spcAft>
              <a:spcPct val="20000"/>
            </a:spcAft>
            <a:buChar char="•"/>
          </a:pPr>
          <a:r>
            <a:rPr lang="en-US" sz="3400" kern="1200"/>
            <a:t>Level 3 requirement linkage to tests</a:t>
          </a:r>
        </a:p>
        <a:p>
          <a:pPr marL="285750" lvl="1" indent="-285750" algn="l" defTabSz="1511300">
            <a:lnSpc>
              <a:spcPct val="90000"/>
            </a:lnSpc>
            <a:spcBef>
              <a:spcPct val="0"/>
            </a:spcBef>
            <a:spcAft>
              <a:spcPct val="20000"/>
            </a:spcAft>
            <a:buChar char="•"/>
          </a:pPr>
          <a:r>
            <a:rPr lang="en-US" sz="3400" kern="1200"/>
            <a:t>Level 4 requirement linkage to tests</a:t>
          </a:r>
        </a:p>
      </dsp:txBody>
      <dsp:txXfrm>
        <a:off x="0" y="1065739"/>
        <a:ext cx="6666833" cy="2140380"/>
      </dsp:txXfrm>
    </dsp:sp>
    <dsp:sp modelId="{A388C055-F77B-4D4C-8C5A-2D2330F9AD45}">
      <dsp:nvSpPr>
        <dsp:cNvPr id="0" name=""/>
        <dsp:cNvSpPr/>
      </dsp:nvSpPr>
      <dsp:spPr>
        <a:xfrm>
          <a:off x="0" y="3206120"/>
          <a:ext cx="6666833" cy="105534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a:t>Test span</a:t>
          </a:r>
        </a:p>
      </dsp:txBody>
      <dsp:txXfrm>
        <a:off x="51517" y="3257637"/>
        <a:ext cx="6563799" cy="952306"/>
      </dsp:txXfrm>
    </dsp:sp>
    <dsp:sp modelId="{AB49BDCB-944D-44F0-8212-FEAEB03CDFD4}">
      <dsp:nvSpPr>
        <dsp:cNvPr id="0" name=""/>
        <dsp:cNvSpPr/>
      </dsp:nvSpPr>
      <dsp:spPr>
        <a:xfrm>
          <a:off x="0" y="4388180"/>
          <a:ext cx="6666833" cy="105534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a:t>Testing complexity</a:t>
          </a:r>
        </a:p>
      </dsp:txBody>
      <dsp:txXfrm>
        <a:off x="51517" y="4439697"/>
        <a:ext cx="6563799" cy="9523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85D1EE-8FF6-4265-BCC2-6ECDE50313E9}">
      <dsp:nvSpPr>
        <dsp:cNvPr id="0" name=""/>
        <dsp:cNvSpPr/>
      </dsp:nvSpPr>
      <dsp:spPr>
        <a:xfrm>
          <a:off x="0" y="59199"/>
          <a:ext cx="6666833" cy="1510396"/>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Used to characterize the test plan and identify insufficient or excessive testing</a:t>
          </a:r>
        </a:p>
      </dsp:txBody>
      <dsp:txXfrm>
        <a:off x="73731" y="132930"/>
        <a:ext cx="6519371" cy="1362934"/>
      </dsp:txXfrm>
    </dsp:sp>
    <dsp:sp modelId="{E2258C9F-F93A-4301-8AAE-8020BC247758}">
      <dsp:nvSpPr>
        <dsp:cNvPr id="0" name=""/>
        <dsp:cNvSpPr/>
      </dsp:nvSpPr>
      <dsp:spPr>
        <a:xfrm>
          <a:off x="0" y="1569596"/>
          <a:ext cx="6666833" cy="726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Requirements per test</a:t>
          </a:r>
        </a:p>
        <a:p>
          <a:pPr marL="228600" lvl="1" indent="-228600" algn="l" defTabSz="933450">
            <a:lnSpc>
              <a:spcPct val="90000"/>
            </a:lnSpc>
            <a:spcBef>
              <a:spcPct val="0"/>
            </a:spcBef>
            <a:spcAft>
              <a:spcPct val="20000"/>
            </a:spcAft>
            <a:buChar char="•"/>
          </a:pPr>
          <a:r>
            <a:rPr lang="en-US" sz="2100" kern="1200"/>
            <a:t>Tests per requirement</a:t>
          </a:r>
        </a:p>
      </dsp:txBody>
      <dsp:txXfrm>
        <a:off x="0" y="1569596"/>
        <a:ext cx="6666833" cy="726570"/>
      </dsp:txXfrm>
    </dsp:sp>
    <dsp:sp modelId="{B7321B02-D032-4577-B179-06B1AE6D6AFC}">
      <dsp:nvSpPr>
        <dsp:cNvPr id="0" name=""/>
        <dsp:cNvSpPr/>
      </dsp:nvSpPr>
      <dsp:spPr>
        <a:xfrm>
          <a:off x="0" y="2296166"/>
          <a:ext cx="6666833" cy="1510396"/>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Research still ongoing to determine appropriate statistics. Look for inconsistencies.</a:t>
          </a:r>
        </a:p>
      </dsp:txBody>
      <dsp:txXfrm>
        <a:off x="73731" y="2369897"/>
        <a:ext cx="6519371" cy="1362934"/>
      </dsp:txXfrm>
    </dsp:sp>
    <dsp:sp modelId="{F3F70F6D-0B86-4051-9AB0-EB269A9759B4}">
      <dsp:nvSpPr>
        <dsp:cNvPr id="0" name=""/>
        <dsp:cNvSpPr/>
      </dsp:nvSpPr>
      <dsp:spPr>
        <a:xfrm>
          <a:off x="0" y="3884323"/>
          <a:ext cx="6666833" cy="1510396"/>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But, there is always a trade off between time and cost of testing versus the comprehensiveness of testing.</a:t>
          </a:r>
        </a:p>
      </dsp:txBody>
      <dsp:txXfrm>
        <a:off x="73731" y="3958054"/>
        <a:ext cx="6519371" cy="136293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2AA6E9B-3A6C-41C2-8199-D4AD7291330D}" type="datetimeFigureOut">
              <a:rPr lang="en-US" smtClean="0"/>
              <a:t>11/3/25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266C77-A44C-4A38-8041-82E567C42D57}" type="slidenum">
              <a:rPr lang="en-US" smtClean="0"/>
              <a:t>‹#›</a:t>
            </a:fld>
            <a:endParaRPr lang="en-US"/>
          </a:p>
        </p:txBody>
      </p:sp>
    </p:spTree>
    <p:extLst>
      <p:ext uri="{BB962C8B-B14F-4D97-AF65-F5344CB8AC3E}">
        <p14:creationId xmlns:p14="http://schemas.microsoft.com/office/powerpoint/2010/main" val="3802584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2">
            <a:extLst>
              <a:ext uri="{FF2B5EF4-FFF2-40B4-BE49-F238E27FC236}">
                <a16:creationId xmlns:a16="http://schemas.microsoft.com/office/drawing/2014/main" id="{B4CEDFFD-7511-4E07-9732-F0330954BAB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04451" name="Rectangle 5">
            <a:extLst>
              <a:ext uri="{FF2B5EF4-FFF2-40B4-BE49-F238E27FC236}">
                <a16:creationId xmlns:a16="http://schemas.microsoft.com/office/drawing/2014/main" id="{AECEE0B8-55C2-4B2B-8D99-130E1F9DDAF6}"/>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8B011B2F-D9B4-4E58-AD74-D0D6D3FC4CF2}"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4452" name="Rectangle 2">
            <a:extLst>
              <a:ext uri="{FF2B5EF4-FFF2-40B4-BE49-F238E27FC236}">
                <a16:creationId xmlns:a16="http://schemas.microsoft.com/office/drawing/2014/main" id="{7269CDAD-9A9C-4CB5-AE37-B9E2ACB1BB52}"/>
              </a:ext>
            </a:extLst>
          </p:cNvPr>
          <p:cNvSpPr>
            <a:spLocks noGrp="1" noRot="1" noChangeAspect="1" noChangeArrowheads="1" noTextEdit="1"/>
          </p:cNvSpPr>
          <p:nvPr>
            <p:ph type="sldImg"/>
          </p:nvPr>
        </p:nvSpPr>
        <p:spPr>
          <a:ln/>
        </p:spPr>
      </p:sp>
      <p:sp>
        <p:nvSpPr>
          <p:cNvPr id="104453" name="Rectangle 3">
            <a:extLst>
              <a:ext uri="{FF2B5EF4-FFF2-40B4-BE49-F238E27FC236}">
                <a16:creationId xmlns:a16="http://schemas.microsoft.com/office/drawing/2014/main" id="{FB9968DA-B0B7-4B78-9C2F-4A95AC9EC18E}"/>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a:extLst>
              <a:ext uri="{FF2B5EF4-FFF2-40B4-BE49-F238E27FC236}">
                <a16:creationId xmlns:a16="http://schemas.microsoft.com/office/drawing/2014/main" id="{4B19C5D7-F870-42E4-8DFC-48D23BA17D1C}"/>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08547" name="Rectangle 5">
            <a:extLst>
              <a:ext uri="{FF2B5EF4-FFF2-40B4-BE49-F238E27FC236}">
                <a16:creationId xmlns:a16="http://schemas.microsoft.com/office/drawing/2014/main" id="{01177B91-6119-4888-B3ED-5EB48460E28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0CB6586C-4EF8-4134-BC98-61836A8FC67B}"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5</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8548" name="Rectangle 2">
            <a:extLst>
              <a:ext uri="{FF2B5EF4-FFF2-40B4-BE49-F238E27FC236}">
                <a16:creationId xmlns:a16="http://schemas.microsoft.com/office/drawing/2014/main" id="{D4D0F933-CA55-4484-8E53-9001E48A28AF}"/>
              </a:ext>
            </a:extLst>
          </p:cNvPr>
          <p:cNvSpPr>
            <a:spLocks noGrp="1" noRot="1" noChangeAspect="1" noChangeArrowheads="1" noTextEdit="1"/>
          </p:cNvSpPr>
          <p:nvPr>
            <p:ph type="sldImg"/>
          </p:nvPr>
        </p:nvSpPr>
        <p:spPr>
          <a:ln/>
        </p:spPr>
      </p:sp>
      <p:sp>
        <p:nvSpPr>
          <p:cNvPr id="108549" name="Rectangle 3">
            <a:extLst>
              <a:ext uri="{FF2B5EF4-FFF2-40B4-BE49-F238E27FC236}">
                <a16:creationId xmlns:a16="http://schemas.microsoft.com/office/drawing/2014/main" id="{3B60B1E8-FE9F-4BDA-89B8-26484ED231D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2">
            <a:extLst>
              <a:ext uri="{FF2B5EF4-FFF2-40B4-BE49-F238E27FC236}">
                <a16:creationId xmlns:a16="http://schemas.microsoft.com/office/drawing/2014/main" id="{58C4A7F8-F005-4A1D-83F8-7D585499C4D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10595" name="Rectangle 5">
            <a:extLst>
              <a:ext uri="{FF2B5EF4-FFF2-40B4-BE49-F238E27FC236}">
                <a16:creationId xmlns:a16="http://schemas.microsoft.com/office/drawing/2014/main" id="{2EF2593B-636A-427B-9591-A7F7197EAF9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2E2CAFD7-FD86-48CC-87DF-9B5147831554}"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6</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0596" name="Rectangle 2">
            <a:extLst>
              <a:ext uri="{FF2B5EF4-FFF2-40B4-BE49-F238E27FC236}">
                <a16:creationId xmlns:a16="http://schemas.microsoft.com/office/drawing/2014/main" id="{95CB1521-8C07-4094-AB1E-2C739C33D711}"/>
              </a:ext>
            </a:extLst>
          </p:cNvPr>
          <p:cNvSpPr>
            <a:spLocks noGrp="1" noRot="1" noChangeAspect="1" noChangeArrowheads="1" noTextEdit="1"/>
          </p:cNvSpPr>
          <p:nvPr>
            <p:ph type="sldImg"/>
          </p:nvPr>
        </p:nvSpPr>
        <p:spPr>
          <a:ln/>
        </p:spPr>
      </p:sp>
      <p:sp>
        <p:nvSpPr>
          <p:cNvPr id="110597" name="Rectangle 3">
            <a:extLst>
              <a:ext uri="{FF2B5EF4-FFF2-40B4-BE49-F238E27FC236}">
                <a16:creationId xmlns:a16="http://schemas.microsoft.com/office/drawing/2014/main" id="{97CB3C9B-6B39-404D-ACA3-735C1BA1D5AD}"/>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2">
            <a:extLst>
              <a:ext uri="{FF2B5EF4-FFF2-40B4-BE49-F238E27FC236}">
                <a16:creationId xmlns:a16="http://schemas.microsoft.com/office/drawing/2014/main" id="{E9BEEF60-7DF9-4D4E-88AA-B5E5483154EC}"/>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12643" name="Rectangle 5">
            <a:extLst>
              <a:ext uri="{FF2B5EF4-FFF2-40B4-BE49-F238E27FC236}">
                <a16:creationId xmlns:a16="http://schemas.microsoft.com/office/drawing/2014/main" id="{C1D87D68-D2C5-4791-AFA1-7D28D146B34D}"/>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D43692DE-AC0A-4842-95A1-E6545A0171B1}"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7</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2644" name="Rectangle 2">
            <a:extLst>
              <a:ext uri="{FF2B5EF4-FFF2-40B4-BE49-F238E27FC236}">
                <a16:creationId xmlns:a16="http://schemas.microsoft.com/office/drawing/2014/main" id="{2AF67C82-9EAB-4F8F-83FC-A27FB255D460}"/>
              </a:ext>
            </a:extLst>
          </p:cNvPr>
          <p:cNvSpPr>
            <a:spLocks noGrp="1" noRot="1" noChangeAspect="1" noChangeArrowheads="1" noTextEdit="1"/>
          </p:cNvSpPr>
          <p:nvPr>
            <p:ph type="sldImg"/>
          </p:nvPr>
        </p:nvSpPr>
        <p:spPr>
          <a:ln/>
        </p:spPr>
      </p:sp>
      <p:sp>
        <p:nvSpPr>
          <p:cNvPr id="112645" name="Rectangle 3">
            <a:extLst>
              <a:ext uri="{FF2B5EF4-FFF2-40B4-BE49-F238E27FC236}">
                <a16:creationId xmlns:a16="http://schemas.microsoft.com/office/drawing/2014/main" id="{9D5498DE-9C4A-481D-B433-C9DF2DE0A5CE}"/>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2">
            <a:extLst>
              <a:ext uri="{FF2B5EF4-FFF2-40B4-BE49-F238E27FC236}">
                <a16:creationId xmlns:a16="http://schemas.microsoft.com/office/drawing/2014/main" id="{423EF1EB-057A-4165-B229-CA96747BC475}"/>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14691" name="Rectangle 5">
            <a:extLst>
              <a:ext uri="{FF2B5EF4-FFF2-40B4-BE49-F238E27FC236}">
                <a16:creationId xmlns:a16="http://schemas.microsoft.com/office/drawing/2014/main" id="{0DEE7D21-C220-4C9B-871F-16DD5FD029A0}"/>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941AD3A4-46EA-4825-8A3F-AFE474549AF3}"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8</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4692" name="Rectangle 2">
            <a:extLst>
              <a:ext uri="{FF2B5EF4-FFF2-40B4-BE49-F238E27FC236}">
                <a16:creationId xmlns:a16="http://schemas.microsoft.com/office/drawing/2014/main" id="{94C91D56-6457-4DF4-9703-892493E57E4C}"/>
              </a:ext>
            </a:extLst>
          </p:cNvPr>
          <p:cNvSpPr>
            <a:spLocks noGrp="1" noRot="1" noChangeAspect="1" noChangeArrowheads="1" noTextEdit="1"/>
          </p:cNvSpPr>
          <p:nvPr>
            <p:ph type="sldImg"/>
          </p:nvPr>
        </p:nvSpPr>
        <p:spPr>
          <a:ln/>
        </p:spPr>
      </p:sp>
      <p:sp>
        <p:nvSpPr>
          <p:cNvPr id="114693" name="Rectangle 3">
            <a:extLst>
              <a:ext uri="{FF2B5EF4-FFF2-40B4-BE49-F238E27FC236}">
                <a16:creationId xmlns:a16="http://schemas.microsoft.com/office/drawing/2014/main" id="{C4AEF932-380C-48AF-AD4D-744370CBDBD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5">
            <a:extLst>
              <a:ext uri="{FF2B5EF4-FFF2-40B4-BE49-F238E27FC236}">
                <a16:creationId xmlns:a16="http://schemas.microsoft.com/office/drawing/2014/main" id="{634889E1-914E-4EAE-BCE4-E3AFF206E03A}"/>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4F52B26-CDC5-413B-ACEF-BE7A53F9FE3D}"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9</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6739" name="Rectangle 2">
            <a:extLst>
              <a:ext uri="{FF2B5EF4-FFF2-40B4-BE49-F238E27FC236}">
                <a16:creationId xmlns:a16="http://schemas.microsoft.com/office/drawing/2014/main" id="{E199B644-5C4D-4DD8-A4BD-C70FC4B04536}"/>
              </a:ext>
            </a:extLst>
          </p:cNvPr>
          <p:cNvSpPr>
            <a:spLocks noGrp="1" noRot="1" noChangeAspect="1" noChangeArrowheads="1" noTextEdit="1"/>
          </p:cNvSpPr>
          <p:nvPr>
            <p:ph type="sldImg"/>
          </p:nvPr>
        </p:nvSpPr>
        <p:spPr>
          <a:xfrm>
            <a:off x="465138" y="619125"/>
            <a:ext cx="6102350" cy="3433763"/>
          </a:xfrm>
          <a:ln/>
        </p:spPr>
      </p:sp>
      <p:sp>
        <p:nvSpPr>
          <p:cNvPr id="116740" name="Rectangle 3">
            <a:extLst>
              <a:ext uri="{FF2B5EF4-FFF2-40B4-BE49-F238E27FC236}">
                <a16:creationId xmlns:a16="http://schemas.microsoft.com/office/drawing/2014/main" id="{B466973C-CC9A-43AC-BA45-A4F42D17BF38}"/>
              </a:ext>
            </a:extLst>
          </p:cNvPr>
          <p:cNvSpPr>
            <a:spLocks noGrp="1" noChangeArrowheads="1"/>
          </p:cNvSpPr>
          <p:nvPr>
            <p:ph type="body" idx="1"/>
          </p:nvPr>
        </p:nvSpPr>
        <p:spPr>
          <a:xfrm>
            <a:off x="917575" y="4441825"/>
            <a:ext cx="5197475" cy="41370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type="none" w="sm" len="sm"/>
                <a:tailEnd type="none" w="med" len="lg"/>
              </a14:hiddenLine>
            </a:ext>
          </a:extLst>
        </p:spPr>
        <p:txBody>
          <a:bodyPr/>
          <a:lstStyle/>
          <a:p>
            <a:pPr eaLnBrk="1" hangingPunct="1"/>
            <a:r>
              <a:rPr lang="en-US" altLang="en-US" dirty="0">
                <a:latin typeface="Arial" panose="020B0604020202020204" pitchFamily="34" charset="0"/>
              </a:rPr>
              <a:t>Defect Potentials: How many are there per function (on average)</a:t>
            </a:r>
            <a:br>
              <a:rPr lang="en-US" altLang="en-US" dirty="0">
                <a:latin typeface="Arial" panose="020B0604020202020204" pitchFamily="34" charset="0"/>
              </a:rPr>
            </a:br>
            <a:r>
              <a:rPr lang="en-US" altLang="en-US" dirty="0">
                <a:latin typeface="Arial" panose="020B0604020202020204" pitchFamily="34" charset="0"/>
              </a:rPr>
              <a:t>Removal Efficiency: How many are found by testing</a:t>
            </a:r>
            <a:br>
              <a:rPr lang="en-US" altLang="en-US" dirty="0">
                <a:latin typeface="Arial" panose="020B0604020202020204" pitchFamily="34" charset="0"/>
              </a:rPr>
            </a:br>
            <a:r>
              <a:rPr lang="en-US" altLang="en-US" dirty="0">
                <a:latin typeface="Arial" panose="020B0604020202020204" pitchFamily="34" charset="0"/>
              </a:rPr>
              <a:t>Delivered: How many make it production</a:t>
            </a:r>
            <a:br>
              <a:rPr lang="en-US" altLang="en-US" dirty="0">
                <a:latin typeface="Arial" panose="020B0604020202020204" pitchFamily="34" charset="0"/>
              </a:rPr>
            </a:br>
            <a:r>
              <a:rPr lang="en-US" altLang="en-US" dirty="0">
                <a:latin typeface="Arial" panose="020B0604020202020204" pitchFamily="34" charset="0"/>
              </a:rPr>
              <a:t>Discovery Rate: What fraction is discovered by customers</a:t>
            </a:r>
            <a:br>
              <a:rPr lang="en-US" altLang="en-US" dirty="0">
                <a:latin typeface="Arial" panose="020B0604020202020204" pitchFamily="34" charset="0"/>
              </a:rPr>
            </a:br>
            <a:r>
              <a:rPr lang="en-US" altLang="en-US" dirty="0">
                <a:latin typeface="Arial" panose="020B0604020202020204" pitchFamily="34" charset="0"/>
              </a:rPr>
              <a:t>Reports: Multiplication of last 2 metrics</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1. System software = OS, compilers, device drivers etc.</a:t>
            </a:r>
            <a:br>
              <a:rPr lang="en-US" altLang="en-US" dirty="0">
                <a:latin typeface="Arial" panose="020B0604020202020204" pitchFamily="34" charset="0"/>
              </a:rPr>
            </a:br>
            <a:r>
              <a:rPr lang="en-US" altLang="en-US" dirty="0">
                <a:latin typeface="Arial" panose="020B0604020202020204" pitchFamily="34" charset="0"/>
              </a:rPr>
              <a:t>2. Commercial Software = Apps running on top of system software (Office, Zoom, photoshop </a:t>
            </a:r>
            <a:r>
              <a:rPr lang="en-US" altLang="en-US" dirty="0" err="1">
                <a:latin typeface="Arial" panose="020B0604020202020204" pitchFamily="34" charset="0"/>
              </a:rPr>
              <a:t>etc</a:t>
            </a:r>
            <a:r>
              <a:rPr lang="en-US" altLang="en-US" dirty="0">
                <a:latin typeface="Arial" panose="020B0604020202020204" pitchFamily="34" charset="0"/>
              </a:rPr>
              <a:t>)</a:t>
            </a:r>
            <a:br>
              <a:rPr lang="en-US" altLang="en-US" dirty="0">
                <a:latin typeface="Arial" panose="020B0604020202020204" pitchFamily="34" charset="0"/>
              </a:rPr>
            </a:br>
            <a:r>
              <a:rPr lang="en-US" altLang="en-US" dirty="0">
                <a:latin typeface="Arial" panose="020B0604020202020204" pitchFamily="34" charset="0"/>
              </a:rPr>
              <a:t>3. Information software = DBs, Visualization, Web</a:t>
            </a:r>
            <a:br>
              <a:rPr lang="en-US" altLang="en-US" dirty="0">
                <a:latin typeface="Arial" panose="020B0604020202020204" pitchFamily="34" charset="0"/>
              </a:rPr>
            </a:br>
            <a:r>
              <a:rPr lang="en-US" altLang="en-US" dirty="0">
                <a:latin typeface="Arial" panose="020B0604020202020204" pitchFamily="34" charset="0"/>
              </a:rPr>
              <a:t>4. Military software = Missing guidance, battlefield comms, cybersecurity</a:t>
            </a:r>
          </a:p>
          <a:p>
            <a:pPr eaLnBrk="1" hangingPunct="1"/>
            <a:r>
              <a:rPr lang="en-US" altLang="en-US" dirty="0">
                <a:latin typeface="Arial" panose="020B0604020202020204" pitchFamily="34" charset="0"/>
              </a:rPr>
              <a:t>5. Outsource = Catch all for not developed in-house.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5">
            <a:extLst>
              <a:ext uri="{FF2B5EF4-FFF2-40B4-BE49-F238E27FC236}">
                <a16:creationId xmlns:a16="http://schemas.microsoft.com/office/drawing/2014/main" id="{2E41FC7C-3A0B-443D-80F4-378037AE107A}"/>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B7C907AA-A5FC-4D7D-8B1D-683FFAED3629}"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10</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8787" name="Rectangle 1026">
            <a:extLst>
              <a:ext uri="{FF2B5EF4-FFF2-40B4-BE49-F238E27FC236}">
                <a16:creationId xmlns:a16="http://schemas.microsoft.com/office/drawing/2014/main" id="{C3209A81-A1C9-4E40-8F5D-DFC3D44565AA}"/>
              </a:ext>
            </a:extLst>
          </p:cNvPr>
          <p:cNvSpPr>
            <a:spLocks noGrp="1" noRot="1" noChangeAspect="1" noChangeArrowheads="1" noTextEdit="1"/>
          </p:cNvSpPr>
          <p:nvPr>
            <p:ph type="sldImg"/>
          </p:nvPr>
        </p:nvSpPr>
        <p:spPr>
          <a:xfrm>
            <a:off x="465138" y="619125"/>
            <a:ext cx="6102350" cy="3433763"/>
          </a:xfrm>
          <a:solidFill>
            <a:srgbClr val="FFFFFF"/>
          </a:solidFill>
          <a:ln/>
        </p:spPr>
      </p:sp>
      <p:sp>
        <p:nvSpPr>
          <p:cNvPr id="118788" name="Rectangle 1027">
            <a:extLst>
              <a:ext uri="{FF2B5EF4-FFF2-40B4-BE49-F238E27FC236}">
                <a16:creationId xmlns:a16="http://schemas.microsoft.com/office/drawing/2014/main" id="{EACE20B7-4C04-4FD8-B793-6AFAD217B7CA}"/>
              </a:ext>
            </a:extLst>
          </p:cNvPr>
          <p:cNvSpPr>
            <a:spLocks noGrp="1" noChangeArrowheads="1"/>
          </p:cNvSpPr>
          <p:nvPr>
            <p:ph type="body" idx="1"/>
          </p:nvPr>
        </p:nvSpPr>
        <p:spPr>
          <a:xfrm>
            <a:off x="917575" y="4441825"/>
            <a:ext cx="5197475" cy="41370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type="none" w="sm" len="sm"/>
                <a:tailEnd type="none" w="med" len="lg"/>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4EA7F-4DA2-91D6-1E26-74D86025F862}"/>
            </a:ext>
          </a:extLst>
        </p:cNvPr>
        <p:cNvGrpSpPr/>
        <p:nvPr/>
      </p:nvGrpSpPr>
      <p:grpSpPr>
        <a:xfrm>
          <a:off x="0" y="0"/>
          <a:ext cx="0" cy="0"/>
          <a:chOff x="0" y="0"/>
          <a:chExt cx="0" cy="0"/>
        </a:xfrm>
      </p:grpSpPr>
      <p:sp>
        <p:nvSpPr>
          <p:cNvPr id="118786" name="Rectangle 5">
            <a:extLst>
              <a:ext uri="{FF2B5EF4-FFF2-40B4-BE49-F238E27FC236}">
                <a16:creationId xmlns:a16="http://schemas.microsoft.com/office/drawing/2014/main" id="{48E130E8-E1D5-F468-2380-441632AEE36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B7C907AA-A5FC-4D7D-8B1D-683FFAED3629}"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11</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8787" name="Rectangle 1026">
            <a:extLst>
              <a:ext uri="{FF2B5EF4-FFF2-40B4-BE49-F238E27FC236}">
                <a16:creationId xmlns:a16="http://schemas.microsoft.com/office/drawing/2014/main" id="{AE98E23F-C9DD-E7FD-D5BD-9D20F0154FFC}"/>
              </a:ext>
            </a:extLst>
          </p:cNvPr>
          <p:cNvSpPr>
            <a:spLocks noGrp="1" noRot="1" noChangeAspect="1" noChangeArrowheads="1" noTextEdit="1"/>
          </p:cNvSpPr>
          <p:nvPr>
            <p:ph type="sldImg"/>
          </p:nvPr>
        </p:nvSpPr>
        <p:spPr>
          <a:xfrm>
            <a:off x="465138" y="619125"/>
            <a:ext cx="6102350" cy="3433763"/>
          </a:xfrm>
          <a:solidFill>
            <a:srgbClr val="FFFFFF"/>
          </a:solidFill>
          <a:ln/>
        </p:spPr>
      </p:sp>
      <p:sp>
        <p:nvSpPr>
          <p:cNvPr id="118788" name="Rectangle 1027">
            <a:extLst>
              <a:ext uri="{FF2B5EF4-FFF2-40B4-BE49-F238E27FC236}">
                <a16:creationId xmlns:a16="http://schemas.microsoft.com/office/drawing/2014/main" id="{29E15D85-A447-CD78-69F0-D947AE18F19D}"/>
              </a:ext>
            </a:extLst>
          </p:cNvPr>
          <p:cNvSpPr>
            <a:spLocks noGrp="1" noChangeArrowheads="1"/>
          </p:cNvSpPr>
          <p:nvPr>
            <p:ph type="body" idx="1"/>
          </p:nvPr>
        </p:nvSpPr>
        <p:spPr>
          <a:xfrm>
            <a:off x="917575" y="4441825"/>
            <a:ext cx="5197475" cy="41370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type="none" w="sm" len="sm"/>
                <a:tailEnd type="none" w="med" len="lg"/>
              </a14:hiddenLine>
            </a:ext>
          </a:extLst>
        </p:spPr>
        <p:txBody>
          <a:bodyPr/>
          <a:lstStyle/>
          <a:p>
            <a:pPr eaLnBrk="1" hangingPunct="1"/>
            <a:r>
              <a:rPr lang="en-US" altLang="en-US" dirty="0">
                <a:latin typeface="Arial" panose="020B0604020202020204" pitchFamily="34" charset="0"/>
              </a:rPr>
              <a:t>SEI-CMM = Software Engineering Institute Capability Maturity Model</a:t>
            </a:r>
          </a:p>
          <a:p>
            <a:pPr eaLnBrk="1" hangingPunct="1"/>
            <a:endParaRPr lang="en-US" altLang="en-US" dirty="0">
              <a:latin typeface="Arial" panose="020B0604020202020204" pitchFamily="34" charset="0"/>
            </a:endParaRPr>
          </a:p>
          <a:p>
            <a:pPr eaLnBrk="1" hangingPunct="1"/>
            <a:r>
              <a:rPr lang="en-US" altLang="en-US" dirty="0">
                <a:latin typeface="Arial" panose="020B0604020202020204" pitchFamily="34" charset="0"/>
              </a:rPr>
              <a:t>There are certified people who assign those scores but only useful if your customer cares.</a:t>
            </a:r>
          </a:p>
        </p:txBody>
      </p:sp>
    </p:spTree>
    <p:extLst>
      <p:ext uri="{BB962C8B-B14F-4D97-AF65-F5344CB8AC3E}">
        <p14:creationId xmlns:p14="http://schemas.microsoft.com/office/powerpoint/2010/main" val="3751043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5">
            <a:extLst>
              <a:ext uri="{FF2B5EF4-FFF2-40B4-BE49-F238E27FC236}">
                <a16:creationId xmlns:a16="http://schemas.microsoft.com/office/drawing/2014/main" id="{7005ED8E-0E07-464C-9D21-4D49A721D196}"/>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4EFE6F35-ED89-4D95-9154-81C081E1AA36}"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12</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29027" name="Rectangle 2">
            <a:extLst>
              <a:ext uri="{FF2B5EF4-FFF2-40B4-BE49-F238E27FC236}">
                <a16:creationId xmlns:a16="http://schemas.microsoft.com/office/drawing/2014/main" id="{9F4CF075-F994-455F-9F54-F9FD0A0BE6B2}"/>
              </a:ext>
            </a:extLst>
          </p:cNvPr>
          <p:cNvSpPr>
            <a:spLocks noGrp="1" noRot="1" noChangeAspect="1" noChangeArrowheads="1" noTextEdit="1"/>
          </p:cNvSpPr>
          <p:nvPr>
            <p:ph type="sldImg"/>
          </p:nvPr>
        </p:nvSpPr>
        <p:spPr>
          <a:xfrm>
            <a:off x="465138" y="619125"/>
            <a:ext cx="6102350" cy="3433763"/>
          </a:xfrm>
          <a:ln/>
        </p:spPr>
      </p:sp>
      <p:sp>
        <p:nvSpPr>
          <p:cNvPr id="129028" name="Rectangle 3">
            <a:extLst>
              <a:ext uri="{FF2B5EF4-FFF2-40B4-BE49-F238E27FC236}">
                <a16:creationId xmlns:a16="http://schemas.microsoft.com/office/drawing/2014/main" id="{D6852407-9326-47C4-BF55-13A2EE12C77D}"/>
              </a:ext>
            </a:extLst>
          </p:cNvPr>
          <p:cNvSpPr>
            <a:spLocks noGrp="1" noChangeArrowheads="1"/>
          </p:cNvSpPr>
          <p:nvPr>
            <p:ph type="body" idx="1"/>
          </p:nvPr>
        </p:nvSpPr>
        <p:spPr>
          <a:xfrm>
            <a:off x="917575" y="4441825"/>
            <a:ext cx="5197475" cy="41370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type="none" w="sm" len="sm"/>
                <a:tailEnd type="none" w="med" len="lg"/>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341CED4-EC58-4654-BB3B-BF0BBCAC2ED9}"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1282" name="Rectangle 2"/>
          <p:cNvSpPr>
            <a:spLocks noGrp="1" noRot="1" noChangeAspect="1" noChangeArrowheads="1" noTextEdit="1"/>
          </p:cNvSpPr>
          <p:nvPr>
            <p:ph type="sldImg"/>
          </p:nvPr>
        </p:nvSpPr>
        <p:spPr>
          <a:ln/>
        </p:spPr>
      </p:sp>
      <p:sp>
        <p:nvSpPr>
          <p:cNvPr id="48128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0177482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2">
            <a:extLst>
              <a:ext uri="{FF2B5EF4-FFF2-40B4-BE49-F238E27FC236}">
                <a16:creationId xmlns:a16="http://schemas.microsoft.com/office/drawing/2014/main" id="{11B04BFF-D72E-4105-83FC-1472FEE7E49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31075" name="Rectangle 5">
            <a:extLst>
              <a:ext uri="{FF2B5EF4-FFF2-40B4-BE49-F238E27FC236}">
                <a16:creationId xmlns:a16="http://schemas.microsoft.com/office/drawing/2014/main" id="{E5EA66FA-6E28-4375-ABB6-B534CF07283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E972274-051B-4A2C-8C31-214BDD6E8CCC}"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14</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31076" name="Rectangle 2">
            <a:extLst>
              <a:ext uri="{FF2B5EF4-FFF2-40B4-BE49-F238E27FC236}">
                <a16:creationId xmlns:a16="http://schemas.microsoft.com/office/drawing/2014/main" id="{AED6694C-3AB4-41F3-A64C-971DF5A96114}"/>
              </a:ext>
            </a:extLst>
          </p:cNvPr>
          <p:cNvSpPr>
            <a:spLocks noGrp="1" noRot="1" noChangeAspect="1" noChangeArrowheads="1" noTextEdit="1"/>
          </p:cNvSpPr>
          <p:nvPr>
            <p:ph type="sldImg"/>
          </p:nvPr>
        </p:nvSpPr>
        <p:spPr>
          <a:ln/>
        </p:spPr>
      </p:sp>
      <p:sp>
        <p:nvSpPr>
          <p:cNvPr id="131077" name="Rectangle 3">
            <a:extLst>
              <a:ext uri="{FF2B5EF4-FFF2-40B4-BE49-F238E27FC236}">
                <a16:creationId xmlns:a16="http://schemas.microsoft.com/office/drawing/2014/main" id="{DCA966CB-2A15-40F1-A1EB-519F923CF6B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err="1"/>
              <a:t>PhAge</a:t>
            </a:r>
            <a:r>
              <a:rPr lang="en-US" altLang="en-US" dirty="0"/>
              <a:t> = Phase Age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2">
            <a:extLst>
              <a:ext uri="{FF2B5EF4-FFF2-40B4-BE49-F238E27FC236}">
                <a16:creationId xmlns:a16="http://schemas.microsoft.com/office/drawing/2014/main" id="{8988CB55-7F5B-4E25-9167-79F29FF866AB}"/>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33123" name="Rectangle 5">
            <a:extLst>
              <a:ext uri="{FF2B5EF4-FFF2-40B4-BE49-F238E27FC236}">
                <a16:creationId xmlns:a16="http://schemas.microsoft.com/office/drawing/2014/main" id="{E028E028-E097-4D9D-B210-8C3D4E077E8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33033EBF-7E60-4088-8407-FE26203E0341}"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15</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33124" name="Rectangle 2">
            <a:extLst>
              <a:ext uri="{FF2B5EF4-FFF2-40B4-BE49-F238E27FC236}">
                <a16:creationId xmlns:a16="http://schemas.microsoft.com/office/drawing/2014/main" id="{C430F432-D020-4B76-8D66-5E83FFACEAA0}"/>
              </a:ext>
            </a:extLst>
          </p:cNvPr>
          <p:cNvSpPr>
            <a:spLocks noGrp="1" noRot="1" noChangeAspect="1" noChangeArrowheads="1" noTextEdit="1"/>
          </p:cNvSpPr>
          <p:nvPr>
            <p:ph type="sldImg"/>
          </p:nvPr>
        </p:nvSpPr>
        <p:spPr>
          <a:ln/>
        </p:spPr>
      </p:sp>
      <p:sp>
        <p:nvSpPr>
          <p:cNvPr id="133125" name="Rectangle 3">
            <a:extLst>
              <a:ext uri="{FF2B5EF4-FFF2-40B4-BE49-F238E27FC236}">
                <a16:creationId xmlns:a16="http://schemas.microsoft.com/office/drawing/2014/main" id="{CAFE6A32-F497-4703-AD59-7FD34FE45E5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2">
            <a:extLst>
              <a:ext uri="{FF2B5EF4-FFF2-40B4-BE49-F238E27FC236}">
                <a16:creationId xmlns:a16="http://schemas.microsoft.com/office/drawing/2014/main" id="{020EF709-6A18-433F-B509-996C8C4A2F31}"/>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35171" name="Rectangle 5">
            <a:extLst>
              <a:ext uri="{FF2B5EF4-FFF2-40B4-BE49-F238E27FC236}">
                <a16:creationId xmlns:a16="http://schemas.microsoft.com/office/drawing/2014/main" id="{D4690A01-870B-40BA-928B-002BBA31AA6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8C0FD5B7-BB8F-4B55-B3C3-AA3559627907}"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16</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35172" name="Rectangle 2">
            <a:extLst>
              <a:ext uri="{FF2B5EF4-FFF2-40B4-BE49-F238E27FC236}">
                <a16:creationId xmlns:a16="http://schemas.microsoft.com/office/drawing/2014/main" id="{C1120DD6-5EE1-4243-9885-ECDEFAEB1755}"/>
              </a:ext>
            </a:extLst>
          </p:cNvPr>
          <p:cNvSpPr>
            <a:spLocks noGrp="1" noRot="1" noChangeAspect="1" noChangeArrowheads="1" noTextEdit="1"/>
          </p:cNvSpPr>
          <p:nvPr>
            <p:ph type="sldImg"/>
          </p:nvPr>
        </p:nvSpPr>
        <p:spPr>
          <a:ln/>
        </p:spPr>
      </p:sp>
      <p:sp>
        <p:nvSpPr>
          <p:cNvPr id="135173" name="Rectangle 3">
            <a:extLst>
              <a:ext uri="{FF2B5EF4-FFF2-40B4-BE49-F238E27FC236}">
                <a16:creationId xmlns:a16="http://schemas.microsoft.com/office/drawing/2014/main" id="{29EDF841-03E9-445C-88FD-94B1824AE1B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81056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These uncertainties stem from: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 loosely defined requirements,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2- requirements changes due to changes in customer needs,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3- difficulties in estimating the time and resources required for software development,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 differences in individual skills.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213637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buFont typeface="Wingdings" pitchFamily="2" charset="2"/>
              <a:buChar char="Ø"/>
            </a:pPr>
            <a:endParaRPr lang="en-GB" b="1" i="1" dirty="0">
              <a:solidFill>
                <a:srgbClr val="FF0000"/>
              </a:solidFill>
            </a:endParaRPr>
          </a:p>
          <a:p>
            <a:pPr lvl="0">
              <a:buFont typeface="Wingdings" pitchFamily="2" charset="2"/>
              <a:buChar char="Ø"/>
            </a:pPr>
            <a:r>
              <a:rPr lang="en-GB" b="1" i="1" dirty="0">
                <a:solidFill>
                  <a:srgbClr val="FF0000"/>
                </a:solidFill>
              </a:rPr>
              <a:t>Project risks </a:t>
            </a:r>
            <a:r>
              <a:rPr lang="en-GB" dirty="0"/>
              <a:t>affect schedule or resources</a:t>
            </a:r>
          </a:p>
          <a:p>
            <a:pPr lvl="0">
              <a:buFont typeface="Wingdings" pitchFamily="2" charset="2"/>
              <a:buChar char="Ø"/>
            </a:pPr>
            <a:r>
              <a:rPr lang="en-GB" b="1" i="1" dirty="0">
                <a:solidFill>
                  <a:srgbClr val="FF0000"/>
                </a:solidFill>
              </a:rPr>
              <a:t>Product (technical) risks </a:t>
            </a:r>
            <a:r>
              <a:rPr lang="en-GB" dirty="0"/>
              <a:t>affect the quality or performance of the software being developed</a:t>
            </a:r>
          </a:p>
          <a:p>
            <a:pPr lvl="0">
              <a:buFont typeface="Wingdings" pitchFamily="2" charset="2"/>
              <a:buChar char="Ø"/>
            </a:pPr>
            <a:r>
              <a:rPr lang="en-GB" b="1" i="1" dirty="0">
                <a:solidFill>
                  <a:srgbClr val="FF0000"/>
                </a:solidFill>
              </a:rPr>
              <a:t>Business risks </a:t>
            </a:r>
            <a:r>
              <a:rPr lang="en-GB" dirty="0"/>
              <a:t>affect the organisation developing or procuring the software</a:t>
            </a:r>
          </a:p>
          <a:p>
            <a:r>
              <a:rPr lang="en-US" dirty="0"/>
              <a:t>	Market Risk -&gt; Competition</a:t>
            </a:r>
          </a:p>
          <a:p>
            <a:r>
              <a:rPr lang="en-US" dirty="0"/>
              <a:t>	Strategic Risk -&gt; Not aligned with the company</a:t>
            </a:r>
          </a:p>
          <a:p>
            <a:r>
              <a:rPr lang="en-US" dirty="0"/>
              <a:t>	Sales Risk -&gt; You can build it but not sell it</a:t>
            </a:r>
          </a:p>
          <a:p>
            <a:r>
              <a:rPr lang="en-US" dirty="0"/>
              <a:t>	Management Risk -&gt; Lack of coordination, change in scope, requirements </a:t>
            </a:r>
            <a:r>
              <a:rPr lang="en-US" dirty="0" err="1"/>
              <a:t>etc</a:t>
            </a:r>
            <a:endParaRPr lang="en-US" dirty="0"/>
          </a:p>
          <a:p>
            <a:r>
              <a:rPr lang="en-US" dirty="0"/>
              <a:t>	Budget Risk -&gt; Costs more than expected</a:t>
            </a:r>
          </a:p>
          <a:p>
            <a:pPr lvl="0">
              <a:buFont typeface="Wingdings" pitchFamily="2" charset="2"/>
              <a:buNone/>
            </a:pPr>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037079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742950" indent="-742950">
              <a:buFont typeface="+mj-lt"/>
              <a:buAutoNum type="arabicPeriod"/>
            </a:pPr>
            <a:r>
              <a:rPr lang="en-GB" b="1" i="1" dirty="0"/>
              <a:t>Risk identification</a:t>
            </a:r>
          </a:p>
          <a:p>
            <a:pPr lvl="1">
              <a:buFont typeface="Courier New" panose="02070309020205020404" pitchFamily="49" charset="0"/>
              <a:buChar char="o"/>
            </a:pPr>
            <a:r>
              <a:rPr lang="en-GB" dirty="0"/>
              <a:t>Identify project, product and business risks</a:t>
            </a:r>
          </a:p>
          <a:p>
            <a:pPr marL="742950" indent="-742950">
              <a:buFont typeface="+mj-lt"/>
              <a:buAutoNum type="arabicPeriod"/>
            </a:pPr>
            <a:r>
              <a:rPr lang="en-GB" b="1" i="1" dirty="0"/>
              <a:t>Risk analysis</a:t>
            </a:r>
          </a:p>
          <a:p>
            <a:pPr lvl="1">
              <a:buFont typeface="Courier New" panose="02070309020205020404" pitchFamily="49" charset="0"/>
              <a:buChar char="o"/>
            </a:pPr>
            <a:r>
              <a:rPr lang="en-GB" dirty="0"/>
              <a:t>Assess the likelihood and consequences of these risks</a:t>
            </a:r>
          </a:p>
          <a:p>
            <a:pPr marL="742950" indent="-742950">
              <a:buFont typeface="+mj-lt"/>
              <a:buAutoNum type="arabicPeriod"/>
            </a:pPr>
            <a:r>
              <a:rPr lang="en-GB" b="1" i="1" dirty="0"/>
              <a:t>Risk planning</a:t>
            </a:r>
          </a:p>
          <a:p>
            <a:pPr lvl="1">
              <a:buFont typeface="Courier New" panose="02070309020205020404" pitchFamily="49" charset="0"/>
              <a:buChar char="o"/>
            </a:pPr>
            <a:r>
              <a:rPr lang="en-GB" dirty="0"/>
              <a:t>Draw up plans to avoid or minimize the effects of the risk</a:t>
            </a:r>
          </a:p>
          <a:p>
            <a:pPr marL="742950" indent="-742950">
              <a:buFont typeface="+mj-lt"/>
              <a:buAutoNum type="arabicPeriod"/>
            </a:pPr>
            <a:r>
              <a:rPr lang="en-GB" b="1" dirty="0"/>
              <a:t>Risk monitoring</a:t>
            </a:r>
          </a:p>
          <a:p>
            <a:pPr marL="628650" lvl="1" indent="-171450">
              <a:buFont typeface="Courier New" panose="02070309020205020404" pitchFamily="49" charset="0"/>
              <a:buChar char="o"/>
            </a:pPr>
            <a:r>
              <a:rPr lang="en-US" sz="1200" kern="1200" dirty="0">
                <a:solidFill>
                  <a:schemeClr val="tx1"/>
                </a:solidFill>
                <a:effectLst/>
                <a:latin typeface="+mn-lt"/>
                <a:ea typeface="+mn-ea"/>
                <a:cs typeface="+mn-cs"/>
              </a:rPr>
              <a:t>You should regularly assess the risks and your plans for risk mitigation and update them when you learn more about the risks.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6728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6632F5F8-F6CA-4695-B73A-C94B2543DC2E}" type="slidenum">
              <a:rPr kumimoji="0" lang="en-US" altLang="en-US" sz="1200" b="0" i="0" u="none" strike="noStrike" kern="1200" cap="none" spc="0" normalizeH="0" baseline="0" noProof="0">
                <a:ln>
                  <a:noFill/>
                </a:ln>
                <a:solidFill>
                  <a:srgbClr val="000000"/>
                </a:solidFill>
                <a:effectLst/>
                <a:uLnTx/>
                <a:uFillTx/>
                <a:latin typeface="Arial" panose="020B0604020202020204" pitchFamily="34"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39</a:t>
            </a:fld>
            <a:endParaRPr kumimoji="0" lang="en-US" altLang="en-US" sz="12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
        <p:nvSpPr>
          <p:cNvPr id="30723" name="Rectangle 2"/>
          <p:cNvSpPr>
            <a:spLocks noGrp="1" noRot="1" noChangeAspect="1" noChangeArrowheads="1" noTextEdit="1"/>
          </p:cNvSpPr>
          <p:nvPr>
            <p:ph type="sldImg"/>
          </p:nvPr>
        </p:nvSpPr>
        <p:spPr>
          <a:xfrm>
            <a:off x="382588" y="685800"/>
            <a:ext cx="6096000" cy="3429000"/>
          </a:xfrm>
          <a:ln/>
        </p:spPr>
      </p:sp>
      <p:sp>
        <p:nvSpPr>
          <p:cNvPr id="30724" name="Rectangle 3"/>
          <p:cNvSpPr>
            <a:spLocks noGrp="1" noChangeArrowheads="1"/>
          </p:cNvSpPr>
          <p:nvPr>
            <p:ph type="body" idx="1"/>
          </p:nvPr>
        </p:nvSpPr>
        <p:spPr>
          <a:xfrm>
            <a:off x="914400" y="4343400"/>
            <a:ext cx="5029200"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4927621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requirements depend on other ones and whether the dependency has been reviewed/tested.</a:t>
            </a:r>
          </a:p>
        </p:txBody>
      </p:sp>
      <p:sp>
        <p:nvSpPr>
          <p:cNvPr id="4" name="Slide Number Placeholder 3"/>
          <p:cNvSpPr>
            <a:spLocks noGrp="1"/>
          </p:cNvSpPr>
          <p:nvPr>
            <p:ph type="sldNum" sz="quarter" idx="5"/>
          </p:nvPr>
        </p:nvSpPr>
        <p:spPr/>
        <p:txBody>
          <a:bodyPr/>
          <a:lstStyle/>
          <a:p>
            <a:fld id="{B8266C77-A44C-4A38-8041-82E567C42D57}" type="slidenum">
              <a:rPr lang="en-US" smtClean="0"/>
              <a:t>42</a:t>
            </a:fld>
            <a:endParaRPr lang="en-US"/>
          </a:p>
        </p:txBody>
      </p:sp>
    </p:spTree>
    <p:extLst>
      <p:ext uri="{BB962C8B-B14F-4D97-AF65-F5344CB8AC3E}">
        <p14:creationId xmlns:p14="http://schemas.microsoft.com/office/powerpoint/2010/main" val="3844699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9DEEDEA-9D2B-4A1D-877B-71611FA81B4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5138" name="Rectangle 2"/>
          <p:cNvSpPr>
            <a:spLocks noGrp="1" noRot="1" noChangeAspect="1" noChangeArrowheads="1" noTextEdit="1"/>
          </p:cNvSpPr>
          <p:nvPr>
            <p:ph type="sldImg"/>
          </p:nvPr>
        </p:nvSpPr>
        <p:spPr>
          <a:ln/>
        </p:spPr>
      </p:sp>
      <p:sp>
        <p:nvSpPr>
          <p:cNvPr id="47513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0414626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requirements = Verify functional and behavioral correctness (integration or system tests)</a:t>
            </a:r>
          </a:p>
          <a:p>
            <a:endParaRPr lang="en-US" dirty="0"/>
          </a:p>
          <a:p>
            <a:r>
              <a:rPr lang="en-US" dirty="0"/>
              <a:t>Level 4 requirements = Verify that individual pieces of logic perform as expected (unit tests)</a:t>
            </a:r>
          </a:p>
        </p:txBody>
      </p:sp>
      <p:sp>
        <p:nvSpPr>
          <p:cNvPr id="4" name="Slide Number Placeholder 3"/>
          <p:cNvSpPr>
            <a:spLocks noGrp="1"/>
          </p:cNvSpPr>
          <p:nvPr>
            <p:ph type="sldNum" sz="quarter" idx="5"/>
          </p:nvPr>
        </p:nvSpPr>
        <p:spPr/>
        <p:txBody>
          <a:bodyPr/>
          <a:lstStyle/>
          <a:p>
            <a:fld id="{B8266C77-A44C-4A38-8041-82E567C42D57}" type="slidenum">
              <a:rPr lang="en-US" smtClean="0"/>
              <a:t>48</a:t>
            </a:fld>
            <a:endParaRPr lang="en-US"/>
          </a:p>
        </p:txBody>
      </p:sp>
    </p:spTree>
    <p:extLst>
      <p:ext uri="{BB962C8B-B14F-4D97-AF65-F5344CB8AC3E}">
        <p14:creationId xmlns:p14="http://schemas.microsoft.com/office/powerpoint/2010/main" val="22074675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266C77-A44C-4A38-8041-82E567C42D57}" type="slidenum">
              <a:rPr lang="en-US" smtClean="0"/>
              <a:t>54</a:t>
            </a:fld>
            <a:endParaRPr lang="en-US"/>
          </a:p>
        </p:txBody>
      </p:sp>
    </p:spTree>
    <p:extLst>
      <p:ext uri="{BB962C8B-B14F-4D97-AF65-F5344CB8AC3E}">
        <p14:creationId xmlns:p14="http://schemas.microsoft.com/office/powerpoint/2010/main" val="7558040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5.xml"/><Relationship Id="rId5" Type="http://schemas.microsoft.com/office/2007/relationships/hdphoto" Target="../media/hdphoto1.wdp"/><Relationship Id="rId4"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5.xml"/><Relationship Id="rId5" Type="http://schemas.microsoft.com/office/2007/relationships/hdphoto" Target="../media/hdphoto1.wdp"/><Relationship Id="rId4" Type="http://schemas.openxmlformats.org/officeDocument/2006/relationships/image" Target="../media/image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5.xml"/><Relationship Id="rId5" Type="http://schemas.microsoft.com/office/2007/relationships/hdphoto" Target="../media/hdphoto1.wdp"/><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5.xml"/><Relationship Id="rId5" Type="http://schemas.microsoft.com/office/2007/relationships/hdphoto" Target="../media/hdphoto1.wdp"/><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06FF7-8269-ADAB-6151-3F838182B44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7E7093F-AAAE-0606-0053-A580F6B28D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497629-CED2-6CE6-8A42-883194F69B32}"/>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77C8959B-A8EA-25D4-0910-3343067F5C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6629D1-B382-BCB5-2395-5614CC8F9706}"/>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1356436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DDEC5-CD1C-6C1B-DA83-3F02661A02A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C8BC79-7A53-D607-30B1-ED97BC9A6A2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0A5BE3-9B8B-5519-D892-C96EA4C27E72}"/>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87CCB835-77D9-C96A-1CFE-938AA1217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42218A-B2F3-F68F-9CF0-FE7793397B88}"/>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029827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B5018-7D36-2C99-EF3D-403923FCA9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CA8AEF-C560-41F5-7756-3FBF239236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983E06-A89A-17E8-A591-C40D12417AB7}"/>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307EB19F-AD05-45D5-552F-A8FE5DD717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5513DF-0609-C941-8DF8-1E2965D490FB}"/>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0567001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C1FC0-F430-2E22-D1B1-59E2A95A6B3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FF6C91-2042-343A-F66F-7FA9D0C0E0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AC2F7F-DDCD-70CF-07C6-10DF1B6FB5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ED12E6-333D-641B-BF1F-52C549709346}"/>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6" name="Footer Placeholder 5">
            <a:extLst>
              <a:ext uri="{FF2B5EF4-FFF2-40B4-BE49-F238E27FC236}">
                <a16:creationId xmlns:a16="http://schemas.microsoft.com/office/drawing/2014/main" id="{6365E00F-7289-7613-F7FD-F46D04E8B0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968596-FC34-4596-C3D8-605D18D24834}"/>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984372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A51FF-47E9-4EAF-52DA-BE8C22E2CE8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1DCF51-426B-4C2E-F4DB-EE5823881E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47FA4FF-A0AC-5C78-549E-98EE189FE6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5228088-6F7A-C543-0D24-24FC27388E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B7BFC47-709D-A6FC-588E-7C1EDFC22F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EDB496D-3735-6A5C-EFD3-098BC9CF9B03}"/>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8" name="Footer Placeholder 7">
            <a:extLst>
              <a:ext uri="{FF2B5EF4-FFF2-40B4-BE49-F238E27FC236}">
                <a16:creationId xmlns:a16="http://schemas.microsoft.com/office/drawing/2014/main" id="{21C2E0BC-4F6D-8DE0-222F-E389856E02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4ACD5E2-DE97-9E17-2A84-6030F70B2A3D}"/>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5184134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A55B86-1CF8-2C6D-3763-E4E349699F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05B56EE-568E-D45C-023B-E59AC9D5FB49}"/>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4" name="Footer Placeholder 3">
            <a:extLst>
              <a:ext uri="{FF2B5EF4-FFF2-40B4-BE49-F238E27FC236}">
                <a16:creationId xmlns:a16="http://schemas.microsoft.com/office/drawing/2014/main" id="{71D21CE6-6EA8-3C11-B89B-1D90B2FAF2D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7D0F06-DBDC-077D-7869-6E2CE38E24B1}"/>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0645351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6E3B4B-63B4-BE50-8AE0-E6B3C9287CAE}"/>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3" name="Footer Placeholder 2">
            <a:extLst>
              <a:ext uri="{FF2B5EF4-FFF2-40B4-BE49-F238E27FC236}">
                <a16:creationId xmlns:a16="http://schemas.microsoft.com/office/drawing/2014/main" id="{48AEE6EA-07F0-34AC-2FAD-51FC8D806B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CA07BB-82EC-A9BE-DDC2-671344F785FC}"/>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3238657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31506-6C57-9C96-4845-C0E6D8CB8A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E1A54D-46F3-449F-1C76-B2245E7C701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593213-BC97-FBDA-EF3B-D10DD28E42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1D1B05-22F3-65F0-E6B6-6FE1F2B1DDFE}"/>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6" name="Footer Placeholder 5">
            <a:extLst>
              <a:ext uri="{FF2B5EF4-FFF2-40B4-BE49-F238E27FC236}">
                <a16:creationId xmlns:a16="http://schemas.microsoft.com/office/drawing/2014/main" id="{EBAB5FED-9678-9470-CC46-F340476F6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34C165-B73A-AB63-8F08-C6287ABDEB1F}"/>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79513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B257B-9517-76A3-2595-B3427F416C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649F0E-316E-CB19-137B-8C0A009CD0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61C934-5CE2-10A3-65AF-61B6814408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62C7EA-F66D-C4D7-D5D0-3C5D94763CC1}"/>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6" name="Footer Placeholder 5">
            <a:extLst>
              <a:ext uri="{FF2B5EF4-FFF2-40B4-BE49-F238E27FC236}">
                <a16:creationId xmlns:a16="http://schemas.microsoft.com/office/drawing/2014/main" id="{D770F1B0-C3A4-E3B8-1ECC-82083D0E68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B75E4F-BD9F-9782-34AE-5B8BB2CDFE98}"/>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37839534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9B088-9A72-D146-F6B6-70BE0846C21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47AF497-AC22-A093-E7CF-70161701514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193B590-A32B-B629-4131-0061031ABF1A}"/>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49DA9E9C-5243-F66F-6281-1269831664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BE7A64-BF7C-E652-018F-6E68CC993B46}"/>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3243622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A14E7A-E9F3-956D-416E-0A5D81A780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5078AAA-D5AA-92F9-DE18-DFA848DA5AA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54ADB2-B0EC-DBB0-2F3E-D89000DA0574}"/>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E68FC29F-E160-D35C-A90C-871C3986D7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CED7E0-018A-4F9D-C32D-47E0FE4BA51A}"/>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3481622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BFABE-5081-5B7E-4421-FC74110F67D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6FE74B-388E-B2DF-318E-5740019296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D9CC7C-5042-3813-74AF-E06854FEA1A4}"/>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5" name="Footer Placeholder 4">
            <a:extLst>
              <a:ext uri="{FF2B5EF4-FFF2-40B4-BE49-F238E27FC236}">
                <a16:creationId xmlns:a16="http://schemas.microsoft.com/office/drawing/2014/main" id="{45D5F457-25A8-26F9-E133-D5E637AA19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192DD9-D802-7994-8716-F6D8DF272CAF}"/>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24179424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E265-94AA-764F-F62D-72EADDC066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2A3D783-2C1B-EAFD-A628-DD0101D535D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B07E9A-CFC1-AAC3-7E5F-2D27A3E24D4A}"/>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5" name="Footer Placeholder 4">
            <a:extLst>
              <a:ext uri="{FF2B5EF4-FFF2-40B4-BE49-F238E27FC236}">
                <a16:creationId xmlns:a16="http://schemas.microsoft.com/office/drawing/2014/main" id="{3518B391-998E-1931-9E1A-3A34BEC90E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52FB00-EB8B-4089-20B9-A7A86EE68F94}"/>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388891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A40BE-62C4-1547-B353-F949C5DB17F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9198F3F-4BEC-E1DD-E050-E8DC5F49BEB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B822C71-164E-1C23-35C4-05C2FE995553}"/>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5" name="Footer Placeholder 4">
            <a:extLst>
              <a:ext uri="{FF2B5EF4-FFF2-40B4-BE49-F238E27FC236}">
                <a16:creationId xmlns:a16="http://schemas.microsoft.com/office/drawing/2014/main" id="{80941F85-AD87-218C-6677-6C83475293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2B00E7-742B-6B59-5546-00E512F9D7E7}"/>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215577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FDA84-C27F-079F-5F2B-331924ADAA6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2442360-62D5-0681-7D7B-DC3F446C831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2EA238-1D8A-664E-8A9B-514C4250127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B65CACE-55BE-3C52-B82E-7F3530453961}"/>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6" name="Footer Placeholder 5">
            <a:extLst>
              <a:ext uri="{FF2B5EF4-FFF2-40B4-BE49-F238E27FC236}">
                <a16:creationId xmlns:a16="http://schemas.microsoft.com/office/drawing/2014/main" id="{7F2F9134-7333-46F6-14F1-7D55A7A6A5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4526AC-5D61-5BE4-E344-9B5D1E833C51}"/>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4342803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DA2FC9-7743-9B6D-AC48-FE28A62378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5955D46-1A1D-AE86-8530-ECE9D9ECE42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F5264C-9AD0-8B57-3CE1-69AB492C8D4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03058E6-0A21-D6AC-5159-352A7D932F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28EC55-9CB3-250C-D6F0-F7779FDC5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F3F068-6CD6-75B7-B464-FA1203F068EF}"/>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8" name="Footer Placeholder 7">
            <a:extLst>
              <a:ext uri="{FF2B5EF4-FFF2-40B4-BE49-F238E27FC236}">
                <a16:creationId xmlns:a16="http://schemas.microsoft.com/office/drawing/2014/main" id="{671B6CE4-3347-A5B1-EB7D-A301C571FB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C75D151-5873-E984-567F-CE8176A46DCD}"/>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28703789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237F3-176F-5869-3716-22F79A13B63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99E1BA-6A39-A1BF-1E1A-F3A0ACD59EE8}"/>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4" name="Footer Placeholder 3">
            <a:extLst>
              <a:ext uri="{FF2B5EF4-FFF2-40B4-BE49-F238E27FC236}">
                <a16:creationId xmlns:a16="http://schemas.microsoft.com/office/drawing/2014/main" id="{7CA41D27-F528-EA59-B871-F419831522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A771EC3-9FA9-E681-A8DF-8CF503749EB3}"/>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7442809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FDCEFF-2B41-A278-9E4A-89BB2E0E3EB6}"/>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3" name="Footer Placeholder 2">
            <a:extLst>
              <a:ext uri="{FF2B5EF4-FFF2-40B4-BE49-F238E27FC236}">
                <a16:creationId xmlns:a16="http://schemas.microsoft.com/office/drawing/2014/main" id="{A520C0D7-A3A5-6D83-94B7-7738A6B5D63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A019D9-62E3-3385-93D2-91AB9815F6A0}"/>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147094709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A2F6E-AF99-1C5C-E990-808EF5DA2C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D74EEA5-A6DD-A44F-0022-D700ABAF50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65DE678-15CC-AC15-7380-DC12136CD3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CBA32C-341A-6B0A-22DE-A92197253767}"/>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6" name="Footer Placeholder 5">
            <a:extLst>
              <a:ext uri="{FF2B5EF4-FFF2-40B4-BE49-F238E27FC236}">
                <a16:creationId xmlns:a16="http://schemas.microsoft.com/office/drawing/2014/main" id="{179A64BF-C75E-1D14-A718-7117923E818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DF1152-676F-E6DB-097B-B3CE0A7EE97D}"/>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10415168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A4F6A-29FB-5407-929C-F1B308C114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B001932-9F45-5C17-50D0-47E541A5D8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4B4CBC4-04DF-D716-8810-E40DDF194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4B9E93-01F7-EE23-69FF-9DF33902E4D3}"/>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6" name="Footer Placeholder 5">
            <a:extLst>
              <a:ext uri="{FF2B5EF4-FFF2-40B4-BE49-F238E27FC236}">
                <a16:creationId xmlns:a16="http://schemas.microsoft.com/office/drawing/2014/main" id="{32E0D39F-7F44-49DD-3FCC-CFC3BAE266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551529-BEA6-5FCB-8B4A-FF0263C4224C}"/>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10321800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3D4FE3-18B3-C976-F500-A5A65245CEA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8BCB69D-29FB-25D4-D2FE-38ECA9BC060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0E7E7F-CAED-AD6E-6644-C8B832CB547B}"/>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5" name="Footer Placeholder 4">
            <a:extLst>
              <a:ext uri="{FF2B5EF4-FFF2-40B4-BE49-F238E27FC236}">
                <a16:creationId xmlns:a16="http://schemas.microsoft.com/office/drawing/2014/main" id="{711924ED-7194-BBDC-D3FF-355B4FB30C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93B6D9-8264-5CDC-AAE9-CC11984FF400}"/>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30918008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A8BA4D6-0ADE-2F6D-3596-00C901B6F0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ED78004-1030-0106-FADB-79C27E42EFB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93F044-14A1-F320-E2F7-FBEFB1E4E152}"/>
              </a:ext>
            </a:extLst>
          </p:cNvPr>
          <p:cNvSpPr>
            <a:spLocks noGrp="1"/>
          </p:cNvSpPr>
          <p:nvPr>
            <p:ph type="dt" sz="half" idx="10"/>
          </p:nvPr>
        </p:nvSpPr>
        <p:spPr/>
        <p:txBody>
          <a:bodyPr/>
          <a:lstStyle/>
          <a:p>
            <a:fld id="{856BED04-B2A2-4581-A369-630E725EAA2A}" type="datetimeFigureOut">
              <a:rPr lang="en-US" smtClean="0"/>
              <a:t>11/3/25</a:t>
            </a:fld>
            <a:endParaRPr lang="en-US"/>
          </a:p>
        </p:txBody>
      </p:sp>
      <p:sp>
        <p:nvSpPr>
          <p:cNvPr id="5" name="Footer Placeholder 4">
            <a:extLst>
              <a:ext uri="{FF2B5EF4-FFF2-40B4-BE49-F238E27FC236}">
                <a16:creationId xmlns:a16="http://schemas.microsoft.com/office/drawing/2014/main" id="{8F103183-F694-3B16-9BA9-664445387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93DEBC-6B0B-ACE9-9B78-E0E310D5061C}"/>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118459835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11/3/25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448835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7210866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11/3/25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5621977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11/3/25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173636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11/3/25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1320957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11/3/25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1827583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11/3/25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87098375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11/3/25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15863671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11/3/25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2866624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3603665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822023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11/3/25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4999478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75825837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11/3/25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5997490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11/3/25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8120686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11/3/25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38737799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11/3/25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0789137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11/3/25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4944323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11/3/25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081742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11/3/25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1476762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44208481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6214282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25891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5475653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255748432"/>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5" y="1346948"/>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Rectangle 7"/>
          <p:cNvSpPr/>
          <p:nvPr/>
        </p:nvSpPr>
        <p:spPr>
          <a:xfrm>
            <a:off x="920835" y="4299698"/>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ectangle 8"/>
          <p:cNvSpPr/>
          <p:nvPr/>
        </p:nvSpPr>
        <p:spPr>
          <a:xfrm>
            <a:off x="920835"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6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1650">
                <a:solidFill>
                  <a:schemeClr val="tx1"/>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dirty="0"/>
              <a:t>Click to edit Master subtitle style</a:t>
            </a:r>
          </a:p>
        </p:txBody>
      </p:sp>
      <p:sp>
        <p:nvSpPr>
          <p:cNvPr id="4" name="Date Placeholder 3"/>
          <p:cNvSpPr>
            <a:spLocks noGrp="1"/>
          </p:cNvSpPr>
          <p:nvPr>
            <p:ph type="dt" sz="half" idx="10"/>
          </p:nvPr>
        </p:nvSpPr>
        <p:spPr/>
        <p:txBody>
          <a:bodyPr/>
          <a:lstStyle/>
          <a:p>
            <a:fld id="{74F8E13C-FF1F-4CFC-B342-9B88B073B2CA}" type="datetime1">
              <a:rPr lang="en-US" smtClean="0"/>
              <a:t>11/3/25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4" y="4289334"/>
            <a:ext cx="1193868" cy="640080"/>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9098308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272654" indent="-272654">
              <a:tabLst/>
              <a:defRPr sz="2700"/>
            </a:lvl1pPr>
            <a:lvl2pPr marL="471488" indent="-265510">
              <a:tabLst/>
              <a:defRPr sz="2400"/>
            </a:lvl2pPr>
            <a:lvl3pPr marL="670322" indent="-259556">
              <a:tabLst/>
              <a:defRPr sz="2100"/>
            </a:lvl3pPr>
            <a:lvl4pPr marL="869156" indent="-252413">
              <a:tabLst/>
              <a:defRPr sz="2100"/>
            </a:lvl4pPr>
            <a:lvl5pPr marL="1067991" indent="-245269">
              <a:tabLst/>
              <a:defRPr sz="21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B39A010-6BA2-4510-B397-93EBE368B550}"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212147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6000" b="0"/>
            </a:lvl1pPr>
          </a:lstStyle>
          <a:p>
            <a:r>
              <a:rPr lang="en-US"/>
              <a:t>Click to edit Master title style</a:t>
            </a:r>
            <a:endParaRPr lang="en-US" dirty="0"/>
          </a:p>
        </p:txBody>
      </p:sp>
      <p:sp>
        <p:nvSpPr>
          <p:cNvPr id="3" name="Text Placeholder 2"/>
          <p:cNvSpPr>
            <a:spLocks noGrp="1"/>
          </p:cNvSpPr>
          <p:nvPr>
            <p:ph type="body" idx="1"/>
          </p:nvPr>
        </p:nvSpPr>
        <p:spPr>
          <a:xfrm>
            <a:off x="2165775" y="5020056"/>
            <a:ext cx="9052560" cy="1066800"/>
          </a:xfrm>
        </p:spPr>
        <p:txBody>
          <a:bodyPr anchor="t">
            <a:normAutofit/>
          </a:bodyPr>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8" y="6272786"/>
            <a:ext cx="2644309" cy="365125"/>
          </a:xfrm>
        </p:spPr>
        <p:txBody>
          <a:bodyPr/>
          <a:lstStyle/>
          <a:p>
            <a:fld id="{3DE6034C-3672-4FEE-9A71-DB694FF6DF67}" type="datetime1">
              <a:rPr lang="en-US" smtClean="0"/>
              <a:t>11/3/25</a:t>
            </a:fld>
            <a:endParaRPr lang="en-US" dirty="0"/>
          </a:p>
        </p:txBody>
      </p:sp>
      <p:sp>
        <p:nvSpPr>
          <p:cNvPr id="5" name="Footer Placeholder 4"/>
          <p:cNvSpPr>
            <a:spLocks noGrp="1"/>
          </p:cNvSpPr>
          <p:nvPr>
            <p:ph type="ftr" sz="quarter" idx="11"/>
          </p:nvPr>
        </p:nvSpPr>
        <p:spPr>
          <a:xfrm>
            <a:off x="2182708" y="6272786"/>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1" y="2506133"/>
            <a:ext cx="1188299" cy="720332"/>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78499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E9A5002-5C34-4828-BF68-24986BEE14BE}" type="datetime1">
              <a:rPr lang="en-US" smtClean="0"/>
              <a:t>11/3/25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8691170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3CFCCC5-5FA1-4551-AC42-F551C0365E54}" type="datetime1">
              <a:rPr lang="en-US" smtClean="0"/>
              <a:t>11/3/25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67415601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C9772AD-0A06-4112-A9B1-45277D2EA31A}" type="datetime1">
              <a:rPr lang="en-US" smtClean="0"/>
              <a:t>11/3/25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0063188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10C212-0C4E-4248-B234-B44736087F77}" type="datetime1">
              <a:rPr lang="en-US" smtClean="0"/>
              <a:t>11/3/25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54720064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1" y="2"/>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8549640" y="685800"/>
            <a:ext cx="3200400" cy="1737360"/>
          </a:xfrm>
        </p:spPr>
        <p:txBody>
          <a:bodyPr anchor="b">
            <a:normAutofit/>
          </a:bodyPr>
          <a:lstStyle>
            <a:lvl1pPr>
              <a:defRPr sz="24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1500"/>
            </a:lvl1pPr>
            <a:lvl2pPr>
              <a:defRPr sz="1350"/>
            </a:lvl2pPr>
            <a:lvl3pPr>
              <a:defRPr sz="1200"/>
            </a:lvl3pPr>
            <a:lvl4pPr>
              <a:defRPr sz="1200"/>
            </a:lvl4pPr>
            <a:lvl5pPr>
              <a:defRPr sz="12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51C0CBB8-19EE-4D09-A427-B9CC47962392}" type="datetime1">
              <a:rPr lang="en-US" smtClean="0"/>
              <a:t>11/3/25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6512024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1" y="2"/>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8549640" y="685800"/>
            <a:ext cx="3200400" cy="1737360"/>
          </a:xfrm>
        </p:spPr>
        <p:txBody>
          <a:bodyPr anchor="b">
            <a:normAutofit/>
          </a:bodyPr>
          <a:lstStyle>
            <a:lvl1pPr>
              <a:defRPr sz="2400" b="1"/>
            </a:lvl1pPr>
          </a:lstStyle>
          <a:p>
            <a:r>
              <a:rPr lang="en-US"/>
              <a:t>Click to edit Master title style</a:t>
            </a:r>
            <a:endParaRPr lang="en-US" dirty="0"/>
          </a:p>
        </p:txBody>
      </p:sp>
      <p:sp>
        <p:nvSpPr>
          <p:cNvPr id="3" name="Picture Placeholder 2"/>
          <p:cNvSpPr>
            <a:spLocks noGrp="1"/>
          </p:cNvSpPr>
          <p:nvPr>
            <p:ph type="pic" idx="1"/>
          </p:nvPr>
        </p:nvSpPr>
        <p:spPr>
          <a:xfrm>
            <a:off x="1" y="0"/>
            <a:ext cx="8303740" cy="6858000"/>
          </a:xfrm>
          <a:solidFill>
            <a:schemeClr val="tx2">
              <a:lumMod val="20000"/>
              <a:lumOff val="80000"/>
            </a:schemeClr>
          </a:solidFill>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ACD34485-99F9-4D51-9324-8A3B0AEEFE53}" type="datetime1">
              <a:rPr lang="en-US" smtClean="0"/>
              <a:t>11/3/25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413079096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F908686-E31C-4396-889D-69DDB106287D}"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1177246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1"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B94BDE-4686-458C-8F84-408D64175844}"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7367842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342900" lvl="0" indent="-314325">
              <a:spcBef>
                <a:spcPts val="450"/>
              </a:spcBef>
              <a:spcAft>
                <a:spcPts val="0"/>
              </a:spcAft>
              <a:buSzPts val="3000"/>
              <a:buChar char="◎"/>
              <a:defRPr/>
            </a:lvl1pPr>
            <a:lvl2pPr marL="685800" lvl="1" indent="-285750">
              <a:spcBef>
                <a:spcPts val="0"/>
              </a:spcBef>
              <a:spcAft>
                <a:spcPts val="0"/>
              </a:spcAft>
              <a:buSzPts val="2400"/>
              <a:buChar char="○"/>
              <a:defRPr/>
            </a:lvl2pPr>
            <a:lvl3pPr marL="1028700" lvl="2" indent="-285750">
              <a:spcBef>
                <a:spcPts val="0"/>
              </a:spcBef>
              <a:spcAft>
                <a:spcPts val="0"/>
              </a:spcAft>
              <a:buSzPts val="2400"/>
              <a:buChar char="◉"/>
              <a:defRPr/>
            </a:lvl3pPr>
            <a:lvl4pPr marL="1371600" lvl="3" indent="-257175">
              <a:spcBef>
                <a:spcPts val="0"/>
              </a:spcBef>
              <a:spcAft>
                <a:spcPts val="0"/>
              </a:spcAft>
              <a:buSzPts val="1800"/>
              <a:buChar char="●"/>
              <a:defRPr/>
            </a:lvl4pPr>
            <a:lvl5pPr marL="1714500" lvl="4" indent="-257175">
              <a:spcBef>
                <a:spcPts val="0"/>
              </a:spcBef>
              <a:spcAft>
                <a:spcPts val="0"/>
              </a:spcAft>
              <a:buSzPts val="1800"/>
              <a:buChar char="○"/>
              <a:defRPr/>
            </a:lvl5pPr>
            <a:lvl6pPr marL="2057400" lvl="5" indent="-257175">
              <a:spcBef>
                <a:spcPts val="0"/>
              </a:spcBef>
              <a:spcAft>
                <a:spcPts val="0"/>
              </a:spcAft>
              <a:buSzPts val="1800"/>
              <a:buChar char="■"/>
              <a:defRPr/>
            </a:lvl6pPr>
            <a:lvl7pPr marL="2400300" lvl="6" indent="-257175">
              <a:spcBef>
                <a:spcPts val="0"/>
              </a:spcBef>
              <a:spcAft>
                <a:spcPts val="0"/>
              </a:spcAft>
              <a:buSzPts val="1800"/>
              <a:buChar char="●"/>
              <a:defRPr/>
            </a:lvl7pPr>
            <a:lvl8pPr marL="2743200" lvl="7" indent="-257175">
              <a:spcBef>
                <a:spcPts val="0"/>
              </a:spcBef>
              <a:spcAft>
                <a:spcPts val="0"/>
              </a:spcAft>
              <a:buSzPts val="1800"/>
              <a:buChar char="○"/>
              <a:defRPr/>
            </a:lvl8pPr>
            <a:lvl9pPr marL="3086100" lvl="8" indent="-257175">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8950067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p:cNvGrpSpPr>
            <a:grpSpLocks/>
          </p:cNvGrpSpPr>
          <p:nvPr/>
        </p:nvGrpSpPr>
        <p:grpSpPr bwMode="auto">
          <a:xfrm>
            <a:off x="4234" y="4267200"/>
            <a:ext cx="12187767" cy="2590800"/>
            <a:chOff x="2" y="2688"/>
            <a:chExt cx="5758" cy="1632"/>
          </a:xfrm>
        </p:grpSpPr>
        <p:sp>
          <p:nvSpPr>
            <p:cNvPr id="5" name="Freeform 3"/>
            <p:cNvSpPr>
              <a:spLocks/>
            </p:cNvSpPr>
            <p:nvPr/>
          </p:nvSpPr>
          <p:spPr bwMode="hidden">
            <a:xfrm>
              <a:off x="2" y="2688"/>
              <a:ext cx="5758" cy="1632"/>
            </a:xfrm>
            <a:custGeom>
              <a:avLst/>
              <a:gdLst/>
              <a:ahLst/>
              <a:cxnLst>
                <a:cxn ang="0">
                  <a:pos x="5740" y="4316"/>
                </a:cxn>
                <a:cxn ang="0">
                  <a:pos x="0" y="4316"/>
                </a:cxn>
                <a:cxn ang="0">
                  <a:pos x="0" y="0"/>
                </a:cxn>
                <a:cxn ang="0">
                  <a:pos x="5740" y="0"/>
                </a:cxn>
                <a:cxn ang="0">
                  <a:pos x="5740" y="4316"/>
                </a:cxn>
                <a:cxn ang="0">
                  <a:pos x="5740" y="4316"/>
                </a:cxn>
              </a:cxnLst>
              <a:rect l="0" t="0" r="r" b="b"/>
              <a:pathLst>
                <a:path w="5740" h="4316">
                  <a:moveTo>
                    <a:pt x="5740" y="4316"/>
                  </a:moveTo>
                  <a:lnTo>
                    <a:pt x="0" y="4316"/>
                  </a:lnTo>
                  <a:lnTo>
                    <a:pt x="0" y="0"/>
                  </a:lnTo>
                  <a:lnTo>
                    <a:pt x="5740" y="0"/>
                  </a:lnTo>
                  <a:lnTo>
                    <a:pt x="5740" y="4316"/>
                  </a:lnTo>
                  <a:lnTo>
                    <a:pt x="5740" y="431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grpSp>
          <p:nvGrpSpPr>
            <p:cNvPr id="6" name="Group 4"/>
            <p:cNvGrpSpPr>
              <a:grpSpLocks/>
            </p:cNvGrpSpPr>
            <p:nvPr userDrawn="1"/>
          </p:nvGrpSpPr>
          <p:grpSpPr bwMode="auto">
            <a:xfrm>
              <a:off x="3528" y="3715"/>
              <a:ext cx="792" cy="521"/>
              <a:chOff x="3527" y="3715"/>
              <a:chExt cx="792" cy="521"/>
            </a:xfrm>
          </p:grpSpPr>
          <p:sp>
            <p:nvSpPr>
              <p:cNvPr id="57" name="Oval 5"/>
              <p:cNvSpPr>
                <a:spLocks noChangeArrowheads="1"/>
              </p:cNvSpPr>
              <p:nvPr/>
            </p:nvSpPr>
            <p:spPr bwMode="hidden">
              <a:xfrm>
                <a:off x="3686" y="3810"/>
                <a:ext cx="532" cy="327"/>
              </a:xfrm>
              <a:prstGeom prst="ellipse">
                <a:avLst/>
              </a:prstGeom>
              <a:gradFill rotWithShape="0">
                <a:gsLst>
                  <a:gs pos="0">
                    <a:schemeClr val="accent2"/>
                  </a:gs>
                  <a:gs pos="100000">
                    <a:schemeClr val="accent2">
                      <a:gamma/>
                      <a:shade val="90980"/>
                      <a:invGamma/>
                    </a:schemeClr>
                  </a:gs>
                </a:gsLst>
                <a:path path="shape">
                  <a:fillToRect l="50000" t="50000" r="50000" b="50000"/>
                </a:path>
              </a:gradFill>
              <a:ln w="9525">
                <a:noFill/>
                <a:round/>
                <a:headEnd/>
                <a:tailEnd/>
              </a:ln>
              <a:effectLst/>
            </p:spPr>
            <p:txBody>
              <a:bodyPr/>
              <a:lstStyle/>
              <a:p>
                <a:pPr>
                  <a:defRPr/>
                </a:pPr>
                <a:endParaRPr lang="en-US" sz="1800"/>
              </a:p>
            </p:txBody>
          </p:sp>
          <p:sp>
            <p:nvSpPr>
              <p:cNvPr id="58" name="Oval 6"/>
              <p:cNvSpPr>
                <a:spLocks noChangeArrowheads="1"/>
              </p:cNvSpPr>
              <p:nvPr/>
            </p:nvSpPr>
            <p:spPr bwMode="hidden">
              <a:xfrm>
                <a:off x="3726" y="3840"/>
                <a:ext cx="452" cy="275"/>
              </a:xfrm>
              <a:prstGeom prst="ellipse">
                <a:avLst/>
              </a:prstGeom>
              <a:gradFill rotWithShape="0">
                <a:gsLst>
                  <a:gs pos="0">
                    <a:schemeClr val="accent2">
                      <a:gamma/>
                      <a:shade val="90980"/>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59" name="Oval 7"/>
              <p:cNvSpPr>
                <a:spLocks noChangeArrowheads="1"/>
              </p:cNvSpPr>
              <p:nvPr/>
            </p:nvSpPr>
            <p:spPr bwMode="hidden">
              <a:xfrm>
                <a:off x="3782" y="3872"/>
                <a:ext cx="344" cy="2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60" name="Oval 8"/>
              <p:cNvSpPr>
                <a:spLocks noChangeArrowheads="1"/>
              </p:cNvSpPr>
              <p:nvPr/>
            </p:nvSpPr>
            <p:spPr bwMode="hidden">
              <a:xfrm>
                <a:off x="3822" y="3896"/>
                <a:ext cx="262" cy="159"/>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61" name="Oval 9"/>
              <p:cNvSpPr>
                <a:spLocks noChangeArrowheads="1"/>
              </p:cNvSpPr>
              <p:nvPr/>
            </p:nvSpPr>
            <p:spPr bwMode="hidden">
              <a:xfrm>
                <a:off x="3856" y="3922"/>
                <a:ext cx="192" cy="1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62" name="Freeform 10"/>
              <p:cNvSpPr>
                <a:spLocks/>
              </p:cNvSpPr>
              <p:nvPr/>
            </p:nvSpPr>
            <p:spPr bwMode="hidden">
              <a:xfrm>
                <a:off x="3575" y="3715"/>
                <a:ext cx="383" cy="161"/>
              </a:xfrm>
              <a:custGeom>
                <a:avLst/>
                <a:gdLst/>
                <a:ahLst/>
                <a:cxnLst>
                  <a:cxn ang="0">
                    <a:pos x="376" y="12"/>
                  </a:cxn>
                  <a:cxn ang="0">
                    <a:pos x="257" y="24"/>
                  </a:cxn>
                  <a:cxn ang="0">
                    <a:pos x="149" y="54"/>
                  </a:cxn>
                  <a:cxn ang="0">
                    <a:pos x="101" y="77"/>
                  </a:cxn>
                  <a:cxn ang="0">
                    <a:pos x="59" y="101"/>
                  </a:cxn>
                  <a:cxn ang="0">
                    <a:pos x="24" y="131"/>
                  </a:cxn>
                  <a:cxn ang="0">
                    <a:pos x="0" y="161"/>
                  </a:cxn>
                  <a:cxn ang="0">
                    <a:pos x="0" y="137"/>
                  </a:cxn>
                  <a:cxn ang="0">
                    <a:pos x="29" y="107"/>
                  </a:cxn>
                  <a:cxn ang="0">
                    <a:pos x="65" y="83"/>
                  </a:cxn>
                  <a:cxn ang="0">
                    <a:pos x="155" y="36"/>
                  </a:cxn>
                  <a:cxn ang="0">
                    <a:pos x="257" y="12"/>
                  </a:cxn>
                  <a:cxn ang="0">
                    <a:pos x="376" y="0"/>
                  </a:cxn>
                  <a:cxn ang="0">
                    <a:pos x="376" y="0"/>
                  </a:cxn>
                  <a:cxn ang="0">
                    <a:pos x="382" y="0"/>
                  </a:cxn>
                  <a:cxn ang="0">
                    <a:pos x="382" y="12"/>
                  </a:cxn>
                  <a:cxn ang="0">
                    <a:pos x="376" y="12"/>
                  </a:cxn>
                  <a:cxn ang="0">
                    <a:pos x="376" y="12"/>
                  </a:cxn>
                  <a:cxn ang="0">
                    <a:pos x="376" y="12"/>
                  </a:cxn>
                </a:cxnLst>
                <a:rect l="0" t="0" r="r" b="b"/>
                <a:pathLst>
                  <a:path w="382" h="161">
                    <a:moveTo>
                      <a:pt x="376" y="12"/>
                    </a:moveTo>
                    <a:lnTo>
                      <a:pt x="257" y="24"/>
                    </a:lnTo>
                    <a:lnTo>
                      <a:pt x="149" y="54"/>
                    </a:lnTo>
                    <a:lnTo>
                      <a:pt x="101" y="77"/>
                    </a:lnTo>
                    <a:lnTo>
                      <a:pt x="59" y="101"/>
                    </a:lnTo>
                    <a:lnTo>
                      <a:pt x="24" y="131"/>
                    </a:lnTo>
                    <a:lnTo>
                      <a:pt x="0" y="161"/>
                    </a:lnTo>
                    <a:lnTo>
                      <a:pt x="0" y="137"/>
                    </a:lnTo>
                    <a:lnTo>
                      <a:pt x="29" y="107"/>
                    </a:lnTo>
                    <a:lnTo>
                      <a:pt x="65" y="83"/>
                    </a:lnTo>
                    <a:lnTo>
                      <a:pt x="155" y="36"/>
                    </a:lnTo>
                    <a:lnTo>
                      <a:pt x="257" y="12"/>
                    </a:lnTo>
                    <a:lnTo>
                      <a:pt x="376" y="0"/>
                    </a:lnTo>
                    <a:lnTo>
                      <a:pt x="376" y="0"/>
                    </a:lnTo>
                    <a:lnTo>
                      <a:pt x="382" y="0"/>
                    </a:lnTo>
                    <a:lnTo>
                      <a:pt x="382" y="12"/>
                    </a:lnTo>
                    <a:lnTo>
                      <a:pt x="376" y="12"/>
                    </a:lnTo>
                    <a:lnTo>
                      <a:pt x="376" y="12"/>
                    </a:lnTo>
                    <a:lnTo>
                      <a:pt x="376" y="12"/>
                    </a:lnTo>
                    <a:close/>
                  </a:path>
                </a:pathLst>
              </a:custGeom>
              <a:gradFill rotWithShape="0">
                <a:gsLst>
                  <a:gs pos="0">
                    <a:schemeClr val="accent2">
                      <a:gamma/>
                      <a:shade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63" name="Freeform 11"/>
              <p:cNvSpPr>
                <a:spLocks/>
              </p:cNvSpPr>
              <p:nvPr/>
            </p:nvSpPr>
            <p:spPr bwMode="hidden">
              <a:xfrm>
                <a:off x="3695" y="4170"/>
                <a:ext cx="444" cy="66"/>
              </a:xfrm>
              <a:custGeom>
                <a:avLst/>
                <a:gdLst/>
                <a:ahLst/>
                <a:cxnLst>
                  <a:cxn ang="0">
                    <a:pos x="257" y="54"/>
                  </a:cxn>
                  <a:cxn ang="0">
                    <a:pos x="353" y="48"/>
                  </a:cxn>
                  <a:cxn ang="0">
                    <a:pos x="443" y="24"/>
                  </a:cxn>
                  <a:cxn ang="0">
                    <a:pos x="443" y="36"/>
                  </a:cxn>
                  <a:cxn ang="0">
                    <a:pos x="353" y="60"/>
                  </a:cxn>
                  <a:cxn ang="0">
                    <a:pos x="257" y="66"/>
                  </a:cxn>
                  <a:cxn ang="0">
                    <a:pos x="186" y="60"/>
                  </a:cxn>
                  <a:cxn ang="0">
                    <a:pos x="120" y="48"/>
                  </a:cxn>
                  <a:cxn ang="0">
                    <a:pos x="60" y="36"/>
                  </a:cxn>
                  <a:cxn ang="0">
                    <a:pos x="0" y="12"/>
                  </a:cxn>
                  <a:cxn ang="0">
                    <a:pos x="0" y="0"/>
                  </a:cxn>
                  <a:cxn ang="0">
                    <a:pos x="54" y="24"/>
                  </a:cxn>
                  <a:cxn ang="0">
                    <a:pos x="120" y="36"/>
                  </a:cxn>
                  <a:cxn ang="0">
                    <a:pos x="186" y="48"/>
                  </a:cxn>
                  <a:cxn ang="0">
                    <a:pos x="257" y="54"/>
                  </a:cxn>
                  <a:cxn ang="0">
                    <a:pos x="257" y="54"/>
                  </a:cxn>
                </a:cxnLst>
                <a:rect l="0" t="0" r="r" b="b"/>
                <a:pathLst>
                  <a:path w="443" h="66">
                    <a:moveTo>
                      <a:pt x="257" y="54"/>
                    </a:moveTo>
                    <a:lnTo>
                      <a:pt x="353" y="48"/>
                    </a:lnTo>
                    <a:lnTo>
                      <a:pt x="443" y="24"/>
                    </a:lnTo>
                    <a:lnTo>
                      <a:pt x="443" y="36"/>
                    </a:lnTo>
                    <a:lnTo>
                      <a:pt x="353" y="60"/>
                    </a:lnTo>
                    <a:lnTo>
                      <a:pt x="257" y="66"/>
                    </a:lnTo>
                    <a:lnTo>
                      <a:pt x="186" y="60"/>
                    </a:lnTo>
                    <a:lnTo>
                      <a:pt x="120" y="48"/>
                    </a:lnTo>
                    <a:lnTo>
                      <a:pt x="60" y="36"/>
                    </a:lnTo>
                    <a:lnTo>
                      <a:pt x="0" y="12"/>
                    </a:lnTo>
                    <a:lnTo>
                      <a:pt x="0" y="0"/>
                    </a:lnTo>
                    <a:lnTo>
                      <a:pt x="54" y="24"/>
                    </a:lnTo>
                    <a:lnTo>
                      <a:pt x="120" y="36"/>
                    </a:lnTo>
                    <a:lnTo>
                      <a:pt x="186" y="48"/>
                    </a:lnTo>
                    <a:lnTo>
                      <a:pt x="257" y="54"/>
                    </a:lnTo>
                    <a:lnTo>
                      <a:pt x="257" y="54"/>
                    </a:lnTo>
                    <a:close/>
                  </a:path>
                </a:pathLst>
              </a:custGeom>
              <a:gradFill rotWithShape="0">
                <a:gsLst>
                  <a:gs pos="0">
                    <a:schemeClr val="accent2">
                      <a:gamma/>
                      <a:shade val="84706"/>
                      <a:invGamma/>
                    </a:schemeClr>
                  </a:gs>
                  <a:gs pos="100000">
                    <a:schemeClr val="accent2"/>
                  </a:gs>
                </a:gsLst>
                <a:lin ang="18900000" scaled="1"/>
              </a:gradFill>
              <a:ln w="9525">
                <a:noFill/>
                <a:round/>
                <a:headEnd/>
                <a:tailEnd/>
              </a:ln>
            </p:spPr>
            <p:txBody>
              <a:bodyPr/>
              <a:lstStyle/>
              <a:p>
                <a:pPr>
                  <a:defRPr/>
                </a:pPr>
                <a:endParaRPr lang="en-US" sz="1800"/>
              </a:p>
            </p:txBody>
          </p:sp>
          <p:sp>
            <p:nvSpPr>
              <p:cNvPr id="64" name="Freeform 12"/>
              <p:cNvSpPr>
                <a:spLocks/>
              </p:cNvSpPr>
              <p:nvPr/>
            </p:nvSpPr>
            <p:spPr bwMode="hidden">
              <a:xfrm>
                <a:off x="3527" y="3906"/>
                <a:ext cx="89" cy="216"/>
              </a:xfrm>
              <a:custGeom>
                <a:avLst/>
                <a:gdLst/>
                <a:ahLst/>
                <a:cxnLst>
                  <a:cxn ang="0">
                    <a:pos x="12" y="66"/>
                  </a:cxn>
                  <a:cxn ang="0">
                    <a:pos x="18" y="108"/>
                  </a:cxn>
                  <a:cxn ang="0">
                    <a:pos x="36" y="144"/>
                  </a:cxn>
                  <a:cxn ang="0">
                    <a:pos x="60" y="180"/>
                  </a:cxn>
                  <a:cxn ang="0">
                    <a:pos x="89" y="216"/>
                  </a:cxn>
                  <a:cxn ang="0">
                    <a:pos x="72" y="216"/>
                  </a:cxn>
                  <a:cxn ang="0">
                    <a:pos x="42" y="180"/>
                  </a:cxn>
                  <a:cxn ang="0">
                    <a:pos x="18" y="144"/>
                  </a:cxn>
                  <a:cxn ang="0">
                    <a:pos x="6" y="108"/>
                  </a:cxn>
                  <a:cxn ang="0">
                    <a:pos x="0" y="66"/>
                  </a:cxn>
                  <a:cxn ang="0">
                    <a:pos x="0" y="30"/>
                  </a:cxn>
                  <a:cxn ang="0">
                    <a:pos x="12" y="0"/>
                  </a:cxn>
                  <a:cxn ang="0">
                    <a:pos x="30" y="0"/>
                  </a:cxn>
                  <a:cxn ang="0">
                    <a:pos x="18" y="30"/>
                  </a:cxn>
                  <a:cxn ang="0">
                    <a:pos x="12" y="66"/>
                  </a:cxn>
                  <a:cxn ang="0">
                    <a:pos x="12" y="66"/>
                  </a:cxn>
                </a:cxnLst>
                <a:rect l="0" t="0" r="r" b="b"/>
                <a:pathLst>
                  <a:path w="89" h="216">
                    <a:moveTo>
                      <a:pt x="12" y="66"/>
                    </a:moveTo>
                    <a:lnTo>
                      <a:pt x="18" y="108"/>
                    </a:lnTo>
                    <a:lnTo>
                      <a:pt x="36" y="144"/>
                    </a:lnTo>
                    <a:lnTo>
                      <a:pt x="60" y="180"/>
                    </a:lnTo>
                    <a:lnTo>
                      <a:pt x="89" y="216"/>
                    </a:lnTo>
                    <a:lnTo>
                      <a:pt x="72" y="216"/>
                    </a:lnTo>
                    <a:lnTo>
                      <a:pt x="42" y="180"/>
                    </a:lnTo>
                    <a:lnTo>
                      <a:pt x="18" y="144"/>
                    </a:lnTo>
                    <a:lnTo>
                      <a:pt x="6" y="108"/>
                    </a:lnTo>
                    <a:lnTo>
                      <a:pt x="0" y="66"/>
                    </a:lnTo>
                    <a:lnTo>
                      <a:pt x="0" y="30"/>
                    </a:lnTo>
                    <a:lnTo>
                      <a:pt x="12" y="0"/>
                    </a:lnTo>
                    <a:lnTo>
                      <a:pt x="30" y="0"/>
                    </a:lnTo>
                    <a:lnTo>
                      <a:pt x="18" y="30"/>
                    </a:lnTo>
                    <a:lnTo>
                      <a:pt x="12" y="66"/>
                    </a:lnTo>
                    <a:lnTo>
                      <a:pt x="12" y="66"/>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65" name="Freeform 13"/>
              <p:cNvSpPr>
                <a:spLocks/>
              </p:cNvSpPr>
              <p:nvPr/>
            </p:nvSpPr>
            <p:spPr bwMode="hidden">
              <a:xfrm>
                <a:off x="3569" y="3745"/>
                <a:ext cx="750" cy="461"/>
              </a:xfrm>
              <a:custGeom>
                <a:avLst/>
                <a:gdLst/>
                <a:ahLst/>
                <a:cxnLst>
                  <a:cxn ang="0">
                    <a:pos x="382" y="443"/>
                  </a:cxn>
                  <a:cxn ang="0">
                    <a:pos x="311" y="437"/>
                  </a:cxn>
                  <a:cxn ang="0">
                    <a:pos x="245" y="425"/>
                  </a:cxn>
                  <a:cxn ang="0">
                    <a:pos x="185" y="407"/>
                  </a:cxn>
                  <a:cxn ang="0">
                    <a:pos x="131" y="383"/>
                  </a:cxn>
                  <a:cxn ang="0">
                    <a:pos x="83" y="347"/>
                  </a:cxn>
                  <a:cxn ang="0">
                    <a:pos x="53" y="311"/>
                  </a:cxn>
                  <a:cxn ang="0">
                    <a:pos x="30" y="269"/>
                  </a:cxn>
                  <a:cxn ang="0">
                    <a:pos x="24" y="227"/>
                  </a:cxn>
                  <a:cxn ang="0">
                    <a:pos x="30" y="185"/>
                  </a:cxn>
                  <a:cxn ang="0">
                    <a:pos x="53" y="143"/>
                  </a:cxn>
                  <a:cxn ang="0">
                    <a:pos x="83" y="107"/>
                  </a:cxn>
                  <a:cxn ang="0">
                    <a:pos x="131" y="77"/>
                  </a:cxn>
                  <a:cxn ang="0">
                    <a:pos x="185" y="47"/>
                  </a:cxn>
                  <a:cxn ang="0">
                    <a:pos x="245" y="30"/>
                  </a:cxn>
                  <a:cxn ang="0">
                    <a:pos x="311" y="18"/>
                  </a:cxn>
                  <a:cxn ang="0">
                    <a:pos x="382" y="12"/>
                  </a:cxn>
                  <a:cxn ang="0">
                    <a:pos x="478" y="18"/>
                  </a:cxn>
                  <a:cxn ang="0">
                    <a:pos x="562" y="41"/>
                  </a:cxn>
                  <a:cxn ang="0">
                    <a:pos x="562" y="36"/>
                  </a:cxn>
                  <a:cxn ang="0">
                    <a:pos x="562" y="30"/>
                  </a:cxn>
                  <a:cxn ang="0">
                    <a:pos x="478" y="6"/>
                  </a:cxn>
                  <a:cxn ang="0">
                    <a:pos x="382" y="0"/>
                  </a:cxn>
                  <a:cxn ang="0">
                    <a:pos x="305" y="6"/>
                  </a:cxn>
                  <a:cxn ang="0">
                    <a:pos x="233" y="18"/>
                  </a:cxn>
                  <a:cxn ang="0">
                    <a:pos x="167" y="41"/>
                  </a:cxn>
                  <a:cxn ang="0">
                    <a:pos x="113" y="65"/>
                  </a:cxn>
                  <a:cxn ang="0">
                    <a:pos x="65" y="101"/>
                  </a:cxn>
                  <a:cxn ang="0">
                    <a:pos x="30" y="137"/>
                  </a:cxn>
                  <a:cxn ang="0">
                    <a:pos x="6" y="179"/>
                  </a:cxn>
                  <a:cxn ang="0">
                    <a:pos x="0" y="227"/>
                  </a:cxn>
                  <a:cxn ang="0">
                    <a:pos x="6" y="275"/>
                  </a:cxn>
                  <a:cxn ang="0">
                    <a:pos x="30" y="317"/>
                  </a:cxn>
                  <a:cxn ang="0">
                    <a:pos x="65" y="359"/>
                  </a:cxn>
                  <a:cxn ang="0">
                    <a:pos x="113" y="395"/>
                  </a:cxn>
                  <a:cxn ang="0">
                    <a:pos x="167" y="419"/>
                  </a:cxn>
                  <a:cxn ang="0">
                    <a:pos x="233" y="443"/>
                  </a:cxn>
                  <a:cxn ang="0">
                    <a:pos x="305" y="455"/>
                  </a:cxn>
                  <a:cxn ang="0">
                    <a:pos x="382" y="461"/>
                  </a:cxn>
                  <a:cxn ang="0">
                    <a:pos x="448" y="455"/>
                  </a:cxn>
                  <a:cxn ang="0">
                    <a:pos x="508" y="449"/>
                  </a:cxn>
                  <a:cxn ang="0">
                    <a:pos x="609" y="413"/>
                  </a:cxn>
                  <a:cxn ang="0">
                    <a:pos x="657" y="389"/>
                  </a:cxn>
                  <a:cxn ang="0">
                    <a:pos x="693" y="359"/>
                  </a:cxn>
                  <a:cxn ang="0">
                    <a:pos x="723" y="329"/>
                  </a:cxn>
                  <a:cxn ang="0">
                    <a:pos x="747" y="293"/>
                  </a:cxn>
                  <a:cxn ang="0">
                    <a:pos x="741" y="287"/>
                  </a:cxn>
                  <a:cxn ang="0">
                    <a:pos x="729" y="281"/>
                  </a:cxn>
                  <a:cxn ang="0">
                    <a:pos x="711" y="317"/>
                  </a:cxn>
                  <a:cxn ang="0">
                    <a:pos x="681" y="347"/>
                  </a:cxn>
                  <a:cxn ang="0">
                    <a:pos x="645" y="377"/>
                  </a:cxn>
                  <a:cxn ang="0">
                    <a:pos x="604" y="401"/>
                  </a:cxn>
                  <a:cxn ang="0">
                    <a:pos x="502" y="431"/>
                  </a:cxn>
                  <a:cxn ang="0">
                    <a:pos x="442" y="443"/>
                  </a:cxn>
                  <a:cxn ang="0">
                    <a:pos x="382" y="443"/>
                  </a:cxn>
                  <a:cxn ang="0">
                    <a:pos x="382" y="443"/>
                  </a:cxn>
                </a:cxnLst>
                <a:rect l="0" t="0" r="r" b="b"/>
                <a:pathLst>
                  <a:path w="747" h="461">
                    <a:moveTo>
                      <a:pt x="382" y="443"/>
                    </a:moveTo>
                    <a:lnTo>
                      <a:pt x="311" y="437"/>
                    </a:lnTo>
                    <a:lnTo>
                      <a:pt x="245" y="425"/>
                    </a:lnTo>
                    <a:lnTo>
                      <a:pt x="185" y="407"/>
                    </a:lnTo>
                    <a:lnTo>
                      <a:pt x="131" y="383"/>
                    </a:lnTo>
                    <a:lnTo>
                      <a:pt x="83" y="347"/>
                    </a:lnTo>
                    <a:lnTo>
                      <a:pt x="53" y="311"/>
                    </a:lnTo>
                    <a:lnTo>
                      <a:pt x="30" y="269"/>
                    </a:lnTo>
                    <a:lnTo>
                      <a:pt x="24" y="227"/>
                    </a:lnTo>
                    <a:lnTo>
                      <a:pt x="30" y="185"/>
                    </a:lnTo>
                    <a:lnTo>
                      <a:pt x="53" y="143"/>
                    </a:lnTo>
                    <a:lnTo>
                      <a:pt x="83" y="107"/>
                    </a:lnTo>
                    <a:lnTo>
                      <a:pt x="131" y="77"/>
                    </a:lnTo>
                    <a:lnTo>
                      <a:pt x="185" y="47"/>
                    </a:lnTo>
                    <a:lnTo>
                      <a:pt x="245" y="30"/>
                    </a:lnTo>
                    <a:lnTo>
                      <a:pt x="311" y="18"/>
                    </a:lnTo>
                    <a:lnTo>
                      <a:pt x="382" y="12"/>
                    </a:lnTo>
                    <a:lnTo>
                      <a:pt x="478" y="18"/>
                    </a:lnTo>
                    <a:lnTo>
                      <a:pt x="562" y="41"/>
                    </a:lnTo>
                    <a:lnTo>
                      <a:pt x="562" y="36"/>
                    </a:lnTo>
                    <a:lnTo>
                      <a:pt x="562" y="30"/>
                    </a:lnTo>
                    <a:lnTo>
                      <a:pt x="478" y="6"/>
                    </a:lnTo>
                    <a:lnTo>
                      <a:pt x="382" y="0"/>
                    </a:lnTo>
                    <a:lnTo>
                      <a:pt x="305" y="6"/>
                    </a:lnTo>
                    <a:lnTo>
                      <a:pt x="233" y="18"/>
                    </a:lnTo>
                    <a:lnTo>
                      <a:pt x="167" y="41"/>
                    </a:lnTo>
                    <a:lnTo>
                      <a:pt x="113" y="65"/>
                    </a:lnTo>
                    <a:lnTo>
                      <a:pt x="65" y="101"/>
                    </a:lnTo>
                    <a:lnTo>
                      <a:pt x="30" y="137"/>
                    </a:lnTo>
                    <a:lnTo>
                      <a:pt x="6" y="179"/>
                    </a:lnTo>
                    <a:lnTo>
                      <a:pt x="0" y="227"/>
                    </a:lnTo>
                    <a:lnTo>
                      <a:pt x="6" y="275"/>
                    </a:lnTo>
                    <a:lnTo>
                      <a:pt x="30" y="317"/>
                    </a:lnTo>
                    <a:lnTo>
                      <a:pt x="65" y="359"/>
                    </a:lnTo>
                    <a:lnTo>
                      <a:pt x="113" y="395"/>
                    </a:lnTo>
                    <a:lnTo>
                      <a:pt x="167" y="419"/>
                    </a:lnTo>
                    <a:lnTo>
                      <a:pt x="233" y="443"/>
                    </a:lnTo>
                    <a:lnTo>
                      <a:pt x="305" y="455"/>
                    </a:lnTo>
                    <a:lnTo>
                      <a:pt x="382" y="461"/>
                    </a:lnTo>
                    <a:lnTo>
                      <a:pt x="448" y="455"/>
                    </a:lnTo>
                    <a:lnTo>
                      <a:pt x="508" y="449"/>
                    </a:lnTo>
                    <a:lnTo>
                      <a:pt x="609" y="413"/>
                    </a:lnTo>
                    <a:lnTo>
                      <a:pt x="657" y="389"/>
                    </a:lnTo>
                    <a:lnTo>
                      <a:pt x="693" y="359"/>
                    </a:lnTo>
                    <a:lnTo>
                      <a:pt x="723" y="329"/>
                    </a:lnTo>
                    <a:lnTo>
                      <a:pt x="747" y="293"/>
                    </a:lnTo>
                    <a:lnTo>
                      <a:pt x="741" y="287"/>
                    </a:lnTo>
                    <a:lnTo>
                      <a:pt x="729" y="281"/>
                    </a:lnTo>
                    <a:lnTo>
                      <a:pt x="711" y="317"/>
                    </a:lnTo>
                    <a:lnTo>
                      <a:pt x="681" y="347"/>
                    </a:lnTo>
                    <a:lnTo>
                      <a:pt x="645" y="377"/>
                    </a:lnTo>
                    <a:lnTo>
                      <a:pt x="604" y="401"/>
                    </a:lnTo>
                    <a:lnTo>
                      <a:pt x="502" y="431"/>
                    </a:lnTo>
                    <a:lnTo>
                      <a:pt x="442" y="443"/>
                    </a:lnTo>
                    <a:lnTo>
                      <a:pt x="382" y="443"/>
                    </a:lnTo>
                    <a:lnTo>
                      <a:pt x="382" y="443"/>
                    </a:lnTo>
                    <a:close/>
                  </a:path>
                </a:pathLst>
              </a:custGeom>
              <a:gradFill rotWithShape="0">
                <a:gsLst>
                  <a:gs pos="0">
                    <a:schemeClr val="accent2"/>
                  </a:gs>
                  <a:gs pos="100000">
                    <a:schemeClr val="accent2">
                      <a:gamma/>
                      <a:shade val="90980"/>
                      <a:invGamma/>
                    </a:schemeClr>
                  </a:gs>
                </a:gsLst>
                <a:path path="rect">
                  <a:fillToRect l="50000" t="50000" r="50000" b="50000"/>
                </a:path>
              </a:gradFill>
              <a:ln w="9525">
                <a:noFill/>
                <a:round/>
                <a:headEnd/>
                <a:tailEnd/>
              </a:ln>
            </p:spPr>
            <p:txBody>
              <a:bodyPr/>
              <a:lstStyle/>
              <a:p>
                <a:pPr>
                  <a:defRPr/>
                </a:pPr>
                <a:endParaRPr lang="en-US" sz="1800"/>
              </a:p>
            </p:txBody>
          </p:sp>
          <p:sp>
            <p:nvSpPr>
              <p:cNvPr id="66" name="Freeform 14"/>
              <p:cNvSpPr>
                <a:spLocks/>
              </p:cNvSpPr>
              <p:nvPr/>
            </p:nvSpPr>
            <p:spPr bwMode="hidden">
              <a:xfrm>
                <a:off x="4037" y="3721"/>
                <a:ext cx="96" cy="30"/>
              </a:xfrm>
              <a:custGeom>
                <a:avLst/>
                <a:gdLst/>
                <a:ahLst/>
                <a:cxnLst>
                  <a:cxn ang="0">
                    <a:pos x="0" y="0"/>
                  </a:cxn>
                  <a:cxn ang="0">
                    <a:pos x="0" y="12"/>
                  </a:cxn>
                  <a:cxn ang="0">
                    <a:pos x="48" y="18"/>
                  </a:cxn>
                  <a:cxn ang="0">
                    <a:pos x="96" y="30"/>
                  </a:cxn>
                  <a:cxn ang="0">
                    <a:pos x="96" y="24"/>
                  </a:cxn>
                  <a:cxn ang="0">
                    <a:pos x="96" y="18"/>
                  </a:cxn>
                  <a:cxn ang="0">
                    <a:pos x="48" y="12"/>
                  </a:cxn>
                  <a:cxn ang="0">
                    <a:pos x="0" y="0"/>
                  </a:cxn>
                  <a:cxn ang="0">
                    <a:pos x="0" y="0"/>
                  </a:cxn>
                </a:cxnLst>
                <a:rect l="0" t="0" r="r" b="b"/>
                <a:pathLst>
                  <a:path w="96" h="30">
                    <a:moveTo>
                      <a:pt x="0" y="0"/>
                    </a:moveTo>
                    <a:lnTo>
                      <a:pt x="0" y="12"/>
                    </a:lnTo>
                    <a:lnTo>
                      <a:pt x="48" y="18"/>
                    </a:lnTo>
                    <a:lnTo>
                      <a:pt x="96" y="30"/>
                    </a:lnTo>
                    <a:lnTo>
                      <a:pt x="96" y="24"/>
                    </a:lnTo>
                    <a:lnTo>
                      <a:pt x="96" y="18"/>
                    </a:lnTo>
                    <a:lnTo>
                      <a:pt x="48" y="12"/>
                    </a:lnTo>
                    <a:lnTo>
                      <a:pt x="0" y="0"/>
                    </a:lnTo>
                    <a:lnTo>
                      <a:pt x="0" y="0"/>
                    </a:lnTo>
                    <a:close/>
                  </a:path>
                </a:pathLst>
              </a:custGeom>
              <a:gradFill rotWithShape="0">
                <a:gsLst>
                  <a:gs pos="0">
                    <a:schemeClr val="accent2"/>
                  </a:gs>
                  <a:gs pos="100000">
                    <a:schemeClr val="accent2">
                      <a:gamma/>
                      <a:shade val="87843"/>
                      <a:invGamma/>
                    </a:schemeClr>
                  </a:gs>
                </a:gsLst>
                <a:lin ang="0" scaled="1"/>
              </a:gradFill>
              <a:ln w="9525">
                <a:noFill/>
                <a:round/>
                <a:headEnd/>
                <a:tailEnd/>
              </a:ln>
            </p:spPr>
            <p:txBody>
              <a:bodyPr/>
              <a:lstStyle/>
              <a:p>
                <a:pPr>
                  <a:defRPr/>
                </a:pPr>
                <a:endParaRPr lang="en-US" sz="1800"/>
              </a:p>
            </p:txBody>
          </p:sp>
          <p:sp>
            <p:nvSpPr>
              <p:cNvPr id="67" name="Oval 15"/>
              <p:cNvSpPr>
                <a:spLocks noChangeArrowheads="1"/>
              </p:cNvSpPr>
              <p:nvPr/>
            </p:nvSpPr>
            <p:spPr bwMode="hidden">
              <a:xfrm>
                <a:off x="3910" y="3948"/>
                <a:ext cx="84" cy="53"/>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7" name="Group 16"/>
            <p:cNvGrpSpPr>
              <a:grpSpLocks/>
            </p:cNvGrpSpPr>
            <p:nvPr userDrawn="1"/>
          </p:nvGrpSpPr>
          <p:grpSpPr bwMode="auto">
            <a:xfrm>
              <a:off x="1776" y="3631"/>
              <a:ext cx="1626" cy="683"/>
              <a:chOff x="1776" y="3631"/>
              <a:chExt cx="1626" cy="683"/>
            </a:xfrm>
          </p:grpSpPr>
          <p:sp>
            <p:nvSpPr>
              <p:cNvPr id="39" name="Oval 17"/>
              <p:cNvSpPr>
                <a:spLocks noChangeArrowheads="1"/>
              </p:cNvSpPr>
              <p:nvPr/>
            </p:nvSpPr>
            <p:spPr bwMode="hidden">
              <a:xfrm>
                <a:off x="2268" y="3934"/>
                <a:ext cx="638" cy="377"/>
              </a:xfrm>
              <a:prstGeom prst="ellipse">
                <a:avLst/>
              </a:prstGeom>
              <a:gradFill rotWithShape="0">
                <a:gsLst>
                  <a:gs pos="0">
                    <a:schemeClr val="accent2">
                      <a:gamma/>
                      <a:shade val="87843"/>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40" name="Oval 18"/>
              <p:cNvSpPr>
                <a:spLocks noChangeArrowheads="1"/>
              </p:cNvSpPr>
              <p:nvPr/>
            </p:nvSpPr>
            <p:spPr bwMode="hidden">
              <a:xfrm>
                <a:off x="2314" y="3958"/>
                <a:ext cx="543" cy="332"/>
              </a:xfrm>
              <a:prstGeom prst="ellipse">
                <a:avLst/>
              </a:prstGeom>
              <a:gradFill rotWithShape="0">
                <a:gsLst>
                  <a:gs pos="0">
                    <a:schemeClr val="accent2"/>
                  </a:gs>
                  <a:gs pos="100000">
                    <a:schemeClr val="accent2">
                      <a:gamma/>
                      <a:shade val="87843"/>
                      <a:invGamma/>
                    </a:schemeClr>
                  </a:gs>
                </a:gsLst>
                <a:lin ang="2700000" scaled="1"/>
              </a:gradFill>
              <a:ln w="9525">
                <a:noFill/>
                <a:round/>
                <a:headEnd/>
                <a:tailEnd/>
              </a:ln>
              <a:effectLst/>
            </p:spPr>
            <p:txBody>
              <a:bodyPr/>
              <a:lstStyle/>
              <a:p>
                <a:pPr>
                  <a:defRPr/>
                </a:pPr>
                <a:endParaRPr lang="en-US" sz="1800"/>
              </a:p>
            </p:txBody>
          </p:sp>
          <p:sp>
            <p:nvSpPr>
              <p:cNvPr id="41" name="Oval 19"/>
              <p:cNvSpPr>
                <a:spLocks noChangeArrowheads="1"/>
              </p:cNvSpPr>
              <p:nvPr/>
            </p:nvSpPr>
            <p:spPr bwMode="hidden">
              <a:xfrm>
                <a:off x="2341" y="3979"/>
                <a:ext cx="501" cy="299"/>
              </a:xfrm>
              <a:prstGeom prst="ellipse">
                <a:avLst/>
              </a:prstGeom>
              <a:gradFill rotWithShape="0">
                <a:gsLst>
                  <a:gs pos="0">
                    <a:schemeClr val="accent2">
                      <a:gamma/>
                      <a:shade val="90980"/>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42" name="Oval 20"/>
              <p:cNvSpPr>
                <a:spLocks noChangeArrowheads="1"/>
              </p:cNvSpPr>
              <p:nvPr/>
            </p:nvSpPr>
            <p:spPr bwMode="hidden">
              <a:xfrm>
                <a:off x="2368" y="3997"/>
                <a:ext cx="444" cy="258"/>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3" name="Oval 21"/>
              <p:cNvSpPr>
                <a:spLocks noChangeArrowheads="1"/>
              </p:cNvSpPr>
              <p:nvPr/>
            </p:nvSpPr>
            <p:spPr bwMode="hidden">
              <a:xfrm>
                <a:off x="2385" y="4005"/>
                <a:ext cx="413" cy="240"/>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4" name="Oval 22"/>
              <p:cNvSpPr>
                <a:spLocks noChangeArrowheads="1"/>
              </p:cNvSpPr>
              <p:nvPr/>
            </p:nvSpPr>
            <p:spPr bwMode="hidden">
              <a:xfrm>
                <a:off x="2437" y="4026"/>
                <a:ext cx="306" cy="192"/>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5" name="Oval 23"/>
              <p:cNvSpPr>
                <a:spLocks noChangeArrowheads="1"/>
              </p:cNvSpPr>
              <p:nvPr/>
            </p:nvSpPr>
            <p:spPr bwMode="hidden">
              <a:xfrm>
                <a:off x="2476" y="4056"/>
                <a:ext cx="227" cy="135"/>
              </a:xfrm>
              <a:prstGeom prst="ellipse">
                <a:avLst/>
              </a:prstGeom>
              <a:gradFill rotWithShape="0">
                <a:gsLst>
                  <a:gs pos="0">
                    <a:schemeClr val="accent2"/>
                  </a:gs>
                  <a:gs pos="100000">
                    <a:schemeClr val="accent2">
                      <a:gamma/>
                      <a:shade val="90980"/>
                      <a:invGamma/>
                    </a:schemeClr>
                  </a:gs>
                </a:gsLst>
                <a:lin ang="2700000" scaled="1"/>
              </a:gradFill>
              <a:ln w="9525">
                <a:noFill/>
                <a:round/>
                <a:headEnd/>
                <a:tailEnd/>
              </a:ln>
              <a:effectLst/>
            </p:spPr>
            <p:txBody>
              <a:bodyPr/>
              <a:lstStyle/>
              <a:p>
                <a:pPr>
                  <a:defRPr/>
                </a:pPr>
                <a:endParaRPr lang="en-US" sz="1800"/>
              </a:p>
            </p:txBody>
          </p:sp>
          <p:sp>
            <p:nvSpPr>
              <p:cNvPr id="46" name="Oval 24"/>
              <p:cNvSpPr>
                <a:spLocks noChangeArrowheads="1"/>
              </p:cNvSpPr>
              <p:nvPr/>
            </p:nvSpPr>
            <p:spPr bwMode="hidden">
              <a:xfrm>
                <a:off x="2542" y="4097"/>
                <a:ext cx="90" cy="60"/>
              </a:xfrm>
              <a:prstGeom prst="ellipse">
                <a:avLst/>
              </a:prstGeom>
              <a:gradFill rotWithShape="0">
                <a:gsLst>
                  <a:gs pos="0">
                    <a:schemeClr val="accent2"/>
                  </a:gs>
                  <a:gs pos="100000">
                    <a:schemeClr val="accent2">
                      <a:gamma/>
                      <a:shade val="90980"/>
                      <a:invGamma/>
                    </a:schemeClr>
                  </a:gs>
                </a:gsLst>
                <a:lin ang="0" scaled="1"/>
              </a:gradFill>
              <a:ln w="9525">
                <a:noFill/>
                <a:round/>
                <a:headEnd/>
                <a:tailEnd/>
              </a:ln>
              <a:effectLst/>
            </p:spPr>
            <p:txBody>
              <a:bodyPr/>
              <a:lstStyle/>
              <a:p>
                <a:pPr>
                  <a:defRPr/>
                </a:pPr>
                <a:endParaRPr lang="en-US" sz="1800"/>
              </a:p>
            </p:txBody>
          </p:sp>
          <p:sp>
            <p:nvSpPr>
              <p:cNvPr id="47" name="Freeform 25"/>
              <p:cNvSpPr>
                <a:spLocks/>
              </p:cNvSpPr>
              <p:nvPr/>
            </p:nvSpPr>
            <p:spPr bwMode="hidden">
              <a:xfrm>
                <a:off x="2585" y="3822"/>
                <a:ext cx="449" cy="186"/>
              </a:xfrm>
              <a:custGeom>
                <a:avLst/>
                <a:gdLst/>
                <a:ahLst/>
                <a:cxnLst>
                  <a:cxn ang="0">
                    <a:pos x="6" y="6"/>
                  </a:cxn>
                  <a:cxn ang="0">
                    <a:pos x="78" y="12"/>
                  </a:cxn>
                  <a:cxn ang="0">
                    <a:pos x="150" y="18"/>
                  </a:cxn>
                  <a:cxn ang="0">
                    <a:pos x="215" y="36"/>
                  </a:cxn>
                  <a:cxn ang="0">
                    <a:pos x="275" y="60"/>
                  </a:cxn>
                  <a:cxn ang="0">
                    <a:pos x="329" y="84"/>
                  </a:cxn>
                  <a:cxn ang="0">
                    <a:pos x="377" y="114"/>
                  </a:cxn>
                  <a:cxn ang="0">
                    <a:pos x="419" y="150"/>
                  </a:cxn>
                  <a:cxn ang="0">
                    <a:pos x="448" y="186"/>
                  </a:cxn>
                  <a:cxn ang="0">
                    <a:pos x="448" y="162"/>
                  </a:cxn>
                  <a:cxn ang="0">
                    <a:pos x="413" y="126"/>
                  </a:cxn>
                  <a:cxn ang="0">
                    <a:pos x="371" y="96"/>
                  </a:cxn>
                  <a:cxn ang="0">
                    <a:pos x="323" y="66"/>
                  </a:cxn>
                  <a:cxn ang="0">
                    <a:pos x="269" y="48"/>
                  </a:cxn>
                  <a:cxn ang="0">
                    <a:pos x="144" y="12"/>
                  </a:cxn>
                  <a:cxn ang="0">
                    <a:pos x="78" y="6"/>
                  </a:cxn>
                  <a:cxn ang="0">
                    <a:pos x="6" y="0"/>
                  </a:cxn>
                  <a:cxn ang="0">
                    <a:pos x="0" y="0"/>
                  </a:cxn>
                  <a:cxn ang="0">
                    <a:pos x="0" y="0"/>
                  </a:cxn>
                  <a:cxn ang="0">
                    <a:pos x="0" y="6"/>
                  </a:cxn>
                  <a:cxn ang="0">
                    <a:pos x="0" y="6"/>
                  </a:cxn>
                  <a:cxn ang="0">
                    <a:pos x="6" y="6"/>
                  </a:cxn>
                  <a:cxn ang="0">
                    <a:pos x="6" y="6"/>
                  </a:cxn>
                </a:cxnLst>
                <a:rect l="0" t="0" r="r" b="b"/>
                <a:pathLst>
                  <a:path w="448" h="186">
                    <a:moveTo>
                      <a:pt x="6" y="6"/>
                    </a:moveTo>
                    <a:lnTo>
                      <a:pt x="78" y="12"/>
                    </a:lnTo>
                    <a:lnTo>
                      <a:pt x="150" y="18"/>
                    </a:lnTo>
                    <a:lnTo>
                      <a:pt x="215" y="36"/>
                    </a:lnTo>
                    <a:lnTo>
                      <a:pt x="275" y="60"/>
                    </a:lnTo>
                    <a:lnTo>
                      <a:pt x="329" y="84"/>
                    </a:lnTo>
                    <a:lnTo>
                      <a:pt x="377" y="114"/>
                    </a:lnTo>
                    <a:lnTo>
                      <a:pt x="419" y="150"/>
                    </a:lnTo>
                    <a:lnTo>
                      <a:pt x="448" y="186"/>
                    </a:lnTo>
                    <a:lnTo>
                      <a:pt x="448" y="162"/>
                    </a:lnTo>
                    <a:lnTo>
                      <a:pt x="413" y="126"/>
                    </a:lnTo>
                    <a:lnTo>
                      <a:pt x="371" y="96"/>
                    </a:lnTo>
                    <a:lnTo>
                      <a:pt x="323" y="66"/>
                    </a:lnTo>
                    <a:lnTo>
                      <a:pt x="269" y="48"/>
                    </a:lnTo>
                    <a:lnTo>
                      <a:pt x="144" y="12"/>
                    </a:lnTo>
                    <a:lnTo>
                      <a:pt x="78" y="6"/>
                    </a:lnTo>
                    <a:lnTo>
                      <a:pt x="6" y="0"/>
                    </a:lnTo>
                    <a:lnTo>
                      <a:pt x="0" y="0"/>
                    </a:lnTo>
                    <a:lnTo>
                      <a:pt x="0" y="0"/>
                    </a:lnTo>
                    <a:lnTo>
                      <a:pt x="0" y="6"/>
                    </a:lnTo>
                    <a:lnTo>
                      <a:pt x="0" y="6"/>
                    </a:lnTo>
                    <a:lnTo>
                      <a:pt x="6" y="6"/>
                    </a:lnTo>
                    <a:lnTo>
                      <a:pt x="6" y="6"/>
                    </a:lnTo>
                    <a:close/>
                  </a:path>
                </a:pathLst>
              </a:custGeom>
              <a:gradFill rotWithShape="0">
                <a:gsLst>
                  <a:gs pos="0">
                    <a:schemeClr val="accent2">
                      <a:gamma/>
                      <a:shade val="90980"/>
                      <a:invGamma/>
                    </a:schemeClr>
                  </a:gs>
                  <a:gs pos="100000">
                    <a:schemeClr val="accent2"/>
                  </a:gs>
                </a:gsLst>
                <a:lin ang="5400000" scaled="1"/>
              </a:gradFill>
              <a:ln w="9525">
                <a:noFill/>
                <a:round/>
                <a:headEnd/>
                <a:tailEnd/>
              </a:ln>
            </p:spPr>
            <p:txBody>
              <a:bodyPr/>
              <a:lstStyle/>
              <a:p>
                <a:pPr>
                  <a:defRPr/>
                </a:pPr>
                <a:endParaRPr lang="en-US" sz="1800"/>
              </a:p>
            </p:txBody>
          </p:sp>
          <p:sp>
            <p:nvSpPr>
              <p:cNvPr id="48" name="Freeform 26"/>
              <p:cNvSpPr>
                <a:spLocks/>
              </p:cNvSpPr>
              <p:nvPr/>
            </p:nvSpPr>
            <p:spPr bwMode="hidden">
              <a:xfrm>
                <a:off x="2142" y="3852"/>
                <a:ext cx="892" cy="462"/>
              </a:xfrm>
              <a:custGeom>
                <a:avLst/>
                <a:gdLst/>
                <a:ahLst/>
                <a:cxnLst>
                  <a:cxn ang="0">
                    <a:pos x="23" y="276"/>
                  </a:cxn>
                  <a:cxn ang="0">
                    <a:pos x="29" y="222"/>
                  </a:cxn>
                  <a:cxn ang="0">
                    <a:pos x="59" y="174"/>
                  </a:cxn>
                  <a:cxn ang="0">
                    <a:pos x="95" y="132"/>
                  </a:cxn>
                  <a:cxn ang="0">
                    <a:pos x="149" y="96"/>
                  </a:cxn>
                  <a:cxn ang="0">
                    <a:pos x="209" y="60"/>
                  </a:cxn>
                  <a:cxn ang="0">
                    <a:pos x="281" y="36"/>
                  </a:cxn>
                  <a:cxn ang="0">
                    <a:pos x="364" y="24"/>
                  </a:cxn>
                  <a:cxn ang="0">
                    <a:pos x="448" y="18"/>
                  </a:cxn>
                  <a:cxn ang="0">
                    <a:pos x="532" y="24"/>
                  </a:cxn>
                  <a:cxn ang="0">
                    <a:pos x="609" y="36"/>
                  </a:cxn>
                  <a:cxn ang="0">
                    <a:pos x="681" y="60"/>
                  </a:cxn>
                  <a:cxn ang="0">
                    <a:pos x="741" y="96"/>
                  </a:cxn>
                  <a:cxn ang="0">
                    <a:pos x="795" y="132"/>
                  </a:cxn>
                  <a:cxn ang="0">
                    <a:pos x="831" y="174"/>
                  </a:cxn>
                  <a:cxn ang="0">
                    <a:pos x="861" y="222"/>
                  </a:cxn>
                  <a:cxn ang="0">
                    <a:pos x="867" y="276"/>
                  </a:cxn>
                  <a:cxn ang="0">
                    <a:pos x="855" y="330"/>
                  </a:cxn>
                  <a:cxn ang="0">
                    <a:pos x="831" y="378"/>
                  </a:cxn>
                  <a:cxn ang="0">
                    <a:pos x="783" y="426"/>
                  </a:cxn>
                  <a:cxn ang="0">
                    <a:pos x="723" y="462"/>
                  </a:cxn>
                  <a:cxn ang="0">
                    <a:pos x="765" y="462"/>
                  </a:cxn>
                  <a:cxn ang="0">
                    <a:pos x="819" y="426"/>
                  </a:cxn>
                  <a:cxn ang="0">
                    <a:pos x="855" y="378"/>
                  </a:cxn>
                  <a:cxn ang="0">
                    <a:pos x="884" y="330"/>
                  </a:cxn>
                  <a:cxn ang="0">
                    <a:pos x="890" y="276"/>
                  </a:cxn>
                  <a:cxn ang="0">
                    <a:pos x="884" y="222"/>
                  </a:cxn>
                  <a:cxn ang="0">
                    <a:pos x="855" y="168"/>
                  </a:cxn>
                  <a:cxn ang="0">
                    <a:pos x="813" y="120"/>
                  </a:cxn>
                  <a:cxn ang="0">
                    <a:pos x="759" y="84"/>
                  </a:cxn>
                  <a:cxn ang="0">
                    <a:pos x="693" y="48"/>
                  </a:cxn>
                  <a:cxn ang="0">
                    <a:pos x="621" y="24"/>
                  </a:cxn>
                  <a:cxn ang="0">
                    <a:pos x="538" y="6"/>
                  </a:cxn>
                  <a:cxn ang="0">
                    <a:pos x="448" y="0"/>
                  </a:cxn>
                  <a:cxn ang="0">
                    <a:pos x="358" y="6"/>
                  </a:cxn>
                  <a:cxn ang="0">
                    <a:pos x="275" y="24"/>
                  </a:cxn>
                  <a:cxn ang="0">
                    <a:pos x="197" y="48"/>
                  </a:cxn>
                  <a:cxn ang="0">
                    <a:pos x="131" y="84"/>
                  </a:cxn>
                  <a:cxn ang="0">
                    <a:pos x="77" y="120"/>
                  </a:cxn>
                  <a:cxn ang="0">
                    <a:pos x="35" y="168"/>
                  </a:cxn>
                  <a:cxn ang="0">
                    <a:pos x="12" y="222"/>
                  </a:cxn>
                  <a:cxn ang="0">
                    <a:pos x="0" y="276"/>
                  </a:cxn>
                  <a:cxn ang="0">
                    <a:pos x="6" y="330"/>
                  </a:cxn>
                  <a:cxn ang="0">
                    <a:pos x="35" y="378"/>
                  </a:cxn>
                  <a:cxn ang="0">
                    <a:pos x="71" y="426"/>
                  </a:cxn>
                  <a:cxn ang="0">
                    <a:pos x="125" y="462"/>
                  </a:cxn>
                  <a:cxn ang="0">
                    <a:pos x="167" y="462"/>
                  </a:cxn>
                  <a:cxn ang="0">
                    <a:pos x="107" y="426"/>
                  </a:cxn>
                  <a:cxn ang="0">
                    <a:pos x="59" y="378"/>
                  </a:cxn>
                  <a:cxn ang="0">
                    <a:pos x="35" y="330"/>
                  </a:cxn>
                  <a:cxn ang="0">
                    <a:pos x="23" y="276"/>
                  </a:cxn>
                  <a:cxn ang="0">
                    <a:pos x="23" y="276"/>
                  </a:cxn>
                </a:cxnLst>
                <a:rect l="0" t="0" r="r" b="b"/>
                <a:pathLst>
                  <a:path w="890" h="462">
                    <a:moveTo>
                      <a:pt x="23" y="276"/>
                    </a:moveTo>
                    <a:lnTo>
                      <a:pt x="29" y="222"/>
                    </a:lnTo>
                    <a:lnTo>
                      <a:pt x="59" y="174"/>
                    </a:lnTo>
                    <a:lnTo>
                      <a:pt x="95" y="132"/>
                    </a:lnTo>
                    <a:lnTo>
                      <a:pt x="149" y="96"/>
                    </a:lnTo>
                    <a:lnTo>
                      <a:pt x="209" y="60"/>
                    </a:lnTo>
                    <a:lnTo>
                      <a:pt x="281" y="36"/>
                    </a:lnTo>
                    <a:lnTo>
                      <a:pt x="364" y="24"/>
                    </a:lnTo>
                    <a:lnTo>
                      <a:pt x="448" y="18"/>
                    </a:lnTo>
                    <a:lnTo>
                      <a:pt x="532" y="24"/>
                    </a:lnTo>
                    <a:lnTo>
                      <a:pt x="609" y="36"/>
                    </a:lnTo>
                    <a:lnTo>
                      <a:pt x="681" y="60"/>
                    </a:lnTo>
                    <a:lnTo>
                      <a:pt x="741" y="96"/>
                    </a:lnTo>
                    <a:lnTo>
                      <a:pt x="795" y="132"/>
                    </a:lnTo>
                    <a:lnTo>
                      <a:pt x="831" y="174"/>
                    </a:lnTo>
                    <a:lnTo>
                      <a:pt x="861" y="222"/>
                    </a:lnTo>
                    <a:lnTo>
                      <a:pt x="867" y="276"/>
                    </a:lnTo>
                    <a:lnTo>
                      <a:pt x="855" y="330"/>
                    </a:lnTo>
                    <a:lnTo>
                      <a:pt x="831" y="378"/>
                    </a:lnTo>
                    <a:lnTo>
                      <a:pt x="783" y="426"/>
                    </a:lnTo>
                    <a:lnTo>
                      <a:pt x="723" y="462"/>
                    </a:lnTo>
                    <a:lnTo>
                      <a:pt x="765" y="462"/>
                    </a:lnTo>
                    <a:lnTo>
                      <a:pt x="819" y="426"/>
                    </a:lnTo>
                    <a:lnTo>
                      <a:pt x="855" y="378"/>
                    </a:lnTo>
                    <a:lnTo>
                      <a:pt x="884" y="330"/>
                    </a:lnTo>
                    <a:lnTo>
                      <a:pt x="890" y="276"/>
                    </a:lnTo>
                    <a:lnTo>
                      <a:pt x="884" y="222"/>
                    </a:lnTo>
                    <a:lnTo>
                      <a:pt x="855" y="168"/>
                    </a:lnTo>
                    <a:lnTo>
                      <a:pt x="813" y="120"/>
                    </a:lnTo>
                    <a:lnTo>
                      <a:pt x="759" y="84"/>
                    </a:lnTo>
                    <a:lnTo>
                      <a:pt x="693" y="48"/>
                    </a:lnTo>
                    <a:lnTo>
                      <a:pt x="621" y="24"/>
                    </a:lnTo>
                    <a:lnTo>
                      <a:pt x="538" y="6"/>
                    </a:lnTo>
                    <a:lnTo>
                      <a:pt x="448" y="0"/>
                    </a:lnTo>
                    <a:lnTo>
                      <a:pt x="358" y="6"/>
                    </a:lnTo>
                    <a:lnTo>
                      <a:pt x="275" y="24"/>
                    </a:lnTo>
                    <a:lnTo>
                      <a:pt x="197" y="48"/>
                    </a:lnTo>
                    <a:lnTo>
                      <a:pt x="131" y="84"/>
                    </a:lnTo>
                    <a:lnTo>
                      <a:pt x="77" y="120"/>
                    </a:lnTo>
                    <a:lnTo>
                      <a:pt x="35" y="168"/>
                    </a:lnTo>
                    <a:lnTo>
                      <a:pt x="12" y="222"/>
                    </a:lnTo>
                    <a:lnTo>
                      <a:pt x="0" y="276"/>
                    </a:lnTo>
                    <a:lnTo>
                      <a:pt x="6" y="330"/>
                    </a:lnTo>
                    <a:lnTo>
                      <a:pt x="35" y="378"/>
                    </a:lnTo>
                    <a:lnTo>
                      <a:pt x="71" y="426"/>
                    </a:lnTo>
                    <a:lnTo>
                      <a:pt x="125" y="462"/>
                    </a:lnTo>
                    <a:lnTo>
                      <a:pt x="167" y="462"/>
                    </a:lnTo>
                    <a:lnTo>
                      <a:pt x="107" y="426"/>
                    </a:lnTo>
                    <a:lnTo>
                      <a:pt x="59" y="378"/>
                    </a:lnTo>
                    <a:lnTo>
                      <a:pt x="35" y="330"/>
                    </a:lnTo>
                    <a:lnTo>
                      <a:pt x="23" y="276"/>
                    </a:lnTo>
                    <a:lnTo>
                      <a:pt x="23" y="276"/>
                    </a:lnTo>
                    <a:close/>
                  </a:path>
                </a:pathLst>
              </a:custGeom>
              <a:gradFill rotWithShape="0">
                <a:gsLst>
                  <a:gs pos="0">
                    <a:schemeClr val="accent2"/>
                  </a:gs>
                  <a:gs pos="100000">
                    <a:schemeClr val="accent2">
                      <a:gamma/>
                      <a:shade val="84706"/>
                      <a:invGamma/>
                    </a:schemeClr>
                  </a:gs>
                </a:gsLst>
                <a:lin ang="2700000" scaled="1"/>
              </a:gradFill>
              <a:ln w="9525">
                <a:noFill/>
                <a:round/>
                <a:headEnd/>
                <a:tailEnd/>
              </a:ln>
            </p:spPr>
            <p:txBody>
              <a:bodyPr/>
              <a:lstStyle/>
              <a:p>
                <a:pPr>
                  <a:defRPr/>
                </a:pPr>
                <a:endParaRPr lang="en-US" sz="1800"/>
              </a:p>
            </p:txBody>
          </p:sp>
          <p:sp>
            <p:nvSpPr>
              <p:cNvPr id="49" name="Freeform 27"/>
              <p:cNvSpPr>
                <a:spLocks/>
              </p:cNvSpPr>
              <p:nvPr/>
            </p:nvSpPr>
            <p:spPr bwMode="hidden">
              <a:xfrm>
                <a:off x="2082" y="3828"/>
                <a:ext cx="407" cy="486"/>
              </a:xfrm>
              <a:custGeom>
                <a:avLst/>
                <a:gdLst/>
                <a:ahLst/>
                <a:cxnLst>
                  <a:cxn ang="0">
                    <a:pos x="18" y="300"/>
                  </a:cxn>
                  <a:cxn ang="0">
                    <a:pos x="24" y="246"/>
                  </a:cxn>
                  <a:cxn ang="0">
                    <a:pos x="48" y="198"/>
                  </a:cxn>
                  <a:cxn ang="0">
                    <a:pos x="83" y="150"/>
                  </a:cxn>
                  <a:cxn ang="0">
                    <a:pos x="131" y="108"/>
                  </a:cxn>
                  <a:cxn ang="0">
                    <a:pos x="185" y="72"/>
                  </a:cxn>
                  <a:cxn ang="0">
                    <a:pos x="251" y="42"/>
                  </a:cxn>
                  <a:cxn ang="0">
                    <a:pos x="329" y="24"/>
                  </a:cxn>
                  <a:cxn ang="0">
                    <a:pos x="406" y="6"/>
                  </a:cxn>
                  <a:cxn ang="0">
                    <a:pos x="406" y="0"/>
                  </a:cxn>
                  <a:cxn ang="0">
                    <a:pos x="323" y="12"/>
                  </a:cxn>
                  <a:cxn ang="0">
                    <a:pos x="245" y="36"/>
                  </a:cxn>
                  <a:cxn ang="0">
                    <a:pos x="179" y="66"/>
                  </a:cxn>
                  <a:cxn ang="0">
                    <a:pos x="119" y="102"/>
                  </a:cxn>
                  <a:cxn ang="0">
                    <a:pos x="72" y="144"/>
                  </a:cxn>
                  <a:cxn ang="0">
                    <a:pos x="30" y="192"/>
                  </a:cxn>
                  <a:cxn ang="0">
                    <a:pos x="6" y="246"/>
                  </a:cxn>
                  <a:cxn ang="0">
                    <a:pos x="0" y="300"/>
                  </a:cxn>
                  <a:cxn ang="0">
                    <a:pos x="6" y="348"/>
                  </a:cxn>
                  <a:cxn ang="0">
                    <a:pos x="30" y="396"/>
                  </a:cxn>
                  <a:cxn ang="0">
                    <a:pos x="66" y="444"/>
                  </a:cxn>
                  <a:cxn ang="0">
                    <a:pos x="107" y="486"/>
                  </a:cxn>
                  <a:cxn ang="0">
                    <a:pos x="131" y="486"/>
                  </a:cxn>
                  <a:cxn ang="0">
                    <a:pos x="83" y="450"/>
                  </a:cxn>
                  <a:cxn ang="0">
                    <a:pos x="48" y="402"/>
                  </a:cxn>
                  <a:cxn ang="0">
                    <a:pos x="24" y="354"/>
                  </a:cxn>
                  <a:cxn ang="0">
                    <a:pos x="18" y="300"/>
                  </a:cxn>
                  <a:cxn ang="0">
                    <a:pos x="18" y="300"/>
                  </a:cxn>
                </a:cxnLst>
                <a:rect l="0" t="0" r="r" b="b"/>
                <a:pathLst>
                  <a:path w="406" h="486">
                    <a:moveTo>
                      <a:pt x="18" y="300"/>
                    </a:moveTo>
                    <a:lnTo>
                      <a:pt x="24" y="246"/>
                    </a:lnTo>
                    <a:lnTo>
                      <a:pt x="48" y="198"/>
                    </a:lnTo>
                    <a:lnTo>
                      <a:pt x="83" y="150"/>
                    </a:lnTo>
                    <a:lnTo>
                      <a:pt x="131" y="108"/>
                    </a:lnTo>
                    <a:lnTo>
                      <a:pt x="185" y="72"/>
                    </a:lnTo>
                    <a:lnTo>
                      <a:pt x="251" y="42"/>
                    </a:lnTo>
                    <a:lnTo>
                      <a:pt x="329" y="24"/>
                    </a:lnTo>
                    <a:lnTo>
                      <a:pt x="406" y="6"/>
                    </a:lnTo>
                    <a:lnTo>
                      <a:pt x="406" y="0"/>
                    </a:lnTo>
                    <a:lnTo>
                      <a:pt x="323" y="12"/>
                    </a:lnTo>
                    <a:lnTo>
                      <a:pt x="245" y="36"/>
                    </a:lnTo>
                    <a:lnTo>
                      <a:pt x="179" y="66"/>
                    </a:lnTo>
                    <a:lnTo>
                      <a:pt x="119" y="102"/>
                    </a:lnTo>
                    <a:lnTo>
                      <a:pt x="72" y="144"/>
                    </a:lnTo>
                    <a:lnTo>
                      <a:pt x="30" y="192"/>
                    </a:lnTo>
                    <a:lnTo>
                      <a:pt x="6" y="246"/>
                    </a:lnTo>
                    <a:lnTo>
                      <a:pt x="0" y="300"/>
                    </a:lnTo>
                    <a:lnTo>
                      <a:pt x="6" y="348"/>
                    </a:lnTo>
                    <a:lnTo>
                      <a:pt x="30" y="396"/>
                    </a:lnTo>
                    <a:lnTo>
                      <a:pt x="66" y="444"/>
                    </a:lnTo>
                    <a:lnTo>
                      <a:pt x="107" y="486"/>
                    </a:lnTo>
                    <a:lnTo>
                      <a:pt x="131" y="486"/>
                    </a:lnTo>
                    <a:lnTo>
                      <a:pt x="83" y="450"/>
                    </a:lnTo>
                    <a:lnTo>
                      <a:pt x="48" y="402"/>
                    </a:lnTo>
                    <a:lnTo>
                      <a:pt x="24" y="354"/>
                    </a:lnTo>
                    <a:lnTo>
                      <a:pt x="18" y="300"/>
                    </a:lnTo>
                    <a:lnTo>
                      <a:pt x="18" y="300"/>
                    </a:lnTo>
                    <a:close/>
                  </a:path>
                </a:pathLst>
              </a:custGeom>
              <a:gradFill rotWithShape="0">
                <a:gsLst>
                  <a:gs pos="0">
                    <a:schemeClr val="accent2"/>
                  </a:gs>
                  <a:gs pos="100000">
                    <a:schemeClr val="accent2">
                      <a:gamma/>
                      <a:shade val="90980"/>
                      <a:invGamma/>
                    </a:schemeClr>
                  </a:gs>
                </a:gsLst>
                <a:lin ang="0" scaled="1"/>
              </a:gradFill>
              <a:ln w="9525">
                <a:noFill/>
                <a:round/>
                <a:headEnd/>
                <a:tailEnd/>
              </a:ln>
            </p:spPr>
            <p:txBody>
              <a:bodyPr/>
              <a:lstStyle/>
              <a:p>
                <a:pPr>
                  <a:defRPr/>
                </a:pPr>
                <a:endParaRPr lang="en-US" sz="1800"/>
              </a:p>
            </p:txBody>
          </p:sp>
          <p:sp>
            <p:nvSpPr>
              <p:cNvPr id="50" name="Freeform 28"/>
              <p:cNvSpPr>
                <a:spLocks/>
              </p:cNvSpPr>
              <p:nvPr/>
            </p:nvSpPr>
            <p:spPr bwMode="hidden">
              <a:xfrm>
                <a:off x="2987" y="4044"/>
                <a:ext cx="108" cy="252"/>
              </a:xfrm>
              <a:custGeom>
                <a:avLst/>
                <a:gdLst/>
                <a:ahLst/>
                <a:cxnLst>
                  <a:cxn ang="0">
                    <a:pos x="89" y="84"/>
                  </a:cxn>
                  <a:cxn ang="0">
                    <a:pos x="83" y="132"/>
                  </a:cxn>
                  <a:cxn ang="0">
                    <a:pos x="65" y="174"/>
                  </a:cxn>
                  <a:cxn ang="0">
                    <a:pos x="36" y="216"/>
                  </a:cxn>
                  <a:cxn ang="0">
                    <a:pos x="0" y="252"/>
                  </a:cxn>
                  <a:cxn ang="0">
                    <a:pos x="18" y="252"/>
                  </a:cxn>
                  <a:cxn ang="0">
                    <a:pos x="53" y="216"/>
                  </a:cxn>
                  <a:cxn ang="0">
                    <a:pos x="83" y="174"/>
                  </a:cxn>
                  <a:cxn ang="0">
                    <a:pos x="101" y="132"/>
                  </a:cxn>
                  <a:cxn ang="0">
                    <a:pos x="107" y="84"/>
                  </a:cxn>
                  <a:cxn ang="0">
                    <a:pos x="101" y="42"/>
                  </a:cxn>
                  <a:cxn ang="0">
                    <a:pos x="89" y="0"/>
                  </a:cxn>
                  <a:cxn ang="0">
                    <a:pos x="65" y="0"/>
                  </a:cxn>
                  <a:cxn ang="0">
                    <a:pos x="83" y="42"/>
                  </a:cxn>
                  <a:cxn ang="0">
                    <a:pos x="89" y="84"/>
                  </a:cxn>
                  <a:cxn ang="0">
                    <a:pos x="89" y="84"/>
                  </a:cxn>
                </a:cxnLst>
                <a:rect l="0" t="0" r="r" b="b"/>
                <a:pathLst>
                  <a:path w="107" h="252">
                    <a:moveTo>
                      <a:pt x="89" y="84"/>
                    </a:moveTo>
                    <a:lnTo>
                      <a:pt x="83" y="132"/>
                    </a:lnTo>
                    <a:lnTo>
                      <a:pt x="65" y="174"/>
                    </a:lnTo>
                    <a:lnTo>
                      <a:pt x="36" y="216"/>
                    </a:lnTo>
                    <a:lnTo>
                      <a:pt x="0" y="252"/>
                    </a:lnTo>
                    <a:lnTo>
                      <a:pt x="18" y="252"/>
                    </a:lnTo>
                    <a:lnTo>
                      <a:pt x="53" y="216"/>
                    </a:lnTo>
                    <a:lnTo>
                      <a:pt x="83" y="174"/>
                    </a:lnTo>
                    <a:lnTo>
                      <a:pt x="101" y="132"/>
                    </a:lnTo>
                    <a:lnTo>
                      <a:pt x="107" y="84"/>
                    </a:lnTo>
                    <a:lnTo>
                      <a:pt x="101" y="42"/>
                    </a:lnTo>
                    <a:lnTo>
                      <a:pt x="89" y="0"/>
                    </a:lnTo>
                    <a:lnTo>
                      <a:pt x="65" y="0"/>
                    </a:lnTo>
                    <a:lnTo>
                      <a:pt x="83" y="42"/>
                    </a:lnTo>
                    <a:lnTo>
                      <a:pt x="89" y="84"/>
                    </a:lnTo>
                    <a:lnTo>
                      <a:pt x="89" y="84"/>
                    </a:lnTo>
                    <a:close/>
                  </a:path>
                </a:pathLst>
              </a:custGeom>
              <a:gradFill rotWithShape="0">
                <a:gsLst>
                  <a:gs pos="0">
                    <a:schemeClr val="accent2"/>
                  </a:gs>
                  <a:gs pos="100000">
                    <a:schemeClr val="accent2">
                      <a:gamma/>
                      <a:shade val="81961"/>
                      <a:invGamma/>
                    </a:schemeClr>
                  </a:gs>
                </a:gsLst>
                <a:lin ang="5400000" scaled="1"/>
              </a:gradFill>
              <a:ln w="9525">
                <a:noFill/>
                <a:round/>
                <a:headEnd/>
                <a:tailEnd/>
              </a:ln>
            </p:spPr>
            <p:txBody>
              <a:bodyPr/>
              <a:lstStyle/>
              <a:p>
                <a:pPr>
                  <a:defRPr/>
                </a:pPr>
                <a:endParaRPr lang="en-US" sz="1800"/>
              </a:p>
            </p:txBody>
          </p:sp>
          <p:sp>
            <p:nvSpPr>
              <p:cNvPr id="51" name="Freeform 29"/>
              <p:cNvSpPr>
                <a:spLocks/>
              </p:cNvSpPr>
              <p:nvPr/>
            </p:nvSpPr>
            <p:spPr bwMode="hidden">
              <a:xfrm>
                <a:off x="2068" y="3685"/>
                <a:ext cx="835" cy="150"/>
              </a:xfrm>
              <a:custGeom>
                <a:avLst/>
                <a:gdLst/>
                <a:ahLst/>
                <a:cxnLst>
                  <a:cxn ang="0">
                    <a:pos x="518" y="18"/>
                  </a:cxn>
                  <a:cxn ang="0">
                    <a:pos x="597" y="24"/>
                  </a:cxn>
                  <a:cxn ang="0">
                    <a:pos x="682" y="30"/>
                  </a:cxn>
                  <a:cxn ang="0">
                    <a:pos x="755" y="42"/>
                  </a:cxn>
                  <a:cxn ang="0">
                    <a:pos x="828" y="60"/>
                  </a:cxn>
                  <a:cxn ang="0">
                    <a:pos x="835" y="42"/>
                  </a:cxn>
                  <a:cxn ang="0">
                    <a:pos x="761" y="24"/>
                  </a:cxn>
                  <a:cxn ang="0">
                    <a:pos x="688" y="12"/>
                  </a:cxn>
                  <a:cxn ang="0">
                    <a:pos x="603" y="6"/>
                  </a:cxn>
                  <a:cxn ang="0">
                    <a:pos x="518" y="0"/>
                  </a:cxn>
                  <a:cxn ang="0">
                    <a:pos x="372" y="12"/>
                  </a:cxn>
                  <a:cxn ang="0">
                    <a:pos x="232" y="36"/>
                  </a:cxn>
                  <a:cxn ang="0">
                    <a:pos x="110" y="78"/>
                  </a:cxn>
                  <a:cxn ang="0">
                    <a:pos x="0" y="132"/>
                  </a:cxn>
                  <a:cxn ang="0">
                    <a:pos x="19" y="150"/>
                  </a:cxn>
                  <a:cxn ang="0">
                    <a:pos x="122" y="96"/>
                  </a:cxn>
                  <a:cxn ang="0">
                    <a:pos x="244" y="54"/>
                  </a:cxn>
                  <a:cxn ang="0">
                    <a:pos x="378" y="30"/>
                  </a:cxn>
                  <a:cxn ang="0">
                    <a:pos x="518" y="18"/>
                  </a:cxn>
                  <a:cxn ang="0">
                    <a:pos x="518" y="18"/>
                  </a:cxn>
                </a:cxnLst>
                <a:rect l="0" t="0" r="r" b="b"/>
                <a:pathLst>
                  <a:path w="835" h="150">
                    <a:moveTo>
                      <a:pt x="518" y="18"/>
                    </a:moveTo>
                    <a:lnTo>
                      <a:pt x="597" y="24"/>
                    </a:lnTo>
                    <a:lnTo>
                      <a:pt x="682" y="30"/>
                    </a:lnTo>
                    <a:lnTo>
                      <a:pt x="755" y="42"/>
                    </a:lnTo>
                    <a:lnTo>
                      <a:pt x="828" y="60"/>
                    </a:lnTo>
                    <a:lnTo>
                      <a:pt x="835" y="42"/>
                    </a:lnTo>
                    <a:lnTo>
                      <a:pt x="761" y="24"/>
                    </a:lnTo>
                    <a:lnTo>
                      <a:pt x="688" y="12"/>
                    </a:lnTo>
                    <a:lnTo>
                      <a:pt x="603" y="6"/>
                    </a:lnTo>
                    <a:lnTo>
                      <a:pt x="518" y="0"/>
                    </a:lnTo>
                    <a:lnTo>
                      <a:pt x="372" y="12"/>
                    </a:lnTo>
                    <a:lnTo>
                      <a:pt x="232" y="36"/>
                    </a:lnTo>
                    <a:lnTo>
                      <a:pt x="110" y="78"/>
                    </a:lnTo>
                    <a:lnTo>
                      <a:pt x="0" y="132"/>
                    </a:lnTo>
                    <a:lnTo>
                      <a:pt x="19" y="150"/>
                    </a:lnTo>
                    <a:lnTo>
                      <a:pt x="122" y="96"/>
                    </a:lnTo>
                    <a:lnTo>
                      <a:pt x="244" y="54"/>
                    </a:lnTo>
                    <a:lnTo>
                      <a:pt x="378" y="30"/>
                    </a:lnTo>
                    <a:lnTo>
                      <a:pt x="518" y="18"/>
                    </a:lnTo>
                    <a:lnTo>
                      <a:pt x="518" y="18"/>
                    </a:lnTo>
                    <a:close/>
                  </a:path>
                </a:pathLst>
              </a:custGeom>
              <a:solidFill>
                <a:schemeClr val="accent2"/>
              </a:solidFill>
              <a:ln w="9525">
                <a:noFill/>
                <a:round/>
                <a:headEnd/>
                <a:tailEnd/>
              </a:ln>
            </p:spPr>
            <p:txBody>
              <a:bodyPr/>
              <a:lstStyle/>
              <a:p>
                <a:pPr>
                  <a:defRPr/>
                </a:pPr>
                <a:endParaRPr lang="en-US" sz="1800"/>
              </a:p>
            </p:txBody>
          </p:sp>
          <p:sp>
            <p:nvSpPr>
              <p:cNvPr id="52" name="Freeform 30"/>
              <p:cNvSpPr>
                <a:spLocks/>
              </p:cNvSpPr>
              <p:nvPr/>
            </p:nvSpPr>
            <p:spPr bwMode="hidden">
              <a:xfrm>
                <a:off x="1867" y="3853"/>
                <a:ext cx="171" cy="461"/>
              </a:xfrm>
              <a:custGeom>
                <a:avLst/>
                <a:gdLst/>
                <a:ahLst/>
                <a:cxnLst>
                  <a:cxn ang="0">
                    <a:pos x="31" y="263"/>
                  </a:cxn>
                  <a:cxn ang="0">
                    <a:pos x="43" y="191"/>
                  </a:cxn>
                  <a:cxn ang="0">
                    <a:pos x="67" y="131"/>
                  </a:cxn>
                  <a:cxn ang="0">
                    <a:pos x="116" y="72"/>
                  </a:cxn>
                  <a:cxn ang="0">
                    <a:pos x="171" y="18"/>
                  </a:cxn>
                  <a:cxn ang="0">
                    <a:pos x="153" y="0"/>
                  </a:cxn>
                  <a:cxn ang="0">
                    <a:pos x="86" y="60"/>
                  </a:cxn>
                  <a:cxn ang="0">
                    <a:pos x="43" y="120"/>
                  </a:cxn>
                  <a:cxn ang="0">
                    <a:pos x="13" y="191"/>
                  </a:cxn>
                  <a:cxn ang="0">
                    <a:pos x="0" y="263"/>
                  </a:cxn>
                  <a:cxn ang="0">
                    <a:pos x="6" y="317"/>
                  </a:cxn>
                  <a:cxn ang="0">
                    <a:pos x="25" y="365"/>
                  </a:cxn>
                  <a:cxn ang="0">
                    <a:pos x="49" y="413"/>
                  </a:cxn>
                  <a:cxn ang="0">
                    <a:pos x="86" y="461"/>
                  </a:cxn>
                  <a:cxn ang="0">
                    <a:pos x="122" y="461"/>
                  </a:cxn>
                  <a:cxn ang="0">
                    <a:pos x="86" y="413"/>
                  </a:cxn>
                  <a:cxn ang="0">
                    <a:pos x="55" y="365"/>
                  </a:cxn>
                  <a:cxn ang="0">
                    <a:pos x="37" y="317"/>
                  </a:cxn>
                  <a:cxn ang="0">
                    <a:pos x="31" y="263"/>
                  </a:cxn>
                  <a:cxn ang="0">
                    <a:pos x="31" y="263"/>
                  </a:cxn>
                </a:cxnLst>
                <a:rect l="0" t="0" r="r" b="b"/>
                <a:pathLst>
                  <a:path w="171" h="461">
                    <a:moveTo>
                      <a:pt x="31" y="263"/>
                    </a:moveTo>
                    <a:lnTo>
                      <a:pt x="43" y="191"/>
                    </a:lnTo>
                    <a:lnTo>
                      <a:pt x="67" y="131"/>
                    </a:lnTo>
                    <a:lnTo>
                      <a:pt x="116" y="72"/>
                    </a:lnTo>
                    <a:lnTo>
                      <a:pt x="171" y="18"/>
                    </a:lnTo>
                    <a:lnTo>
                      <a:pt x="153" y="0"/>
                    </a:lnTo>
                    <a:lnTo>
                      <a:pt x="86" y="60"/>
                    </a:lnTo>
                    <a:lnTo>
                      <a:pt x="43" y="120"/>
                    </a:lnTo>
                    <a:lnTo>
                      <a:pt x="13" y="191"/>
                    </a:lnTo>
                    <a:lnTo>
                      <a:pt x="0" y="263"/>
                    </a:lnTo>
                    <a:lnTo>
                      <a:pt x="6" y="317"/>
                    </a:lnTo>
                    <a:lnTo>
                      <a:pt x="25" y="365"/>
                    </a:lnTo>
                    <a:lnTo>
                      <a:pt x="49" y="413"/>
                    </a:lnTo>
                    <a:lnTo>
                      <a:pt x="86" y="461"/>
                    </a:lnTo>
                    <a:lnTo>
                      <a:pt x="122" y="461"/>
                    </a:lnTo>
                    <a:lnTo>
                      <a:pt x="86" y="413"/>
                    </a:lnTo>
                    <a:lnTo>
                      <a:pt x="55" y="365"/>
                    </a:lnTo>
                    <a:lnTo>
                      <a:pt x="37" y="317"/>
                    </a:lnTo>
                    <a:lnTo>
                      <a:pt x="31" y="263"/>
                    </a:lnTo>
                    <a:lnTo>
                      <a:pt x="31" y="263"/>
                    </a:lnTo>
                    <a:close/>
                  </a:path>
                </a:pathLst>
              </a:custGeom>
              <a:solidFill>
                <a:schemeClr val="accent2"/>
              </a:solidFill>
              <a:ln w="9525">
                <a:noFill/>
                <a:round/>
                <a:headEnd/>
                <a:tailEnd/>
              </a:ln>
            </p:spPr>
            <p:txBody>
              <a:bodyPr/>
              <a:lstStyle/>
              <a:p>
                <a:pPr>
                  <a:defRPr/>
                </a:pPr>
                <a:endParaRPr lang="en-US" sz="1800"/>
              </a:p>
            </p:txBody>
          </p:sp>
          <p:sp>
            <p:nvSpPr>
              <p:cNvPr id="53" name="Freeform 31"/>
              <p:cNvSpPr>
                <a:spLocks/>
              </p:cNvSpPr>
              <p:nvPr/>
            </p:nvSpPr>
            <p:spPr bwMode="hidden">
              <a:xfrm>
                <a:off x="2951" y="3751"/>
                <a:ext cx="360" cy="563"/>
              </a:xfrm>
              <a:custGeom>
                <a:avLst/>
                <a:gdLst/>
                <a:ahLst/>
                <a:cxnLst>
                  <a:cxn ang="0">
                    <a:pos x="360" y="365"/>
                  </a:cxn>
                  <a:cxn ang="0">
                    <a:pos x="353" y="305"/>
                  </a:cxn>
                  <a:cxn ang="0">
                    <a:pos x="335" y="251"/>
                  </a:cxn>
                  <a:cxn ang="0">
                    <a:pos x="305" y="204"/>
                  </a:cxn>
                  <a:cxn ang="0">
                    <a:pos x="262" y="156"/>
                  </a:cxn>
                  <a:cxn ang="0">
                    <a:pos x="213" y="108"/>
                  </a:cxn>
                  <a:cxn ang="0">
                    <a:pos x="159" y="66"/>
                  </a:cxn>
                  <a:cxn ang="0">
                    <a:pos x="92" y="30"/>
                  </a:cxn>
                  <a:cxn ang="0">
                    <a:pos x="19" y="0"/>
                  </a:cxn>
                  <a:cxn ang="0">
                    <a:pos x="0" y="12"/>
                  </a:cxn>
                  <a:cxn ang="0">
                    <a:pos x="67" y="42"/>
                  </a:cxn>
                  <a:cxn ang="0">
                    <a:pos x="134" y="78"/>
                  </a:cxn>
                  <a:cxn ang="0">
                    <a:pos x="189" y="114"/>
                  </a:cxn>
                  <a:cxn ang="0">
                    <a:pos x="238" y="162"/>
                  </a:cxn>
                  <a:cxn ang="0">
                    <a:pos x="274" y="210"/>
                  </a:cxn>
                  <a:cxn ang="0">
                    <a:pos x="299" y="257"/>
                  </a:cxn>
                  <a:cxn ang="0">
                    <a:pos x="317" y="311"/>
                  </a:cxn>
                  <a:cxn ang="0">
                    <a:pos x="323" y="365"/>
                  </a:cxn>
                  <a:cxn ang="0">
                    <a:pos x="317" y="419"/>
                  </a:cxn>
                  <a:cxn ang="0">
                    <a:pos x="299" y="467"/>
                  </a:cxn>
                  <a:cxn ang="0">
                    <a:pos x="274" y="515"/>
                  </a:cxn>
                  <a:cxn ang="0">
                    <a:pos x="238" y="563"/>
                  </a:cxn>
                  <a:cxn ang="0">
                    <a:pos x="268" y="563"/>
                  </a:cxn>
                  <a:cxn ang="0">
                    <a:pos x="311" y="515"/>
                  </a:cxn>
                  <a:cxn ang="0">
                    <a:pos x="335" y="467"/>
                  </a:cxn>
                  <a:cxn ang="0">
                    <a:pos x="353" y="419"/>
                  </a:cxn>
                  <a:cxn ang="0">
                    <a:pos x="360" y="365"/>
                  </a:cxn>
                  <a:cxn ang="0">
                    <a:pos x="360" y="365"/>
                  </a:cxn>
                </a:cxnLst>
                <a:rect l="0" t="0" r="r" b="b"/>
                <a:pathLst>
                  <a:path w="360" h="563">
                    <a:moveTo>
                      <a:pt x="360" y="365"/>
                    </a:moveTo>
                    <a:lnTo>
                      <a:pt x="353" y="305"/>
                    </a:lnTo>
                    <a:lnTo>
                      <a:pt x="335" y="251"/>
                    </a:lnTo>
                    <a:lnTo>
                      <a:pt x="305" y="204"/>
                    </a:lnTo>
                    <a:lnTo>
                      <a:pt x="262" y="156"/>
                    </a:lnTo>
                    <a:lnTo>
                      <a:pt x="213" y="108"/>
                    </a:lnTo>
                    <a:lnTo>
                      <a:pt x="159" y="66"/>
                    </a:lnTo>
                    <a:lnTo>
                      <a:pt x="92" y="30"/>
                    </a:lnTo>
                    <a:lnTo>
                      <a:pt x="19" y="0"/>
                    </a:lnTo>
                    <a:lnTo>
                      <a:pt x="0" y="12"/>
                    </a:lnTo>
                    <a:lnTo>
                      <a:pt x="67" y="42"/>
                    </a:lnTo>
                    <a:lnTo>
                      <a:pt x="134" y="78"/>
                    </a:lnTo>
                    <a:lnTo>
                      <a:pt x="189" y="114"/>
                    </a:lnTo>
                    <a:lnTo>
                      <a:pt x="238" y="162"/>
                    </a:lnTo>
                    <a:lnTo>
                      <a:pt x="274" y="210"/>
                    </a:lnTo>
                    <a:lnTo>
                      <a:pt x="299" y="257"/>
                    </a:lnTo>
                    <a:lnTo>
                      <a:pt x="317" y="311"/>
                    </a:lnTo>
                    <a:lnTo>
                      <a:pt x="323" y="365"/>
                    </a:lnTo>
                    <a:lnTo>
                      <a:pt x="317" y="419"/>
                    </a:lnTo>
                    <a:lnTo>
                      <a:pt x="299" y="467"/>
                    </a:lnTo>
                    <a:lnTo>
                      <a:pt x="274" y="515"/>
                    </a:lnTo>
                    <a:lnTo>
                      <a:pt x="238" y="563"/>
                    </a:lnTo>
                    <a:lnTo>
                      <a:pt x="268" y="563"/>
                    </a:lnTo>
                    <a:lnTo>
                      <a:pt x="311" y="515"/>
                    </a:lnTo>
                    <a:lnTo>
                      <a:pt x="335" y="467"/>
                    </a:lnTo>
                    <a:lnTo>
                      <a:pt x="353" y="419"/>
                    </a:lnTo>
                    <a:lnTo>
                      <a:pt x="360" y="365"/>
                    </a:lnTo>
                    <a:lnTo>
                      <a:pt x="360" y="36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4" name="Freeform 32"/>
              <p:cNvSpPr>
                <a:spLocks/>
              </p:cNvSpPr>
              <p:nvPr/>
            </p:nvSpPr>
            <p:spPr bwMode="hidden">
              <a:xfrm>
                <a:off x="2318" y="3631"/>
                <a:ext cx="1078" cy="425"/>
              </a:xfrm>
              <a:custGeom>
                <a:avLst/>
                <a:gdLst/>
                <a:ahLst/>
                <a:cxnLst>
                  <a:cxn ang="0">
                    <a:pos x="1053" y="425"/>
                  </a:cxn>
                  <a:cxn ang="0">
                    <a:pos x="1078" y="419"/>
                  </a:cxn>
                  <a:cxn ang="0">
                    <a:pos x="1066" y="377"/>
                  </a:cxn>
                  <a:cxn ang="0">
                    <a:pos x="1047" y="336"/>
                  </a:cxn>
                  <a:cxn ang="0">
                    <a:pos x="986" y="252"/>
                  </a:cxn>
                  <a:cxn ang="0">
                    <a:pos x="907" y="180"/>
                  </a:cxn>
                  <a:cxn ang="0">
                    <a:pos x="810" y="120"/>
                  </a:cxn>
                  <a:cxn ang="0">
                    <a:pos x="694" y="72"/>
                  </a:cxn>
                  <a:cxn ang="0">
                    <a:pos x="560" y="30"/>
                  </a:cxn>
                  <a:cxn ang="0">
                    <a:pos x="420" y="6"/>
                  </a:cxn>
                  <a:cxn ang="0">
                    <a:pos x="268" y="0"/>
                  </a:cxn>
                  <a:cxn ang="0">
                    <a:pos x="134" y="6"/>
                  </a:cxn>
                  <a:cxn ang="0">
                    <a:pos x="0" y="24"/>
                  </a:cxn>
                  <a:cxn ang="0">
                    <a:pos x="12" y="36"/>
                  </a:cxn>
                  <a:cxn ang="0">
                    <a:pos x="134" y="18"/>
                  </a:cxn>
                  <a:cxn ang="0">
                    <a:pos x="268" y="12"/>
                  </a:cxn>
                  <a:cxn ang="0">
                    <a:pos x="420" y="18"/>
                  </a:cxn>
                  <a:cxn ang="0">
                    <a:pos x="554" y="42"/>
                  </a:cxn>
                  <a:cxn ang="0">
                    <a:pos x="682" y="84"/>
                  </a:cxn>
                  <a:cxn ang="0">
                    <a:pos x="798" y="132"/>
                  </a:cxn>
                  <a:cxn ang="0">
                    <a:pos x="895" y="192"/>
                  </a:cxn>
                  <a:cxn ang="0">
                    <a:pos x="968" y="264"/>
                  </a:cxn>
                  <a:cxn ang="0">
                    <a:pos x="999" y="300"/>
                  </a:cxn>
                  <a:cxn ang="0">
                    <a:pos x="1023" y="342"/>
                  </a:cxn>
                  <a:cxn ang="0">
                    <a:pos x="1041" y="383"/>
                  </a:cxn>
                  <a:cxn ang="0">
                    <a:pos x="1053" y="425"/>
                  </a:cxn>
                  <a:cxn ang="0">
                    <a:pos x="1053" y="425"/>
                  </a:cxn>
                </a:cxnLst>
                <a:rect l="0" t="0" r="r" b="b"/>
                <a:pathLst>
                  <a:path w="1078" h="425">
                    <a:moveTo>
                      <a:pt x="1053" y="425"/>
                    </a:moveTo>
                    <a:lnTo>
                      <a:pt x="1078" y="419"/>
                    </a:lnTo>
                    <a:lnTo>
                      <a:pt x="1066" y="377"/>
                    </a:lnTo>
                    <a:lnTo>
                      <a:pt x="1047" y="336"/>
                    </a:lnTo>
                    <a:lnTo>
                      <a:pt x="986" y="252"/>
                    </a:lnTo>
                    <a:lnTo>
                      <a:pt x="907" y="180"/>
                    </a:lnTo>
                    <a:lnTo>
                      <a:pt x="810" y="120"/>
                    </a:lnTo>
                    <a:lnTo>
                      <a:pt x="694" y="72"/>
                    </a:lnTo>
                    <a:lnTo>
                      <a:pt x="560" y="30"/>
                    </a:lnTo>
                    <a:lnTo>
                      <a:pt x="420" y="6"/>
                    </a:lnTo>
                    <a:lnTo>
                      <a:pt x="268" y="0"/>
                    </a:lnTo>
                    <a:lnTo>
                      <a:pt x="134" y="6"/>
                    </a:lnTo>
                    <a:lnTo>
                      <a:pt x="0" y="24"/>
                    </a:lnTo>
                    <a:lnTo>
                      <a:pt x="12" y="36"/>
                    </a:lnTo>
                    <a:lnTo>
                      <a:pt x="134" y="18"/>
                    </a:lnTo>
                    <a:lnTo>
                      <a:pt x="268" y="12"/>
                    </a:lnTo>
                    <a:lnTo>
                      <a:pt x="420" y="18"/>
                    </a:lnTo>
                    <a:lnTo>
                      <a:pt x="554" y="42"/>
                    </a:lnTo>
                    <a:lnTo>
                      <a:pt x="682" y="84"/>
                    </a:lnTo>
                    <a:lnTo>
                      <a:pt x="798" y="132"/>
                    </a:lnTo>
                    <a:lnTo>
                      <a:pt x="895" y="192"/>
                    </a:lnTo>
                    <a:lnTo>
                      <a:pt x="968" y="264"/>
                    </a:lnTo>
                    <a:lnTo>
                      <a:pt x="999" y="300"/>
                    </a:lnTo>
                    <a:lnTo>
                      <a:pt x="1023" y="342"/>
                    </a:lnTo>
                    <a:lnTo>
                      <a:pt x="1041" y="383"/>
                    </a:lnTo>
                    <a:lnTo>
                      <a:pt x="1053" y="425"/>
                    </a:lnTo>
                    <a:lnTo>
                      <a:pt x="1053" y="42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5" name="Freeform 33"/>
              <p:cNvSpPr>
                <a:spLocks/>
              </p:cNvSpPr>
              <p:nvPr/>
            </p:nvSpPr>
            <p:spPr bwMode="hidden">
              <a:xfrm>
                <a:off x="3304" y="4080"/>
                <a:ext cx="98" cy="234"/>
              </a:xfrm>
              <a:custGeom>
                <a:avLst/>
                <a:gdLst/>
                <a:ahLst/>
                <a:cxnLst>
                  <a:cxn ang="0">
                    <a:pos x="0" y="234"/>
                  </a:cxn>
                  <a:cxn ang="0">
                    <a:pos x="25" y="234"/>
                  </a:cxn>
                  <a:cxn ang="0">
                    <a:pos x="55" y="186"/>
                  </a:cxn>
                  <a:cxn ang="0">
                    <a:pos x="80" y="138"/>
                  </a:cxn>
                  <a:cxn ang="0">
                    <a:pos x="92" y="90"/>
                  </a:cxn>
                  <a:cxn ang="0">
                    <a:pos x="98" y="36"/>
                  </a:cxn>
                  <a:cxn ang="0">
                    <a:pos x="98" y="0"/>
                  </a:cxn>
                  <a:cxn ang="0">
                    <a:pos x="74" y="0"/>
                  </a:cxn>
                  <a:cxn ang="0">
                    <a:pos x="74" y="36"/>
                  </a:cxn>
                  <a:cxn ang="0">
                    <a:pos x="67" y="90"/>
                  </a:cxn>
                  <a:cxn ang="0">
                    <a:pos x="55" y="138"/>
                  </a:cxn>
                  <a:cxn ang="0">
                    <a:pos x="31" y="186"/>
                  </a:cxn>
                  <a:cxn ang="0">
                    <a:pos x="0" y="234"/>
                  </a:cxn>
                  <a:cxn ang="0">
                    <a:pos x="0" y="234"/>
                  </a:cxn>
                </a:cxnLst>
                <a:rect l="0" t="0" r="r" b="b"/>
                <a:pathLst>
                  <a:path w="98" h="234">
                    <a:moveTo>
                      <a:pt x="0" y="234"/>
                    </a:moveTo>
                    <a:lnTo>
                      <a:pt x="25" y="234"/>
                    </a:lnTo>
                    <a:lnTo>
                      <a:pt x="55" y="186"/>
                    </a:lnTo>
                    <a:lnTo>
                      <a:pt x="80" y="138"/>
                    </a:lnTo>
                    <a:lnTo>
                      <a:pt x="92" y="90"/>
                    </a:lnTo>
                    <a:lnTo>
                      <a:pt x="98" y="36"/>
                    </a:lnTo>
                    <a:lnTo>
                      <a:pt x="98" y="0"/>
                    </a:lnTo>
                    <a:lnTo>
                      <a:pt x="74" y="0"/>
                    </a:lnTo>
                    <a:lnTo>
                      <a:pt x="74" y="36"/>
                    </a:lnTo>
                    <a:lnTo>
                      <a:pt x="67" y="90"/>
                    </a:lnTo>
                    <a:lnTo>
                      <a:pt x="55" y="138"/>
                    </a:lnTo>
                    <a:lnTo>
                      <a:pt x="31" y="186"/>
                    </a:lnTo>
                    <a:lnTo>
                      <a:pt x="0" y="234"/>
                    </a:lnTo>
                    <a:lnTo>
                      <a:pt x="0" y="234"/>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6" name="Freeform 34"/>
              <p:cNvSpPr>
                <a:spLocks/>
              </p:cNvSpPr>
              <p:nvPr/>
            </p:nvSpPr>
            <p:spPr bwMode="hidden">
              <a:xfrm>
                <a:off x="1776" y="3673"/>
                <a:ext cx="481" cy="641"/>
              </a:xfrm>
              <a:custGeom>
                <a:avLst/>
                <a:gdLst/>
                <a:ahLst/>
                <a:cxnLst>
                  <a:cxn ang="0">
                    <a:pos x="18" y="443"/>
                  </a:cxn>
                  <a:cxn ang="0">
                    <a:pos x="24" y="371"/>
                  </a:cxn>
                  <a:cxn ang="0">
                    <a:pos x="55" y="305"/>
                  </a:cxn>
                  <a:cxn ang="0">
                    <a:pos x="91" y="246"/>
                  </a:cxn>
                  <a:cxn ang="0">
                    <a:pos x="146" y="186"/>
                  </a:cxn>
                  <a:cxn ang="0">
                    <a:pos x="213" y="132"/>
                  </a:cxn>
                  <a:cxn ang="0">
                    <a:pos x="292" y="84"/>
                  </a:cxn>
                  <a:cxn ang="0">
                    <a:pos x="384" y="48"/>
                  </a:cxn>
                  <a:cxn ang="0">
                    <a:pos x="481" y="12"/>
                  </a:cxn>
                  <a:cxn ang="0">
                    <a:pos x="457" y="0"/>
                  </a:cxn>
                  <a:cxn ang="0">
                    <a:pos x="359" y="36"/>
                  </a:cxn>
                  <a:cxn ang="0">
                    <a:pos x="274" y="78"/>
                  </a:cxn>
                  <a:cxn ang="0">
                    <a:pos x="195" y="126"/>
                  </a:cxn>
                  <a:cxn ang="0">
                    <a:pos x="128" y="180"/>
                  </a:cxn>
                  <a:cxn ang="0">
                    <a:pos x="73" y="240"/>
                  </a:cxn>
                  <a:cxn ang="0">
                    <a:pos x="37" y="305"/>
                  </a:cxn>
                  <a:cxn ang="0">
                    <a:pos x="6" y="371"/>
                  </a:cxn>
                  <a:cxn ang="0">
                    <a:pos x="0" y="443"/>
                  </a:cxn>
                  <a:cxn ang="0">
                    <a:pos x="6" y="497"/>
                  </a:cxn>
                  <a:cxn ang="0">
                    <a:pos x="18" y="545"/>
                  </a:cxn>
                  <a:cxn ang="0">
                    <a:pos x="43" y="593"/>
                  </a:cxn>
                  <a:cxn ang="0">
                    <a:pos x="73" y="641"/>
                  </a:cxn>
                  <a:cxn ang="0">
                    <a:pos x="97" y="641"/>
                  </a:cxn>
                  <a:cxn ang="0">
                    <a:pos x="67" y="593"/>
                  </a:cxn>
                  <a:cxn ang="0">
                    <a:pos x="43" y="545"/>
                  </a:cxn>
                  <a:cxn ang="0">
                    <a:pos x="24" y="497"/>
                  </a:cxn>
                  <a:cxn ang="0">
                    <a:pos x="18" y="443"/>
                  </a:cxn>
                  <a:cxn ang="0">
                    <a:pos x="18" y="443"/>
                  </a:cxn>
                </a:cxnLst>
                <a:rect l="0" t="0" r="r" b="b"/>
                <a:pathLst>
                  <a:path w="481" h="641">
                    <a:moveTo>
                      <a:pt x="18" y="443"/>
                    </a:moveTo>
                    <a:lnTo>
                      <a:pt x="24" y="371"/>
                    </a:lnTo>
                    <a:lnTo>
                      <a:pt x="55" y="305"/>
                    </a:lnTo>
                    <a:lnTo>
                      <a:pt x="91" y="246"/>
                    </a:lnTo>
                    <a:lnTo>
                      <a:pt x="146" y="186"/>
                    </a:lnTo>
                    <a:lnTo>
                      <a:pt x="213" y="132"/>
                    </a:lnTo>
                    <a:lnTo>
                      <a:pt x="292" y="84"/>
                    </a:lnTo>
                    <a:lnTo>
                      <a:pt x="384" y="48"/>
                    </a:lnTo>
                    <a:lnTo>
                      <a:pt x="481" y="12"/>
                    </a:lnTo>
                    <a:lnTo>
                      <a:pt x="457" y="0"/>
                    </a:lnTo>
                    <a:lnTo>
                      <a:pt x="359" y="36"/>
                    </a:lnTo>
                    <a:lnTo>
                      <a:pt x="274" y="78"/>
                    </a:lnTo>
                    <a:lnTo>
                      <a:pt x="195" y="126"/>
                    </a:lnTo>
                    <a:lnTo>
                      <a:pt x="128" y="180"/>
                    </a:lnTo>
                    <a:lnTo>
                      <a:pt x="73" y="240"/>
                    </a:lnTo>
                    <a:lnTo>
                      <a:pt x="37" y="305"/>
                    </a:lnTo>
                    <a:lnTo>
                      <a:pt x="6" y="371"/>
                    </a:lnTo>
                    <a:lnTo>
                      <a:pt x="0" y="443"/>
                    </a:lnTo>
                    <a:lnTo>
                      <a:pt x="6" y="497"/>
                    </a:lnTo>
                    <a:lnTo>
                      <a:pt x="18" y="545"/>
                    </a:lnTo>
                    <a:lnTo>
                      <a:pt x="43" y="593"/>
                    </a:lnTo>
                    <a:lnTo>
                      <a:pt x="73" y="641"/>
                    </a:lnTo>
                    <a:lnTo>
                      <a:pt x="97" y="641"/>
                    </a:lnTo>
                    <a:lnTo>
                      <a:pt x="67" y="593"/>
                    </a:lnTo>
                    <a:lnTo>
                      <a:pt x="43" y="545"/>
                    </a:lnTo>
                    <a:lnTo>
                      <a:pt x="24" y="497"/>
                    </a:lnTo>
                    <a:lnTo>
                      <a:pt x="18" y="443"/>
                    </a:lnTo>
                    <a:lnTo>
                      <a:pt x="18" y="443"/>
                    </a:lnTo>
                    <a:close/>
                  </a:path>
                </a:pathLst>
              </a:custGeom>
              <a:solidFill>
                <a:schemeClr val="accent2"/>
              </a:solidFill>
              <a:ln w="9525">
                <a:noFill/>
                <a:round/>
                <a:headEnd/>
                <a:tailEnd/>
              </a:ln>
            </p:spPr>
            <p:txBody>
              <a:bodyPr/>
              <a:lstStyle/>
              <a:p>
                <a:pPr>
                  <a:defRPr/>
                </a:pPr>
                <a:endParaRPr lang="en-US" sz="1800"/>
              </a:p>
            </p:txBody>
          </p:sp>
        </p:grpSp>
        <p:grpSp>
          <p:nvGrpSpPr>
            <p:cNvPr id="8" name="Group 35"/>
            <p:cNvGrpSpPr>
              <a:grpSpLocks/>
            </p:cNvGrpSpPr>
            <p:nvPr userDrawn="1"/>
          </p:nvGrpSpPr>
          <p:grpSpPr bwMode="auto">
            <a:xfrm>
              <a:off x="4128" y="3360"/>
              <a:ext cx="1351" cy="821"/>
              <a:chOff x="4128" y="3360"/>
              <a:chExt cx="1351" cy="821"/>
            </a:xfrm>
          </p:grpSpPr>
          <p:sp>
            <p:nvSpPr>
              <p:cNvPr id="22" name="Freeform 36"/>
              <p:cNvSpPr>
                <a:spLocks noEditPoints="1"/>
              </p:cNvSpPr>
              <p:nvPr/>
            </p:nvSpPr>
            <p:spPr bwMode="hidden">
              <a:xfrm>
                <a:off x="4200" y="3402"/>
                <a:ext cx="1201" cy="731"/>
              </a:xfrm>
              <a:custGeom>
                <a:avLst/>
                <a:gdLst/>
                <a:ahLst/>
                <a:cxnLst>
                  <a:cxn ang="0">
                    <a:pos x="484" y="6"/>
                  </a:cxn>
                  <a:cxn ang="0">
                    <a:pos x="263" y="60"/>
                  </a:cxn>
                  <a:cxn ang="0">
                    <a:pos x="101" y="162"/>
                  </a:cxn>
                  <a:cxn ang="0">
                    <a:pos x="12" y="294"/>
                  </a:cxn>
                  <a:cxn ang="0">
                    <a:pos x="0" y="366"/>
                  </a:cxn>
                  <a:cxn ang="0">
                    <a:pos x="12" y="437"/>
                  </a:cxn>
                  <a:cxn ang="0">
                    <a:pos x="101" y="569"/>
                  </a:cxn>
                  <a:cxn ang="0">
                    <a:pos x="263" y="671"/>
                  </a:cxn>
                  <a:cxn ang="0">
                    <a:pos x="484" y="725"/>
                  </a:cxn>
                  <a:cxn ang="0">
                    <a:pos x="723" y="725"/>
                  </a:cxn>
                  <a:cxn ang="0">
                    <a:pos x="938" y="671"/>
                  </a:cxn>
                  <a:cxn ang="0">
                    <a:pos x="1100" y="569"/>
                  </a:cxn>
                  <a:cxn ang="0">
                    <a:pos x="1189" y="437"/>
                  </a:cxn>
                  <a:cxn ang="0">
                    <a:pos x="1201" y="366"/>
                  </a:cxn>
                  <a:cxn ang="0">
                    <a:pos x="1189" y="294"/>
                  </a:cxn>
                  <a:cxn ang="0">
                    <a:pos x="1100" y="162"/>
                  </a:cxn>
                  <a:cxn ang="0">
                    <a:pos x="938" y="60"/>
                  </a:cxn>
                  <a:cxn ang="0">
                    <a:pos x="723" y="6"/>
                  </a:cxn>
                  <a:cxn ang="0">
                    <a:pos x="604" y="0"/>
                  </a:cxn>
                  <a:cxn ang="0">
                    <a:pos x="490" y="701"/>
                  </a:cxn>
                  <a:cxn ang="0">
                    <a:pos x="287" y="647"/>
                  </a:cxn>
                  <a:cxn ang="0">
                    <a:pos x="131" y="557"/>
                  </a:cxn>
                  <a:cxn ang="0">
                    <a:pos x="48" y="437"/>
                  </a:cxn>
                  <a:cxn ang="0">
                    <a:pos x="36" y="366"/>
                  </a:cxn>
                  <a:cxn ang="0">
                    <a:pos x="48" y="300"/>
                  </a:cxn>
                  <a:cxn ang="0">
                    <a:pos x="131" y="174"/>
                  </a:cxn>
                  <a:cxn ang="0">
                    <a:pos x="287" y="84"/>
                  </a:cxn>
                  <a:cxn ang="0">
                    <a:pos x="490" y="30"/>
                  </a:cxn>
                  <a:cxn ang="0">
                    <a:pos x="717" y="30"/>
                  </a:cxn>
                  <a:cxn ang="0">
                    <a:pos x="920" y="84"/>
                  </a:cxn>
                  <a:cxn ang="0">
                    <a:pos x="1070" y="174"/>
                  </a:cxn>
                  <a:cxn ang="0">
                    <a:pos x="1153" y="300"/>
                  </a:cxn>
                  <a:cxn ang="0">
                    <a:pos x="1153" y="437"/>
                  </a:cxn>
                  <a:cxn ang="0">
                    <a:pos x="1070" y="557"/>
                  </a:cxn>
                  <a:cxn ang="0">
                    <a:pos x="920" y="647"/>
                  </a:cxn>
                  <a:cxn ang="0">
                    <a:pos x="717" y="701"/>
                  </a:cxn>
                  <a:cxn ang="0">
                    <a:pos x="604" y="707"/>
                  </a:cxn>
                </a:cxnLst>
                <a:rect l="0" t="0" r="r" b="b"/>
                <a:pathLst>
                  <a:path w="1201" h="731">
                    <a:moveTo>
                      <a:pt x="604" y="0"/>
                    </a:moveTo>
                    <a:lnTo>
                      <a:pt x="484" y="6"/>
                    </a:lnTo>
                    <a:lnTo>
                      <a:pt x="370" y="30"/>
                    </a:lnTo>
                    <a:lnTo>
                      <a:pt x="263" y="60"/>
                    </a:lnTo>
                    <a:lnTo>
                      <a:pt x="179" y="108"/>
                    </a:lnTo>
                    <a:lnTo>
                      <a:pt x="101" y="162"/>
                    </a:lnTo>
                    <a:lnTo>
                      <a:pt x="48" y="222"/>
                    </a:lnTo>
                    <a:lnTo>
                      <a:pt x="12" y="294"/>
                    </a:lnTo>
                    <a:lnTo>
                      <a:pt x="6" y="330"/>
                    </a:lnTo>
                    <a:lnTo>
                      <a:pt x="0" y="366"/>
                    </a:lnTo>
                    <a:lnTo>
                      <a:pt x="6" y="401"/>
                    </a:lnTo>
                    <a:lnTo>
                      <a:pt x="12" y="437"/>
                    </a:lnTo>
                    <a:lnTo>
                      <a:pt x="48" y="509"/>
                    </a:lnTo>
                    <a:lnTo>
                      <a:pt x="101" y="569"/>
                    </a:lnTo>
                    <a:lnTo>
                      <a:pt x="179" y="623"/>
                    </a:lnTo>
                    <a:lnTo>
                      <a:pt x="263" y="671"/>
                    </a:lnTo>
                    <a:lnTo>
                      <a:pt x="370" y="701"/>
                    </a:lnTo>
                    <a:lnTo>
                      <a:pt x="484" y="725"/>
                    </a:lnTo>
                    <a:lnTo>
                      <a:pt x="604" y="731"/>
                    </a:lnTo>
                    <a:lnTo>
                      <a:pt x="723" y="725"/>
                    </a:lnTo>
                    <a:lnTo>
                      <a:pt x="837" y="701"/>
                    </a:lnTo>
                    <a:lnTo>
                      <a:pt x="938" y="671"/>
                    </a:lnTo>
                    <a:lnTo>
                      <a:pt x="1028" y="623"/>
                    </a:lnTo>
                    <a:lnTo>
                      <a:pt x="1100" y="569"/>
                    </a:lnTo>
                    <a:lnTo>
                      <a:pt x="1153" y="509"/>
                    </a:lnTo>
                    <a:lnTo>
                      <a:pt x="1189" y="437"/>
                    </a:lnTo>
                    <a:lnTo>
                      <a:pt x="1201" y="401"/>
                    </a:lnTo>
                    <a:lnTo>
                      <a:pt x="1201" y="366"/>
                    </a:lnTo>
                    <a:lnTo>
                      <a:pt x="1201" y="330"/>
                    </a:lnTo>
                    <a:lnTo>
                      <a:pt x="1189" y="294"/>
                    </a:lnTo>
                    <a:lnTo>
                      <a:pt x="1153" y="222"/>
                    </a:lnTo>
                    <a:lnTo>
                      <a:pt x="1100" y="162"/>
                    </a:lnTo>
                    <a:lnTo>
                      <a:pt x="1028" y="108"/>
                    </a:lnTo>
                    <a:lnTo>
                      <a:pt x="938" y="60"/>
                    </a:lnTo>
                    <a:lnTo>
                      <a:pt x="837" y="30"/>
                    </a:lnTo>
                    <a:lnTo>
                      <a:pt x="723" y="6"/>
                    </a:lnTo>
                    <a:lnTo>
                      <a:pt x="604" y="0"/>
                    </a:lnTo>
                    <a:lnTo>
                      <a:pt x="604" y="0"/>
                    </a:lnTo>
                    <a:close/>
                    <a:moveTo>
                      <a:pt x="604" y="707"/>
                    </a:moveTo>
                    <a:lnTo>
                      <a:pt x="490" y="701"/>
                    </a:lnTo>
                    <a:lnTo>
                      <a:pt x="382" y="683"/>
                    </a:lnTo>
                    <a:lnTo>
                      <a:pt x="287" y="647"/>
                    </a:lnTo>
                    <a:lnTo>
                      <a:pt x="203" y="611"/>
                    </a:lnTo>
                    <a:lnTo>
                      <a:pt x="131" y="557"/>
                    </a:lnTo>
                    <a:lnTo>
                      <a:pt x="83" y="497"/>
                    </a:lnTo>
                    <a:lnTo>
                      <a:pt x="48" y="437"/>
                    </a:lnTo>
                    <a:lnTo>
                      <a:pt x="42" y="401"/>
                    </a:lnTo>
                    <a:lnTo>
                      <a:pt x="36" y="366"/>
                    </a:lnTo>
                    <a:lnTo>
                      <a:pt x="42" y="330"/>
                    </a:lnTo>
                    <a:lnTo>
                      <a:pt x="48" y="300"/>
                    </a:lnTo>
                    <a:lnTo>
                      <a:pt x="83" y="234"/>
                    </a:lnTo>
                    <a:lnTo>
                      <a:pt x="131" y="174"/>
                    </a:lnTo>
                    <a:lnTo>
                      <a:pt x="203" y="126"/>
                    </a:lnTo>
                    <a:lnTo>
                      <a:pt x="287" y="84"/>
                    </a:lnTo>
                    <a:lnTo>
                      <a:pt x="382" y="54"/>
                    </a:lnTo>
                    <a:lnTo>
                      <a:pt x="490" y="30"/>
                    </a:lnTo>
                    <a:lnTo>
                      <a:pt x="604" y="24"/>
                    </a:lnTo>
                    <a:lnTo>
                      <a:pt x="717" y="30"/>
                    </a:lnTo>
                    <a:lnTo>
                      <a:pt x="825" y="54"/>
                    </a:lnTo>
                    <a:lnTo>
                      <a:pt x="920" y="84"/>
                    </a:lnTo>
                    <a:lnTo>
                      <a:pt x="1004" y="126"/>
                    </a:lnTo>
                    <a:lnTo>
                      <a:pt x="1070" y="174"/>
                    </a:lnTo>
                    <a:lnTo>
                      <a:pt x="1124" y="234"/>
                    </a:lnTo>
                    <a:lnTo>
                      <a:pt x="1153" y="300"/>
                    </a:lnTo>
                    <a:lnTo>
                      <a:pt x="1165" y="366"/>
                    </a:lnTo>
                    <a:lnTo>
                      <a:pt x="1153" y="437"/>
                    </a:lnTo>
                    <a:lnTo>
                      <a:pt x="1124" y="497"/>
                    </a:lnTo>
                    <a:lnTo>
                      <a:pt x="1070" y="557"/>
                    </a:lnTo>
                    <a:lnTo>
                      <a:pt x="1004" y="611"/>
                    </a:lnTo>
                    <a:lnTo>
                      <a:pt x="920" y="647"/>
                    </a:lnTo>
                    <a:lnTo>
                      <a:pt x="825" y="683"/>
                    </a:lnTo>
                    <a:lnTo>
                      <a:pt x="717" y="701"/>
                    </a:lnTo>
                    <a:lnTo>
                      <a:pt x="604" y="707"/>
                    </a:lnTo>
                    <a:lnTo>
                      <a:pt x="604" y="707"/>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3" name="Freeform 37"/>
              <p:cNvSpPr>
                <a:spLocks/>
              </p:cNvSpPr>
              <p:nvPr/>
            </p:nvSpPr>
            <p:spPr bwMode="hidden">
              <a:xfrm>
                <a:off x="4128" y="3366"/>
                <a:ext cx="544" cy="737"/>
              </a:xfrm>
              <a:custGeom>
                <a:avLst/>
                <a:gdLst/>
                <a:ahLst/>
                <a:cxnLst>
                  <a:cxn ang="0">
                    <a:pos x="24" y="402"/>
                  </a:cxn>
                  <a:cxn ang="0">
                    <a:pos x="36" y="330"/>
                  </a:cxn>
                  <a:cxn ang="0">
                    <a:pos x="66" y="264"/>
                  </a:cxn>
                  <a:cxn ang="0">
                    <a:pos x="108" y="204"/>
                  </a:cxn>
                  <a:cxn ang="0">
                    <a:pos x="173" y="150"/>
                  </a:cxn>
                  <a:cxn ang="0">
                    <a:pos x="251" y="102"/>
                  </a:cxn>
                  <a:cxn ang="0">
                    <a:pos x="335" y="60"/>
                  </a:cxn>
                  <a:cxn ang="0">
                    <a:pos x="436" y="30"/>
                  </a:cxn>
                  <a:cxn ang="0">
                    <a:pos x="544" y="12"/>
                  </a:cxn>
                  <a:cxn ang="0">
                    <a:pos x="544" y="0"/>
                  </a:cxn>
                  <a:cxn ang="0">
                    <a:pos x="430" y="18"/>
                  </a:cxn>
                  <a:cxn ang="0">
                    <a:pos x="329" y="48"/>
                  </a:cxn>
                  <a:cxn ang="0">
                    <a:pos x="233" y="90"/>
                  </a:cxn>
                  <a:cxn ang="0">
                    <a:pos x="155" y="138"/>
                  </a:cxn>
                  <a:cxn ang="0">
                    <a:pos x="90" y="198"/>
                  </a:cxn>
                  <a:cxn ang="0">
                    <a:pos x="42" y="258"/>
                  </a:cxn>
                  <a:cxn ang="0">
                    <a:pos x="12" y="330"/>
                  </a:cxn>
                  <a:cxn ang="0">
                    <a:pos x="0" y="402"/>
                  </a:cxn>
                  <a:cxn ang="0">
                    <a:pos x="6" y="455"/>
                  </a:cxn>
                  <a:cxn ang="0">
                    <a:pos x="18" y="503"/>
                  </a:cxn>
                  <a:cxn ang="0">
                    <a:pos x="42" y="545"/>
                  </a:cxn>
                  <a:cxn ang="0">
                    <a:pos x="78" y="593"/>
                  </a:cxn>
                  <a:cxn ang="0">
                    <a:pos x="114" y="635"/>
                  </a:cxn>
                  <a:cxn ang="0">
                    <a:pos x="161" y="671"/>
                  </a:cxn>
                  <a:cxn ang="0">
                    <a:pos x="221" y="707"/>
                  </a:cxn>
                  <a:cxn ang="0">
                    <a:pos x="281" y="737"/>
                  </a:cxn>
                  <a:cxn ang="0">
                    <a:pos x="323" y="737"/>
                  </a:cxn>
                  <a:cxn ang="0">
                    <a:pos x="257" y="707"/>
                  </a:cxn>
                  <a:cxn ang="0">
                    <a:pos x="203" y="671"/>
                  </a:cxn>
                  <a:cxn ang="0">
                    <a:pos x="149" y="635"/>
                  </a:cxn>
                  <a:cxn ang="0">
                    <a:pos x="108" y="593"/>
                  </a:cxn>
                  <a:cxn ang="0">
                    <a:pos x="72" y="551"/>
                  </a:cxn>
                  <a:cxn ang="0">
                    <a:pos x="48" y="503"/>
                  </a:cxn>
                  <a:cxn ang="0">
                    <a:pos x="30" y="455"/>
                  </a:cxn>
                  <a:cxn ang="0">
                    <a:pos x="24" y="402"/>
                  </a:cxn>
                  <a:cxn ang="0">
                    <a:pos x="24" y="402"/>
                  </a:cxn>
                </a:cxnLst>
                <a:rect l="0" t="0" r="r" b="b"/>
                <a:pathLst>
                  <a:path w="544" h="737">
                    <a:moveTo>
                      <a:pt x="24" y="402"/>
                    </a:moveTo>
                    <a:lnTo>
                      <a:pt x="36" y="330"/>
                    </a:lnTo>
                    <a:lnTo>
                      <a:pt x="66" y="264"/>
                    </a:lnTo>
                    <a:lnTo>
                      <a:pt x="108" y="204"/>
                    </a:lnTo>
                    <a:lnTo>
                      <a:pt x="173" y="150"/>
                    </a:lnTo>
                    <a:lnTo>
                      <a:pt x="251" y="102"/>
                    </a:lnTo>
                    <a:lnTo>
                      <a:pt x="335" y="60"/>
                    </a:lnTo>
                    <a:lnTo>
                      <a:pt x="436" y="30"/>
                    </a:lnTo>
                    <a:lnTo>
                      <a:pt x="544" y="12"/>
                    </a:lnTo>
                    <a:lnTo>
                      <a:pt x="544" y="0"/>
                    </a:lnTo>
                    <a:lnTo>
                      <a:pt x="430" y="18"/>
                    </a:lnTo>
                    <a:lnTo>
                      <a:pt x="329" y="48"/>
                    </a:lnTo>
                    <a:lnTo>
                      <a:pt x="233" y="90"/>
                    </a:lnTo>
                    <a:lnTo>
                      <a:pt x="155" y="138"/>
                    </a:lnTo>
                    <a:lnTo>
                      <a:pt x="90" y="198"/>
                    </a:lnTo>
                    <a:lnTo>
                      <a:pt x="42" y="258"/>
                    </a:lnTo>
                    <a:lnTo>
                      <a:pt x="12" y="330"/>
                    </a:lnTo>
                    <a:lnTo>
                      <a:pt x="0" y="402"/>
                    </a:lnTo>
                    <a:lnTo>
                      <a:pt x="6" y="455"/>
                    </a:lnTo>
                    <a:lnTo>
                      <a:pt x="18" y="503"/>
                    </a:lnTo>
                    <a:lnTo>
                      <a:pt x="42" y="545"/>
                    </a:lnTo>
                    <a:lnTo>
                      <a:pt x="78" y="593"/>
                    </a:lnTo>
                    <a:lnTo>
                      <a:pt x="114" y="635"/>
                    </a:lnTo>
                    <a:lnTo>
                      <a:pt x="161" y="671"/>
                    </a:lnTo>
                    <a:lnTo>
                      <a:pt x="221" y="707"/>
                    </a:lnTo>
                    <a:lnTo>
                      <a:pt x="281" y="737"/>
                    </a:lnTo>
                    <a:lnTo>
                      <a:pt x="323" y="737"/>
                    </a:lnTo>
                    <a:lnTo>
                      <a:pt x="257" y="707"/>
                    </a:lnTo>
                    <a:lnTo>
                      <a:pt x="203" y="671"/>
                    </a:lnTo>
                    <a:lnTo>
                      <a:pt x="149" y="635"/>
                    </a:lnTo>
                    <a:lnTo>
                      <a:pt x="108" y="593"/>
                    </a:lnTo>
                    <a:lnTo>
                      <a:pt x="72" y="551"/>
                    </a:lnTo>
                    <a:lnTo>
                      <a:pt x="48" y="503"/>
                    </a:lnTo>
                    <a:lnTo>
                      <a:pt x="30" y="455"/>
                    </a:lnTo>
                    <a:lnTo>
                      <a:pt x="24" y="402"/>
                    </a:lnTo>
                    <a:lnTo>
                      <a:pt x="24" y="402"/>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4" name="Freeform 38"/>
              <p:cNvSpPr>
                <a:spLocks/>
              </p:cNvSpPr>
              <p:nvPr/>
            </p:nvSpPr>
            <p:spPr bwMode="hidden">
              <a:xfrm>
                <a:off x="4792" y="3360"/>
                <a:ext cx="609" cy="252"/>
              </a:xfrm>
              <a:custGeom>
                <a:avLst/>
                <a:gdLst/>
                <a:ahLst/>
                <a:cxnLst>
                  <a:cxn ang="0">
                    <a:pos x="12" y="12"/>
                  </a:cxn>
                  <a:cxn ang="0">
                    <a:pos x="113" y="18"/>
                  </a:cxn>
                  <a:cxn ang="0">
                    <a:pos x="203" y="30"/>
                  </a:cxn>
                  <a:cxn ang="0">
                    <a:pos x="292" y="48"/>
                  </a:cxn>
                  <a:cxn ang="0">
                    <a:pos x="376" y="78"/>
                  </a:cxn>
                  <a:cxn ang="0">
                    <a:pos x="448" y="114"/>
                  </a:cxn>
                  <a:cxn ang="0">
                    <a:pos x="514" y="156"/>
                  </a:cxn>
                  <a:cxn ang="0">
                    <a:pos x="567" y="198"/>
                  </a:cxn>
                  <a:cxn ang="0">
                    <a:pos x="609" y="252"/>
                  </a:cxn>
                  <a:cxn ang="0">
                    <a:pos x="609" y="216"/>
                  </a:cxn>
                  <a:cxn ang="0">
                    <a:pos x="561" y="168"/>
                  </a:cxn>
                  <a:cxn ang="0">
                    <a:pos x="502" y="126"/>
                  </a:cxn>
                  <a:cxn ang="0">
                    <a:pos x="436" y="90"/>
                  </a:cxn>
                  <a:cxn ang="0">
                    <a:pos x="364" y="60"/>
                  </a:cxn>
                  <a:cxn ang="0">
                    <a:pos x="286" y="36"/>
                  </a:cxn>
                  <a:cxn ang="0">
                    <a:pos x="197" y="18"/>
                  </a:cxn>
                  <a:cxn ang="0">
                    <a:pos x="107" y="6"/>
                  </a:cxn>
                  <a:cxn ang="0">
                    <a:pos x="12" y="0"/>
                  </a:cxn>
                  <a:cxn ang="0">
                    <a:pos x="6" y="0"/>
                  </a:cxn>
                  <a:cxn ang="0">
                    <a:pos x="0" y="0"/>
                  </a:cxn>
                  <a:cxn ang="0">
                    <a:pos x="0" y="12"/>
                  </a:cxn>
                  <a:cxn ang="0">
                    <a:pos x="6" y="12"/>
                  </a:cxn>
                  <a:cxn ang="0">
                    <a:pos x="12" y="12"/>
                  </a:cxn>
                  <a:cxn ang="0">
                    <a:pos x="12" y="12"/>
                  </a:cxn>
                </a:cxnLst>
                <a:rect l="0" t="0" r="r" b="b"/>
                <a:pathLst>
                  <a:path w="609" h="252">
                    <a:moveTo>
                      <a:pt x="12" y="12"/>
                    </a:moveTo>
                    <a:lnTo>
                      <a:pt x="113" y="18"/>
                    </a:lnTo>
                    <a:lnTo>
                      <a:pt x="203" y="30"/>
                    </a:lnTo>
                    <a:lnTo>
                      <a:pt x="292" y="48"/>
                    </a:lnTo>
                    <a:lnTo>
                      <a:pt x="376" y="78"/>
                    </a:lnTo>
                    <a:lnTo>
                      <a:pt x="448" y="114"/>
                    </a:lnTo>
                    <a:lnTo>
                      <a:pt x="514" y="156"/>
                    </a:lnTo>
                    <a:lnTo>
                      <a:pt x="567" y="198"/>
                    </a:lnTo>
                    <a:lnTo>
                      <a:pt x="609" y="252"/>
                    </a:lnTo>
                    <a:lnTo>
                      <a:pt x="609" y="216"/>
                    </a:lnTo>
                    <a:lnTo>
                      <a:pt x="561" y="168"/>
                    </a:lnTo>
                    <a:lnTo>
                      <a:pt x="502" y="126"/>
                    </a:lnTo>
                    <a:lnTo>
                      <a:pt x="436" y="90"/>
                    </a:lnTo>
                    <a:lnTo>
                      <a:pt x="364" y="60"/>
                    </a:lnTo>
                    <a:lnTo>
                      <a:pt x="286" y="36"/>
                    </a:lnTo>
                    <a:lnTo>
                      <a:pt x="197" y="18"/>
                    </a:lnTo>
                    <a:lnTo>
                      <a:pt x="107" y="6"/>
                    </a:lnTo>
                    <a:lnTo>
                      <a:pt x="12" y="0"/>
                    </a:lnTo>
                    <a:lnTo>
                      <a:pt x="6" y="0"/>
                    </a:lnTo>
                    <a:lnTo>
                      <a:pt x="0" y="0"/>
                    </a:lnTo>
                    <a:lnTo>
                      <a:pt x="0" y="12"/>
                    </a:lnTo>
                    <a:lnTo>
                      <a:pt x="6" y="12"/>
                    </a:lnTo>
                    <a:lnTo>
                      <a:pt x="12" y="12"/>
                    </a:lnTo>
                    <a:lnTo>
                      <a:pt x="12" y="12"/>
                    </a:lnTo>
                    <a:close/>
                  </a:path>
                </a:pathLst>
              </a:custGeom>
              <a:gradFill rotWithShape="0">
                <a:gsLst>
                  <a:gs pos="0">
                    <a:schemeClr val="accent2">
                      <a:gamma/>
                      <a:tint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 name="Freeform 39"/>
              <p:cNvSpPr>
                <a:spLocks/>
              </p:cNvSpPr>
              <p:nvPr/>
            </p:nvSpPr>
            <p:spPr bwMode="hidden">
              <a:xfrm>
                <a:off x="5246" y="4007"/>
                <a:ext cx="72" cy="54"/>
              </a:xfrm>
              <a:custGeom>
                <a:avLst/>
                <a:gdLst/>
                <a:ahLst/>
                <a:cxnLst>
                  <a:cxn ang="0">
                    <a:pos x="72" y="0"/>
                  </a:cxn>
                  <a:cxn ang="0">
                    <a:pos x="36" y="30"/>
                  </a:cxn>
                  <a:cxn ang="0">
                    <a:pos x="0" y="54"/>
                  </a:cxn>
                  <a:cxn ang="0">
                    <a:pos x="36" y="54"/>
                  </a:cxn>
                  <a:cxn ang="0">
                    <a:pos x="54" y="42"/>
                  </a:cxn>
                  <a:cxn ang="0">
                    <a:pos x="72" y="24"/>
                  </a:cxn>
                  <a:cxn ang="0">
                    <a:pos x="72" y="24"/>
                  </a:cxn>
                  <a:cxn ang="0">
                    <a:pos x="72" y="0"/>
                  </a:cxn>
                  <a:cxn ang="0">
                    <a:pos x="72" y="0"/>
                  </a:cxn>
                </a:cxnLst>
                <a:rect l="0" t="0" r="r" b="b"/>
                <a:pathLst>
                  <a:path w="72" h="54">
                    <a:moveTo>
                      <a:pt x="72" y="0"/>
                    </a:moveTo>
                    <a:lnTo>
                      <a:pt x="36" y="30"/>
                    </a:lnTo>
                    <a:lnTo>
                      <a:pt x="0" y="54"/>
                    </a:lnTo>
                    <a:lnTo>
                      <a:pt x="36" y="54"/>
                    </a:lnTo>
                    <a:lnTo>
                      <a:pt x="54" y="42"/>
                    </a:lnTo>
                    <a:lnTo>
                      <a:pt x="72" y="24"/>
                    </a:lnTo>
                    <a:lnTo>
                      <a:pt x="72" y="24"/>
                    </a:lnTo>
                    <a:lnTo>
                      <a:pt x="72" y="0"/>
                    </a:lnTo>
                    <a:lnTo>
                      <a:pt x="72" y="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6" name="Freeform 40"/>
              <p:cNvSpPr>
                <a:spLocks/>
              </p:cNvSpPr>
              <p:nvPr/>
            </p:nvSpPr>
            <p:spPr bwMode="hidden">
              <a:xfrm>
                <a:off x="4505" y="4073"/>
                <a:ext cx="705" cy="108"/>
              </a:xfrm>
              <a:custGeom>
                <a:avLst/>
                <a:gdLst/>
                <a:ahLst/>
                <a:cxnLst>
                  <a:cxn ang="0">
                    <a:pos x="299" y="90"/>
                  </a:cxn>
                  <a:cxn ang="0">
                    <a:pos x="221" y="90"/>
                  </a:cxn>
                  <a:cxn ang="0">
                    <a:pos x="143" y="78"/>
                  </a:cxn>
                  <a:cxn ang="0">
                    <a:pos x="0" y="48"/>
                  </a:cxn>
                  <a:cxn ang="0">
                    <a:pos x="0" y="66"/>
                  </a:cxn>
                  <a:cxn ang="0">
                    <a:pos x="143" y="96"/>
                  </a:cxn>
                  <a:cxn ang="0">
                    <a:pos x="221" y="108"/>
                  </a:cxn>
                  <a:cxn ang="0">
                    <a:pos x="299" y="108"/>
                  </a:cxn>
                  <a:cxn ang="0">
                    <a:pos x="412" y="102"/>
                  </a:cxn>
                  <a:cxn ang="0">
                    <a:pos x="520" y="84"/>
                  </a:cxn>
                  <a:cxn ang="0">
                    <a:pos x="615" y="60"/>
                  </a:cxn>
                  <a:cxn ang="0">
                    <a:pos x="705" y="24"/>
                  </a:cxn>
                  <a:cxn ang="0">
                    <a:pos x="705" y="0"/>
                  </a:cxn>
                  <a:cxn ang="0">
                    <a:pos x="615" y="42"/>
                  </a:cxn>
                  <a:cxn ang="0">
                    <a:pos x="520" y="66"/>
                  </a:cxn>
                  <a:cxn ang="0">
                    <a:pos x="412" y="84"/>
                  </a:cxn>
                  <a:cxn ang="0">
                    <a:pos x="299" y="90"/>
                  </a:cxn>
                  <a:cxn ang="0">
                    <a:pos x="299" y="90"/>
                  </a:cxn>
                </a:cxnLst>
                <a:rect l="0" t="0" r="r" b="b"/>
                <a:pathLst>
                  <a:path w="705" h="108">
                    <a:moveTo>
                      <a:pt x="299" y="90"/>
                    </a:moveTo>
                    <a:lnTo>
                      <a:pt x="221" y="90"/>
                    </a:lnTo>
                    <a:lnTo>
                      <a:pt x="143" y="78"/>
                    </a:lnTo>
                    <a:lnTo>
                      <a:pt x="0" y="48"/>
                    </a:lnTo>
                    <a:lnTo>
                      <a:pt x="0" y="66"/>
                    </a:lnTo>
                    <a:lnTo>
                      <a:pt x="143" y="96"/>
                    </a:lnTo>
                    <a:lnTo>
                      <a:pt x="221" y="108"/>
                    </a:lnTo>
                    <a:lnTo>
                      <a:pt x="299" y="108"/>
                    </a:lnTo>
                    <a:lnTo>
                      <a:pt x="412" y="102"/>
                    </a:lnTo>
                    <a:lnTo>
                      <a:pt x="520" y="84"/>
                    </a:lnTo>
                    <a:lnTo>
                      <a:pt x="615" y="60"/>
                    </a:lnTo>
                    <a:lnTo>
                      <a:pt x="705" y="24"/>
                    </a:lnTo>
                    <a:lnTo>
                      <a:pt x="705" y="0"/>
                    </a:lnTo>
                    <a:lnTo>
                      <a:pt x="615" y="42"/>
                    </a:lnTo>
                    <a:lnTo>
                      <a:pt x="520" y="66"/>
                    </a:lnTo>
                    <a:lnTo>
                      <a:pt x="412" y="84"/>
                    </a:lnTo>
                    <a:lnTo>
                      <a:pt x="299" y="90"/>
                    </a:lnTo>
                    <a:lnTo>
                      <a:pt x="29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7" name="Freeform 41"/>
              <p:cNvSpPr>
                <a:spLocks/>
              </p:cNvSpPr>
              <p:nvPr/>
            </p:nvSpPr>
            <p:spPr bwMode="hidden">
              <a:xfrm>
                <a:off x="5336" y="3654"/>
                <a:ext cx="143" cy="341"/>
              </a:xfrm>
              <a:custGeom>
                <a:avLst/>
                <a:gdLst/>
                <a:ahLst/>
                <a:cxnLst>
                  <a:cxn ang="0">
                    <a:pos x="119" y="114"/>
                  </a:cxn>
                  <a:cxn ang="0">
                    <a:pos x="113" y="173"/>
                  </a:cxn>
                  <a:cxn ang="0">
                    <a:pos x="89" y="239"/>
                  </a:cxn>
                  <a:cxn ang="0">
                    <a:pos x="47" y="293"/>
                  </a:cxn>
                  <a:cxn ang="0">
                    <a:pos x="0" y="341"/>
                  </a:cxn>
                  <a:cxn ang="0">
                    <a:pos x="29" y="341"/>
                  </a:cxn>
                  <a:cxn ang="0">
                    <a:pos x="77" y="287"/>
                  </a:cxn>
                  <a:cxn ang="0">
                    <a:pos x="113" y="233"/>
                  </a:cxn>
                  <a:cxn ang="0">
                    <a:pos x="137" y="173"/>
                  </a:cxn>
                  <a:cxn ang="0">
                    <a:pos x="143" y="114"/>
                  </a:cxn>
                  <a:cxn ang="0">
                    <a:pos x="137" y="60"/>
                  </a:cxn>
                  <a:cxn ang="0">
                    <a:pos x="119" y="0"/>
                  </a:cxn>
                  <a:cxn ang="0">
                    <a:pos x="89" y="0"/>
                  </a:cxn>
                  <a:cxn ang="0">
                    <a:pos x="113" y="60"/>
                  </a:cxn>
                  <a:cxn ang="0">
                    <a:pos x="119" y="114"/>
                  </a:cxn>
                  <a:cxn ang="0">
                    <a:pos x="119" y="114"/>
                  </a:cxn>
                </a:cxnLst>
                <a:rect l="0" t="0" r="r" b="b"/>
                <a:pathLst>
                  <a:path w="143" h="341">
                    <a:moveTo>
                      <a:pt x="119" y="114"/>
                    </a:moveTo>
                    <a:lnTo>
                      <a:pt x="113" y="173"/>
                    </a:lnTo>
                    <a:lnTo>
                      <a:pt x="89" y="239"/>
                    </a:lnTo>
                    <a:lnTo>
                      <a:pt x="47" y="293"/>
                    </a:lnTo>
                    <a:lnTo>
                      <a:pt x="0" y="341"/>
                    </a:lnTo>
                    <a:lnTo>
                      <a:pt x="29" y="341"/>
                    </a:lnTo>
                    <a:lnTo>
                      <a:pt x="77" y="287"/>
                    </a:lnTo>
                    <a:lnTo>
                      <a:pt x="113" y="233"/>
                    </a:lnTo>
                    <a:lnTo>
                      <a:pt x="137" y="173"/>
                    </a:lnTo>
                    <a:lnTo>
                      <a:pt x="143" y="114"/>
                    </a:lnTo>
                    <a:lnTo>
                      <a:pt x="137" y="60"/>
                    </a:lnTo>
                    <a:lnTo>
                      <a:pt x="119" y="0"/>
                    </a:lnTo>
                    <a:lnTo>
                      <a:pt x="89" y="0"/>
                    </a:lnTo>
                    <a:lnTo>
                      <a:pt x="113" y="60"/>
                    </a:lnTo>
                    <a:lnTo>
                      <a:pt x="119" y="114"/>
                    </a:lnTo>
                    <a:lnTo>
                      <a:pt x="119" y="114"/>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8" name="Freeform 42"/>
              <p:cNvSpPr>
                <a:spLocks/>
              </p:cNvSpPr>
              <p:nvPr/>
            </p:nvSpPr>
            <p:spPr bwMode="hidden">
              <a:xfrm>
                <a:off x="5061" y="3624"/>
                <a:ext cx="83" cy="90"/>
              </a:xfrm>
              <a:custGeom>
                <a:avLst/>
                <a:gdLst/>
                <a:ahLst/>
                <a:cxnLst>
                  <a:cxn ang="0">
                    <a:pos x="59" y="90"/>
                  </a:cxn>
                  <a:cxn ang="0">
                    <a:pos x="83" y="84"/>
                  </a:cxn>
                  <a:cxn ang="0">
                    <a:pos x="71" y="60"/>
                  </a:cxn>
                  <a:cxn ang="0">
                    <a:pos x="53" y="42"/>
                  </a:cxn>
                  <a:cxn ang="0">
                    <a:pos x="6" y="0"/>
                  </a:cxn>
                  <a:cxn ang="0">
                    <a:pos x="0" y="18"/>
                  </a:cxn>
                  <a:cxn ang="0">
                    <a:pos x="35" y="48"/>
                  </a:cxn>
                  <a:cxn ang="0">
                    <a:pos x="59" y="90"/>
                  </a:cxn>
                  <a:cxn ang="0">
                    <a:pos x="59" y="90"/>
                  </a:cxn>
                </a:cxnLst>
                <a:rect l="0" t="0" r="r" b="b"/>
                <a:pathLst>
                  <a:path w="83" h="90">
                    <a:moveTo>
                      <a:pt x="59" y="90"/>
                    </a:moveTo>
                    <a:lnTo>
                      <a:pt x="83" y="84"/>
                    </a:lnTo>
                    <a:lnTo>
                      <a:pt x="71" y="60"/>
                    </a:lnTo>
                    <a:lnTo>
                      <a:pt x="53" y="42"/>
                    </a:lnTo>
                    <a:lnTo>
                      <a:pt x="6" y="0"/>
                    </a:lnTo>
                    <a:lnTo>
                      <a:pt x="0" y="18"/>
                    </a:lnTo>
                    <a:lnTo>
                      <a:pt x="35" y="48"/>
                    </a:lnTo>
                    <a:lnTo>
                      <a:pt x="59" y="90"/>
                    </a:lnTo>
                    <a:lnTo>
                      <a:pt x="5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9" name="Freeform 43"/>
              <p:cNvSpPr>
                <a:spLocks/>
              </p:cNvSpPr>
              <p:nvPr/>
            </p:nvSpPr>
            <p:spPr bwMode="hidden">
              <a:xfrm>
                <a:off x="4445" y="3552"/>
                <a:ext cx="717" cy="431"/>
              </a:xfrm>
              <a:custGeom>
                <a:avLst/>
                <a:gdLst/>
                <a:ahLst/>
                <a:cxnLst>
                  <a:cxn ang="0">
                    <a:pos x="693" y="216"/>
                  </a:cxn>
                  <a:cxn ang="0">
                    <a:pos x="687" y="257"/>
                  </a:cxn>
                  <a:cxn ang="0">
                    <a:pos x="669" y="293"/>
                  </a:cxn>
                  <a:cxn ang="0">
                    <a:pos x="633" y="329"/>
                  </a:cxn>
                  <a:cxn ang="0">
                    <a:pos x="598" y="359"/>
                  </a:cxn>
                  <a:cxn ang="0">
                    <a:pos x="544" y="383"/>
                  </a:cxn>
                  <a:cxn ang="0">
                    <a:pos x="490" y="401"/>
                  </a:cxn>
                  <a:cxn ang="0">
                    <a:pos x="424" y="413"/>
                  </a:cxn>
                  <a:cxn ang="0">
                    <a:pos x="359" y="419"/>
                  </a:cxn>
                  <a:cxn ang="0">
                    <a:pos x="293" y="413"/>
                  </a:cxn>
                  <a:cxn ang="0">
                    <a:pos x="227" y="401"/>
                  </a:cxn>
                  <a:cxn ang="0">
                    <a:pos x="173" y="383"/>
                  </a:cxn>
                  <a:cxn ang="0">
                    <a:pos x="119" y="359"/>
                  </a:cxn>
                  <a:cxn ang="0">
                    <a:pos x="84" y="329"/>
                  </a:cxn>
                  <a:cxn ang="0">
                    <a:pos x="48" y="293"/>
                  </a:cxn>
                  <a:cxn ang="0">
                    <a:pos x="30" y="257"/>
                  </a:cxn>
                  <a:cxn ang="0">
                    <a:pos x="24" y="216"/>
                  </a:cxn>
                  <a:cxn ang="0">
                    <a:pos x="30" y="174"/>
                  </a:cxn>
                  <a:cxn ang="0">
                    <a:pos x="48" y="138"/>
                  </a:cxn>
                  <a:cxn ang="0">
                    <a:pos x="84" y="102"/>
                  </a:cxn>
                  <a:cxn ang="0">
                    <a:pos x="119" y="72"/>
                  </a:cxn>
                  <a:cxn ang="0">
                    <a:pos x="173" y="48"/>
                  </a:cxn>
                  <a:cxn ang="0">
                    <a:pos x="227" y="30"/>
                  </a:cxn>
                  <a:cxn ang="0">
                    <a:pos x="293" y="18"/>
                  </a:cxn>
                  <a:cxn ang="0">
                    <a:pos x="359" y="12"/>
                  </a:cxn>
                  <a:cxn ang="0">
                    <a:pos x="418" y="18"/>
                  </a:cxn>
                  <a:cxn ang="0">
                    <a:pos x="478" y="30"/>
                  </a:cxn>
                  <a:cxn ang="0">
                    <a:pos x="532" y="48"/>
                  </a:cxn>
                  <a:cxn ang="0">
                    <a:pos x="580" y="66"/>
                  </a:cxn>
                  <a:cxn ang="0">
                    <a:pos x="586" y="48"/>
                  </a:cxn>
                  <a:cxn ang="0">
                    <a:pos x="478" y="12"/>
                  </a:cxn>
                  <a:cxn ang="0">
                    <a:pos x="418" y="6"/>
                  </a:cxn>
                  <a:cxn ang="0">
                    <a:pos x="359" y="0"/>
                  </a:cxn>
                  <a:cxn ang="0">
                    <a:pos x="287" y="6"/>
                  </a:cxn>
                  <a:cxn ang="0">
                    <a:pos x="221" y="18"/>
                  </a:cxn>
                  <a:cxn ang="0">
                    <a:pos x="161" y="36"/>
                  </a:cxn>
                  <a:cxn ang="0">
                    <a:pos x="107" y="66"/>
                  </a:cxn>
                  <a:cxn ang="0">
                    <a:pos x="60" y="96"/>
                  </a:cxn>
                  <a:cxn ang="0">
                    <a:pos x="30" y="132"/>
                  </a:cxn>
                  <a:cxn ang="0">
                    <a:pos x="6" y="174"/>
                  </a:cxn>
                  <a:cxn ang="0">
                    <a:pos x="0" y="216"/>
                  </a:cxn>
                  <a:cxn ang="0">
                    <a:pos x="6" y="257"/>
                  </a:cxn>
                  <a:cxn ang="0">
                    <a:pos x="30" y="299"/>
                  </a:cxn>
                  <a:cxn ang="0">
                    <a:pos x="60" y="335"/>
                  </a:cxn>
                  <a:cxn ang="0">
                    <a:pos x="107" y="371"/>
                  </a:cxn>
                  <a:cxn ang="0">
                    <a:pos x="161" y="395"/>
                  </a:cxn>
                  <a:cxn ang="0">
                    <a:pos x="221" y="413"/>
                  </a:cxn>
                  <a:cxn ang="0">
                    <a:pos x="287" y="425"/>
                  </a:cxn>
                  <a:cxn ang="0">
                    <a:pos x="359" y="431"/>
                  </a:cxn>
                  <a:cxn ang="0">
                    <a:pos x="430" y="425"/>
                  </a:cxn>
                  <a:cxn ang="0">
                    <a:pos x="496" y="413"/>
                  </a:cxn>
                  <a:cxn ang="0">
                    <a:pos x="562" y="395"/>
                  </a:cxn>
                  <a:cxn ang="0">
                    <a:pos x="610" y="371"/>
                  </a:cxn>
                  <a:cxn ang="0">
                    <a:pos x="657" y="335"/>
                  </a:cxn>
                  <a:cxn ang="0">
                    <a:pos x="687" y="299"/>
                  </a:cxn>
                  <a:cxn ang="0">
                    <a:pos x="711" y="257"/>
                  </a:cxn>
                  <a:cxn ang="0">
                    <a:pos x="717" y="216"/>
                  </a:cxn>
                  <a:cxn ang="0">
                    <a:pos x="717" y="204"/>
                  </a:cxn>
                  <a:cxn ang="0">
                    <a:pos x="711" y="192"/>
                  </a:cxn>
                  <a:cxn ang="0">
                    <a:pos x="687" y="198"/>
                  </a:cxn>
                  <a:cxn ang="0">
                    <a:pos x="693" y="210"/>
                  </a:cxn>
                  <a:cxn ang="0">
                    <a:pos x="693" y="216"/>
                  </a:cxn>
                  <a:cxn ang="0">
                    <a:pos x="693" y="216"/>
                  </a:cxn>
                </a:cxnLst>
                <a:rect l="0" t="0" r="r" b="b"/>
                <a:pathLst>
                  <a:path w="717" h="431">
                    <a:moveTo>
                      <a:pt x="693" y="216"/>
                    </a:moveTo>
                    <a:lnTo>
                      <a:pt x="687" y="257"/>
                    </a:lnTo>
                    <a:lnTo>
                      <a:pt x="669" y="293"/>
                    </a:lnTo>
                    <a:lnTo>
                      <a:pt x="633" y="329"/>
                    </a:lnTo>
                    <a:lnTo>
                      <a:pt x="598" y="359"/>
                    </a:lnTo>
                    <a:lnTo>
                      <a:pt x="544" y="383"/>
                    </a:lnTo>
                    <a:lnTo>
                      <a:pt x="490" y="401"/>
                    </a:lnTo>
                    <a:lnTo>
                      <a:pt x="424" y="413"/>
                    </a:lnTo>
                    <a:lnTo>
                      <a:pt x="359" y="419"/>
                    </a:lnTo>
                    <a:lnTo>
                      <a:pt x="293" y="413"/>
                    </a:lnTo>
                    <a:lnTo>
                      <a:pt x="227" y="401"/>
                    </a:lnTo>
                    <a:lnTo>
                      <a:pt x="173" y="383"/>
                    </a:lnTo>
                    <a:lnTo>
                      <a:pt x="119" y="359"/>
                    </a:lnTo>
                    <a:lnTo>
                      <a:pt x="84" y="329"/>
                    </a:lnTo>
                    <a:lnTo>
                      <a:pt x="48" y="293"/>
                    </a:lnTo>
                    <a:lnTo>
                      <a:pt x="30" y="257"/>
                    </a:lnTo>
                    <a:lnTo>
                      <a:pt x="24" y="216"/>
                    </a:lnTo>
                    <a:lnTo>
                      <a:pt x="30" y="174"/>
                    </a:lnTo>
                    <a:lnTo>
                      <a:pt x="48" y="138"/>
                    </a:lnTo>
                    <a:lnTo>
                      <a:pt x="84" y="102"/>
                    </a:lnTo>
                    <a:lnTo>
                      <a:pt x="119" y="72"/>
                    </a:lnTo>
                    <a:lnTo>
                      <a:pt x="173" y="48"/>
                    </a:lnTo>
                    <a:lnTo>
                      <a:pt x="227" y="30"/>
                    </a:lnTo>
                    <a:lnTo>
                      <a:pt x="293" y="18"/>
                    </a:lnTo>
                    <a:lnTo>
                      <a:pt x="359" y="12"/>
                    </a:lnTo>
                    <a:lnTo>
                      <a:pt x="418" y="18"/>
                    </a:lnTo>
                    <a:lnTo>
                      <a:pt x="478" y="30"/>
                    </a:lnTo>
                    <a:lnTo>
                      <a:pt x="532" y="48"/>
                    </a:lnTo>
                    <a:lnTo>
                      <a:pt x="580" y="66"/>
                    </a:lnTo>
                    <a:lnTo>
                      <a:pt x="586" y="48"/>
                    </a:lnTo>
                    <a:lnTo>
                      <a:pt x="478" y="12"/>
                    </a:lnTo>
                    <a:lnTo>
                      <a:pt x="418" y="6"/>
                    </a:lnTo>
                    <a:lnTo>
                      <a:pt x="359" y="0"/>
                    </a:lnTo>
                    <a:lnTo>
                      <a:pt x="287" y="6"/>
                    </a:lnTo>
                    <a:lnTo>
                      <a:pt x="221" y="18"/>
                    </a:lnTo>
                    <a:lnTo>
                      <a:pt x="161" y="36"/>
                    </a:lnTo>
                    <a:lnTo>
                      <a:pt x="107" y="66"/>
                    </a:lnTo>
                    <a:lnTo>
                      <a:pt x="60" y="96"/>
                    </a:lnTo>
                    <a:lnTo>
                      <a:pt x="30" y="132"/>
                    </a:lnTo>
                    <a:lnTo>
                      <a:pt x="6" y="174"/>
                    </a:lnTo>
                    <a:lnTo>
                      <a:pt x="0" y="216"/>
                    </a:lnTo>
                    <a:lnTo>
                      <a:pt x="6" y="257"/>
                    </a:lnTo>
                    <a:lnTo>
                      <a:pt x="30" y="299"/>
                    </a:lnTo>
                    <a:lnTo>
                      <a:pt x="60" y="335"/>
                    </a:lnTo>
                    <a:lnTo>
                      <a:pt x="107" y="371"/>
                    </a:lnTo>
                    <a:lnTo>
                      <a:pt x="161" y="395"/>
                    </a:lnTo>
                    <a:lnTo>
                      <a:pt x="221" y="413"/>
                    </a:lnTo>
                    <a:lnTo>
                      <a:pt x="287" y="425"/>
                    </a:lnTo>
                    <a:lnTo>
                      <a:pt x="359" y="431"/>
                    </a:lnTo>
                    <a:lnTo>
                      <a:pt x="430" y="425"/>
                    </a:lnTo>
                    <a:lnTo>
                      <a:pt x="496" y="413"/>
                    </a:lnTo>
                    <a:lnTo>
                      <a:pt x="562" y="395"/>
                    </a:lnTo>
                    <a:lnTo>
                      <a:pt x="610" y="371"/>
                    </a:lnTo>
                    <a:lnTo>
                      <a:pt x="657" y="335"/>
                    </a:lnTo>
                    <a:lnTo>
                      <a:pt x="687" y="299"/>
                    </a:lnTo>
                    <a:lnTo>
                      <a:pt x="711" y="257"/>
                    </a:lnTo>
                    <a:lnTo>
                      <a:pt x="717" y="216"/>
                    </a:lnTo>
                    <a:lnTo>
                      <a:pt x="717" y="204"/>
                    </a:lnTo>
                    <a:lnTo>
                      <a:pt x="711" y="192"/>
                    </a:lnTo>
                    <a:lnTo>
                      <a:pt x="687" y="198"/>
                    </a:lnTo>
                    <a:lnTo>
                      <a:pt x="693" y="210"/>
                    </a:lnTo>
                    <a:lnTo>
                      <a:pt x="693" y="216"/>
                    </a:lnTo>
                    <a:lnTo>
                      <a:pt x="693" y="216"/>
                    </a:lnTo>
                    <a:close/>
                  </a:path>
                </a:pathLst>
              </a:custGeom>
              <a:solidFill>
                <a:schemeClr val="accent2"/>
              </a:solidFill>
              <a:ln w="9525">
                <a:noFill/>
                <a:round/>
                <a:headEnd/>
                <a:tailEnd/>
              </a:ln>
            </p:spPr>
            <p:txBody>
              <a:bodyPr/>
              <a:lstStyle/>
              <a:p>
                <a:pPr>
                  <a:defRPr/>
                </a:pPr>
                <a:endParaRPr lang="en-US" sz="1800"/>
              </a:p>
            </p:txBody>
          </p:sp>
          <p:sp>
            <p:nvSpPr>
              <p:cNvPr id="30" name="Freeform 44"/>
              <p:cNvSpPr>
                <a:spLocks/>
              </p:cNvSpPr>
              <p:nvPr/>
            </p:nvSpPr>
            <p:spPr bwMode="hidden">
              <a:xfrm>
                <a:off x="4349" y="3510"/>
                <a:ext cx="909" cy="533"/>
              </a:xfrm>
              <a:custGeom>
                <a:avLst/>
                <a:gdLst/>
                <a:ahLst/>
                <a:cxnLst>
                  <a:cxn ang="0">
                    <a:pos x="616" y="0"/>
                  </a:cxn>
                  <a:cxn ang="0">
                    <a:pos x="616" y="18"/>
                  </a:cxn>
                  <a:cxn ang="0">
                    <a:pos x="724" y="60"/>
                  </a:cxn>
                  <a:cxn ang="0">
                    <a:pos x="765" y="84"/>
                  </a:cxn>
                  <a:cxn ang="0">
                    <a:pos x="807" y="114"/>
                  </a:cxn>
                  <a:cxn ang="0">
                    <a:pos x="837" y="144"/>
                  </a:cxn>
                  <a:cxn ang="0">
                    <a:pos x="861" y="180"/>
                  </a:cxn>
                  <a:cxn ang="0">
                    <a:pos x="873" y="216"/>
                  </a:cxn>
                  <a:cxn ang="0">
                    <a:pos x="879" y="258"/>
                  </a:cxn>
                  <a:cxn ang="0">
                    <a:pos x="873" y="311"/>
                  </a:cxn>
                  <a:cxn ang="0">
                    <a:pos x="843" y="359"/>
                  </a:cxn>
                  <a:cxn ang="0">
                    <a:pos x="807" y="401"/>
                  </a:cxn>
                  <a:cxn ang="0">
                    <a:pos x="753" y="443"/>
                  </a:cxn>
                  <a:cxn ang="0">
                    <a:pos x="694" y="473"/>
                  </a:cxn>
                  <a:cxn ang="0">
                    <a:pos x="622" y="497"/>
                  </a:cxn>
                  <a:cxn ang="0">
                    <a:pos x="538" y="509"/>
                  </a:cxn>
                  <a:cxn ang="0">
                    <a:pos x="455" y="515"/>
                  </a:cxn>
                  <a:cxn ang="0">
                    <a:pos x="371" y="509"/>
                  </a:cxn>
                  <a:cxn ang="0">
                    <a:pos x="287" y="497"/>
                  </a:cxn>
                  <a:cxn ang="0">
                    <a:pos x="215" y="473"/>
                  </a:cxn>
                  <a:cxn ang="0">
                    <a:pos x="156" y="443"/>
                  </a:cxn>
                  <a:cxn ang="0">
                    <a:pos x="102" y="401"/>
                  </a:cxn>
                  <a:cxn ang="0">
                    <a:pos x="66" y="359"/>
                  </a:cxn>
                  <a:cxn ang="0">
                    <a:pos x="36" y="311"/>
                  </a:cxn>
                  <a:cxn ang="0">
                    <a:pos x="30" y="258"/>
                  </a:cxn>
                  <a:cxn ang="0">
                    <a:pos x="36" y="222"/>
                  </a:cxn>
                  <a:cxn ang="0">
                    <a:pos x="48" y="186"/>
                  </a:cxn>
                  <a:cxn ang="0">
                    <a:pos x="66" y="156"/>
                  </a:cxn>
                  <a:cxn ang="0">
                    <a:pos x="90" y="126"/>
                  </a:cxn>
                  <a:cxn ang="0">
                    <a:pos x="66" y="114"/>
                  </a:cxn>
                  <a:cxn ang="0">
                    <a:pos x="36" y="144"/>
                  </a:cxn>
                  <a:cxn ang="0">
                    <a:pos x="18" y="180"/>
                  </a:cxn>
                  <a:cxn ang="0">
                    <a:pos x="6" y="216"/>
                  </a:cxn>
                  <a:cxn ang="0">
                    <a:pos x="0" y="258"/>
                  </a:cxn>
                  <a:cxn ang="0">
                    <a:pos x="12" y="311"/>
                  </a:cxn>
                  <a:cxn ang="0">
                    <a:pos x="36" y="365"/>
                  </a:cxn>
                  <a:cxn ang="0">
                    <a:pos x="78" y="413"/>
                  </a:cxn>
                  <a:cxn ang="0">
                    <a:pos x="132" y="449"/>
                  </a:cxn>
                  <a:cxn ang="0">
                    <a:pos x="203" y="485"/>
                  </a:cxn>
                  <a:cxn ang="0">
                    <a:pos x="275" y="509"/>
                  </a:cxn>
                  <a:cxn ang="0">
                    <a:pos x="365" y="527"/>
                  </a:cxn>
                  <a:cxn ang="0">
                    <a:pos x="455" y="533"/>
                  </a:cxn>
                  <a:cxn ang="0">
                    <a:pos x="544" y="527"/>
                  </a:cxn>
                  <a:cxn ang="0">
                    <a:pos x="634" y="509"/>
                  </a:cxn>
                  <a:cxn ang="0">
                    <a:pos x="712" y="485"/>
                  </a:cxn>
                  <a:cxn ang="0">
                    <a:pos x="777" y="449"/>
                  </a:cxn>
                  <a:cxn ang="0">
                    <a:pos x="831" y="413"/>
                  </a:cxn>
                  <a:cxn ang="0">
                    <a:pos x="873" y="365"/>
                  </a:cxn>
                  <a:cxn ang="0">
                    <a:pos x="897" y="311"/>
                  </a:cxn>
                  <a:cxn ang="0">
                    <a:pos x="909" y="258"/>
                  </a:cxn>
                  <a:cxn ang="0">
                    <a:pos x="903" y="216"/>
                  </a:cxn>
                  <a:cxn ang="0">
                    <a:pos x="885" y="174"/>
                  </a:cxn>
                  <a:cxn ang="0">
                    <a:pos x="861" y="132"/>
                  </a:cxn>
                  <a:cxn ang="0">
                    <a:pos x="825" y="102"/>
                  </a:cxn>
                  <a:cxn ang="0">
                    <a:pos x="783" y="66"/>
                  </a:cxn>
                  <a:cxn ang="0">
                    <a:pos x="735" y="42"/>
                  </a:cxn>
                  <a:cxn ang="0">
                    <a:pos x="616" y="0"/>
                  </a:cxn>
                  <a:cxn ang="0">
                    <a:pos x="616" y="0"/>
                  </a:cxn>
                </a:cxnLst>
                <a:rect l="0" t="0" r="r" b="b"/>
                <a:pathLst>
                  <a:path w="909" h="533">
                    <a:moveTo>
                      <a:pt x="616" y="0"/>
                    </a:moveTo>
                    <a:lnTo>
                      <a:pt x="616" y="18"/>
                    </a:lnTo>
                    <a:lnTo>
                      <a:pt x="724" y="60"/>
                    </a:lnTo>
                    <a:lnTo>
                      <a:pt x="765" y="84"/>
                    </a:lnTo>
                    <a:lnTo>
                      <a:pt x="807" y="114"/>
                    </a:lnTo>
                    <a:lnTo>
                      <a:pt x="837" y="144"/>
                    </a:lnTo>
                    <a:lnTo>
                      <a:pt x="861" y="180"/>
                    </a:lnTo>
                    <a:lnTo>
                      <a:pt x="873" y="216"/>
                    </a:lnTo>
                    <a:lnTo>
                      <a:pt x="879" y="258"/>
                    </a:lnTo>
                    <a:lnTo>
                      <a:pt x="873" y="311"/>
                    </a:lnTo>
                    <a:lnTo>
                      <a:pt x="843" y="359"/>
                    </a:lnTo>
                    <a:lnTo>
                      <a:pt x="807" y="401"/>
                    </a:lnTo>
                    <a:lnTo>
                      <a:pt x="753" y="443"/>
                    </a:lnTo>
                    <a:lnTo>
                      <a:pt x="694" y="473"/>
                    </a:lnTo>
                    <a:lnTo>
                      <a:pt x="622" y="497"/>
                    </a:lnTo>
                    <a:lnTo>
                      <a:pt x="538" y="509"/>
                    </a:lnTo>
                    <a:lnTo>
                      <a:pt x="455" y="515"/>
                    </a:lnTo>
                    <a:lnTo>
                      <a:pt x="371" y="509"/>
                    </a:lnTo>
                    <a:lnTo>
                      <a:pt x="287" y="497"/>
                    </a:lnTo>
                    <a:lnTo>
                      <a:pt x="215" y="473"/>
                    </a:lnTo>
                    <a:lnTo>
                      <a:pt x="156" y="443"/>
                    </a:lnTo>
                    <a:lnTo>
                      <a:pt x="102" y="401"/>
                    </a:lnTo>
                    <a:lnTo>
                      <a:pt x="66" y="359"/>
                    </a:lnTo>
                    <a:lnTo>
                      <a:pt x="36" y="311"/>
                    </a:lnTo>
                    <a:lnTo>
                      <a:pt x="30" y="258"/>
                    </a:lnTo>
                    <a:lnTo>
                      <a:pt x="36" y="222"/>
                    </a:lnTo>
                    <a:lnTo>
                      <a:pt x="48" y="186"/>
                    </a:lnTo>
                    <a:lnTo>
                      <a:pt x="66" y="156"/>
                    </a:lnTo>
                    <a:lnTo>
                      <a:pt x="90" y="126"/>
                    </a:lnTo>
                    <a:lnTo>
                      <a:pt x="66" y="114"/>
                    </a:lnTo>
                    <a:lnTo>
                      <a:pt x="36" y="144"/>
                    </a:lnTo>
                    <a:lnTo>
                      <a:pt x="18" y="180"/>
                    </a:lnTo>
                    <a:lnTo>
                      <a:pt x="6" y="216"/>
                    </a:lnTo>
                    <a:lnTo>
                      <a:pt x="0" y="258"/>
                    </a:lnTo>
                    <a:lnTo>
                      <a:pt x="12" y="311"/>
                    </a:lnTo>
                    <a:lnTo>
                      <a:pt x="36" y="365"/>
                    </a:lnTo>
                    <a:lnTo>
                      <a:pt x="78" y="413"/>
                    </a:lnTo>
                    <a:lnTo>
                      <a:pt x="132" y="449"/>
                    </a:lnTo>
                    <a:lnTo>
                      <a:pt x="203" y="485"/>
                    </a:lnTo>
                    <a:lnTo>
                      <a:pt x="275" y="509"/>
                    </a:lnTo>
                    <a:lnTo>
                      <a:pt x="365" y="527"/>
                    </a:lnTo>
                    <a:lnTo>
                      <a:pt x="455" y="533"/>
                    </a:lnTo>
                    <a:lnTo>
                      <a:pt x="544" y="527"/>
                    </a:lnTo>
                    <a:lnTo>
                      <a:pt x="634" y="509"/>
                    </a:lnTo>
                    <a:lnTo>
                      <a:pt x="712" y="485"/>
                    </a:lnTo>
                    <a:lnTo>
                      <a:pt x="777" y="449"/>
                    </a:lnTo>
                    <a:lnTo>
                      <a:pt x="831" y="413"/>
                    </a:lnTo>
                    <a:lnTo>
                      <a:pt x="873" y="365"/>
                    </a:lnTo>
                    <a:lnTo>
                      <a:pt x="897" y="311"/>
                    </a:lnTo>
                    <a:lnTo>
                      <a:pt x="909" y="258"/>
                    </a:lnTo>
                    <a:lnTo>
                      <a:pt x="903" y="216"/>
                    </a:lnTo>
                    <a:lnTo>
                      <a:pt x="885" y="174"/>
                    </a:lnTo>
                    <a:lnTo>
                      <a:pt x="861" y="132"/>
                    </a:lnTo>
                    <a:lnTo>
                      <a:pt x="825" y="102"/>
                    </a:lnTo>
                    <a:lnTo>
                      <a:pt x="783" y="66"/>
                    </a:lnTo>
                    <a:lnTo>
                      <a:pt x="735" y="42"/>
                    </a:lnTo>
                    <a:lnTo>
                      <a:pt x="616" y="0"/>
                    </a:lnTo>
                    <a:lnTo>
                      <a:pt x="616" y="0"/>
                    </a:lnTo>
                    <a:close/>
                  </a:path>
                </a:pathLst>
              </a:custGeom>
              <a:gradFill rotWithShape="0">
                <a:gsLst>
                  <a:gs pos="0">
                    <a:schemeClr val="accent2">
                      <a:gamma/>
                      <a:tint val="96863"/>
                      <a:invGamma/>
                    </a:schemeClr>
                  </a:gs>
                  <a:gs pos="100000">
                    <a:schemeClr val="accent2"/>
                  </a:gs>
                </a:gsLst>
                <a:lin ang="0" scaled="1"/>
              </a:gradFill>
              <a:ln w="9525">
                <a:noFill/>
                <a:round/>
                <a:headEnd/>
                <a:tailEnd/>
              </a:ln>
            </p:spPr>
            <p:txBody>
              <a:bodyPr/>
              <a:lstStyle/>
              <a:p>
                <a:pPr>
                  <a:defRPr/>
                </a:pPr>
                <a:endParaRPr lang="en-US" sz="1800"/>
              </a:p>
            </p:txBody>
          </p:sp>
          <p:sp>
            <p:nvSpPr>
              <p:cNvPr id="31" name="Freeform 45"/>
              <p:cNvSpPr>
                <a:spLocks/>
              </p:cNvSpPr>
              <p:nvPr/>
            </p:nvSpPr>
            <p:spPr bwMode="hidden">
              <a:xfrm>
                <a:off x="4564" y="3492"/>
                <a:ext cx="365" cy="66"/>
              </a:xfrm>
              <a:custGeom>
                <a:avLst/>
                <a:gdLst/>
                <a:ahLst/>
                <a:cxnLst>
                  <a:cxn ang="0">
                    <a:pos x="240" y="18"/>
                  </a:cxn>
                  <a:cxn ang="0">
                    <a:pos x="299" y="24"/>
                  </a:cxn>
                  <a:cxn ang="0">
                    <a:pos x="359" y="30"/>
                  </a:cxn>
                  <a:cxn ang="0">
                    <a:pos x="365" y="12"/>
                  </a:cxn>
                  <a:cxn ang="0">
                    <a:pos x="305" y="6"/>
                  </a:cxn>
                  <a:cxn ang="0">
                    <a:pos x="240" y="0"/>
                  </a:cxn>
                  <a:cxn ang="0">
                    <a:pos x="174" y="6"/>
                  </a:cxn>
                  <a:cxn ang="0">
                    <a:pos x="114" y="12"/>
                  </a:cxn>
                  <a:cxn ang="0">
                    <a:pos x="0" y="42"/>
                  </a:cxn>
                  <a:cxn ang="0">
                    <a:pos x="0" y="66"/>
                  </a:cxn>
                  <a:cxn ang="0">
                    <a:pos x="54" y="48"/>
                  </a:cxn>
                  <a:cxn ang="0">
                    <a:pos x="114" y="30"/>
                  </a:cxn>
                  <a:cxn ang="0">
                    <a:pos x="174" y="24"/>
                  </a:cxn>
                  <a:cxn ang="0">
                    <a:pos x="240" y="18"/>
                  </a:cxn>
                  <a:cxn ang="0">
                    <a:pos x="240" y="18"/>
                  </a:cxn>
                </a:cxnLst>
                <a:rect l="0" t="0" r="r" b="b"/>
                <a:pathLst>
                  <a:path w="365" h="66">
                    <a:moveTo>
                      <a:pt x="240" y="18"/>
                    </a:moveTo>
                    <a:lnTo>
                      <a:pt x="299" y="24"/>
                    </a:lnTo>
                    <a:lnTo>
                      <a:pt x="359" y="30"/>
                    </a:lnTo>
                    <a:lnTo>
                      <a:pt x="365" y="12"/>
                    </a:lnTo>
                    <a:lnTo>
                      <a:pt x="305" y="6"/>
                    </a:lnTo>
                    <a:lnTo>
                      <a:pt x="240" y="0"/>
                    </a:lnTo>
                    <a:lnTo>
                      <a:pt x="174" y="6"/>
                    </a:lnTo>
                    <a:lnTo>
                      <a:pt x="114" y="12"/>
                    </a:lnTo>
                    <a:lnTo>
                      <a:pt x="0" y="42"/>
                    </a:lnTo>
                    <a:lnTo>
                      <a:pt x="0" y="66"/>
                    </a:lnTo>
                    <a:lnTo>
                      <a:pt x="54" y="48"/>
                    </a:lnTo>
                    <a:lnTo>
                      <a:pt x="114" y="30"/>
                    </a:lnTo>
                    <a:lnTo>
                      <a:pt x="174" y="24"/>
                    </a:lnTo>
                    <a:lnTo>
                      <a:pt x="240" y="18"/>
                    </a:lnTo>
                    <a:lnTo>
                      <a:pt x="240"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32" name="Freeform 46"/>
              <p:cNvSpPr>
                <a:spLocks/>
              </p:cNvSpPr>
              <p:nvPr/>
            </p:nvSpPr>
            <p:spPr bwMode="hidden">
              <a:xfrm>
                <a:off x="4463" y="3558"/>
                <a:ext cx="66" cy="48"/>
              </a:xfrm>
              <a:custGeom>
                <a:avLst/>
                <a:gdLst/>
                <a:ahLst/>
                <a:cxnLst>
                  <a:cxn ang="0">
                    <a:pos x="66" y="18"/>
                  </a:cxn>
                  <a:cxn ang="0">
                    <a:pos x="48" y="0"/>
                  </a:cxn>
                  <a:cxn ang="0">
                    <a:pos x="24" y="12"/>
                  </a:cxn>
                  <a:cxn ang="0">
                    <a:pos x="0" y="30"/>
                  </a:cxn>
                  <a:cxn ang="0">
                    <a:pos x="12" y="48"/>
                  </a:cxn>
                  <a:cxn ang="0">
                    <a:pos x="42" y="30"/>
                  </a:cxn>
                  <a:cxn ang="0">
                    <a:pos x="66" y="18"/>
                  </a:cxn>
                  <a:cxn ang="0">
                    <a:pos x="66" y="18"/>
                  </a:cxn>
                </a:cxnLst>
                <a:rect l="0" t="0" r="r" b="b"/>
                <a:pathLst>
                  <a:path w="66" h="48">
                    <a:moveTo>
                      <a:pt x="66" y="18"/>
                    </a:moveTo>
                    <a:lnTo>
                      <a:pt x="48" y="0"/>
                    </a:lnTo>
                    <a:lnTo>
                      <a:pt x="24" y="12"/>
                    </a:lnTo>
                    <a:lnTo>
                      <a:pt x="0" y="30"/>
                    </a:lnTo>
                    <a:lnTo>
                      <a:pt x="12" y="48"/>
                    </a:lnTo>
                    <a:lnTo>
                      <a:pt x="42" y="30"/>
                    </a:lnTo>
                    <a:lnTo>
                      <a:pt x="66" y="18"/>
                    </a:lnTo>
                    <a:lnTo>
                      <a:pt x="66"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33" name="Oval 47"/>
              <p:cNvSpPr>
                <a:spLocks noChangeArrowheads="1"/>
              </p:cNvSpPr>
              <p:nvPr/>
            </p:nvSpPr>
            <p:spPr bwMode="hidden">
              <a:xfrm>
                <a:off x="4546" y="3608"/>
                <a:ext cx="518" cy="319"/>
              </a:xfrm>
              <a:prstGeom prst="ellipse">
                <a:avLst/>
              </a:prstGeom>
              <a:gradFill rotWithShape="0">
                <a:gsLst>
                  <a:gs pos="0">
                    <a:schemeClr val="accent2">
                      <a:gamma/>
                      <a:shade val="94118"/>
                      <a:invGamma/>
                    </a:schemeClr>
                  </a:gs>
                  <a:gs pos="100000">
                    <a:schemeClr val="accent2"/>
                  </a:gs>
                </a:gsLst>
                <a:lin ang="0" scaled="1"/>
              </a:gradFill>
              <a:ln w="9525">
                <a:noFill/>
                <a:round/>
                <a:headEnd/>
                <a:tailEnd/>
              </a:ln>
              <a:effectLst/>
            </p:spPr>
            <p:txBody>
              <a:bodyPr/>
              <a:lstStyle/>
              <a:p>
                <a:pPr>
                  <a:defRPr/>
                </a:pPr>
                <a:endParaRPr lang="en-US" sz="1800"/>
              </a:p>
            </p:txBody>
          </p:sp>
          <p:sp>
            <p:nvSpPr>
              <p:cNvPr id="34" name="Oval 48"/>
              <p:cNvSpPr>
                <a:spLocks noChangeArrowheads="1"/>
              </p:cNvSpPr>
              <p:nvPr/>
            </p:nvSpPr>
            <p:spPr bwMode="hidden">
              <a:xfrm>
                <a:off x="4578" y="3630"/>
                <a:ext cx="446" cy="271"/>
              </a:xfrm>
              <a:prstGeom prst="ellipse">
                <a:avLst/>
              </a:prstGeom>
              <a:gradFill rotWithShape="0">
                <a:gsLst>
                  <a:gs pos="0">
                    <a:schemeClr val="accent2">
                      <a:gamma/>
                      <a:tint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35" name="Oval 49"/>
              <p:cNvSpPr>
                <a:spLocks noChangeArrowheads="1"/>
              </p:cNvSpPr>
              <p:nvPr/>
            </p:nvSpPr>
            <p:spPr bwMode="hidden">
              <a:xfrm>
                <a:off x="4610" y="3650"/>
                <a:ext cx="386" cy="233"/>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36" name="Oval 50"/>
              <p:cNvSpPr>
                <a:spLocks noChangeArrowheads="1"/>
              </p:cNvSpPr>
              <p:nvPr/>
            </p:nvSpPr>
            <p:spPr bwMode="hidden">
              <a:xfrm>
                <a:off x="4654" y="3678"/>
                <a:ext cx="298" cy="177"/>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37" name="Oval 51"/>
              <p:cNvSpPr>
                <a:spLocks noChangeArrowheads="1"/>
              </p:cNvSpPr>
              <p:nvPr/>
            </p:nvSpPr>
            <p:spPr bwMode="hidden">
              <a:xfrm>
                <a:off x="4690" y="3698"/>
                <a:ext cx="222" cy="139"/>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38" name="Oval 52"/>
              <p:cNvSpPr>
                <a:spLocks noChangeArrowheads="1"/>
              </p:cNvSpPr>
              <p:nvPr/>
            </p:nvSpPr>
            <p:spPr bwMode="hidden">
              <a:xfrm>
                <a:off x="4738" y="3728"/>
                <a:ext cx="126" cy="81"/>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9" name="Group 53"/>
            <p:cNvGrpSpPr>
              <a:grpSpLocks/>
            </p:cNvGrpSpPr>
            <p:nvPr userDrawn="1"/>
          </p:nvGrpSpPr>
          <p:grpSpPr bwMode="auto">
            <a:xfrm>
              <a:off x="5280" y="3024"/>
              <a:ext cx="425" cy="258"/>
              <a:chOff x="5280" y="3024"/>
              <a:chExt cx="425" cy="258"/>
            </a:xfrm>
          </p:grpSpPr>
          <p:sp>
            <p:nvSpPr>
              <p:cNvPr id="10" name="Freeform 54"/>
              <p:cNvSpPr>
                <a:spLocks/>
              </p:cNvSpPr>
              <p:nvPr/>
            </p:nvSpPr>
            <p:spPr bwMode="hidden">
              <a:xfrm>
                <a:off x="5280" y="3186"/>
                <a:ext cx="383" cy="96"/>
              </a:xfrm>
              <a:custGeom>
                <a:avLst/>
                <a:gdLst/>
                <a:ahLst/>
                <a:cxnLst>
                  <a:cxn ang="0">
                    <a:pos x="209" y="96"/>
                  </a:cxn>
                  <a:cxn ang="0">
                    <a:pos x="143" y="90"/>
                  </a:cxn>
                  <a:cxn ang="0">
                    <a:pos x="83" y="66"/>
                  </a:cxn>
                  <a:cxn ang="0">
                    <a:pos x="35" y="36"/>
                  </a:cxn>
                  <a:cxn ang="0">
                    <a:pos x="6" y="0"/>
                  </a:cxn>
                  <a:cxn ang="0">
                    <a:pos x="0" y="6"/>
                  </a:cxn>
                  <a:cxn ang="0">
                    <a:pos x="29" y="42"/>
                  </a:cxn>
                  <a:cxn ang="0">
                    <a:pos x="77" y="72"/>
                  </a:cxn>
                  <a:cxn ang="0">
                    <a:pos x="137" y="90"/>
                  </a:cxn>
                  <a:cxn ang="0">
                    <a:pos x="209" y="96"/>
                  </a:cxn>
                  <a:cxn ang="0">
                    <a:pos x="263" y="90"/>
                  </a:cxn>
                  <a:cxn ang="0">
                    <a:pos x="311" y="84"/>
                  </a:cxn>
                  <a:cxn ang="0">
                    <a:pos x="352" y="66"/>
                  </a:cxn>
                  <a:cxn ang="0">
                    <a:pos x="382" y="42"/>
                  </a:cxn>
                  <a:cxn ang="0">
                    <a:pos x="376" y="42"/>
                  </a:cxn>
                  <a:cxn ang="0">
                    <a:pos x="346" y="66"/>
                  </a:cxn>
                  <a:cxn ang="0">
                    <a:pos x="305" y="78"/>
                  </a:cxn>
                  <a:cxn ang="0">
                    <a:pos x="263" y="90"/>
                  </a:cxn>
                  <a:cxn ang="0">
                    <a:pos x="209" y="96"/>
                  </a:cxn>
                  <a:cxn ang="0">
                    <a:pos x="209" y="96"/>
                  </a:cxn>
                </a:cxnLst>
                <a:rect l="0" t="0" r="r" b="b"/>
                <a:pathLst>
                  <a:path w="382" h="96">
                    <a:moveTo>
                      <a:pt x="209" y="96"/>
                    </a:moveTo>
                    <a:lnTo>
                      <a:pt x="143" y="90"/>
                    </a:lnTo>
                    <a:lnTo>
                      <a:pt x="83" y="66"/>
                    </a:lnTo>
                    <a:lnTo>
                      <a:pt x="35" y="36"/>
                    </a:lnTo>
                    <a:lnTo>
                      <a:pt x="6" y="0"/>
                    </a:lnTo>
                    <a:lnTo>
                      <a:pt x="0" y="6"/>
                    </a:lnTo>
                    <a:lnTo>
                      <a:pt x="29" y="42"/>
                    </a:lnTo>
                    <a:lnTo>
                      <a:pt x="77" y="72"/>
                    </a:lnTo>
                    <a:lnTo>
                      <a:pt x="137" y="90"/>
                    </a:lnTo>
                    <a:lnTo>
                      <a:pt x="209" y="96"/>
                    </a:lnTo>
                    <a:lnTo>
                      <a:pt x="263" y="90"/>
                    </a:lnTo>
                    <a:lnTo>
                      <a:pt x="311" y="84"/>
                    </a:lnTo>
                    <a:lnTo>
                      <a:pt x="352" y="66"/>
                    </a:lnTo>
                    <a:lnTo>
                      <a:pt x="382" y="42"/>
                    </a:lnTo>
                    <a:lnTo>
                      <a:pt x="376" y="42"/>
                    </a:lnTo>
                    <a:lnTo>
                      <a:pt x="346" y="66"/>
                    </a:lnTo>
                    <a:lnTo>
                      <a:pt x="305" y="78"/>
                    </a:lnTo>
                    <a:lnTo>
                      <a:pt x="263" y="90"/>
                    </a:lnTo>
                    <a:lnTo>
                      <a:pt x="209" y="96"/>
                    </a:lnTo>
                    <a:lnTo>
                      <a:pt x="209" y="96"/>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1" name="Freeform 55"/>
              <p:cNvSpPr>
                <a:spLocks/>
              </p:cNvSpPr>
              <p:nvPr/>
            </p:nvSpPr>
            <p:spPr bwMode="hidden">
              <a:xfrm>
                <a:off x="5315" y="3024"/>
                <a:ext cx="258" cy="54"/>
              </a:xfrm>
              <a:custGeom>
                <a:avLst/>
                <a:gdLst/>
                <a:ahLst/>
                <a:cxnLst>
                  <a:cxn ang="0">
                    <a:pos x="174" y="0"/>
                  </a:cxn>
                  <a:cxn ang="0">
                    <a:pos x="216" y="6"/>
                  </a:cxn>
                  <a:cxn ang="0">
                    <a:pos x="258" y="12"/>
                  </a:cxn>
                  <a:cxn ang="0">
                    <a:pos x="252" y="6"/>
                  </a:cxn>
                  <a:cxn ang="0">
                    <a:pos x="216" y="0"/>
                  </a:cxn>
                  <a:cxn ang="0">
                    <a:pos x="174" y="0"/>
                  </a:cxn>
                  <a:cxn ang="0">
                    <a:pos x="120" y="6"/>
                  </a:cxn>
                  <a:cxn ang="0">
                    <a:pos x="78" y="12"/>
                  </a:cxn>
                  <a:cxn ang="0">
                    <a:pos x="36" y="30"/>
                  </a:cxn>
                  <a:cxn ang="0">
                    <a:pos x="0" y="48"/>
                  </a:cxn>
                  <a:cxn ang="0">
                    <a:pos x="6" y="54"/>
                  </a:cxn>
                  <a:cxn ang="0">
                    <a:pos x="36" y="36"/>
                  </a:cxn>
                  <a:cxn ang="0">
                    <a:pos x="78" y="18"/>
                  </a:cxn>
                  <a:cxn ang="0">
                    <a:pos x="120" y="6"/>
                  </a:cxn>
                  <a:cxn ang="0">
                    <a:pos x="174" y="0"/>
                  </a:cxn>
                  <a:cxn ang="0">
                    <a:pos x="174" y="0"/>
                  </a:cxn>
                </a:cxnLst>
                <a:rect l="0" t="0" r="r" b="b"/>
                <a:pathLst>
                  <a:path w="258" h="54">
                    <a:moveTo>
                      <a:pt x="174" y="0"/>
                    </a:moveTo>
                    <a:lnTo>
                      <a:pt x="216" y="6"/>
                    </a:lnTo>
                    <a:lnTo>
                      <a:pt x="258" y="12"/>
                    </a:lnTo>
                    <a:lnTo>
                      <a:pt x="252" y="6"/>
                    </a:lnTo>
                    <a:lnTo>
                      <a:pt x="216" y="0"/>
                    </a:lnTo>
                    <a:lnTo>
                      <a:pt x="174" y="0"/>
                    </a:lnTo>
                    <a:lnTo>
                      <a:pt x="120" y="6"/>
                    </a:lnTo>
                    <a:lnTo>
                      <a:pt x="78" y="12"/>
                    </a:lnTo>
                    <a:lnTo>
                      <a:pt x="36" y="30"/>
                    </a:lnTo>
                    <a:lnTo>
                      <a:pt x="0" y="48"/>
                    </a:lnTo>
                    <a:lnTo>
                      <a:pt x="6" y="54"/>
                    </a:lnTo>
                    <a:lnTo>
                      <a:pt x="36" y="36"/>
                    </a:lnTo>
                    <a:lnTo>
                      <a:pt x="78" y="18"/>
                    </a:lnTo>
                    <a:lnTo>
                      <a:pt x="120" y="6"/>
                    </a:lnTo>
                    <a:lnTo>
                      <a:pt x="174" y="0"/>
                    </a:lnTo>
                    <a:lnTo>
                      <a:pt x="174" y="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2" name="Freeform 56"/>
              <p:cNvSpPr>
                <a:spLocks/>
              </p:cNvSpPr>
              <p:nvPr/>
            </p:nvSpPr>
            <p:spPr bwMode="hidden">
              <a:xfrm>
                <a:off x="5645" y="3066"/>
                <a:ext cx="60" cy="156"/>
              </a:xfrm>
              <a:custGeom>
                <a:avLst/>
                <a:gdLst/>
                <a:ahLst/>
                <a:cxnLst>
                  <a:cxn ang="0">
                    <a:pos x="54" y="90"/>
                  </a:cxn>
                  <a:cxn ang="0">
                    <a:pos x="48" y="126"/>
                  </a:cxn>
                  <a:cxn ang="0">
                    <a:pos x="24" y="156"/>
                  </a:cxn>
                  <a:cxn ang="0">
                    <a:pos x="30" y="156"/>
                  </a:cxn>
                  <a:cxn ang="0">
                    <a:pos x="54" y="126"/>
                  </a:cxn>
                  <a:cxn ang="0">
                    <a:pos x="60" y="90"/>
                  </a:cxn>
                  <a:cxn ang="0">
                    <a:pos x="54" y="66"/>
                  </a:cxn>
                  <a:cxn ang="0">
                    <a:pos x="48" y="42"/>
                  </a:cxn>
                  <a:cxn ang="0">
                    <a:pos x="30" y="18"/>
                  </a:cxn>
                  <a:cxn ang="0">
                    <a:pos x="6" y="0"/>
                  </a:cxn>
                  <a:cxn ang="0">
                    <a:pos x="0" y="6"/>
                  </a:cxn>
                  <a:cxn ang="0">
                    <a:pos x="24" y="24"/>
                  </a:cxn>
                  <a:cxn ang="0">
                    <a:pos x="42" y="42"/>
                  </a:cxn>
                  <a:cxn ang="0">
                    <a:pos x="48" y="66"/>
                  </a:cxn>
                  <a:cxn ang="0">
                    <a:pos x="54" y="90"/>
                  </a:cxn>
                  <a:cxn ang="0">
                    <a:pos x="54" y="90"/>
                  </a:cxn>
                </a:cxnLst>
                <a:rect l="0" t="0" r="r" b="b"/>
                <a:pathLst>
                  <a:path w="60" h="156">
                    <a:moveTo>
                      <a:pt x="54" y="90"/>
                    </a:moveTo>
                    <a:lnTo>
                      <a:pt x="48" y="126"/>
                    </a:lnTo>
                    <a:lnTo>
                      <a:pt x="24" y="156"/>
                    </a:lnTo>
                    <a:lnTo>
                      <a:pt x="30" y="156"/>
                    </a:lnTo>
                    <a:lnTo>
                      <a:pt x="54" y="126"/>
                    </a:lnTo>
                    <a:lnTo>
                      <a:pt x="60" y="90"/>
                    </a:lnTo>
                    <a:lnTo>
                      <a:pt x="54" y="66"/>
                    </a:lnTo>
                    <a:lnTo>
                      <a:pt x="48" y="42"/>
                    </a:lnTo>
                    <a:lnTo>
                      <a:pt x="30" y="18"/>
                    </a:lnTo>
                    <a:lnTo>
                      <a:pt x="6" y="0"/>
                    </a:lnTo>
                    <a:lnTo>
                      <a:pt x="0" y="6"/>
                    </a:lnTo>
                    <a:lnTo>
                      <a:pt x="24" y="24"/>
                    </a:lnTo>
                    <a:lnTo>
                      <a:pt x="42" y="42"/>
                    </a:lnTo>
                    <a:lnTo>
                      <a:pt x="48" y="66"/>
                    </a:lnTo>
                    <a:lnTo>
                      <a:pt x="54" y="90"/>
                    </a:lnTo>
                    <a:lnTo>
                      <a:pt x="54" y="9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3" name="Freeform 57"/>
              <p:cNvSpPr>
                <a:spLocks/>
              </p:cNvSpPr>
              <p:nvPr/>
            </p:nvSpPr>
            <p:spPr bwMode="hidden">
              <a:xfrm>
                <a:off x="5375" y="3246"/>
                <a:ext cx="192" cy="18"/>
              </a:xfrm>
              <a:custGeom>
                <a:avLst/>
                <a:gdLst/>
                <a:ahLst/>
                <a:cxnLst>
                  <a:cxn ang="0">
                    <a:pos x="114" y="12"/>
                  </a:cxn>
                  <a:cxn ang="0">
                    <a:pos x="72" y="6"/>
                  </a:cxn>
                  <a:cxn ang="0">
                    <a:pos x="30" y="0"/>
                  </a:cxn>
                  <a:cxn ang="0">
                    <a:pos x="0" y="0"/>
                  </a:cxn>
                  <a:cxn ang="0">
                    <a:pos x="54" y="12"/>
                  </a:cxn>
                  <a:cxn ang="0">
                    <a:pos x="114" y="18"/>
                  </a:cxn>
                  <a:cxn ang="0">
                    <a:pos x="156" y="18"/>
                  </a:cxn>
                  <a:cxn ang="0">
                    <a:pos x="192" y="12"/>
                  </a:cxn>
                  <a:cxn ang="0">
                    <a:pos x="186" y="0"/>
                  </a:cxn>
                  <a:cxn ang="0">
                    <a:pos x="150" y="6"/>
                  </a:cxn>
                  <a:cxn ang="0">
                    <a:pos x="114" y="12"/>
                  </a:cxn>
                  <a:cxn ang="0">
                    <a:pos x="114" y="12"/>
                  </a:cxn>
                </a:cxnLst>
                <a:rect l="0" t="0" r="r" b="b"/>
                <a:pathLst>
                  <a:path w="192" h="18">
                    <a:moveTo>
                      <a:pt x="114" y="12"/>
                    </a:moveTo>
                    <a:lnTo>
                      <a:pt x="72" y="6"/>
                    </a:lnTo>
                    <a:lnTo>
                      <a:pt x="30" y="0"/>
                    </a:lnTo>
                    <a:lnTo>
                      <a:pt x="0" y="0"/>
                    </a:lnTo>
                    <a:lnTo>
                      <a:pt x="54" y="12"/>
                    </a:lnTo>
                    <a:lnTo>
                      <a:pt x="114" y="18"/>
                    </a:lnTo>
                    <a:lnTo>
                      <a:pt x="156" y="18"/>
                    </a:lnTo>
                    <a:lnTo>
                      <a:pt x="192" y="12"/>
                    </a:lnTo>
                    <a:lnTo>
                      <a:pt x="186" y="0"/>
                    </a:lnTo>
                    <a:lnTo>
                      <a:pt x="150" y="6"/>
                    </a:lnTo>
                    <a:lnTo>
                      <a:pt x="114" y="12"/>
                    </a:lnTo>
                    <a:lnTo>
                      <a:pt x="114" y="12"/>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4" name="Freeform 58"/>
              <p:cNvSpPr>
                <a:spLocks/>
              </p:cNvSpPr>
              <p:nvPr/>
            </p:nvSpPr>
            <p:spPr bwMode="hidden">
              <a:xfrm>
                <a:off x="5304" y="3042"/>
                <a:ext cx="161" cy="186"/>
              </a:xfrm>
              <a:custGeom>
                <a:avLst/>
                <a:gdLst/>
                <a:ahLst/>
                <a:cxnLst>
                  <a:cxn ang="0">
                    <a:pos x="11" y="114"/>
                  </a:cxn>
                  <a:cxn ang="0">
                    <a:pos x="17" y="96"/>
                  </a:cxn>
                  <a:cxn ang="0">
                    <a:pos x="23" y="78"/>
                  </a:cxn>
                  <a:cxn ang="0">
                    <a:pos x="53" y="42"/>
                  </a:cxn>
                  <a:cxn ang="0">
                    <a:pos x="101" y="18"/>
                  </a:cxn>
                  <a:cxn ang="0">
                    <a:pos x="155" y="6"/>
                  </a:cxn>
                  <a:cxn ang="0">
                    <a:pos x="161" y="0"/>
                  </a:cxn>
                  <a:cxn ang="0">
                    <a:pos x="95" y="12"/>
                  </a:cxn>
                  <a:cxn ang="0">
                    <a:pos x="47" y="36"/>
                  </a:cxn>
                  <a:cxn ang="0">
                    <a:pos x="11" y="72"/>
                  </a:cxn>
                  <a:cxn ang="0">
                    <a:pos x="5" y="90"/>
                  </a:cxn>
                  <a:cxn ang="0">
                    <a:pos x="0" y="114"/>
                  </a:cxn>
                  <a:cxn ang="0">
                    <a:pos x="11" y="150"/>
                  </a:cxn>
                  <a:cxn ang="0">
                    <a:pos x="23" y="168"/>
                  </a:cxn>
                  <a:cxn ang="0">
                    <a:pos x="41" y="186"/>
                  </a:cxn>
                  <a:cxn ang="0">
                    <a:pos x="65" y="186"/>
                  </a:cxn>
                  <a:cxn ang="0">
                    <a:pos x="41" y="168"/>
                  </a:cxn>
                  <a:cxn ang="0">
                    <a:pos x="23" y="150"/>
                  </a:cxn>
                  <a:cxn ang="0">
                    <a:pos x="17" y="132"/>
                  </a:cxn>
                  <a:cxn ang="0">
                    <a:pos x="11" y="114"/>
                  </a:cxn>
                  <a:cxn ang="0">
                    <a:pos x="11" y="114"/>
                  </a:cxn>
                </a:cxnLst>
                <a:rect l="0" t="0" r="r" b="b"/>
                <a:pathLst>
                  <a:path w="161" h="186">
                    <a:moveTo>
                      <a:pt x="11" y="114"/>
                    </a:moveTo>
                    <a:lnTo>
                      <a:pt x="17" y="96"/>
                    </a:lnTo>
                    <a:lnTo>
                      <a:pt x="23" y="78"/>
                    </a:lnTo>
                    <a:lnTo>
                      <a:pt x="53" y="42"/>
                    </a:lnTo>
                    <a:lnTo>
                      <a:pt x="101" y="18"/>
                    </a:lnTo>
                    <a:lnTo>
                      <a:pt x="155" y="6"/>
                    </a:lnTo>
                    <a:lnTo>
                      <a:pt x="161" y="0"/>
                    </a:lnTo>
                    <a:lnTo>
                      <a:pt x="95" y="12"/>
                    </a:lnTo>
                    <a:lnTo>
                      <a:pt x="47" y="36"/>
                    </a:lnTo>
                    <a:lnTo>
                      <a:pt x="11" y="72"/>
                    </a:lnTo>
                    <a:lnTo>
                      <a:pt x="5" y="90"/>
                    </a:lnTo>
                    <a:lnTo>
                      <a:pt x="0" y="114"/>
                    </a:lnTo>
                    <a:lnTo>
                      <a:pt x="11" y="150"/>
                    </a:lnTo>
                    <a:lnTo>
                      <a:pt x="23" y="168"/>
                    </a:lnTo>
                    <a:lnTo>
                      <a:pt x="41" y="186"/>
                    </a:lnTo>
                    <a:lnTo>
                      <a:pt x="65" y="186"/>
                    </a:lnTo>
                    <a:lnTo>
                      <a:pt x="41" y="168"/>
                    </a:lnTo>
                    <a:lnTo>
                      <a:pt x="23" y="150"/>
                    </a:lnTo>
                    <a:lnTo>
                      <a:pt x="17" y="132"/>
                    </a:lnTo>
                    <a:lnTo>
                      <a:pt x="11" y="114"/>
                    </a:lnTo>
                    <a:lnTo>
                      <a:pt x="11" y="114"/>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15" name="Freeform 59"/>
              <p:cNvSpPr>
                <a:spLocks/>
              </p:cNvSpPr>
              <p:nvPr/>
            </p:nvSpPr>
            <p:spPr bwMode="hidden">
              <a:xfrm>
                <a:off x="5489" y="3042"/>
                <a:ext cx="186" cy="210"/>
              </a:xfrm>
              <a:custGeom>
                <a:avLst/>
                <a:gdLst/>
                <a:ahLst/>
                <a:cxnLst>
                  <a:cxn ang="0">
                    <a:pos x="0" y="6"/>
                  </a:cxn>
                  <a:cxn ang="0">
                    <a:pos x="66" y="12"/>
                  </a:cxn>
                  <a:cxn ang="0">
                    <a:pos x="119" y="36"/>
                  </a:cxn>
                  <a:cxn ang="0">
                    <a:pos x="155" y="72"/>
                  </a:cxn>
                  <a:cxn ang="0">
                    <a:pos x="161" y="90"/>
                  </a:cxn>
                  <a:cxn ang="0">
                    <a:pos x="167" y="114"/>
                  </a:cxn>
                  <a:cxn ang="0">
                    <a:pos x="161" y="138"/>
                  </a:cxn>
                  <a:cxn ang="0">
                    <a:pos x="149" y="162"/>
                  </a:cxn>
                  <a:cxn ang="0">
                    <a:pos x="119" y="180"/>
                  </a:cxn>
                  <a:cxn ang="0">
                    <a:pos x="90" y="198"/>
                  </a:cxn>
                  <a:cxn ang="0">
                    <a:pos x="96" y="210"/>
                  </a:cxn>
                  <a:cxn ang="0">
                    <a:pos x="131" y="192"/>
                  </a:cxn>
                  <a:cxn ang="0">
                    <a:pos x="161" y="168"/>
                  </a:cxn>
                  <a:cxn ang="0">
                    <a:pos x="179" y="144"/>
                  </a:cxn>
                  <a:cxn ang="0">
                    <a:pos x="185" y="114"/>
                  </a:cxn>
                  <a:cxn ang="0">
                    <a:pos x="179" y="90"/>
                  </a:cxn>
                  <a:cxn ang="0">
                    <a:pos x="173" y="66"/>
                  </a:cxn>
                  <a:cxn ang="0">
                    <a:pos x="155" y="48"/>
                  </a:cxn>
                  <a:cxn ang="0">
                    <a:pos x="131" y="30"/>
                  </a:cxn>
                  <a:cxn ang="0">
                    <a:pos x="72" y="6"/>
                  </a:cxn>
                  <a:cxn ang="0">
                    <a:pos x="0" y="0"/>
                  </a:cxn>
                  <a:cxn ang="0">
                    <a:pos x="0" y="6"/>
                  </a:cxn>
                  <a:cxn ang="0">
                    <a:pos x="0" y="6"/>
                  </a:cxn>
                  <a:cxn ang="0">
                    <a:pos x="0" y="6"/>
                  </a:cxn>
                </a:cxnLst>
                <a:rect l="0" t="0" r="r" b="b"/>
                <a:pathLst>
                  <a:path w="185" h="210">
                    <a:moveTo>
                      <a:pt x="0" y="6"/>
                    </a:moveTo>
                    <a:lnTo>
                      <a:pt x="66" y="12"/>
                    </a:lnTo>
                    <a:lnTo>
                      <a:pt x="119" y="36"/>
                    </a:lnTo>
                    <a:lnTo>
                      <a:pt x="155" y="72"/>
                    </a:lnTo>
                    <a:lnTo>
                      <a:pt x="161" y="90"/>
                    </a:lnTo>
                    <a:lnTo>
                      <a:pt x="167" y="114"/>
                    </a:lnTo>
                    <a:lnTo>
                      <a:pt x="161" y="138"/>
                    </a:lnTo>
                    <a:lnTo>
                      <a:pt x="149" y="162"/>
                    </a:lnTo>
                    <a:lnTo>
                      <a:pt x="119" y="180"/>
                    </a:lnTo>
                    <a:lnTo>
                      <a:pt x="90" y="198"/>
                    </a:lnTo>
                    <a:lnTo>
                      <a:pt x="96" y="210"/>
                    </a:lnTo>
                    <a:lnTo>
                      <a:pt x="131" y="192"/>
                    </a:lnTo>
                    <a:lnTo>
                      <a:pt x="161" y="168"/>
                    </a:lnTo>
                    <a:lnTo>
                      <a:pt x="179" y="144"/>
                    </a:lnTo>
                    <a:lnTo>
                      <a:pt x="185" y="114"/>
                    </a:lnTo>
                    <a:lnTo>
                      <a:pt x="179" y="90"/>
                    </a:lnTo>
                    <a:lnTo>
                      <a:pt x="173" y="66"/>
                    </a:lnTo>
                    <a:lnTo>
                      <a:pt x="155" y="48"/>
                    </a:lnTo>
                    <a:lnTo>
                      <a:pt x="131" y="30"/>
                    </a:lnTo>
                    <a:lnTo>
                      <a:pt x="72" y="6"/>
                    </a:lnTo>
                    <a:lnTo>
                      <a:pt x="0" y="0"/>
                    </a:lnTo>
                    <a:lnTo>
                      <a:pt x="0" y="6"/>
                    </a:lnTo>
                    <a:lnTo>
                      <a:pt x="0" y="6"/>
                    </a:lnTo>
                    <a:lnTo>
                      <a:pt x="0" y="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16" name="Freeform 60"/>
              <p:cNvSpPr>
                <a:spLocks noEditPoints="1"/>
              </p:cNvSpPr>
              <p:nvPr/>
            </p:nvSpPr>
            <p:spPr bwMode="hidden">
              <a:xfrm>
                <a:off x="5345" y="3058"/>
                <a:ext cx="299" cy="186"/>
              </a:xfrm>
              <a:custGeom>
                <a:avLst/>
                <a:gdLst/>
                <a:ahLst/>
                <a:cxnLst>
                  <a:cxn ang="0">
                    <a:pos x="150" y="0"/>
                  </a:cxn>
                  <a:cxn ang="0">
                    <a:pos x="90" y="6"/>
                  </a:cxn>
                  <a:cxn ang="0">
                    <a:pos x="42" y="30"/>
                  </a:cxn>
                  <a:cxn ang="0">
                    <a:pos x="12" y="54"/>
                  </a:cxn>
                  <a:cxn ang="0">
                    <a:pos x="6" y="72"/>
                  </a:cxn>
                  <a:cxn ang="0">
                    <a:pos x="0" y="90"/>
                  </a:cxn>
                  <a:cxn ang="0">
                    <a:pos x="6" y="108"/>
                  </a:cxn>
                  <a:cxn ang="0">
                    <a:pos x="12" y="126"/>
                  </a:cxn>
                  <a:cxn ang="0">
                    <a:pos x="42" y="156"/>
                  </a:cxn>
                  <a:cxn ang="0">
                    <a:pos x="90" y="180"/>
                  </a:cxn>
                  <a:cxn ang="0">
                    <a:pos x="150" y="186"/>
                  </a:cxn>
                  <a:cxn ang="0">
                    <a:pos x="209" y="180"/>
                  </a:cxn>
                  <a:cxn ang="0">
                    <a:pos x="257" y="156"/>
                  </a:cxn>
                  <a:cxn ang="0">
                    <a:pos x="287" y="126"/>
                  </a:cxn>
                  <a:cxn ang="0">
                    <a:pos x="299" y="108"/>
                  </a:cxn>
                  <a:cxn ang="0">
                    <a:pos x="299" y="90"/>
                  </a:cxn>
                  <a:cxn ang="0">
                    <a:pos x="299" y="72"/>
                  </a:cxn>
                  <a:cxn ang="0">
                    <a:pos x="287" y="54"/>
                  </a:cxn>
                  <a:cxn ang="0">
                    <a:pos x="257" y="30"/>
                  </a:cxn>
                  <a:cxn ang="0">
                    <a:pos x="209" y="6"/>
                  </a:cxn>
                  <a:cxn ang="0">
                    <a:pos x="150" y="0"/>
                  </a:cxn>
                  <a:cxn ang="0">
                    <a:pos x="150" y="0"/>
                  </a:cxn>
                  <a:cxn ang="0">
                    <a:pos x="150" y="180"/>
                  </a:cxn>
                  <a:cxn ang="0">
                    <a:pos x="96" y="174"/>
                  </a:cxn>
                  <a:cxn ang="0">
                    <a:pos x="48" y="156"/>
                  </a:cxn>
                  <a:cxn ang="0">
                    <a:pos x="18" y="126"/>
                  </a:cxn>
                  <a:cxn ang="0">
                    <a:pos x="12" y="108"/>
                  </a:cxn>
                  <a:cxn ang="0">
                    <a:pos x="6" y="90"/>
                  </a:cxn>
                  <a:cxn ang="0">
                    <a:pos x="12" y="72"/>
                  </a:cxn>
                  <a:cxn ang="0">
                    <a:pos x="18" y="54"/>
                  </a:cxn>
                  <a:cxn ang="0">
                    <a:pos x="48" y="30"/>
                  </a:cxn>
                  <a:cxn ang="0">
                    <a:pos x="96" y="12"/>
                  </a:cxn>
                  <a:cxn ang="0">
                    <a:pos x="150" y="6"/>
                  </a:cxn>
                  <a:cxn ang="0">
                    <a:pos x="203" y="12"/>
                  </a:cxn>
                  <a:cxn ang="0">
                    <a:pos x="251" y="30"/>
                  </a:cxn>
                  <a:cxn ang="0">
                    <a:pos x="281" y="54"/>
                  </a:cxn>
                  <a:cxn ang="0">
                    <a:pos x="293" y="72"/>
                  </a:cxn>
                  <a:cxn ang="0">
                    <a:pos x="293" y="90"/>
                  </a:cxn>
                  <a:cxn ang="0">
                    <a:pos x="293" y="108"/>
                  </a:cxn>
                  <a:cxn ang="0">
                    <a:pos x="281" y="126"/>
                  </a:cxn>
                  <a:cxn ang="0">
                    <a:pos x="251" y="156"/>
                  </a:cxn>
                  <a:cxn ang="0">
                    <a:pos x="203" y="174"/>
                  </a:cxn>
                  <a:cxn ang="0">
                    <a:pos x="150" y="180"/>
                  </a:cxn>
                  <a:cxn ang="0">
                    <a:pos x="150" y="180"/>
                  </a:cxn>
                </a:cxnLst>
                <a:rect l="0" t="0" r="r" b="b"/>
                <a:pathLst>
                  <a:path w="299" h="186">
                    <a:moveTo>
                      <a:pt x="150" y="0"/>
                    </a:moveTo>
                    <a:lnTo>
                      <a:pt x="90" y="6"/>
                    </a:lnTo>
                    <a:lnTo>
                      <a:pt x="42" y="30"/>
                    </a:lnTo>
                    <a:lnTo>
                      <a:pt x="12" y="54"/>
                    </a:lnTo>
                    <a:lnTo>
                      <a:pt x="6" y="72"/>
                    </a:lnTo>
                    <a:lnTo>
                      <a:pt x="0" y="90"/>
                    </a:lnTo>
                    <a:lnTo>
                      <a:pt x="6" y="108"/>
                    </a:lnTo>
                    <a:lnTo>
                      <a:pt x="12" y="126"/>
                    </a:lnTo>
                    <a:lnTo>
                      <a:pt x="42" y="156"/>
                    </a:lnTo>
                    <a:lnTo>
                      <a:pt x="90" y="180"/>
                    </a:lnTo>
                    <a:lnTo>
                      <a:pt x="150" y="186"/>
                    </a:lnTo>
                    <a:lnTo>
                      <a:pt x="209" y="180"/>
                    </a:lnTo>
                    <a:lnTo>
                      <a:pt x="257" y="156"/>
                    </a:lnTo>
                    <a:lnTo>
                      <a:pt x="287" y="126"/>
                    </a:lnTo>
                    <a:lnTo>
                      <a:pt x="299" y="108"/>
                    </a:lnTo>
                    <a:lnTo>
                      <a:pt x="299" y="90"/>
                    </a:lnTo>
                    <a:lnTo>
                      <a:pt x="299" y="72"/>
                    </a:lnTo>
                    <a:lnTo>
                      <a:pt x="287" y="54"/>
                    </a:lnTo>
                    <a:lnTo>
                      <a:pt x="257" y="30"/>
                    </a:lnTo>
                    <a:lnTo>
                      <a:pt x="209" y="6"/>
                    </a:lnTo>
                    <a:lnTo>
                      <a:pt x="150" y="0"/>
                    </a:lnTo>
                    <a:lnTo>
                      <a:pt x="150" y="0"/>
                    </a:lnTo>
                    <a:close/>
                    <a:moveTo>
                      <a:pt x="150" y="180"/>
                    </a:moveTo>
                    <a:lnTo>
                      <a:pt x="96" y="174"/>
                    </a:lnTo>
                    <a:lnTo>
                      <a:pt x="48" y="156"/>
                    </a:lnTo>
                    <a:lnTo>
                      <a:pt x="18" y="126"/>
                    </a:lnTo>
                    <a:lnTo>
                      <a:pt x="12" y="108"/>
                    </a:lnTo>
                    <a:lnTo>
                      <a:pt x="6" y="90"/>
                    </a:lnTo>
                    <a:lnTo>
                      <a:pt x="12" y="72"/>
                    </a:lnTo>
                    <a:lnTo>
                      <a:pt x="18" y="54"/>
                    </a:lnTo>
                    <a:lnTo>
                      <a:pt x="48" y="30"/>
                    </a:lnTo>
                    <a:lnTo>
                      <a:pt x="96" y="12"/>
                    </a:lnTo>
                    <a:lnTo>
                      <a:pt x="150" y="6"/>
                    </a:lnTo>
                    <a:lnTo>
                      <a:pt x="203" y="12"/>
                    </a:lnTo>
                    <a:lnTo>
                      <a:pt x="251" y="30"/>
                    </a:lnTo>
                    <a:lnTo>
                      <a:pt x="281" y="54"/>
                    </a:lnTo>
                    <a:lnTo>
                      <a:pt x="293" y="72"/>
                    </a:lnTo>
                    <a:lnTo>
                      <a:pt x="293" y="90"/>
                    </a:lnTo>
                    <a:lnTo>
                      <a:pt x="293" y="108"/>
                    </a:lnTo>
                    <a:lnTo>
                      <a:pt x="281" y="126"/>
                    </a:lnTo>
                    <a:lnTo>
                      <a:pt x="251" y="156"/>
                    </a:lnTo>
                    <a:lnTo>
                      <a:pt x="203" y="174"/>
                    </a:lnTo>
                    <a:lnTo>
                      <a:pt x="150" y="180"/>
                    </a:lnTo>
                    <a:lnTo>
                      <a:pt x="150" y="18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grpSp>
            <p:nvGrpSpPr>
              <p:cNvPr id="17" name="Group 61"/>
              <p:cNvGrpSpPr>
                <a:grpSpLocks/>
              </p:cNvGrpSpPr>
              <p:nvPr/>
            </p:nvGrpSpPr>
            <p:grpSpPr bwMode="auto">
              <a:xfrm>
                <a:off x="5381" y="3085"/>
                <a:ext cx="227" cy="132"/>
                <a:chOff x="5381" y="3085"/>
                <a:chExt cx="227" cy="132"/>
              </a:xfrm>
            </p:grpSpPr>
            <p:sp>
              <p:nvSpPr>
                <p:cNvPr id="18" name="Oval 62"/>
                <p:cNvSpPr>
                  <a:spLocks noChangeArrowheads="1"/>
                </p:cNvSpPr>
                <p:nvPr userDrawn="1"/>
              </p:nvSpPr>
              <p:spPr bwMode="hidden">
                <a:xfrm>
                  <a:off x="5381" y="3085"/>
                  <a:ext cx="227" cy="13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19" name="Oval 63"/>
                <p:cNvSpPr>
                  <a:spLocks noChangeArrowheads="1"/>
                </p:cNvSpPr>
                <p:nvPr userDrawn="1"/>
              </p:nvSpPr>
              <p:spPr bwMode="hidden">
                <a:xfrm>
                  <a:off x="5403" y="3099"/>
                  <a:ext cx="182" cy="102"/>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sp>
              <p:nvSpPr>
                <p:cNvPr id="20" name="Oval 64"/>
                <p:cNvSpPr>
                  <a:spLocks noChangeArrowheads="1"/>
                </p:cNvSpPr>
                <p:nvPr userDrawn="1"/>
              </p:nvSpPr>
              <p:spPr bwMode="hidden">
                <a:xfrm>
                  <a:off x="5431" y="3109"/>
                  <a:ext cx="125" cy="8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1" name="Oval 65"/>
                <p:cNvSpPr>
                  <a:spLocks noChangeArrowheads="1"/>
                </p:cNvSpPr>
                <p:nvPr userDrawn="1"/>
              </p:nvSpPr>
              <p:spPr bwMode="hidden">
                <a:xfrm>
                  <a:off x="5458" y="3125"/>
                  <a:ext cx="73" cy="47"/>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grpSp>
        </p:grpSp>
      </p:grpSp>
      <p:sp>
        <p:nvSpPr>
          <p:cNvPr id="26690" name="Rectangle 66"/>
          <p:cNvSpPr>
            <a:spLocks noGrp="1" noChangeArrowheads="1"/>
          </p:cNvSpPr>
          <p:nvPr>
            <p:ph type="ctrTitle" sz="quarter"/>
          </p:nvPr>
        </p:nvSpPr>
        <p:spPr>
          <a:xfrm>
            <a:off x="914400" y="1692276"/>
            <a:ext cx="10363200" cy="1736725"/>
          </a:xfrm>
        </p:spPr>
        <p:txBody>
          <a:bodyPr anchor="b"/>
          <a:lstStyle>
            <a:lvl1pPr>
              <a:defRPr sz="5400"/>
            </a:lvl1pPr>
          </a:lstStyle>
          <a:p>
            <a:r>
              <a:rPr lang="en-US"/>
              <a:t>Click to edit Master title style</a:t>
            </a:r>
          </a:p>
        </p:txBody>
      </p:sp>
      <p:sp>
        <p:nvSpPr>
          <p:cNvPr id="26691" name="Rectangle 67"/>
          <p:cNvSpPr>
            <a:spLocks noGrp="1" noChangeArrowheads="1"/>
          </p:cNvSpPr>
          <p:nvPr>
            <p:ph type="subTitle" sz="quarter" idx="1"/>
          </p:nvPr>
        </p:nvSpPr>
        <p:spPr>
          <a:xfrm>
            <a:off x="1828800" y="3886200"/>
            <a:ext cx="8534400" cy="1752600"/>
          </a:xfrm>
        </p:spPr>
        <p:txBody>
          <a:bodyPr/>
          <a:lstStyle>
            <a:lvl1pPr marL="0" indent="0" algn="ctr">
              <a:buFont typeface="Wingdings" pitchFamily="2" charset="2"/>
              <a:buNone/>
              <a:defRPr/>
            </a:lvl1pPr>
          </a:lstStyle>
          <a:p>
            <a:r>
              <a:rPr lang="en-US"/>
              <a:t>Click to edit Master subtitle style</a:t>
            </a:r>
          </a:p>
        </p:txBody>
      </p:sp>
      <p:sp>
        <p:nvSpPr>
          <p:cNvPr id="68" name="Rectangle 68"/>
          <p:cNvSpPr>
            <a:spLocks noGrp="1" noChangeArrowheads="1"/>
          </p:cNvSpPr>
          <p:nvPr>
            <p:ph type="dt" sz="quarter" idx="10"/>
          </p:nvPr>
        </p:nvSpPr>
        <p:spPr>
          <a:xfrm>
            <a:off x="609600" y="6248400"/>
            <a:ext cx="2844800" cy="457200"/>
          </a:xfrm>
        </p:spPr>
        <p:txBody>
          <a:bodyPr/>
          <a:lstStyle>
            <a:lvl1pPr>
              <a:defRPr/>
            </a:lvl1pPr>
          </a:lstStyle>
          <a:p>
            <a:pPr>
              <a:defRPr/>
            </a:pPr>
            <a:endParaRPr lang="en-US"/>
          </a:p>
        </p:txBody>
      </p:sp>
      <p:sp>
        <p:nvSpPr>
          <p:cNvPr id="69" name="Rectangle 69"/>
          <p:cNvSpPr>
            <a:spLocks noGrp="1" noChangeArrowheads="1"/>
          </p:cNvSpPr>
          <p:nvPr>
            <p:ph type="ftr" sz="quarter" idx="11"/>
          </p:nvPr>
        </p:nvSpPr>
        <p:spPr>
          <a:xfrm>
            <a:off x="4165600" y="6248400"/>
            <a:ext cx="3860800" cy="457200"/>
          </a:xfrm>
        </p:spPr>
        <p:txBody>
          <a:bodyPr/>
          <a:lstStyle>
            <a:lvl1pPr>
              <a:defRPr/>
            </a:lvl1pPr>
          </a:lstStyle>
          <a:p>
            <a:pPr>
              <a:defRPr/>
            </a:pPr>
            <a:r>
              <a:rPr lang="en-US" dirty="0"/>
              <a:t>Requirements Engineering 3rd Edition, Lecture 7</a:t>
            </a:r>
          </a:p>
        </p:txBody>
      </p:sp>
      <p:sp>
        <p:nvSpPr>
          <p:cNvPr id="70" name="Rectangle 70"/>
          <p:cNvSpPr>
            <a:spLocks noGrp="1" noChangeArrowheads="1"/>
          </p:cNvSpPr>
          <p:nvPr>
            <p:ph type="sldNum" sz="quarter" idx="12"/>
          </p:nvPr>
        </p:nvSpPr>
        <p:spPr>
          <a:xfrm>
            <a:off x="8737600" y="6248400"/>
            <a:ext cx="2844800" cy="457200"/>
          </a:xfrm>
        </p:spPr>
        <p:txBody>
          <a:bodyPr/>
          <a:lstStyle>
            <a:lvl1pPr>
              <a:defRPr/>
            </a:lvl1pPr>
          </a:lstStyle>
          <a:p>
            <a:pPr>
              <a:defRPr/>
            </a:pPr>
            <a:fld id="{3B35C99A-757F-431B-8D82-305AD9342AD4}" type="slidenum">
              <a:rPr lang="en-US"/>
              <a:pPr>
                <a:defRPr/>
              </a:pPr>
              <a:t>‹#›</a:t>
            </a:fld>
            <a:endParaRPr lang="en-US"/>
          </a:p>
        </p:txBody>
      </p:sp>
    </p:spTree>
    <p:extLst>
      <p:ext uri="{BB962C8B-B14F-4D97-AF65-F5344CB8AC3E}">
        <p14:creationId xmlns:p14="http://schemas.microsoft.com/office/powerpoint/2010/main" val="239711219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xfrm>
            <a:off x="3335867" y="6245225"/>
            <a:ext cx="5486400" cy="476250"/>
          </a:xfrm>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181232BF-0E44-4B37-ACCD-97A39A4189D2}" type="slidenum">
              <a:rPr lang="en-US"/>
              <a:pPr>
                <a:defRPr/>
              </a:pPr>
              <a:t>‹#›</a:t>
            </a:fld>
            <a:endParaRPr lang="en-US"/>
          </a:p>
        </p:txBody>
      </p:sp>
    </p:spTree>
    <p:extLst>
      <p:ext uri="{BB962C8B-B14F-4D97-AF65-F5344CB8AC3E}">
        <p14:creationId xmlns:p14="http://schemas.microsoft.com/office/powerpoint/2010/main" val="428992698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1809C42F-E088-449E-94F5-A68B95A11360}" type="slidenum">
              <a:rPr lang="en-US"/>
              <a:pPr>
                <a:defRPr/>
              </a:pPr>
              <a:t>‹#›</a:t>
            </a:fld>
            <a:endParaRPr lang="en-US"/>
          </a:p>
        </p:txBody>
      </p:sp>
    </p:spTree>
    <p:extLst>
      <p:ext uri="{BB962C8B-B14F-4D97-AF65-F5344CB8AC3E}">
        <p14:creationId xmlns:p14="http://schemas.microsoft.com/office/powerpoint/2010/main" val="36645894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14C0A8F6-2296-4E60-A26B-F53A21B1956D}" type="slidenum">
              <a:rPr lang="en-US"/>
              <a:pPr>
                <a:defRPr/>
              </a:pPr>
              <a:t>‹#›</a:t>
            </a:fld>
            <a:endParaRPr lang="en-US"/>
          </a:p>
        </p:txBody>
      </p:sp>
    </p:spTree>
    <p:extLst>
      <p:ext uri="{BB962C8B-B14F-4D97-AF65-F5344CB8AC3E}">
        <p14:creationId xmlns:p14="http://schemas.microsoft.com/office/powerpoint/2010/main" val="425068028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9"/>
          <p:cNvSpPr>
            <a:spLocks noGrp="1" noChangeArrowheads="1"/>
          </p:cNvSpPr>
          <p:nvPr>
            <p:ph type="dt" sz="half" idx="10"/>
          </p:nvPr>
        </p:nvSpPr>
        <p:spPr>
          <a:ln/>
        </p:spPr>
        <p:txBody>
          <a:bodyPr/>
          <a:lstStyle>
            <a:lvl1pPr>
              <a:defRPr/>
            </a:lvl1pPr>
          </a:lstStyle>
          <a:p>
            <a:pPr>
              <a:defRPr/>
            </a:pPr>
            <a:endParaRPr lang="en-US"/>
          </a:p>
        </p:txBody>
      </p:sp>
      <p:sp>
        <p:nvSpPr>
          <p:cNvPr id="8" name="Rectangle 70"/>
          <p:cNvSpPr>
            <a:spLocks noGrp="1" noChangeArrowheads="1"/>
          </p:cNvSpPr>
          <p:nvPr>
            <p:ph type="ftr" sz="quarter" idx="11"/>
          </p:nvPr>
        </p:nvSpPr>
        <p:spPr>
          <a:xfrm>
            <a:off x="3149600" y="6245225"/>
            <a:ext cx="5486400" cy="476250"/>
          </a:xfrm>
          <a:ln/>
        </p:spPr>
        <p:txBody>
          <a:bodyPr/>
          <a:lstStyle>
            <a:lvl1pPr>
              <a:defRPr/>
            </a:lvl1pPr>
          </a:lstStyle>
          <a:p>
            <a:pPr>
              <a:defRPr/>
            </a:pPr>
            <a:r>
              <a:rPr lang="en-US" dirty="0"/>
              <a:t>Requirements Engineering 3rd Edition, Lecture 7</a:t>
            </a:r>
          </a:p>
        </p:txBody>
      </p:sp>
      <p:sp>
        <p:nvSpPr>
          <p:cNvPr id="9" name="Rectangle 71"/>
          <p:cNvSpPr>
            <a:spLocks noGrp="1" noChangeArrowheads="1"/>
          </p:cNvSpPr>
          <p:nvPr>
            <p:ph type="sldNum" sz="quarter" idx="12"/>
          </p:nvPr>
        </p:nvSpPr>
        <p:spPr>
          <a:ln/>
        </p:spPr>
        <p:txBody>
          <a:bodyPr/>
          <a:lstStyle>
            <a:lvl1pPr>
              <a:defRPr/>
            </a:lvl1pPr>
          </a:lstStyle>
          <a:p>
            <a:pPr>
              <a:defRPr/>
            </a:pPr>
            <a:fld id="{6429E4F5-A134-4143-B6E9-507EE887D4D2}" type="slidenum">
              <a:rPr lang="en-US"/>
              <a:pPr>
                <a:defRPr/>
              </a:pPr>
              <a:t>‹#›</a:t>
            </a:fld>
            <a:endParaRPr lang="en-US"/>
          </a:p>
        </p:txBody>
      </p:sp>
    </p:spTree>
    <p:extLst>
      <p:ext uri="{BB962C8B-B14F-4D97-AF65-F5344CB8AC3E}">
        <p14:creationId xmlns:p14="http://schemas.microsoft.com/office/powerpoint/2010/main" val="100523590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69"/>
          <p:cNvSpPr>
            <a:spLocks noGrp="1" noChangeArrowheads="1"/>
          </p:cNvSpPr>
          <p:nvPr>
            <p:ph type="dt" sz="half" idx="10"/>
          </p:nvPr>
        </p:nvSpPr>
        <p:spPr>
          <a:ln/>
        </p:spPr>
        <p:txBody>
          <a:bodyPr/>
          <a:lstStyle>
            <a:lvl1pPr>
              <a:defRPr/>
            </a:lvl1pPr>
          </a:lstStyle>
          <a:p>
            <a:pPr>
              <a:defRPr/>
            </a:pPr>
            <a:endParaRPr lang="en-US"/>
          </a:p>
        </p:txBody>
      </p:sp>
      <p:sp>
        <p:nvSpPr>
          <p:cNvPr id="4" name="Rectangle 70"/>
          <p:cNvSpPr>
            <a:spLocks noGrp="1" noChangeArrowheads="1"/>
          </p:cNvSpPr>
          <p:nvPr>
            <p:ph type="ftr" sz="quarter" idx="11"/>
          </p:nvPr>
        </p:nvSpPr>
        <p:spPr>
          <a:xfrm>
            <a:off x="3048000" y="6245225"/>
            <a:ext cx="5588000" cy="476250"/>
          </a:xfrm>
          <a:ln/>
        </p:spPr>
        <p:txBody>
          <a:bodyPr/>
          <a:lstStyle>
            <a:lvl1pPr>
              <a:defRPr/>
            </a:lvl1pPr>
          </a:lstStyle>
          <a:p>
            <a:pPr>
              <a:defRPr/>
            </a:pPr>
            <a:r>
              <a:rPr lang="en-US" dirty="0"/>
              <a:t>Requirements Engineering 3rd Edition, Lecture 7</a:t>
            </a:r>
          </a:p>
        </p:txBody>
      </p:sp>
      <p:sp>
        <p:nvSpPr>
          <p:cNvPr id="5" name="Rectangle 71"/>
          <p:cNvSpPr>
            <a:spLocks noGrp="1" noChangeArrowheads="1"/>
          </p:cNvSpPr>
          <p:nvPr>
            <p:ph type="sldNum" sz="quarter" idx="12"/>
          </p:nvPr>
        </p:nvSpPr>
        <p:spPr>
          <a:ln/>
        </p:spPr>
        <p:txBody>
          <a:bodyPr/>
          <a:lstStyle>
            <a:lvl1pPr>
              <a:defRPr/>
            </a:lvl1pPr>
          </a:lstStyle>
          <a:p>
            <a:pPr>
              <a:defRPr/>
            </a:pPr>
            <a:fld id="{6D3A9068-223C-470D-A8DC-6803CDEE76E3}" type="slidenum">
              <a:rPr lang="en-US"/>
              <a:pPr>
                <a:defRPr/>
              </a:pPr>
              <a:t>‹#›</a:t>
            </a:fld>
            <a:endParaRPr lang="en-US"/>
          </a:p>
        </p:txBody>
      </p:sp>
    </p:spTree>
    <p:extLst>
      <p:ext uri="{BB962C8B-B14F-4D97-AF65-F5344CB8AC3E}">
        <p14:creationId xmlns:p14="http://schemas.microsoft.com/office/powerpoint/2010/main" val="415873946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9"/>
          <p:cNvSpPr>
            <a:spLocks noGrp="1" noChangeArrowheads="1"/>
          </p:cNvSpPr>
          <p:nvPr>
            <p:ph type="dt" sz="half" idx="10"/>
          </p:nvPr>
        </p:nvSpPr>
        <p:spPr>
          <a:ln/>
        </p:spPr>
        <p:txBody>
          <a:bodyPr/>
          <a:lstStyle>
            <a:lvl1pPr>
              <a:defRPr/>
            </a:lvl1pPr>
          </a:lstStyle>
          <a:p>
            <a:pPr>
              <a:defRPr/>
            </a:pPr>
            <a:endParaRPr lang="en-US"/>
          </a:p>
        </p:txBody>
      </p:sp>
      <p:sp>
        <p:nvSpPr>
          <p:cNvPr id="3"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4" name="Rectangle 71"/>
          <p:cNvSpPr>
            <a:spLocks noGrp="1" noChangeArrowheads="1"/>
          </p:cNvSpPr>
          <p:nvPr>
            <p:ph type="sldNum" sz="quarter" idx="12"/>
          </p:nvPr>
        </p:nvSpPr>
        <p:spPr>
          <a:ln/>
        </p:spPr>
        <p:txBody>
          <a:bodyPr/>
          <a:lstStyle>
            <a:lvl1pPr>
              <a:defRPr/>
            </a:lvl1pPr>
          </a:lstStyle>
          <a:p>
            <a:pPr>
              <a:defRPr/>
            </a:pPr>
            <a:fld id="{46DB7C7C-548C-4D92-BFD1-12C9366EDE96}" type="slidenum">
              <a:rPr lang="en-US"/>
              <a:pPr>
                <a:defRPr/>
              </a:pPr>
              <a:t>‹#›</a:t>
            </a:fld>
            <a:endParaRPr lang="en-US"/>
          </a:p>
        </p:txBody>
      </p:sp>
    </p:spTree>
    <p:extLst>
      <p:ext uri="{BB962C8B-B14F-4D97-AF65-F5344CB8AC3E}">
        <p14:creationId xmlns:p14="http://schemas.microsoft.com/office/powerpoint/2010/main" val="192329028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37DA4F36-4583-45E3-BDEC-2665569C25F7}" type="slidenum">
              <a:rPr lang="en-US"/>
              <a:pPr>
                <a:defRPr/>
              </a:pPr>
              <a:t>‹#›</a:t>
            </a:fld>
            <a:endParaRPr lang="en-US"/>
          </a:p>
        </p:txBody>
      </p:sp>
    </p:spTree>
    <p:extLst>
      <p:ext uri="{BB962C8B-B14F-4D97-AF65-F5344CB8AC3E}">
        <p14:creationId xmlns:p14="http://schemas.microsoft.com/office/powerpoint/2010/main" val="204864101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F4F7B768-0FD5-464D-8047-8DDC1FD730A3}" type="slidenum">
              <a:rPr lang="en-US"/>
              <a:pPr>
                <a:defRPr/>
              </a:pPr>
              <a:t>‹#›</a:t>
            </a:fld>
            <a:endParaRPr lang="en-US"/>
          </a:p>
        </p:txBody>
      </p:sp>
    </p:spTree>
    <p:extLst>
      <p:ext uri="{BB962C8B-B14F-4D97-AF65-F5344CB8AC3E}">
        <p14:creationId xmlns:p14="http://schemas.microsoft.com/office/powerpoint/2010/main" val="61609572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361C4681-5D0A-4DBD-AC57-4C4DB00C53A6}" type="slidenum">
              <a:rPr lang="en-US"/>
              <a:pPr>
                <a:defRPr/>
              </a:pPr>
              <a:t>‹#›</a:t>
            </a:fld>
            <a:endParaRPr lang="en-US"/>
          </a:p>
        </p:txBody>
      </p:sp>
    </p:spTree>
    <p:extLst>
      <p:ext uri="{BB962C8B-B14F-4D97-AF65-F5344CB8AC3E}">
        <p14:creationId xmlns:p14="http://schemas.microsoft.com/office/powerpoint/2010/main" val="36019141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7813"/>
            <a:ext cx="2743200" cy="58483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7813"/>
            <a:ext cx="8026400" cy="5848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35D6F660-633E-4B86-A78D-0D64156BAC92}" type="slidenum">
              <a:rPr lang="en-US"/>
              <a:pPr>
                <a:defRPr/>
              </a:pPr>
              <a:t>‹#›</a:t>
            </a:fld>
            <a:endParaRPr lang="en-US"/>
          </a:p>
        </p:txBody>
      </p:sp>
    </p:spTree>
    <p:extLst>
      <p:ext uri="{BB962C8B-B14F-4D97-AF65-F5344CB8AC3E}">
        <p14:creationId xmlns:p14="http://schemas.microsoft.com/office/powerpoint/2010/main" val="61099334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C7B5E7CF-93EC-4FBC-ACB3-1263E73F6CB3}" type="datetime1">
              <a:rPr lang="en-US" smtClean="0"/>
              <a:t>11/3/25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0178649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B856B4B9-CF73-4261-A64E-D57D3430B9EF}" type="datetime1">
              <a:rPr lang="en-US" smtClean="0"/>
              <a:t>11/3/25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01977692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B93DC370-256A-4011-A061-003D0246C617}" type="datetime1">
              <a:rPr lang="en-US" smtClean="0"/>
              <a:t>11/3/25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87179642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176F23B4-6E5F-4209-B120-D93F8F007B13}" type="datetime1">
              <a:rPr lang="en-US" smtClean="0"/>
              <a:t>11/3/25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09242446"/>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A58E52A2-8DF8-4193-8E4B-E3685316F085}" type="datetime1">
              <a:rPr lang="en-US" smtClean="0"/>
              <a:t>11/3/25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29434450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5A1A5CBA-CE21-4784-A596-686DBCAD0F99}" type="datetime1">
              <a:rPr lang="en-US" smtClean="0"/>
              <a:t>11/3/25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97883677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212DED0A-4E24-4EDC-A325-39CB34A99970}" type="datetime1">
              <a:rPr lang="en-US" smtClean="0"/>
              <a:t>11/3/25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537648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6A5F5796-5532-4D33-ACFC-B251FC74E1C1}" type="datetime1">
              <a:rPr lang="en-US" smtClean="0"/>
              <a:t>11/3/25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86690285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CCEBF133-C7B6-488A-93E0-A0E1903BCB61}" type="datetime1">
              <a:rPr lang="en-US" smtClean="0"/>
              <a:t>11/3/25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18621957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52693DD2-8C95-4B52-B4A5-1A22E6AAEF13}" type="datetime1">
              <a:rPr lang="en-US" smtClean="0"/>
              <a:t>11/3/25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3658224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C0C005D6-5038-4D11-BA09-BDE30612B5A4}" type="datetime1">
              <a:rPr lang="en-US" smtClean="0"/>
              <a:t>11/3/25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584879939"/>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1893844056"/>
      </p:ext>
    </p:extLst>
  </p:cSld>
  <p:clrMapOvr>
    <a:masterClrMapping/>
  </p:clrMapOvr>
  <p:transition spd="med"/>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843510013"/>
      </p:ext>
    </p:extLst>
  </p:cSld>
  <p:clrMapOvr>
    <a:masterClrMapping/>
  </p:clrMapOvr>
  <p:transition spd="med"/>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3262746037"/>
      </p:ext>
    </p:extLst>
  </p:cSld>
  <p:clrMapOvr>
    <a:masterClrMapping/>
  </p:clrMapOvr>
  <p:transition spd="med"/>
</p:sldLayout>
</file>

<file path=ppt/slideLayouts/slideLayout85.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3223149308"/>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2.pn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openxmlformats.org/officeDocument/2006/relationships/image" Target="../media/image3.png"/><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microsoft.com/office/2007/relationships/hdphoto" Target="../media/hdphoto1.wdp"/></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5" Type="http://schemas.openxmlformats.org/officeDocument/2006/relationships/theme" Target="../theme/theme4.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Layout" Target="../slideLayouts/slideLayout47.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5.xml"/><Relationship Id="rId13" Type="http://schemas.openxmlformats.org/officeDocument/2006/relationships/theme" Target="../theme/theme5.xml"/><Relationship Id="rId3" Type="http://schemas.openxmlformats.org/officeDocument/2006/relationships/slideLayout" Target="../slideLayouts/slideLayout50.xml"/><Relationship Id="rId7" Type="http://schemas.openxmlformats.org/officeDocument/2006/relationships/slideLayout" Target="../slideLayouts/slideLayout54.xml"/><Relationship Id="rId12" Type="http://schemas.openxmlformats.org/officeDocument/2006/relationships/slideLayout" Target="../slideLayouts/slideLayout59.xml"/><Relationship Id="rId2" Type="http://schemas.openxmlformats.org/officeDocument/2006/relationships/slideLayout" Target="../slideLayouts/slideLayout49.xml"/><Relationship Id="rId16" Type="http://schemas.openxmlformats.org/officeDocument/2006/relationships/image" Target="../media/image3.png"/><Relationship Id="rId1" Type="http://schemas.openxmlformats.org/officeDocument/2006/relationships/slideLayout" Target="../slideLayouts/slideLayout48.xml"/><Relationship Id="rId6" Type="http://schemas.openxmlformats.org/officeDocument/2006/relationships/slideLayout" Target="../slideLayouts/slideLayout53.xml"/><Relationship Id="rId11" Type="http://schemas.openxmlformats.org/officeDocument/2006/relationships/slideLayout" Target="../slideLayouts/slideLayout58.xml"/><Relationship Id="rId5" Type="http://schemas.openxmlformats.org/officeDocument/2006/relationships/slideLayout" Target="../slideLayouts/slideLayout52.xml"/><Relationship Id="rId15" Type="http://schemas.microsoft.com/office/2007/relationships/hdphoto" Target="../media/hdphoto1.wdp"/><Relationship Id="rId10" Type="http://schemas.openxmlformats.org/officeDocument/2006/relationships/slideLayout" Target="../slideLayouts/slideLayout57.xml"/><Relationship Id="rId4" Type="http://schemas.openxmlformats.org/officeDocument/2006/relationships/slideLayout" Target="../slideLayouts/slideLayout51.xml"/><Relationship Id="rId9" Type="http://schemas.openxmlformats.org/officeDocument/2006/relationships/slideLayout" Target="../slideLayouts/slideLayout56.xml"/><Relationship Id="rId14"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7.xml"/><Relationship Id="rId3" Type="http://schemas.openxmlformats.org/officeDocument/2006/relationships/slideLayout" Target="../slideLayouts/slideLayout62.xml"/><Relationship Id="rId7" Type="http://schemas.openxmlformats.org/officeDocument/2006/relationships/slideLayout" Target="../slideLayouts/slideLayout66.xml"/><Relationship Id="rId12" Type="http://schemas.openxmlformats.org/officeDocument/2006/relationships/theme" Target="../theme/theme6.xml"/><Relationship Id="rId2" Type="http://schemas.openxmlformats.org/officeDocument/2006/relationships/slideLayout" Target="../slideLayouts/slideLayout61.xml"/><Relationship Id="rId1" Type="http://schemas.openxmlformats.org/officeDocument/2006/relationships/slideLayout" Target="../slideLayouts/slideLayout60.xml"/><Relationship Id="rId6" Type="http://schemas.openxmlformats.org/officeDocument/2006/relationships/slideLayout" Target="../slideLayouts/slideLayout65.xml"/><Relationship Id="rId11" Type="http://schemas.openxmlformats.org/officeDocument/2006/relationships/slideLayout" Target="../slideLayouts/slideLayout70.xml"/><Relationship Id="rId5" Type="http://schemas.openxmlformats.org/officeDocument/2006/relationships/slideLayout" Target="../slideLayouts/slideLayout64.xml"/><Relationship Id="rId10" Type="http://schemas.openxmlformats.org/officeDocument/2006/relationships/slideLayout" Target="../slideLayouts/slideLayout69.xml"/><Relationship Id="rId4" Type="http://schemas.openxmlformats.org/officeDocument/2006/relationships/slideLayout" Target="../slideLayouts/slideLayout63.xml"/><Relationship Id="rId9" Type="http://schemas.openxmlformats.org/officeDocument/2006/relationships/slideLayout" Target="../slideLayouts/slideLayout68.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8.xml"/><Relationship Id="rId13" Type="http://schemas.openxmlformats.org/officeDocument/2006/relationships/slideLayout" Target="../slideLayouts/slideLayout83.xml"/><Relationship Id="rId3" Type="http://schemas.openxmlformats.org/officeDocument/2006/relationships/slideLayout" Target="../slideLayouts/slideLayout73.xml"/><Relationship Id="rId7" Type="http://schemas.openxmlformats.org/officeDocument/2006/relationships/slideLayout" Target="../slideLayouts/slideLayout77.xml"/><Relationship Id="rId12" Type="http://schemas.openxmlformats.org/officeDocument/2006/relationships/slideLayout" Target="../slideLayouts/slideLayout82.xml"/><Relationship Id="rId2" Type="http://schemas.openxmlformats.org/officeDocument/2006/relationships/slideLayout" Target="../slideLayouts/slideLayout72.xml"/><Relationship Id="rId16" Type="http://schemas.openxmlformats.org/officeDocument/2006/relationships/theme" Target="../theme/theme7.xml"/><Relationship Id="rId1" Type="http://schemas.openxmlformats.org/officeDocument/2006/relationships/slideLayout" Target="../slideLayouts/slideLayout71.xml"/><Relationship Id="rId6" Type="http://schemas.openxmlformats.org/officeDocument/2006/relationships/slideLayout" Target="../slideLayouts/slideLayout76.xml"/><Relationship Id="rId11" Type="http://schemas.openxmlformats.org/officeDocument/2006/relationships/slideLayout" Target="../slideLayouts/slideLayout81.xml"/><Relationship Id="rId5" Type="http://schemas.openxmlformats.org/officeDocument/2006/relationships/slideLayout" Target="../slideLayouts/slideLayout75.xml"/><Relationship Id="rId15" Type="http://schemas.openxmlformats.org/officeDocument/2006/relationships/slideLayout" Target="../slideLayouts/slideLayout85.xml"/><Relationship Id="rId10" Type="http://schemas.openxmlformats.org/officeDocument/2006/relationships/slideLayout" Target="../slideLayouts/slideLayout80.xml"/><Relationship Id="rId4" Type="http://schemas.openxmlformats.org/officeDocument/2006/relationships/slideLayout" Target="../slideLayouts/slideLayout74.xml"/><Relationship Id="rId9" Type="http://schemas.openxmlformats.org/officeDocument/2006/relationships/slideLayout" Target="../slideLayouts/slideLayout79.xml"/><Relationship Id="rId14" Type="http://schemas.openxmlformats.org/officeDocument/2006/relationships/slideLayout" Target="../slideLayouts/slideLayout8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0A1CD6-7EB2-8761-DDB0-69716F0F5A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12959F3-227C-11DD-9266-B168A6BAE0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631D0-6D70-C531-B5FD-1A993CEDD9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895DB68E-6ABB-147F-B8A6-D24359ECA0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3533C8E-63B7-96C7-F93D-11E0C3CC5A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B8661ED-2F2B-4337-8C8B-0F72B9DF1350}" type="slidenum">
              <a:rPr lang="en-US" smtClean="0"/>
              <a:t>‹#›</a:t>
            </a:fld>
            <a:endParaRPr lang="en-US"/>
          </a:p>
        </p:txBody>
      </p:sp>
    </p:spTree>
    <p:extLst>
      <p:ext uri="{BB962C8B-B14F-4D97-AF65-F5344CB8AC3E}">
        <p14:creationId xmlns:p14="http://schemas.microsoft.com/office/powerpoint/2010/main" val="7423659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2CBE7B1-37FA-C377-DF6B-DC604E0D9A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14C075-0C81-A80B-19E9-CFD61BE7BA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BA3C55-8A00-26AD-9460-08E28CFE1F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56BED04-B2A2-4581-A369-630E725EAA2A}" type="datetimeFigureOut">
              <a:rPr lang="en-US" smtClean="0"/>
              <a:t>11/3/25</a:t>
            </a:fld>
            <a:endParaRPr lang="en-US"/>
          </a:p>
        </p:txBody>
      </p:sp>
      <p:sp>
        <p:nvSpPr>
          <p:cNvPr id="5" name="Footer Placeholder 4">
            <a:extLst>
              <a:ext uri="{FF2B5EF4-FFF2-40B4-BE49-F238E27FC236}">
                <a16:creationId xmlns:a16="http://schemas.microsoft.com/office/drawing/2014/main" id="{B02087FD-69DC-C901-5B64-3EADCAB53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1F8C26B-7675-6A6A-1C46-EC0B552741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47F9D4-D01D-4756-92B8-DA258C501316}" type="slidenum">
              <a:rPr lang="en-US" smtClean="0"/>
              <a:t>‹#›</a:t>
            </a:fld>
            <a:endParaRPr lang="en-US"/>
          </a:p>
        </p:txBody>
      </p:sp>
    </p:spTree>
    <p:extLst>
      <p:ext uri="{BB962C8B-B14F-4D97-AF65-F5344CB8AC3E}">
        <p14:creationId xmlns:p14="http://schemas.microsoft.com/office/powerpoint/2010/main" val="4134069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11/3/25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14381690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11/3/25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1297922785"/>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6"/>
            <a:ext cx="3273552" cy="365125"/>
          </a:xfrm>
          <a:prstGeom prst="rect">
            <a:avLst/>
          </a:prstGeom>
        </p:spPr>
        <p:txBody>
          <a:bodyPr vert="horz" lIns="91440" tIns="45720" rIns="91440" bIns="45720" rtlCol="0" anchor="ctr"/>
          <a:lstStyle>
            <a:lvl1pPr algn="r">
              <a:defRPr sz="825">
                <a:solidFill>
                  <a:schemeClr val="tx2"/>
                </a:solidFill>
              </a:defRPr>
            </a:lvl1pPr>
          </a:lstStyle>
          <a:p>
            <a:fld id="{F94CB4C8-A46B-4840-8097-8C169F5A35D8}" type="datetime1">
              <a:rPr lang="en-US" smtClean="0"/>
              <a:t>11/3/25</a:t>
            </a:fld>
            <a:endParaRPr lang="en-US" dirty="0"/>
          </a:p>
        </p:txBody>
      </p:sp>
      <p:sp>
        <p:nvSpPr>
          <p:cNvPr id="5" name="Footer Placeholder 4"/>
          <p:cNvSpPr>
            <a:spLocks noGrp="1"/>
          </p:cNvSpPr>
          <p:nvPr>
            <p:ph type="ftr" sz="quarter" idx="3"/>
          </p:nvPr>
        </p:nvSpPr>
        <p:spPr>
          <a:xfrm>
            <a:off x="1088136" y="6272786"/>
            <a:ext cx="6327648" cy="365125"/>
          </a:xfrm>
          <a:prstGeom prst="rect">
            <a:avLst/>
          </a:prstGeom>
        </p:spPr>
        <p:txBody>
          <a:bodyPr vert="horz" lIns="91440" tIns="45720" rIns="91440" bIns="45720" rtlCol="0" anchor="ctr"/>
          <a:lstStyle>
            <a:lvl1pPr algn="l">
              <a:defRPr sz="825">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6"/>
            <a:ext cx="640080" cy="365125"/>
          </a:xfrm>
          <a:prstGeom prst="rect">
            <a:avLst/>
          </a:prstGeom>
        </p:spPr>
        <p:txBody>
          <a:bodyPr vert="horz" lIns="91440" tIns="45720" rIns="91440" bIns="45720" rtlCol="0" anchor="ctr"/>
          <a:lstStyle>
            <a:lvl1pPr algn="ctr">
              <a:defRPr sz="105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314730603"/>
      </p:ext>
    </p:extLst>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 id="2147483733" r:id="rId9"/>
    <p:sldLayoutId id="2147483734" r:id="rId10"/>
    <p:sldLayoutId id="2147483735" r:id="rId11"/>
    <p:sldLayoutId id="2147483736" r:id="rId12"/>
  </p:sldLayoutIdLst>
  <p:hf hdr="0" ftr="0" dt="0"/>
  <p:txStyles>
    <p:titleStyle>
      <a:lvl1pPr algn="l" defTabSz="685800" rtl="0" eaLnBrk="1" latinLnBrk="0" hangingPunct="1">
        <a:lnSpc>
          <a:spcPct val="90000"/>
        </a:lnSpc>
        <a:spcBef>
          <a:spcPct val="0"/>
        </a:spcBef>
        <a:buNone/>
        <a:defRPr sz="405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37160" indent="-137160" algn="l" defTabSz="685800" rtl="0" eaLnBrk="1" latinLnBrk="0" hangingPunct="1">
        <a:lnSpc>
          <a:spcPct val="90000"/>
        </a:lnSpc>
        <a:spcBef>
          <a:spcPts val="900"/>
        </a:spcBef>
        <a:buClr>
          <a:schemeClr val="accent1">
            <a:lumMod val="75000"/>
          </a:schemeClr>
        </a:buClr>
        <a:buSzPct val="85000"/>
        <a:buFont typeface="Wingdings" pitchFamily="2" charset="2"/>
        <a:buChar char="§"/>
        <a:defRPr sz="1500" kern="1200">
          <a:solidFill>
            <a:schemeClr val="tx1"/>
          </a:solidFill>
          <a:latin typeface="+mn-lt"/>
          <a:ea typeface="+mn-ea"/>
          <a:cs typeface="+mn-cs"/>
        </a:defRPr>
      </a:lvl1pPr>
      <a:lvl2pPr marL="34290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350" kern="1200">
          <a:solidFill>
            <a:schemeClr val="tx1"/>
          </a:solidFill>
          <a:latin typeface="+mn-lt"/>
          <a:ea typeface="+mn-ea"/>
          <a:cs typeface="+mn-cs"/>
        </a:defRPr>
      </a:lvl2pPr>
      <a:lvl3pPr marL="54864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3pPr>
      <a:lvl4pPr marL="75438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4pPr>
      <a:lvl5pPr marL="96012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5pPr>
      <a:lvl6pPr marL="120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6pPr>
      <a:lvl7pPr marL="142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7pPr>
      <a:lvl8pPr marL="165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8pPr>
      <a:lvl9pPr marL="187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Freeform 2"/>
          <p:cNvSpPr>
            <a:spLocks/>
          </p:cNvSpPr>
          <p:nvPr/>
        </p:nvSpPr>
        <p:spPr bwMode="hidden">
          <a:xfrm>
            <a:off x="8837084" y="6429375"/>
            <a:ext cx="381000" cy="209550"/>
          </a:xfrm>
          <a:custGeom>
            <a:avLst/>
            <a:gdLst/>
            <a:ahLst/>
            <a:cxnLst>
              <a:cxn ang="0">
                <a:pos x="0" y="132"/>
              </a:cxn>
              <a:cxn ang="0">
                <a:pos x="29" y="132"/>
              </a:cxn>
              <a:cxn ang="0">
                <a:pos x="77" y="108"/>
              </a:cxn>
              <a:cxn ang="0">
                <a:pos x="119" y="78"/>
              </a:cxn>
              <a:cxn ang="0">
                <a:pos x="155" y="48"/>
              </a:cxn>
              <a:cxn ang="0">
                <a:pos x="179" y="12"/>
              </a:cxn>
              <a:cxn ang="0">
                <a:pos x="173" y="6"/>
              </a:cxn>
              <a:cxn ang="0">
                <a:pos x="167" y="0"/>
              </a:cxn>
              <a:cxn ang="0">
                <a:pos x="137" y="42"/>
              </a:cxn>
              <a:cxn ang="0">
                <a:pos x="101" y="78"/>
              </a:cxn>
              <a:cxn ang="0">
                <a:pos x="53" y="108"/>
              </a:cxn>
              <a:cxn ang="0">
                <a:pos x="0" y="132"/>
              </a:cxn>
              <a:cxn ang="0">
                <a:pos x="0" y="132"/>
              </a:cxn>
            </a:cxnLst>
            <a:rect l="0" t="0" r="r" b="b"/>
            <a:pathLst>
              <a:path w="179" h="132">
                <a:moveTo>
                  <a:pt x="0" y="132"/>
                </a:moveTo>
                <a:lnTo>
                  <a:pt x="29" y="132"/>
                </a:lnTo>
                <a:lnTo>
                  <a:pt x="77" y="108"/>
                </a:lnTo>
                <a:lnTo>
                  <a:pt x="119" y="78"/>
                </a:lnTo>
                <a:lnTo>
                  <a:pt x="155" y="48"/>
                </a:lnTo>
                <a:lnTo>
                  <a:pt x="179" y="12"/>
                </a:lnTo>
                <a:lnTo>
                  <a:pt x="173" y="6"/>
                </a:lnTo>
                <a:lnTo>
                  <a:pt x="167" y="0"/>
                </a:lnTo>
                <a:lnTo>
                  <a:pt x="137" y="42"/>
                </a:lnTo>
                <a:lnTo>
                  <a:pt x="101" y="78"/>
                </a:lnTo>
                <a:lnTo>
                  <a:pt x="53" y="108"/>
                </a:lnTo>
                <a:lnTo>
                  <a:pt x="0" y="132"/>
                </a:lnTo>
                <a:lnTo>
                  <a:pt x="0" y="132"/>
                </a:lnTo>
                <a:close/>
              </a:path>
            </a:pathLst>
          </a:custGeom>
          <a:gradFill rotWithShape="0">
            <a:gsLst>
              <a:gs pos="0">
                <a:schemeClr val="accent2"/>
              </a:gs>
              <a:gs pos="100000">
                <a:schemeClr val="accent2">
                  <a:gamma/>
                  <a:shade val="87843"/>
                  <a:invGamma/>
                </a:schemeClr>
              </a:gs>
            </a:gsLst>
            <a:lin ang="18900000" scaled="1"/>
          </a:gradFill>
          <a:ln w="9525">
            <a:noFill/>
            <a:round/>
            <a:headEnd/>
            <a:tailEnd/>
          </a:ln>
        </p:spPr>
        <p:txBody>
          <a:bodyPr/>
          <a:lstStyle/>
          <a:p>
            <a:pPr>
              <a:defRPr/>
            </a:pPr>
            <a:endParaRPr lang="en-US" sz="1800"/>
          </a:p>
        </p:txBody>
      </p:sp>
      <p:grpSp>
        <p:nvGrpSpPr>
          <p:cNvPr id="1027" name="Group 3"/>
          <p:cNvGrpSpPr>
            <a:grpSpLocks/>
          </p:cNvGrpSpPr>
          <p:nvPr/>
        </p:nvGrpSpPr>
        <p:grpSpPr bwMode="auto">
          <a:xfrm>
            <a:off x="4234" y="4267200"/>
            <a:ext cx="12187767" cy="2590800"/>
            <a:chOff x="2" y="2688"/>
            <a:chExt cx="5758" cy="1632"/>
          </a:xfrm>
        </p:grpSpPr>
        <p:sp>
          <p:nvSpPr>
            <p:cNvPr id="25604" name="Freeform 4"/>
            <p:cNvSpPr>
              <a:spLocks/>
            </p:cNvSpPr>
            <p:nvPr/>
          </p:nvSpPr>
          <p:spPr bwMode="hidden">
            <a:xfrm>
              <a:off x="2" y="2688"/>
              <a:ext cx="5758" cy="1632"/>
            </a:xfrm>
            <a:custGeom>
              <a:avLst/>
              <a:gdLst/>
              <a:ahLst/>
              <a:cxnLst>
                <a:cxn ang="0">
                  <a:pos x="5740" y="4316"/>
                </a:cxn>
                <a:cxn ang="0">
                  <a:pos x="0" y="4316"/>
                </a:cxn>
                <a:cxn ang="0">
                  <a:pos x="0" y="0"/>
                </a:cxn>
                <a:cxn ang="0">
                  <a:pos x="5740" y="0"/>
                </a:cxn>
                <a:cxn ang="0">
                  <a:pos x="5740" y="4316"/>
                </a:cxn>
                <a:cxn ang="0">
                  <a:pos x="5740" y="4316"/>
                </a:cxn>
              </a:cxnLst>
              <a:rect l="0" t="0" r="r" b="b"/>
              <a:pathLst>
                <a:path w="5740" h="4316">
                  <a:moveTo>
                    <a:pt x="5740" y="4316"/>
                  </a:moveTo>
                  <a:lnTo>
                    <a:pt x="0" y="4316"/>
                  </a:lnTo>
                  <a:lnTo>
                    <a:pt x="0" y="0"/>
                  </a:lnTo>
                  <a:lnTo>
                    <a:pt x="5740" y="0"/>
                  </a:lnTo>
                  <a:lnTo>
                    <a:pt x="5740" y="4316"/>
                  </a:lnTo>
                  <a:lnTo>
                    <a:pt x="5740" y="431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grpSp>
          <p:nvGrpSpPr>
            <p:cNvPr id="1034" name="Group 5"/>
            <p:cNvGrpSpPr>
              <a:grpSpLocks/>
            </p:cNvGrpSpPr>
            <p:nvPr userDrawn="1"/>
          </p:nvGrpSpPr>
          <p:grpSpPr bwMode="auto">
            <a:xfrm>
              <a:off x="3528" y="3715"/>
              <a:ext cx="792" cy="521"/>
              <a:chOff x="3527" y="3715"/>
              <a:chExt cx="792" cy="521"/>
            </a:xfrm>
          </p:grpSpPr>
          <p:sp>
            <p:nvSpPr>
              <p:cNvPr id="25606" name="Oval 6"/>
              <p:cNvSpPr>
                <a:spLocks noChangeArrowheads="1"/>
              </p:cNvSpPr>
              <p:nvPr/>
            </p:nvSpPr>
            <p:spPr bwMode="hidden">
              <a:xfrm>
                <a:off x="3686" y="3810"/>
                <a:ext cx="532" cy="327"/>
              </a:xfrm>
              <a:prstGeom prst="ellipse">
                <a:avLst/>
              </a:prstGeom>
              <a:gradFill rotWithShape="0">
                <a:gsLst>
                  <a:gs pos="0">
                    <a:schemeClr val="accent2"/>
                  </a:gs>
                  <a:gs pos="100000">
                    <a:schemeClr val="accent2">
                      <a:gamma/>
                      <a:shade val="90980"/>
                      <a:invGamma/>
                    </a:schemeClr>
                  </a:gs>
                </a:gsLst>
                <a:path path="shape">
                  <a:fillToRect l="50000" t="50000" r="50000" b="50000"/>
                </a:path>
              </a:gradFill>
              <a:ln w="9525">
                <a:noFill/>
                <a:round/>
                <a:headEnd/>
                <a:tailEnd/>
              </a:ln>
              <a:effectLst/>
            </p:spPr>
            <p:txBody>
              <a:bodyPr/>
              <a:lstStyle/>
              <a:p>
                <a:pPr>
                  <a:defRPr/>
                </a:pPr>
                <a:endParaRPr lang="en-US" sz="1800"/>
              </a:p>
            </p:txBody>
          </p:sp>
          <p:sp>
            <p:nvSpPr>
              <p:cNvPr id="25607" name="Oval 7"/>
              <p:cNvSpPr>
                <a:spLocks noChangeArrowheads="1"/>
              </p:cNvSpPr>
              <p:nvPr/>
            </p:nvSpPr>
            <p:spPr bwMode="hidden">
              <a:xfrm>
                <a:off x="3726" y="3840"/>
                <a:ext cx="452" cy="275"/>
              </a:xfrm>
              <a:prstGeom prst="ellipse">
                <a:avLst/>
              </a:prstGeom>
              <a:gradFill rotWithShape="0">
                <a:gsLst>
                  <a:gs pos="0">
                    <a:schemeClr val="accent2">
                      <a:gamma/>
                      <a:shade val="90980"/>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08" name="Oval 8"/>
              <p:cNvSpPr>
                <a:spLocks noChangeArrowheads="1"/>
              </p:cNvSpPr>
              <p:nvPr/>
            </p:nvSpPr>
            <p:spPr bwMode="hidden">
              <a:xfrm>
                <a:off x="3782" y="3872"/>
                <a:ext cx="344" cy="2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09" name="Oval 9"/>
              <p:cNvSpPr>
                <a:spLocks noChangeArrowheads="1"/>
              </p:cNvSpPr>
              <p:nvPr/>
            </p:nvSpPr>
            <p:spPr bwMode="hidden">
              <a:xfrm>
                <a:off x="3822" y="3896"/>
                <a:ext cx="262" cy="159"/>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10" name="Oval 10"/>
              <p:cNvSpPr>
                <a:spLocks noChangeArrowheads="1"/>
              </p:cNvSpPr>
              <p:nvPr/>
            </p:nvSpPr>
            <p:spPr bwMode="hidden">
              <a:xfrm>
                <a:off x="3856" y="3922"/>
                <a:ext cx="192" cy="1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11" name="Freeform 11"/>
              <p:cNvSpPr>
                <a:spLocks/>
              </p:cNvSpPr>
              <p:nvPr/>
            </p:nvSpPr>
            <p:spPr bwMode="hidden">
              <a:xfrm>
                <a:off x="3575" y="3715"/>
                <a:ext cx="383" cy="161"/>
              </a:xfrm>
              <a:custGeom>
                <a:avLst/>
                <a:gdLst/>
                <a:ahLst/>
                <a:cxnLst>
                  <a:cxn ang="0">
                    <a:pos x="376" y="12"/>
                  </a:cxn>
                  <a:cxn ang="0">
                    <a:pos x="257" y="24"/>
                  </a:cxn>
                  <a:cxn ang="0">
                    <a:pos x="149" y="54"/>
                  </a:cxn>
                  <a:cxn ang="0">
                    <a:pos x="101" y="77"/>
                  </a:cxn>
                  <a:cxn ang="0">
                    <a:pos x="59" y="101"/>
                  </a:cxn>
                  <a:cxn ang="0">
                    <a:pos x="24" y="131"/>
                  </a:cxn>
                  <a:cxn ang="0">
                    <a:pos x="0" y="161"/>
                  </a:cxn>
                  <a:cxn ang="0">
                    <a:pos x="0" y="137"/>
                  </a:cxn>
                  <a:cxn ang="0">
                    <a:pos x="29" y="107"/>
                  </a:cxn>
                  <a:cxn ang="0">
                    <a:pos x="65" y="83"/>
                  </a:cxn>
                  <a:cxn ang="0">
                    <a:pos x="155" y="36"/>
                  </a:cxn>
                  <a:cxn ang="0">
                    <a:pos x="257" y="12"/>
                  </a:cxn>
                  <a:cxn ang="0">
                    <a:pos x="376" y="0"/>
                  </a:cxn>
                  <a:cxn ang="0">
                    <a:pos x="376" y="0"/>
                  </a:cxn>
                  <a:cxn ang="0">
                    <a:pos x="382" y="0"/>
                  </a:cxn>
                  <a:cxn ang="0">
                    <a:pos x="382" y="12"/>
                  </a:cxn>
                  <a:cxn ang="0">
                    <a:pos x="376" y="12"/>
                  </a:cxn>
                  <a:cxn ang="0">
                    <a:pos x="376" y="12"/>
                  </a:cxn>
                  <a:cxn ang="0">
                    <a:pos x="376" y="12"/>
                  </a:cxn>
                </a:cxnLst>
                <a:rect l="0" t="0" r="r" b="b"/>
                <a:pathLst>
                  <a:path w="382" h="161">
                    <a:moveTo>
                      <a:pt x="376" y="12"/>
                    </a:moveTo>
                    <a:lnTo>
                      <a:pt x="257" y="24"/>
                    </a:lnTo>
                    <a:lnTo>
                      <a:pt x="149" y="54"/>
                    </a:lnTo>
                    <a:lnTo>
                      <a:pt x="101" y="77"/>
                    </a:lnTo>
                    <a:lnTo>
                      <a:pt x="59" y="101"/>
                    </a:lnTo>
                    <a:lnTo>
                      <a:pt x="24" y="131"/>
                    </a:lnTo>
                    <a:lnTo>
                      <a:pt x="0" y="161"/>
                    </a:lnTo>
                    <a:lnTo>
                      <a:pt x="0" y="137"/>
                    </a:lnTo>
                    <a:lnTo>
                      <a:pt x="29" y="107"/>
                    </a:lnTo>
                    <a:lnTo>
                      <a:pt x="65" y="83"/>
                    </a:lnTo>
                    <a:lnTo>
                      <a:pt x="155" y="36"/>
                    </a:lnTo>
                    <a:lnTo>
                      <a:pt x="257" y="12"/>
                    </a:lnTo>
                    <a:lnTo>
                      <a:pt x="376" y="0"/>
                    </a:lnTo>
                    <a:lnTo>
                      <a:pt x="376" y="0"/>
                    </a:lnTo>
                    <a:lnTo>
                      <a:pt x="382" y="0"/>
                    </a:lnTo>
                    <a:lnTo>
                      <a:pt x="382" y="12"/>
                    </a:lnTo>
                    <a:lnTo>
                      <a:pt x="376" y="12"/>
                    </a:lnTo>
                    <a:lnTo>
                      <a:pt x="376" y="12"/>
                    </a:lnTo>
                    <a:lnTo>
                      <a:pt x="376" y="12"/>
                    </a:lnTo>
                    <a:close/>
                  </a:path>
                </a:pathLst>
              </a:custGeom>
              <a:gradFill rotWithShape="0">
                <a:gsLst>
                  <a:gs pos="0">
                    <a:schemeClr val="accent2">
                      <a:gamma/>
                      <a:shade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612" name="Freeform 12"/>
              <p:cNvSpPr>
                <a:spLocks/>
              </p:cNvSpPr>
              <p:nvPr/>
            </p:nvSpPr>
            <p:spPr bwMode="hidden">
              <a:xfrm>
                <a:off x="3695" y="4170"/>
                <a:ext cx="444" cy="66"/>
              </a:xfrm>
              <a:custGeom>
                <a:avLst/>
                <a:gdLst/>
                <a:ahLst/>
                <a:cxnLst>
                  <a:cxn ang="0">
                    <a:pos x="257" y="54"/>
                  </a:cxn>
                  <a:cxn ang="0">
                    <a:pos x="353" y="48"/>
                  </a:cxn>
                  <a:cxn ang="0">
                    <a:pos x="443" y="24"/>
                  </a:cxn>
                  <a:cxn ang="0">
                    <a:pos x="443" y="36"/>
                  </a:cxn>
                  <a:cxn ang="0">
                    <a:pos x="353" y="60"/>
                  </a:cxn>
                  <a:cxn ang="0">
                    <a:pos x="257" y="66"/>
                  </a:cxn>
                  <a:cxn ang="0">
                    <a:pos x="186" y="60"/>
                  </a:cxn>
                  <a:cxn ang="0">
                    <a:pos x="120" y="48"/>
                  </a:cxn>
                  <a:cxn ang="0">
                    <a:pos x="60" y="36"/>
                  </a:cxn>
                  <a:cxn ang="0">
                    <a:pos x="0" y="12"/>
                  </a:cxn>
                  <a:cxn ang="0">
                    <a:pos x="0" y="0"/>
                  </a:cxn>
                  <a:cxn ang="0">
                    <a:pos x="54" y="24"/>
                  </a:cxn>
                  <a:cxn ang="0">
                    <a:pos x="120" y="36"/>
                  </a:cxn>
                  <a:cxn ang="0">
                    <a:pos x="186" y="48"/>
                  </a:cxn>
                  <a:cxn ang="0">
                    <a:pos x="257" y="54"/>
                  </a:cxn>
                  <a:cxn ang="0">
                    <a:pos x="257" y="54"/>
                  </a:cxn>
                </a:cxnLst>
                <a:rect l="0" t="0" r="r" b="b"/>
                <a:pathLst>
                  <a:path w="443" h="66">
                    <a:moveTo>
                      <a:pt x="257" y="54"/>
                    </a:moveTo>
                    <a:lnTo>
                      <a:pt x="353" y="48"/>
                    </a:lnTo>
                    <a:lnTo>
                      <a:pt x="443" y="24"/>
                    </a:lnTo>
                    <a:lnTo>
                      <a:pt x="443" y="36"/>
                    </a:lnTo>
                    <a:lnTo>
                      <a:pt x="353" y="60"/>
                    </a:lnTo>
                    <a:lnTo>
                      <a:pt x="257" y="66"/>
                    </a:lnTo>
                    <a:lnTo>
                      <a:pt x="186" y="60"/>
                    </a:lnTo>
                    <a:lnTo>
                      <a:pt x="120" y="48"/>
                    </a:lnTo>
                    <a:lnTo>
                      <a:pt x="60" y="36"/>
                    </a:lnTo>
                    <a:lnTo>
                      <a:pt x="0" y="12"/>
                    </a:lnTo>
                    <a:lnTo>
                      <a:pt x="0" y="0"/>
                    </a:lnTo>
                    <a:lnTo>
                      <a:pt x="54" y="24"/>
                    </a:lnTo>
                    <a:lnTo>
                      <a:pt x="120" y="36"/>
                    </a:lnTo>
                    <a:lnTo>
                      <a:pt x="186" y="48"/>
                    </a:lnTo>
                    <a:lnTo>
                      <a:pt x="257" y="54"/>
                    </a:lnTo>
                    <a:lnTo>
                      <a:pt x="257" y="54"/>
                    </a:lnTo>
                    <a:close/>
                  </a:path>
                </a:pathLst>
              </a:custGeom>
              <a:gradFill rotWithShape="0">
                <a:gsLst>
                  <a:gs pos="0">
                    <a:schemeClr val="accent2">
                      <a:gamma/>
                      <a:shade val="84706"/>
                      <a:invGamma/>
                    </a:schemeClr>
                  </a:gs>
                  <a:gs pos="100000">
                    <a:schemeClr val="accent2"/>
                  </a:gs>
                </a:gsLst>
                <a:lin ang="18900000" scaled="1"/>
              </a:gradFill>
              <a:ln w="9525">
                <a:noFill/>
                <a:round/>
                <a:headEnd/>
                <a:tailEnd/>
              </a:ln>
            </p:spPr>
            <p:txBody>
              <a:bodyPr/>
              <a:lstStyle/>
              <a:p>
                <a:pPr>
                  <a:defRPr/>
                </a:pPr>
                <a:endParaRPr lang="en-US" sz="1800"/>
              </a:p>
            </p:txBody>
          </p:sp>
          <p:sp>
            <p:nvSpPr>
              <p:cNvPr id="25613" name="Freeform 13"/>
              <p:cNvSpPr>
                <a:spLocks/>
              </p:cNvSpPr>
              <p:nvPr/>
            </p:nvSpPr>
            <p:spPr bwMode="hidden">
              <a:xfrm>
                <a:off x="3527" y="3906"/>
                <a:ext cx="89" cy="216"/>
              </a:xfrm>
              <a:custGeom>
                <a:avLst/>
                <a:gdLst/>
                <a:ahLst/>
                <a:cxnLst>
                  <a:cxn ang="0">
                    <a:pos x="12" y="66"/>
                  </a:cxn>
                  <a:cxn ang="0">
                    <a:pos x="18" y="108"/>
                  </a:cxn>
                  <a:cxn ang="0">
                    <a:pos x="36" y="144"/>
                  </a:cxn>
                  <a:cxn ang="0">
                    <a:pos x="60" y="180"/>
                  </a:cxn>
                  <a:cxn ang="0">
                    <a:pos x="89" y="216"/>
                  </a:cxn>
                  <a:cxn ang="0">
                    <a:pos x="72" y="216"/>
                  </a:cxn>
                  <a:cxn ang="0">
                    <a:pos x="42" y="180"/>
                  </a:cxn>
                  <a:cxn ang="0">
                    <a:pos x="18" y="144"/>
                  </a:cxn>
                  <a:cxn ang="0">
                    <a:pos x="6" y="108"/>
                  </a:cxn>
                  <a:cxn ang="0">
                    <a:pos x="0" y="66"/>
                  </a:cxn>
                  <a:cxn ang="0">
                    <a:pos x="0" y="30"/>
                  </a:cxn>
                  <a:cxn ang="0">
                    <a:pos x="12" y="0"/>
                  </a:cxn>
                  <a:cxn ang="0">
                    <a:pos x="30" y="0"/>
                  </a:cxn>
                  <a:cxn ang="0">
                    <a:pos x="18" y="30"/>
                  </a:cxn>
                  <a:cxn ang="0">
                    <a:pos x="12" y="66"/>
                  </a:cxn>
                  <a:cxn ang="0">
                    <a:pos x="12" y="66"/>
                  </a:cxn>
                </a:cxnLst>
                <a:rect l="0" t="0" r="r" b="b"/>
                <a:pathLst>
                  <a:path w="89" h="216">
                    <a:moveTo>
                      <a:pt x="12" y="66"/>
                    </a:moveTo>
                    <a:lnTo>
                      <a:pt x="18" y="108"/>
                    </a:lnTo>
                    <a:lnTo>
                      <a:pt x="36" y="144"/>
                    </a:lnTo>
                    <a:lnTo>
                      <a:pt x="60" y="180"/>
                    </a:lnTo>
                    <a:lnTo>
                      <a:pt x="89" y="216"/>
                    </a:lnTo>
                    <a:lnTo>
                      <a:pt x="72" y="216"/>
                    </a:lnTo>
                    <a:lnTo>
                      <a:pt x="42" y="180"/>
                    </a:lnTo>
                    <a:lnTo>
                      <a:pt x="18" y="144"/>
                    </a:lnTo>
                    <a:lnTo>
                      <a:pt x="6" y="108"/>
                    </a:lnTo>
                    <a:lnTo>
                      <a:pt x="0" y="66"/>
                    </a:lnTo>
                    <a:lnTo>
                      <a:pt x="0" y="30"/>
                    </a:lnTo>
                    <a:lnTo>
                      <a:pt x="12" y="0"/>
                    </a:lnTo>
                    <a:lnTo>
                      <a:pt x="30" y="0"/>
                    </a:lnTo>
                    <a:lnTo>
                      <a:pt x="18" y="30"/>
                    </a:lnTo>
                    <a:lnTo>
                      <a:pt x="12" y="66"/>
                    </a:lnTo>
                    <a:lnTo>
                      <a:pt x="12" y="66"/>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14" name="Freeform 14"/>
              <p:cNvSpPr>
                <a:spLocks/>
              </p:cNvSpPr>
              <p:nvPr/>
            </p:nvSpPr>
            <p:spPr bwMode="hidden">
              <a:xfrm>
                <a:off x="3569" y="3745"/>
                <a:ext cx="750" cy="461"/>
              </a:xfrm>
              <a:custGeom>
                <a:avLst/>
                <a:gdLst/>
                <a:ahLst/>
                <a:cxnLst>
                  <a:cxn ang="0">
                    <a:pos x="382" y="443"/>
                  </a:cxn>
                  <a:cxn ang="0">
                    <a:pos x="311" y="437"/>
                  </a:cxn>
                  <a:cxn ang="0">
                    <a:pos x="245" y="425"/>
                  </a:cxn>
                  <a:cxn ang="0">
                    <a:pos x="185" y="407"/>
                  </a:cxn>
                  <a:cxn ang="0">
                    <a:pos x="131" y="383"/>
                  </a:cxn>
                  <a:cxn ang="0">
                    <a:pos x="83" y="347"/>
                  </a:cxn>
                  <a:cxn ang="0">
                    <a:pos x="53" y="311"/>
                  </a:cxn>
                  <a:cxn ang="0">
                    <a:pos x="30" y="269"/>
                  </a:cxn>
                  <a:cxn ang="0">
                    <a:pos x="24" y="227"/>
                  </a:cxn>
                  <a:cxn ang="0">
                    <a:pos x="30" y="185"/>
                  </a:cxn>
                  <a:cxn ang="0">
                    <a:pos x="53" y="143"/>
                  </a:cxn>
                  <a:cxn ang="0">
                    <a:pos x="83" y="107"/>
                  </a:cxn>
                  <a:cxn ang="0">
                    <a:pos x="131" y="77"/>
                  </a:cxn>
                  <a:cxn ang="0">
                    <a:pos x="185" y="47"/>
                  </a:cxn>
                  <a:cxn ang="0">
                    <a:pos x="245" y="30"/>
                  </a:cxn>
                  <a:cxn ang="0">
                    <a:pos x="311" y="18"/>
                  </a:cxn>
                  <a:cxn ang="0">
                    <a:pos x="382" y="12"/>
                  </a:cxn>
                  <a:cxn ang="0">
                    <a:pos x="478" y="18"/>
                  </a:cxn>
                  <a:cxn ang="0">
                    <a:pos x="562" y="41"/>
                  </a:cxn>
                  <a:cxn ang="0">
                    <a:pos x="562" y="36"/>
                  </a:cxn>
                  <a:cxn ang="0">
                    <a:pos x="562" y="30"/>
                  </a:cxn>
                  <a:cxn ang="0">
                    <a:pos x="478" y="6"/>
                  </a:cxn>
                  <a:cxn ang="0">
                    <a:pos x="382" y="0"/>
                  </a:cxn>
                  <a:cxn ang="0">
                    <a:pos x="305" y="6"/>
                  </a:cxn>
                  <a:cxn ang="0">
                    <a:pos x="233" y="18"/>
                  </a:cxn>
                  <a:cxn ang="0">
                    <a:pos x="167" y="41"/>
                  </a:cxn>
                  <a:cxn ang="0">
                    <a:pos x="113" y="65"/>
                  </a:cxn>
                  <a:cxn ang="0">
                    <a:pos x="65" y="101"/>
                  </a:cxn>
                  <a:cxn ang="0">
                    <a:pos x="30" y="137"/>
                  </a:cxn>
                  <a:cxn ang="0">
                    <a:pos x="6" y="179"/>
                  </a:cxn>
                  <a:cxn ang="0">
                    <a:pos x="0" y="227"/>
                  </a:cxn>
                  <a:cxn ang="0">
                    <a:pos x="6" y="275"/>
                  </a:cxn>
                  <a:cxn ang="0">
                    <a:pos x="30" y="317"/>
                  </a:cxn>
                  <a:cxn ang="0">
                    <a:pos x="65" y="359"/>
                  </a:cxn>
                  <a:cxn ang="0">
                    <a:pos x="113" y="395"/>
                  </a:cxn>
                  <a:cxn ang="0">
                    <a:pos x="167" y="419"/>
                  </a:cxn>
                  <a:cxn ang="0">
                    <a:pos x="233" y="443"/>
                  </a:cxn>
                  <a:cxn ang="0">
                    <a:pos x="305" y="455"/>
                  </a:cxn>
                  <a:cxn ang="0">
                    <a:pos x="382" y="461"/>
                  </a:cxn>
                  <a:cxn ang="0">
                    <a:pos x="448" y="455"/>
                  </a:cxn>
                  <a:cxn ang="0">
                    <a:pos x="508" y="449"/>
                  </a:cxn>
                  <a:cxn ang="0">
                    <a:pos x="609" y="413"/>
                  </a:cxn>
                  <a:cxn ang="0">
                    <a:pos x="657" y="389"/>
                  </a:cxn>
                  <a:cxn ang="0">
                    <a:pos x="693" y="359"/>
                  </a:cxn>
                  <a:cxn ang="0">
                    <a:pos x="723" y="329"/>
                  </a:cxn>
                  <a:cxn ang="0">
                    <a:pos x="747" y="293"/>
                  </a:cxn>
                  <a:cxn ang="0">
                    <a:pos x="741" y="287"/>
                  </a:cxn>
                  <a:cxn ang="0">
                    <a:pos x="729" y="281"/>
                  </a:cxn>
                  <a:cxn ang="0">
                    <a:pos x="711" y="317"/>
                  </a:cxn>
                  <a:cxn ang="0">
                    <a:pos x="681" y="347"/>
                  </a:cxn>
                  <a:cxn ang="0">
                    <a:pos x="645" y="377"/>
                  </a:cxn>
                  <a:cxn ang="0">
                    <a:pos x="604" y="401"/>
                  </a:cxn>
                  <a:cxn ang="0">
                    <a:pos x="502" y="431"/>
                  </a:cxn>
                  <a:cxn ang="0">
                    <a:pos x="442" y="443"/>
                  </a:cxn>
                  <a:cxn ang="0">
                    <a:pos x="382" y="443"/>
                  </a:cxn>
                  <a:cxn ang="0">
                    <a:pos x="382" y="443"/>
                  </a:cxn>
                </a:cxnLst>
                <a:rect l="0" t="0" r="r" b="b"/>
                <a:pathLst>
                  <a:path w="747" h="461">
                    <a:moveTo>
                      <a:pt x="382" y="443"/>
                    </a:moveTo>
                    <a:lnTo>
                      <a:pt x="311" y="437"/>
                    </a:lnTo>
                    <a:lnTo>
                      <a:pt x="245" y="425"/>
                    </a:lnTo>
                    <a:lnTo>
                      <a:pt x="185" y="407"/>
                    </a:lnTo>
                    <a:lnTo>
                      <a:pt x="131" y="383"/>
                    </a:lnTo>
                    <a:lnTo>
                      <a:pt x="83" y="347"/>
                    </a:lnTo>
                    <a:lnTo>
                      <a:pt x="53" y="311"/>
                    </a:lnTo>
                    <a:lnTo>
                      <a:pt x="30" y="269"/>
                    </a:lnTo>
                    <a:lnTo>
                      <a:pt x="24" y="227"/>
                    </a:lnTo>
                    <a:lnTo>
                      <a:pt x="30" y="185"/>
                    </a:lnTo>
                    <a:lnTo>
                      <a:pt x="53" y="143"/>
                    </a:lnTo>
                    <a:lnTo>
                      <a:pt x="83" y="107"/>
                    </a:lnTo>
                    <a:lnTo>
                      <a:pt x="131" y="77"/>
                    </a:lnTo>
                    <a:lnTo>
                      <a:pt x="185" y="47"/>
                    </a:lnTo>
                    <a:lnTo>
                      <a:pt x="245" y="30"/>
                    </a:lnTo>
                    <a:lnTo>
                      <a:pt x="311" y="18"/>
                    </a:lnTo>
                    <a:lnTo>
                      <a:pt x="382" y="12"/>
                    </a:lnTo>
                    <a:lnTo>
                      <a:pt x="478" y="18"/>
                    </a:lnTo>
                    <a:lnTo>
                      <a:pt x="562" y="41"/>
                    </a:lnTo>
                    <a:lnTo>
                      <a:pt x="562" y="36"/>
                    </a:lnTo>
                    <a:lnTo>
                      <a:pt x="562" y="30"/>
                    </a:lnTo>
                    <a:lnTo>
                      <a:pt x="478" y="6"/>
                    </a:lnTo>
                    <a:lnTo>
                      <a:pt x="382" y="0"/>
                    </a:lnTo>
                    <a:lnTo>
                      <a:pt x="305" y="6"/>
                    </a:lnTo>
                    <a:lnTo>
                      <a:pt x="233" y="18"/>
                    </a:lnTo>
                    <a:lnTo>
                      <a:pt x="167" y="41"/>
                    </a:lnTo>
                    <a:lnTo>
                      <a:pt x="113" y="65"/>
                    </a:lnTo>
                    <a:lnTo>
                      <a:pt x="65" y="101"/>
                    </a:lnTo>
                    <a:lnTo>
                      <a:pt x="30" y="137"/>
                    </a:lnTo>
                    <a:lnTo>
                      <a:pt x="6" y="179"/>
                    </a:lnTo>
                    <a:lnTo>
                      <a:pt x="0" y="227"/>
                    </a:lnTo>
                    <a:lnTo>
                      <a:pt x="6" y="275"/>
                    </a:lnTo>
                    <a:lnTo>
                      <a:pt x="30" y="317"/>
                    </a:lnTo>
                    <a:lnTo>
                      <a:pt x="65" y="359"/>
                    </a:lnTo>
                    <a:lnTo>
                      <a:pt x="113" y="395"/>
                    </a:lnTo>
                    <a:lnTo>
                      <a:pt x="167" y="419"/>
                    </a:lnTo>
                    <a:lnTo>
                      <a:pt x="233" y="443"/>
                    </a:lnTo>
                    <a:lnTo>
                      <a:pt x="305" y="455"/>
                    </a:lnTo>
                    <a:lnTo>
                      <a:pt x="382" y="461"/>
                    </a:lnTo>
                    <a:lnTo>
                      <a:pt x="448" y="455"/>
                    </a:lnTo>
                    <a:lnTo>
                      <a:pt x="508" y="449"/>
                    </a:lnTo>
                    <a:lnTo>
                      <a:pt x="609" y="413"/>
                    </a:lnTo>
                    <a:lnTo>
                      <a:pt x="657" y="389"/>
                    </a:lnTo>
                    <a:lnTo>
                      <a:pt x="693" y="359"/>
                    </a:lnTo>
                    <a:lnTo>
                      <a:pt x="723" y="329"/>
                    </a:lnTo>
                    <a:lnTo>
                      <a:pt x="747" y="293"/>
                    </a:lnTo>
                    <a:lnTo>
                      <a:pt x="741" y="287"/>
                    </a:lnTo>
                    <a:lnTo>
                      <a:pt x="729" y="281"/>
                    </a:lnTo>
                    <a:lnTo>
                      <a:pt x="711" y="317"/>
                    </a:lnTo>
                    <a:lnTo>
                      <a:pt x="681" y="347"/>
                    </a:lnTo>
                    <a:lnTo>
                      <a:pt x="645" y="377"/>
                    </a:lnTo>
                    <a:lnTo>
                      <a:pt x="604" y="401"/>
                    </a:lnTo>
                    <a:lnTo>
                      <a:pt x="502" y="431"/>
                    </a:lnTo>
                    <a:lnTo>
                      <a:pt x="442" y="443"/>
                    </a:lnTo>
                    <a:lnTo>
                      <a:pt x="382" y="443"/>
                    </a:lnTo>
                    <a:lnTo>
                      <a:pt x="382" y="443"/>
                    </a:lnTo>
                    <a:close/>
                  </a:path>
                </a:pathLst>
              </a:custGeom>
              <a:gradFill rotWithShape="0">
                <a:gsLst>
                  <a:gs pos="0">
                    <a:schemeClr val="accent2"/>
                  </a:gs>
                  <a:gs pos="100000">
                    <a:schemeClr val="accent2">
                      <a:gamma/>
                      <a:shade val="90980"/>
                      <a:invGamma/>
                    </a:schemeClr>
                  </a:gs>
                </a:gsLst>
                <a:path path="rect">
                  <a:fillToRect l="50000" t="50000" r="50000" b="50000"/>
                </a:path>
              </a:gradFill>
              <a:ln w="9525">
                <a:noFill/>
                <a:round/>
                <a:headEnd/>
                <a:tailEnd/>
              </a:ln>
            </p:spPr>
            <p:txBody>
              <a:bodyPr/>
              <a:lstStyle/>
              <a:p>
                <a:pPr>
                  <a:defRPr/>
                </a:pPr>
                <a:endParaRPr lang="en-US" sz="1800"/>
              </a:p>
            </p:txBody>
          </p:sp>
          <p:sp>
            <p:nvSpPr>
              <p:cNvPr id="25615" name="Freeform 15"/>
              <p:cNvSpPr>
                <a:spLocks/>
              </p:cNvSpPr>
              <p:nvPr/>
            </p:nvSpPr>
            <p:spPr bwMode="hidden">
              <a:xfrm>
                <a:off x="4037" y="3721"/>
                <a:ext cx="96" cy="30"/>
              </a:xfrm>
              <a:custGeom>
                <a:avLst/>
                <a:gdLst/>
                <a:ahLst/>
                <a:cxnLst>
                  <a:cxn ang="0">
                    <a:pos x="0" y="0"/>
                  </a:cxn>
                  <a:cxn ang="0">
                    <a:pos x="0" y="12"/>
                  </a:cxn>
                  <a:cxn ang="0">
                    <a:pos x="48" y="18"/>
                  </a:cxn>
                  <a:cxn ang="0">
                    <a:pos x="96" y="30"/>
                  </a:cxn>
                  <a:cxn ang="0">
                    <a:pos x="96" y="24"/>
                  </a:cxn>
                  <a:cxn ang="0">
                    <a:pos x="96" y="18"/>
                  </a:cxn>
                  <a:cxn ang="0">
                    <a:pos x="48" y="12"/>
                  </a:cxn>
                  <a:cxn ang="0">
                    <a:pos x="0" y="0"/>
                  </a:cxn>
                  <a:cxn ang="0">
                    <a:pos x="0" y="0"/>
                  </a:cxn>
                </a:cxnLst>
                <a:rect l="0" t="0" r="r" b="b"/>
                <a:pathLst>
                  <a:path w="96" h="30">
                    <a:moveTo>
                      <a:pt x="0" y="0"/>
                    </a:moveTo>
                    <a:lnTo>
                      <a:pt x="0" y="12"/>
                    </a:lnTo>
                    <a:lnTo>
                      <a:pt x="48" y="18"/>
                    </a:lnTo>
                    <a:lnTo>
                      <a:pt x="96" y="30"/>
                    </a:lnTo>
                    <a:lnTo>
                      <a:pt x="96" y="24"/>
                    </a:lnTo>
                    <a:lnTo>
                      <a:pt x="96" y="18"/>
                    </a:lnTo>
                    <a:lnTo>
                      <a:pt x="48" y="12"/>
                    </a:lnTo>
                    <a:lnTo>
                      <a:pt x="0" y="0"/>
                    </a:lnTo>
                    <a:lnTo>
                      <a:pt x="0" y="0"/>
                    </a:lnTo>
                    <a:close/>
                  </a:path>
                </a:pathLst>
              </a:custGeom>
              <a:gradFill rotWithShape="0">
                <a:gsLst>
                  <a:gs pos="0">
                    <a:schemeClr val="accent2"/>
                  </a:gs>
                  <a:gs pos="100000">
                    <a:schemeClr val="accent2">
                      <a:gamma/>
                      <a:shade val="87843"/>
                      <a:invGamma/>
                    </a:schemeClr>
                  </a:gs>
                </a:gsLst>
                <a:lin ang="0" scaled="1"/>
              </a:gradFill>
              <a:ln w="9525">
                <a:noFill/>
                <a:round/>
                <a:headEnd/>
                <a:tailEnd/>
              </a:ln>
            </p:spPr>
            <p:txBody>
              <a:bodyPr/>
              <a:lstStyle/>
              <a:p>
                <a:pPr>
                  <a:defRPr/>
                </a:pPr>
                <a:endParaRPr lang="en-US" sz="1800"/>
              </a:p>
            </p:txBody>
          </p:sp>
          <p:sp>
            <p:nvSpPr>
              <p:cNvPr id="25616" name="Oval 16"/>
              <p:cNvSpPr>
                <a:spLocks noChangeArrowheads="1"/>
              </p:cNvSpPr>
              <p:nvPr/>
            </p:nvSpPr>
            <p:spPr bwMode="hidden">
              <a:xfrm>
                <a:off x="3910" y="3948"/>
                <a:ext cx="84" cy="53"/>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1035" name="Group 17"/>
            <p:cNvGrpSpPr>
              <a:grpSpLocks/>
            </p:cNvGrpSpPr>
            <p:nvPr userDrawn="1"/>
          </p:nvGrpSpPr>
          <p:grpSpPr bwMode="auto">
            <a:xfrm>
              <a:off x="1776" y="3631"/>
              <a:ext cx="1626" cy="683"/>
              <a:chOff x="1776" y="3631"/>
              <a:chExt cx="1626" cy="683"/>
            </a:xfrm>
          </p:grpSpPr>
          <p:sp>
            <p:nvSpPr>
              <p:cNvPr id="25618" name="Oval 18"/>
              <p:cNvSpPr>
                <a:spLocks noChangeArrowheads="1"/>
              </p:cNvSpPr>
              <p:nvPr/>
            </p:nvSpPr>
            <p:spPr bwMode="hidden">
              <a:xfrm>
                <a:off x="2268" y="3934"/>
                <a:ext cx="638" cy="377"/>
              </a:xfrm>
              <a:prstGeom prst="ellipse">
                <a:avLst/>
              </a:prstGeom>
              <a:gradFill rotWithShape="0">
                <a:gsLst>
                  <a:gs pos="0">
                    <a:schemeClr val="accent2">
                      <a:gamma/>
                      <a:shade val="87843"/>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25619" name="Oval 19"/>
              <p:cNvSpPr>
                <a:spLocks noChangeArrowheads="1"/>
              </p:cNvSpPr>
              <p:nvPr/>
            </p:nvSpPr>
            <p:spPr bwMode="hidden">
              <a:xfrm>
                <a:off x="2314" y="3958"/>
                <a:ext cx="543" cy="332"/>
              </a:xfrm>
              <a:prstGeom prst="ellipse">
                <a:avLst/>
              </a:prstGeom>
              <a:gradFill rotWithShape="0">
                <a:gsLst>
                  <a:gs pos="0">
                    <a:schemeClr val="accent2"/>
                  </a:gs>
                  <a:gs pos="100000">
                    <a:schemeClr val="accent2">
                      <a:gamma/>
                      <a:shade val="87843"/>
                      <a:invGamma/>
                    </a:schemeClr>
                  </a:gs>
                </a:gsLst>
                <a:lin ang="2700000" scaled="1"/>
              </a:gradFill>
              <a:ln w="9525">
                <a:noFill/>
                <a:round/>
                <a:headEnd/>
                <a:tailEnd/>
              </a:ln>
              <a:effectLst/>
            </p:spPr>
            <p:txBody>
              <a:bodyPr/>
              <a:lstStyle/>
              <a:p>
                <a:pPr>
                  <a:defRPr/>
                </a:pPr>
                <a:endParaRPr lang="en-US" sz="1800"/>
              </a:p>
            </p:txBody>
          </p:sp>
          <p:sp>
            <p:nvSpPr>
              <p:cNvPr id="25620" name="Oval 20"/>
              <p:cNvSpPr>
                <a:spLocks noChangeArrowheads="1"/>
              </p:cNvSpPr>
              <p:nvPr/>
            </p:nvSpPr>
            <p:spPr bwMode="hidden">
              <a:xfrm>
                <a:off x="2341" y="3979"/>
                <a:ext cx="501" cy="299"/>
              </a:xfrm>
              <a:prstGeom prst="ellipse">
                <a:avLst/>
              </a:prstGeom>
              <a:gradFill rotWithShape="0">
                <a:gsLst>
                  <a:gs pos="0">
                    <a:schemeClr val="accent2">
                      <a:gamma/>
                      <a:shade val="90980"/>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25621" name="Oval 21"/>
              <p:cNvSpPr>
                <a:spLocks noChangeArrowheads="1"/>
              </p:cNvSpPr>
              <p:nvPr/>
            </p:nvSpPr>
            <p:spPr bwMode="hidden">
              <a:xfrm>
                <a:off x="2368" y="3997"/>
                <a:ext cx="444" cy="258"/>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2" name="Oval 22"/>
              <p:cNvSpPr>
                <a:spLocks noChangeArrowheads="1"/>
              </p:cNvSpPr>
              <p:nvPr/>
            </p:nvSpPr>
            <p:spPr bwMode="hidden">
              <a:xfrm>
                <a:off x="2385" y="4005"/>
                <a:ext cx="413" cy="240"/>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3" name="Oval 23"/>
              <p:cNvSpPr>
                <a:spLocks noChangeArrowheads="1"/>
              </p:cNvSpPr>
              <p:nvPr/>
            </p:nvSpPr>
            <p:spPr bwMode="hidden">
              <a:xfrm>
                <a:off x="2437" y="4026"/>
                <a:ext cx="306" cy="192"/>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4" name="Oval 24"/>
              <p:cNvSpPr>
                <a:spLocks noChangeArrowheads="1"/>
              </p:cNvSpPr>
              <p:nvPr/>
            </p:nvSpPr>
            <p:spPr bwMode="hidden">
              <a:xfrm>
                <a:off x="2476" y="4056"/>
                <a:ext cx="227" cy="135"/>
              </a:xfrm>
              <a:prstGeom prst="ellipse">
                <a:avLst/>
              </a:prstGeom>
              <a:gradFill rotWithShape="0">
                <a:gsLst>
                  <a:gs pos="0">
                    <a:schemeClr val="accent2"/>
                  </a:gs>
                  <a:gs pos="100000">
                    <a:schemeClr val="accent2">
                      <a:gamma/>
                      <a:shade val="90980"/>
                      <a:invGamma/>
                    </a:schemeClr>
                  </a:gs>
                </a:gsLst>
                <a:lin ang="2700000" scaled="1"/>
              </a:gradFill>
              <a:ln w="9525">
                <a:noFill/>
                <a:round/>
                <a:headEnd/>
                <a:tailEnd/>
              </a:ln>
              <a:effectLst/>
            </p:spPr>
            <p:txBody>
              <a:bodyPr/>
              <a:lstStyle/>
              <a:p>
                <a:pPr>
                  <a:defRPr/>
                </a:pPr>
                <a:endParaRPr lang="en-US" sz="1800"/>
              </a:p>
            </p:txBody>
          </p:sp>
          <p:sp>
            <p:nvSpPr>
              <p:cNvPr id="25625" name="Oval 25"/>
              <p:cNvSpPr>
                <a:spLocks noChangeArrowheads="1"/>
              </p:cNvSpPr>
              <p:nvPr/>
            </p:nvSpPr>
            <p:spPr bwMode="hidden">
              <a:xfrm>
                <a:off x="2542" y="4097"/>
                <a:ext cx="90" cy="60"/>
              </a:xfrm>
              <a:prstGeom prst="ellipse">
                <a:avLst/>
              </a:prstGeom>
              <a:gradFill rotWithShape="0">
                <a:gsLst>
                  <a:gs pos="0">
                    <a:schemeClr val="accent2"/>
                  </a:gs>
                  <a:gs pos="100000">
                    <a:schemeClr val="accent2">
                      <a:gamma/>
                      <a:shade val="90980"/>
                      <a:invGamma/>
                    </a:schemeClr>
                  </a:gs>
                </a:gsLst>
                <a:lin ang="0" scaled="1"/>
              </a:gradFill>
              <a:ln w="9525">
                <a:noFill/>
                <a:round/>
                <a:headEnd/>
                <a:tailEnd/>
              </a:ln>
              <a:effectLst/>
            </p:spPr>
            <p:txBody>
              <a:bodyPr/>
              <a:lstStyle/>
              <a:p>
                <a:pPr>
                  <a:defRPr/>
                </a:pPr>
                <a:endParaRPr lang="en-US" sz="1800"/>
              </a:p>
            </p:txBody>
          </p:sp>
          <p:sp>
            <p:nvSpPr>
              <p:cNvPr id="25626" name="Freeform 26"/>
              <p:cNvSpPr>
                <a:spLocks/>
              </p:cNvSpPr>
              <p:nvPr/>
            </p:nvSpPr>
            <p:spPr bwMode="hidden">
              <a:xfrm>
                <a:off x="2585" y="3822"/>
                <a:ext cx="449" cy="186"/>
              </a:xfrm>
              <a:custGeom>
                <a:avLst/>
                <a:gdLst/>
                <a:ahLst/>
                <a:cxnLst>
                  <a:cxn ang="0">
                    <a:pos x="6" y="6"/>
                  </a:cxn>
                  <a:cxn ang="0">
                    <a:pos x="78" y="12"/>
                  </a:cxn>
                  <a:cxn ang="0">
                    <a:pos x="150" y="18"/>
                  </a:cxn>
                  <a:cxn ang="0">
                    <a:pos x="215" y="36"/>
                  </a:cxn>
                  <a:cxn ang="0">
                    <a:pos x="275" y="60"/>
                  </a:cxn>
                  <a:cxn ang="0">
                    <a:pos x="329" y="84"/>
                  </a:cxn>
                  <a:cxn ang="0">
                    <a:pos x="377" y="114"/>
                  </a:cxn>
                  <a:cxn ang="0">
                    <a:pos x="419" y="150"/>
                  </a:cxn>
                  <a:cxn ang="0">
                    <a:pos x="448" y="186"/>
                  </a:cxn>
                  <a:cxn ang="0">
                    <a:pos x="448" y="162"/>
                  </a:cxn>
                  <a:cxn ang="0">
                    <a:pos x="413" y="126"/>
                  </a:cxn>
                  <a:cxn ang="0">
                    <a:pos x="371" y="96"/>
                  </a:cxn>
                  <a:cxn ang="0">
                    <a:pos x="323" y="66"/>
                  </a:cxn>
                  <a:cxn ang="0">
                    <a:pos x="269" y="48"/>
                  </a:cxn>
                  <a:cxn ang="0">
                    <a:pos x="144" y="12"/>
                  </a:cxn>
                  <a:cxn ang="0">
                    <a:pos x="78" y="6"/>
                  </a:cxn>
                  <a:cxn ang="0">
                    <a:pos x="6" y="0"/>
                  </a:cxn>
                  <a:cxn ang="0">
                    <a:pos x="0" y="0"/>
                  </a:cxn>
                  <a:cxn ang="0">
                    <a:pos x="0" y="0"/>
                  </a:cxn>
                  <a:cxn ang="0">
                    <a:pos x="0" y="6"/>
                  </a:cxn>
                  <a:cxn ang="0">
                    <a:pos x="0" y="6"/>
                  </a:cxn>
                  <a:cxn ang="0">
                    <a:pos x="6" y="6"/>
                  </a:cxn>
                  <a:cxn ang="0">
                    <a:pos x="6" y="6"/>
                  </a:cxn>
                </a:cxnLst>
                <a:rect l="0" t="0" r="r" b="b"/>
                <a:pathLst>
                  <a:path w="448" h="186">
                    <a:moveTo>
                      <a:pt x="6" y="6"/>
                    </a:moveTo>
                    <a:lnTo>
                      <a:pt x="78" y="12"/>
                    </a:lnTo>
                    <a:lnTo>
                      <a:pt x="150" y="18"/>
                    </a:lnTo>
                    <a:lnTo>
                      <a:pt x="215" y="36"/>
                    </a:lnTo>
                    <a:lnTo>
                      <a:pt x="275" y="60"/>
                    </a:lnTo>
                    <a:lnTo>
                      <a:pt x="329" y="84"/>
                    </a:lnTo>
                    <a:lnTo>
                      <a:pt x="377" y="114"/>
                    </a:lnTo>
                    <a:lnTo>
                      <a:pt x="419" y="150"/>
                    </a:lnTo>
                    <a:lnTo>
                      <a:pt x="448" y="186"/>
                    </a:lnTo>
                    <a:lnTo>
                      <a:pt x="448" y="162"/>
                    </a:lnTo>
                    <a:lnTo>
                      <a:pt x="413" y="126"/>
                    </a:lnTo>
                    <a:lnTo>
                      <a:pt x="371" y="96"/>
                    </a:lnTo>
                    <a:lnTo>
                      <a:pt x="323" y="66"/>
                    </a:lnTo>
                    <a:lnTo>
                      <a:pt x="269" y="48"/>
                    </a:lnTo>
                    <a:lnTo>
                      <a:pt x="144" y="12"/>
                    </a:lnTo>
                    <a:lnTo>
                      <a:pt x="78" y="6"/>
                    </a:lnTo>
                    <a:lnTo>
                      <a:pt x="6" y="0"/>
                    </a:lnTo>
                    <a:lnTo>
                      <a:pt x="0" y="0"/>
                    </a:lnTo>
                    <a:lnTo>
                      <a:pt x="0" y="0"/>
                    </a:lnTo>
                    <a:lnTo>
                      <a:pt x="0" y="6"/>
                    </a:lnTo>
                    <a:lnTo>
                      <a:pt x="0" y="6"/>
                    </a:lnTo>
                    <a:lnTo>
                      <a:pt x="6" y="6"/>
                    </a:lnTo>
                    <a:lnTo>
                      <a:pt x="6" y="6"/>
                    </a:lnTo>
                    <a:close/>
                  </a:path>
                </a:pathLst>
              </a:custGeom>
              <a:gradFill rotWithShape="0">
                <a:gsLst>
                  <a:gs pos="0">
                    <a:schemeClr val="accent2">
                      <a:gamma/>
                      <a:shade val="90980"/>
                      <a:invGamma/>
                    </a:schemeClr>
                  </a:gs>
                  <a:gs pos="100000">
                    <a:schemeClr val="accent2"/>
                  </a:gs>
                </a:gsLst>
                <a:lin ang="5400000" scaled="1"/>
              </a:gradFill>
              <a:ln w="9525">
                <a:noFill/>
                <a:round/>
                <a:headEnd/>
                <a:tailEnd/>
              </a:ln>
            </p:spPr>
            <p:txBody>
              <a:bodyPr/>
              <a:lstStyle/>
              <a:p>
                <a:pPr>
                  <a:defRPr/>
                </a:pPr>
                <a:endParaRPr lang="en-US" sz="1800"/>
              </a:p>
            </p:txBody>
          </p:sp>
          <p:sp>
            <p:nvSpPr>
              <p:cNvPr id="25627" name="Freeform 27"/>
              <p:cNvSpPr>
                <a:spLocks/>
              </p:cNvSpPr>
              <p:nvPr/>
            </p:nvSpPr>
            <p:spPr bwMode="hidden">
              <a:xfrm>
                <a:off x="2142" y="3852"/>
                <a:ext cx="892" cy="462"/>
              </a:xfrm>
              <a:custGeom>
                <a:avLst/>
                <a:gdLst/>
                <a:ahLst/>
                <a:cxnLst>
                  <a:cxn ang="0">
                    <a:pos x="23" y="276"/>
                  </a:cxn>
                  <a:cxn ang="0">
                    <a:pos x="29" y="222"/>
                  </a:cxn>
                  <a:cxn ang="0">
                    <a:pos x="59" y="174"/>
                  </a:cxn>
                  <a:cxn ang="0">
                    <a:pos x="95" y="132"/>
                  </a:cxn>
                  <a:cxn ang="0">
                    <a:pos x="149" y="96"/>
                  </a:cxn>
                  <a:cxn ang="0">
                    <a:pos x="209" y="60"/>
                  </a:cxn>
                  <a:cxn ang="0">
                    <a:pos x="281" y="36"/>
                  </a:cxn>
                  <a:cxn ang="0">
                    <a:pos x="364" y="24"/>
                  </a:cxn>
                  <a:cxn ang="0">
                    <a:pos x="448" y="18"/>
                  </a:cxn>
                  <a:cxn ang="0">
                    <a:pos x="532" y="24"/>
                  </a:cxn>
                  <a:cxn ang="0">
                    <a:pos x="609" y="36"/>
                  </a:cxn>
                  <a:cxn ang="0">
                    <a:pos x="681" y="60"/>
                  </a:cxn>
                  <a:cxn ang="0">
                    <a:pos x="741" y="96"/>
                  </a:cxn>
                  <a:cxn ang="0">
                    <a:pos x="795" y="132"/>
                  </a:cxn>
                  <a:cxn ang="0">
                    <a:pos x="831" y="174"/>
                  </a:cxn>
                  <a:cxn ang="0">
                    <a:pos x="861" y="222"/>
                  </a:cxn>
                  <a:cxn ang="0">
                    <a:pos x="867" y="276"/>
                  </a:cxn>
                  <a:cxn ang="0">
                    <a:pos x="855" y="330"/>
                  </a:cxn>
                  <a:cxn ang="0">
                    <a:pos x="831" y="378"/>
                  </a:cxn>
                  <a:cxn ang="0">
                    <a:pos x="783" y="426"/>
                  </a:cxn>
                  <a:cxn ang="0">
                    <a:pos x="723" y="462"/>
                  </a:cxn>
                  <a:cxn ang="0">
                    <a:pos x="765" y="462"/>
                  </a:cxn>
                  <a:cxn ang="0">
                    <a:pos x="819" y="426"/>
                  </a:cxn>
                  <a:cxn ang="0">
                    <a:pos x="855" y="378"/>
                  </a:cxn>
                  <a:cxn ang="0">
                    <a:pos x="884" y="330"/>
                  </a:cxn>
                  <a:cxn ang="0">
                    <a:pos x="890" y="276"/>
                  </a:cxn>
                  <a:cxn ang="0">
                    <a:pos x="884" y="222"/>
                  </a:cxn>
                  <a:cxn ang="0">
                    <a:pos x="855" y="168"/>
                  </a:cxn>
                  <a:cxn ang="0">
                    <a:pos x="813" y="120"/>
                  </a:cxn>
                  <a:cxn ang="0">
                    <a:pos x="759" y="84"/>
                  </a:cxn>
                  <a:cxn ang="0">
                    <a:pos x="693" y="48"/>
                  </a:cxn>
                  <a:cxn ang="0">
                    <a:pos x="621" y="24"/>
                  </a:cxn>
                  <a:cxn ang="0">
                    <a:pos x="538" y="6"/>
                  </a:cxn>
                  <a:cxn ang="0">
                    <a:pos x="448" y="0"/>
                  </a:cxn>
                  <a:cxn ang="0">
                    <a:pos x="358" y="6"/>
                  </a:cxn>
                  <a:cxn ang="0">
                    <a:pos x="275" y="24"/>
                  </a:cxn>
                  <a:cxn ang="0">
                    <a:pos x="197" y="48"/>
                  </a:cxn>
                  <a:cxn ang="0">
                    <a:pos x="131" y="84"/>
                  </a:cxn>
                  <a:cxn ang="0">
                    <a:pos x="77" y="120"/>
                  </a:cxn>
                  <a:cxn ang="0">
                    <a:pos x="35" y="168"/>
                  </a:cxn>
                  <a:cxn ang="0">
                    <a:pos x="12" y="222"/>
                  </a:cxn>
                  <a:cxn ang="0">
                    <a:pos x="0" y="276"/>
                  </a:cxn>
                  <a:cxn ang="0">
                    <a:pos x="6" y="330"/>
                  </a:cxn>
                  <a:cxn ang="0">
                    <a:pos x="35" y="378"/>
                  </a:cxn>
                  <a:cxn ang="0">
                    <a:pos x="71" y="426"/>
                  </a:cxn>
                  <a:cxn ang="0">
                    <a:pos x="125" y="462"/>
                  </a:cxn>
                  <a:cxn ang="0">
                    <a:pos x="167" y="462"/>
                  </a:cxn>
                  <a:cxn ang="0">
                    <a:pos x="107" y="426"/>
                  </a:cxn>
                  <a:cxn ang="0">
                    <a:pos x="59" y="378"/>
                  </a:cxn>
                  <a:cxn ang="0">
                    <a:pos x="35" y="330"/>
                  </a:cxn>
                  <a:cxn ang="0">
                    <a:pos x="23" y="276"/>
                  </a:cxn>
                  <a:cxn ang="0">
                    <a:pos x="23" y="276"/>
                  </a:cxn>
                </a:cxnLst>
                <a:rect l="0" t="0" r="r" b="b"/>
                <a:pathLst>
                  <a:path w="890" h="462">
                    <a:moveTo>
                      <a:pt x="23" y="276"/>
                    </a:moveTo>
                    <a:lnTo>
                      <a:pt x="29" y="222"/>
                    </a:lnTo>
                    <a:lnTo>
                      <a:pt x="59" y="174"/>
                    </a:lnTo>
                    <a:lnTo>
                      <a:pt x="95" y="132"/>
                    </a:lnTo>
                    <a:lnTo>
                      <a:pt x="149" y="96"/>
                    </a:lnTo>
                    <a:lnTo>
                      <a:pt x="209" y="60"/>
                    </a:lnTo>
                    <a:lnTo>
                      <a:pt x="281" y="36"/>
                    </a:lnTo>
                    <a:lnTo>
                      <a:pt x="364" y="24"/>
                    </a:lnTo>
                    <a:lnTo>
                      <a:pt x="448" y="18"/>
                    </a:lnTo>
                    <a:lnTo>
                      <a:pt x="532" y="24"/>
                    </a:lnTo>
                    <a:lnTo>
                      <a:pt x="609" y="36"/>
                    </a:lnTo>
                    <a:lnTo>
                      <a:pt x="681" y="60"/>
                    </a:lnTo>
                    <a:lnTo>
                      <a:pt x="741" y="96"/>
                    </a:lnTo>
                    <a:lnTo>
                      <a:pt x="795" y="132"/>
                    </a:lnTo>
                    <a:lnTo>
                      <a:pt x="831" y="174"/>
                    </a:lnTo>
                    <a:lnTo>
                      <a:pt x="861" y="222"/>
                    </a:lnTo>
                    <a:lnTo>
                      <a:pt x="867" y="276"/>
                    </a:lnTo>
                    <a:lnTo>
                      <a:pt x="855" y="330"/>
                    </a:lnTo>
                    <a:lnTo>
                      <a:pt x="831" y="378"/>
                    </a:lnTo>
                    <a:lnTo>
                      <a:pt x="783" y="426"/>
                    </a:lnTo>
                    <a:lnTo>
                      <a:pt x="723" y="462"/>
                    </a:lnTo>
                    <a:lnTo>
                      <a:pt x="765" y="462"/>
                    </a:lnTo>
                    <a:lnTo>
                      <a:pt x="819" y="426"/>
                    </a:lnTo>
                    <a:lnTo>
                      <a:pt x="855" y="378"/>
                    </a:lnTo>
                    <a:lnTo>
                      <a:pt x="884" y="330"/>
                    </a:lnTo>
                    <a:lnTo>
                      <a:pt x="890" y="276"/>
                    </a:lnTo>
                    <a:lnTo>
                      <a:pt x="884" y="222"/>
                    </a:lnTo>
                    <a:lnTo>
                      <a:pt x="855" y="168"/>
                    </a:lnTo>
                    <a:lnTo>
                      <a:pt x="813" y="120"/>
                    </a:lnTo>
                    <a:lnTo>
                      <a:pt x="759" y="84"/>
                    </a:lnTo>
                    <a:lnTo>
                      <a:pt x="693" y="48"/>
                    </a:lnTo>
                    <a:lnTo>
                      <a:pt x="621" y="24"/>
                    </a:lnTo>
                    <a:lnTo>
                      <a:pt x="538" y="6"/>
                    </a:lnTo>
                    <a:lnTo>
                      <a:pt x="448" y="0"/>
                    </a:lnTo>
                    <a:lnTo>
                      <a:pt x="358" y="6"/>
                    </a:lnTo>
                    <a:lnTo>
                      <a:pt x="275" y="24"/>
                    </a:lnTo>
                    <a:lnTo>
                      <a:pt x="197" y="48"/>
                    </a:lnTo>
                    <a:lnTo>
                      <a:pt x="131" y="84"/>
                    </a:lnTo>
                    <a:lnTo>
                      <a:pt x="77" y="120"/>
                    </a:lnTo>
                    <a:lnTo>
                      <a:pt x="35" y="168"/>
                    </a:lnTo>
                    <a:lnTo>
                      <a:pt x="12" y="222"/>
                    </a:lnTo>
                    <a:lnTo>
                      <a:pt x="0" y="276"/>
                    </a:lnTo>
                    <a:lnTo>
                      <a:pt x="6" y="330"/>
                    </a:lnTo>
                    <a:lnTo>
                      <a:pt x="35" y="378"/>
                    </a:lnTo>
                    <a:lnTo>
                      <a:pt x="71" y="426"/>
                    </a:lnTo>
                    <a:lnTo>
                      <a:pt x="125" y="462"/>
                    </a:lnTo>
                    <a:lnTo>
                      <a:pt x="167" y="462"/>
                    </a:lnTo>
                    <a:lnTo>
                      <a:pt x="107" y="426"/>
                    </a:lnTo>
                    <a:lnTo>
                      <a:pt x="59" y="378"/>
                    </a:lnTo>
                    <a:lnTo>
                      <a:pt x="35" y="330"/>
                    </a:lnTo>
                    <a:lnTo>
                      <a:pt x="23" y="276"/>
                    </a:lnTo>
                    <a:lnTo>
                      <a:pt x="23" y="276"/>
                    </a:lnTo>
                    <a:close/>
                  </a:path>
                </a:pathLst>
              </a:custGeom>
              <a:gradFill rotWithShape="0">
                <a:gsLst>
                  <a:gs pos="0">
                    <a:schemeClr val="accent2"/>
                  </a:gs>
                  <a:gs pos="100000">
                    <a:schemeClr val="accent2">
                      <a:gamma/>
                      <a:shade val="84706"/>
                      <a:invGamma/>
                    </a:schemeClr>
                  </a:gs>
                </a:gsLst>
                <a:lin ang="2700000" scaled="1"/>
              </a:gradFill>
              <a:ln w="9525">
                <a:noFill/>
                <a:round/>
                <a:headEnd/>
                <a:tailEnd/>
              </a:ln>
            </p:spPr>
            <p:txBody>
              <a:bodyPr/>
              <a:lstStyle/>
              <a:p>
                <a:pPr>
                  <a:defRPr/>
                </a:pPr>
                <a:endParaRPr lang="en-US" sz="1800"/>
              </a:p>
            </p:txBody>
          </p:sp>
          <p:sp>
            <p:nvSpPr>
              <p:cNvPr id="25628" name="Freeform 28"/>
              <p:cNvSpPr>
                <a:spLocks/>
              </p:cNvSpPr>
              <p:nvPr/>
            </p:nvSpPr>
            <p:spPr bwMode="hidden">
              <a:xfrm>
                <a:off x="2082" y="3828"/>
                <a:ext cx="407" cy="486"/>
              </a:xfrm>
              <a:custGeom>
                <a:avLst/>
                <a:gdLst/>
                <a:ahLst/>
                <a:cxnLst>
                  <a:cxn ang="0">
                    <a:pos x="18" y="300"/>
                  </a:cxn>
                  <a:cxn ang="0">
                    <a:pos x="24" y="246"/>
                  </a:cxn>
                  <a:cxn ang="0">
                    <a:pos x="48" y="198"/>
                  </a:cxn>
                  <a:cxn ang="0">
                    <a:pos x="83" y="150"/>
                  </a:cxn>
                  <a:cxn ang="0">
                    <a:pos x="131" y="108"/>
                  </a:cxn>
                  <a:cxn ang="0">
                    <a:pos x="185" y="72"/>
                  </a:cxn>
                  <a:cxn ang="0">
                    <a:pos x="251" y="42"/>
                  </a:cxn>
                  <a:cxn ang="0">
                    <a:pos x="329" y="24"/>
                  </a:cxn>
                  <a:cxn ang="0">
                    <a:pos x="406" y="6"/>
                  </a:cxn>
                  <a:cxn ang="0">
                    <a:pos x="406" y="0"/>
                  </a:cxn>
                  <a:cxn ang="0">
                    <a:pos x="323" y="12"/>
                  </a:cxn>
                  <a:cxn ang="0">
                    <a:pos x="245" y="36"/>
                  </a:cxn>
                  <a:cxn ang="0">
                    <a:pos x="179" y="66"/>
                  </a:cxn>
                  <a:cxn ang="0">
                    <a:pos x="119" y="102"/>
                  </a:cxn>
                  <a:cxn ang="0">
                    <a:pos x="72" y="144"/>
                  </a:cxn>
                  <a:cxn ang="0">
                    <a:pos x="30" y="192"/>
                  </a:cxn>
                  <a:cxn ang="0">
                    <a:pos x="6" y="246"/>
                  </a:cxn>
                  <a:cxn ang="0">
                    <a:pos x="0" y="300"/>
                  </a:cxn>
                  <a:cxn ang="0">
                    <a:pos x="6" y="348"/>
                  </a:cxn>
                  <a:cxn ang="0">
                    <a:pos x="30" y="396"/>
                  </a:cxn>
                  <a:cxn ang="0">
                    <a:pos x="66" y="444"/>
                  </a:cxn>
                  <a:cxn ang="0">
                    <a:pos x="107" y="486"/>
                  </a:cxn>
                  <a:cxn ang="0">
                    <a:pos x="131" y="486"/>
                  </a:cxn>
                  <a:cxn ang="0">
                    <a:pos x="83" y="450"/>
                  </a:cxn>
                  <a:cxn ang="0">
                    <a:pos x="48" y="402"/>
                  </a:cxn>
                  <a:cxn ang="0">
                    <a:pos x="24" y="354"/>
                  </a:cxn>
                  <a:cxn ang="0">
                    <a:pos x="18" y="300"/>
                  </a:cxn>
                  <a:cxn ang="0">
                    <a:pos x="18" y="300"/>
                  </a:cxn>
                </a:cxnLst>
                <a:rect l="0" t="0" r="r" b="b"/>
                <a:pathLst>
                  <a:path w="406" h="486">
                    <a:moveTo>
                      <a:pt x="18" y="300"/>
                    </a:moveTo>
                    <a:lnTo>
                      <a:pt x="24" y="246"/>
                    </a:lnTo>
                    <a:lnTo>
                      <a:pt x="48" y="198"/>
                    </a:lnTo>
                    <a:lnTo>
                      <a:pt x="83" y="150"/>
                    </a:lnTo>
                    <a:lnTo>
                      <a:pt x="131" y="108"/>
                    </a:lnTo>
                    <a:lnTo>
                      <a:pt x="185" y="72"/>
                    </a:lnTo>
                    <a:lnTo>
                      <a:pt x="251" y="42"/>
                    </a:lnTo>
                    <a:lnTo>
                      <a:pt x="329" y="24"/>
                    </a:lnTo>
                    <a:lnTo>
                      <a:pt x="406" y="6"/>
                    </a:lnTo>
                    <a:lnTo>
                      <a:pt x="406" y="0"/>
                    </a:lnTo>
                    <a:lnTo>
                      <a:pt x="323" y="12"/>
                    </a:lnTo>
                    <a:lnTo>
                      <a:pt x="245" y="36"/>
                    </a:lnTo>
                    <a:lnTo>
                      <a:pt x="179" y="66"/>
                    </a:lnTo>
                    <a:lnTo>
                      <a:pt x="119" y="102"/>
                    </a:lnTo>
                    <a:lnTo>
                      <a:pt x="72" y="144"/>
                    </a:lnTo>
                    <a:lnTo>
                      <a:pt x="30" y="192"/>
                    </a:lnTo>
                    <a:lnTo>
                      <a:pt x="6" y="246"/>
                    </a:lnTo>
                    <a:lnTo>
                      <a:pt x="0" y="300"/>
                    </a:lnTo>
                    <a:lnTo>
                      <a:pt x="6" y="348"/>
                    </a:lnTo>
                    <a:lnTo>
                      <a:pt x="30" y="396"/>
                    </a:lnTo>
                    <a:lnTo>
                      <a:pt x="66" y="444"/>
                    </a:lnTo>
                    <a:lnTo>
                      <a:pt x="107" y="486"/>
                    </a:lnTo>
                    <a:lnTo>
                      <a:pt x="131" y="486"/>
                    </a:lnTo>
                    <a:lnTo>
                      <a:pt x="83" y="450"/>
                    </a:lnTo>
                    <a:lnTo>
                      <a:pt x="48" y="402"/>
                    </a:lnTo>
                    <a:lnTo>
                      <a:pt x="24" y="354"/>
                    </a:lnTo>
                    <a:lnTo>
                      <a:pt x="18" y="300"/>
                    </a:lnTo>
                    <a:lnTo>
                      <a:pt x="18" y="300"/>
                    </a:lnTo>
                    <a:close/>
                  </a:path>
                </a:pathLst>
              </a:custGeom>
              <a:gradFill rotWithShape="0">
                <a:gsLst>
                  <a:gs pos="0">
                    <a:schemeClr val="accent2"/>
                  </a:gs>
                  <a:gs pos="100000">
                    <a:schemeClr val="accent2">
                      <a:gamma/>
                      <a:shade val="90980"/>
                      <a:invGamma/>
                    </a:schemeClr>
                  </a:gs>
                </a:gsLst>
                <a:lin ang="0" scaled="1"/>
              </a:gradFill>
              <a:ln w="9525">
                <a:noFill/>
                <a:round/>
                <a:headEnd/>
                <a:tailEnd/>
              </a:ln>
            </p:spPr>
            <p:txBody>
              <a:bodyPr/>
              <a:lstStyle/>
              <a:p>
                <a:pPr>
                  <a:defRPr/>
                </a:pPr>
                <a:endParaRPr lang="en-US" sz="1800"/>
              </a:p>
            </p:txBody>
          </p:sp>
          <p:sp>
            <p:nvSpPr>
              <p:cNvPr id="25629" name="Freeform 29"/>
              <p:cNvSpPr>
                <a:spLocks/>
              </p:cNvSpPr>
              <p:nvPr/>
            </p:nvSpPr>
            <p:spPr bwMode="hidden">
              <a:xfrm>
                <a:off x="2987" y="4044"/>
                <a:ext cx="108" cy="252"/>
              </a:xfrm>
              <a:custGeom>
                <a:avLst/>
                <a:gdLst/>
                <a:ahLst/>
                <a:cxnLst>
                  <a:cxn ang="0">
                    <a:pos x="89" y="84"/>
                  </a:cxn>
                  <a:cxn ang="0">
                    <a:pos x="83" y="132"/>
                  </a:cxn>
                  <a:cxn ang="0">
                    <a:pos x="65" y="174"/>
                  </a:cxn>
                  <a:cxn ang="0">
                    <a:pos x="36" y="216"/>
                  </a:cxn>
                  <a:cxn ang="0">
                    <a:pos x="0" y="252"/>
                  </a:cxn>
                  <a:cxn ang="0">
                    <a:pos x="18" y="252"/>
                  </a:cxn>
                  <a:cxn ang="0">
                    <a:pos x="53" y="216"/>
                  </a:cxn>
                  <a:cxn ang="0">
                    <a:pos x="83" y="174"/>
                  </a:cxn>
                  <a:cxn ang="0">
                    <a:pos x="101" y="132"/>
                  </a:cxn>
                  <a:cxn ang="0">
                    <a:pos x="107" y="84"/>
                  </a:cxn>
                  <a:cxn ang="0">
                    <a:pos x="101" y="42"/>
                  </a:cxn>
                  <a:cxn ang="0">
                    <a:pos x="89" y="0"/>
                  </a:cxn>
                  <a:cxn ang="0">
                    <a:pos x="65" y="0"/>
                  </a:cxn>
                  <a:cxn ang="0">
                    <a:pos x="83" y="42"/>
                  </a:cxn>
                  <a:cxn ang="0">
                    <a:pos x="89" y="84"/>
                  </a:cxn>
                  <a:cxn ang="0">
                    <a:pos x="89" y="84"/>
                  </a:cxn>
                </a:cxnLst>
                <a:rect l="0" t="0" r="r" b="b"/>
                <a:pathLst>
                  <a:path w="107" h="252">
                    <a:moveTo>
                      <a:pt x="89" y="84"/>
                    </a:moveTo>
                    <a:lnTo>
                      <a:pt x="83" y="132"/>
                    </a:lnTo>
                    <a:lnTo>
                      <a:pt x="65" y="174"/>
                    </a:lnTo>
                    <a:lnTo>
                      <a:pt x="36" y="216"/>
                    </a:lnTo>
                    <a:lnTo>
                      <a:pt x="0" y="252"/>
                    </a:lnTo>
                    <a:lnTo>
                      <a:pt x="18" y="252"/>
                    </a:lnTo>
                    <a:lnTo>
                      <a:pt x="53" y="216"/>
                    </a:lnTo>
                    <a:lnTo>
                      <a:pt x="83" y="174"/>
                    </a:lnTo>
                    <a:lnTo>
                      <a:pt x="101" y="132"/>
                    </a:lnTo>
                    <a:lnTo>
                      <a:pt x="107" y="84"/>
                    </a:lnTo>
                    <a:lnTo>
                      <a:pt x="101" y="42"/>
                    </a:lnTo>
                    <a:lnTo>
                      <a:pt x="89" y="0"/>
                    </a:lnTo>
                    <a:lnTo>
                      <a:pt x="65" y="0"/>
                    </a:lnTo>
                    <a:lnTo>
                      <a:pt x="83" y="42"/>
                    </a:lnTo>
                    <a:lnTo>
                      <a:pt x="89" y="84"/>
                    </a:lnTo>
                    <a:lnTo>
                      <a:pt x="89" y="84"/>
                    </a:lnTo>
                    <a:close/>
                  </a:path>
                </a:pathLst>
              </a:custGeom>
              <a:gradFill rotWithShape="0">
                <a:gsLst>
                  <a:gs pos="0">
                    <a:schemeClr val="accent2"/>
                  </a:gs>
                  <a:gs pos="100000">
                    <a:schemeClr val="accent2">
                      <a:gamma/>
                      <a:shade val="81961"/>
                      <a:invGamma/>
                    </a:schemeClr>
                  </a:gs>
                </a:gsLst>
                <a:lin ang="5400000" scaled="1"/>
              </a:gradFill>
              <a:ln w="9525">
                <a:noFill/>
                <a:round/>
                <a:headEnd/>
                <a:tailEnd/>
              </a:ln>
            </p:spPr>
            <p:txBody>
              <a:bodyPr/>
              <a:lstStyle/>
              <a:p>
                <a:pPr>
                  <a:defRPr/>
                </a:pPr>
                <a:endParaRPr lang="en-US" sz="1800"/>
              </a:p>
            </p:txBody>
          </p:sp>
          <p:sp>
            <p:nvSpPr>
              <p:cNvPr id="25630" name="Freeform 30"/>
              <p:cNvSpPr>
                <a:spLocks/>
              </p:cNvSpPr>
              <p:nvPr/>
            </p:nvSpPr>
            <p:spPr bwMode="hidden">
              <a:xfrm>
                <a:off x="2068" y="3685"/>
                <a:ext cx="835" cy="150"/>
              </a:xfrm>
              <a:custGeom>
                <a:avLst/>
                <a:gdLst/>
                <a:ahLst/>
                <a:cxnLst>
                  <a:cxn ang="0">
                    <a:pos x="518" y="18"/>
                  </a:cxn>
                  <a:cxn ang="0">
                    <a:pos x="597" y="24"/>
                  </a:cxn>
                  <a:cxn ang="0">
                    <a:pos x="682" y="30"/>
                  </a:cxn>
                  <a:cxn ang="0">
                    <a:pos x="755" y="42"/>
                  </a:cxn>
                  <a:cxn ang="0">
                    <a:pos x="828" y="60"/>
                  </a:cxn>
                  <a:cxn ang="0">
                    <a:pos x="835" y="42"/>
                  </a:cxn>
                  <a:cxn ang="0">
                    <a:pos x="761" y="24"/>
                  </a:cxn>
                  <a:cxn ang="0">
                    <a:pos x="688" y="12"/>
                  </a:cxn>
                  <a:cxn ang="0">
                    <a:pos x="603" y="6"/>
                  </a:cxn>
                  <a:cxn ang="0">
                    <a:pos x="518" y="0"/>
                  </a:cxn>
                  <a:cxn ang="0">
                    <a:pos x="372" y="12"/>
                  </a:cxn>
                  <a:cxn ang="0">
                    <a:pos x="232" y="36"/>
                  </a:cxn>
                  <a:cxn ang="0">
                    <a:pos x="110" y="78"/>
                  </a:cxn>
                  <a:cxn ang="0">
                    <a:pos x="0" y="132"/>
                  </a:cxn>
                  <a:cxn ang="0">
                    <a:pos x="19" y="150"/>
                  </a:cxn>
                  <a:cxn ang="0">
                    <a:pos x="122" y="96"/>
                  </a:cxn>
                  <a:cxn ang="0">
                    <a:pos x="244" y="54"/>
                  </a:cxn>
                  <a:cxn ang="0">
                    <a:pos x="378" y="30"/>
                  </a:cxn>
                  <a:cxn ang="0">
                    <a:pos x="518" y="18"/>
                  </a:cxn>
                  <a:cxn ang="0">
                    <a:pos x="518" y="18"/>
                  </a:cxn>
                </a:cxnLst>
                <a:rect l="0" t="0" r="r" b="b"/>
                <a:pathLst>
                  <a:path w="835" h="150">
                    <a:moveTo>
                      <a:pt x="518" y="18"/>
                    </a:moveTo>
                    <a:lnTo>
                      <a:pt x="597" y="24"/>
                    </a:lnTo>
                    <a:lnTo>
                      <a:pt x="682" y="30"/>
                    </a:lnTo>
                    <a:lnTo>
                      <a:pt x="755" y="42"/>
                    </a:lnTo>
                    <a:lnTo>
                      <a:pt x="828" y="60"/>
                    </a:lnTo>
                    <a:lnTo>
                      <a:pt x="835" y="42"/>
                    </a:lnTo>
                    <a:lnTo>
                      <a:pt x="761" y="24"/>
                    </a:lnTo>
                    <a:lnTo>
                      <a:pt x="688" y="12"/>
                    </a:lnTo>
                    <a:lnTo>
                      <a:pt x="603" y="6"/>
                    </a:lnTo>
                    <a:lnTo>
                      <a:pt x="518" y="0"/>
                    </a:lnTo>
                    <a:lnTo>
                      <a:pt x="372" y="12"/>
                    </a:lnTo>
                    <a:lnTo>
                      <a:pt x="232" y="36"/>
                    </a:lnTo>
                    <a:lnTo>
                      <a:pt x="110" y="78"/>
                    </a:lnTo>
                    <a:lnTo>
                      <a:pt x="0" y="132"/>
                    </a:lnTo>
                    <a:lnTo>
                      <a:pt x="19" y="150"/>
                    </a:lnTo>
                    <a:lnTo>
                      <a:pt x="122" y="96"/>
                    </a:lnTo>
                    <a:lnTo>
                      <a:pt x="244" y="54"/>
                    </a:lnTo>
                    <a:lnTo>
                      <a:pt x="378" y="30"/>
                    </a:lnTo>
                    <a:lnTo>
                      <a:pt x="518" y="18"/>
                    </a:lnTo>
                    <a:lnTo>
                      <a:pt x="518" y="18"/>
                    </a:lnTo>
                    <a:close/>
                  </a:path>
                </a:pathLst>
              </a:custGeom>
              <a:solidFill>
                <a:schemeClr val="accent2"/>
              </a:solidFill>
              <a:ln w="9525">
                <a:noFill/>
                <a:round/>
                <a:headEnd/>
                <a:tailEnd/>
              </a:ln>
            </p:spPr>
            <p:txBody>
              <a:bodyPr/>
              <a:lstStyle/>
              <a:p>
                <a:pPr>
                  <a:defRPr/>
                </a:pPr>
                <a:endParaRPr lang="en-US" sz="1800"/>
              </a:p>
            </p:txBody>
          </p:sp>
          <p:sp>
            <p:nvSpPr>
              <p:cNvPr id="25631" name="Freeform 31"/>
              <p:cNvSpPr>
                <a:spLocks/>
              </p:cNvSpPr>
              <p:nvPr/>
            </p:nvSpPr>
            <p:spPr bwMode="hidden">
              <a:xfrm>
                <a:off x="1867" y="3853"/>
                <a:ext cx="171" cy="461"/>
              </a:xfrm>
              <a:custGeom>
                <a:avLst/>
                <a:gdLst/>
                <a:ahLst/>
                <a:cxnLst>
                  <a:cxn ang="0">
                    <a:pos x="31" y="263"/>
                  </a:cxn>
                  <a:cxn ang="0">
                    <a:pos x="43" y="191"/>
                  </a:cxn>
                  <a:cxn ang="0">
                    <a:pos x="67" y="131"/>
                  </a:cxn>
                  <a:cxn ang="0">
                    <a:pos x="116" y="72"/>
                  </a:cxn>
                  <a:cxn ang="0">
                    <a:pos x="171" y="18"/>
                  </a:cxn>
                  <a:cxn ang="0">
                    <a:pos x="153" y="0"/>
                  </a:cxn>
                  <a:cxn ang="0">
                    <a:pos x="86" y="60"/>
                  </a:cxn>
                  <a:cxn ang="0">
                    <a:pos x="43" y="120"/>
                  </a:cxn>
                  <a:cxn ang="0">
                    <a:pos x="13" y="191"/>
                  </a:cxn>
                  <a:cxn ang="0">
                    <a:pos x="0" y="263"/>
                  </a:cxn>
                  <a:cxn ang="0">
                    <a:pos x="6" y="317"/>
                  </a:cxn>
                  <a:cxn ang="0">
                    <a:pos x="25" y="365"/>
                  </a:cxn>
                  <a:cxn ang="0">
                    <a:pos x="49" y="413"/>
                  </a:cxn>
                  <a:cxn ang="0">
                    <a:pos x="86" y="461"/>
                  </a:cxn>
                  <a:cxn ang="0">
                    <a:pos x="122" y="461"/>
                  </a:cxn>
                  <a:cxn ang="0">
                    <a:pos x="86" y="413"/>
                  </a:cxn>
                  <a:cxn ang="0">
                    <a:pos x="55" y="365"/>
                  </a:cxn>
                  <a:cxn ang="0">
                    <a:pos x="37" y="317"/>
                  </a:cxn>
                  <a:cxn ang="0">
                    <a:pos x="31" y="263"/>
                  </a:cxn>
                  <a:cxn ang="0">
                    <a:pos x="31" y="263"/>
                  </a:cxn>
                </a:cxnLst>
                <a:rect l="0" t="0" r="r" b="b"/>
                <a:pathLst>
                  <a:path w="171" h="461">
                    <a:moveTo>
                      <a:pt x="31" y="263"/>
                    </a:moveTo>
                    <a:lnTo>
                      <a:pt x="43" y="191"/>
                    </a:lnTo>
                    <a:lnTo>
                      <a:pt x="67" y="131"/>
                    </a:lnTo>
                    <a:lnTo>
                      <a:pt x="116" y="72"/>
                    </a:lnTo>
                    <a:lnTo>
                      <a:pt x="171" y="18"/>
                    </a:lnTo>
                    <a:lnTo>
                      <a:pt x="153" y="0"/>
                    </a:lnTo>
                    <a:lnTo>
                      <a:pt x="86" y="60"/>
                    </a:lnTo>
                    <a:lnTo>
                      <a:pt x="43" y="120"/>
                    </a:lnTo>
                    <a:lnTo>
                      <a:pt x="13" y="191"/>
                    </a:lnTo>
                    <a:lnTo>
                      <a:pt x="0" y="263"/>
                    </a:lnTo>
                    <a:lnTo>
                      <a:pt x="6" y="317"/>
                    </a:lnTo>
                    <a:lnTo>
                      <a:pt x="25" y="365"/>
                    </a:lnTo>
                    <a:lnTo>
                      <a:pt x="49" y="413"/>
                    </a:lnTo>
                    <a:lnTo>
                      <a:pt x="86" y="461"/>
                    </a:lnTo>
                    <a:lnTo>
                      <a:pt x="122" y="461"/>
                    </a:lnTo>
                    <a:lnTo>
                      <a:pt x="86" y="413"/>
                    </a:lnTo>
                    <a:lnTo>
                      <a:pt x="55" y="365"/>
                    </a:lnTo>
                    <a:lnTo>
                      <a:pt x="37" y="317"/>
                    </a:lnTo>
                    <a:lnTo>
                      <a:pt x="31" y="263"/>
                    </a:lnTo>
                    <a:lnTo>
                      <a:pt x="31" y="263"/>
                    </a:lnTo>
                    <a:close/>
                  </a:path>
                </a:pathLst>
              </a:custGeom>
              <a:solidFill>
                <a:schemeClr val="accent2"/>
              </a:solidFill>
              <a:ln w="9525">
                <a:noFill/>
                <a:round/>
                <a:headEnd/>
                <a:tailEnd/>
              </a:ln>
            </p:spPr>
            <p:txBody>
              <a:bodyPr/>
              <a:lstStyle/>
              <a:p>
                <a:pPr>
                  <a:defRPr/>
                </a:pPr>
                <a:endParaRPr lang="en-US" sz="1800"/>
              </a:p>
            </p:txBody>
          </p:sp>
          <p:sp>
            <p:nvSpPr>
              <p:cNvPr id="25632" name="Freeform 32"/>
              <p:cNvSpPr>
                <a:spLocks/>
              </p:cNvSpPr>
              <p:nvPr/>
            </p:nvSpPr>
            <p:spPr bwMode="hidden">
              <a:xfrm>
                <a:off x="2951" y="3751"/>
                <a:ext cx="360" cy="563"/>
              </a:xfrm>
              <a:custGeom>
                <a:avLst/>
                <a:gdLst/>
                <a:ahLst/>
                <a:cxnLst>
                  <a:cxn ang="0">
                    <a:pos x="360" y="365"/>
                  </a:cxn>
                  <a:cxn ang="0">
                    <a:pos x="353" y="305"/>
                  </a:cxn>
                  <a:cxn ang="0">
                    <a:pos x="335" y="251"/>
                  </a:cxn>
                  <a:cxn ang="0">
                    <a:pos x="305" y="204"/>
                  </a:cxn>
                  <a:cxn ang="0">
                    <a:pos x="262" y="156"/>
                  </a:cxn>
                  <a:cxn ang="0">
                    <a:pos x="213" y="108"/>
                  </a:cxn>
                  <a:cxn ang="0">
                    <a:pos x="159" y="66"/>
                  </a:cxn>
                  <a:cxn ang="0">
                    <a:pos x="92" y="30"/>
                  </a:cxn>
                  <a:cxn ang="0">
                    <a:pos x="19" y="0"/>
                  </a:cxn>
                  <a:cxn ang="0">
                    <a:pos x="0" y="12"/>
                  </a:cxn>
                  <a:cxn ang="0">
                    <a:pos x="67" y="42"/>
                  </a:cxn>
                  <a:cxn ang="0">
                    <a:pos x="134" y="78"/>
                  </a:cxn>
                  <a:cxn ang="0">
                    <a:pos x="189" y="114"/>
                  </a:cxn>
                  <a:cxn ang="0">
                    <a:pos x="238" y="162"/>
                  </a:cxn>
                  <a:cxn ang="0">
                    <a:pos x="274" y="210"/>
                  </a:cxn>
                  <a:cxn ang="0">
                    <a:pos x="299" y="257"/>
                  </a:cxn>
                  <a:cxn ang="0">
                    <a:pos x="317" y="311"/>
                  </a:cxn>
                  <a:cxn ang="0">
                    <a:pos x="323" y="365"/>
                  </a:cxn>
                  <a:cxn ang="0">
                    <a:pos x="317" y="419"/>
                  </a:cxn>
                  <a:cxn ang="0">
                    <a:pos x="299" y="467"/>
                  </a:cxn>
                  <a:cxn ang="0">
                    <a:pos x="274" y="515"/>
                  </a:cxn>
                  <a:cxn ang="0">
                    <a:pos x="238" y="563"/>
                  </a:cxn>
                  <a:cxn ang="0">
                    <a:pos x="268" y="563"/>
                  </a:cxn>
                  <a:cxn ang="0">
                    <a:pos x="311" y="515"/>
                  </a:cxn>
                  <a:cxn ang="0">
                    <a:pos x="335" y="467"/>
                  </a:cxn>
                  <a:cxn ang="0">
                    <a:pos x="353" y="419"/>
                  </a:cxn>
                  <a:cxn ang="0">
                    <a:pos x="360" y="365"/>
                  </a:cxn>
                  <a:cxn ang="0">
                    <a:pos x="360" y="365"/>
                  </a:cxn>
                </a:cxnLst>
                <a:rect l="0" t="0" r="r" b="b"/>
                <a:pathLst>
                  <a:path w="360" h="563">
                    <a:moveTo>
                      <a:pt x="360" y="365"/>
                    </a:moveTo>
                    <a:lnTo>
                      <a:pt x="353" y="305"/>
                    </a:lnTo>
                    <a:lnTo>
                      <a:pt x="335" y="251"/>
                    </a:lnTo>
                    <a:lnTo>
                      <a:pt x="305" y="204"/>
                    </a:lnTo>
                    <a:lnTo>
                      <a:pt x="262" y="156"/>
                    </a:lnTo>
                    <a:lnTo>
                      <a:pt x="213" y="108"/>
                    </a:lnTo>
                    <a:lnTo>
                      <a:pt x="159" y="66"/>
                    </a:lnTo>
                    <a:lnTo>
                      <a:pt x="92" y="30"/>
                    </a:lnTo>
                    <a:lnTo>
                      <a:pt x="19" y="0"/>
                    </a:lnTo>
                    <a:lnTo>
                      <a:pt x="0" y="12"/>
                    </a:lnTo>
                    <a:lnTo>
                      <a:pt x="67" y="42"/>
                    </a:lnTo>
                    <a:lnTo>
                      <a:pt x="134" y="78"/>
                    </a:lnTo>
                    <a:lnTo>
                      <a:pt x="189" y="114"/>
                    </a:lnTo>
                    <a:lnTo>
                      <a:pt x="238" y="162"/>
                    </a:lnTo>
                    <a:lnTo>
                      <a:pt x="274" y="210"/>
                    </a:lnTo>
                    <a:lnTo>
                      <a:pt x="299" y="257"/>
                    </a:lnTo>
                    <a:lnTo>
                      <a:pt x="317" y="311"/>
                    </a:lnTo>
                    <a:lnTo>
                      <a:pt x="323" y="365"/>
                    </a:lnTo>
                    <a:lnTo>
                      <a:pt x="317" y="419"/>
                    </a:lnTo>
                    <a:lnTo>
                      <a:pt x="299" y="467"/>
                    </a:lnTo>
                    <a:lnTo>
                      <a:pt x="274" y="515"/>
                    </a:lnTo>
                    <a:lnTo>
                      <a:pt x="238" y="563"/>
                    </a:lnTo>
                    <a:lnTo>
                      <a:pt x="268" y="563"/>
                    </a:lnTo>
                    <a:lnTo>
                      <a:pt x="311" y="515"/>
                    </a:lnTo>
                    <a:lnTo>
                      <a:pt x="335" y="467"/>
                    </a:lnTo>
                    <a:lnTo>
                      <a:pt x="353" y="419"/>
                    </a:lnTo>
                    <a:lnTo>
                      <a:pt x="360" y="365"/>
                    </a:lnTo>
                    <a:lnTo>
                      <a:pt x="360" y="36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3" name="Freeform 33"/>
              <p:cNvSpPr>
                <a:spLocks/>
              </p:cNvSpPr>
              <p:nvPr/>
            </p:nvSpPr>
            <p:spPr bwMode="hidden">
              <a:xfrm>
                <a:off x="2318" y="3631"/>
                <a:ext cx="1078" cy="425"/>
              </a:xfrm>
              <a:custGeom>
                <a:avLst/>
                <a:gdLst/>
                <a:ahLst/>
                <a:cxnLst>
                  <a:cxn ang="0">
                    <a:pos x="1053" y="425"/>
                  </a:cxn>
                  <a:cxn ang="0">
                    <a:pos x="1078" y="419"/>
                  </a:cxn>
                  <a:cxn ang="0">
                    <a:pos x="1066" y="377"/>
                  </a:cxn>
                  <a:cxn ang="0">
                    <a:pos x="1047" y="336"/>
                  </a:cxn>
                  <a:cxn ang="0">
                    <a:pos x="986" y="252"/>
                  </a:cxn>
                  <a:cxn ang="0">
                    <a:pos x="907" y="180"/>
                  </a:cxn>
                  <a:cxn ang="0">
                    <a:pos x="810" y="120"/>
                  </a:cxn>
                  <a:cxn ang="0">
                    <a:pos x="694" y="72"/>
                  </a:cxn>
                  <a:cxn ang="0">
                    <a:pos x="560" y="30"/>
                  </a:cxn>
                  <a:cxn ang="0">
                    <a:pos x="420" y="6"/>
                  </a:cxn>
                  <a:cxn ang="0">
                    <a:pos x="268" y="0"/>
                  </a:cxn>
                  <a:cxn ang="0">
                    <a:pos x="134" y="6"/>
                  </a:cxn>
                  <a:cxn ang="0">
                    <a:pos x="0" y="24"/>
                  </a:cxn>
                  <a:cxn ang="0">
                    <a:pos x="12" y="36"/>
                  </a:cxn>
                  <a:cxn ang="0">
                    <a:pos x="134" y="18"/>
                  </a:cxn>
                  <a:cxn ang="0">
                    <a:pos x="268" y="12"/>
                  </a:cxn>
                  <a:cxn ang="0">
                    <a:pos x="420" y="18"/>
                  </a:cxn>
                  <a:cxn ang="0">
                    <a:pos x="554" y="42"/>
                  </a:cxn>
                  <a:cxn ang="0">
                    <a:pos x="682" y="84"/>
                  </a:cxn>
                  <a:cxn ang="0">
                    <a:pos x="798" y="132"/>
                  </a:cxn>
                  <a:cxn ang="0">
                    <a:pos x="895" y="192"/>
                  </a:cxn>
                  <a:cxn ang="0">
                    <a:pos x="968" y="264"/>
                  </a:cxn>
                  <a:cxn ang="0">
                    <a:pos x="999" y="300"/>
                  </a:cxn>
                  <a:cxn ang="0">
                    <a:pos x="1023" y="342"/>
                  </a:cxn>
                  <a:cxn ang="0">
                    <a:pos x="1041" y="383"/>
                  </a:cxn>
                  <a:cxn ang="0">
                    <a:pos x="1053" y="425"/>
                  </a:cxn>
                  <a:cxn ang="0">
                    <a:pos x="1053" y="425"/>
                  </a:cxn>
                </a:cxnLst>
                <a:rect l="0" t="0" r="r" b="b"/>
                <a:pathLst>
                  <a:path w="1078" h="425">
                    <a:moveTo>
                      <a:pt x="1053" y="425"/>
                    </a:moveTo>
                    <a:lnTo>
                      <a:pt x="1078" y="419"/>
                    </a:lnTo>
                    <a:lnTo>
                      <a:pt x="1066" y="377"/>
                    </a:lnTo>
                    <a:lnTo>
                      <a:pt x="1047" y="336"/>
                    </a:lnTo>
                    <a:lnTo>
                      <a:pt x="986" y="252"/>
                    </a:lnTo>
                    <a:lnTo>
                      <a:pt x="907" y="180"/>
                    </a:lnTo>
                    <a:lnTo>
                      <a:pt x="810" y="120"/>
                    </a:lnTo>
                    <a:lnTo>
                      <a:pt x="694" y="72"/>
                    </a:lnTo>
                    <a:lnTo>
                      <a:pt x="560" y="30"/>
                    </a:lnTo>
                    <a:lnTo>
                      <a:pt x="420" y="6"/>
                    </a:lnTo>
                    <a:lnTo>
                      <a:pt x="268" y="0"/>
                    </a:lnTo>
                    <a:lnTo>
                      <a:pt x="134" y="6"/>
                    </a:lnTo>
                    <a:lnTo>
                      <a:pt x="0" y="24"/>
                    </a:lnTo>
                    <a:lnTo>
                      <a:pt x="12" y="36"/>
                    </a:lnTo>
                    <a:lnTo>
                      <a:pt x="134" y="18"/>
                    </a:lnTo>
                    <a:lnTo>
                      <a:pt x="268" y="12"/>
                    </a:lnTo>
                    <a:lnTo>
                      <a:pt x="420" y="18"/>
                    </a:lnTo>
                    <a:lnTo>
                      <a:pt x="554" y="42"/>
                    </a:lnTo>
                    <a:lnTo>
                      <a:pt x="682" y="84"/>
                    </a:lnTo>
                    <a:lnTo>
                      <a:pt x="798" y="132"/>
                    </a:lnTo>
                    <a:lnTo>
                      <a:pt x="895" y="192"/>
                    </a:lnTo>
                    <a:lnTo>
                      <a:pt x="968" y="264"/>
                    </a:lnTo>
                    <a:lnTo>
                      <a:pt x="999" y="300"/>
                    </a:lnTo>
                    <a:lnTo>
                      <a:pt x="1023" y="342"/>
                    </a:lnTo>
                    <a:lnTo>
                      <a:pt x="1041" y="383"/>
                    </a:lnTo>
                    <a:lnTo>
                      <a:pt x="1053" y="425"/>
                    </a:lnTo>
                    <a:lnTo>
                      <a:pt x="1053" y="42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4" name="Freeform 34"/>
              <p:cNvSpPr>
                <a:spLocks/>
              </p:cNvSpPr>
              <p:nvPr/>
            </p:nvSpPr>
            <p:spPr bwMode="hidden">
              <a:xfrm>
                <a:off x="3304" y="4080"/>
                <a:ext cx="98" cy="234"/>
              </a:xfrm>
              <a:custGeom>
                <a:avLst/>
                <a:gdLst/>
                <a:ahLst/>
                <a:cxnLst>
                  <a:cxn ang="0">
                    <a:pos x="0" y="234"/>
                  </a:cxn>
                  <a:cxn ang="0">
                    <a:pos x="25" y="234"/>
                  </a:cxn>
                  <a:cxn ang="0">
                    <a:pos x="55" y="186"/>
                  </a:cxn>
                  <a:cxn ang="0">
                    <a:pos x="80" y="138"/>
                  </a:cxn>
                  <a:cxn ang="0">
                    <a:pos x="92" y="90"/>
                  </a:cxn>
                  <a:cxn ang="0">
                    <a:pos x="98" y="36"/>
                  </a:cxn>
                  <a:cxn ang="0">
                    <a:pos x="98" y="0"/>
                  </a:cxn>
                  <a:cxn ang="0">
                    <a:pos x="74" y="0"/>
                  </a:cxn>
                  <a:cxn ang="0">
                    <a:pos x="74" y="36"/>
                  </a:cxn>
                  <a:cxn ang="0">
                    <a:pos x="67" y="90"/>
                  </a:cxn>
                  <a:cxn ang="0">
                    <a:pos x="55" y="138"/>
                  </a:cxn>
                  <a:cxn ang="0">
                    <a:pos x="31" y="186"/>
                  </a:cxn>
                  <a:cxn ang="0">
                    <a:pos x="0" y="234"/>
                  </a:cxn>
                  <a:cxn ang="0">
                    <a:pos x="0" y="234"/>
                  </a:cxn>
                </a:cxnLst>
                <a:rect l="0" t="0" r="r" b="b"/>
                <a:pathLst>
                  <a:path w="98" h="234">
                    <a:moveTo>
                      <a:pt x="0" y="234"/>
                    </a:moveTo>
                    <a:lnTo>
                      <a:pt x="25" y="234"/>
                    </a:lnTo>
                    <a:lnTo>
                      <a:pt x="55" y="186"/>
                    </a:lnTo>
                    <a:lnTo>
                      <a:pt x="80" y="138"/>
                    </a:lnTo>
                    <a:lnTo>
                      <a:pt x="92" y="90"/>
                    </a:lnTo>
                    <a:lnTo>
                      <a:pt x="98" y="36"/>
                    </a:lnTo>
                    <a:lnTo>
                      <a:pt x="98" y="0"/>
                    </a:lnTo>
                    <a:lnTo>
                      <a:pt x="74" y="0"/>
                    </a:lnTo>
                    <a:lnTo>
                      <a:pt x="74" y="36"/>
                    </a:lnTo>
                    <a:lnTo>
                      <a:pt x="67" y="90"/>
                    </a:lnTo>
                    <a:lnTo>
                      <a:pt x="55" y="138"/>
                    </a:lnTo>
                    <a:lnTo>
                      <a:pt x="31" y="186"/>
                    </a:lnTo>
                    <a:lnTo>
                      <a:pt x="0" y="234"/>
                    </a:lnTo>
                    <a:lnTo>
                      <a:pt x="0" y="234"/>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5" name="Freeform 35"/>
              <p:cNvSpPr>
                <a:spLocks/>
              </p:cNvSpPr>
              <p:nvPr/>
            </p:nvSpPr>
            <p:spPr bwMode="hidden">
              <a:xfrm>
                <a:off x="1776" y="3673"/>
                <a:ext cx="481" cy="641"/>
              </a:xfrm>
              <a:custGeom>
                <a:avLst/>
                <a:gdLst/>
                <a:ahLst/>
                <a:cxnLst>
                  <a:cxn ang="0">
                    <a:pos x="18" y="443"/>
                  </a:cxn>
                  <a:cxn ang="0">
                    <a:pos x="24" y="371"/>
                  </a:cxn>
                  <a:cxn ang="0">
                    <a:pos x="55" y="305"/>
                  </a:cxn>
                  <a:cxn ang="0">
                    <a:pos x="91" y="246"/>
                  </a:cxn>
                  <a:cxn ang="0">
                    <a:pos x="146" y="186"/>
                  </a:cxn>
                  <a:cxn ang="0">
                    <a:pos x="213" y="132"/>
                  </a:cxn>
                  <a:cxn ang="0">
                    <a:pos x="292" y="84"/>
                  </a:cxn>
                  <a:cxn ang="0">
                    <a:pos x="384" y="48"/>
                  </a:cxn>
                  <a:cxn ang="0">
                    <a:pos x="481" y="12"/>
                  </a:cxn>
                  <a:cxn ang="0">
                    <a:pos x="457" y="0"/>
                  </a:cxn>
                  <a:cxn ang="0">
                    <a:pos x="359" y="36"/>
                  </a:cxn>
                  <a:cxn ang="0">
                    <a:pos x="274" y="78"/>
                  </a:cxn>
                  <a:cxn ang="0">
                    <a:pos x="195" y="126"/>
                  </a:cxn>
                  <a:cxn ang="0">
                    <a:pos x="128" y="180"/>
                  </a:cxn>
                  <a:cxn ang="0">
                    <a:pos x="73" y="240"/>
                  </a:cxn>
                  <a:cxn ang="0">
                    <a:pos x="37" y="305"/>
                  </a:cxn>
                  <a:cxn ang="0">
                    <a:pos x="6" y="371"/>
                  </a:cxn>
                  <a:cxn ang="0">
                    <a:pos x="0" y="443"/>
                  </a:cxn>
                  <a:cxn ang="0">
                    <a:pos x="6" y="497"/>
                  </a:cxn>
                  <a:cxn ang="0">
                    <a:pos x="18" y="545"/>
                  </a:cxn>
                  <a:cxn ang="0">
                    <a:pos x="43" y="593"/>
                  </a:cxn>
                  <a:cxn ang="0">
                    <a:pos x="73" y="641"/>
                  </a:cxn>
                  <a:cxn ang="0">
                    <a:pos x="97" y="641"/>
                  </a:cxn>
                  <a:cxn ang="0">
                    <a:pos x="67" y="593"/>
                  </a:cxn>
                  <a:cxn ang="0">
                    <a:pos x="43" y="545"/>
                  </a:cxn>
                  <a:cxn ang="0">
                    <a:pos x="24" y="497"/>
                  </a:cxn>
                  <a:cxn ang="0">
                    <a:pos x="18" y="443"/>
                  </a:cxn>
                  <a:cxn ang="0">
                    <a:pos x="18" y="443"/>
                  </a:cxn>
                </a:cxnLst>
                <a:rect l="0" t="0" r="r" b="b"/>
                <a:pathLst>
                  <a:path w="481" h="641">
                    <a:moveTo>
                      <a:pt x="18" y="443"/>
                    </a:moveTo>
                    <a:lnTo>
                      <a:pt x="24" y="371"/>
                    </a:lnTo>
                    <a:lnTo>
                      <a:pt x="55" y="305"/>
                    </a:lnTo>
                    <a:lnTo>
                      <a:pt x="91" y="246"/>
                    </a:lnTo>
                    <a:lnTo>
                      <a:pt x="146" y="186"/>
                    </a:lnTo>
                    <a:lnTo>
                      <a:pt x="213" y="132"/>
                    </a:lnTo>
                    <a:lnTo>
                      <a:pt x="292" y="84"/>
                    </a:lnTo>
                    <a:lnTo>
                      <a:pt x="384" y="48"/>
                    </a:lnTo>
                    <a:lnTo>
                      <a:pt x="481" y="12"/>
                    </a:lnTo>
                    <a:lnTo>
                      <a:pt x="457" y="0"/>
                    </a:lnTo>
                    <a:lnTo>
                      <a:pt x="359" y="36"/>
                    </a:lnTo>
                    <a:lnTo>
                      <a:pt x="274" y="78"/>
                    </a:lnTo>
                    <a:lnTo>
                      <a:pt x="195" y="126"/>
                    </a:lnTo>
                    <a:lnTo>
                      <a:pt x="128" y="180"/>
                    </a:lnTo>
                    <a:lnTo>
                      <a:pt x="73" y="240"/>
                    </a:lnTo>
                    <a:lnTo>
                      <a:pt x="37" y="305"/>
                    </a:lnTo>
                    <a:lnTo>
                      <a:pt x="6" y="371"/>
                    </a:lnTo>
                    <a:lnTo>
                      <a:pt x="0" y="443"/>
                    </a:lnTo>
                    <a:lnTo>
                      <a:pt x="6" y="497"/>
                    </a:lnTo>
                    <a:lnTo>
                      <a:pt x="18" y="545"/>
                    </a:lnTo>
                    <a:lnTo>
                      <a:pt x="43" y="593"/>
                    </a:lnTo>
                    <a:lnTo>
                      <a:pt x="73" y="641"/>
                    </a:lnTo>
                    <a:lnTo>
                      <a:pt x="97" y="641"/>
                    </a:lnTo>
                    <a:lnTo>
                      <a:pt x="67" y="593"/>
                    </a:lnTo>
                    <a:lnTo>
                      <a:pt x="43" y="545"/>
                    </a:lnTo>
                    <a:lnTo>
                      <a:pt x="24" y="497"/>
                    </a:lnTo>
                    <a:lnTo>
                      <a:pt x="18" y="443"/>
                    </a:lnTo>
                    <a:lnTo>
                      <a:pt x="18" y="443"/>
                    </a:lnTo>
                    <a:close/>
                  </a:path>
                </a:pathLst>
              </a:custGeom>
              <a:solidFill>
                <a:schemeClr val="accent2"/>
              </a:solidFill>
              <a:ln w="9525">
                <a:noFill/>
                <a:round/>
                <a:headEnd/>
                <a:tailEnd/>
              </a:ln>
            </p:spPr>
            <p:txBody>
              <a:bodyPr/>
              <a:lstStyle/>
              <a:p>
                <a:pPr>
                  <a:defRPr/>
                </a:pPr>
                <a:endParaRPr lang="en-US" sz="1800"/>
              </a:p>
            </p:txBody>
          </p:sp>
        </p:grpSp>
        <p:grpSp>
          <p:nvGrpSpPr>
            <p:cNvPr id="1036" name="Group 36"/>
            <p:cNvGrpSpPr>
              <a:grpSpLocks/>
            </p:cNvGrpSpPr>
            <p:nvPr userDrawn="1"/>
          </p:nvGrpSpPr>
          <p:grpSpPr bwMode="auto">
            <a:xfrm>
              <a:off x="4128" y="3360"/>
              <a:ext cx="1351" cy="821"/>
              <a:chOff x="4128" y="3360"/>
              <a:chExt cx="1351" cy="821"/>
            </a:xfrm>
          </p:grpSpPr>
          <p:sp>
            <p:nvSpPr>
              <p:cNvPr id="25637" name="Freeform 37"/>
              <p:cNvSpPr>
                <a:spLocks noEditPoints="1"/>
              </p:cNvSpPr>
              <p:nvPr/>
            </p:nvSpPr>
            <p:spPr bwMode="hidden">
              <a:xfrm>
                <a:off x="4200" y="3402"/>
                <a:ext cx="1201" cy="731"/>
              </a:xfrm>
              <a:custGeom>
                <a:avLst/>
                <a:gdLst/>
                <a:ahLst/>
                <a:cxnLst>
                  <a:cxn ang="0">
                    <a:pos x="484" y="6"/>
                  </a:cxn>
                  <a:cxn ang="0">
                    <a:pos x="263" y="60"/>
                  </a:cxn>
                  <a:cxn ang="0">
                    <a:pos x="101" y="162"/>
                  </a:cxn>
                  <a:cxn ang="0">
                    <a:pos x="12" y="294"/>
                  </a:cxn>
                  <a:cxn ang="0">
                    <a:pos x="0" y="366"/>
                  </a:cxn>
                  <a:cxn ang="0">
                    <a:pos x="12" y="437"/>
                  </a:cxn>
                  <a:cxn ang="0">
                    <a:pos x="101" y="569"/>
                  </a:cxn>
                  <a:cxn ang="0">
                    <a:pos x="263" y="671"/>
                  </a:cxn>
                  <a:cxn ang="0">
                    <a:pos x="484" y="725"/>
                  </a:cxn>
                  <a:cxn ang="0">
                    <a:pos x="723" y="725"/>
                  </a:cxn>
                  <a:cxn ang="0">
                    <a:pos x="938" y="671"/>
                  </a:cxn>
                  <a:cxn ang="0">
                    <a:pos x="1100" y="569"/>
                  </a:cxn>
                  <a:cxn ang="0">
                    <a:pos x="1189" y="437"/>
                  </a:cxn>
                  <a:cxn ang="0">
                    <a:pos x="1201" y="366"/>
                  </a:cxn>
                  <a:cxn ang="0">
                    <a:pos x="1189" y="294"/>
                  </a:cxn>
                  <a:cxn ang="0">
                    <a:pos x="1100" y="162"/>
                  </a:cxn>
                  <a:cxn ang="0">
                    <a:pos x="938" y="60"/>
                  </a:cxn>
                  <a:cxn ang="0">
                    <a:pos x="723" y="6"/>
                  </a:cxn>
                  <a:cxn ang="0">
                    <a:pos x="604" y="0"/>
                  </a:cxn>
                  <a:cxn ang="0">
                    <a:pos x="490" y="701"/>
                  </a:cxn>
                  <a:cxn ang="0">
                    <a:pos x="287" y="647"/>
                  </a:cxn>
                  <a:cxn ang="0">
                    <a:pos x="131" y="557"/>
                  </a:cxn>
                  <a:cxn ang="0">
                    <a:pos x="48" y="437"/>
                  </a:cxn>
                  <a:cxn ang="0">
                    <a:pos x="36" y="366"/>
                  </a:cxn>
                  <a:cxn ang="0">
                    <a:pos x="48" y="300"/>
                  </a:cxn>
                  <a:cxn ang="0">
                    <a:pos x="131" y="174"/>
                  </a:cxn>
                  <a:cxn ang="0">
                    <a:pos x="287" y="84"/>
                  </a:cxn>
                  <a:cxn ang="0">
                    <a:pos x="490" y="30"/>
                  </a:cxn>
                  <a:cxn ang="0">
                    <a:pos x="717" y="30"/>
                  </a:cxn>
                  <a:cxn ang="0">
                    <a:pos x="920" y="84"/>
                  </a:cxn>
                  <a:cxn ang="0">
                    <a:pos x="1070" y="174"/>
                  </a:cxn>
                  <a:cxn ang="0">
                    <a:pos x="1153" y="300"/>
                  </a:cxn>
                  <a:cxn ang="0">
                    <a:pos x="1153" y="437"/>
                  </a:cxn>
                  <a:cxn ang="0">
                    <a:pos x="1070" y="557"/>
                  </a:cxn>
                  <a:cxn ang="0">
                    <a:pos x="920" y="647"/>
                  </a:cxn>
                  <a:cxn ang="0">
                    <a:pos x="717" y="701"/>
                  </a:cxn>
                  <a:cxn ang="0">
                    <a:pos x="604" y="707"/>
                  </a:cxn>
                </a:cxnLst>
                <a:rect l="0" t="0" r="r" b="b"/>
                <a:pathLst>
                  <a:path w="1201" h="731">
                    <a:moveTo>
                      <a:pt x="604" y="0"/>
                    </a:moveTo>
                    <a:lnTo>
                      <a:pt x="484" y="6"/>
                    </a:lnTo>
                    <a:lnTo>
                      <a:pt x="370" y="30"/>
                    </a:lnTo>
                    <a:lnTo>
                      <a:pt x="263" y="60"/>
                    </a:lnTo>
                    <a:lnTo>
                      <a:pt x="179" y="108"/>
                    </a:lnTo>
                    <a:lnTo>
                      <a:pt x="101" y="162"/>
                    </a:lnTo>
                    <a:lnTo>
                      <a:pt x="48" y="222"/>
                    </a:lnTo>
                    <a:lnTo>
                      <a:pt x="12" y="294"/>
                    </a:lnTo>
                    <a:lnTo>
                      <a:pt x="6" y="330"/>
                    </a:lnTo>
                    <a:lnTo>
                      <a:pt x="0" y="366"/>
                    </a:lnTo>
                    <a:lnTo>
                      <a:pt x="6" y="401"/>
                    </a:lnTo>
                    <a:lnTo>
                      <a:pt x="12" y="437"/>
                    </a:lnTo>
                    <a:lnTo>
                      <a:pt x="48" y="509"/>
                    </a:lnTo>
                    <a:lnTo>
                      <a:pt x="101" y="569"/>
                    </a:lnTo>
                    <a:lnTo>
                      <a:pt x="179" y="623"/>
                    </a:lnTo>
                    <a:lnTo>
                      <a:pt x="263" y="671"/>
                    </a:lnTo>
                    <a:lnTo>
                      <a:pt x="370" y="701"/>
                    </a:lnTo>
                    <a:lnTo>
                      <a:pt x="484" y="725"/>
                    </a:lnTo>
                    <a:lnTo>
                      <a:pt x="604" y="731"/>
                    </a:lnTo>
                    <a:lnTo>
                      <a:pt x="723" y="725"/>
                    </a:lnTo>
                    <a:lnTo>
                      <a:pt x="837" y="701"/>
                    </a:lnTo>
                    <a:lnTo>
                      <a:pt x="938" y="671"/>
                    </a:lnTo>
                    <a:lnTo>
                      <a:pt x="1028" y="623"/>
                    </a:lnTo>
                    <a:lnTo>
                      <a:pt x="1100" y="569"/>
                    </a:lnTo>
                    <a:lnTo>
                      <a:pt x="1153" y="509"/>
                    </a:lnTo>
                    <a:lnTo>
                      <a:pt x="1189" y="437"/>
                    </a:lnTo>
                    <a:lnTo>
                      <a:pt x="1201" y="401"/>
                    </a:lnTo>
                    <a:lnTo>
                      <a:pt x="1201" y="366"/>
                    </a:lnTo>
                    <a:lnTo>
                      <a:pt x="1201" y="330"/>
                    </a:lnTo>
                    <a:lnTo>
                      <a:pt x="1189" y="294"/>
                    </a:lnTo>
                    <a:lnTo>
                      <a:pt x="1153" y="222"/>
                    </a:lnTo>
                    <a:lnTo>
                      <a:pt x="1100" y="162"/>
                    </a:lnTo>
                    <a:lnTo>
                      <a:pt x="1028" y="108"/>
                    </a:lnTo>
                    <a:lnTo>
                      <a:pt x="938" y="60"/>
                    </a:lnTo>
                    <a:lnTo>
                      <a:pt x="837" y="30"/>
                    </a:lnTo>
                    <a:lnTo>
                      <a:pt x="723" y="6"/>
                    </a:lnTo>
                    <a:lnTo>
                      <a:pt x="604" y="0"/>
                    </a:lnTo>
                    <a:lnTo>
                      <a:pt x="604" y="0"/>
                    </a:lnTo>
                    <a:close/>
                    <a:moveTo>
                      <a:pt x="604" y="707"/>
                    </a:moveTo>
                    <a:lnTo>
                      <a:pt x="490" y="701"/>
                    </a:lnTo>
                    <a:lnTo>
                      <a:pt x="382" y="683"/>
                    </a:lnTo>
                    <a:lnTo>
                      <a:pt x="287" y="647"/>
                    </a:lnTo>
                    <a:lnTo>
                      <a:pt x="203" y="611"/>
                    </a:lnTo>
                    <a:lnTo>
                      <a:pt x="131" y="557"/>
                    </a:lnTo>
                    <a:lnTo>
                      <a:pt x="83" y="497"/>
                    </a:lnTo>
                    <a:lnTo>
                      <a:pt x="48" y="437"/>
                    </a:lnTo>
                    <a:lnTo>
                      <a:pt x="42" y="401"/>
                    </a:lnTo>
                    <a:lnTo>
                      <a:pt x="36" y="366"/>
                    </a:lnTo>
                    <a:lnTo>
                      <a:pt x="42" y="330"/>
                    </a:lnTo>
                    <a:lnTo>
                      <a:pt x="48" y="300"/>
                    </a:lnTo>
                    <a:lnTo>
                      <a:pt x="83" y="234"/>
                    </a:lnTo>
                    <a:lnTo>
                      <a:pt x="131" y="174"/>
                    </a:lnTo>
                    <a:lnTo>
                      <a:pt x="203" y="126"/>
                    </a:lnTo>
                    <a:lnTo>
                      <a:pt x="287" y="84"/>
                    </a:lnTo>
                    <a:lnTo>
                      <a:pt x="382" y="54"/>
                    </a:lnTo>
                    <a:lnTo>
                      <a:pt x="490" y="30"/>
                    </a:lnTo>
                    <a:lnTo>
                      <a:pt x="604" y="24"/>
                    </a:lnTo>
                    <a:lnTo>
                      <a:pt x="717" y="30"/>
                    </a:lnTo>
                    <a:lnTo>
                      <a:pt x="825" y="54"/>
                    </a:lnTo>
                    <a:lnTo>
                      <a:pt x="920" y="84"/>
                    </a:lnTo>
                    <a:lnTo>
                      <a:pt x="1004" y="126"/>
                    </a:lnTo>
                    <a:lnTo>
                      <a:pt x="1070" y="174"/>
                    </a:lnTo>
                    <a:lnTo>
                      <a:pt x="1124" y="234"/>
                    </a:lnTo>
                    <a:lnTo>
                      <a:pt x="1153" y="300"/>
                    </a:lnTo>
                    <a:lnTo>
                      <a:pt x="1165" y="366"/>
                    </a:lnTo>
                    <a:lnTo>
                      <a:pt x="1153" y="437"/>
                    </a:lnTo>
                    <a:lnTo>
                      <a:pt x="1124" y="497"/>
                    </a:lnTo>
                    <a:lnTo>
                      <a:pt x="1070" y="557"/>
                    </a:lnTo>
                    <a:lnTo>
                      <a:pt x="1004" y="611"/>
                    </a:lnTo>
                    <a:lnTo>
                      <a:pt x="920" y="647"/>
                    </a:lnTo>
                    <a:lnTo>
                      <a:pt x="825" y="683"/>
                    </a:lnTo>
                    <a:lnTo>
                      <a:pt x="717" y="701"/>
                    </a:lnTo>
                    <a:lnTo>
                      <a:pt x="604" y="707"/>
                    </a:lnTo>
                    <a:lnTo>
                      <a:pt x="604" y="707"/>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38" name="Freeform 38"/>
              <p:cNvSpPr>
                <a:spLocks/>
              </p:cNvSpPr>
              <p:nvPr/>
            </p:nvSpPr>
            <p:spPr bwMode="hidden">
              <a:xfrm>
                <a:off x="4128" y="3366"/>
                <a:ext cx="544" cy="737"/>
              </a:xfrm>
              <a:custGeom>
                <a:avLst/>
                <a:gdLst/>
                <a:ahLst/>
                <a:cxnLst>
                  <a:cxn ang="0">
                    <a:pos x="24" y="402"/>
                  </a:cxn>
                  <a:cxn ang="0">
                    <a:pos x="36" y="330"/>
                  </a:cxn>
                  <a:cxn ang="0">
                    <a:pos x="66" y="264"/>
                  </a:cxn>
                  <a:cxn ang="0">
                    <a:pos x="108" y="204"/>
                  </a:cxn>
                  <a:cxn ang="0">
                    <a:pos x="173" y="150"/>
                  </a:cxn>
                  <a:cxn ang="0">
                    <a:pos x="251" y="102"/>
                  </a:cxn>
                  <a:cxn ang="0">
                    <a:pos x="335" y="60"/>
                  </a:cxn>
                  <a:cxn ang="0">
                    <a:pos x="436" y="30"/>
                  </a:cxn>
                  <a:cxn ang="0">
                    <a:pos x="544" y="12"/>
                  </a:cxn>
                  <a:cxn ang="0">
                    <a:pos x="544" y="0"/>
                  </a:cxn>
                  <a:cxn ang="0">
                    <a:pos x="430" y="18"/>
                  </a:cxn>
                  <a:cxn ang="0">
                    <a:pos x="329" y="48"/>
                  </a:cxn>
                  <a:cxn ang="0">
                    <a:pos x="233" y="90"/>
                  </a:cxn>
                  <a:cxn ang="0">
                    <a:pos x="155" y="138"/>
                  </a:cxn>
                  <a:cxn ang="0">
                    <a:pos x="90" y="198"/>
                  </a:cxn>
                  <a:cxn ang="0">
                    <a:pos x="42" y="258"/>
                  </a:cxn>
                  <a:cxn ang="0">
                    <a:pos x="12" y="330"/>
                  </a:cxn>
                  <a:cxn ang="0">
                    <a:pos x="0" y="402"/>
                  </a:cxn>
                  <a:cxn ang="0">
                    <a:pos x="6" y="455"/>
                  </a:cxn>
                  <a:cxn ang="0">
                    <a:pos x="18" y="503"/>
                  </a:cxn>
                  <a:cxn ang="0">
                    <a:pos x="42" y="545"/>
                  </a:cxn>
                  <a:cxn ang="0">
                    <a:pos x="78" y="593"/>
                  </a:cxn>
                  <a:cxn ang="0">
                    <a:pos x="114" y="635"/>
                  </a:cxn>
                  <a:cxn ang="0">
                    <a:pos x="161" y="671"/>
                  </a:cxn>
                  <a:cxn ang="0">
                    <a:pos x="221" y="707"/>
                  </a:cxn>
                  <a:cxn ang="0">
                    <a:pos x="281" y="737"/>
                  </a:cxn>
                  <a:cxn ang="0">
                    <a:pos x="323" y="737"/>
                  </a:cxn>
                  <a:cxn ang="0">
                    <a:pos x="257" y="707"/>
                  </a:cxn>
                  <a:cxn ang="0">
                    <a:pos x="203" y="671"/>
                  </a:cxn>
                  <a:cxn ang="0">
                    <a:pos x="149" y="635"/>
                  </a:cxn>
                  <a:cxn ang="0">
                    <a:pos x="108" y="593"/>
                  </a:cxn>
                  <a:cxn ang="0">
                    <a:pos x="72" y="551"/>
                  </a:cxn>
                  <a:cxn ang="0">
                    <a:pos x="48" y="503"/>
                  </a:cxn>
                  <a:cxn ang="0">
                    <a:pos x="30" y="455"/>
                  </a:cxn>
                  <a:cxn ang="0">
                    <a:pos x="24" y="402"/>
                  </a:cxn>
                  <a:cxn ang="0">
                    <a:pos x="24" y="402"/>
                  </a:cxn>
                </a:cxnLst>
                <a:rect l="0" t="0" r="r" b="b"/>
                <a:pathLst>
                  <a:path w="544" h="737">
                    <a:moveTo>
                      <a:pt x="24" y="402"/>
                    </a:moveTo>
                    <a:lnTo>
                      <a:pt x="36" y="330"/>
                    </a:lnTo>
                    <a:lnTo>
                      <a:pt x="66" y="264"/>
                    </a:lnTo>
                    <a:lnTo>
                      <a:pt x="108" y="204"/>
                    </a:lnTo>
                    <a:lnTo>
                      <a:pt x="173" y="150"/>
                    </a:lnTo>
                    <a:lnTo>
                      <a:pt x="251" y="102"/>
                    </a:lnTo>
                    <a:lnTo>
                      <a:pt x="335" y="60"/>
                    </a:lnTo>
                    <a:lnTo>
                      <a:pt x="436" y="30"/>
                    </a:lnTo>
                    <a:lnTo>
                      <a:pt x="544" y="12"/>
                    </a:lnTo>
                    <a:lnTo>
                      <a:pt x="544" y="0"/>
                    </a:lnTo>
                    <a:lnTo>
                      <a:pt x="430" y="18"/>
                    </a:lnTo>
                    <a:lnTo>
                      <a:pt x="329" y="48"/>
                    </a:lnTo>
                    <a:lnTo>
                      <a:pt x="233" y="90"/>
                    </a:lnTo>
                    <a:lnTo>
                      <a:pt x="155" y="138"/>
                    </a:lnTo>
                    <a:lnTo>
                      <a:pt x="90" y="198"/>
                    </a:lnTo>
                    <a:lnTo>
                      <a:pt x="42" y="258"/>
                    </a:lnTo>
                    <a:lnTo>
                      <a:pt x="12" y="330"/>
                    </a:lnTo>
                    <a:lnTo>
                      <a:pt x="0" y="402"/>
                    </a:lnTo>
                    <a:lnTo>
                      <a:pt x="6" y="455"/>
                    </a:lnTo>
                    <a:lnTo>
                      <a:pt x="18" y="503"/>
                    </a:lnTo>
                    <a:lnTo>
                      <a:pt x="42" y="545"/>
                    </a:lnTo>
                    <a:lnTo>
                      <a:pt x="78" y="593"/>
                    </a:lnTo>
                    <a:lnTo>
                      <a:pt x="114" y="635"/>
                    </a:lnTo>
                    <a:lnTo>
                      <a:pt x="161" y="671"/>
                    </a:lnTo>
                    <a:lnTo>
                      <a:pt x="221" y="707"/>
                    </a:lnTo>
                    <a:lnTo>
                      <a:pt x="281" y="737"/>
                    </a:lnTo>
                    <a:lnTo>
                      <a:pt x="323" y="737"/>
                    </a:lnTo>
                    <a:lnTo>
                      <a:pt x="257" y="707"/>
                    </a:lnTo>
                    <a:lnTo>
                      <a:pt x="203" y="671"/>
                    </a:lnTo>
                    <a:lnTo>
                      <a:pt x="149" y="635"/>
                    </a:lnTo>
                    <a:lnTo>
                      <a:pt x="108" y="593"/>
                    </a:lnTo>
                    <a:lnTo>
                      <a:pt x="72" y="551"/>
                    </a:lnTo>
                    <a:lnTo>
                      <a:pt x="48" y="503"/>
                    </a:lnTo>
                    <a:lnTo>
                      <a:pt x="30" y="455"/>
                    </a:lnTo>
                    <a:lnTo>
                      <a:pt x="24" y="402"/>
                    </a:lnTo>
                    <a:lnTo>
                      <a:pt x="24" y="402"/>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39" name="Freeform 39"/>
              <p:cNvSpPr>
                <a:spLocks/>
              </p:cNvSpPr>
              <p:nvPr/>
            </p:nvSpPr>
            <p:spPr bwMode="hidden">
              <a:xfrm>
                <a:off x="4792" y="3360"/>
                <a:ext cx="609" cy="252"/>
              </a:xfrm>
              <a:custGeom>
                <a:avLst/>
                <a:gdLst/>
                <a:ahLst/>
                <a:cxnLst>
                  <a:cxn ang="0">
                    <a:pos x="12" y="12"/>
                  </a:cxn>
                  <a:cxn ang="0">
                    <a:pos x="113" y="18"/>
                  </a:cxn>
                  <a:cxn ang="0">
                    <a:pos x="203" y="30"/>
                  </a:cxn>
                  <a:cxn ang="0">
                    <a:pos x="292" y="48"/>
                  </a:cxn>
                  <a:cxn ang="0">
                    <a:pos x="376" y="78"/>
                  </a:cxn>
                  <a:cxn ang="0">
                    <a:pos x="448" y="114"/>
                  </a:cxn>
                  <a:cxn ang="0">
                    <a:pos x="514" y="156"/>
                  </a:cxn>
                  <a:cxn ang="0">
                    <a:pos x="567" y="198"/>
                  </a:cxn>
                  <a:cxn ang="0">
                    <a:pos x="609" y="252"/>
                  </a:cxn>
                  <a:cxn ang="0">
                    <a:pos x="609" y="216"/>
                  </a:cxn>
                  <a:cxn ang="0">
                    <a:pos x="561" y="168"/>
                  </a:cxn>
                  <a:cxn ang="0">
                    <a:pos x="502" y="126"/>
                  </a:cxn>
                  <a:cxn ang="0">
                    <a:pos x="436" y="90"/>
                  </a:cxn>
                  <a:cxn ang="0">
                    <a:pos x="364" y="60"/>
                  </a:cxn>
                  <a:cxn ang="0">
                    <a:pos x="286" y="36"/>
                  </a:cxn>
                  <a:cxn ang="0">
                    <a:pos x="197" y="18"/>
                  </a:cxn>
                  <a:cxn ang="0">
                    <a:pos x="107" y="6"/>
                  </a:cxn>
                  <a:cxn ang="0">
                    <a:pos x="12" y="0"/>
                  </a:cxn>
                  <a:cxn ang="0">
                    <a:pos x="6" y="0"/>
                  </a:cxn>
                  <a:cxn ang="0">
                    <a:pos x="0" y="0"/>
                  </a:cxn>
                  <a:cxn ang="0">
                    <a:pos x="0" y="12"/>
                  </a:cxn>
                  <a:cxn ang="0">
                    <a:pos x="6" y="12"/>
                  </a:cxn>
                  <a:cxn ang="0">
                    <a:pos x="12" y="12"/>
                  </a:cxn>
                  <a:cxn ang="0">
                    <a:pos x="12" y="12"/>
                  </a:cxn>
                </a:cxnLst>
                <a:rect l="0" t="0" r="r" b="b"/>
                <a:pathLst>
                  <a:path w="609" h="252">
                    <a:moveTo>
                      <a:pt x="12" y="12"/>
                    </a:moveTo>
                    <a:lnTo>
                      <a:pt x="113" y="18"/>
                    </a:lnTo>
                    <a:lnTo>
                      <a:pt x="203" y="30"/>
                    </a:lnTo>
                    <a:lnTo>
                      <a:pt x="292" y="48"/>
                    </a:lnTo>
                    <a:lnTo>
                      <a:pt x="376" y="78"/>
                    </a:lnTo>
                    <a:lnTo>
                      <a:pt x="448" y="114"/>
                    </a:lnTo>
                    <a:lnTo>
                      <a:pt x="514" y="156"/>
                    </a:lnTo>
                    <a:lnTo>
                      <a:pt x="567" y="198"/>
                    </a:lnTo>
                    <a:lnTo>
                      <a:pt x="609" y="252"/>
                    </a:lnTo>
                    <a:lnTo>
                      <a:pt x="609" y="216"/>
                    </a:lnTo>
                    <a:lnTo>
                      <a:pt x="561" y="168"/>
                    </a:lnTo>
                    <a:lnTo>
                      <a:pt x="502" y="126"/>
                    </a:lnTo>
                    <a:lnTo>
                      <a:pt x="436" y="90"/>
                    </a:lnTo>
                    <a:lnTo>
                      <a:pt x="364" y="60"/>
                    </a:lnTo>
                    <a:lnTo>
                      <a:pt x="286" y="36"/>
                    </a:lnTo>
                    <a:lnTo>
                      <a:pt x="197" y="18"/>
                    </a:lnTo>
                    <a:lnTo>
                      <a:pt x="107" y="6"/>
                    </a:lnTo>
                    <a:lnTo>
                      <a:pt x="12" y="0"/>
                    </a:lnTo>
                    <a:lnTo>
                      <a:pt x="6" y="0"/>
                    </a:lnTo>
                    <a:lnTo>
                      <a:pt x="0" y="0"/>
                    </a:lnTo>
                    <a:lnTo>
                      <a:pt x="0" y="12"/>
                    </a:lnTo>
                    <a:lnTo>
                      <a:pt x="6" y="12"/>
                    </a:lnTo>
                    <a:lnTo>
                      <a:pt x="12" y="12"/>
                    </a:lnTo>
                    <a:lnTo>
                      <a:pt x="12" y="12"/>
                    </a:lnTo>
                    <a:close/>
                  </a:path>
                </a:pathLst>
              </a:custGeom>
              <a:gradFill rotWithShape="0">
                <a:gsLst>
                  <a:gs pos="0">
                    <a:schemeClr val="accent2">
                      <a:gamma/>
                      <a:tint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640" name="Freeform 40"/>
              <p:cNvSpPr>
                <a:spLocks/>
              </p:cNvSpPr>
              <p:nvPr/>
            </p:nvSpPr>
            <p:spPr bwMode="hidden">
              <a:xfrm>
                <a:off x="5246" y="4007"/>
                <a:ext cx="72" cy="54"/>
              </a:xfrm>
              <a:custGeom>
                <a:avLst/>
                <a:gdLst/>
                <a:ahLst/>
                <a:cxnLst>
                  <a:cxn ang="0">
                    <a:pos x="72" y="0"/>
                  </a:cxn>
                  <a:cxn ang="0">
                    <a:pos x="36" y="30"/>
                  </a:cxn>
                  <a:cxn ang="0">
                    <a:pos x="0" y="54"/>
                  </a:cxn>
                  <a:cxn ang="0">
                    <a:pos x="36" y="54"/>
                  </a:cxn>
                  <a:cxn ang="0">
                    <a:pos x="54" y="42"/>
                  </a:cxn>
                  <a:cxn ang="0">
                    <a:pos x="72" y="24"/>
                  </a:cxn>
                  <a:cxn ang="0">
                    <a:pos x="72" y="24"/>
                  </a:cxn>
                  <a:cxn ang="0">
                    <a:pos x="72" y="0"/>
                  </a:cxn>
                  <a:cxn ang="0">
                    <a:pos x="72" y="0"/>
                  </a:cxn>
                </a:cxnLst>
                <a:rect l="0" t="0" r="r" b="b"/>
                <a:pathLst>
                  <a:path w="72" h="54">
                    <a:moveTo>
                      <a:pt x="72" y="0"/>
                    </a:moveTo>
                    <a:lnTo>
                      <a:pt x="36" y="30"/>
                    </a:lnTo>
                    <a:lnTo>
                      <a:pt x="0" y="54"/>
                    </a:lnTo>
                    <a:lnTo>
                      <a:pt x="36" y="54"/>
                    </a:lnTo>
                    <a:lnTo>
                      <a:pt x="54" y="42"/>
                    </a:lnTo>
                    <a:lnTo>
                      <a:pt x="72" y="24"/>
                    </a:lnTo>
                    <a:lnTo>
                      <a:pt x="72" y="24"/>
                    </a:lnTo>
                    <a:lnTo>
                      <a:pt x="72" y="0"/>
                    </a:lnTo>
                    <a:lnTo>
                      <a:pt x="72" y="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1" name="Freeform 41"/>
              <p:cNvSpPr>
                <a:spLocks/>
              </p:cNvSpPr>
              <p:nvPr/>
            </p:nvSpPr>
            <p:spPr bwMode="hidden">
              <a:xfrm>
                <a:off x="4505" y="4073"/>
                <a:ext cx="705" cy="108"/>
              </a:xfrm>
              <a:custGeom>
                <a:avLst/>
                <a:gdLst/>
                <a:ahLst/>
                <a:cxnLst>
                  <a:cxn ang="0">
                    <a:pos x="299" y="90"/>
                  </a:cxn>
                  <a:cxn ang="0">
                    <a:pos x="221" y="90"/>
                  </a:cxn>
                  <a:cxn ang="0">
                    <a:pos x="143" y="78"/>
                  </a:cxn>
                  <a:cxn ang="0">
                    <a:pos x="0" y="48"/>
                  </a:cxn>
                  <a:cxn ang="0">
                    <a:pos x="0" y="66"/>
                  </a:cxn>
                  <a:cxn ang="0">
                    <a:pos x="143" y="96"/>
                  </a:cxn>
                  <a:cxn ang="0">
                    <a:pos x="221" y="108"/>
                  </a:cxn>
                  <a:cxn ang="0">
                    <a:pos x="299" y="108"/>
                  </a:cxn>
                  <a:cxn ang="0">
                    <a:pos x="412" y="102"/>
                  </a:cxn>
                  <a:cxn ang="0">
                    <a:pos x="520" y="84"/>
                  </a:cxn>
                  <a:cxn ang="0">
                    <a:pos x="615" y="60"/>
                  </a:cxn>
                  <a:cxn ang="0">
                    <a:pos x="705" y="24"/>
                  </a:cxn>
                  <a:cxn ang="0">
                    <a:pos x="705" y="0"/>
                  </a:cxn>
                  <a:cxn ang="0">
                    <a:pos x="615" y="42"/>
                  </a:cxn>
                  <a:cxn ang="0">
                    <a:pos x="520" y="66"/>
                  </a:cxn>
                  <a:cxn ang="0">
                    <a:pos x="412" y="84"/>
                  </a:cxn>
                  <a:cxn ang="0">
                    <a:pos x="299" y="90"/>
                  </a:cxn>
                  <a:cxn ang="0">
                    <a:pos x="299" y="90"/>
                  </a:cxn>
                </a:cxnLst>
                <a:rect l="0" t="0" r="r" b="b"/>
                <a:pathLst>
                  <a:path w="705" h="108">
                    <a:moveTo>
                      <a:pt x="299" y="90"/>
                    </a:moveTo>
                    <a:lnTo>
                      <a:pt x="221" y="90"/>
                    </a:lnTo>
                    <a:lnTo>
                      <a:pt x="143" y="78"/>
                    </a:lnTo>
                    <a:lnTo>
                      <a:pt x="0" y="48"/>
                    </a:lnTo>
                    <a:lnTo>
                      <a:pt x="0" y="66"/>
                    </a:lnTo>
                    <a:lnTo>
                      <a:pt x="143" y="96"/>
                    </a:lnTo>
                    <a:lnTo>
                      <a:pt x="221" y="108"/>
                    </a:lnTo>
                    <a:lnTo>
                      <a:pt x="299" y="108"/>
                    </a:lnTo>
                    <a:lnTo>
                      <a:pt x="412" y="102"/>
                    </a:lnTo>
                    <a:lnTo>
                      <a:pt x="520" y="84"/>
                    </a:lnTo>
                    <a:lnTo>
                      <a:pt x="615" y="60"/>
                    </a:lnTo>
                    <a:lnTo>
                      <a:pt x="705" y="24"/>
                    </a:lnTo>
                    <a:lnTo>
                      <a:pt x="705" y="0"/>
                    </a:lnTo>
                    <a:lnTo>
                      <a:pt x="615" y="42"/>
                    </a:lnTo>
                    <a:lnTo>
                      <a:pt x="520" y="66"/>
                    </a:lnTo>
                    <a:lnTo>
                      <a:pt x="412" y="84"/>
                    </a:lnTo>
                    <a:lnTo>
                      <a:pt x="299" y="90"/>
                    </a:lnTo>
                    <a:lnTo>
                      <a:pt x="29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2" name="Freeform 42"/>
              <p:cNvSpPr>
                <a:spLocks/>
              </p:cNvSpPr>
              <p:nvPr/>
            </p:nvSpPr>
            <p:spPr bwMode="hidden">
              <a:xfrm>
                <a:off x="5336" y="3654"/>
                <a:ext cx="143" cy="341"/>
              </a:xfrm>
              <a:custGeom>
                <a:avLst/>
                <a:gdLst/>
                <a:ahLst/>
                <a:cxnLst>
                  <a:cxn ang="0">
                    <a:pos x="119" y="114"/>
                  </a:cxn>
                  <a:cxn ang="0">
                    <a:pos x="113" y="173"/>
                  </a:cxn>
                  <a:cxn ang="0">
                    <a:pos x="89" y="239"/>
                  </a:cxn>
                  <a:cxn ang="0">
                    <a:pos x="47" y="293"/>
                  </a:cxn>
                  <a:cxn ang="0">
                    <a:pos x="0" y="341"/>
                  </a:cxn>
                  <a:cxn ang="0">
                    <a:pos x="29" y="341"/>
                  </a:cxn>
                  <a:cxn ang="0">
                    <a:pos x="77" y="287"/>
                  </a:cxn>
                  <a:cxn ang="0">
                    <a:pos x="113" y="233"/>
                  </a:cxn>
                  <a:cxn ang="0">
                    <a:pos x="137" y="173"/>
                  </a:cxn>
                  <a:cxn ang="0">
                    <a:pos x="143" y="114"/>
                  </a:cxn>
                  <a:cxn ang="0">
                    <a:pos x="137" y="60"/>
                  </a:cxn>
                  <a:cxn ang="0">
                    <a:pos x="119" y="0"/>
                  </a:cxn>
                  <a:cxn ang="0">
                    <a:pos x="89" y="0"/>
                  </a:cxn>
                  <a:cxn ang="0">
                    <a:pos x="113" y="60"/>
                  </a:cxn>
                  <a:cxn ang="0">
                    <a:pos x="119" y="114"/>
                  </a:cxn>
                  <a:cxn ang="0">
                    <a:pos x="119" y="114"/>
                  </a:cxn>
                </a:cxnLst>
                <a:rect l="0" t="0" r="r" b="b"/>
                <a:pathLst>
                  <a:path w="143" h="341">
                    <a:moveTo>
                      <a:pt x="119" y="114"/>
                    </a:moveTo>
                    <a:lnTo>
                      <a:pt x="113" y="173"/>
                    </a:lnTo>
                    <a:lnTo>
                      <a:pt x="89" y="239"/>
                    </a:lnTo>
                    <a:lnTo>
                      <a:pt x="47" y="293"/>
                    </a:lnTo>
                    <a:lnTo>
                      <a:pt x="0" y="341"/>
                    </a:lnTo>
                    <a:lnTo>
                      <a:pt x="29" y="341"/>
                    </a:lnTo>
                    <a:lnTo>
                      <a:pt x="77" y="287"/>
                    </a:lnTo>
                    <a:lnTo>
                      <a:pt x="113" y="233"/>
                    </a:lnTo>
                    <a:lnTo>
                      <a:pt x="137" y="173"/>
                    </a:lnTo>
                    <a:lnTo>
                      <a:pt x="143" y="114"/>
                    </a:lnTo>
                    <a:lnTo>
                      <a:pt x="137" y="60"/>
                    </a:lnTo>
                    <a:lnTo>
                      <a:pt x="119" y="0"/>
                    </a:lnTo>
                    <a:lnTo>
                      <a:pt x="89" y="0"/>
                    </a:lnTo>
                    <a:lnTo>
                      <a:pt x="113" y="60"/>
                    </a:lnTo>
                    <a:lnTo>
                      <a:pt x="119" y="114"/>
                    </a:lnTo>
                    <a:lnTo>
                      <a:pt x="119" y="114"/>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3" name="Freeform 43"/>
              <p:cNvSpPr>
                <a:spLocks/>
              </p:cNvSpPr>
              <p:nvPr/>
            </p:nvSpPr>
            <p:spPr bwMode="hidden">
              <a:xfrm>
                <a:off x="5061" y="3624"/>
                <a:ext cx="83" cy="90"/>
              </a:xfrm>
              <a:custGeom>
                <a:avLst/>
                <a:gdLst/>
                <a:ahLst/>
                <a:cxnLst>
                  <a:cxn ang="0">
                    <a:pos x="59" y="90"/>
                  </a:cxn>
                  <a:cxn ang="0">
                    <a:pos x="83" y="84"/>
                  </a:cxn>
                  <a:cxn ang="0">
                    <a:pos x="71" y="60"/>
                  </a:cxn>
                  <a:cxn ang="0">
                    <a:pos x="53" y="42"/>
                  </a:cxn>
                  <a:cxn ang="0">
                    <a:pos x="6" y="0"/>
                  </a:cxn>
                  <a:cxn ang="0">
                    <a:pos x="0" y="18"/>
                  </a:cxn>
                  <a:cxn ang="0">
                    <a:pos x="35" y="48"/>
                  </a:cxn>
                  <a:cxn ang="0">
                    <a:pos x="59" y="90"/>
                  </a:cxn>
                  <a:cxn ang="0">
                    <a:pos x="59" y="90"/>
                  </a:cxn>
                </a:cxnLst>
                <a:rect l="0" t="0" r="r" b="b"/>
                <a:pathLst>
                  <a:path w="83" h="90">
                    <a:moveTo>
                      <a:pt x="59" y="90"/>
                    </a:moveTo>
                    <a:lnTo>
                      <a:pt x="83" y="84"/>
                    </a:lnTo>
                    <a:lnTo>
                      <a:pt x="71" y="60"/>
                    </a:lnTo>
                    <a:lnTo>
                      <a:pt x="53" y="42"/>
                    </a:lnTo>
                    <a:lnTo>
                      <a:pt x="6" y="0"/>
                    </a:lnTo>
                    <a:lnTo>
                      <a:pt x="0" y="18"/>
                    </a:lnTo>
                    <a:lnTo>
                      <a:pt x="35" y="48"/>
                    </a:lnTo>
                    <a:lnTo>
                      <a:pt x="59" y="90"/>
                    </a:lnTo>
                    <a:lnTo>
                      <a:pt x="5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4" name="Freeform 44"/>
              <p:cNvSpPr>
                <a:spLocks/>
              </p:cNvSpPr>
              <p:nvPr/>
            </p:nvSpPr>
            <p:spPr bwMode="hidden">
              <a:xfrm>
                <a:off x="4445" y="3552"/>
                <a:ext cx="717" cy="431"/>
              </a:xfrm>
              <a:custGeom>
                <a:avLst/>
                <a:gdLst/>
                <a:ahLst/>
                <a:cxnLst>
                  <a:cxn ang="0">
                    <a:pos x="693" y="216"/>
                  </a:cxn>
                  <a:cxn ang="0">
                    <a:pos x="687" y="257"/>
                  </a:cxn>
                  <a:cxn ang="0">
                    <a:pos x="669" y="293"/>
                  </a:cxn>
                  <a:cxn ang="0">
                    <a:pos x="633" y="329"/>
                  </a:cxn>
                  <a:cxn ang="0">
                    <a:pos x="598" y="359"/>
                  </a:cxn>
                  <a:cxn ang="0">
                    <a:pos x="544" y="383"/>
                  </a:cxn>
                  <a:cxn ang="0">
                    <a:pos x="490" y="401"/>
                  </a:cxn>
                  <a:cxn ang="0">
                    <a:pos x="424" y="413"/>
                  </a:cxn>
                  <a:cxn ang="0">
                    <a:pos x="359" y="419"/>
                  </a:cxn>
                  <a:cxn ang="0">
                    <a:pos x="293" y="413"/>
                  </a:cxn>
                  <a:cxn ang="0">
                    <a:pos x="227" y="401"/>
                  </a:cxn>
                  <a:cxn ang="0">
                    <a:pos x="173" y="383"/>
                  </a:cxn>
                  <a:cxn ang="0">
                    <a:pos x="119" y="359"/>
                  </a:cxn>
                  <a:cxn ang="0">
                    <a:pos x="84" y="329"/>
                  </a:cxn>
                  <a:cxn ang="0">
                    <a:pos x="48" y="293"/>
                  </a:cxn>
                  <a:cxn ang="0">
                    <a:pos x="30" y="257"/>
                  </a:cxn>
                  <a:cxn ang="0">
                    <a:pos x="24" y="216"/>
                  </a:cxn>
                  <a:cxn ang="0">
                    <a:pos x="30" y="174"/>
                  </a:cxn>
                  <a:cxn ang="0">
                    <a:pos x="48" y="138"/>
                  </a:cxn>
                  <a:cxn ang="0">
                    <a:pos x="84" y="102"/>
                  </a:cxn>
                  <a:cxn ang="0">
                    <a:pos x="119" y="72"/>
                  </a:cxn>
                  <a:cxn ang="0">
                    <a:pos x="173" y="48"/>
                  </a:cxn>
                  <a:cxn ang="0">
                    <a:pos x="227" y="30"/>
                  </a:cxn>
                  <a:cxn ang="0">
                    <a:pos x="293" y="18"/>
                  </a:cxn>
                  <a:cxn ang="0">
                    <a:pos x="359" y="12"/>
                  </a:cxn>
                  <a:cxn ang="0">
                    <a:pos x="418" y="18"/>
                  </a:cxn>
                  <a:cxn ang="0">
                    <a:pos x="478" y="30"/>
                  </a:cxn>
                  <a:cxn ang="0">
                    <a:pos x="532" y="48"/>
                  </a:cxn>
                  <a:cxn ang="0">
                    <a:pos x="580" y="66"/>
                  </a:cxn>
                  <a:cxn ang="0">
                    <a:pos x="586" y="48"/>
                  </a:cxn>
                  <a:cxn ang="0">
                    <a:pos x="478" y="12"/>
                  </a:cxn>
                  <a:cxn ang="0">
                    <a:pos x="418" y="6"/>
                  </a:cxn>
                  <a:cxn ang="0">
                    <a:pos x="359" y="0"/>
                  </a:cxn>
                  <a:cxn ang="0">
                    <a:pos x="287" y="6"/>
                  </a:cxn>
                  <a:cxn ang="0">
                    <a:pos x="221" y="18"/>
                  </a:cxn>
                  <a:cxn ang="0">
                    <a:pos x="161" y="36"/>
                  </a:cxn>
                  <a:cxn ang="0">
                    <a:pos x="107" y="66"/>
                  </a:cxn>
                  <a:cxn ang="0">
                    <a:pos x="60" y="96"/>
                  </a:cxn>
                  <a:cxn ang="0">
                    <a:pos x="30" y="132"/>
                  </a:cxn>
                  <a:cxn ang="0">
                    <a:pos x="6" y="174"/>
                  </a:cxn>
                  <a:cxn ang="0">
                    <a:pos x="0" y="216"/>
                  </a:cxn>
                  <a:cxn ang="0">
                    <a:pos x="6" y="257"/>
                  </a:cxn>
                  <a:cxn ang="0">
                    <a:pos x="30" y="299"/>
                  </a:cxn>
                  <a:cxn ang="0">
                    <a:pos x="60" y="335"/>
                  </a:cxn>
                  <a:cxn ang="0">
                    <a:pos x="107" y="371"/>
                  </a:cxn>
                  <a:cxn ang="0">
                    <a:pos x="161" y="395"/>
                  </a:cxn>
                  <a:cxn ang="0">
                    <a:pos x="221" y="413"/>
                  </a:cxn>
                  <a:cxn ang="0">
                    <a:pos x="287" y="425"/>
                  </a:cxn>
                  <a:cxn ang="0">
                    <a:pos x="359" y="431"/>
                  </a:cxn>
                  <a:cxn ang="0">
                    <a:pos x="430" y="425"/>
                  </a:cxn>
                  <a:cxn ang="0">
                    <a:pos x="496" y="413"/>
                  </a:cxn>
                  <a:cxn ang="0">
                    <a:pos x="562" y="395"/>
                  </a:cxn>
                  <a:cxn ang="0">
                    <a:pos x="610" y="371"/>
                  </a:cxn>
                  <a:cxn ang="0">
                    <a:pos x="657" y="335"/>
                  </a:cxn>
                  <a:cxn ang="0">
                    <a:pos x="687" y="299"/>
                  </a:cxn>
                  <a:cxn ang="0">
                    <a:pos x="711" y="257"/>
                  </a:cxn>
                  <a:cxn ang="0">
                    <a:pos x="717" y="216"/>
                  </a:cxn>
                  <a:cxn ang="0">
                    <a:pos x="717" y="204"/>
                  </a:cxn>
                  <a:cxn ang="0">
                    <a:pos x="711" y="192"/>
                  </a:cxn>
                  <a:cxn ang="0">
                    <a:pos x="687" y="198"/>
                  </a:cxn>
                  <a:cxn ang="0">
                    <a:pos x="693" y="210"/>
                  </a:cxn>
                  <a:cxn ang="0">
                    <a:pos x="693" y="216"/>
                  </a:cxn>
                  <a:cxn ang="0">
                    <a:pos x="693" y="216"/>
                  </a:cxn>
                </a:cxnLst>
                <a:rect l="0" t="0" r="r" b="b"/>
                <a:pathLst>
                  <a:path w="717" h="431">
                    <a:moveTo>
                      <a:pt x="693" y="216"/>
                    </a:moveTo>
                    <a:lnTo>
                      <a:pt x="687" y="257"/>
                    </a:lnTo>
                    <a:lnTo>
                      <a:pt x="669" y="293"/>
                    </a:lnTo>
                    <a:lnTo>
                      <a:pt x="633" y="329"/>
                    </a:lnTo>
                    <a:lnTo>
                      <a:pt x="598" y="359"/>
                    </a:lnTo>
                    <a:lnTo>
                      <a:pt x="544" y="383"/>
                    </a:lnTo>
                    <a:lnTo>
                      <a:pt x="490" y="401"/>
                    </a:lnTo>
                    <a:lnTo>
                      <a:pt x="424" y="413"/>
                    </a:lnTo>
                    <a:lnTo>
                      <a:pt x="359" y="419"/>
                    </a:lnTo>
                    <a:lnTo>
                      <a:pt x="293" y="413"/>
                    </a:lnTo>
                    <a:lnTo>
                      <a:pt x="227" y="401"/>
                    </a:lnTo>
                    <a:lnTo>
                      <a:pt x="173" y="383"/>
                    </a:lnTo>
                    <a:lnTo>
                      <a:pt x="119" y="359"/>
                    </a:lnTo>
                    <a:lnTo>
                      <a:pt x="84" y="329"/>
                    </a:lnTo>
                    <a:lnTo>
                      <a:pt x="48" y="293"/>
                    </a:lnTo>
                    <a:lnTo>
                      <a:pt x="30" y="257"/>
                    </a:lnTo>
                    <a:lnTo>
                      <a:pt x="24" y="216"/>
                    </a:lnTo>
                    <a:lnTo>
                      <a:pt x="30" y="174"/>
                    </a:lnTo>
                    <a:lnTo>
                      <a:pt x="48" y="138"/>
                    </a:lnTo>
                    <a:lnTo>
                      <a:pt x="84" y="102"/>
                    </a:lnTo>
                    <a:lnTo>
                      <a:pt x="119" y="72"/>
                    </a:lnTo>
                    <a:lnTo>
                      <a:pt x="173" y="48"/>
                    </a:lnTo>
                    <a:lnTo>
                      <a:pt x="227" y="30"/>
                    </a:lnTo>
                    <a:lnTo>
                      <a:pt x="293" y="18"/>
                    </a:lnTo>
                    <a:lnTo>
                      <a:pt x="359" y="12"/>
                    </a:lnTo>
                    <a:lnTo>
                      <a:pt x="418" y="18"/>
                    </a:lnTo>
                    <a:lnTo>
                      <a:pt x="478" y="30"/>
                    </a:lnTo>
                    <a:lnTo>
                      <a:pt x="532" y="48"/>
                    </a:lnTo>
                    <a:lnTo>
                      <a:pt x="580" y="66"/>
                    </a:lnTo>
                    <a:lnTo>
                      <a:pt x="586" y="48"/>
                    </a:lnTo>
                    <a:lnTo>
                      <a:pt x="478" y="12"/>
                    </a:lnTo>
                    <a:lnTo>
                      <a:pt x="418" y="6"/>
                    </a:lnTo>
                    <a:lnTo>
                      <a:pt x="359" y="0"/>
                    </a:lnTo>
                    <a:lnTo>
                      <a:pt x="287" y="6"/>
                    </a:lnTo>
                    <a:lnTo>
                      <a:pt x="221" y="18"/>
                    </a:lnTo>
                    <a:lnTo>
                      <a:pt x="161" y="36"/>
                    </a:lnTo>
                    <a:lnTo>
                      <a:pt x="107" y="66"/>
                    </a:lnTo>
                    <a:lnTo>
                      <a:pt x="60" y="96"/>
                    </a:lnTo>
                    <a:lnTo>
                      <a:pt x="30" y="132"/>
                    </a:lnTo>
                    <a:lnTo>
                      <a:pt x="6" y="174"/>
                    </a:lnTo>
                    <a:lnTo>
                      <a:pt x="0" y="216"/>
                    </a:lnTo>
                    <a:lnTo>
                      <a:pt x="6" y="257"/>
                    </a:lnTo>
                    <a:lnTo>
                      <a:pt x="30" y="299"/>
                    </a:lnTo>
                    <a:lnTo>
                      <a:pt x="60" y="335"/>
                    </a:lnTo>
                    <a:lnTo>
                      <a:pt x="107" y="371"/>
                    </a:lnTo>
                    <a:lnTo>
                      <a:pt x="161" y="395"/>
                    </a:lnTo>
                    <a:lnTo>
                      <a:pt x="221" y="413"/>
                    </a:lnTo>
                    <a:lnTo>
                      <a:pt x="287" y="425"/>
                    </a:lnTo>
                    <a:lnTo>
                      <a:pt x="359" y="431"/>
                    </a:lnTo>
                    <a:lnTo>
                      <a:pt x="430" y="425"/>
                    </a:lnTo>
                    <a:lnTo>
                      <a:pt x="496" y="413"/>
                    </a:lnTo>
                    <a:lnTo>
                      <a:pt x="562" y="395"/>
                    </a:lnTo>
                    <a:lnTo>
                      <a:pt x="610" y="371"/>
                    </a:lnTo>
                    <a:lnTo>
                      <a:pt x="657" y="335"/>
                    </a:lnTo>
                    <a:lnTo>
                      <a:pt x="687" y="299"/>
                    </a:lnTo>
                    <a:lnTo>
                      <a:pt x="711" y="257"/>
                    </a:lnTo>
                    <a:lnTo>
                      <a:pt x="717" y="216"/>
                    </a:lnTo>
                    <a:lnTo>
                      <a:pt x="717" y="204"/>
                    </a:lnTo>
                    <a:lnTo>
                      <a:pt x="711" y="192"/>
                    </a:lnTo>
                    <a:lnTo>
                      <a:pt x="687" y="198"/>
                    </a:lnTo>
                    <a:lnTo>
                      <a:pt x="693" y="210"/>
                    </a:lnTo>
                    <a:lnTo>
                      <a:pt x="693" y="216"/>
                    </a:lnTo>
                    <a:lnTo>
                      <a:pt x="693" y="216"/>
                    </a:lnTo>
                    <a:close/>
                  </a:path>
                </a:pathLst>
              </a:custGeom>
              <a:solidFill>
                <a:schemeClr val="accent2"/>
              </a:solidFill>
              <a:ln w="9525">
                <a:noFill/>
                <a:round/>
                <a:headEnd/>
                <a:tailEnd/>
              </a:ln>
            </p:spPr>
            <p:txBody>
              <a:bodyPr/>
              <a:lstStyle/>
              <a:p>
                <a:pPr>
                  <a:defRPr/>
                </a:pPr>
                <a:endParaRPr lang="en-US" sz="1800"/>
              </a:p>
            </p:txBody>
          </p:sp>
          <p:sp>
            <p:nvSpPr>
              <p:cNvPr id="25645" name="Freeform 45"/>
              <p:cNvSpPr>
                <a:spLocks/>
              </p:cNvSpPr>
              <p:nvPr/>
            </p:nvSpPr>
            <p:spPr bwMode="hidden">
              <a:xfrm>
                <a:off x="4349" y="3510"/>
                <a:ext cx="909" cy="533"/>
              </a:xfrm>
              <a:custGeom>
                <a:avLst/>
                <a:gdLst/>
                <a:ahLst/>
                <a:cxnLst>
                  <a:cxn ang="0">
                    <a:pos x="616" y="0"/>
                  </a:cxn>
                  <a:cxn ang="0">
                    <a:pos x="616" y="18"/>
                  </a:cxn>
                  <a:cxn ang="0">
                    <a:pos x="724" y="60"/>
                  </a:cxn>
                  <a:cxn ang="0">
                    <a:pos x="765" y="84"/>
                  </a:cxn>
                  <a:cxn ang="0">
                    <a:pos x="807" y="114"/>
                  </a:cxn>
                  <a:cxn ang="0">
                    <a:pos x="837" y="144"/>
                  </a:cxn>
                  <a:cxn ang="0">
                    <a:pos x="861" y="180"/>
                  </a:cxn>
                  <a:cxn ang="0">
                    <a:pos x="873" y="216"/>
                  </a:cxn>
                  <a:cxn ang="0">
                    <a:pos x="879" y="258"/>
                  </a:cxn>
                  <a:cxn ang="0">
                    <a:pos x="873" y="311"/>
                  </a:cxn>
                  <a:cxn ang="0">
                    <a:pos x="843" y="359"/>
                  </a:cxn>
                  <a:cxn ang="0">
                    <a:pos x="807" y="401"/>
                  </a:cxn>
                  <a:cxn ang="0">
                    <a:pos x="753" y="443"/>
                  </a:cxn>
                  <a:cxn ang="0">
                    <a:pos x="694" y="473"/>
                  </a:cxn>
                  <a:cxn ang="0">
                    <a:pos x="622" y="497"/>
                  </a:cxn>
                  <a:cxn ang="0">
                    <a:pos x="538" y="509"/>
                  </a:cxn>
                  <a:cxn ang="0">
                    <a:pos x="455" y="515"/>
                  </a:cxn>
                  <a:cxn ang="0">
                    <a:pos x="371" y="509"/>
                  </a:cxn>
                  <a:cxn ang="0">
                    <a:pos x="287" y="497"/>
                  </a:cxn>
                  <a:cxn ang="0">
                    <a:pos x="215" y="473"/>
                  </a:cxn>
                  <a:cxn ang="0">
                    <a:pos x="156" y="443"/>
                  </a:cxn>
                  <a:cxn ang="0">
                    <a:pos x="102" y="401"/>
                  </a:cxn>
                  <a:cxn ang="0">
                    <a:pos x="66" y="359"/>
                  </a:cxn>
                  <a:cxn ang="0">
                    <a:pos x="36" y="311"/>
                  </a:cxn>
                  <a:cxn ang="0">
                    <a:pos x="30" y="258"/>
                  </a:cxn>
                  <a:cxn ang="0">
                    <a:pos x="36" y="222"/>
                  </a:cxn>
                  <a:cxn ang="0">
                    <a:pos x="48" y="186"/>
                  </a:cxn>
                  <a:cxn ang="0">
                    <a:pos x="66" y="156"/>
                  </a:cxn>
                  <a:cxn ang="0">
                    <a:pos x="90" y="126"/>
                  </a:cxn>
                  <a:cxn ang="0">
                    <a:pos x="66" y="114"/>
                  </a:cxn>
                  <a:cxn ang="0">
                    <a:pos x="36" y="144"/>
                  </a:cxn>
                  <a:cxn ang="0">
                    <a:pos x="18" y="180"/>
                  </a:cxn>
                  <a:cxn ang="0">
                    <a:pos x="6" y="216"/>
                  </a:cxn>
                  <a:cxn ang="0">
                    <a:pos x="0" y="258"/>
                  </a:cxn>
                  <a:cxn ang="0">
                    <a:pos x="12" y="311"/>
                  </a:cxn>
                  <a:cxn ang="0">
                    <a:pos x="36" y="365"/>
                  </a:cxn>
                  <a:cxn ang="0">
                    <a:pos x="78" y="413"/>
                  </a:cxn>
                  <a:cxn ang="0">
                    <a:pos x="132" y="449"/>
                  </a:cxn>
                  <a:cxn ang="0">
                    <a:pos x="203" y="485"/>
                  </a:cxn>
                  <a:cxn ang="0">
                    <a:pos x="275" y="509"/>
                  </a:cxn>
                  <a:cxn ang="0">
                    <a:pos x="365" y="527"/>
                  </a:cxn>
                  <a:cxn ang="0">
                    <a:pos x="455" y="533"/>
                  </a:cxn>
                  <a:cxn ang="0">
                    <a:pos x="544" y="527"/>
                  </a:cxn>
                  <a:cxn ang="0">
                    <a:pos x="634" y="509"/>
                  </a:cxn>
                  <a:cxn ang="0">
                    <a:pos x="712" y="485"/>
                  </a:cxn>
                  <a:cxn ang="0">
                    <a:pos x="777" y="449"/>
                  </a:cxn>
                  <a:cxn ang="0">
                    <a:pos x="831" y="413"/>
                  </a:cxn>
                  <a:cxn ang="0">
                    <a:pos x="873" y="365"/>
                  </a:cxn>
                  <a:cxn ang="0">
                    <a:pos x="897" y="311"/>
                  </a:cxn>
                  <a:cxn ang="0">
                    <a:pos x="909" y="258"/>
                  </a:cxn>
                  <a:cxn ang="0">
                    <a:pos x="903" y="216"/>
                  </a:cxn>
                  <a:cxn ang="0">
                    <a:pos x="885" y="174"/>
                  </a:cxn>
                  <a:cxn ang="0">
                    <a:pos x="861" y="132"/>
                  </a:cxn>
                  <a:cxn ang="0">
                    <a:pos x="825" y="102"/>
                  </a:cxn>
                  <a:cxn ang="0">
                    <a:pos x="783" y="66"/>
                  </a:cxn>
                  <a:cxn ang="0">
                    <a:pos x="735" y="42"/>
                  </a:cxn>
                  <a:cxn ang="0">
                    <a:pos x="616" y="0"/>
                  </a:cxn>
                  <a:cxn ang="0">
                    <a:pos x="616" y="0"/>
                  </a:cxn>
                </a:cxnLst>
                <a:rect l="0" t="0" r="r" b="b"/>
                <a:pathLst>
                  <a:path w="909" h="533">
                    <a:moveTo>
                      <a:pt x="616" y="0"/>
                    </a:moveTo>
                    <a:lnTo>
                      <a:pt x="616" y="18"/>
                    </a:lnTo>
                    <a:lnTo>
                      <a:pt x="724" y="60"/>
                    </a:lnTo>
                    <a:lnTo>
                      <a:pt x="765" y="84"/>
                    </a:lnTo>
                    <a:lnTo>
                      <a:pt x="807" y="114"/>
                    </a:lnTo>
                    <a:lnTo>
                      <a:pt x="837" y="144"/>
                    </a:lnTo>
                    <a:lnTo>
                      <a:pt x="861" y="180"/>
                    </a:lnTo>
                    <a:lnTo>
                      <a:pt x="873" y="216"/>
                    </a:lnTo>
                    <a:lnTo>
                      <a:pt x="879" y="258"/>
                    </a:lnTo>
                    <a:lnTo>
                      <a:pt x="873" y="311"/>
                    </a:lnTo>
                    <a:lnTo>
                      <a:pt x="843" y="359"/>
                    </a:lnTo>
                    <a:lnTo>
                      <a:pt x="807" y="401"/>
                    </a:lnTo>
                    <a:lnTo>
                      <a:pt x="753" y="443"/>
                    </a:lnTo>
                    <a:lnTo>
                      <a:pt x="694" y="473"/>
                    </a:lnTo>
                    <a:lnTo>
                      <a:pt x="622" y="497"/>
                    </a:lnTo>
                    <a:lnTo>
                      <a:pt x="538" y="509"/>
                    </a:lnTo>
                    <a:lnTo>
                      <a:pt x="455" y="515"/>
                    </a:lnTo>
                    <a:lnTo>
                      <a:pt x="371" y="509"/>
                    </a:lnTo>
                    <a:lnTo>
                      <a:pt x="287" y="497"/>
                    </a:lnTo>
                    <a:lnTo>
                      <a:pt x="215" y="473"/>
                    </a:lnTo>
                    <a:lnTo>
                      <a:pt x="156" y="443"/>
                    </a:lnTo>
                    <a:lnTo>
                      <a:pt x="102" y="401"/>
                    </a:lnTo>
                    <a:lnTo>
                      <a:pt x="66" y="359"/>
                    </a:lnTo>
                    <a:lnTo>
                      <a:pt x="36" y="311"/>
                    </a:lnTo>
                    <a:lnTo>
                      <a:pt x="30" y="258"/>
                    </a:lnTo>
                    <a:lnTo>
                      <a:pt x="36" y="222"/>
                    </a:lnTo>
                    <a:lnTo>
                      <a:pt x="48" y="186"/>
                    </a:lnTo>
                    <a:lnTo>
                      <a:pt x="66" y="156"/>
                    </a:lnTo>
                    <a:lnTo>
                      <a:pt x="90" y="126"/>
                    </a:lnTo>
                    <a:lnTo>
                      <a:pt x="66" y="114"/>
                    </a:lnTo>
                    <a:lnTo>
                      <a:pt x="36" y="144"/>
                    </a:lnTo>
                    <a:lnTo>
                      <a:pt x="18" y="180"/>
                    </a:lnTo>
                    <a:lnTo>
                      <a:pt x="6" y="216"/>
                    </a:lnTo>
                    <a:lnTo>
                      <a:pt x="0" y="258"/>
                    </a:lnTo>
                    <a:lnTo>
                      <a:pt x="12" y="311"/>
                    </a:lnTo>
                    <a:lnTo>
                      <a:pt x="36" y="365"/>
                    </a:lnTo>
                    <a:lnTo>
                      <a:pt x="78" y="413"/>
                    </a:lnTo>
                    <a:lnTo>
                      <a:pt x="132" y="449"/>
                    </a:lnTo>
                    <a:lnTo>
                      <a:pt x="203" y="485"/>
                    </a:lnTo>
                    <a:lnTo>
                      <a:pt x="275" y="509"/>
                    </a:lnTo>
                    <a:lnTo>
                      <a:pt x="365" y="527"/>
                    </a:lnTo>
                    <a:lnTo>
                      <a:pt x="455" y="533"/>
                    </a:lnTo>
                    <a:lnTo>
                      <a:pt x="544" y="527"/>
                    </a:lnTo>
                    <a:lnTo>
                      <a:pt x="634" y="509"/>
                    </a:lnTo>
                    <a:lnTo>
                      <a:pt x="712" y="485"/>
                    </a:lnTo>
                    <a:lnTo>
                      <a:pt x="777" y="449"/>
                    </a:lnTo>
                    <a:lnTo>
                      <a:pt x="831" y="413"/>
                    </a:lnTo>
                    <a:lnTo>
                      <a:pt x="873" y="365"/>
                    </a:lnTo>
                    <a:lnTo>
                      <a:pt x="897" y="311"/>
                    </a:lnTo>
                    <a:lnTo>
                      <a:pt x="909" y="258"/>
                    </a:lnTo>
                    <a:lnTo>
                      <a:pt x="903" y="216"/>
                    </a:lnTo>
                    <a:lnTo>
                      <a:pt x="885" y="174"/>
                    </a:lnTo>
                    <a:lnTo>
                      <a:pt x="861" y="132"/>
                    </a:lnTo>
                    <a:lnTo>
                      <a:pt x="825" y="102"/>
                    </a:lnTo>
                    <a:lnTo>
                      <a:pt x="783" y="66"/>
                    </a:lnTo>
                    <a:lnTo>
                      <a:pt x="735" y="42"/>
                    </a:lnTo>
                    <a:lnTo>
                      <a:pt x="616" y="0"/>
                    </a:lnTo>
                    <a:lnTo>
                      <a:pt x="616" y="0"/>
                    </a:lnTo>
                    <a:close/>
                  </a:path>
                </a:pathLst>
              </a:custGeom>
              <a:gradFill rotWithShape="0">
                <a:gsLst>
                  <a:gs pos="0">
                    <a:schemeClr val="accent2">
                      <a:gamma/>
                      <a:tint val="96863"/>
                      <a:invGamma/>
                    </a:schemeClr>
                  </a:gs>
                  <a:gs pos="100000">
                    <a:schemeClr val="accent2"/>
                  </a:gs>
                </a:gsLst>
                <a:lin ang="0" scaled="1"/>
              </a:gradFill>
              <a:ln w="9525">
                <a:noFill/>
                <a:round/>
                <a:headEnd/>
                <a:tailEnd/>
              </a:ln>
            </p:spPr>
            <p:txBody>
              <a:bodyPr/>
              <a:lstStyle/>
              <a:p>
                <a:pPr>
                  <a:defRPr/>
                </a:pPr>
                <a:endParaRPr lang="en-US" sz="1800"/>
              </a:p>
            </p:txBody>
          </p:sp>
          <p:sp>
            <p:nvSpPr>
              <p:cNvPr id="25646" name="Freeform 46"/>
              <p:cNvSpPr>
                <a:spLocks/>
              </p:cNvSpPr>
              <p:nvPr/>
            </p:nvSpPr>
            <p:spPr bwMode="hidden">
              <a:xfrm>
                <a:off x="4564" y="3492"/>
                <a:ext cx="365" cy="66"/>
              </a:xfrm>
              <a:custGeom>
                <a:avLst/>
                <a:gdLst/>
                <a:ahLst/>
                <a:cxnLst>
                  <a:cxn ang="0">
                    <a:pos x="240" y="18"/>
                  </a:cxn>
                  <a:cxn ang="0">
                    <a:pos x="299" y="24"/>
                  </a:cxn>
                  <a:cxn ang="0">
                    <a:pos x="359" y="30"/>
                  </a:cxn>
                  <a:cxn ang="0">
                    <a:pos x="365" y="12"/>
                  </a:cxn>
                  <a:cxn ang="0">
                    <a:pos x="305" y="6"/>
                  </a:cxn>
                  <a:cxn ang="0">
                    <a:pos x="240" y="0"/>
                  </a:cxn>
                  <a:cxn ang="0">
                    <a:pos x="174" y="6"/>
                  </a:cxn>
                  <a:cxn ang="0">
                    <a:pos x="114" y="12"/>
                  </a:cxn>
                  <a:cxn ang="0">
                    <a:pos x="0" y="42"/>
                  </a:cxn>
                  <a:cxn ang="0">
                    <a:pos x="0" y="66"/>
                  </a:cxn>
                  <a:cxn ang="0">
                    <a:pos x="54" y="48"/>
                  </a:cxn>
                  <a:cxn ang="0">
                    <a:pos x="114" y="30"/>
                  </a:cxn>
                  <a:cxn ang="0">
                    <a:pos x="174" y="24"/>
                  </a:cxn>
                  <a:cxn ang="0">
                    <a:pos x="240" y="18"/>
                  </a:cxn>
                  <a:cxn ang="0">
                    <a:pos x="240" y="18"/>
                  </a:cxn>
                </a:cxnLst>
                <a:rect l="0" t="0" r="r" b="b"/>
                <a:pathLst>
                  <a:path w="365" h="66">
                    <a:moveTo>
                      <a:pt x="240" y="18"/>
                    </a:moveTo>
                    <a:lnTo>
                      <a:pt x="299" y="24"/>
                    </a:lnTo>
                    <a:lnTo>
                      <a:pt x="359" y="30"/>
                    </a:lnTo>
                    <a:lnTo>
                      <a:pt x="365" y="12"/>
                    </a:lnTo>
                    <a:lnTo>
                      <a:pt x="305" y="6"/>
                    </a:lnTo>
                    <a:lnTo>
                      <a:pt x="240" y="0"/>
                    </a:lnTo>
                    <a:lnTo>
                      <a:pt x="174" y="6"/>
                    </a:lnTo>
                    <a:lnTo>
                      <a:pt x="114" y="12"/>
                    </a:lnTo>
                    <a:lnTo>
                      <a:pt x="0" y="42"/>
                    </a:lnTo>
                    <a:lnTo>
                      <a:pt x="0" y="66"/>
                    </a:lnTo>
                    <a:lnTo>
                      <a:pt x="54" y="48"/>
                    </a:lnTo>
                    <a:lnTo>
                      <a:pt x="114" y="30"/>
                    </a:lnTo>
                    <a:lnTo>
                      <a:pt x="174" y="24"/>
                    </a:lnTo>
                    <a:lnTo>
                      <a:pt x="240" y="18"/>
                    </a:lnTo>
                    <a:lnTo>
                      <a:pt x="240"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47" name="Freeform 47"/>
              <p:cNvSpPr>
                <a:spLocks/>
              </p:cNvSpPr>
              <p:nvPr/>
            </p:nvSpPr>
            <p:spPr bwMode="hidden">
              <a:xfrm>
                <a:off x="4463" y="3558"/>
                <a:ext cx="66" cy="48"/>
              </a:xfrm>
              <a:custGeom>
                <a:avLst/>
                <a:gdLst/>
                <a:ahLst/>
                <a:cxnLst>
                  <a:cxn ang="0">
                    <a:pos x="66" y="18"/>
                  </a:cxn>
                  <a:cxn ang="0">
                    <a:pos x="48" y="0"/>
                  </a:cxn>
                  <a:cxn ang="0">
                    <a:pos x="24" y="12"/>
                  </a:cxn>
                  <a:cxn ang="0">
                    <a:pos x="0" y="30"/>
                  </a:cxn>
                  <a:cxn ang="0">
                    <a:pos x="12" y="48"/>
                  </a:cxn>
                  <a:cxn ang="0">
                    <a:pos x="42" y="30"/>
                  </a:cxn>
                  <a:cxn ang="0">
                    <a:pos x="66" y="18"/>
                  </a:cxn>
                  <a:cxn ang="0">
                    <a:pos x="66" y="18"/>
                  </a:cxn>
                </a:cxnLst>
                <a:rect l="0" t="0" r="r" b="b"/>
                <a:pathLst>
                  <a:path w="66" h="48">
                    <a:moveTo>
                      <a:pt x="66" y="18"/>
                    </a:moveTo>
                    <a:lnTo>
                      <a:pt x="48" y="0"/>
                    </a:lnTo>
                    <a:lnTo>
                      <a:pt x="24" y="12"/>
                    </a:lnTo>
                    <a:lnTo>
                      <a:pt x="0" y="30"/>
                    </a:lnTo>
                    <a:lnTo>
                      <a:pt x="12" y="48"/>
                    </a:lnTo>
                    <a:lnTo>
                      <a:pt x="42" y="30"/>
                    </a:lnTo>
                    <a:lnTo>
                      <a:pt x="66" y="18"/>
                    </a:lnTo>
                    <a:lnTo>
                      <a:pt x="66"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48" name="Oval 48"/>
              <p:cNvSpPr>
                <a:spLocks noChangeArrowheads="1"/>
              </p:cNvSpPr>
              <p:nvPr/>
            </p:nvSpPr>
            <p:spPr bwMode="hidden">
              <a:xfrm>
                <a:off x="4546" y="3608"/>
                <a:ext cx="518" cy="319"/>
              </a:xfrm>
              <a:prstGeom prst="ellipse">
                <a:avLst/>
              </a:prstGeom>
              <a:gradFill rotWithShape="0">
                <a:gsLst>
                  <a:gs pos="0">
                    <a:schemeClr val="accent2">
                      <a:gamma/>
                      <a:shade val="94118"/>
                      <a:invGamma/>
                    </a:schemeClr>
                  </a:gs>
                  <a:gs pos="100000">
                    <a:schemeClr val="accent2"/>
                  </a:gs>
                </a:gsLst>
                <a:lin ang="0" scaled="1"/>
              </a:gradFill>
              <a:ln w="9525">
                <a:noFill/>
                <a:round/>
                <a:headEnd/>
                <a:tailEnd/>
              </a:ln>
              <a:effectLst/>
            </p:spPr>
            <p:txBody>
              <a:bodyPr/>
              <a:lstStyle/>
              <a:p>
                <a:pPr>
                  <a:defRPr/>
                </a:pPr>
                <a:endParaRPr lang="en-US" sz="1800"/>
              </a:p>
            </p:txBody>
          </p:sp>
          <p:sp>
            <p:nvSpPr>
              <p:cNvPr id="25649" name="Oval 49"/>
              <p:cNvSpPr>
                <a:spLocks noChangeArrowheads="1"/>
              </p:cNvSpPr>
              <p:nvPr/>
            </p:nvSpPr>
            <p:spPr bwMode="hidden">
              <a:xfrm>
                <a:off x="4578" y="3630"/>
                <a:ext cx="446" cy="271"/>
              </a:xfrm>
              <a:prstGeom prst="ellipse">
                <a:avLst/>
              </a:prstGeom>
              <a:gradFill rotWithShape="0">
                <a:gsLst>
                  <a:gs pos="0">
                    <a:schemeClr val="accent2">
                      <a:gamma/>
                      <a:tint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50" name="Oval 50"/>
              <p:cNvSpPr>
                <a:spLocks noChangeArrowheads="1"/>
              </p:cNvSpPr>
              <p:nvPr/>
            </p:nvSpPr>
            <p:spPr bwMode="hidden">
              <a:xfrm>
                <a:off x="4610" y="3650"/>
                <a:ext cx="386" cy="233"/>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51" name="Oval 51"/>
              <p:cNvSpPr>
                <a:spLocks noChangeArrowheads="1"/>
              </p:cNvSpPr>
              <p:nvPr/>
            </p:nvSpPr>
            <p:spPr bwMode="hidden">
              <a:xfrm>
                <a:off x="4654" y="3678"/>
                <a:ext cx="298" cy="177"/>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52" name="Oval 52"/>
              <p:cNvSpPr>
                <a:spLocks noChangeArrowheads="1"/>
              </p:cNvSpPr>
              <p:nvPr/>
            </p:nvSpPr>
            <p:spPr bwMode="hidden">
              <a:xfrm>
                <a:off x="4690" y="3698"/>
                <a:ext cx="222" cy="139"/>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53" name="Oval 53"/>
              <p:cNvSpPr>
                <a:spLocks noChangeArrowheads="1"/>
              </p:cNvSpPr>
              <p:nvPr/>
            </p:nvSpPr>
            <p:spPr bwMode="hidden">
              <a:xfrm>
                <a:off x="4738" y="3728"/>
                <a:ext cx="126" cy="81"/>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1037" name="Group 54"/>
            <p:cNvGrpSpPr>
              <a:grpSpLocks/>
            </p:cNvGrpSpPr>
            <p:nvPr userDrawn="1"/>
          </p:nvGrpSpPr>
          <p:grpSpPr bwMode="auto">
            <a:xfrm>
              <a:off x="5280" y="3024"/>
              <a:ext cx="425" cy="258"/>
              <a:chOff x="5280" y="3024"/>
              <a:chExt cx="425" cy="258"/>
            </a:xfrm>
          </p:grpSpPr>
          <p:sp>
            <p:nvSpPr>
              <p:cNvPr id="25655" name="Freeform 55"/>
              <p:cNvSpPr>
                <a:spLocks/>
              </p:cNvSpPr>
              <p:nvPr/>
            </p:nvSpPr>
            <p:spPr bwMode="hidden">
              <a:xfrm>
                <a:off x="5280" y="3186"/>
                <a:ext cx="383" cy="96"/>
              </a:xfrm>
              <a:custGeom>
                <a:avLst/>
                <a:gdLst/>
                <a:ahLst/>
                <a:cxnLst>
                  <a:cxn ang="0">
                    <a:pos x="209" y="96"/>
                  </a:cxn>
                  <a:cxn ang="0">
                    <a:pos x="143" y="90"/>
                  </a:cxn>
                  <a:cxn ang="0">
                    <a:pos x="83" y="66"/>
                  </a:cxn>
                  <a:cxn ang="0">
                    <a:pos x="35" y="36"/>
                  </a:cxn>
                  <a:cxn ang="0">
                    <a:pos x="6" y="0"/>
                  </a:cxn>
                  <a:cxn ang="0">
                    <a:pos x="0" y="6"/>
                  </a:cxn>
                  <a:cxn ang="0">
                    <a:pos x="29" y="42"/>
                  </a:cxn>
                  <a:cxn ang="0">
                    <a:pos x="77" y="72"/>
                  </a:cxn>
                  <a:cxn ang="0">
                    <a:pos x="137" y="90"/>
                  </a:cxn>
                  <a:cxn ang="0">
                    <a:pos x="209" y="96"/>
                  </a:cxn>
                  <a:cxn ang="0">
                    <a:pos x="263" y="90"/>
                  </a:cxn>
                  <a:cxn ang="0">
                    <a:pos x="311" y="84"/>
                  </a:cxn>
                  <a:cxn ang="0">
                    <a:pos x="352" y="66"/>
                  </a:cxn>
                  <a:cxn ang="0">
                    <a:pos x="382" y="42"/>
                  </a:cxn>
                  <a:cxn ang="0">
                    <a:pos x="376" y="42"/>
                  </a:cxn>
                  <a:cxn ang="0">
                    <a:pos x="346" y="66"/>
                  </a:cxn>
                  <a:cxn ang="0">
                    <a:pos x="305" y="78"/>
                  </a:cxn>
                  <a:cxn ang="0">
                    <a:pos x="263" y="90"/>
                  </a:cxn>
                  <a:cxn ang="0">
                    <a:pos x="209" y="96"/>
                  </a:cxn>
                  <a:cxn ang="0">
                    <a:pos x="209" y="96"/>
                  </a:cxn>
                </a:cxnLst>
                <a:rect l="0" t="0" r="r" b="b"/>
                <a:pathLst>
                  <a:path w="382" h="96">
                    <a:moveTo>
                      <a:pt x="209" y="96"/>
                    </a:moveTo>
                    <a:lnTo>
                      <a:pt x="143" y="90"/>
                    </a:lnTo>
                    <a:lnTo>
                      <a:pt x="83" y="66"/>
                    </a:lnTo>
                    <a:lnTo>
                      <a:pt x="35" y="36"/>
                    </a:lnTo>
                    <a:lnTo>
                      <a:pt x="6" y="0"/>
                    </a:lnTo>
                    <a:lnTo>
                      <a:pt x="0" y="6"/>
                    </a:lnTo>
                    <a:lnTo>
                      <a:pt x="29" y="42"/>
                    </a:lnTo>
                    <a:lnTo>
                      <a:pt x="77" y="72"/>
                    </a:lnTo>
                    <a:lnTo>
                      <a:pt x="137" y="90"/>
                    </a:lnTo>
                    <a:lnTo>
                      <a:pt x="209" y="96"/>
                    </a:lnTo>
                    <a:lnTo>
                      <a:pt x="263" y="90"/>
                    </a:lnTo>
                    <a:lnTo>
                      <a:pt x="311" y="84"/>
                    </a:lnTo>
                    <a:lnTo>
                      <a:pt x="352" y="66"/>
                    </a:lnTo>
                    <a:lnTo>
                      <a:pt x="382" y="42"/>
                    </a:lnTo>
                    <a:lnTo>
                      <a:pt x="376" y="42"/>
                    </a:lnTo>
                    <a:lnTo>
                      <a:pt x="346" y="66"/>
                    </a:lnTo>
                    <a:lnTo>
                      <a:pt x="305" y="78"/>
                    </a:lnTo>
                    <a:lnTo>
                      <a:pt x="263" y="90"/>
                    </a:lnTo>
                    <a:lnTo>
                      <a:pt x="209" y="96"/>
                    </a:lnTo>
                    <a:lnTo>
                      <a:pt x="209" y="96"/>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6" name="Freeform 56"/>
              <p:cNvSpPr>
                <a:spLocks/>
              </p:cNvSpPr>
              <p:nvPr/>
            </p:nvSpPr>
            <p:spPr bwMode="hidden">
              <a:xfrm>
                <a:off x="5315" y="3024"/>
                <a:ext cx="258" cy="54"/>
              </a:xfrm>
              <a:custGeom>
                <a:avLst/>
                <a:gdLst/>
                <a:ahLst/>
                <a:cxnLst>
                  <a:cxn ang="0">
                    <a:pos x="174" y="0"/>
                  </a:cxn>
                  <a:cxn ang="0">
                    <a:pos x="216" y="6"/>
                  </a:cxn>
                  <a:cxn ang="0">
                    <a:pos x="258" y="12"/>
                  </a:cxn>
                  <a:cxn ang="0">
                    <a:pos x="252" y="6"/>
                  </a:cxn>
                  <a:cxn ang="0">
                    <a:pos x="216" y="0"/>
                  </a:cxn>
                  <a:cxn ang="0">
                    <a:pos x="174" y="0"/>
                  </a:cxn>
                  <a:cxn ang="0">
                    <a:pos x="120" y="6"/>
                  </a:cxn>
                  <a:cxn ang="0">
                    <a:pos x="78" y="12"/>
                  </a:cxn>
                  <a:cxn ang="0">
                    <a:pos x="36" y="30"/>
                  </a:cxn>
                  <a:cxn ang="0">
                    <a:pos x="0" y="48"/>
                  </a:cxn>
                  <a:cxn ang="0">
                    <a:pos x="6" y="54"/>
                  </a:cxn>
                  <a:cxn ang="0">
                    <a:pos x="36" y="36"/>
                  </a:cxn>
                  <a:cxn ang="0">
                    <a:pos x="78" y="18"/>
                  </a:cxn>
                  <a:cxn ang="0">
                    <a:pos x="120" y="6"/>
                  </a:cxn>
                  <a:cxn ang="0">
                    <a:pos x="174" y="0"/>
                  </a:cxn>
                  <a:cxn ang="0">
                    <a:pos x="174" y="0"/>
                  </a:cxn>
                </a:cxnLst>
                <a:rect l="0" t="0" r="r" b="b"/>
                <a:pathLst>
                  <a:path w="258" h="54">
                    <a:moveTo>
                      <a:pt x="174" y="0"/>
                    </a:moveTo>
                    <a:lnTo>
                      <a:pt x="216" y="6"/>
                    </a:lnTo>
                    <a:lnTo>
                      <a:pt x="258" y="12"/>
                    </a:lnTo>
                    <a:lnTo>
                      <a:pt x="252" y="6"/>
                    </a:lnTo>
                    <a:lnTo>
                      <a:pt x="216" y="0"/>
                    </a:lnTo>
                    <a:lnTo>
                      <a:pt x="174" y="0"/>
                    </a:lnTo>
                    <a:lnTo>
                      <a:pt x="120" y="6"/>
                    </a:lnTo>
                    <a:lnTo>
                      <a:pt x="78" y="12"/>
                    </a:lnTo>
                    <a:lnTo>
                      <a:pt x="36" y="30"/>
                    </a:lnTo>
                    <a:lnTo>
                      <a:pt x="0" y="48"/>
                    </a:lnTo>
                    <a:lnTo>
                      <a:pt x="6" y="54"/>
                    </a:lnTo>
                    <a:lnTo>
                      <a:pt x="36" y="36"/>
                    </a:lnTo>
                    <a:lnTo>
                      <a:pt x="78" y="18"/>
                    </a:lnTo>
                    <a:lnTo>
                      <a:pt x="120" y="6"/>
                    </a:lnTo>
                    <a:lnTo>
                      <a:pt x="174" y="0"/>
                    </a:lnTo>
                    <a:lnTo>
                      <a:pt x="174" y="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7" name="Freeform 57"/>
              <p:cNvSpPr>
                <a:spLocks/>
              </p:cNvSpPr>
              <p:nvPr/>
            </p:nvSpPr>
            <p:spPr bwMode="hidden">
              <a:xfrm>
                <a:off x="5645" y="3066"/>
                <a:ext cx="60" cy="156"/>
              </a:xfrm>
              <a:custGeom>
                <a:avLst/>
                <a:gdLst/>
                <a:ahLst/>
                <a:cxnLst>
                  <a:cxn ang="0">
                    <a:pos x="54" y="90"/>
                  </a:cxn>
                  <a:cxn ang="0">
                    <a:pos x="48" y="126"/>
                  </a:cxn>
                  <a:cxn ang="0">
                    <a:pos x="24" y="156"/>
                  </a:cxn>
                  <a:cxn ang="0">
                    <a:pos x="30" y="156"/>
                  </a:cxn>
                  <a:cxn ang="0">
                    <a:pos x="54" y="126"/>
                  </a:cxn>
                  <a:cxn ang="0">
                    <a:pos x="60" y="90"/>
                  </a:cxn>
                  <a:cxn ang="0">
                    <a:pos x="54" y="66"/>
                  </a:cxn>
                  <a:cxn ang="0">
                    <a:pos x="48" y="42"/>
                  </a:cxn>
                  <a:cxn ang="0">
                    <a:pos x="30" y="18"/>
                  </a:cxn>
                  <a:cxn ang="0">
                    <a:pos x="6" y="0"/>
                  </a:cxn>
                  <a:cxn ang="0">
                    <a:pos x="0" y="6"/>
                  </a:cxn>
                  <a:cxn ang="0">
                    <a:pos x="24" y="24"/>
                  </a:cxn>
                  <a:cxn ang="0">
                    <a:pos x="42" y="42"/>
                  </a:cxn>
                  <a:cxn ang="0">
                    <a:pos x="48" y="66"/>
                  </a:cxn>
                  <a:cxn ang="0">
                    <a:pos x="54" y="90"/>
                  </a:cxn>
                  <a:cxn ang="0">
                    <a:pos x="54" y="90"/>
                  </a:cxn>
                </a:cxnLst>
                <a:rect l="0" t="0" r="r" b="b"/>
                <a:pathLst>
                  <a:path w="60" h="156">
                    <a:moveTo>
                      <a:pt x="54" y="90"/>
                    </a:moveTo>
                    <a:lnTo>
                      <a:pt x="48" y="126"/>
                    </a:lnTo>
                    <a:lnTo>
                      <a:pt x="24" y="156"/>
                    </a:lnTo>
                    <a:lnTo>
                      <a:pt x="30" y="156"/>
                    </a:lnTo>
                    <a:lnTo>
                      <a:pt x="54" y="126"/>
                    </a:lnTo>
                    <a:lnTo>
                      <a:pt x="60" y="90"/>
                    </a:lnTo>
                    <a:lnTo>
                      <a:pt x="54" y="66"/>
                    </a:lnTo>
                    <a:lnTo>
                      <a:pt x="48" y="42"/>
                    </a:lnTo>
                    <a:lnTo>
                      <a:pt x="30" y="18"/>
                    </a:lnTo>
                    <a:lnTo>
                      <a:pt x="6" y="0"/>
                    </a:lnTo>
                    <a:lnTo>
                      <a:pt x="0" y="6"/>
                    </a:lnTo>
                    <a:lnTo>
                      <a:pt x="24" y="24"/>
                    </a:lnTo>
                    <a:lnTo>
                      <a:pt x="42" y="42"/>
                    </a:lnTo>
                    <a:lnTo>
                      <a:pt x="48" y="66"/>
                    </a:lnTo>
                    <a:lnTo>
                      <a:pt x="54" y="90"/>
                    </a:lnTo>
                    <a:lnTo>
                      <a:pt x="54" y="9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8" name="Freeform 58"/>
              <p:cNvSpPr>
                <a:spLocks/>
              </p:cNvSpPr>
              <p:nvPr/>
            </p:nvSpPr>
            <p:spPr bwMode="hidden">
              <a:xfrm>
                <a:off x="5375" y="3246"/>
                <a:ext cx="192" cy="18"/>
              </a:xfrm>
              <a:custGeom>
                <a:avLst/>
                <a:gdLst/>
                <a:ahLst/>
                <a:cxnLst>
                  <a:cxn ang="0">
                    <a:pos x="114" y="12"/>
                  </a:cxn>
                  <a:cxn ang="0">
                    <a:pos x="72" y="6"/>
                  </a:cxn>
                  <a:cxn ang="0">
                    <a:pos x="30" y="0"/>
                  </a:cxn>
                  <a:cxn ang="0">
                    <a:pos x="0" y="0"/>
                  </a:cxn>
                  <a:cxn ang="0">
                    <a:pos x="54" y="12"/>
                  </a:cxn>
                  <a:cxn ang="0">
                    <a:pos x="114" y="18"/>
                  </a:cxn>
                  <a:cxn ang="0">
                    <a:pos x="156" y="18"/>
                  </a:cxn>
                  <a:cxn ang="0">
                    <a:pos x="192" y="12"/>
                  </a:cxn>
                  <a:cxn ang="0">
                    <a:pos x="186" y="0"/>
                  </a:cxn>
                  <a:cxn ang="0">
                    <a:pos x="150" y="6"/>
                  </a:cxn>
                  <a:cxn ang="0">
                    <a:pos x="114" y="12"/>
                  </a:cxn>
                  <a:cxn ang="0">
                    <a:pos x="114" y="12"/>
                  </a:cxn>
                </a:cxnLst>
                <a:rect l="0" t="0" r="r" b="b"/>
                <a:pathLst>
                  <a:path w="192" h="18">
                    <a:moveTo>
                      <a:pt x="114" y="12"/>
                    </a:moveTo>
                    <a:lnTo>
                      <a:pt x="72" y="6"/>
                    </a:lnTo>
                    <a:lnTo>
                      <a:pt x="30" y="0"/>
                    </a:lnTo>
                    <a:lnTo>
                      <a:pt x="0" y="0"/>
                    </a:lnTo>
                    <a:lnTo>
                      <a:pt x="54" y="12"/>
                    </a:lnTo>
                    <a:lnTo>
                      <a:pt x="114" y="18"/>
                    </a:lnTo>
                    <a:lnTo>
                      <a:pt x="156" y="18"/>
                    </a:lnTo>
                    <a:lnTo>
                      <a:pt x="192" y="12"/>
                    </a:lnTo>
                    <a:lnTo>
                      <a:pt x="186" y="0"/>
                    </a:lnTo>
                    <a:lnTo>
                      <a:pt x="150" y="6"/>
                    </a:lnTo>
                    <a:lnTo>
                      <a:pt x="114" y="12"/>
                    </a:lnTo>
                    <a:lnTo>
                      <a:pt x="114" y="12"/>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9" name="Freeform 59"/>
              <p:cNvSpPr>
                <a:spLocks/>
              </p:cNvSpPr>
              <p:nvPr/>
            </p:nvSpPr>
            <p:spPr bwMode="hidden">
              <a:xfrm>
                <a:off x="5304" y="3042"/>
                <a:ext cx="161" cy="186"/>
              </a:xfrm>
              <a:custGeom>
                <a:avLst/>
                <a:gdLst/>
                <a:ahLst/>
                <a:cxnLst>
                  <a:cxn ang="0">
                    <a:pos x="11" y="114"/>
                  </a:cxn>
                  <a:cxn ang="0">
                    <a:pos x="17" y="96"/>
                  </a:cxn>
                  <a:cxn ang="0">
                    <a:pos x="23" y="78"/>
                  </a:cxn>
                  <a:cxn ang="0">
                    <a:pos x="53" y="42"/>
                  </a:cxn>
                  <a:cxn ang="0">
                    <a:pos x="101" y="18"/>
                  </a:cxn>
                  <a:cxn ang="0">
                    <a:pos x="155" y="6"/>
                  </a:cxn>
                  <a:cxn ang="0">
                    <a:pos x="161" y="0"/>
                  </a:cxn>
                  <a:cxn ang="0">
                    <a:pos x="95" y="12"/>
                  </a:cxn>
                  <a:cxn ang="0">
                    <a:pos x="47" y="36"/>
                  </a:cxn>
                  <a:cxn ang="0">
                    <a:pos x="11" y="72"/>
                  </a:cxn>
                  <a:cxn ang="0">
                    <a:pos x="5" y="90"/>
                  </a:cxn>
                  <a:cxn ang="0">
                    <a:pos x="0" y="114"/>
                  </a:cxn>
                  <a:cxn ang="0">
                    <a:pos x="11" y="150"/>
                  </a:cxn>
                  <a:cxn ang="0">
                    <a:pos x="23" y="168"/>
                  </a:cxn>
                  <a:cxn ang="0">
                    <a:pos x="41" y="186"/>
                  </a:cxn>
                  <a:cxn ang="0">
                    <a:pos x="65" y="186"/>
                  </a:cxn>
                  <a:cxn ang="0">
                    <a:pos x="41" y="168"/>
                  </a:cxn>
                  <a:cxn ang="0">
                    <a:pos x="23" y="150"/>
                  </a:cxn>
                  <a:cxn ang="0">
                    <a:pos x="17" y="132"/>
                  </a:cxn>
                  <a:cxn ang="0">
                    <a:pos x="11" y="114"/>
                  </a:cxn>
                  <a:cxn ang="0">
                    <a:pos x="11" y="114"/>
                  </a:cxn>
                </a:cxnLst>
                <a:rect l="0" t="0" r="r" b="b"/>
                <a:pathLst>
                  <a:path w="161" h="186">
                    <a:moveTo>
                      <a:pt x="11" y="114"/>
                    </a:moveTo>
                    <a:lnTo>
                      <a:pt x="17" y="96"/>
                    </a:lnTo>
                    <a:lnTo>
                      <a:pt x="23" y="78"/>
                    </a:lnTo>
                    <a:lnTo>
                      <a:pt x="53" y="42"/>
                    </a:lnTo>
                    <a:lnTo>
                      <a:pt x="101" y="18"/>
                    </a:lnTo>
                    <a:lnTo>
                      <a:pt x="155" y="6"/>
                    </a:lnTo>
                    <a:lnTo>
                      <a:pt x="161" y="0"/>
                    </a:lnTo>
                    <a:lnTo>
                      <a:pt x="95" y="12"/>
                    </a:lnTo>
                    <a:lnTo>
                      <a:pt x="47" y="36"/>
                    </a:lnTo>
                    <a:lnTo>
                      <a:pt x="11" y="72"/>
                    </a:lnTo>
                    <a:lnTo>
                      <a:pt x="5" y="90"/>
                    </a:lnTo>
                    <a:lnTo>
                      <a:pt x="0" y="114"/>
                    </a:lnTo>
                    <a:lnTo>
                      <a:pt x="11" y="150"/>
                    </a:lnTo>
                    <a:lnTo>
                      <a:pt x="23" y="168"/>
                    </a:lnTo>
                    <a:lnTo>
                      <a:pt x="41" y="186"/>
                    </a:lnTo>
                    <a:lnTo>
                      <a:pt x="65" y="186"/>
                    </a:lnTo>
                    <a:lnTo>
                      <a:pt x="41" y="168"/>
                    </a:lnTo>
                    <a:lnTo>
                      <a:pt x="23" y="150"/>
                    </a:lnTo>
                    <a:lnTo>
                      <a:pt x="17" y="132"/>
                    </a:lnTo>
                    <a:lnTo>
                      <a:pt x="11" y="114"/>
                    </a:lnTo>
                    <a:lnTo>
                      <a:pt x="11" y="114"/>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25660" name="Freeform 60"/>
              <p:cNvSpPr>
                <a:spLocks/>
              </p:cNvSpPr>
              <p:nvPr/>
            </p:nvSpPr>
            <p:spPr bwMode="hidden">
              <a:xfrm>
                <a:off x="5489" y="3042"/>
                <a:ext cx="186" cy="210"/>
              </a:xfrm>
              <a:custGeom>
                <a:avLst/>
                <a:gdLst/>
                <a:ahLst/>
                <a:cxnLst>
                  <a:cxn ang="0">
                    <a:pos x="0" y="6"/>
                  </a:cxn>
                  <a:cxn ang="0">
                    <a:pos x="66" y="12"/>
                  </a:cxn>
                  <a:cxn ang="0">
                    <a:pos x="119" y="36"/>
                  </a:cxn>
                  <a:cxn ang="0">
                    <a:pos x="155" y="72"/>
                  </a:cxn>
                  <a:cxn ang="0">
                    <a:pos x="161" y="90"/>
                  </a:cxn>
                  <a:cxn ang="0">
                    <a:pos x="167" y="114"/>
                  </a:cxn>
                  <a:cxn ang="0">
                    <a:pos x="161" y="138"/>
                  </a:cxn>
                  <a:cxn ang="0">
                    <a:pos x="149" y="162"/>
                  </a:cxn>
                  <a:cxn ang="0">
                    <a:pos x="119" y="180"/>
                  </a:cxn>
                  <a:cxn ang="0">
                    <a:pos x="90" y="198"/>
                  </a:cxn>
                  <a:cxn ang="0">
                    <a:pos x="96" y="210"/>
                  </a:cxn>
                  <a:cxn ang="0">
                    <a:pos x="131" y="192"/>
                  </a:cxn>
                  <a:cxn ang="0">
                    <a:pos x="161" y="168"/>
                  </a:cxn>
                  <a:cxn ang="0">
                    <a:pos x="179" y="144"/>
                  </a:cxn>
                  <a:cxn ang="0">
                    <a:pos x="185" y="114"/>
                  </a:cxn>
                  <a:cxn ang="0">
                    <a:pos x="179" y="90"/>
                  </a:cxn>
                  <a:cxn ang="0">
                    <a:pos x="173" y="66"/>
                  </a:cxn>
                  <a:cxn ang="0">
                    <a:pos x="155" y="48"/>
                  </a:cxn>
                  <a:cxn ang="0">
                    <a:pos x="131" y="30"/>
                  </a:cxn>
                  <a:cxn ang="0">
                    <a:pos x="72" y="6"/>
                  </a:cxn>
                  <a:cxn ang="0">
                    <a:pos x="0" y="0"/>
                  </a:cxn>
                  <a:cxn ang="0">
                    <a:pos x="0" y="6"/>
                  </a:cxn>
                  <a:cxn ang="0">
                    <a:pos x="0" y="6"/>
                  </a:cxn>
                  <a:cxn ang="0">
                    <a:pos x="0" y="6"/>
                  </a:cxn>
                </a:cxnLst>
                <a:rect l="0" t="0" r="r" b="b"/>
                <a:pathLst>
                  <a:path w="185" h="210">
                    <a:moveTo>
                      <a:pt x="0" y="6"/>
                    </a:moveTo>
                    <a:lnTo>
                      <a:pt x="66" y="12"/>
                    </a:lnTo>
                    <a:lnTo>
                      <a:pt x="119" y="36"/>
                    </a:lnTo>
                    <a:lnTo>
                      <a:pt x="155" y="72"/>
                    </a:lnTo>
                    <a:lnTo>
                      <a:pt x="161" y="90"/>
                    </a:lnTo>
                    <a:lnTo>
                      <a:pt x="167" y="114"/>
                    </a:lnTo>
                    <a:lnTo>
                      <a:pt x="161" y="138"/>
                    </a:lnTo>
                    <a:lnTo>
                      <a:pt x="149" y="162"/>
                    </a:lnTo>
                    <a:lnTo>
                      <a:pt x="119" y="180"/>
                    </a:lnTo>
                    <a:lnTo>
                      <a:pt x="90" y="198"/>
                    </a:lnTo>
                    <a:lnTo>
                      <a:pt x="96" y="210"/>
                    </a:lnTo>
                    <a:lnTo>
                      <a:pt x="131" y="192"/>
                    </a:lnTo>
                    <a:lnTo>
                      <a:pt x="161" y="168"/>
                    </a:lnTo>
                    <a:lnTo>
                      <a:pt x="179" y="144"/>
                    </a:lnTo>
                    <a:lnTo>
                      <a:pt x="185" y="114"/>
                    </a:lnTo>
                    <a:lnTo>
                      <a:pt x="179" y="90"/>
                    </a:lnTo>
                    <a:lnTo>
                      <a:pt x="173" y="66"/>
                    </a:lnTo>
                    <a:lnTo>
                      <a:pt x="155" y="48"/>
                    </a:lnTo>
                    <a:lnTo>
                      <a:pt x="131" y="30"/>
                    </a:lnTo>
                    <a:lnTo>
                      <a:pt x="72" y="6"/>
                    </a:lnTo>
                    <a:lnTo>
                      <a:pt x="0" y="0"/>
                    </a:lnTo>
                    <a:lnTo>
                      <a:pt x="0" y="6"/>
                    </a:lnTo>
                    <a:lnTo>
                      <a:pt x="0" y="6"/>
                    </a:lnTo>
                    <a:lnTo>
                      <a:pt x="0" y="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25661" name="Freeform 61"/>
              <p:cNvSpPr>
                <a:spLocks noEditPoints="1"/>
              </p:cNvSpPr>
              <p:nvPr/>
            </p:nvSpPr>
            <p:spPr bwMode="hidden">
              <a:xfrm>
                <a:off x="5345" y="3058"/>
                <a:ext cx="299" cy="186"/>
              </a:xfrm>
              <a:custGeom>
                <a:avLst/>
                <a:gdLst/>
                <a:ahLst/>
                <a:cxnLst>
                  <a:cxn ang="0">
                    <a:pos x="150" y="0"/>
                  </a:cxn>
                  <a:cxn ang="0">
                    <a:pos x="90" y="6"/>
                  </a:cxn>
                  <a:cxn ang="0">
                    <a:pos x="42" y="30"/>
                  </a:cxn>
                  <a:cxn ang="0">
                    <a:pos x="12" y="54"/>
                  </a:cxn>
                  <a:cxn ang="0">
                    <a:pos x="6" y="72"/>
                  </a:cxn>
                  <a:cxn ang="0">
                    <a:pos x="0" y="90"/>
                  </a:cxn>
                  <a:cxn ang="0">
                    <a:pos x="6" y="108"/>
                  </a:cxn>
                  <a:cxn ang="0">
                    <a:pos x="12" y="126"/>
                  </a:cxn>
                  <a:cxn ang="0">
                    <a:pos x="42" y="156"/>
                  </a:cxn>
                  <a:cxn ang="0">
                    <a:pos x="90" y="180"/>
                  </a:cxn>
                  <a:cxn ang="0">
                    <a:pos x="150" y="186"/>
                  </a:cxn>
                  <a:cxn ang="0">
                    <a:pos x="209" y="180"/>
                  </a:cxn>
                  <a:cxn ang="0">
                    <a:pos x="257" y="156"/>
                  </a:cxn>
                  <a:cxn ang="0">
                    <a:pos x="287" y="126"/>
                  </a:cxn>
                  <a:cxn ang="0">
                    <a:pos x="299" y="108"/>
                  </a:cxn>
                  <a:cxn ang="0">
                    <a:pos x="299" y="90"/>
                  </a:cxn>
                  <a:cxn ang="0">
                    <a:pos x="299" y="72"/>
                  </a:cxn>
                  <a:cxn ang="0">
                    <a:pos x="287" y="54"/>
                  </a:cxn>
                  <a:cxn ang="0">
                    <a:pos x="257" y="30"/>
                  </a:cxn>
                  <a:cxn ang="0">
                    <a:pos x="209" y="6"/>
                  </a:cxn>
                  <a:cxn ang="0">
                    <a:pos x="150" y="0"/>
                  </a:cxn>
                  <a:cxn ang="0">
                    <a:pos x="150" y="0"/>
                  </a:cxn>
                  <a:cxn ang="0">
                    <a:pos x="150" y="180"/>
                  </a:cxn>
                  <a:cxn ang="0">
                    <a:pos x="96" y="174"/>
                  </a:cxn>
                  <a:cxn ang="0">
                    <a:pos x="48" y="156"/>
                  </a:cxn>
                  <a:cxn ang="0">
                    <a:pos x="18" y="126"/>
                  </a:cxn>
                  <a:cxn ang="0">
                    <a:pos x="12" y="108"/>
                  </a:cxn>
                  <a:cxn ang="0">
                    <a:pos x="6" y="90"/>
                  </a:cxn>
                  <a:cxn ang="0">
                    <a:pos x="12" y="72"/>
                  </a:cxn>
                  <a:cxn ang="0">
                    <a:pos x="18" y="54"/>
                  </a:cxn>
                  <a:cxn ang="0">
                    <a:pos x="48" y="30"/>
                  </a:cxn>
                  <a:cxn ang="0">
                    <a:pos x="96" y="12"/>
                  </a:cxn>
                  <a:cxn ang="0">
                    <a:pos x="150" y="6"/>
                  </a:cxn>
                  <a:cxn ang="0">
                    <a:pos x="203" y="12"/>
                  </a:cxn>
                  <a:cxn ang="0">
                    <a:pos x="251" y="30"/>
                  </a:cxn>
                  <a:cxn ang="0">
                    <a:pos x="281" y="54"/>
                  </a:cxn>
                  <a:cxn ang="0">
                    <a:pos x="293" y="72"/>
                  </a:cxn>
                  <a:cxn ang="0">
                    <a:pos x="293" y="90"/>
                  </a:cxn>
                  <a:cxn ang="0">
                    <a:pos x="293" y="108"/>
                  </a:cxn>
                  <a:cxn ang="0">
                    <a:pos x="281" y="126"/>
                  </a:cxn>
                  <a:cxn ang="0">
                    <a:pos x="251" y="156"/>
                  </a:cxn>
                  <a:cxn ang="0">
                    <a:pos x="203" y="174"/>
                  </a:cxn>
                  <a:cxn ang="0">
                    <a:pos x="150" y="180"/>
                  </a:cxn>
                  <a:cxn ang="0">
                    <a:pos x="150" y="180"/>
                  </a:cxn>
                </a:cxnLst>
                <a:rect l="0" t="0" r="r" b="b"/>
                <a:pathLst>
                  <a:path w="299" h="186">
                    <a:moveTo>
                      <a:pt x="150" y="0"/>
                    </a:moveTo>
                    <a:lnTo>
                      <a:pt x="90" y="6"/>
                    </a:lnTo>
                    <a:lnTo>
                      <a:pt x="42" y="30"/>
                    </a:lnTo>
                    <a:lnTo>
                      <a:pt x="12" y="54"/>
                    </a:lnTo>
                    <a:lnTo>
                      <a:pt x="6" y="72"/>
                    </a:lnTo>
                    <a:lnTo>
                      <a:pt x="0" y="90"/>
                    </a:lnTo>
                    <a:lnTo>
                      <a:pt x="6" y="108"/>
                    </a:lnTo>
                    <a:lnTo>
                      <a:pt x="12" y="126"/>
                    </a:lnTo>
                    <a:lnTo>
                      <a:pt x="42" y="156"/>
                    </a:lnTo>
                    <a:lnTo>
                      <a:pt x="90" y="180"/>
                    </a:lnTo>
                    <a:lnTo>
                      <a:pt x="150" y="186"/>
                    </a:lnTo>
                    <a:lnTo>
                      <a:pt x="209" y="180"/>
                    </a:lnTo>
                    <a:lnTo>
                      <a:pt x="257" y="156"/>
                    </a:lnTo>
                    <a:lnTo>
                      <a:pt x="287" y="126"/>
                    </a:lnTo>
                    <a:lnTo>
                      <a:pt x="299" y="108"/>
                    </a:lnTo>
                    <a:lnTo>
                      <a:pt x="299" y="90"/>
                    </a:lnTo>
                    <a:lnTo>
                      <a:pt x="299" y="72"/>
                    </a:lnTo>
                    <a:lnTo>
                      <a:pt x="287" y="54"/>
                    </a:lnTo>
                    <a:lnTo>
                      <a:pt x="257" y="30"/>
                    </a:lnTo>
                    <a:lnTo>
                      <a:pt x="209" y="6"/>
                    </a:lnTo>
                    <a:lnTo>
                      <a:pt x="150" y="0"/>
                    </a:lnTo>
                    <a:lnTo>
                      <a:pt x="150" y="0"/>
                    </a:lnTo>
                    <a:close/>
                    <a:moveTo>
                      <a:pt x="150" y="180"/>
                    </a:moveTo>
                    <a:lnTo>
                      <a:pt x="96" y="174"/>
                    </a:lnTo>
                    <a:lnTo>
                      <a:pt x="48" y="156"/>
                    </a:lnTo>
                    <a:lnTo>
                      <a:pt x="18" y="126"/>
                    </a:lnTo>
                    <a:lnTo>
                      <a:pt x="12" y="108"/>
                    </a:lnTo>
                    <a:lnTo>
                      <a:pt x="6" y="90"/>
                    </a:lnTo>
                    <a:lnTo>
                      <a:pt x="12" y="72"/>
                    </a:lnTo>
                    <a:lnTo>
                      <a:pt x="18" y="54"/>
                    </a:lnTo>
                    <a:lnTo>
                      <a:pt x="48" y="30"/>
                    </a:lnTo>
                    <a:lnTo>
                      <a:pt x="96" y="12"/>
                    </a:lnTo>
                    <a:lnTo>
                      <a:pt x="150" y="6"/>
                    </a:lnTo>
                    <a:lnTo>
                      <a:pt x="203" y="12"/>
                    </a:lnTo>
                    <a:lnTo>
                      <a:pt x="251" y="30"/>
                    </a:lnTo>
                    <a:lnTo>
                      <a:pt x="281" y="54"/>
                    </a:lnTo>
                    <a:lnTo>
                      <a:pt x="293" y="72"/>
                    </a:lnTo>
                    <a:lnTo>
                      <a:pt x="293" y="90"/>
                    </a:lnTo>
                    <a:lnTo>
                      <a:pt x="293" y="108"/>
                    </a:lnTo>
                    <a:lnTo>
                      <a:pt x="281" y="126"/>
                    </a:lnTo>
                    <a:lnTo>
                      <a:pt x="251" y="156"/>
                    </a:lnTo>
                    <a:lnTo>
                      <a:pt x="203" y="174"/>
                    </a:lnTo>
                    <a:lnTo>
                      <a:pt x="150" y="180"/>
                    </a:lnTo>
                    <a:lnTo>
                      <a:pt x="150" y="18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grpSp>
            <p:nvGrpSpPr>
              <p:cNvPr id="1045" name="Group 62"/>
              <p:cNvGrpSpPr>
                <a:grpSpLocks/>
              </p:cNvGrpSpPr>
              <p:nvPr/>
            </p:nvGrpSpPr>
            <p:grpSpPr bwMode="auto">
              <a:xfrm>
                <a:off x="5381" y="3085"/>
                <a:ext cx="227" cy="132"/>
                <a:chOff x="5381" y="3085"/>
                <a:chExt cx="227" cy="132"/>
              </a:xfrm>
            </p:grpSpPr>
            <p:sp>
              <p:nvSpPr>
                <p:cNvPr id="25663" name="Oval 63"/>
                <p:cNvSpPr>
                  <a:spLocks noChangeArrowheads="1"/>
                </p:cNvSpPr>
                <p:nvPr userDrawn="1"/>
              </p:nvSpPr>
              <p:spPr bwMode="hidden">
                <a:xfrm>
                  <a:off x="5381" y="3085"/>
                  <a:ext cx="227" cy="13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5664" name="Oval 64"/>
                <p:cNvSpPr>
                  <a:spLocks noChangeArrowheads="1"/>
                </p:cNvSpPr>
                <p:nvPr userDrawn="1"/>
              </p:nvSpPr>
              <p:spPr bwMode="hidden">
                <a:xfrm>
                  <a:off x="5403" y="3099"/>
                  <a:ext cx="182" cy="102"/>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sp>
              <p:nvSpPr>
                <p:cNvPr id="25665" name="Oval 65"/>
                <p:cNvSpPr>
                  <a:spLocks noChangeArrowheads="1"/>
                </p:cNvSpPr>
                <p:nvPr userDrawn="1"/>
              </p:nvSpPr>
              <p:spPr bwMode="hidden">
                <a:xfrm>
                  <a:off x="5431" y="3109"/>
                  <a:ext cx="125" cy="8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5666" name="Oval 66"/>
                <p:cNvSpPr>
                  <a:spLocks noChangeArrowheads="1"/>
                </p:cNvSpPr>
                <p:nvPr userDrawn="1"/>
              </p:nvSpPr>
              <p:spPr bwMode="hidden">
                <a:xfrm>
                  <a:off x="5458" y="3125"/>
                  <a:ext cx="73" cy="47"/>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grpSp>
        </p:grpSp>
      </p:grpSp>
      <p:sp>
        <p:nvSpPr>
          <p:cNvPr id="25667" name="Rectangle 67"/>
          <p:cNvSpPr>
            <a:spLocks noGrp="1" noChangeArrowheads="1"/>
          </p:cNvSpPr>
          <p:nvPr>
            <p:ph type="title"/>
          </p:nvPr>
        </p:nvSpPr>
        <p:spPr bwMode="auto">
          <a:xfrm>
            <a:off x="609600" y="277814"/>
            <a:ext cx="10972800" cy="1139825"/>
          </a:xfrm>
          <a:prstGeom prst="rect">
            <a:avLst/>
          </a:prstGeom>
          <a:noFill/>
          <a:ln w="9525">
            <a:noFill/>
            <a:miter lim="800000"/>
            <a:headEnd/>
            <a:tailEnd/>
          </a:ln>
          <a:effectLst/>
        </p:spPr>
        <p:txBody>
          <a:bodyPr vert="horz" wrap="square" lIns="91440" tIns="45720" rIns="91440" bIns="45720" numCol="1" anchor="ctr" anchorCtr="1" compatLnSpc="1">
            <a:prstTxWarp prst="textNoShape">
              <a:avLst/>
            </a:prstTxWarp>
          </a:bodyPr>
          <a:lstStyle/>
          <a:p>
            <a:pPr lvl="0"/>
            <a:r>
              <a:rPr lang="en-US"/>
              <a:t>Click to edit Master title style</a:t>
            </a:r>
          </a:p>
        </p:txBody>
      </p:sp>
      <p:sp>
        <p:nvSpPr>
          <p:cNvPr id="25668" name="Rectangle 68"/>
          <p:cNvSpPr>
            <a:spLocks noGrp="1" noChangeArrowheads="1"/>
          </p:cNvSpPr>
          <p:nvPr>
            <p:ph type="body" idx="1"/>
          </p:nvPr>
        </p:nvSpPr>
        <p:spPr bwMode="auto">
          <a:xfrm>
            <a:off x="609600" y="1600201"/>
            <a:ext cx="10972800" cy="45259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669" name="Rectangle 69"/>
          <p:cNvSpPr>
            <a:spLocks noGrp="1" noChangeArrowheads="1"/>
          </p:cNvSpPr>
          <p:nvPr>
            <p:ph type="dt" sz="half" idx="2"/>
          </p:nvPr>
        </p:nvSpPr>
        <p:spPr bwMode="auto">
          <a:xfrm>
            <a:off x="609600" y="6245225"/>
            <a:ext cx="28448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400">
                <a:effectLst>
                  <a:outerShdw blurRad="38100" dist="38100" dir="2700000" algn="tl">
                    <a:srgbClr val="000000"/>
                  </a:outerShdw>
                </a:effectLst>
              </a:defRPr>
            </a:lvl1pPr>
          </a:lstStyle>
          <a:p>
            <a:pPr>
              <a:defRPr/>
            </a:pPr>
            <a:endParaRPr lang="en-US"/>
          </a:p>
        </p:txBody>
      </p:sp>
      <p:sp>
        <p:nvSpPr>
          <p:cNvPr id="25670" name="Rectangle 70"/>
          <p:cNvSpPr>
            <a:spLocks noGrp="1" noChangeArrowheads="1"/>
          </p:cNvSpPr>
          <p:nvPr>
            <p:ph type="ftr" sz="quarter" idx="3"/>
          </p:nvPr>
        </p:nvSpPr>
        <p:spPr bwMode="auto">
          <a:xfrm>
            <a:off x="3860800" y="6245225"/>
            <a:ext cx="47752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1" hangingPunct="1">
              <a:defRPr sz="1400">
                <a:effectLst>
                  <a:outerShdw blurRad="38100" dist="38100" dir="2700000" algn="tl">
                    <a:srgbClr val="000000"/>
                  </a:outerShdw>
                </a:effectLst>
              </a:defRPr>
            </a:lvl1pPr>
          </a:lstStyle>
          <a:p>
            <a:pPr>
              <a:defRPr/>
            </a:pPr>
            <a:r>
              <a:rPr lang="en-US" dirty="0"/>
              <a:t>Requirements Engineering 3rd Edition, Lecture 7</a:t>
            </a:r>
          </a:p>
        </p:txBody>
      </p:sp>
      <p:sp>
        <p:nvSpPr>
          <p:cNvPr id="25671" name="Rectangle 71"/>
          <p:cNvSpPr>
            <a:spLocks noGrp="1" noChangeArrowheads="1"/>
          </p:cNvSpPr>
          <p:nvPr>
            <p:ph type="sldNum" sz="quarter" idx="4"/>
          </p:nvPr>
        </p:nvSpPr>
        <p:spPr bwMode="auto">
          <a:xfrm>
            <a:off x="8737600" y="6245225"/>
            <a:ext cx="28448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400">
                <a:effectLst>
                  <a:outerShdw blurRad="38100" dist="38100" dir="2700000" algn="tl">
                    <a:srgbClr val="000000"/>
                  </a:outerShdw>
                </a:effectLst>
              </a:defRPr>
            </a:lvl1pPr>
          </a:lstStyle>
          <a:p>
            <a:pPr>
              <a:defRPr/>
            </a:pPr>
            <a:fld id="{1A838125-9256-4997-A6CE-AE8721E6BBF7}" type="slidenum">
              <a:rPr lang="en-US"/>
              <a:pPr>
                <a:defRPr/>
              </a:pPr>
              <a:t>‹#›</a:t>
            </a:fld>
            <a:endParaRPr lang="en-US"/>
          </a:p>
        </p:txBody>
      </p:sp>
    </p:spTree>
    <p:extLst>
      <p:ext uri="{BB962C8B-B14F-4D97-AF65-F5344CB8AC3E}">
        <p14:creationId xmlns:p14="http://schemas.microsoft.com/office/powerpoint/2010/main" val="2046787085"/>
      </p:ext>
    </p:extLst>
  </p:cSld>
  <p:clrMap bg1="dk2" tx1="lt1" bg2="dk1"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Lst>
  <p:hf hdr="0" dt="0"/>
  <p:txStyles>
    <p:title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eaLnBrk="0" fontAlgn="base" hangingPunct="0">
        <a:spcBef>
          <a:spcPct val="20000"/>
        </a:spcBef>
        <a:spcAft>
          <a:spcPct val="0"/>
        </a:spcAft>
        <a:buClr>
          <a:schemeClr val="hlink"/>
        </a:buClr>
        <a:buSzPct val="80000"/>
        <a:buFont typeface="Wingdings" pitchFamily="2" charset="2"/>
        <a:buChar char="Ø"/>
        <a:defRPr sz="3200">
          <a:solidFill>
            <a:schemeClr val="tx1"/>
          </a:solidFill>
          <a:effectLst>
            <a:outerShdw blurRad="38100" dist="38100" dir="2700000" algn="tl">
              <a:srgbClr val="000000"/>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50000"/>
        <a:buFont typeface="Wingdings" pitchFamily="2" charset="2"/>
        <a:buChar char="l"/>
        <a:defRPr sz="2800">
          <a:solidFill>
            <a:schemeClr val="tx1"/>
          </a:solidFill>
          <a:effectLst>
            <a:outerShdw blurRad="38100" dist="38100" dir="2700000" algn="tl">
              <a:srgbClr val="000000"/>
            </a:outerShdw>
          </a:effectLst>
          <a:latin typeface="+mn-lt"/>
        </a:defRPr>
      </a:lvl2pPr>
      <a:lvl3pPr marL="1143000" indent="-228600" algn="l" rtl="0" eaLnBrk="0" fontAlgn="base" hangingPunct="0">
        <a:spcBef>
          <a:spcPct val="20000"/>
        </a:spcBef>
        <a:spcAft>
          <a:spcPct val="0"/>
        </a:spcAft>
        <a:buClr>
          <a:schemeClr val="accent2"/>
        </a:buClr>
        <a:buChar char="•"/>
        <a:defRPr sz="2400">
          <a:solidFill>
            <a:schemeClr val="tx1"/>
          </a:solidFill>
          <a:effectLst>
            <a:outerShdw blurRad="38100" dist="38100" dir="2700000" algn="tl">
              <a:srgbClr val="000000"/>
            </a:outerShdw>
          </a:effectLst>
          <a:latin typeface="+mn-lt"/>
        </a:defRPr>
      </a:lvl3pPr>
      <a:lvl4pPr marL="1600200" indent="-228600" algn="l" rtl="0" eaLnBrk="0" fontAlgn="base" hangingPunct="0">
        <a:spcBef>
          <a:spcPct val="20000"/>
        </a:spcBef>
        <a:spcAft>
          <a:spcPct val="0"/>
        </a:spcAft>
        <a:buClr>
          <a:schemeClr val="folHlink"/>
        </a:buClr>
        <a:buSzPct val="50000"/>
        <a:buFont typeface="Wingdings" pitchFamily="2" charset="2"/>
        <a:buChar char="l"/>
        <a:defRPr sz="2000">
          <a:solidFill>
            <a:schemeClr val="tx1"/>
          </a:solidFill>
          <a:effectLst>
            <a:outerShdw blurRad="38100" dist="38100" dir="2700000" algn="tl">
              <a:srgbClr val="000000"/>
            </a:outerShdw>
          </a:effectLst>
          <a:latin typeface="+mn-lt"/>
        </a:defRPr>
      </a:lvl4pPr>
      <a:lvl5pPr marL="2057400" indent="-228600" algn="l" rtl="0" eaLnBrk="0" fontAlgn="base" hangingPunct="0">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5137CEF7-F4FD-4230-8BFC-D4C27453583B}" type="datetime1">
              <a:rPr lang="en-US" smtClean="0"/>
              <a:t>11/3/25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126747577"/>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761" r:id="rId12"/>
    <p:sldLayoutId id="2147483762" r:id="rId13"/>
    <p:sldLayoutId id="2147483763" r:id="rId14"/>
    <p:sldLayoutId id="2147483764" r:id="rId15"/>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48.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8.wm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5.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4.xml"/><Relationship Id="rId4" Type="http://schemas.microsoft.com/office/2007/relationships/hdphoto" Target="../media/hdphoto3.wdp"/></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4.xml"/><Relationship Id="rId4" Type="http://schemas.microsoft.com/office/2007/relationships/hdphoto" Target="../media/hdphoto4.wdp"/></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7.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3" Type="http://schemas.microsoft.com/office/2007/relationships/hdphoto" Target="../media/hdphoto2.wdp"/><Relationship Id="rId7" Type="http://schemas.openxmlformats.org/officeDocument/2006/relationships/image" Target="../media/image21.svg"/><Relationship Id="rId2" Type="http://schemas.openxmlformats.org/officeDocument/2006/relationships/image" Target="../media/image4.png"/><Relationship Id="rId1" Type="http://schemas.openxmlformats.org/officeDocument/2006/relationships/slideLayout" Target="../slideLayouts/slideLayout24.xml"/><Relationship Id="rId6" Type="http://schemas.openxmlformats.org/officeDocument/2006/relationships/image" Target="../media/image20.png"/><Relationship Id="rId5" Type="http://schemas.microsoft.com/office/2007/relationships/hdphoto" Target="../media/hdphoto1.wdp"/><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1.xml"/></Relationships>
</file>

<file path=ppt/slides/_rels/slide29.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png"/><Relationship Id="rId1" Type="http://schemas.openxmlformats.org/officeDocument/2006/relationships/slideLayout" Target="../slideLayouts/slideLayout6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6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35.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6.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oleObject" Target="../embeddings/oleObject2.bin"/><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oleObject" Target="../embeddings/oleObject3.bin"/><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3.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oleObject" Target="../embeddings/oleObject4.bin"/><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Layout" Target="../slideLayouts/slideLayout72.xml"/><Relationship Id="rId5" Type="http://schemas.openxmlformats.org/officeDocument/2006/relationships/image" Target="../media/image39.svg"/><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 name="Rectangle 68">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Rectangle 70">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3" name="Group 7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74" name="Oval 7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75" name="Oval 74">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Beta Testing and System Delivery. Risk Management by Prof</a:t>
            </a:r>
            <a:r>
              <a:rPr lang="en-US" dirty="0">
                <a:solidFill>
                  <a:srgbClr val="000000"/>
                </a:solidFill>
              </a:rPr>
              <a:t>. Mohamad Kassab, </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7B5E5309-023D-E436-FD8C-0FDBCFE7EE5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1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1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E6AC5-537E-D39E-9CE1-A39994979EC8}"/>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6E6A2FA0-4FE0-2E05-0A06-FA08D6855A8A}"/>
              </a:ext>
            </a:extLst>
          </p:cNvPr>
          <p:cNvSpPr>
            <a:spLocks noGrp="1"/>
          </p:cNvSpPr>
          <p:nvPr>
            <p:ph idx="1"/>
          </p:nvPr>
        </p:nvSpPr>
        <p:spPr/>
        <p:txBody>
          <a:bodyPr/>
          <a:lstStyle/>
          <a:p>
            <a:r>
              <a:rPr lang="en-US" dirty="0"/>
              <a:t>Beta Testing</a:t>
            </a:r>
          </a:p>
          <a:p>
            <a:r>
              <a:rPr lang="en-US" dirty="0"/>
              <a:t>DRE METRIC</a:t>
            </a:r>
          </a:p>
          <a:p>
            <a:r>
              <a:rPr lang="en-US" dirty="0"/>
              <a:t>SPOILAGE METRIC</a:t>
            </a:r>
          </a:p>
          <a:p>
            <a:r>
              <a:rPr lang="en-US" dirty="0"/>
              <a:t>RISK MANAGEMENT</a:t>
            </a:r>
          </a:p>
          <a:p>
            <a:r>
              <a:rPr lang="en-US" dirty="0"/>
              <a:t>WIN-WIN ANALYSIS</a:t>
            </a:r>
          </a:p>
          <a:p>
            <a:r>
              <a:rPr lang="en-US" dirty="0"/>
              <a:t>TRACEABILITY TO MITIGATE RISKS</a:t>
            </a:r>
          </a:p>
          <a:p>
            <a:endParaRPr lang="en-US" dirty="0"/>
          </a:p>
        </p:txBody>
      </p:sp>
      <p:sp>
        <p:nvSpPr>
          <p:cNvPr id="4" name="Slide Number Placeholder 3">
            <a:extLst>
              <a:ext uri="{FF2B5EF4-FFF2-40B4-BE49-F238E27FC236}">
                <a16:creationId xmlns:a16="http://schemas.microsoft.com/office/drawing/2014/main" id="{9CC6B83D-4268-3884-94B2-A72F188AA816}"/>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25208905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0EFBC3B6-BD59-B997-5E31-6B034552A62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1625" r="21697" b="-2"/>
          <a:stretch/>
        </p:blipFill>
        <p:spPr bwMode="auto">
          <a:xfrm>
            <a:off x="2" y="1587"/>
            <a:ext cx="6095999" cy="6856413"/>
          </a:xfrm>
          <a:custGeom>
            <a:avLst/>
            <a:gdLst/>
            <a:ahLst/>
            <a:cxnLst/>
            <a:rect l="l" t="t" r="r" b="b"/>
            <a:pathLst>
              <a:path w="6649908" h="6856413">
                <a:moveTo>
                  <a:pt x="0" y="0"/>
                </a:moveTo>
                <a:lnTo>
                  <a:pt x="6559859" y="0"/>
                </a:lnTo>
                <a:lnTo>
                  <a:pt x="6572145" y="79394"/>
                </a:lnTo>
                <a:cubicBezTo>
                  <a:pt x="6857782" y="2230562"/>
                  <a:pt x="6243159" y="4473353"/>
                  <a:pt x="6528796" y="6624522"/>
                </a:cubicBezTo>
                <a:lnTo>
                  <a:pt x="6564680" y="6856413"/>
                </a:lnTo>
                <a:lnTo>
                  <a:pt x="0" y="6856413"/>
                </a:lnTo>
                <a:close/>
              </a:path>
            </a:pathLst>
          </a:cu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7FC9CD70-0199-F5D4-8478-51784F155C10}"/>
              </a:ext>
            </a:extLst>
          </p:cNvPr>
          <p:cNvSpPr>
            <a:spLocks noGrp="1"/>
          </p:cNvSpPr>
          <p:nvPr>
            <p:ph idx="1"/>
          </p:nvPr>
        </p:nvSpPr>
        <p:spPr>
          <a:xfrm>
            <a:off x="6417734" y="2614612"/>
            <a:ext cx="5291663" cy="3752849"/>
          </a:xfrm>
        </p:spPr>
        <p:txBody>
          <a:bodyPr>
            <a:noAutofit/>
          </a:bodyPr>
          <a:lstStyle/>
          <a:p>
            <a:pPr marL="0" indent="0" algn="just">
              <a:buNone/>
            </a:pPr>
            <a:r>
              <a:rPr lang="en-US" sz="2400" dirty="0"/>
              <a:t>Beta testing is a type of software testing where a pre-release version of a product, like software or an application, is released to a select group of external users to gather feedback and identify potential issues or bugs before the final version is released to the general public. These external users, often referred to as beta testers or beta users, use the product in real-world conditions and environments.</a:t>
            </a:r>
          </a:p>
        </p:txBody>
      </p:sp>
    </p:spTree>
    <p:extLst>
      <p:ext uri="{BB962C8B-B14F-4D97-AF65-F5344CB8AC3E}">
        <p14:creationId xmlns:p14="http://schemas.microsoft.com/office/powerpoint/2010/main" val="9342735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1" name="Freeform: Shape 8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3426" name="Rectangle 2">
            <a:extLst>
              <a:ext uri="{FF2B5EF4-FFF2-40B4-BE49-F238E27FC236}">
                <a16:creationId xmlns:a16="http://schemas.microsoft.com/office/drawing/2014/main" id="{C3A8DF5C-A210-4688-B21B-D148782BA197}"/>
              </a:ext>
            </a:extLst>
          </p:cNvPr>
          <p:cNvSpPr>
            <a:spLocks noGrp="1" noChangeArrowheads="1"/>
          </p:cNvSpPr>
          <p:nvPr>
            <p:ph type="title"/>
          </p:nvPr>
        </p:nvSpPr>
        <p:spPr>
          <a:xfrm>
            <a:off x="660041" y="2767106"/>
            <a:ext cx="2880828" cy="3071906"/>
          </a:xfrm>
        </p:spPr>
        <p:txBody>
          <a:bodyPr vert="horz" lIns="91440" tIns="45720" rIns="91440" bIns="45720" rtlCol="0" anchor="t">
            <a:normAutofit/>
          </a:bodyPr>
          <a:lstStyle/>
          <a:p>
            <a:r>
              <a:rPr lang="en-US" altLang="en-US" sz="4000" kern="1200">
                <a:solidFill>
                  <a:srgbClr val="FFFFFF"/>
                </a:solidFill>
                <a:latin typeface="+mj-lt"/>
                <a:ea typeface="+mj-ea"/>
                <a:cs typeface="+mj-cs"/>
              </a:rPr>
              <a:t>Beta Testing</a:t>
            </a:r>
          </a:p>
        </p:txBody>
      </p:sp>
      <p:pic>
        <p:nvPicPr>
          <p:cNvPr id="103427" name="Picture 5" descr="betareleasecriteria">
            <a:extLst>
              <a:ext uri="{FF2B5EF4-FFF2-40B4-BE49-F238E27FC236}">
                <a16:creationId xmlns:a16="http://schemas.microsoft.com/office/drawing/2014/main" id="{E1BA6BF8-F8F1-4128-BBDB-8A38DD7117E7}"/>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4502428" y="831314"/>
            <a:ext cx="7225748" cy="5195372"/>
          </a:xfrm>
          <a:prstGeom prst="rect">
            <a:avLst/>
          </a:prstGeom>
        </p:spPr>
      </p:pic>
      <p:sp>
        <p:nvSpPr>
          <p:cNvPr id="103428" name="Rectangle 19">
            <a:extLst>
              <a:ext uri="{FF2B5EF4-FFF2-40B4-BE49-F238E27FC236}">
                <a16:creationId xmlns:a16="http://schemas.microsoft.com/office/drawing/2014/main" id="{2BAEA50C-FC84-4954-B4C5-01A095C14222}"/>
              </a:ext>
            </a:extLst>
          </p:cNvPr>
          <p:cNvSpPr>
            <a:spLocks noGrp="1" noChangeArrowheads="1"/>
          </p:cNvSpPr>
          <p:nvPr>
            <p:ph type="sldNum" sz="quarter" idx="12"/>
          </p:nvPr>
        </p:nvSpPr>
        <p:spPr bwMode="auto">
          <a:xfrm>
            <a:off x="11704319"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numCol="1" rtlCol="0" anchor="ctr"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7D558823-4FDC-4186-A4C7-06D37951B3CC}" type="slidenum">
              <a:rPr kumimoji="0" lang="en-US" alt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a:t>
            </a:fld>
            <a:endParaRPr kumimoji="0" lang="en-US" alt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 name="Rectangle 137">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Freeform: Shape 139">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522" name="Rectangle 2">
            <a:extLst>
              <a:ext uri="{FF2B5EF4-FFF2-40B4-BE49-F238E27FC236}">
                <a16:creationId xmlns:a16="http://schemas.microsoft.com/office/drawing/2014/main" id="{8B5CC940-198E-4A9F-A437-43021A0B26CA}"/>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Product Sustaining</a:t>
            </a:r>
          </a:p>
        </p:txBody>
      </p:sp>
      <p:sp>
        <p:nvSpPr>
          <p:cNvPr id="386051" name="Rectangle 3">
            <a:extLst>
              <a:ext uri="{FF2B5EF4-FFF2-40B4-BE49-F238E27FC236}">
                <a16:creationId xmlns:a16="http://schemas.microsoft.com/office/drawing/2014/main" id="{135295D1-A635-4037-8319-4863CEA64007}"/>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Font typeface="Wingdings 2"/>
              <a:buChar char=""/>
              <a:defRPr/>
            </a:pPr>
            <a:r>
              <a:rPr lang="en-US" sz="1700">
                <a:latin typeface="Times New Roman" pitchFamily="18" charset="0"/>
              </a:rPr>
              <a:t>Once the product is shipped to one of the paying customer the software project is moved to sustaining phase</a:t>
            </a:r>
          </a:p>
          <a:p>
            <a:pPr marL="274320" indent="-274320">
              <a:buClr>
                <a:schemeClr val="accent3"/>
              </a:buClr>
              <a:buFont typeface="Wingdings 2"/>
              <a:buChar char=""/>
              <a:defRPr/>
            </a:pPr>
            <a:r>
              <a:rPr lang="en-US" sz="1700">
                <a:latin typeface="Times New Roman" pitchFamily="18" charset="0"/>
              </a:rPr>
              <a:t>The goal of this phase is to maintain the software quality throughout the product’s market life</a:t>
            </a:r>
          </a:p>
          <a:p>
            <a:pPr marL="274320" indent="-274320">
              <a:buClr>
                <a:schemeClr val="accent3"/>
              </a:buClr>
              <a:buFont typeface="Wingdings 2"/>
              <a:buChar char=""/>
              <a:defRPr/>
            </a:pPr>
            <a:r>
              <a:rPr lang="en-US" sz="1700">
                <a:latin typeface="Times New Roman" pitchFamily="18" charset="0"/>
              </a:rPr>
              <a:t>Software maintenance activities occur because software testing cannot uncover all the defects in a large software system</a:t>
            </a:r>
          </a:p>
          <a:p>
            <a:pPr marL="274320" indent="-274320">
              <a:buClr>
                <a:schemeClr val="accent3"/>
              </a:buClr>
              <a:buFont typeface="Wingdings 2"/>
              <a:buChar char=""/>
              <a:defRPr/>
            </a:pPr>
            <a:r>
              <a:rPr lang="en-US" sz="1700">
                <a:latin typeface="Times New Roman" pitchFamily="18" charset="0"/>
              </a:rPr>
              <a:t>The following three software maintenance activities were coined by Swanson:</a:t>
            </a:r>
          </a:p>
          <a:p>
            <a:pPr marL="640080" lvl="1" indent="-246888">
              <a:buFont typeface="Wingdings 2"/>
              <a:buChar char=""/>
              <a:defRPr/>
            </a:pPr>
            <a:r>
              <a:rPr lang="en-US" sz="1700" i="1">
                <a:latin typeface="Times New Roman" pitchFamily="18" charset="0"/>
              </a:rPr>
              <a:t>Corrective:</a:t>
            </a:r>
            <a:r>
              <a:rPr lang="en-US" sz="1700">
                <a:latin typeface="Times New Roman" pitchFamily="18" charset="0"/>
              </a:rPr>
              <a:t> The process that includes isolation and correction of one or more defects in the software</a:t>
            </a:r>
          </a:p>
          <a:p>
            <a:pPr marL="640080" lvl="1" indent="-246888">
              <a:buFont typeface="Wingdings 2"/>
              <a:buChar char=""/>
              <a:defRPr/>
            </a:pPr>
            <a:r>
              <a:rPr lang="en-US" sz="1700" i="1">
                <a:latin typeface="Times New Roman" pitchFamily="18" charset="0"/>
              </a:rPr>
              <a:t>Adaptive:</a:t>
            </a:r>
            <a:r>
              <a:rPr lang="en-US" sz="1700">
                <a:latin typeface="Times New Roman" pitchFamily="18" charset="0"/>
              </a:rPr>
              <a:t> The process that modifies the software to properly interface with a changing environment such as new version of hardware or third party software</a:t>
            </a:r>
          </a:p>
          <a:p>
            <a:pPr marL="640080" lvl="1" indent="-246888">
              <a:buFont typeface="Wingdings 2"/>
              <a:buChar char=""/>
              <a:defRPr/>
            </a:pPr>
            <a:r>
              <a:rPr lang="en-US" sz="1700" i="1">
                <a:latin typeface="Times New Roman" pitchFamily="18" charset="0"/>
              </a:rPr>
              <a:t>Perfective:</a:t>
            </a:r>
            <a:r>
              <a:rPr lang="en-US" sz="1700">
                <a:latin typeface="Times New Roman" pitchFamily="18" charset="0"/>
              </a:rPr>
              <a:t> The process that improves the software by the addition of new functionalities, enhancements, and/or modifications to the existing functions</a:t>
            </a:r>
          </a:p>
          <a:p>
            <a:pPr marL="274320" indent="-274320">
              <a:buClr>
                <a:schemeClr val="accent3"/>
              </a:buClr>
              <a:buFont typeface="Wingdings 2"/>
              <a:buChar char=""/>
              <a:defRPr/>
            </a:pPr>
            <a:endParaRPr lang="en-US" sz="1700">
              <a:latin typeface="Times New Roman" pitchFamily="18" charset="0"/>
            </a:endParaRPr>
          </a:p>
        </p:txBody>
      </p:sp>
      <p:sp>
        <p:nvSpPr>
          <p:cNvPr id="107524" name="Rectangle 19">
            <a:extLst>
              <a:ext uri="{FF2B5EF4-FFF2-40B4-BE49-F238E27FC236}">
                <a16:creationId xmlns:a16="http://schemas.microsoft.com/office/drawing/2014/main" id="{D16AD655-39C2-4E42-B852-7D0D08E2AF44}"/>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735D0588-AE13-41D7-8BBE-FA7EDA420CFC}" type="slidenum">
              <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5</a:t>
            </a:fld>
            <a:endPar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endParaRP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Freeform: Shape 77">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570" name="Rectangle 2">
            <a:extLst>
              <a:ext uri="{FF2B5EF4-FFF2-40B4-BE49-F238E27FC236}">
                <a16:creationId xmlns:a16="http://schemas.microsoft.com/office/drawing/2014/main" id="{0B396A34-568A-4238-A8F6-AA0941B1E33C}"/>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Product Sustaining</a:t>
            </a:r>
          </a:p>
        </p:txBody>
      </p:sp>
      <p:sp>
        <p:nvSpPr>
          <p:cNvPr id="388099" name="Rectangle 3">
            <a:extLst>
              <a:ext uri="{FF2B5EF4-FFF2-40B4-BE49-F238E27FC236}">
                <a16:creationId xmlns:a16="http://schemas.microsoft.com/office/drawing/2014/main" id="{6BAB7FCD-8D1B-4336-93FE-F4887A8E441C}"/>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Font typeface="Wingdings 2"/>
              <a:buChar char=""/>
              <a:defRPr/>
            </a:pPr>
            <a:r>
              <a:rPr lang="en-US" sz="2000">
                <a:latin typeface="Times New Roman" pitchFamily="18" charset="0"/>
              </a:rPr>
              <a:t>The first major task is to determine the type of maintenance task to be conducted when a defect report comes in from a customer</a:t>
            </a:r>
          </a:p>
          <a:p>
            <a:pPr marL="274320" indent="-274320">
              <a:buClr>
                <a:schemeClr val="accent3"/>
              </a:buClr>
              <a:buFont typeface="Wingdings 2"/>
              <a:buChar char=""/>
              <a:defRPr/>
            </a:pPr>
            <a:r>
              <a:rPr lang="en-US" sz="2000">
                <a:latin typeface="Times New Roman" pitchFamily="18" charset="0"/>
              </a:rPr>
              <a:t>The </a:t>
            </a:r>
            <a:r>
              <a:rPr lang="en-US" sz="2000" b="1">
                <a:latin typeface="Times New Roman" pitchFamily="18" charset="0"/>
              </a:rPr>
              <a:t>sustaining</a:t>
            </a:r>
            <a:r>
              <a:rPr lang="en-US" sz="2000">
                <a:latin typeface="Times New Roman" pitchFamily="18" charset="0"/>
              </a:rPr>
              <a:t> team, which include developers and testers are assigned immediately to work on the defect</a:t>
            </a:r>
          </a:p>
          <a:p>
            <a:pPr marL="274320" indent="-274320">
              <a:buClr>
                <a:schemeClr val="accent3"/>
              </a:buClr>
              <a:buFont typeface="Wingdings 2"/>
              <a:buChar char=""/>
              <a:defRPr/>
            </a:pPr>
            <a:r>
              <a:rPr lang="en-US" sz="2000">
                <a:latin typeface="Times New Roman" pitchFamily="18" charset="0"/>
              </a:rPr>
              <a:t>If the defect reported by the customer is considered as </a:t>
            </a:r>
            <a:r>
              <a:rPr lang="en-US" sz="2000" i="1">
                <a:latin typeface="Times New Roman" pitchFamily="18" charset="0"/>
              </a:rPr>
              <a:t>corrective</a:t>
            </a:r>
            <a:r>
              <a:rPr lang="en-US" sz="2000">
                <a:latin typeface="Times New Roman" pitchFamily="18" charset="0"/>
              </a:rPr>
              <a:t> in nature</a:t>
            </a:r>
          </a:p>
          <a:p>
            <a:pPr marL="640080" lvl="1" indent="-246888">
              <a:buFont typeface="Wingdings 2"/>
              <a:buChar char=""/>
              <a:defRPr/>
            </a:pPr>
            <a:r>
              <a:rPr lang="en-US" sz="2000">
                <a:latin typeface="Times New Roman" pitchFamily="18" charset="0"/>
              </a:rPr>
              <a:t>The status of the progress is updated to the customer within 24 hours</a:t>
            </a:r>
          </a:p>
          <a:p>
            <a:pPr marL="640080" lvl="1" indent="-246888">
              <a:buFont typeface="Wingdings 2"/>
              <a:buChar char=""/>
              <a:defRPr/>
            </a:pPr>
            <a:r>
              <a:rPr lang="en-US" sz="2000">
                <a:latin typeface="Times New Roman" pitchFamily="18" charset="0"/>
              </a:rPr>
              <a:t>The group continues to work until a patch with the fix is released to the customer</a:t>
            </a:r>
          </a:p>
          <a:p>
            <a:pPr marL="274320" indent="-274320">
              <a:buClr>
                <a:schemeClr val="accent3"/>
              </a:buClr>
              <a:buFont typeface="Wingdings 2"/>
              <a:buChar char=""/>
              <a:defRPr/>
            </a:pPr>
            <a:r>
              <a:rPr lang="en-US" sz="2000">
                <a:latin typeface="Times New Roman" pitchFamily="18" charset="0"/>
              </a:rPr>
              <a:t>If the defect reported is considered as either </a:t>
            </a:r>
            <a:r>
              <a:rPr lang="en-US" sz="2000" i="1">
                <a:latin typeface="Times New Roman" pitchFamily="18" charset="0"/>
              </a:rPr>
              <a:t>adaptive</a:t>
            </a:r>
            <a:r>
              <a:rPr lang="en-US" sz="2000">
                <a:latin typeface="Times New Roman" pitchFamily="18" charset="0"/>
              </a:rPr>
              <a:t> or </a:t>
            </a:r>
            <a:r>
              <a:rPr lang="en-US" sz="2000" i="1">
                <a:latin typeface="Times New Roman" pitchFamily="18" charset="0"/>
              </a:rPr>
              <a:t>perfective</a:t>
            </a:r>
            <a:r>
              <a:rPr lang="en-US" sz="2000">
                <a:latin typeface="Times New Roman" pitchFamily="18" charset="0"/>
              </a:rPr>
              <a:t> in nature</a:t>
            </a:r>
          </a:p>
          <a:p>
            <a:pPr marL="640080" lvl="1" indent="-246888">
              <a:buFont typeface="Wingdings 2"/>
              <a:buChar char=""/>
              <a:defRPr/>
            </a:pPr>
            <a:r>
              <a:rPr lang="en-US" sz="2000">
                <a:latin typeface="Times New Roman" pitchFamily="18" charset="0"/>
              </a:rPr>
              <a:t>it is entered in the requirement database, and it goes though the usual software development phases</a:t>
            </a:r>
          </a:p>
          <a:p>
            <a:pPr marL="274320" indent="-274320">
              <a:buClr>
                <a:schemeClr val="accent3"/>
              </a:buClr>
              <a:buFont typeface="Wingdings 2"/>
              <a:buChar char=""/>
              <a:defRPr/>
            </a:pPr>
            <a:endParaRPr lang="en-US" sz="2000">
              <a:latin typeface="Times New Roman" pitchFamily="18" charset="0"/>
            </a:endParaRPr>
          </a:p>
        </p:txBody>
      </p:sp>
      <p:sp>
        <p:nvSpPr>
          <p:cNvPr id="109572" name="Rectangle 19">
            <a:extLst>
              <a:ext uri="{FF2B5EF4-FFF2-40B4-BE49-F238E27FC236}">
                <a16:creationId xmlns:a16="http://schemas.microsoft.com/office/drawing/2014/main" id="{03A2D3C8-8DE0-4F07-8BB8-AA9357691D82}"/>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BC8FDF4B-C402-4F7C-9445-806996B3A214}" type="slidenum">
              <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6</a:t>
            </a:fld>
            <a:endPar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 name="Rectangle 137">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Freeform: Shape 139">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1618" name="Rectangle 2">
            <a:extLst>
              <a:ext uri="{FF2B5EF4-FFF2-40B4-BE49-F238E27FC236}">
                <a16:creationId xmlns:a16="http://schemas.microsoft.com/office/drawing/2014/main" id="{06415F90-5BEC-4461-9AF8-05693C14C845}"/>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Product Sustaining</a:t>
            </a:r>
          </a:p>
        </p:txBody>
      </p:sp>
      <p:sp>
        <p:nvSpPr>
          <p:cNvPr id="390147" name="Rectangle 3">
            <a:extLst>
              <a:ext uri="{FF2B5EF4-FFF2-40B4-BE49-F238E27FC236}">
                <a16:creationId xmlns:a16="http://schemas.microsoft.com/office/drawing/2014/main" id="{17DAEE83-3B67-4EBD-8F15-5A4B71A627E0}"/>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None/>
              <a:defRPr/>
            </a:pPr>
            <a:r>
              <a:rPr lang="en-US" sz="1700" b="1">
                <a:latin typeface="Times New Roman" pitchFamily="18" charset="0"/>
              </a:rPr>
              <a:t>The major tasks of sustaining test engineers are as follows:</a:t>
            </a:r>
          </a:p>
          <a:p>
            <a:pPr marL="274320" indent="-274320">
              <a:buClr>
                <a:schemeClr val="accent3"/>
              </a:buClr>
              <a:buFont typeface="Wingdings 2"/>
              <a:buChar char=""/>
              <a:defRPr/>
            </a:pPr>
            <a:r>
              <a:rPr lang="en-US" sz="1700">
                <a:latin typeface="Times New Roman" pitchFamily="18" charset="0"/>
              </a:rPr>
              <a:t>Interact with customer to understand their real environment</a:t>
            </a:r>
          </a:p>
          <a:p>
            <a:pPr marL="274320" indent="-274320">
              <a:buClr>
                <a:schemeClr val="accent3"/>
              </a:buClr>
              <a:buFont typeface="Wingdings 2"/>
              <a:buChar char=""/>
              <a:defRPr/>
            </a:pPr>
            <a:r>
              <a:rPr lang="en-US" sz="1700">
                <a:latin typeface="Times New Roman" pitchFamily="18" charset="0"/>
              </a:rPr>
              <a:t>Reproduce the issues observed by the customer in the laboratory environment</a:t>
            </a:r>
          </a:p>
          <a:p>
            <a:pPr marL="274320" indent="-274320">
              <a:buClr>
                <a:schemeClr val="accent3"/>
              </a:buClr>
              <a:buFont typeface="Wingdings 2"/>
              <a:buChar char=""/>
              <a:defRPr/>
            </a:pPr>
            <a:r>
              <a:rPr lang="en-US" sz="1700">
                <a:latin typeface="Times New Roman" pitchFamily="18" charset="0"/>
              </a:rPr>
              <a:t>Once the root cause of the problem is known, develop new test cases to verify it</a:t>
            </a:r>
          </a:p>
          <a:p>
            <a:pPr marL="274320" indent="-274320">
              <a:buClr>
                <a:schemeClr val="accent3"/>
              </a:buClr>
              <a:buFont typeface="Wingdings 2"/>
              <a:buChar char=""/>
              <a:defRPr/>
            </a:pPr>
            <a:r>
              <a:rPr lang="en-US" sz="1700">
                <a:latin typeface="Times New Roman" pitchFamily="18" charset="0"/>
              </a:rPr>
              <a:t>Develop upgrade/downgrade test cases from the old image to the new patch image</a:t>
            </a:r>
          </a:p>
          <a:p>
            <a:pPr marL="274320" indent="-274320">
              <a:buClr>
                <a:schemeClr val="accent3"/>
              </a:buClr>
              <a:buFont typeface="Wingdings 2"/>
              <a:buChar char=""/>
              <a:defRPr/>
            </a:pPr>
            <a:r>
              <a:rPr lang="en-US" sz="1700">
                <a:latin typeface="Times New Roman" pitchFamily="18" charset="0"/>
              </a:rPr>
              <a:t>Participate in the code review process</a:t>
            </a:r>
          </a:p>
          <a:p>
            <a:pPr marL="274320" indent="-274320">
              <a:buClr>
                <a:schemeClr val="accent3"/>
              </a:buClr>
              <a:buFont typeface="Wingdings 2"/>
              <a:buChar char=""/>
              <a:defRPr/>
            </a:pPr>
            <a:r>
              <a:rPr lang="en-US" sz="1700">
                <a:latin typeface="Times New Roman" pitchFamily="18" charset="0"/>
              </a:rPr>
              <a:t>Select a subset of regression tests from the existing pool of test cases to ensure that there is no side effect because of the fix</a:t>
            </a:r>
          </a:p>
          <a:p>
            <a:pPr marL="274320" indent="-274320">
              <a:buClr>
                <a:schemeClr val="accent3"/>
              </a:buClr>
              <a:buFont typeface="Wingdings 2"/>
              <a:buChar char=""/>
              <a:defRPr/>
            </a:pPr>
            <a:r>
              <a:rPr lang="en-US" sz="1700">
                <a:latin typeface="Times New Roman" pitchFamily="18" charset="0"/>
              </a:rPr>
              <a:t>Execute the selected test cases</a:t>
            </a:r>
          </a:p>
          <a:p>
            <a:pPr marL="274320" indent="-274320">
              <a:buClr>
                <a:schemeClr val="accent3"/>
              </a:buClr>
              <a:buFont typeface="Wingdings 2"/>
              <a:buChar char=""/>
              <a:defRPr/>
            </a:pPr>
            <a:r>
              <a:rPr lang="en-US" sz="1700">
                <a:latin typeface="Times New Roman" pitchFamily="18" charset="0"/>
              </a:rPr>
              <a:t>Review the release notes for correctness</a:t>
            </a:r>
          </a:p>
          <a:p>
            <a:pPr marL="274320" indent="-274320">
              <a:buClr>
                <a:schemeClr val="accent3"/>
              </a:buClr>
              <a:buFont typeface="Wingdings 2"/>
              <a:buChar char=""/>
              <a:defRPr/>
            </a:pPr>
            <a:r>
              <a:rPr lang="en-US" sz="1700">
                <a:latin typeface="Times New Roman" pitchFamily="18" charset="0"/>
              </a:rPr>
              <a:t>Conduct experiments to evaluate test effectiveness</a:t>
            </a:r>
          </a:p>
        </p:txBody>
      </p:sp>
      <p:sp>
        <p:nvSpPr>
          <p:cNvPr id="111620" name="Rectangle 19">
            <a:extLst>
              <a:ext uri="{FF2B5EF4-FFF2-40B4-BE49-F238E27FC236}">
                <a16:creationId xmlns:a16="http://schemas.microsoft.com/office/drawing/2014/main" id="{FF8651E5-C781-48DC-BA21-023C170D45D1}"/>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BFA53E62-D848-4669-A535-0F2EEF6DF9A3}" type="slidenum">
              <a:rPr kumimoji="0" lang="en-US" altLang="en-US" sz="1900" b="1" i="0" u="none" strike="noStrike" kern="1200" cap="none" spc="0" normalizeH="0" baseline="0" noProof="0" smtClean="0">
                <a:ln>
                  <a:noFill/>
                </a:ln>
                <a:solidFill>
                  <a:srgbClr val="FAFD00"/>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7</a:t>
            </a:fld>
            <a:endPar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endParaRPr>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1B860E9B-9E69-4E00-9F18-042B60DF7B04}"/>
              </a:ext>
            </a:extLst>
          </p:cNvPr>
          <p:cNvSpPr>
            <a:spLocks noGrp="1" noChangeArrowheads="1"/>
          </p:cNvSpPr>
          <p:nvPr>
            <p:ph type="title"/>
          </p:nvPr>
        </p:nvSpPr>
        <p:spPr/>
        <p:txBody>
          <a:bodyPr/>
          <a:lstStyle/>
          <a:p>
            <a:pPr eaLnBrk="1" hangingPunct="1"/>
            <a:r>
              <a:rPr lang="en-US" altLang="en-US">
                <a:latin typeface="Times New Roman" panose="02020603050405020304" pitchFamily="18" charset="0"/>
              </a:rPr>
              <a:t>Measuring Test Effectiveness</a:t>
            </a:r>
          </a:p>
        </p:txBody>
      </p:sp>
      <p:graphicFrame>
        <p:nvGraphicFramePr>
          <p:cNvPr id="113667" name="Object 4">
            <a:extLst>
              <a:ext uri="{FF2B5EF4-FFF2-40B4-BE49-F238E27FC236}">
                <a16:creationId xmlns:a16="http://schemas.microsoft.com/office/drawing/2014/main" id="{8DDC0BBB-3E81-4952-902C-6F9159CB83B2}"/>
              </a:ext>
            </a:extLst>
          </p:cNvPr>
          <p:cNvGraphicFramePr>
            <a:graphicFrameLocks noGrp="1" noChangeAspect="1"/>
          </p:cNvGraphicFramePr>
          <p:nvPr>
            <p:ph idx="1"/>
          </p:nvPr>
        </p:nvGraphicFramePr>
        <p:xfrm>
          <a:off x="2211388" y="3602039"/>
          <a:ext cx="7226300" cy="612775"/>
        </p:xfrm>
        <a:graphic>
          <a:graphicData uri="http://schemas.openxmlformats.org/presentationml/2006/ole">
            <mc:AlternateContent xmlns:mc="http://schemas.openxmlformats.org/markup-compatibility/2006">
              <mc:Choice xmlns:v="urn:schemas-microsoft-com:vml" Requires="v">
                <p:oleObj name="Equation" r:id="rId3" imgW="2997200" imgH="254000" progId="Equation.3">
                  <p:embed/>
                </p:oleObj>
              </mc:Choice>
              <mc:Fallback>
                <p:oleObj name="Equation" r:id="rId3" imgW="2997200" imgH="254000" progId="Equation.3">
                  <p:embed/>
                  <p:pic>
                    <p:nvPicPr>
                      <p:cNvPr id="113667" name="Object 4">
                        <a:extLst>
                          <a:ext uri="{FF2B5EF4-FFF2-40B4-BE49-F238E27FC236}">
                            <a16:creationId xmlns:a16="http://schemas.microsoft.com/office/drawing/2014/main" id="{8DDC0BBB-3E81-4952-902C-6F9159CB83B2}"/>
                          </a:ext>
                        </a:extLst>
                      </p:cNvPr>
                      <p:cNvPicPr>
                        <a:picLocks noGrp="1"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1388" y="3602039"/>
                        <a:ext cx="7226300" cy="61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3668" name="Rectangle 19">
            <a:extLst>
              <a:ext uri="{FF2B5EF4-FFF2-40B4-BE49-F238E27FC236}">
                <a16:creationId xmlns:a16="http://schemas.microsoft.com/office/drawing/2014/main" id="{135BB85F-09C7-4B92-9E5C-AD4917FCE5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49A824F-C66D-4482-BFCE-CFEB7A63B92E}" type="slidenum">
              <a:rPr kumimoji="0" lang="en-US" altLang="en-US" sz="1200" b="1" i="0" u="none" strike="noStrike" kern="1200" cap="none" spc="0" normalizeH="0" baseline="0" noProof="0">
                <a:ln>
                  <a:noFill/>
                </a:ln>
                <a:solidFill>
                  <a:srgbClr val="045C75"/>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altLang="en-US" sz="1200" b="1" i="0" u="none" strike="noStrike" kern="1200" cap="none" spc="0" normalizeH="0" baseline="0" noProof="0">
              <a:ln>
                <a:noFill/>
              </a:ln>
              <a:solidFill>
                <a:srgbClr val="045C75"/>
              </a:solidFill>
              <a:effectLst/>
              <a:uLnTx/>
              <a:uFillTx/>
              <a:latin typeface="Times New Roman" panose="02020603050405020304" pitchFamily="18" charset="0"/>
              <a:ea typeface="+mn-ea"/>
              <a:cs typeface="+mn-cs"/>
            </a:endParaRPr>
          </a:p>
        </p:txBody>
      </p:sp>
      <p:sp>
        <p:nvSpPr>
          <p:cNvPr id="113669" name="Rectangle 6">
            <a:extLst>
              <a:ext uri="{FF2B5EF4-FFF2-40B4-BE49-F238E27FC236}">
                <a16:creationId xmlns:a16="http://schemas.microsoft.com/office/drawing/2014/main" id="{04F0FFC5-512A-4324-9FF2-67E362B1FDF7}"/>
              </a:ext>
            </a:extLst>
          </p:cNvPr>
          <p:cNvSpPr>
            <a:spLocks noGrp="1" noChangeArrowheads="1"/>
          </p:cNvSpPr>
          <p:nvPr>
            <p:ph type="body" orient="vert" idx="4294967295"/>
          </p:nvPr>
        </p:nvSpPr>
        <p:spPr>
          <a:xfrm>
            <a:off x="1524000" y="1935164"/>
            <a:ext cx="8229600" cy="4389437"/>
          </a:xfrm>
        </p:spPr>
        <p:txBody>
          <a:bodyPr/>
          <a:lstStyle/>
          <a:p>
            <a:pPr eaLnBrk="1" hangingPunct="1"/>
            <a:r>
              <a:rPr lang="en-US" altLang="en-US">
                <a:latin typeface="Times New Roman" panose="02020603050405020304" pitchFamily="18" charset="0"/>
              </a:rPr>
              <a:t>Defect Removal Efficiency (DRE) metric defined as follows:</a:t>
            </a:r>
          </a:p>
          <a:p>
            <a:pPr eaLnBrk="1" hangingPunct="1">
              <a:buFontTx/>
              <a:buNone/>
            </a:pPr>
            <a:endParaRPr lang="en-US" altLang="en-US">
              <a:latin typeface="Times New Roman" panose="02020603050405020304" pitchFamily="18" charset="0"/>
            </a:endParaRP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2">
            <a:extLst>
              <a:ext uri="{FF2B5EF4-FFF2-40B4-BE49-F238E27FC236}">
                <a16:creationId xmlns:a16="http://schemas.microsoft.com/office/drawing/2014/main" id="{7C789E70-5C48-4576-BB81-E096000CC51E}"/>
              </a:ext>
            </a:extLst>
          </p:cNvPr>
          <p:cNvSpPr>
            <a:spLocks noChangeArrowheads="1"/>
          </p:cNvSpPr>
          <p:nvPr/>
        </p:nvSpPr>
        <p:spPr bwMode="auto">
          <a:xfrm>
            <a:off x="2012950" y="560388"/>
            <a:ext cx="8134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1" i="1" u="none" strike="noStrike" kern="1200" cap="none" spc="0" normalizeH="0" baseline="0" noProof="0">
                <a:ln>
                  <a:noFill/>
                </a:ln>
                <a:solidFill>
                  <a:srgbClr val="009DD9"/>
                </a:solidFill>
                <a:effectLst/>
                <a:uLnTx/>
                <a:uFillTx/>
                <a:latin typeface="Times New Roman" panose="02020603050405020304" pitchFamily="18" charset="0"/>
                <a:ea typeface="+mn-ea"/>
                <a:cs typeface="+mn-cs"/>
              </a:rPr>
              <a:t>U. S. SOFTWARE QUALITY AVERAGES CIRCA 2008</a:t>
            </a:r>
          </a:p>
        </p:txBody>
      </p:sp>
      <p:sp>
        <p:nvSpPr>
          <p:cNvPr id="115715" name="Rectangle 3">
            <a:extLst>
              <a:ext uri="{FF2B5EF4-FFF2-40B4-BE49-F238E27FC236}">
                <a16:creationId xmlns:a16="http://schemas.microsoft.com/office/drawing/2014/main" id="{D7F59C94-C72A-4626-A1BA-58EABB950E0F}"/>
              </a:ext>
            </a:extLst>
          </p:cNvPr>
          <p:cNvSpPr>
            <a:spLocks noChangeArrowheads="1"/>
          </p:cNvSpPr>
          <p:nvPr/>
        </p:nvSpPr>
        <p:spPr bwMode="auto">
          <a:xfrm>
            <a:off x="4589463" y="1079500"/>
            <a:ext cx="3276600"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(Defects per Function Point)</a:t>
            </a:r>
          </a:p>
        </p:txBody>
      </p:sp>
      <p:sp>
        <p:nvSpPr>
          <p:cNvPr id="115716" name="Rectangle 4">
            <a:extLst>
              <a:ext uri="{FF2B5EF4-FFF2-40B4-BE49-F238E27FC236}">
                <a16:creationId xmlns:a16="http://schemas.microsoft.com/office/drawing/2014/main" id="{12054D2C-C7AA-4A61-9E22-19C4885DD495}"/>
              </a:ext>
            </a:extLst>
          </p:cNvPr>
          <p:cNvSpPr>
            <a:spLocks noChangeArrowheads="1"/>
          </p:cNvSpPr>
          <p:nvPr/>
        </p:nvSpPr>
        <p:spPr bwMode="auto">
          <a:xfrm>
            <a:off x="2112964" y="1682751"/>
            <a:ext cx="8142287"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213" tIns="46107" rIns="92213" bIns="46107">
            <a:spAutoFit/>
          </a:bodyPr>
          <a:lstStyle>
            <a:lvl1pPr>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1pPr>
            <a:lvl2pPr marL="742950" indent="-28575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2pPr>
            <a:lvl3pPr marL="11430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3pPr>
            <a:lvl4pPr marL="16002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4pPr>
            <a:lvl5pPr marL="20574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	System	Commercial	Information	Military	Outsource</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	Software	Software	Software	Software	Software</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Defect</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Potentials	6.0	5.0	4.5	7.0	5.2</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Defect</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Removal	94%	90%	73%	96%	92%</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Efficiency</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Delivered</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Defects	0.4	0.5	1.2	0.3	0.4</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First Year</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Discovery Rate	65%	70%	30%	75%	60%</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First Year</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Reported	0.26	0.35	0.36	0.23	0.30</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Defects</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a:extLst>
              <a:ext uri="{FF2B5EF4-FFF2-40B4-BE49-F238E27FC236}">
                <a16:creationId xmlns:a16="http://schemas.microsoft.com/office/drawing/2014/main" id="{499EA863-879A-40E1-9C63-8A0974786924}"/>
              </a:ext>
            </a:extLst>
          </p:cNvPr>
          <p:cNvSpPr>
            <a:spLocks noChangeArrowheads="1"/>
          </p:cNvSpPr>
          <p:nvPr/>
        </p:nvSpPr>
        <p:spPr bwMode="auto">
          <a:xfrm>
            <a:off x="2012950" y="560388"/>
            <a:ext cx="82105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1" i="1" u="none" strike="noStrike" kern="1200" cap="none" spc="0" normalizeH="0" baseline="0" noProof="0">
                <a:ln>
                  <a:noFill/>
                </a:ln>
                <a:solidFill>
                  <a:srgbClr val="009DD9"/>
                </a:solidFill>
                <a:effectLst/>
                <a:uLnTx/>
                <a:uFillTx/>
                <a:latin typeface="Times New Roman" panose="02020603050405020304" pitchFamily="18" charset="0"/>
                <a:ea typeface="+mn-ea"/>
                <a:cs typeface="+mn-cs"/>
              </a:rPr>
              <a:t>U. S. SOFTWARE QUALITY AVERAGES CIRCA 2008</a:t>
            </a:r>
          </a:p>
        </p:txBody>
      </p:sp>
      <p:sp>
        <p:nvSpPr>
          <p:cNvPr id="117763" name="Rectangle 3">
            <a:extLst>
              <a:ext uri="{FF2B5EF4-FFF2-40B4-BE49-F238E27FC236}">
                <a16:creationId xmlns:a16="http://schemas.microsoft.com/office/drawing/2014/main" id="{4DC0B8E2-1B07-49FB-AC86-F3E89BD7DC94}"/>
              </a:ext>
            </a:extLst>
          </p:cNvPr>
          <p:cNvSpPr>
            <a:spLocks noChangeArrowheads="1"/>
          </p:cNvSpPr>
          <p:nvPr/>
        </p:nvSpPr>
        <p:spPr bwMode="auto">
          <a:xfrm>
            <a:off x="4589463" y="1079500"/>
            <a:ext cx="3276600"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(Defects per Function Point)</a:t>
            </a:r>
          </a:p>
        </p:txBody>
      </p:sp>
      <p:sp>
        <p:nvSpPr>
          <p:cNvPr id="117764" name="Rectangle 4">
            <a:extLst>
              <a:ext uri="{FF2B5EF4-FFF2-40B4-BE49-F238E27FC236}">
                <a16:creationId xmlns:a16="http://schemas.microsoft.com/office/drawing/2014/main" id="{F0334B92-32D8-4328-8F10-2DED378017F2}"/>
              </a:ext>
            </a:extLst>
          </p:cNvPr>
          <p:cNvSpPr>
            <a:spLocks noChangeArrowheads="1"/>
          </p:cNvSpPr>
          <p:nvPr/>
        </p:nvSpPr>
        <p:spPr bwMode="auto">
          <a:xfrm>
            <a:off x="2112963" y="1682751"/>
            <a:ext cx="8043862"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213" tIns="46107" rIns="92213" bIns="46107">
            <a:spAutoFit/>
          </a:bodyPr>
          <a:lstStyle>
            <a:lvl1pPr>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1pPr>
            <a:lvl2pPr marL="742950" indent="-28575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2pPr>
            <a:lvl3pPr marL="11430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3pPr>
            <a:lvl4pPr marL="16002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4pPr>
            <a:lvl5pPr marL="20574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rPr>
              <a:t>	</a:t>
            </a: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Web	Embedded	SEI-CMM 3	SEI-CMM 1	Overall</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	Software	Software	Software	Software	Average</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Potentials	4.0	5.5	3.0	5.5	5.1</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Removal	72%	95%	95%	73%	86.7%</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Efficiency</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Delivered</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Defects	1.1	0.3	0.15	1.5	0.68</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First Year</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Discovery Rate	95%	90%	60%	35%	64.4%</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First Year</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Reported	1.0	0.27	0.09	0.52	0.43</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Defects</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DF5AD-2FC8-E8B2-6FA2-1E30499BDA66}"/>
            </a:ext>
          </a:extLst>
        </p:cNvPr>
        <p:cNvGrpSpPr/>
        <p:nvPr/>
      </p:nvGrpSpPr>
      <p:grpSpPr>
        <a:xfrm>
          <a:off x="0" y="0"/>
          <a:ext cx="0" cy="0"/>
          <a:chOff x="0" y="0"/>
          <a:chExt cx="0" cy="0"/>
        </a:xfrm>
      </p:grpSpPr>
      <p:sp>
        <p:nvSpPr>
          <p:cNvPr id="117762" name="Rectangle 2">
            <a:extLst>
              <a:ext uri="{FF2B5EF4-FFF2-40B4-BE49-F238E27FC236}">
                <a16:creationId xmlns:a16="http://schemas.microsoft.com/office/drawing/2014/main" id="{B354F058-0435-BBBD-7260-E1BCAB348B52}"/>
              </a:ext>
            </a:extLst>
          </p:cNvPr>
          <p:cNvSpPr>
            <a:spLocks noChangeArrowheads="1"/>
          </p:cNvSpPr>
          <p:nvPr/>
        </p:nvSpPr>
        <p:spPr bwMode="auto">
          <a:xfrm>
            <a:off x="2012950" y="560388"/>
            <a:ext cx="82105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1" i="1" u="none" strike="noStrike" kern="1200" cap="none" spc="0" normalizeH="0" baseline="0" noProof="0" dirty="0">
                <a:ln>
                  <a:noFill/>
                </a:ln>
                <a:solidFill>
                  <a:srgbClr val="009DD9"/>
                </a:solidFill>
                <a:effectLst/>
                <a:uLnTx/>
                <a:uFillTx/>
                <a:latin typeface="Times New Roman" panose="02020603050405020304" pitchFamily="18" charset="0"/>
                <a:ea typeface="+mn-ea"/>
                <a:cs typeface="+mn-cs"/>
              </a:rPr>
              <a:t>SEI-CMM 1 to 5</a:t>
            </a:r>
          </a:p>
        </p:txBody>
      </p:sp>
      <p:graphicFrame>
        <p:nvGraphicFramePr>
          <p:cNvPr id="3" name="Table 2">
            <a:extLst>
              <a:ext uri="{FF2B5EF4-FFF2-40B4-BE49-F238E27FC236}">
                <a16:creationId xmlns:a16="http://schemas.microsoft.com/office/drawing/2014/main" id="{E59CE27E-A6F2-89E1-185B-2F541A92E86B}"/>
              </a:ext>
            </a:extLst>
          </p:cNvPr>
          <p:cNvGraphicFramePr>
            <a:graphicFrameLocks noGrp="1"/>
          </p:cNvGraphicFramePr>
          <p:nvPr>
            <p:extLst>
              <p:ext uri="{D42A27DB-BD31-4B8C-83A1-F6EECF244321}">
                <p14:modId xmlns:p14="http://schemas.microsoft.com/office/powerpoint/2010/main" val="3321434047"/>
              </p:ext>
            </p:extLst>
          </p:nvPr>
        </p:nvGraphicFramePr>
        <p:xfrm>
          <a:off x="693683" y="1221608"/>
          <a:ext cx="10499836" cy="5221233"/>
        </p:xfrm>
        <a:graphic>
          <a:graphicData uri="http://schemas.openxmlformats.org/drawingml/2006/table">
            <a:tbl>
              <a:tblPr firstRow="1" bandRow="1">
                <a:tableStyleId>{5C22544A-7EE6-4342-B048-85BDC9FD1C3A}</a:tableStyleId>
              </a:tblPr>
              <a:tblGrid>
                <a:gridCol w="2624959">
                  <a:extLst>
                    <a:ext uri="{9D8B030D-6E8A-4147-A177-3AD203B41FA5}">
                      <a16:colId xmlns:a16="http://schemas.microsoft.com/office/drawing/2014/main" val="4211211702"/>
                    </a:ext>
                  </a:extLst>
                </a:gridCol>
                <a:gridCol w="2624959">
                  <a:extLst>
                    <a:ext uri="{9D8B030D-6E8A-4147-A177-3AD203B41FA5}">
                      <a16:colId xmlns:a16="http://schemas.microsoft.com/office/drawing/2014/main" val="1243927497"/>
                    </a:ext>
                  </a:extLst>
                </a:gridCol>
                <a:gridCol w="2624959">
                  <a:extLst>
                    <a:ext uri="{9D8B030D-6E8A-4147-A177-3AD203B41FA5}">
                      <a16:colId xmlns:a16="http://schemas.microsoft.com/office/drawing/2014/main" val="4021950913"/>
                    </a:ext>
                  </a:extLst>
                </a:gridCol>
                <a:gridCol w="2624959">
                  <a:extLst>
                    <a:ext uri="{9D8B030D-6E8A-4147-A177-3AD203B41FA5}">
                      <a16:colId xmlns:a16="http://schemas.microsoft.com/office/drawing/2014/main" val="1929830805"/>
                    </a:ext>
                  </a:extLst>
                </a:gridCol>
              </a:tblGrid>
              <a:tr h="518400">
                <a:tc>
                  <a:txBody>
                    <a:bodyPr/>
                    <a:lstStyle/>
                    <a:p>
                      <a:endParaRPr lang="en-US" dirty="0"/>
                    </a:p>
                  </a:txBody>
                  <a:tcPr/>
                </a:tc>
                <a:tc>
                  <a:txBody>
                    <a:bodyPr/>
                    <a:lstStyle/>
                    <a:p>
                      <a:r>
                        <a:rPr lang="en-US" dirty="0"/>
                        <a:t>State</a:t>
                      </a:r>
                    </a:p>
                  </a:txBody>
                  <a:tcPr/>
                </a:tc>
                <a:tc>
                  <a:txBody>
                    <a:bodyPr/>
                    <a:lstStyle/>
                    <a:p>
                      <a:r>
                        <a:rPr lang="en-US" dirty="0"/>
                        <a:t>Testing</a:t>
                      </a:r>
                    </a:p>
                  </a:txBody>
                  <a:tcPr/>
                </a:tc>
                <a:tc>
                  <a:txBody>
                    <a:bodyPr/>
                    <a:lstStyle/>
                    <a:p>
                      <a:r>
                        <a:rPr lang="en-US" dirty="0"/>
                        <a:t>Goal</a:t>
                      </a:r>
                    </a:p>
                  </a:txBody>
                  <a:tcPr/>
                </a:tc>
                <a:extLst>
                  <a:ext uri="{0D108BD9-81ED-4DB2-BD59-A6C34878D82A}">
                    <a16:rowId xmlns:a16="http://schemas.microsoft.com/office/drawing/2014/main" val="1453685122"/>
                  </a:ext>
                </a:extLst>
              </a:tr>
              <a:tr h="1003192">
                <a:tc>
                  <a:txBody>
                    <a:bodyPr/>
                    <a:lstStyle/>
                    <a:p>
                      <a:r>
                        <a:rPr lang="en-US" dirty="0"/>
                        <a:t>SEI-CMM1 (Ad Hoc)</a:t>
                      </a:r>
                    </a:p>
                  </a:txBody>
                  <a:tcPr/>
                </a:tc>
                <a:tc>
                  <a:txBody>
                    <a:bodyPr/>
                    <a:lstStyle/>
                    <a:p>
                      <a:r>
                        <a:rPr lang="en-US" dirty="0"/>
                        <a:t>Chaotic/Inconsistent</a:t>
                      </a:r>
                    </a:p>
                  </a:txBody>
                  <a:tcPr/>
                </a:tc>
                <a:tc>
                  <a:txBody>
                    <a:bodyPr/>
                    <a:lstStyle/>
                    <a:p>
                      <a:r>
                        <a:rPr lang="en-US" dirty="0"/>
                        <a:t>Late in lifecycle, no formal, accidental defect discovery, heroics</a:t>
                      </a:r>
                    </a:p>
                  </a:txBody>
                  <a:tcPr/>
                </a:tc>
                <a:tc>
                  <a:txBody>
                    <a:bodyPr/>
                    <a:lstStyle/>
                    <a:p>
                      <a:r>
                        <a:rPr lang="en-US" dirty="0"/>
                        <a:t>Make it work somehow</a:t>
                      </a:r>
                    </a:p>
                  </a:txBody>
                  <a:tcPr/>
                </a:tc>
                <a:extLst>
                  <a:ext uri="{0D108BD9-81ED-4DB2-BD59-A6C34878D82A}">
                    <a16:rowId xmlns:a16="http://schemas.microsoft.com/office/drawing/2014/main" val="2227402935"/>
                  </a:ext>
                </a:extLst>
              </a:tr>
              <a:tr h="956441">
                <a:tc>
                  <a:txBody>
                    <a:bodyPr/>
                    <a:lstStyle/>
                    <a:p>
                      <a:r>
                        <a:rPr lang="en-US" dirty="0"/>
                        <a:t>SEI-CMM2 (Repeatable)</a:t>
                      </a:r>
                    </a:p>
                  </a:txBody>
                  <a:tcPr/>
                </a:tc>
                <a:tc>
                  <a:txBody>
                    <a:bodyPr/>
                    <a:lstStyle/>
                    <a:p>
                      <a:r>
                        <a:rPr lang="en-US" dirty="0"/>
                        <a:t>Basic project management, some repeatable processes</a:t>
                      </a:r>
                    </a:p>
                  </a:txBody>
                  <a:tcPr/>
                </a:tc>
                <a:tc>
                  <a:txBody>
                    <a:bodyPr/>
                    <a:lstStyle/>
                    <a:p>
                      <a:r>
                        <a:rPr lang="en-US" dirty="0"/>
                        <a:t>Test planning, basic test cases, matching tests and requirements</a:t>
                      </a:r>
                    </a:p>
                  </a:txBody>
                  <a:tcPr/>
                </a:tc>
                <a:tc>
                  <a:txBody>
                    <a:bodyPr/>
                    <a:lstStyle/>
                    <a:p>
                      <a:r>
                        <a:rPr lang="en-US" dirty="0"/>
                        <a:t>Ensure testing is repeatable</a:t>
                      </a:r>
                    </a:p>
                  </a:txBody>
                  <a:tcPr/>
                </a:tc>
                <a:extLst>
                  <a:ext uri="{0D108BD9-81ED-4DB2-BD59-A6C34878D82A}">
                    <a16:rowId xmlns:a16="http://schemas.microsoft.com/office/drawing/2014/main" val="72369964"/>
                  </a:ext>
                </a:extLst>
              </a:tr>
              <a:tr h="525600">
                <a:tc>
                  <a:txBody>
                    <a:bodyPr/>
                    <a:lstStyle/>
                    <a:p>
                      <a:r>
                        <a:rPr lang="en-US" dirty="0"/>
                        <a:t>SEI-CMM3 (Defined)</a:t>
                      </a:r>
                    </a:p>
                  </a:txBody>
                  <a:tcPr/>
                </a:tc>
                <a:tc>
                  <a:txBody>
                    <a:bodyPr/>
                    <a:lstStyle/>
                    <a:p>
                      <a:r>
                        <a:rPr lang="en-US" dirty="0"/>
                        <a:t>Process is standardized and documented</a:t>
                      </a:r>
                    </a:p>
                  </a:txBody>
                  <a:tcPr/>
                </a:tc>
                <a:tc>
                  <a:txBody>
                    <a:bodyPr/>
                    <a:lstStyle/>
                    <a:p>
                      <a:r>
                        <a:rPr lang="en-US" dirty="0"/>
                        <a:t>Formal test plan, detailed cases, peer review of tests, testing early in development</a:t>
                      </a:r>
                    </a:p>
                  </a:txBody>
                  <a:tcPr/>
                </a:tc>
                <a:tc>
                  <a:txBody>
                    <a:bodyPr/>
                    <a:lstStyle/>
                    <a:p>
                      <a:r>
                        <a:rPr lang="en-US" dirty="0"/>
                        <a:t>Testing is systematic and predictable</a:t>
                      </a:r>
                    </a:p>
                  </a:txBody>
                  <a:tcPr/>
                </a:tc>
                <a:extLst>
                  <a:ext uri="{0D108BD9-81ED-4DB2-BD59-A6C34878D82A}">
                    <a16:rowId xmlns:a16="http://schemas.microsoft.com/office/drawing/2014/main" val="3585184018"/>
                  </a:ext>
                </a:extLst>
              </a:tr>
              <a:tr h="525600">
                <a:tc>
                  <a:txBody>
                    <a:bodyPr/>
                    <a:lstStyle/>
                    <a:p>
                      <a:r>
                        <a:rPr lang="en-US" dirty="0"/>
                        <a:t>SEI-CMM4 (Managed)</a:t>
                      </a:r>
                    </a:p>
                  </a:txBody>
                  <a:tcPr/>
                </a:tc>
                <a:tc>
                  <a:txBody>
                    <a:bodyPr/>
                    <a:lstStyle/>
                    <a:p>
                      <a:r>
                        <a:rPr lang="en-US" dirty="0"/>
                        <a:t>Process is measured</a:t>
                      </a:r>
                    </a:p>
                  </a:txBody>
                  <a:tcPr/>
                </a:tc>
                <a:tc>
                  <a:txBody>
                    <a:bodyPr/>
                    <a:lstStyle/>
                    <a:p>
                      <a:r>
                        <a:rPr lang="en-US" dirty="0"/>
                        <a:t>All of level3 plus metrics collection and statistical analysis</a:t>
                      </a:r>
                    </a:p>
                  </a:txBody>
                  <a:tcPr/>
                </a:tc>
                <a:tc>
                  <a:txBody>
                    <a:bodyPr/>
                    <a:lstStyle/>
                    <a:p>
                      <a:r>
                        <a:rPr lang="en-US" dirty="0"/>
                        <a:t>Measured and data driven process</a:t>
                      </a:r>
                    </a:p>
                  </a:txBody>
                  <a:tcPr/>
                </a:tc>
                <a:extLst>
                  <a:ext uri="{0D108BD9-81ED-4DB2-BD59-A6C34878D82A}">
                    <a16:rowId xmlns:a16="http://schemas.microsoft.com/office/drawing/2014/main" val="21350269"/>
                  </a:ext>
                </a:extLst>
              </a:tr>
              <a:tr h="525600">
                <a:tc>
                  <a:txBody>
                    <a:bodyPr/>
                    <a:lstStyle/>
                    <a:p>
                      <a:r>
                        <a:rPr lang="en-US" dirty="0"/>
                        <a:t>SEI-CMM5 (Optimized)</a:t>
                      </a:r>
                    </a:p>
                  </a:txBody>
                  <a:tcPr/>
                </a:tc>
                <a:tc>
                  <a:txBody>
                    <a:bodyPr/>
                    <a:lstStyle/>
                    <a:p>
                      <a:r>
                        <a:rPr lang="en-US" dirty="0"/>
                        <a:t>Continuous improvement</a:t>
                      </a:r>
                    </a:p>
                  </a:txBody>
                  <a:tcPr/>
                </a:tc>
                <a:tc>
                  <a:txBody>
                    <a:bodyPr/>
                    <a:lstStyle/>
                    <a:p>
                      <a:r>
                        <a:rPr lang="en-US" dirty="0"/>
                        <a:t>Prevent instead of detect defects</a:t>
                      </a:r>
                    </a:p>
                  </a:txBody>
                  <a:tcPr/>
                </a:tc>
                <a:tc>
                  <a:txBody>
                    <a:bodyPr/>
                    <a:lstStyle/>
                    <a:p>
                      <a:r>
                        <a:rPr lang="en-US" dirty="0"/>
                        <a:t>Continuous quality improvement</a:t>
                      </a:r>
                    </a:p>
                  </a:txBody>
                  <a:tcPr/>
                </a:tc>
                <a:extLst>
                  <a:ext uri="{0D108BD9-81ED-4DB2-BD59-A6C34878D82A}">
                    <a16:rowId xmlns:a16="http://schemas.microsoft.com/office/drawing/2014/main" val="1233236202"/>
                  </a:ext>
                </a:extLst>
              </a:tr>
            </a:tbl>
          </a:graphicData>
        </a:graphic>
      </p:graphicFrame>
    </p:spTree>
    <p:extLst>
      <p:ext uri="{BB962C8B-B14F-4D97-AF65-F5344CB8AC3E}">
        <p14:creationId xmlns:p14="http://schemas.microsoft.com/office/powerpoint/2010/main" val="312132156"/>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4845A0EE-C4C8-4AE1-B3C6-1261368AC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004" name="Rectangle 4">
            <a:extLst>
              <a:ext uri="{FF2B5EF4-FFF2-40B4-BE49-F238E27FC236}">
                <a16:creationId xmlns:a16="http://schemas.microsoft.com/office/drawing/2014/main" id="{6CA58AD6-8E75-4EB0-9120-97BA0785949B}"/>
              </a:ext>
            </a:extLst>
          </p:cNvPr>
          <p:cNvSpPr>
            <a:spLocks noChangeArrowheads="1"/>
          </p:cNvSpPr>
          <p:nvPr/>
        </p:nvSpPr>
        <p:spPr bwMode="auto">
          <a:xfrm>
            <a:off x="6096000" y="639763"/>
            <a:ext cx="5459413" cy="68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63493" tIns="25397" rIns="63493" bIns="25397" anchor="t">
            <a:normAutofit/>
          </a:bodyPr>
          <a:lstStyle>
            <a:lvl1pPr marL="342900" indent="-342900" defTabSz="912813">
              <a:defRPr sz="2000" b="1">
                <a:solidFill>
                  <a:srgbClr val="FAFD00"/>
                </a:solidFill>
                <a:latin typeface="Times New Roman" panose="02020603050405020304" pitchFamily="18" charset="0"/>
              </a:defRPr>
            </a:lvl1pPr>
            <a:lvl2pPr marL="742950" indent="-285750" defTabSz="912813">
              <a:defRPr sz="2000" b="1">
                <a:solidFill>
                  <a:srgbClr val="FAFD00"/>
                </a:solidFill>
                <a:latin typeface="Times New Roman" panose="02020603050405020304" pitchFamily="18" charset="0"/>
              </a:defRPr>
            </a:lvl2pPr>
            <a:lvl3pPr marL="1143000" indent="-228600" defTabSz="912813">
              <a:defRPr sz="2000" b="1">
                <a:solidFill>
                  <a:srgbClr val="FAFD00"/>
                </a:solidFill>
                <a:latin typeface="Times New Roman" panose="02020603050405020304" pitchFamily="18" charset="0"/>
              </a:defRPr>
            </a:lvl3pPr>
            <a:lvl4pPr marL="1600200" indent="-228600" defTabSz="912813">
              <a:defRPr sz="2000" b="1">
                <a:solidFill>
                  <a:srgbClr val="FAFD00"/>
                </a:solidFill>
                <a:latin typeface="Times New Roman" panose="02020603050405020304" pitchFamily="18" charset="0"/>
              </a:defRPr>
            </a:lvl4pPr>
            <a:lvl5pPr marL="2057400" indent="-228600" defTabSz="912813">
              <a:defRPr sz="2000" b="1">
                <a:solidFill>
                  <a:srgbClr val="FAFD00"/>
                </a:solidFill>
                <a:latin typeface="Times New Roman" panose="02020603050405020304" pitchFamily="18" charset="0"/>
              </a:defRPr>
            </a:lvl5pPr>
            <a:lvl6pPr marL="2514600" indent="-228600" defTabSz="912813"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12813"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12813"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12813" eaLnBrk="0" fontAlgn="base" hangingPunct="0">
              <a:spcBef>
                <a:spcPct val="0"/>
              </a:spcBef>
              <a:spcAft>
                <a:spcPct val="0"/>
              </a:spcAft>
              <a:defRPr sz="2000" b="1">
                <a:solidFill>
                  <a:srgbClr val="FAFD00"/>
                </a:solidFill>
                <a:latin typeface="Times New Roman" panose="02020603050405020304" pitchFamily="18" charset="0"/>
              </a:defRPr>
            </a:lvl9pPr>
          </a:lstStyle>
          <a:p>
            <a:pPr marL="342900" marR="0" lvl="0" indent="-342900" algn="l" defTabSz="912813" rtl="0" eaLnBrk="1" fontAlgn="auto" latinLnBrk="0" hangingPunct="1">
              <a:lnSpc>
                <a:spcPct val="97000"/>
              </a:lnSpc>
              <a:spcBef>
                <a:spcPct val="49000"/>
              </a:spcBef>
              <a:spcAft>
                <a:spcPts val="0"/>
              </a:spcAft>
              <a:buClrTx/>
              <a:buSzTx/>
              <a:buFontTx/>
              <a:buNone/>
              <a:tabLst/>
              <a:defRPr/>
            </a:pPr>
            <a:r>
              <a:rPr kumimoji="0" lang="en-US" altLang="en-US" sz="20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Ranked in order of effort required to fix the defects:</a:t>
            </a:r>
            <a:endParaRPr kumimoji="0" lang="en-US" altLang="en-US" sz="20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28002" name="Rectangle 2">
            <a:extLst>
              <a:ext uri="{FF2B5EF4-FFF2-40B4-BE49-F238E27FC236}">
                <a16:creationId xmlns:a16="http://schemas.microsoft.com/office/drawing/2014/main" id="{27AC5152-178E-4E42-AF04-8AAE0C906BB6}"/>
              </a:ext>
            </a:extLst>
          </p:cNvPr>
          <p:cNvSpPr>
            <a:spLocks noGrp="1" noChangeArrowheads="1"/>
          </p:cNvSpPr>
          <p:nvPr>
            <p:ph type="title"/>
          </p:nvPr>
        </p:nvSpPr>
        <p:spPr>
          <a:xfrm>
            <a:off x="621629" y="640080"/>
            <a:ext cx="4225290" cy="5578816"/>
          </a:xfrm>
          <a:extLst>
            <a:ext uri="{91240B29-F687-4F45-9708-019B960494DF}">
              <a14:hiddenLine xmlns:a14="http://schemas.microsoft.com/office/drawing/2010/main" w="12700">
                <a:solidFill>
                  <a:srgbClr val="000000"/>
                </a:solidFill>
                <a:miter lim="800000"/>
                <a:headEnd/>
                <a:tailEnd/>
              </a14:hiddenLine>
            </a:ext>
          </a:extLst>
        </p:spPr>
        <p:txBody>
          <a:bodyPr vert="horz" lIns="91440" tIns="45720" rIns="91440" bIns="45720" rtlCol="0" anchor="ctr">
            <a:normAutofit/>
          </a:bodyPr>
          <a:lstStyle/>
          <a:p>
            <a:pPr algn="ctr"/>
            <a:r>
              <a:rPr lang="en-US" altLang="en-US" kern="1200" dirty="0">
                <a:solidFill>
                  <a:srgbClr val="FFFFFF"/>
                </a:solidFill>
                <a:latin typeface="+mj-lt"/>
                <a:ea typeface="+mj-ea"/>
                <a:cs typeface="+mj-cs"/>
              </a:rPr>
              <a:t>INDUSTRY-WIDE DEFECT CAUSES</a:t>
            </a:r>
          </a:p>
        </p:txBody>
      </p:sp>
      <p:sp>
        <p:nvSpPr>
          <p:cNvPr id="128003" name="Rectangle 3">
            <a:extLst>
              <a:ext uri="{FF2B5EF4-FFF2-40B4-BE49-F238E27FC236}">
                <a16:creationId xmlns:a16="http://schemas.microsoft.com/office/drawing/2014/main" id="{BD691BDB-419F-4DD8-BA2F-31F44C6DE507}"/>
              </a:ext>
            </a:extLst>
          </p:cNvPr>
          <p:cNvSpPr>
            <a:spLocks noGrp="1" noChangeArrowheads="1"/>
          </p:cNvSpPr>
          <p:nvPr>
            <p:ph type="body" idx="1"/>
          </p:nvPr>
        </p:nvSpPr>
        <p:spPr>
          <a:xfrm>
            <a:off x="6096000" y="1395413"/>
            <a:ext cx="5459413" cy="4822825"/>
          </a:xfrm>
          <a:extLst>
            <a:ext uri="{91240B29-F687-4F45-9708-019B960494DF}">
              <a14:hiddenLine xmlns:a14="http://schemas.microsoft.com/office/drawing/2010/main" w="12700">
                <a:solidFill>
                  <a:srgbClr val="000000"/>
                </a:solidFill>
                <a:miter lim="800000"/>
                <a:headEnd/>
                <a:tailEnd/>
              </a14:hiddenLine>
            </a:ext>
          </a:extLst>
        </p:spPr>
        <p:txBody>
          <a:bodyPr vert="horz" wrap="square" lIns="63493" tIns="25397" rIns="63493" bIns="25397" rtlCol="0" anchor="t">
            <a:normAutofit/>
          </a:bodyPr>
          <a:lstStyle/>
          <a:p>
            <a:pPr marL="342900" indent="-342900">
              <a:spcBef>
                <a:spcPct val="0"/>
              </a:spcBef>
              <a:spcAft>
                <a:spcPts val="600"/>
              </a:spcAft>
              <a:buNone/>
              <a:tabLst>
                <a:tab pos="342900" algn="l"/>
                <a:tab pos="571500" algn="l"/>
              </a:tabLst>
            </a:pPr>
            <a:r>
              <a:rPr lang="en-US" altLang="en-US" sz="1800"/>
              <a:t>   1.	Requirements problems (omissions; changes, errors)</a:t>
            </a:r>
          </a:p>
          <a:p>
            <a:pPr marL="342900" indent="-342900">
              <a:lnSpc>
                <a:spcPct val="160000"/>
              </a:lnSpc>
              <a:spcBef>
                <a:spcPct val="0"/>
              </a:spcBef>
              <a:spcAft>
                <a:spcPts val="600"/>
              </a:spcAft>
              <a:buNone/>
              <a:tabLst>
                <a:tab pos="342900" algn="l"/>
                <a:tab pos="571500" algn="l"/>
              </a:tabLst>
            </a:pPr>
            <a:r>
              <a:rPr lang="en-US" altLang="en-US" sz="1800"/>
              <a:t>   2.	Design problems (omissions; changes; errors)  </a:t>
            </a:r>
          </a:p>
          <a:p>
            <a:pPr marL="342900" indent="-342900">
              <a:lnSpc>
                <a:spcPct val="150000"/>
              </a:lnSpc>
              <a:spcBef>
                <a:spcPct val="0"/>
              </a:spcBef>
              <a:spcAft>
                <a:spcPts val="600"/>
              </a:spcAft>
              <a:buNone/>
              <a:tabLst>
                <a:tab pos="342900" algn="l"/>
                <a:tab pos="571500" algn="l"/>
              </a:tabLst>
            </a:pPr>
            <a:r>
              <a:rPr lang="en-US" altLang="en-US" sz="1800"/>
              <a:t>   3.	Interface problems between modules</a:t>
            </a:r>
          </a:p>
          <a:p>
            <a:pPr marL="342900" indent="-342900">
              <a:lnSpc>
                <a:spcPct val="150000"/>
              </a:lnSpc>
              <a:spcBef>
                <a:spcPct val="0"/>
              </a:spcBef>
              <a:spcAft>
                <a:spcPts val="600"/>
              </a:spcAft>
              <a:buNone/>
              <a:tabLst>
                <a:tab pos="342900" algn="l"/>
                <a:tab pos="571500" algn="l"/>
              </a:tabLst>
            </a:pPr>
            <a:r>
              <a:rPr lang="en-US" altLang="en-US" sz="1800"/>
              <a:t>   4.	Logic, branching, and structural problems </a:t>
            </a:r>
          </a:p>
          <a:p>
            <a:pPr marL="342900" indent="-342900">
              <a:lnSpc>
                <a:spcPct val="150000"/>
              </a:lnSpc>
              <a:spcBef>
                <a:spcPct val="0"/>
              </a:spcBef>
              <a:spcAft>
                <a:spcPts val="600"/>
              </a:spcAft>
              <a:buNone/>
              <a:tabLst>
                <a:tab pos="342900" algn="l"/>
                <a:tab pos="571500" algn="l"/>
              </a:tabLst>
            </a:pPr>
            <a:r>
              <a:rPr lang="en-US" altLang="en-US" sz="1800"/>
              <a:t>   5.	Memory allocation problems</a:t>
            </a:r>
          </a:p>
          <a:p>
            <a:pPr marL="342900" indent="-342900">
              <a:lnSpc>
                <a:spcPct val="150000"/>
              </a:lnSpc>
              <a:spcBef>
                <a:spcPct val="0"/>
              </a:spcBef>
              <a:spcAft>
                <a:spcPts val="600"/>
              </a:spcAft>
              <a:buNone/>
              <a:tabLst>
                <a:tab pos="342900" algn="l"/>
                <a:tab pos="571500" algn="l"/>
              </a:tabLst>
            </a:pPr>
            <a:r>
              <a:rPr lang="en-US" altLang="en-US" sz="1800"/>
              <a:t>   6.	Testing omissions and poor coverage</a:t>
            </a:r>
          </a:p>
          <a:p>
            <a:pPr marL="342900" indent="-342900">
              <a:lnSpc>
                <a:spcPct val="150000"/>
              </a:lnSpc>
              <a:spcBef>
                <a:spcPct val="0"/>
              </a:spcBef>
              <a:spcAft>
                <a:spcPts val="600"/>
              </a:spcAft>
              <a:buNone/>
              <a:tabLst>
                <a:tab pos="342900" algn="l"/>
                <a:tab pos="571500" algn="l"/>
              </a:tabLst>
            </a:pPr>
            <a:r>
              <a:rPr lang="en-US" altLang="en-US" sz="1800"/>
              <a:t>   7.   Test case errors</a:t>
            </a:r>
          </a:p>
          <a:p>
            <a:pPr marL="342900" indent="-342900">
              <a:lnSpc>
                <a:spcPct val="150000"/>
              </a:lnSpc>
              <a:spcBef>
                <a:spcPct val="0"/>
              </a:spcBef>
              <a:spcAft>
                <a:spcPts val="600"/>
              </a:spcAft>
              <a:buNone/>
              <a:tabLst>
                <a:tab pos="342900" algn="l"/>
                <a:tab pos="571500" algn="l"/>
              </a:tabLst>
            </a:pPr>
            <a:r>
              <a:rPr lang="en-US" altLang="en-US" sz="1800"/>
              <a:t>   8.	Stress/performance problems</a:t>
            </a:r>
          </a:p>
          <a:p>
            <a:pPr marL="342900" indent="-342900">
              <a:lnSpc>
                <a:spcPct val="150000"/>
              </a:lnSpc>
              <a:spcBef>
                <a:spcPct val="0"/>
              </a:spcBef>
              <a:spcAft>
                <a:spcPts val="600"/>
              </a:spcAft>
              <a:buNone/>
              <a:tabLst>
                <a:tab pos="342900" algn="l"/>
                <a:tab pos="571500" algn="l"/>
              </a:tabLst>
            </a:pPr>
            <a:r>
              <a:rPr lang="en-US" altLang="en-US" sz="1800"/>
              <a:t>   9.	Bad fixes/Regressions</a:t>
            </a:r>
          </a:p>
          <a:p>
            <a:pPr marL="342900" indent="-342900">
              <a:lnSpc>
                <a:spcPct val="150000"/>
              </a:lnSpc>
              <a:spcBef>
                <a:spcPct val="0"/>
              </a:spcBef>
              <a:spcAft>
                <a:spcPts val="600"/>
              </a:spcAft>
              <a:buNone/>
              <a:tabLst>
                <a:tab pos="342900" algn="l"/>
                <a:tab pos="571500" algn="l"/>
              </a:tabLst>
            </a:pPr>
            <a:r>
              <a:rPr lang="en-US" altLang="en-US" sz="1800"/>
              <a:t> 10.	Documentation errors</a:t>
            </a:r>
          </a:p>
          <a:p>
            <a:pPr marL="342900" indent="-342900">
              <a:lnSpc>
                <a:spcPct val="150000"/>
              </a:lnSpc>
              <a:spcBef>
                <a:spcPct val="0"/>
              </a:spcBef>
              <a:spcAft>
                <a:spcPts val="600"/>
              </a:spcAft>
              <a:buNone/>
              <a:tabLst>
                <a:tab pos="342900" algn="l"/>
                <a:tab pos="571500" algn="l"/>
              </a:tabLst>
            </a:pPr>
            <a:endParaRPr lang="en-US" altLang="en-US" sz="1800"/>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8" name="Rectangle 2"/>
          <p:cNvSpPr>
            <a:spLocks noGrp="1" noChangeArrowheads="1"/>
          </p:cNvSpPr>
          <p:nvPr>
            <p:ph type="title"/>
          </p:nvPr>
        </p:nvSpPr>
        <p:spPr>
          <a:xfrm>
            <a:off x="1994263" y="377517"/>
            <a:ext cx="8229600" cy="1143000"/>
          </a:xfrm>
        </p:spPr>
        <p:txBody>
          <a:bodyPr/>
          <a:lstStyle/>
          <a:p>
            <a:r>
              <a:rPr lang="en-US" altLang="en-US" kern="1200" dirty="0">
                <a:latin typeface="+mj-lt"/>
                <a:ea typeface="+mj-ea"/>
                <a:cs typeface="+mj-cs"/>
              </a:rPr>
              <a:t>INDUSTRY-WIDE DEFECT CAUSES</a:t>
            </a:r>
            <a:endParaRPr lang="en-US" dirty="0">
              <a:latin typeface="Times New Roman" pitchFamily="18" charset="0"/>
            </a:endParaRPr>
          </a:p>
        </p:txBody>
      </p:sp>
      <p:sp>
        <p:nvSpPr>
          <p:cNvPr id="480259" name="Rectangle 3"/>
          <p:cNvSpPr>
            <a:spLocks noGrp="1" noChangeArrowheads="1"/>
          </p:cNvSpPr>
          <p:nvPr>
            <p:ph idx="1"/>
          </p:nvPr>
        </p:nvSpPr>
        <p:spPr/>
        <p:txBody>
          <a:bodyPr>
            <a:normAutofit fontScale="92500" lnSpcReduction="20000"/>
          </a:bodyPr>
          <a:lstStyle/>
          <a:p>
            <a:pPr>
              <a:buFontTx/>
              <a:buNone/>
            </a:pPr>
            <a:r>
              <a:rPr lang="en-US" dirty="0">
                <a:latin typeface="Times New Roman" pitchFamily="18" charset="0"/>
              </a:rPr>
              <a:t>Statistical analysis conducted by </a:t>
            </a:r>
            <a:r>
              <a:rPr lang="en-US" dirty="0" err="1">
                <a:latin typeface="Times New Roman" pitchFamily="18" charset="0"/>
              </a:rPr>
              <a:t>Lauesen</a:t>
            </a:r>
            <a:r>
              <a:rPr lang="en-US" dirty="0">
                <a:latin typeface="Times New Roman" pitchFamily="18" charset="0"/>
              </a:rPr>
              <a:t> and </a:t>
            </a:r>
            <a:r>
              <a:rPr lang="en-US" dirty="0" err="1">
                <a:latin typeface="Times New Roman" pitchFamily="18" charset="0"/>
              </a:rPr>
              <a:t>Vinter</a:t>
            </a:r>
            <a:r>
              <a:rPr lang="en-US" dirty="0">
                <a:latin typeface="Times New Roman" pitchFamily="18" charset="0"/>
              </a:rPr>
              <a:t> (for one project) reveals that out of 1000 defects:</a:t>
            </a:r>
          </a:p>
          <a:p>
            <a:r>
              <a:rPr lang="en-US" dirty="0">
                <a:latin typeface="Times New Roman" pitchFamily="18" charset="0"/>
              </a:rPr>
              <a:t>23.9 % requirement issues</a:t>
            </a:r>
          </a:p>
          <a:p>
            <a:r>
              <a:rPr lang="en-US" dirty="0">
                <a:latin typeface="Times New Roman" pitchFamily="18" charset="0"/>
              </a:rPr>
              <a:t>24.3 % functionality</a:t>
            </a:r>
          </a:p>
          <a:p>
            <a:r>
              <a:rPr lang="en-US" dirty="0">
                <a:latin typeface="Times New Roman" pitchFamily="18" charset="0"/>
              </a:rPr>
              <a:t>20.9% component structure</a:t>
            </a:r>
          </a:p>
          <a:p>
            <a:r>
              <a:rPr lang="en-US" dirty="0">
                <a:latin typeface="Times New Roman" pitchFamily="18" charset="0"/>
              </a:rPr>
              <a:t>9.6 % data</a:t>
            </a:r>
          </a:p>
          <a:p>
            <a:r>
              <a:rPr lang="en-US" dirty="0">
                <a:latin typeface="Times New Roman" pitchFamily="18" charset="0"/>
              </a:rPr>
              <a:t>4.3 % implementation</a:t>
            </a:r>
          </a:p>
          <a:p>
            <a:r>
              <a:rPr lang="en-US" dirty="0">
                <a:latin typeface="Times New Roman" pitchFamily="18" charset="0"/>
              </a:rPr>
              <a:t>5.2 % integration</a:t>
            </a:r>
          </a:p>
          <a:p>
            <a:r>
              <a:rPr lang="en-US" dirty="0">
                <a:latin typeface="Times New Roman" pitchFamily="18" charset="0"/>
              </a:rPr>
              <a:t>0.9 % architecture</a:t>
            </a:r>
          </a:p>
          <a:p>
            <a:r>
              <a:rPr lang="en-US" dirty="0">
                <a:latin typeface="Times New Roman" pitchFamily="18" charset="0"/>
              </a:rPr>
              <a:t>6.9 % testing</a:t>
            </a:r>
          </a:p>
          <a:p>
            <a:r>
              <a:rPr lang="en-US" dirty="0">
                <a:latin typeface="Times New Roman" pitchFamily="18" charset="0"/>
              </a:rPr>
              <a:t>4.3 % others</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89DB5D-6C50-4DAD-9D1D-83F3C19E74B0}"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p:cNvSpPr txBox="1"/>
          <p:nvPr/>
        </p:nvSpPr>
        <p:spPr>
          <a:xfrm>
            <a:off x="1935480" y="6257390"/>
            <a:ext cx="832104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prstClr val="black"/>
                </a:solidFill>
                <a:effectLst/>
                <a:uLnTx/>
                <a:uFillTx/>
                <a:latin typeface="Calibri" panose="020F0502020204030204"/>
                <a:ea typeface="+mn-ea"/>
                <a:cs typeface="+mn-cs"/>
              </a:rPr>
              <a:t>Lauesen</a:t>
            </a: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 S, </a:t>
            </a:r>
            <a:r>
              <a:rPr kumimoji="0" lang="en-US" sz="1200" b="0" i="0" u="none" strike="noStrike" kern="1200" cap="none" spc="0" normalizeH="0" baseline="0" noProof="0" dirty="0" err="1">
                <a:ln>
                  <a:noFill/>
                </a:ln>
                <a:solidFill>
                  <a:prstClr val="black"/>
                </a:solidFill>
                <a:effectLst/>
                <a:uLnTx/>
                <a:uFillTx/>
                <a:latin typeface="Calibri" panose="020F0502020204030204"/>
                <a:ea typeface="+mn-ea"/>
                <a:cs typeface="+mn-cs"/>
              </a:rPr>
              <a:t>Vinter</a:t>
            </a: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 O (2001) Preventing requirement defects: An experiment in process improvement. Requirements Engineering 6(1):37–50</a:t>
            </a:r>
          </a:p>
        </p:txBody>
      </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6464595"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Freeform: Shape 78">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546337"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050" name="Rectangle 2">
            <a:extLst>
              <a:ext uri="{FF2B5EF4-FFF2-40B4-BE49-F238E27FC236}">
                <a16:creationId xmlns:a16="http://schemas.microsoft.com/office/drawing/2014/main" id="{24E3326A-652C-48DB-8050-EE202C799D91}"/>
              </a:ext>
            </a:extLst>
          </p:cNvPr>
          <p:cNvSpPr>
            <a:spLocks noGrp="1" noChangeArrowheads="1"/>
          </p:cNvSpPr>
          <p:nvPr>
            <p:ph type="title"/>
          </p:nvPr>
        </p:nvSpPr>
        <p:spPr>
          <a:xfrm>
            <a:off x="804672" y="640263"/>
            <a:ext cx="5157216" cy="1344975"/>
          </a:xfrm>
        </p:spPr>
        <p:txBody>
          <a:bodyPr>
            <a:normAutofit/>
          </a:bodyPr>
          <a:lstStyle/>
          <a:p>
            <a:pPr eaLnBrk="1" hangingPunct="1"/>
            <a:r>
              <a:rPr lang="en-US" altLang="en-US" sz="4000">
                <a:latin typeface="Times New Roman" panose="02020603050405020304" pitchFamily="18" charset="0"/>
              </a:rPr>
              <a:t>Spoilage Metric</a:t>
            </a:r>
          </a:p>
        </p:txBody>
      </p:sp>
      <p:sp>
        <p:nvSpPr>
          <p:cNvPr id="130053" name="Rectangle 3">
            <a:extLst>
              <a:ext uri="{FF2B5EF4-FFF2-40B4-BE49-F238E27FC236}">
                <a16:creationId xmlns:a16="http://schemas.microsoft.com/office/drawing/2014/main" id="{70FE96E2-9129-4A00-A499-D74ED36CA03D}"/>
              </a:ext>
            </a:extLst>
          </p:cNvPr>
          <p:cNvSpPr>
            <a:spLocks noGrp="1" noChangeArrowheads="1"/>
          </p:cNvSpPr>
          <p:nvPr>
            <p:ph type="body" orient="vert" idx="4294967295"/>
          </p:nvPr>
        </p:nvSpPr>
        <p:spPr>
          <a:xfrm>
            <a:off x="804672" y="2121763"/>
            <a:ext cx="5157216" cy="3773010"/>
          </a:xfrm>
        </p:spPr>
        <p:txBody>
          <a:bodyPr>
            <a:normAutofit/>
          </a:bodyPr>
          <a:lstStyle/>
          <a:p>
            <a:pPr eaLnBrk="1" hangingPunct="1"/>
            <a:r>
              <a:rPr lang="en-US" altLang="en-US" sz="2000">
                <a:latin typeface="Times New Roman" panose="02020603050405020304" pitchFamily="18" charset="0"/>
              </a:rPr>
              <a:t>Defects are injected and removed at different phases of a software development cycle</a:t>
            </a:r>
          </a:p>
          <a:p>
            <a:pPr eaLnBrk="1" hangingPunct="1"/>
            <a:r>
              <a:rPr lang="en-US" altLang="en-US" sz="2000">
                <a:latin typeface="Times New Roman" panose="02020603050405020304" pitchFamily="18" charset="0"/>
              </a:rPr>
              <a:t>The cost of each defect injected in phase X and removed in phase Y increases with the increase in the distance between X and Y</a:t>
            </a:r>
          </a:p>
          <a:p>
            <a:pPr eaLnBrk="1" hangingPunct="1"/>
            <a:r>
              <a:rPr lang="en-US" altLang="en-US" sz="2000">
                <a:latin typeface="Times New Roman" panose="02020603050405020304" pitchFamily="18" charset="0"/>
              </a:rPr>
              <a:t>An effective testing method would find defects earlier than a less effective testing method would</a:t>
            </a:r>
          </a:p>
          <a:p>
            <a:pPr eaLnBrk="1" hangingPunct="1"/>
            <a:r>
              <a:rPr lang="en-US" altLang="en-US" sz="2000">
                <a:latin typeface="Times New Roman" panose="02020603050405020304" pitchFamily="18" charset="0"/>
              </a:rPr>
              <a:t>An useful  measure of test effectiveness is defect age, called PhAge</a:t>
            </a:r>
          </a:p>
          <a:p>
            <a:pPr eaLnBrk="1" hangingPunct="1"/>
            <a:endParaRPr lang="en-US" altLang="en-US" sz="2000">
              <a:latin typeface="Times New Roman" panose="02020603050405020304" pitchFamily="18" charset="0"/>
            </a:endParaRPr>
          </a:p>
        </p:txBody>
      </p:sp>
      <p:pic>
        <p:nvPicPr>
          <p:cNvPr id="130051" name="Picture 5" descr="phage">
            <a:extLst>
              <a:ext uri="{FF2B5EF4-FFF2-40B4-BE49-F238E27FC236}">
                <a16:creationId xmlns:a16="http://schemas.microsoft.com/office/drawing/2014/main" id="{049B6DCD-8265-47D4-9539-9285D7D97791}"/>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6969642" y="1678330"/>
            <a:ext cx="4736963" cy="3345891"/>
          </a:xfrm>
          <a:prstGeom prst="rect">
            <a:avLst/>
          </a:prstGeom>
        </p:spPr>
      </p:pic>
      <p:sp>
        <p:nvSpPr>
          <p:cNvPr id="130052" name="Rectangle 19">
            <a:extLst>
              <a:ext uri="{FF2B5EF4-FFF2-40B4-BE49-F238E27FC236}">
                <a16:creationId xmlns:a16="http://schemas.microsoft.com/office/drawing/2014/main" id="{A82C1D45-ACDB-4C7C-A097-AD4DFE8E5F6F}"/>
              </a:ext>
            </a:extLst>
          </p:cNvPr>
          <p:cNvSpPr>
            <a:spLocks noGrp="1" noChangeArrowheads="1"/>
          </p:cNvSpPr>
          <p:nvPr>
            <p:ph type="sldNum" sz="quarter" idx="12"/>
          </p:nvPr>
        </p:nvSpPr>
        <p:spPr bwMode="auto">
          <a:xfrm>
            <a:off x="10260418" y="6356350"/>
            <a:ext cx="1096429"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1EF7E039-9C33-433A-B16C-92004D976D76}" type="slidenum">
              <a:rPr kumimoji="0" lang="en-US" altLang="en-US" sz="1900" b="1" i="0" u="none" strike="noStrike" kern="1200" cap="none" spc="0" normalizeH="0" baseline="0" noProof="0">
                <a:ln>
                  <a:noFill/>
                </a:ln>
                <a:solidFill>
                  <a:prstClr val="black">
                    <a:alpha val="80000"/>
                  </a:prstClr>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14</a:t>
            </a:fld>
            <a:endParaRPr kumimoji="0" lang="en-US" altLang="en-US" sz="1900" b="1" i="0" u="none" strike="noStrike" kern="1200" cap="none" spc="0" normalizeH="0" baseline="0" noProof="0">
              <a:ln>
                <a:noFill/>
              </a:ln>
              <a:solidFill>
                <a:prstClr val="black">
                  <a:alpha val="80000"/>
                </a:prstClr>
              </a:solidFill>
              <a:effectLst/>
              <a:uLnTx/>
              <a:uFillTx/>
              <a:latin typeface="Times New Roman" panose="02020603050405020304" pitchFamily="18" charset="0"/>
              <a:ea typeface="+mn-ea"/>
              <a:cs typeface="+mn-cs"/>
            </a:endParaRPr>
          </a:p>
        </p:txBody>
      </p:sp>
    </p:spTree>
  </p:cSld>
  <p:clrMapOvr>
    <a:overrideClrMapping bg1="dk1" tx1="lt1" bg2="dk2" tx2="lt2" accent1="accent1" accent2="accent2" accent3="accent3" accent4="accent4" accent5="accent5" accent6="accent6" hlink="hlink" folHlink="folHlink"/>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2">
            <a:extLst>
              <a:ext uri="{FF2B5EF4-FFF2-40B4-BE49-F238E27FC236}">
                <a16:creationId xmlns:a16="http://schemas.microsoft.com/office/drawing/2014/main" id="{3036CBEA-0CB8-44FF-A8CD-4F15493513C4}"/>
              </a:ext>
            </a:extLst>
          </p:cNvPr>
          <p:cNvSpPr>
            <a:spLocks noGrp="1" noChangeArrowheads="1"/>
          </p:cNvSpPr>
          <p:nvPr>
            <p:ph type="title"/>
          </p:nvPr>
        </p:nvSpPr>
        <p:spPr>
          <a:xfrm>
            <a:off x="2020888" y="266700"/>
            <a:ext cx="8229600" cy="1143000"/>
          </a:xfrm>
        </p:spPr>
        <p:txBody>
          <a:bodyPr/>
          <a:lstStyle/>
          <a:p>
            <a:pPr eaLnBrk="1" hangingPunct="1"/>
            <a:r>
              <a:rPr lang="en-US" altLang="en-US">
                <a:latin typeface="Times New Roman" panose="02020603050405020304" pitchFamily="18" charset="0"/>
              </a:rPr>
              <a:t>Spoilage Metric</a:t>
            </a:r>
          </a:p>
        </p:txBody>
      </p:sp>
      <p:pic>
        <p:nvPicPr>
          <p:cNvPr id="132099" name="Picture 5" descr="boomerang">
            <a:extLst>
              <a:ext uri="{FF2B5EF4-FFF2-40B4-BE49-F238E27FC236}">
                <a16:creationId xmlns:a16="http://schemas.microsoft.com/office/drawing/2014/main" id="{F18CCE52-94DE-4758-ACED-39BFD2461FC4}"/>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168525" y="2894013"/>
            <a:ext cx="6442075" cy="3462337"/>
          </a:xfrm>
        </p:spPr>
      </p:pic>
      <p:sp>
        <p:nvSpPr>
          <p:cNvPr id="132100" name="Rectangle 19">
            <a:extLst>
              <a:ext uri="{FF2B5EF4-FFF2-40B4-BE49-F238E27FC236}">
                <a16:creationId xmlns:a16="http://schemas.microsoft.com/office/drawing/2014/main" id="{53C5FA97-F86A-46AB-BE30-11DC60A178F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37E2D22F-5FF2-49AA-AD2A-E475D5B8FE8A}" type="slidenum">
              <a:rPr kumimoji="0" lang="en-US" altLang="en-US" sz="1200" b="1" i="0" u="none" strike="noStrike" kern="1200" cap="none" spc="0" normalizeH="0" baseline="0" noProof="0">
                <a:ln>
                  <a:noFill/>
                </a:ln>
                <a:solidFill>
                  <a:srgbClr val="045C75"/>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altLang="en-US" sz="1200" b="1" i="0" u="none" strike="noStrike" kern="1200" cap="none" spc="0" normalizeH="0" baseline="0" noProof="0">
              <a:ln>
                <a:noFill/>
              </a:ln>
              <a:solidFill>
                <a:srgbClr val="045C75"/>
              </a:solidFill>
              <a:effectLst/>
              <a:uLnTx/>
              <a:uFillTx/>
              <a:latin typeface="Times New Roman" panose="02020603050405020304" pitchFamily="18" charset="0"/>
              <a:ea typeface="+mn-ea"/>
              <a:cs typeface="+mn-cs"/>
            </a:endParaRP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117AA26C-9E24-5C90-0CD2-DD4BA487ADEE}"/>
                  </a:ext>
                </a:extLst>
              </p:cNvPr>
              <p:cNvSpPr txBox="1"/>
              <p:nvPr/>
            </p:nvSpPr>
            <p:spPr>
              <a:xfrm>
                <a:off x="1941512" y="1409700"/>
                <a:ext cx="9329530" cy="1010085"/>
              </a:xfrm>
              <a:prstGeom prst="rect">
                <a:avLst/>
              </a:prstGeom>
              <a:noFill/>
            </p:spPr>
            <p:txBody>
              <a:bodyPr wrap="square" rtlCol="0">
                <a:spAutoFit/>
              </a:bodyPr>
              <a:lstStyle/>
              <a:p>
                <a:r>
                  <a:rPr lang="en-US" sz="2400" dirty="0"/>
                  <a:t>A new metric called spoilage is defined as</a:t>
                </a:r>
              </a:p>
              <a:p>
                <a:r>
                  <a:rPr lang="en-US" sz="2400" dirty="0"/>
                  <a:t>Spoilage = </a:t>
                </a:r>
                <a14:m>
                  <m:oMath xmlns:m="http://schemas.openxmlformats.org/officeDocument/2006/math">
                    <m:f>
                      <m:fPr>
                        <m:ctrlPr>
                          <a:rPr lang="en-US" sz="2400" i="1" smtClean="0">
                            <a:latin typeface="Cambria Math" panose="02040503050406030204" pitchFamily="18" charset="0"/>
                          </a:rPr>
                        </m:ctrlPr>
                      </m:fPr>
                      <m:num>
                        <m:nary>
                          <m:naryPr>
                            <m:chr m:val="∑"/>
                            <m:subHide m:val="on"/>
                            <m:supHide m:val="on"/>
                            <m:ctrlPr>
                              <a:rPr lang="en-US" sz="2400" i="1" smtClean="0">
                                <a:latin typeface="Cambria Math" panose="02040503050406030204" pitchFamily="18" charset="0"/>
                              </a:rPr>
                            </m:ctrlPr>
                          </m:naryPr>
                          <m:sub/>
                          <m:sup/>
                          <m:e>
                            <m:r>
                              <a:rPr lang="en-US" sz="2400" b="0" i="1" smtClean="0">
                                <a:latin typeface="Cambria Math" panose="02040503050406030204" pitchFamily="18" charset="0"/>
                              </a:rPr>
                              <m:t>(</m:t>
                            </m:r>
                            <m:r>
                              <m:rPr>
                                <m:sty m:val="p"/>
                              </m:rPr>
                              <a:rPr lang="en-US" sz="2400" b="0" i="1" smtClean="0">
                                <a:latin typeface="Cambria Math" panose="02040503050406030204" pitchFamily="18" charset="0"/>
                              </a:rPr>
                              <m:t>Number</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of</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Defects</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X</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Discovered</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PhAge</m:t>
                            </m:r>
                            <m:r>
                              <a:rPr lang="en-US" sz="2400" b="0" i="1" smtClean="0">
                                <a:latin typeface="Cambria Math" panose="02040503050406030204" pitchFamily="18" charset="0"/>
                              </a:rPr>
                              <m:t>)</m:t>
                            </m:r>
                          </m:e>
                        </m:nary>
                      </m:num>
                      <m:den>
                        <m:r>
                          <m:rPr>
                            <m:sty m:val="p"/>
                          </m:rPr>
                          <a:rPr lang="en-US" sz="2400" b="0" i="1" smtClean="0">
                            <a:latin typeface="Cambria Math" panose="02040503050406030204" pitchFamily="18" charset="0"/>
                          </a:rPr>
                          <m:t>Total</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Number</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of</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Defects</m:t>
                        </m:r>
                      </m:den>
                    </m:f>
                  </m:oMath>
                </a14:m>
                <a:endParaRPr lang="en-US" sz="2400" dirty="0"/>
              </a:p>
            </p:txBody>
          </p:sp>
        </mc:Choice>
        <mc:Fallback>
          <p:sp>
            <p:nvSpPr>
              <p:cNvPr id="2" name="TextBox 1">
                <a:extLst>
                  <a:ext uri="{FF2B5EF4-FFF2-40B4-BE49-F238E27FC236}">
                    <a16:creationId xmlns:a16="http://schemas.microsoft.com/office/drawing/2014/main" id="{117AA26C-9E24-5C90-0CD2-DD4BA487ADEE}"/>
                  </a:ext>
                </a:extLst>
              </p:cNvPr>
              <p:cNvSpPr txBox="1">
                <a:spLocks noRot="1" noChangeAspect="1" noMove="1" noResize="1" noEditPoints="1" noAdjustHandles="1" noChangeArrowheads="1" noChangeShapeType="1" noTextEdit="1"/>
              </p:cNvSpPr>
              <p:nvPr/>
            </p:nvSpPr>
            <p:spPr>
              <a:xfrm>
                <a:off x="1941512" y="1409700"/>
                <a:ext cx="9329530" cy="1010085"/>
              </a:xfrm>
              <a:prstGeom prst="rect">
                <a:avLst/>
              </a:prstGeom>
              <a:blipFill>
                <a:blip r:embed="rId4"/>
                <a:stretch>
                  <a:fillRect l="-951" t="-6173" b="-33333"/>
                </a:stretch>
              </a:blipFill>
            </p:spPr>
            <p:txBody>
              <a:bodyPr/>
              <a:lstStyle/>
              <a:p>
                <a:r>
                  <a:rPr lang="en-US">
                    <a:noFill/>
                  </a:rPr>
                  <a:t> </a:t>
                </a:r>
              </a:p>
            </p:txBody>
          </p:sp>
        </mc:Fallback>
      </mc:AlternateContent>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4146" name="Rectangle 2">
            <a:extLst>
              <a:ext uri="{FF2B5EF4-FFF2-40B4-BE49-F238E27FC236}">
                <a16:creationId xmlns:a16="http://schemas.microsoft.com/office/drawing/2014/main" id="{40D85182-4E93-43C2-889A-DD848638F423}"/>
              </a:ext>
            </a:extLst>
          </p:cNvPr>
          <p:cNvSpPr>
            <a:spLocks noGrp="1" noChangeArrowheads="1"/>
          </p:cNvSpPr>
          <p:nvPr>
            <p:ph type="title"/>
          </p:nvPr>
        </p:nvSpPr>
        <p:spPr>
          <a:xfrm>
            <a:off x="630936" y="639520"/>
            <a:ext cx="3429000" cy="1719072"/>
          </a:xfrm>
        </p:spPr>
        <p:txBody>
          <a:bodyPr vert="horz" lIns="91440" tIns="45720" rIns="91440" bIns="45720" rtlCol="0" anchor="b">
            <a:normAutofit/>
          </a:bodyPr>
          <a:lstStyle/>
          <a:p>
            <a:r>
              <a:rPr lang="en-US" altLang="en-US" sz="5400" kern="1200">
                <a:solidFill>
                  <a:schemeClr val="tx1"/>
                </a:solidFill>
                <a:latin typeface="+mj-lt"/>
                <a:ea typeface="+mj-ea"/>
                <a:cs typeface="+mj-cs"/>
              </a:rPr>
              <a:t>Spoilage Metric</a:t>
            </a:r>
          </a:p>
        </p:txBody>
      </p:sp>
      <p:sp>
        <p:nvSpPr>
          <p:cNvPr id="76"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34147" name="Picture 5" descr="boomerangspoilage">
            <a:extLst>
              <a:ext uri="{FF2B5EF4-FFF2-40B4-BE49-F238E27FC236}">
                <a16:creationId xmlns:a16="http://schemas.microsoft.com/office/drawing/2014/main" id="{3B9C00D3-9E5A-4234-ABC1-17A0C380EC48}"/>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4654296" y="1562310"/>
            <a:ext cx="6903720" cy="3733379"/>
          </a:xfrm>
          <a:prstGeom prst="rect">
            <a:avLst/>
          </a:prstGeom>
        </p:spPr>
      </p:pic>
      <p:sp>
        <p:nvSpPr>
          <p:cNvPr id="134148" name="Rectangle 19">
            <a:extLst>
              <a:ext uri="{FF2B5EF4-FFF2-40B4-BE49-F238E27FC236}">
                <a16:creationId xmlns:a16="http://schemas.microsoft.com/office/drawing/2014/main" id="{598B8915-72D0-4717-AEAB-477A7E99A4E3}"/>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numCol="1" rtlCol="0" anchor="ctr"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D8342C5A-9257-4A47-8B8D-A7E6D3800882}" type="slidenum">
              <a:rPr kumimoji="0" lang="en-US" altLang="en-US" sz="1200" b="1"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altLang="en-US" sz="1200" b="1"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Freeform: Shape 76">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194" name="Rectangle 2">
            <a:extLst>
              <a:ext uri="{FF2B5EF4-FFF2-40B4-BE49-F238E27FC236}">
                <a16:creationId xmlns:a16="http://schemas.microsoft.com/office/drawing/2014/main" id="{118635E0-F78C-4713-8DF9-57EB033891CC}"/>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Spoilage Metric</a:t>
            </a:r>
          </a:p>
        </p:txBody>
      </p:sp>
      <p:sp>
        <p:nvSpPr>
          <p:cNvPr id="136195" name="Rectangle 3">
            <a:extLst>
              <a:ext uri="{FF2B5EF4-FFF2-40B4-BE49-F238E27FC236}">
                <a16:creationId xmlns:a16="http://schemas.microsoft.com/office/drawing/2014/main" id="{445E1CE3-DF0B-4A07-9516-FF4126F940A8}"/>
              </a:ext>
            </a:extLst>
          </p:cNvPr>
          <p:cNvSpPr>
            <a:spLocks noGrp="1" noChangeArrowheads="1"/>
          </p:cNvSpPr>
          <p:nvPr>
            <p:ph idx="1"/>
          </p:nvPr>
        </p:nvSpPr>
        <p:spPr>
          <a:xfrm>
            <a:off x="5358384" y="640081"/>
            <a:ext cx="6024654" cy="5257800"/>
          </a:xfrm>
        </p:spPr>
        <p:txBody>
          <a:bodyPr anchor="ctr">
            <a:normAutofit/>
          </a:bodyPr>
          <a:lstStyle/>
          <a:p>
            <a:pPr eaLnBrk="1" hangingPunct="1"/>
            <a:r>
              <a:rPr lang="en-US" altLang="en-US" sz="2400">
                <a:latin typeface="Times New Roman" panose="02020603050405020304" pitchFamily="18" charset="0"/>
              </a:rPr>
              <a:t>The spoilage value for the Boomerang test project is 2.2</a:t>
            </a:r>
          </a:p>
          <a:p>
            <a:pPr eaLnBrk="1" hangingPunct="1"/>
            <a:r>
              <a:rPr lang="en-US" altLang="en-US" sz="2400">
                <a:latin typeface="Times New Roman" panose="02020603050405020304" pitchFamily="18" charset="0"/>
              </a:rPr>
              <a:t>A spoilage value close to 1 is an indication of a more effective defect discovery process</a:t>
            </a:r>
          </a:p>
          <a:p>
            <a:pPr eaLnBrk="1" hangingPunct="1"/>
            <a:r>
              <a:rPr lang="en-US" altLang="en-US" sz="2400">
                <a:latin typeface="Times New Roman" panose="02020603050405020304" pitchFamily="18" charset="0"/>
              </a:rPr>
              <a:t>As an absolute value, the spoilage metric has little meaning</a:t>
            </a:r>
          </a:p>
          <a:p>
            <a:pPr eaLnBrk="1" hangingPunct="1"/>
            <a:r>
              <a:rPr lang="en-US" altLang="en-US" sz="2400">
                <a:latin typeface="Times New Roman" panose="02020603050405020304" pitchFamily="18" charset="0"/>
              </a:rPr>
              <a:t>This metric is useful in measuring the long-term trend of test effectiveness in an organization</a:t>
            </a:r>
          </a:p>
          <a:p>
            <a:pPr eaLnBrk="1" hangingPunct="1"/>
            <a:endParaRPr lang="en-US" altLang="en-US" sz="2400">
              <a:latin typeface="Times New Roman" panose="02020603050405020304" pitchFamily="18" charset="0"/>
            </a:endParaRPr>
          </a:p>
        </p:txBody>
      </p:sp>
      <p:sp>
        <p:nvSpPr>
          <p:cNvPr id="136196" name="Rectangle 19">
            <a:extLst>
              <a:ext uri="{FF2B5EF4-FFF2-40B4-BE49-F238E27FC236}">
                <a16:creationId xmlns:a16="http://schemas.microsoft.com/office/drawing/2014/main" id="{3F3D1B51-0A70-4948-A5BF-F7FFE3D2C7F1}"/>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9422DB19-21C6-44E8-8298-0D8537C28FBC}" type="slidenum">
              <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17</a:t>
            </a:fld>
            <a:endPar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descr="Pile of books with an apple on top">
            <a:extLst>
              <a:ext uri="{FF2B5EF4-FFF2-40B4-BE49-F238E27FC236}">
                <a16:creationId xmlns:a16="http://schemas.microsoft.com/office/drawing/2014/main" id="{D85F5276-F58B-DADC-EA5B-68554D754D5A}"/>
              </a:ext>
            </a:extLst>
          </p:cNvPr>
          <p:cNvPicPr>
            <a:picLocks noChangeAspect="1"/>
          </p:cNvPicPr>
          <p:nvPr/>
        </p:nvPicPr>
        <p:blipFill rotWithShape="1">
          <a:blip r:embed="rId2"/>
          <a:srcRect t="12406" b="12595"/>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30B41E0-049F-9ED1-8C20-EE17DEFA383A}"/>
              </a:ext>
            </a:extLst>
          </p:cNvPr>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	TEST YOUR KNOWLEDGE</a:t>
            </a:r>
          </a:p>
        </p:txBody>
      </p:sp>
    </p:spTree>
    <p:extLst>
      <p:ext uri="{BB962C8B-B14F-4D97-AF65-F5344CB8AC3E}">
        <p14:creationId xmlns:p14="http://schemas.microsoft.com/office/powerpoint/2010/main" val="15766398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C2B3599-7525-687A-56AC-3736311AE6E1}"/>
              </a:ext>
            </a:extLst>
          </p:cNvPr>
          <p:cNvPicPr>
            <a:picLocks noGrp="1" noChangeAspect="1"/>
          </p:cNvPicPr>
          <p:nvPr>
            <p:ph idx="1"/>
          </p:nvPr>
        </p:nvPicPr>
        <p:blipFill>
          <a:blip r:embed="rId2"/>
          <a:stretch>
            <a:fillRect/>
          </a:stretch>
        </p:blipFill>
        <p:spPr>
          <a:xfrm>
            <a:off x="643467" y="1861396"/>
            <a:ext cx="10905066" cy="3135206"/>
          </a:xfrm>
          <a:prstGeom prst="rect">
            <a:avLst/>
          </a:prstGeom>
        </p:spPr>
      </p:pic>
    </p:spTree>
    <p:extLst>
      <p:ext uri="{BB962C8B-B14F-4D97-AF65-F5344CB8AC3E}">
        <p14:creationId xmlns:p14="http://schemas.microsoft.com/office/powerpoint/2010/main" val="26637348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DC8659A-F8E8-49BA-29F9-A85B8A22A764}"/>
              </a:ext>
            </a:extLst>
          </p:cNvPr>
          <p:cNvPicPr>
            <a:picLocks noGrp="1" noChangeAspect="1"/>
          </p:cNvPicPr>
          <p:nvPr>
            <p:ph idx="1"/>
          </p:nvPr>
        </p:nvPicPr>
        <p:blipFill rotWithShape="1">
          <a:blip r:embed="rId2"/>
          <a:srcRect t="45405" r="12847" b="1"/>
          <a:stretch>
            <a:fillRect/>
          </a:stretch>
        </p:blipFill>
        <p:spPr>
          <a:xfrm>
            <a:off x="856414" y="3193278"/>
            <a:ext cx="10081154" cy="2792583"/>
          </a:xfrm>
          <a:prstGeom prst="rect">
            <a:avLst/>
          </a:prstGeom>
        </p:spPr>
      </p:pic>
      <p:cxnSp>
        <p:nvCxnSpPr>
          <p:cNvPr id="10" name="Straight Connector 9">
            <a:extLst>
              <a:ext uri="{FF2B5EF4-FFF2-40B4-BE49-F238E27FC236}">
                <a16:creationId xmlns:a16="http://schemas.microsoft.com/office/drawing/2014/main" id="{1D2C85F1-A25E-ACF0-F435-AF8D6EFBDCF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335585" y="871147"/>
            <a:ext cx="0" cy="5114714"/>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A02895DA-C3D9-C217-0DA6-E3124275024B}"/>
              </a:ext>
            </a:extLst>
          </p:cNvPr>
          <p:cNvSpPr txBox="1"/>
          <p:nvPr/>
        </p:nvSpPr>
        <p:spPr>
          <a:xfrm>
            <a:off x="1113181" y="1614245"/>
            <a:ext cx="9824385" cy="1200329"/>
          </a:xfrm>
          <a:prstGeom prst="rect">
            <a:avLst/>
          </a:prstGeom>
          <a:noFill/>
        </p:spPr>
        <p:txBody>
          <a:bodyPr wrap="square">
            <a:spAutoFit/>
          </a:bodyPr>
          <a:lstStyle/>
          <a:p>
            <a:pPr>
              <a:buNone/>
            </a:pPr>
            <a:r>
              <a:rPr lang="en-US" dirty="0"/>
              <a:t>A software product is in its fourth release. The current testing process is completely manual. Senior engineers are assigned to test the new functionality of a release, and junior testers are assigned the task of manually conducting regression tests. Which of the following arguments do not support a case for </a:t>
            </a:r>
            <a:r>
              <a:rPr lang="en-US" b="1" dirty="0"/>
              <a:t>automating the regression test cases</a:t>
            </a:r>
            <a:r>
              <a:rPr lang="en-US" dirty="0"/>
              <a:t>?</a:t>
            </a:r>
          </a:p>
        </p:txBody>
      </p:sp>
    </p:spTree>
    <p:extLst>
      <p:ext uri="{BB962C8B-B14F-4D97-AF65-F5344CB8AC3E}">
        <p14:creationId xmlns:p14="http://schemas.microsoft.com/office/powerpoint/2010/main" val="310154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9" name="Rectangle 307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074" name="Picture 2">
            <a:extLst>
              <a:ext uri="{FF2B5EF4-FFF2-40B4-BE49-F238E27FC236}">
                <a16:creationId xmlns:a16="http://schemas.microsoft.com/office/drawing/2014/main" id="{3BE90F45-A2B6-F6F8-9A85-2D633F4DCC4F}"/>
              </a:ext>
            </a:extLst>
          </p:cNvPr>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b="19"/>
          <a:stretch/>
        </p:blipFill>
        <p:spPr bwMode="auto">
          <a:xfrm>
            <a:off x="20" y="1282"/>
            <a:ext cx="12191980" cy="68567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10957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58367-CE31-584C-8287-DAB30BB740E5}"/>
              </a:ext>
            </a:extLst>
          </p:cNvPr>
          <p:cNvSpPr>
            <a:spLocks noGrp="1"/>
          </p:cNvSpPr>
          <p:nvPr>
            <p:ph type="title"/>
          </p:nvPr>
        </p:nvSpPr>
        <p:spPr/>
        <p:txBody>
          <a:bodyPr/>
          <a:lstStyle/>
          <a:p>
            <a:r>
              <a:rPr lang="en-US" dirty="0"/>
              <a:t>Risk Management</a:t>
            </a:r>
          </a:p>
        </p:txBody>
      </p:sp>
      <p:sp>
        <p:nvSpPr>
          <p:cNvPr id="3" name="Content Placeholder 2">
            <a:extLst>
              <a:ext uri="{FF2B5EF4-FFF2-40B4-BE49-F238E27FC236}">
                <a16:creationId xmlns:a16="http://schemas.microsoft.com/office/drawing/2014/main" id="{FDC821F7-AEFB-EE4A-BF02-B34510AA0D71}"/>
              </a:ext>
            </a:extLst>
          </p:cNvPr>
          <p:cNvSpPr>
            <a:spLocks noGrp="1"/>
          </p:cNvSpPr>
          <p:nvPr>
            <p:ph idx="1"/>
          </p:nvPr>
        </p:nvSpPr>
        <p:spPr>
          <a:xfrm>
            <a:off x="1069848" y="2121408"/>
            <a:ext cx="6291651" cy="4050792"/>
          </a:xfrm>
        </p:spPr>
        <p:txBody>
          <a:bodyPr>
            <a:normAutofit fontScale="92500"/>
          </a:bodyPr>
          <a:lstStyle/>
          <a:p>
            <a:r>
              <a:rPr lang="en-GB" b="1" dirty="0">
                <a:solidFill>
                  <a:srgbClr val="7030A0"/>
                </a:solidFill>
              </a:rPr>
              <a:t>Risk management </a:t>
            </a:r>
            <a:r>
              <a:rPr lang="en-GB" dirty="0"/>
              <a:t>is concerned with identifying risks and drawing up plans to avoid/minimize their impact on a project.</a:t>
            </a:r>
          </a:p>
          <a:p>
            <a:r>
              <a:rPr lang="en-GB" dirty="0"/>
              <a:t>You need to be able to </a:t>
            </a:r>
            <a:r>
              <a:rPr lang="en-GB" dirty="0">
                <a:solidFill>
                  <a:srgbClr val="FC631C"/>
                </a:solidFill>
              </a:rPr>
              <a:t>anticipate risks</a:t>
            </a:r>
            <a:r>
              <a:rPr lang="en-GB" dirty="0"/>
              <a:t>, </a:t>
            </a:r>
            <a:r>
              <a:rPr lang="en-GB" dirty="0">
                <a:solidFill>
                  <a:srgbClr val="FC631C"/>
                </a:solidFill>
              </a:rPr>
              <a:t>understand the impact</a:t>
            </a:r>
            <a:r>
              <a:rPr lang="en-GB" dirty="0">
                <a:solidFill>
                  <a:srgbClr val="0070C0"/>
                </a:solidFill>
              </a:rPr>
              <a:t> </a:t>
            </a:r>
            <a:r>
              <a:rPr lang="en-GB" dirty="0"/>
              <a:t>of these risks on the project, and </a:t>
            </a:r>
            <a:r>
              <a:rPr lang="en-GB" dirty="0">
                <a:solidFill>
                  <a:srgbClr val="FC631C"/>
                </a:solidFill>
              </a:rPr>
              <a:t>take steps to avoid these risks</a:t>
            </a:r>
            <a:r>
              <a:rPr lang="en-GB" dirty="0"/>
              <a:t>. </a:t>
            </a:r>
          </a:p>
          <a:p>
            <a:endParaRPr lang="en-US" dirty="0"/>
          </a:p>
        </p:txBody>
      </p:sp>
      <p:sp>
        <p:nvSpPr>
          <p:cNvPr id="4" name="Slide Number Placeholder 3">
            <a:extLst>
              <a:ext uri="{FF2B5EF4-FFF2-40B4-BE49-F238E27FC236}">
                <a16:creationId xmlns:a16="http://schemas.microsoft.com/office/drawing/2014/main" id="{85070CB1-3420-224B-A05F-16AA645EA3B1}"/>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1028" name="Picture 4" descr="Risk Management Logo png download - 880*726 - Free Transparent Risk  Management png Download. - CleanPNG / KissPNG">
            <a:extLst>
              <a:ext uri="{FF2B5EF4-FFF2-40B4-BE49-F238E27FC236}">
                <a16:creationId xmlns:a16="http://schemas.microsoft.com/office/drawing/2014/main" id="{9381CDF0-56ED-3A49-B99A-25B3FD265D12}"/>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rightnessContrast bright="20000" contrast="40000"/>
                    </a14:imgEffect>
                  </a14:imgLayer>
                </a14:imgProps>
              </a:ext>
              <a:ext uri="{28A0092B-C50C-407E-A947-70E740481C1C}">
                <a14:useLocalDpi xmlns:a14="http://schemas.microsoft.com/office/drawing/2010/main" val="0"/>
              </a:ext>
            </a:extLst>
          </a:blip>
          <a:srcRect/>
          <a:stretch>
            <a:fillRect/>
          </a:stretch>
        </p:blipFill>
        <p:spPr bwMode="auto">
          <a:xfrm>
            <a:off x="7466261" y="1920274"/>
            <a:ext cx="4484947" cy="36876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3154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33CAA-8FF0-8043-8BB6-ED2078AB4C47}"/>
              </a:ext>
            </a:extLst>
          </p:cNvPr>
          <p:cNvSpPr>
            <a:spLocks noGrp="1"/>
          </p:cNvSpPr>
          <p:nvPr>
            <p:ph type="title"/>
          </p:nvPr>
        </p:nvSpPr>
        <p:spPr/>
        <p:txBody>
          <a:bodyPr/>
          <a:lstStyle/>
          <a:p>
            <a:r>
              <a:rPr lang="en-US" dirty="0"/>
              <a:t>Risk Management</a:t>
            </a:r>
          </a:p>
        </p:txBody>
      </p:sp>
      <p:sp>
        <p:nvSpPr>
          <p:cNvPr id="3" name="Content Placeholder 2">
            <a:extLst>
              <a:ext uri="{FF2B5EF4-FFF2-40B4-BE49-F238E27FC236}">
                <a16:creationId xmlns:a16="http://schemas.microsoft.com/office/drawing/2014/main" id="{C7410DF4-ABC5-D249-BDF6-6A1E31F0B0BA}"/>
              </a:ext>
            </a:extLst>
          </p:cNvPr>
          <p:cNvSpPr>
            <a:spLocks noGrp="1"/>
          </p:cNvSpPr>
          <p:nvPr>
            <p:ph idx="1"/>
          </p:nvPr>
        </p:nvSpPr>
        <p:spPr/>
        <p:txBody>
          <a:bodyPr>
            <a:normAutofit/>
          </a:bodyPr>
          <a:lstStyle/>
          <a:p>
            <a:r>
              <a:rPr lang="en-GB" dirty="0"/>
              <a:t>Risk management is important because of the inherent </a:t>
            </a:r>
            <a:r>
              <a:rPr lang="en-GB" dirty="0">
                <a:solidFill>
                  <a:srgbClr val="FF0000"/>
                </a:solidFill>
              </a:rPr>
              <a:t>uncertainties</a:t>
            </a:r>
            <a:r>
              <a:rPr lang="en-GB" dirty="0"/>
              <a:t> in software development. </a:t>
            </a:r>
          </a:p>
          <a:p>
            <a:pPr marL="0" indent="0">
              <a:buNone/>
            </a:pPr>
            <a:br>
              <a:rPr lang="en-US" i="1" dirty="0">
                <a:solidFill>
                  <a:srgbClr val="0070C0"/>
                </a:solidFill>
              </a:rPr>
            </a:br>
            <a:endParaRPr lang="en-US" i="1" dirty="0">
              <a:solidFill>
                <a:srgbClr val="0070C0"/>
              </a:solidFill>
            </a:endParaRPr>
          </a:p>
          <a:p>
            <a:pPr marL="0" indent="0" algn="ctr">
              <a:buNone/>
            </a:pPr>
            <a:r>
              <a:rPr lang="en-US" i="1" dirty="0">
                <a:solidFill>
                  <a:srgbClr val="0070C0"/>
                </a:solidFill>
              </a:rPr>
              <a:t>Where do </a:t>
            </a:r>
            <a:r>
              <a:rPr lang="en-GB" i="1" dirty="0">
                <a:solidFill>
                  <a:srgbClr val="0070C0"/>
                </a:solidFill>
              </a:rPr>
              <a:t>uncertainties in software development stem from?</a:t>
            </a:r>
          </a:p>
          <a:p>
            <a:pPr marL="0" indent="0">
              <a:buNone/>
            </a:pPr>
            <a:endParaRPr lang="en-US" i="1" dirty="0">
              <a:solidFill>
                <a:srgbClr val="0070C0"/>
              </a:solidFill>
            </a:endParaRPr>
          </a:p>
        </p:txBody>
      </p:sp>
      <p:sp>
        <p:nvSpPr>
          <p:cNvPr id="4" name="Slide Number Placeholder 3">
            <a:extLst>
              <a:ext uri="{FF2B5EF4-FFF2-40B4-BE49-F238E27FC236}">
                <a16:creationId xmlns:a16="http://schemas.microsoft.com/office/drawing/2014/main" id="{1681B224-80F4-8841-9B4F-93A47F87CE9A}"/>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90180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20CFB-8785-7C46-87F1-2D66020A1427}"/>
              </a:ext>
            </a:extLst>
          </p:cNvPr>
          <p:cNvSpPr>
            <a:spLocks noGrp="1"/>
          </p:cNvSpPr>
          <p:nvPr>
            <p:ph type="title"/>
          </p:nvPr>
        </p:nvSpPr>
        <p:spPr/>
        <p:txBody>
          <a:bodyPr/>
          <a:lstStyle/>
          <a:p>
            <a:r>
              <a:rPr lang="en-US" dirty="0"/>
              <a:t>Risk Classification</a:t>
            </a:r>
          </a:p>
        </p:txBody>
      </p:sp>
      <p:sp>
        <p:nvSpPr>
          <p:cNvPr id="3" name="Content Placeholder 2">
            <a:extLst>
              <a:ext uri="{FF2B5EF4-FFF2-40B4-BE49-F238E27FC236}">
                <a16:creationId xmlns:a16="http://schemas.microsoft.com/office/drawing/2014/main" id="{CE3917BA-DAB8-794D-85D0-72AEC19FA82B}"/>
              </a:ext>
            </a:extLst>
          </p:cNvPr>
          <p:cNvSpPr>
            <a:spLocks noGrp="1"/>
          </p:cNvSpPr>
          <p:nvPr>
            <p:ph idx="1"/>
          </p:nvPr>
        </p:nvSpPr>
        <p:spPr>
          <a:xfrm>
            <a:off x="1069848" y="2121407"/>
            <a:ext cx="10058400" cy="4516501"/>
          </a:xfrm>
        </p:spPr>
        <p:txBody>
          <a:bodyPr>
            <a:normAutofit fontScale="92500" lnSpcReduction="20000"/>
          </a:bodyPr>
          <a:lstStyle/>
          <a:p>
            <a:r>
              <a:rPr lang="en-GB" dirty="0"/>
              <a:t>There are two dimensions for risk classification:</a:t>
            </a:r>
          </a:p>
          <a:p>
            <a:pPr lvl="1">
              <a:buFont typeface="Courier New" panose="02070309020205020404" pitchFamily="49" charset="0"/>
              <a:buChar char="o"/>
            </a:pPr>
            <a:r>
              <a:rPr lang="en-GB" dirty="0"/>
              <a:t>The </a:t>
            </a:r>
            <a:r>
              <a:rPr lang="en-GB" dirty="0">
                <a:solidFill>
                  <a:srgbClr val="FC631C"/>
                </a:solidFill>
              </a:rPr>
              <a:t>type of risk</a:t>
            </a:r>
            <a:endParaRPr lang="en-GB" dirty="0"/>
          </a:p>
          <a:p>
            <a:pPr lvl="1">
              <a:buFont typeface="Courier New" panose="02070309020205020404" pitchFamily="49" charset="0"/>
              <a:buChar char="o"/>
            </a:pPr>
            <a:r>
              <a:rPr lang="en-GB" dirty="0"/>
              <a:t>The </a:t>
            </a:r>
            <a:r>
              <a:rPr lang="en-GB" dirty="0">
                <a:solidFill>
                  <a:srgbClr val="FC631C"/>
                </a:solidFill>
              </a:rPr>
              <a:t>components affected</a:t>
            </a:r>
            <a:r>
              <a:rPr lang="en-GB" dirty="0"/>
              <a:t> by the risk</a:t>
            </a:r>
          </a:p>
          <a:p>
            <a:pPr marL="17463" indent="0">
              <a:buNone/>
            </a:pPr>
            <a:br>
              <a:rPr lang="en-GB" sz="3200" b="1" i="1" dirty="0">
                <a:solidFill>
                  <a:srgbClr val="FF0000"/>
                </a:solidFill>
              </a:rPr>
            </a:br>
            <a:r>
              <a:rPr lang="en-GB" sz="3200" b="1" i="1" dirty="0">
                <a:solidFill>
                  <a:srgbClr val="FF0000"/>
                </a:solidFill>
              </a:rPr>
              <a:t>1) Project risks</a:t>
            </a:r>
            <a:endParaRPr lang="en-GB" sz="3200" b="1" i="1" dirty="0">
              <a:solidFill>
                <a:srgbClr val="0070C0"/>
              </a:solidFill>
            </a:endParaRPr>
          </a:p>
          <a:p>
            <a:pPr lvl="2">
              <a:buFont typeface="Arial" panose="020B0604020202020204" pitchFamily="34" charset="0"/>
              <a:buChar char="•"/>
            </a:pPr>
            <a:r>
              <a:rPr lang="en-GB" sz="3000" dirty="0"/>
              <a:t>Schedule or resources</a:t>
            </a:r>
            <a:endParaRPr lang="en-GB" sz="3000" i="1" dirty="0">
              <a:solidFill>
                <a:srgbClr val="0070C0"/>
              </a:solidFill>
            </a:endParaRPr>
          </a:p>
          <a:p>
            <a:pPr marL="17463" indent="0">
              <a:buNone/>
            </a:pPr>
            <a:r>
              <a:rPr lang="en-GB" sz="3200" b="1" i="1" dirty="0">
                <a:solidFill>
                  <a:srgbClr val="FF0000"/>
                </a:solidFill>
              </a:rPr>
              <a:t>2) Product risks</a:t>
            </a:r>
            <a:endParaRPr lang="en-GB" sz="3200" b="1" i="1" dirty="0">
              <a:solidFill>
                <a:srgbClr val="0070C0"/>
              </a:solidFill>
            </a:endParaRPr>
          </a:p>
          <a:p>
            <a:pPr lvl="2">
              <a:buFont typeface="Arial" panose="020B0604020202020204" pitchFamily="34" charset="0"/>
              <a:buChar char="•"/>
            </a:pPr>
            <a:r>
              <a:rPr lang="en-GB" sz="3000" dirty="0"/>
              <a:t>The quality or performance of the software being developed</a:t>
            </a:r>
            <a:endParaRPr lang="en-GB" sz="3000" i="1" dirty="0">
              <a:solidFill>
                <a:srgbClr val="0070C0"/>
              </a:solidFill>
            </a:endParaRPr>
          </a:p>
          <a:p>
            <a:pPr marL="17463" indent="0">
              <a:buNone/>
            </a:pPr>
            <a:r>
              <a:rPr lang="en-GB" sz="3200" b="1" i="1" dirty="0">
                <a:solidFill>
                  <a:srgbClr val="FF0000"/>
                </a:solidFill>
              </a:rPr>
              <a:t>3) Business risks</a:t>
            </a:r>
            <a:endParaRPr lang="en-GB" sz="3200" b="1" i="1" dirty="0">
              <a:solidFill>
                <a:srgbClr val="0070C0"/>
              </a:solidFill>
            </a:endParaRPr>
          </a:p>
          <a:p>
            <a:pPr lvl="2">
              <a:buFont typeface="Arial" panose="020B0604020202020204" pitchFamily="34" charset="0"/>
              <a:buChar char="•"/>
            </a:pPr>
            <a:r>
              <a:rPr lang="en-GB" sz="3000" dirty="0"/>
              <a:t>The organization developing or obtaining the software</a:t>
            </a:r>
            <a:endParaRPr lang="en-US" sz="3000" dirty="0"/>
          </a:p>
        </p:txBody>
      </p:sp>
      <p:sp>
        <p:nvSpPr>
          <p:cNvPr id="4" name="Slide Number Placeholder 3">
            <a:extLst>
              <a:ext uri="{FF2B5EF4-FFF2-40B4-BE49-F238E27FC236}">
                <a16:creationId xmlns:a16="http://schemas.microsoft.com/office/drawing/2014/main" id="{71D733DA-D524-2849-9D71-58F1D136B675}"/>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2050" name="Picture 2" descr="Blue logo, Computer Icons Risk assessment Risk management Business, risk,  company, service, people png | PNGWing">
            <a:extLst>
              <a:ext uri="{FF2B5EF4-FFF2-40B4-BE49-F238E27FC236}">
                <a16:creationId xmlns:a16="http://schemas.microsoft.com/office/drawing/2014/main" id="{35D91D56-AFEB-FF4D-8748-D243D6356B50}"/>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val="0"/>
              </a:ext>
            </a:extLst>
          </a:blip>
          <a:srcRect l="23418" r="24117"/>
          <a:stretch/>
        </p:blipFill>
        <p:spPr bwMode="auto">
          <a:xfrm>
            <a:off x="8810421" y="2514432"/>
            <a:ext cx="2090058" cy="22170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387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08D4A-C09D-BB45-9F1E-A40926FE4480}"/>
              </a:ext>
            </a:extLst>
          </p:cNvPr>
          <p:cNvSpPr>
            <a:spLocks noGrp="1"/>
          </p:cNvSpPr>
          <p:nvPr>
            <p:ph type="title"/>
          </p:nvPr>
        </p:nvSpPr>
        <p:spPr/>
        <p:txBody>
          <a:bodyPr/>
          <a:lstStyle/>
          <a:p>
            <a:r>
              <a:rPr lang="en-US" dirty="0"/>
              <a:t>Examples of risks</a:t>
            </a:r>
          </a:p>
        </p:txBody>
      </p:sp>
      <p:sp>
        <p:nvSpPr>
          <p:cNvPr id="4" name="Slide Number Placeholder 3">
            <a:extLst>
              <a:ext uri="{FF2B5EF4-FFF2-40B4-BE49-F238E27FC236}">
                <a16:creationId xmlns:a16="http://schemas.microsoft.com/office/drawing/2014/main" id="{677A0955-F0B8-2D43-8D40-79D33591117C}"/>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graphicFrame>
        <p:nvGraphicFramePr>
          <p:cNvPr id="5" name="Content Placeholder 3">
            <a:extLst>
              <a:ext uri="{FF2B5EF4-FFF2-40B4-BE49-F238E27FC236}">
                <a16:creationId xmlns:a16="http://schemas.microsoft.com/office/drawing/2014/main" id="{008C3636-BFCF-084B-8F9A-E249380EEA33}"/>
              </a:ext>
            </a:extLst>
          </p:cNvPr>
          <p:cNvGraphicFramePr>
            <a:graphicFrameLocks noGrp="1"/>
          </p:cNvGraphicFramePr>
          <p:nvPr>
            <p:ph idx="1"/>
          </p:nvPr>
        </p:nvGraphicFramePr>
        <p:xfrm>
          <a:off x="1273628" y="2101669"/>
          <a:ext cx="9644743" cy="3839160"/>
        </p:xfrm>
        <a:graphic>
          <a:graphicData uri="http://schemas.openxmlformats.org/drawingml/2006/table">
            <a:tbl>
              <a:tblPr firstRow="1" bandRow="1">
                <a:tableStyleId>{5C22544A-7EE6-4342-B048-85BDC9FD1C3A}</a:tableStyleId>
              </a:tblPr>
              <a:tblGrid>
                <a:gridCol w="2520349">
                  <a:extLst>
                    <a:ext uri="{9D8B030D-6E8A-4147-A177-3AD203B41FA5}">
                      <a16:colId xmlns:a16="http://schemas.microsoft.com/office/drawing/2014/main" val="20000"/>
                    </a:ext>
                  </a:extLst>
                </a:gridCol>
                <a:gridCol w="2375259">
                  <a:extLst>
                    <a:ext uri="{9D8B030D-6E8A-4147-A177-3AD203B41FA5}">
                      <a16:colId xmlns:a16="http://schemas.microsoft.com/office/drawing/2014/main" val="20001"/>
                    </a:ext>
                  </a:extLst>
                </a:gridCol>
                <a:gridCol w="4749135">
                  <a:extLst>
                    <a:ext uri="{9D8B030D-6E8A-4147-A177-3AD203B41FA5}">
                      <a16:colId xmlns:a16="http://schemas.microsoft.com/office/drawing/2014/main" val="20002"/>
                    </a:ext>
                  </a:extLst>
                </a:gridCol>
              </a:tblGrid>
              <a:tr h="278580">
                <a:tc>
                  <a:txBody>
                    <a:bodyPr/>
                    <a:lstStyle/>
                    <a:p>
                      <a:pPr algn="ctr">
                        <a:spcAft>
                          <a:spcPts val="0"/>
                        </a:spcAft>
                      </a:pPr>
                      <a:r>
                        <a:rPr lang="en-GB" sz="1400" b="1" dirty="0">
                          <a:solidFill>
                            <a:srgbClr val="000000"/>
                          </a:solidFill>
                          <a:latin typeface="Arial"/>
                          <a:ea typeface="Times New Roman"/>
                          <a:cs typeface="Arial"/>
                        </a:rPr>
                        <a:t>Situation</a:t>
                      </a:r>
                    </a:p>
                  </a:txBody>
                  <a:tcPr marL="73025" marR="73025" marT="91440" marB="91440" anchor="ctr"/>
                </a:tc>
                <a:tc>
                  <a:txBody>
                    <a:bodyPr/>
                    <a:lstStyle/>
                    <a:p>
                      <a:pPr algn="ctr">
                        <a:spcAft>
                          <a:spcPts val="0"/>
                        </a:spcAft>
                      </a:pPr>
                      <a:r>
                        <a:rPr lang="en-GB" sz="1400" b="1" dirty="0">
                          <a:solidFill>
                            <a:srgbClr val="000000"/>
                          </a:solidFill>
                          <a:latin typeface="Arial"/>
                          <a:ea typeface="Times New Roman"/>
                          <a:cs typeface="Arial"/>
                        </a:rPr>
                        <a:t>Risk Class</a:t>
                      </a:r>
                    </a:p>
                  </a:txBody>
                  <a:tcPr marL="73025" marR="73025" marT="91440" marB="91440" anchor="ctr"/>
                </a:tc>
                <a:tc>
                  <a:txBody>
                    <a:bodyPr/>
                    <a:lstStyle/>
                    <a:p>
                      <a:pPr algn="ctr">
                        <a:spcAft>
                          <a:spcPts val="0"/>
                        </a:spcAft>
                      </a:pPr>
                      <a:r>
                        <a:rPr lang="en-GB" sz="1400" b="1" dirty="0">
                          <a:solidFill>
                            <a:srgbClr val="000000"/>
                          </a:solidFill>
                          <a:latin typeface="Arial"/>
                          <a:ea typeface="Times New Roman"/>
                          <a:cs typeface="Arial"/>
                        </a:rPr>
                        <a:t>Description</a:t>
                      </a:r>
                    </a:p>
                  </a:txBody>
                  <a:tcPr marL="73025" marR="73025" marT="91440" marB="91440"/>
                </a:tc>
                <a:extLst>
                  <a:ext uri="{0D108BD9-81ED-4DB2-BD59-A6C34878D82A}">
                    <a16:rowId xmlns:a16="http://schemas.microsoft.com/office/drawing/2014/main" val="10000"/>
                  </a:ext>
                </a:extLst>
              </a:tr>
              <a:tr h="364297">
                <a:tc>
                  <a:txBody>
                    <a:bodyPr/>
                    <a:lstStyle/>
                    <a:p>
                      <a:pPr algn="l">
                        <a:spcAft>
                          <a:spcPts val="0"/>
                        </a:spcAft>
                      </a:pPr>
                      <a:r>
                        <a:rPr lang="en-GB" sz="1400" dirty="0">
                          <a:solidFill>
                            <a:srgbClr val="000000"/>
                          </a:solidFill>
                          <a:latin typeface="Arial"/>
                          <a:ea typeface="Times New Roman"/>
                          <a:cs typeface="Arial"/>
                        </a:rPr>
                        <a:t>Staff turnover</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Experienced staff will leave the project before it is finished.</a:t>
                      </a:r>
                    </a:p>
                  </a:txBody>
                  <a:tcPr marL="73025" marR="73025" marT="0" marB="91440" anchor="ctr"/>
                </a:tc>
                <a:extLst>
                  <a:ext uri="{0D108BD9-81ED-4DB2-BD59-A6C34878D82A}">
                    <a16:rowId xmlns:a16="http://schemas.microsoft.com/office/drawing/2014/main" val="10001"/>
                  </a:ext>
                </a:extLst>
              </a:tr>
              <a:tr h="0">
                <a:tc>
                  <a:txBody>
                    <a:bodyPr/>
                    <a:lstStyle/>
                    <a:p>
                      <a:pPr algn="l">
                        <a:spcAft>
                          <a:spcPts val="0"/>
                        </a:spcAft>
                      </a:pPr>
                      <a:r>
                        <a:rPr lang="en-GB" sz="1400" dirty="0">
                          <a:solidFill>
                            <a:srgbClr val="000000"/>
                          </a:solidFill>
                          <a:latin typeface="Arial"/>
                          <a:ea typeface="Times New Roman"/>
                          <a:cs typeface="Arial"/>
                        </a:rPr>
                        <a:t>Hardware unavailability</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Hardware that is essential for the project will not be delivered on schedule.</a:t>
                      </a:r>
                    </a:p>
                  </a:txBody>
                  <a:tcPr marL="73025" marR="73025" marT="0" marB="91440" anchor="ctr"/>
                </a:tc>
                <a:extLst>
                  <a:ext uri="{0D108BD9-81ED-4DB2-BD59-A6C34878D82A}">
                    <a16:rowId xmlns:a16="http://schemas.microsoft.com/office/drawing/2014/main" val="10003"/>
                  </a:ext>
                </a:extLst>
              </a:tr>
              <a:tr h="364297">
                <a:tc>
                  <a:txBody>
                    <a:bodyPr/>
                    <a:lstStyle/>
                    <a:p>
                      <a:pPr algn="l">
                        <a:spcAft>
                          <a:spcPts val="0"/>
                        </a:spcAft>
                      </a:pPr>
                      <a:r>
                        <a:rPr lang="en-GB" sz="1400" dirty="0">
                          <a:solidFill>
                            <a:srgbClr val="000000"/>
                          </a:solidFill>
                          <a:latin typeface="Arial"/>
                          <a:ea typeface="Times New Roman"/>
                          <a:cs typeface="Arial"/>
                        </a:rPr>
                        <a:t>Requirements change</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There will be a larger number of changes to the requirements than anticipated.</a:t>
                      </a:r>
                    </a:p>
                  </a:txBody>
                  <a:tcPr marL="73025" marR="73025" marT="0" marB="91440" anchor="ctr"/>
                </a:tc>
                <a:extLst>
                  <a:ext uri="{0D108BD9-81ED-4DB2-BD59-A6C34878D82A}">
                    <a16:rowId xmlns:a16="http://schemas.microsoft.com/office/drawing/2014/main" val="10004"/>
                  </a:ext>
                </a:extLst>
              </a:tr>
              <a:tr h="364297">
                <a:tc>
                  <a:txBody>
                    <a:bodyPr/>
                    <a:lstStyle/>
                    <a:p>
                      <a:pPr algn="l">
                        <a:spcAft>
                          <a:spcPts val="0"/>
                        </a:spcAft>
                      </a:pPr>
                      <a:r>
                        <a:rPr lang="en-GB" sz="1400" dirty="0">
                          <a:solidFill>
                            <a:srgbClr val="000000"/>
                          </a:solidFill>
                          <a:latin typeface="Arial"/>
                          <a:ea typeface="Times New Roman"/>
                          <a:cs typeface="Arial"/>
                        </a:rPr>
                        <a:t>Specification delays</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Specifications of essential interfaces are not available on schedule.</a:t>
                      </a:r>
                    </a:p>
                  </a:txBody>
                  <a:tcPr marL="73025" marR="73025" marT="0" marB="91440" anchor="ctr"/>
                </a:tc>
                <a:extLst>
                  <a:ext uri="{0D108BD9-81ED-4DB2-BD59-A6C34878D82A}">
                    <a16:rowId xmlns:a16="http://schemas.microsoft.com/office/drawing/2014/main" val="10005"/>
                  </a:ext>
                </a:extLst>
              </a:tr>
              <a:tr h="487823">
                <a:tc>
                  <a:txBody>
                    <a:bodyPr/>
                    <a:lstStyle/>
                    <a:p>
                      <a:pPr algn="l">
                        <a:spcAft>
                          <a:spcPts val="0"/>
                        </a:spcAft>
                      </a:pPr>
                      <a:r>
                        <a:rPr lang="en-GB" sz="1400" dirty="0">
                          <a:solidFill>
                            <a:srgbClr val="000000"/>
                          </a:solidFill>
                          <a:latin typeface="Arial"/>
                          <a:ea typeface="Times New Roman"/>
                          <a:cs typeface="Arial"/>
                        </a:rPr>
                        <a:t>Size underestimate</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l">
                        <a:spcAft>
                          <a:spcPts val="0"/>
                        </a:spcAft>
                      </a:pPr>
                      <a:r>
                        <a:rPr lang="en-GB" sz="1400" dirty="0">
                          <a:solidFill>
                            <a:srgbClr val="000000"/>
                          </a:solidFill>
                          <a:latin typeface="Arial"/>
                          <a:ea typeface="Times New Roman"/>
                          <a:cs typeface="Arial"/>
                        </a:rPr>
                        <a:t>The size of the system has been underestimated.</a:t>
                      </a:r>
                    </a:p>
                  </a:txBody>
                  <a:tcPr marL="73025" marR="73025" marT="0" marB="91440" anchor="ctr"/>
                </a:tc>
                <a:extLst>
                  <a:ext uri="{0D108BD9-81ED-4DB2-BD59-A6C34878D82A}">
                    <a16:rowId xmlns:a16="http://schemas.microsoft.com/office/drawing/2014/main" val="10006"/>
                  </a:ext>
                </a:extLst>
              </a:tr>
              <a:tr h="364297">
                <a:tc>
                  <a:txBody>
                    <a:bodyPr/>
                    <a:lstStyle/>
                    <a:p>
                      <a:pPr algn="l">
                        <a:spcAft>
                          <a:spcPts val="0"/>
                        </a:spcAft>
                      </a:pPr>
                      <a:r>
                        <a:rPr lang="en-GB" sz="1400" dirty="0">
                          <a:solidFill>
                            <a:srgbClr val="000000"/>
                          </a:solidFill>
                          <a:latin typeface="Arial"/>
                          <a:ea typeface="Times New Roman"/>
                          <a:cs typeface="Arial"/>
                        </a:rPr>
                        <a:t>Technology change</a:t>
                      </a:r>
                    </a:p>
                  </a:txBody>
                  <a:tcPr marL="73025" marR="73025" marT="0" marB="914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The underlying technology on which the system is/was built is superseded by new technology.</a:t>
                      </a:r>
                    </a:p>
                  </a:txBody>
                  <a:tcPr marL="73025" marR="73025" marT="0" marB="91440"/>
                </a:tc>
                <a:extLst>
                  <a:ext uri="{0D108BD9-81ED-4DB2-BD59-A6C34878D82A}">
                    <a16:rowId xmlns:a16="http://schemas.microsoft.com/office/drawing/2014/main" val="10008"/>
                  </a:ext>
                </a:extLst>
              </a:tr>
              <a:tr h="364297">
                <a:tc>
                  <a:txBody>
                    <a:bodyPr/>
                    <a:lstStyle/>
                    <a:p>
                      <a:pPr algn="l">
                        <a:spcAft>
                          <a:spcPts val="0"/>
                        </a:spcAft>
                      </a:pPr>
                      <a:r>
                        <a:rPr lang="en-GB" sz="1400" dirty="0">
                          <a:solidFill>
                            <a:srgbClr val="000000"/>
                          </a:solidFill>
                          <a:latin typeface="Arial"/>
                          <a:ea typeface="Times New Roman"/>
                          <a:cs typeface="Arial"/>
                        </a:rPr>
                        <a:t>Product competition</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A competitive product is marketed before the system is completed.</a:t>
                      </a:r>
                    </a:p>
                  </a:txBody>
                  <a:tcPr marL="73025" marR="73025" marT="0" marB="91440" anchor="ctr"/>
                </a:tc>
                <a:extLst>
                  <a:ext uri="{0D108BD9-81ED-4DB2-BD59-A6C34878D82A}">
                    <a16:rowId xmlns:a16="http://schemas.microsoft.com/office/drawing/2014/main" val="10009"/>
                  </a:ext>
                </a:extLst>
              </a:tr>
            </a:tbl>
          </a:graphicData>
        </a:graphic>
      </p:graphicFrame>
      <p:sp>
        <p:nvSpPr>
          <p:cNvPr id="6" name="Rectangle 5">
            <a:extLst>
              <a:ext uri="{FF2B5EF4-FFF2-40B4-BE49-F238E27FC236}">
                <a16:creationId xmlns:a16="http://schemas.microsoft.com/office/drawing/2014/main" id="{F28DAFB7-9206-3E4B-8D9B-D7FBED1C20EA}"/>
              </a:ext>
            </a:extLst>
          </p:cNvPr>
          <p:cNvSpPr/>
          <p:nvPr/>
        </p:nvSpPr>
        <p:spPr>
          <a:xfrm>
            <a:off x="4556897" y="2504105"/>
            <a:ext cx="792205"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a:t>
            </a:r>
          </a:p>
        </p:txBody>
      </p:sp>
      <p:sp>
        <p:nvSpPr>
          <p:cNvPr id="8" name="Rectangle 7">
            <a:extLst>
              <a:ext uri="{FF2B5EF4-FFF2-40B4-BE49-F238E27FC236}">
                <a16:creationId xmlns:a16="http://schemas.microsoft.com/office/drawing/2014/main" id="{564C0CA1-30CC-1F4F-B430-C70D437A2160}"/>
              </a:ext>
            </a:extLst>
          </p:cNvPr>
          <p:cNvSpPr/>
          <p:nvPr/>
        </p:nvSpPr>
        <p:spPr>
          <a:xfrm>
            <a:off x="4556896" y="2971302"/>
            <a:ext cx="792205"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a:t>
            </a:r>
          </a:p>
        </p:txBody>
      </p:sp>
      <p:sp>
        <p:nvSpPr>
          <p:cNvPr id="9" name="Rectangle 8">
            <a:extLst>
              <a:ext uri="{FF2B5EF4-FFF2-40B4-BE49-F238E27FC236}">
                <a16:creationId xmlns:a16="http://schemas.microsoft.com/office/drawing/2014/main" id="{00FC8833-9700-F543-AB13-8D7D005D1559}"/>
              </a:ext>
            </a:extLst>
          </p:cNvPr>
          <p:cNvSpPr/>
          <p:nvPr/>
        </p:nvSpPr>
        <p:spPr>
          <a:xfrm>
            <a:off x="4010272" y="3493952"/>
            <a:ext cx="1885453"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 and Product</a:t>
            </a:r>
          </a:p>
        </p:txBody>
      </p:sp>
      <p:sp>
        <p:nvSpPr>
          <p:cNvPr id="10" name="Rectangle 9">
            <a:extLst>
              <a:ext uri="{FF2B5EF4-FFF2-40B4-BE49-F238E27FC236}">
                <a16:creationId xmlns:a16="http://schemas.microsoft.com/office/drawing/2014/main" id="{1853185F-283D-EB42-9A20-035480B4E83C}"/>
              </a:ext>
            </a:extLst>
          </p:cNvPr>
          <p:cNvSpPr/>
          <p:nvPr/>
        </p:nvSpPr>
        <p:spPr>
          <a:xfrm>
            <a:off x="4010272" y="4013230"/>
            <a:ext cx="1885453"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 and Product</a:t>
            </a:r>
          </a:p>
        </p:txBody>
      </p:sp>
      <p:sp>
        <p:nvSpPr>
          <p:cNvPr id="11" name="Rectangle 10">
            <a:extLst>
              <a:ext uri="{FF2B5EF4-FFF2-40B4-BE49-F238E27FC236}">
                <a16:creationId xmlns:a16="http://schemas.microsoft.com/office/drawing/2014/main" id="{C5E5F0CC-357F-B34F-BB09-C95B37F71373}"/>
              </a:ext>
            </a:extLst>
          </p:cNvPr>
          <p:cNvSpPr/>
          <p:nvPr/>
        </p:nvSpPr>
        <p:spPr>
          <a:xfrm>
            <a:off x="4010272" y="4504235"/>
            <a:ext cx="1885453"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 and Product</a:t>
            </a:r>
          </a:p>
        </p:txBody>
      </p:sp>
      <p:sp>
        <p:nvSpPr>
          <p:cNvPr id="12" name="Rectangle 11">
            <a:extLst>
              <a:ext uri="{FF2B5EF4-FFF2-40B4-BE49-F238E27FC236}">
                <a16:creationId xmlns:a16="http://schemas.microsoft.com/office/drawing/2014/main" id="{2E357AE5-64FE-4441-AAF6-AEE845A32989}"/>
              </a:ext>
            </a:extLst>
          </p:cNvPr>
          <p:cNvSpPr/>
          <p:nvPr/>
        </p:nvSpPr>
        <p:spPr>
          <a:xfrm>
            <a:off x="4463121" y="4987721"/>
            <a:ext cx="979755"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Business</a:t>
            </a:r>
          </a:p>
        </p:txBody>
      </p:sp>
      <p:sp>
        <p:nvSpPr>
          <p:cNvPr id="13" name="Rectangle 12">
            <a:extLst>
              <a:ext uri="{FF2B5EF4-FFF2-40B4-BE49-F238E27FC236}">
                <a16:creationId xmlns:a16="http://schemas.microsoft.com/office/drawing/2014/main" id="{FE238939-251B-2145-BA73-588C36913208}"/>
              </a:ext>
            </a:extLst>
          </p:cNvPr>
          <p:cNvSpPr/>
          <p:nvPr/>
        </p:nvSpPr>
        <p:spPr>
          <a:xfrm>
            <a:off x="4463121" y="5504106"/>
            <a:ext cx="979755"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Business</a:t>
            </a:r>
          </a:p>
        </p:txBody>
      </p:sp>
    </p:spTree>
    <p:extLst>
      <p:ext uri="{BB962C8B-B14F-4D97-AF65-F5344CB8AC3E}">
        <p14:creationId xmlns:p14="http://schemas.microsoft.com/office/powerpoint/2010/main" val="235787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P spid="10" grpId="0"/>
      <p:bldP spid="11" grpId="0"/>
      <p:bldP spid="12" grpId="0"/>
      <p:bldP spid="1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46373-5FE1-8948-B4ED-D79D318B8825}"/>
              </a:ext>
            </a:extLst>
          </p:cNvPr>
          <p:cNvSpPr>
            <a:spLocks noGrp="1"/>
          </p:cNvSpPr>
          <p:nvPr>
            <p:ph type="title"/>
          </p:nvPr>
        </p:nvSpPr>
        <p:spPr/>
        <p:txBody>
          <a:bodyPr/>
          <a:lstStyle/>
          <a:p>
            <a:r>
              <a:rPr lang="en-GB" b="1" dirty="0"/>
              <a:t>The risk management process</a:t>
            </a:r>
            <a:endParaRPr lang="en-US" b="1" dirty="0"/>
          </a:p>
        </p:txBody>
      </p:sp>
      <p:sp>
        <p:nvSpPr>
          <p:cNvPr id="4" name="Slide Number Placeholder 3">
            <a:extLst>
              <a:ext uri="{FF2B5EF4-FFF2-40B4-BE49-F238E27FC236}">
                <a16:creationId xmlns:a16="http://schemas.microsoft.com/office/drawing/2014/main" id="{916435EC-871A-6647-9115-E44B0F523002}"/>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grpSp>
        <p:nvGrpSpPr>
          <p:cNvPr id="13" name="Group 12">
            <a:extLst>
              <a:ext uri="{FF2B5EF4-FFF2-40B4-BE49-F238E27FC236}">
                <a16:creationId xmlns:a16="http://schemas.microsoft.com/office/drawing/2014/main" id="{B120E499-ED50-FA40-8E45-326F2006D9A1}"/>
              </a:ext>
            </a:extLst>
          </p:cNvPr>
          <p:cNvGrpSpPr/>
          <p:nvPr/>
        </p:nvGrpSpPr>
        <p:grpSpPr>
          <a:xfrm>
            <a:off x="3658875" y="2207506"/>
            <a:ext cx="4541018" cy="4247840"/>
            <a:chOff x="3668302" y="2121408"/>
            <a:chExt cx="4541018" cy="4247840"/>
          </a:xfrm>
        </p:grpSpPr>
        <p:grpSp>
          <p:nvGrpSpPr>
            <p:cNvPr id="11" name="Group 10">
              <a:extLst>
                <a:ext uri="{FF2B5EF4-FFF2-40B4-BE49-F238E27FC236}">
                  <a16:creationId xmlns:a16="http://schemas.microsoft.com/office/drawing/2014/main" id="{34D557EE-2658-3347-83C7-0801FC8F59FB}"/>
                </a:ext>
              </a:extLst>
            </p:cNvPr>
            <p:cNvGrpSpPr/>
            <p:nvPr/>
          </p:nvGrpSpPr>
          <p:grpSpPr>
            <a:xfrm>
              <a:off x="3668302" y="2121408"/>
              <a:ext cx="4541018" cy="4247840"/>
              <a:chOff x="3668302" y="2121408"/>
              <a:chExt cx="4541018" cy="4247840"/>
            </a:xfrm>
          </p:grpSpPr>
          <p:pic>
            <p:nvPicPr>
              <p:cNvPr id="6" name="Picture 2">
                <a:extLst>
                  <a:ext uri="{FF2B5EF4-FFF2-40B4-BE49-F238E27FC236}">
                    <a16:creationId xmlns:a16="http://schemas.microsoft.com/office/drawing/2014/main" id="{2229B100-26ED-DF43-B8CA-7D47AEEFBDD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8214" t="24920" r="27619" b="14762"/>
              <a:stretch/>
            </p:blipFill>
            <p:spPr bwMode="auto">
              <a:xfrm>
                <a:off x="3919511" y="2136211"/>
                <a:ext cx="4038600" cy="413657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B51B617-B871-DE40-B0B8-54C173893637}"/>
                  </a:ext>
                </a:extLst>
              </p:cNvPr>
              <p:cNvSpPr/>
              <p:nvPr/>
            </p:nvSpPr>
            <p:spPr>
              <a:xfrm>
                <a:off x="7315200" y="2230734"/>
                <a:ext cx="864158" cy="50241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Rectangle 7">
                <a:extLst>
                  <a:ext uri="{FF2B5EF4-FFF2-40B4-BE49-F238E27FC236}">
                    <a16:creationId xmlns:a16="http://schemas.microsoft.com/office/drawing/2014/main" id="{3EB7607E-A214-8B43-AF4C-302DD92C5E28}"/>
                  </a:ext>
                </a:extLst>
              </p:cNvPr>
              <p:cNvSpPr/>
              <p:nvPr/>
            </p:nvSpPr>
            <p:spPr>
              <a:xfrm>
                <a:off x="7345162" y="5669782"/>
                <a:ext cx="864158" cy="50241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BE6C306D-C5E0-F347-B70C-598B4D87B43D}"/>
                  </a:ext>
                </a:extLst>
              </p:cNvPr>
              <p:cNvSpPr/>
              <p:nvPr/>
            </p:nvSpPr>
            <p:spPr>
              <a:xfrm>
                <a:off x="3708495" y="2121408"/>
                <a:ext cx="864158" cy="61174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D01179A1-85C4-AD49-A163-53BE1888BB71}"/>
                  </a:ext>
                </a:extLst>
              </p:cNvPr>
              <p:cNvSpPr/>
              <p:nvPr/>
            </p:nvSpPr>
            <p:spPr>
              <a:xfrm>
                <a:off x="3668302" y="5757504"/>
                <a:ext cx="864158" cy="61174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2" name="Oval 11">
              <a:extLst>
                <a:ext uri="{FF2B5EF4-FFF2-40B4-BE49-F238E27FC236}">
                  <a16:creationId xmlns:a16="http://schemas.microsoft.com/office/drawing/2014/main" id="{A7AEE872-11F0-0146-9E89-752D54925729}"/>
                </a:ext>
              </a:extLst>
            </p:cNvPr>
            <p:cNvSpPr/>
            <p:nvPr/>
          </p:nvSpPr>
          <p:spPr>
            <a:xfrm>
              <a:off x="5495980" y="3766505"/>
              <a:ext cx="923108" cy="875983"/>
            </a:xfrm>
            <a:prstGeom prst="ellipse">
              <a:avLst/>
            </a:prstGeom>
            <a:solidFill>
              <a:schemeClr val="bg1">
                <a:lumMod val="65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6" name="Striped Right Arrow 15">
            <a:extLst>
              <a:ext uri="{FF2B5EF4-FFF2-40B4-BE49-F238E27FC236}">
                <a16:creationId xmlns:a16="http://schemas.microsoft.com/office/drawing/2014/main" id="{5B8AACB7-BEA5-F148-AB2C-A9A7CED8F62E}"/>
              </a:ext>
            </a:extLst>
          </p:cNvPr>
          <p:cNvSpPr/>
          <p:nvPr/>
        </p:nvSpPr>
        <p:spPr>
          <a:xfrm rot="2647324">
            <a:off x="6463613" y="3244905"/>
            <a:ext cx="641023" cy="414779"/>
          </a:xfrm>
          <a:prstGeom prst="stripedRightArrow">
            <a:avLst/>
          </a:prstGeom>
          <a:solidFill>
            <a:srgbClr val="70C8E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Striped Right Arrow 16">
            <a:extLst>
              <a:ext uri="{FF2B5EF4-FFF2-40B4-BE49-F238E27FC236}">
                <a16:creationId xmlns:a16="http://schemas.microsoft.com/office/drawing/2014/main" id="{E5712479-A35B-8E40-869C-3EFE260D6BE3}"/>
              </a:ext>
            </a:extLst>
          </p:cNvPr>
          <p:cNvSpPr/>
          <p:nvPr/>
        </p:nvSpPr>
        <p:spPr>
          <a:xfrm rot="8234583">
            <a:off x="6357595" y="5010296"/>
            <a:ext cx="641023" cy="414779"/>
          </a:xfrm>
          <a:prstGeom prst="stripedRightArrow">
            <a:avLst/>
          </a:prstGeom>
          <a:solidFill>
            <a:srgbClr val="70C8E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Striped Right Arrow 17">
            <a:extLst>
              <a:ext uri="{FF2B5EF4-FFF2-40B4-BE49-F238E27FC236}">
                <a16:creationId xmlns:a16="http://schemas.microsoft.com/office/drawing/2014/main" id="{C5770FB3-6856-E340-9B29-8DB93AB54457}"/>
              </a:ext>
            </a:extLst>
          </p:cNvPr>
          <p:cNvSpPr/>
          <p:nvPr/>
        </p:nvSpPr>
        <p:spPr>
          <a:xfrm rot="13539445">
            <a:off x="4714677" y="4895373"/>
            <a:ext cx="641023" cy="414779"/>
          </a:xfrm>
          <a:prstGeom prst="stripedRightArrow">
            <a:avLst/>
          </a:prstGeom>
          <a:solidFill>
            <a:srgbClr val="70C8E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Striped Right Arrow 18">
            <a:extLst>
              <a:ext uri="{FF2B5EF4-FFF2-40B4-BE49-F238E27FC236}">
                <a16:creationId xmlns:a16="http://schemas.microsoft.com/office/drawing/2014/main" id="{2C669FBC-B335-7B4C-B874-F39105BF5910}"/>
              </a:ext>
            </a:extLst>
          </p:cNvPr>
          <p:cNvSpPr/>
          <p:nvPr/>
        </p:nvSpPr>
        <p:spPr>
          <a:xfrm rot="19068768">
            <a:off x="4789283" y="3186260"/>
            <a:ext cx="641023" cy="414779"/>
          </a:xfrm>
          <a:prstGeom prst="stripedRightArrow">
            <a:avLst/>
          </a:prstGeom>
          <a:solidFill>
            <a:srgbClr val="70C8E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1FBAB38C-151A-EB43-8F49-81B6271940DD}"/>
              </a:ext>
            </a:extLst>
          </p:cNvPr>
          <p:cNvSpPr/>
          <p:nvPr/>
        </p:nvSpPr>
        <p:spPr>
          <a:xfrm>
            <a:off x="1868396" y="1891742"/>
            <a:ext cx="2875174" cy="646331"/>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a:spAutoFit/>
          </a:bodyPr>
          <a:lstStyle/>
          <a:p>
            <a:pPr marL="65088" marR="0" lvl="1"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D34817"/>
                </a:solidFill>
                <a:effectLst/>
                <a:uLnTx/>
                <a:uFillTx/>
                <a:latin typeface="Calibri" panose="020F0502020204030204"/>
                <a:ea typeface="+mn-ea"/>
                <a:cs typeface="+mn-cs"/>
              </a:rPr>
              <a:t>1. identify project, product and business risks</a:t>
            </a:r>
          </a:p>
        </p:txBody>
      </p:sp>
      <p:sp>
        <p:nvSpPr>
          <p:cNvPr id="23" name="Rectangle 22">
            <a:extLst>
              <a:ext uri="{FF2B5EF4-FFF2-40B4-BE49-F238E27FC236}">
                <a16:creationId xmlns:a16="http://schemas.microsoft.com/office/drawing/2014/main" id="{7502813F-679B-C541-AFF5-0EF3AACC4FEF}"/>
              </a:ext>
            </a:extLst>
          </p:cNvPr>
          <p:cNvSpPr/>
          <p:nvPr/>
        </p:nvSpPr>
        <p:spPr>
          <a:xfrm>
            <a:off x="7866670" y="2961338"/>
            <a:ext cx="2875174" cy="646331"/>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a:spAutoFit/>
          </a:bodyPr>
          <a:lstStyle/>
          <a:p>
            <a:pPr marL="65088" marR="0" lvl="1"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D34817"/>
                </a:solidFill>
                <a:effectLst/>
                <a:uLnTx/>
                <a:uFillTx/>
                <a:latin typeface="Calibri" panose="020F0502020204030204"/>
                <a:ea typeface="+mn-ea"/>
                <a:cs typeface="+mn-cs"/>
              </a:rPr>
              <a:t>2. Assess the likelihood and consequences of these risks</a:t>
            </a:r>
          </a:p>
        </p:txBody>
      </p:sp>
      <p:sp>
        <p:nvSpPr>
          <p:cNvPr id="24" name="Rectangle 23">
            <a:extLst>
              <a:ext uri="{FF2B5EF4-FFF2-40B4-BE49-F238E27FC236}">
                <a16:creationId xmlns:a16="http://schemas.microsoft.com/office/drawing/2014/main" id="{3A83EC6A-6E09-0F42-A3C2-3633C6FCD332}"/>
              </a:ext>
            </a:extLst>
          </p:cNvPr>
          <p:cNvSpPr/>
          <p:nvPr/>
        </p:nvSpPr>
        <p:spPr>
          <a:xfrm>
            <a:off x="7186299" y="5995544"/>
            <a:ext cx="3352298" cy="646331"/>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a:spAutoFit/>
          </a:bodyPr>
          <a:lstStyle/>
          <a:p>
            <a:pPr marL="65088" marR="0" lvl="1"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D34817"/>
                </a:solidFill>
                <a:effectLst/>
                <a:uLnTx/>
                <a:uFillTx/>
                <a:latin typeface="Calibri" panose="020F0502020204030204"/>
                <a:ea typeface="+mn-ea"/>
                <a:cs typeface="+mn-cs"/>
              </a:rPr>
              <a:t>3. Draw up plans to avoid / minimize the effects of the risk</a:t>
            </a:r>
          </a:p>
        </p:txBody>
      </p:sp>
      <p:sp>
        <p:nvSpPr>
          <p:cNvPr id="25" name="Rectangle 24">
            <a:extLst>
              <a:ext uri="{FF2B5EF4-FFF2-40B4-BE49-F238E27FC236}">
                <a16:creationId xmlns:a16="http://schemas.microsoft.com/office/drawing/2014/main" id="{3CD43B57-D5B4-134F-88E5-91D1BF4E0B26}"/>
              </a:ext>
            </a:extLst>
          </p:cNvPr>
          <p:cNvSpPr/>
          <p:nvPr/>
        </p:nvSpPr>
        <p:spPr>
          <a:xfrm>
            <a:off x="605642" y="4779596"/>
            <a:ext cx="3277577" cy="1200329"/>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a:spAutoFit/>
          </a:bodyPr>
          <a:lstStyle/>
          <a:p>
            <a:pPr marL="65088" marR="0" lvl="1"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D34817"/>
                </a:solidFill>
                <a:effectLst/>
                <a:uLnTx/>
                <a:uFillTx/>
                <a:latin typeface="Calibri" panose="020F0502020204030204"/>
                <a:ea typeface="+mn-ea"/>
                <a:cs typeface="+mn-cs"/>
              </a:rPr>
              <a:t>4. Monitor and assess the risks throughout the project and update the plans for risk mitigation</a:t>
            </a:r>
          </a:p>
        </p:txBody>
      </p:sp>
    </p:spTree>
    <p:extLst>
      <p:ext uri="{BB962C8B-B14F-4D97-AF65-F5344CB8AC3E}">
        <p14:creationId xmlns:p14="http://schemas.microsoft.com/office/powerpoint/2010/main" val="1445118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049A7D3-684C-4C59-A4B6-7B308A6AD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7B1087B-C592-40E7-B532-60B453A2F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4AE7447-E8F8-4A0F-9E3D-94842BFF8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85981F80-69EE-4E2B-82A8-47FDFD7720A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8" name="Oval 17">
              <a:extLst>
                <a:ext uri="{FF2B5EF4-FFF2-40B4-BE49-F238E27FC236}">
                  <a16:creationId xmlns:a16="http://schemas.microsoft.com/office/drawing/2014/main" id="{46CE0473-0B07-47EE-A016-EBD87F2C8C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9" name="Oval 18">
              <a:extLst>
                <a:ext uri="{FF2B5EF4-FFF2-40B4-BE49-F238E27FC236}">
                  <a16:creationId xmlns:a16="http://schemas.microsoft.com/office/drawing/2014/main" id="{EDD0D1E4-DFCA-4DF0-9D37-571A5F529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useBgFill="1">
        <p:nvSpPr>
          <p:cNvPr id="21" name="Rectangle 20">
            <a:extLst>
              <a:ext uri="{FF2B5EF4-FFF2-40B4-BE49-F238E27FC236}">
                <a16:creationId xmlns:a16="http://schemas.microsoft.com/office/drawing/2014/main" id="{EDF3BDB2-0586-430E-811A-74BAFDEE66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3" name="Rectangle 22">
            <a:extLst>
              <a:ext uri="{FF2B5EF4-FFF2-40B4-BE49-F238E27FC236}">
                <a16:creationId xmlns:a16="http://schemas.microsoft.com/office/drawing/2014/main" id="{821E305B-0351-4E03-8C1B-F23D3A346E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928117"/>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C848660-F9C2-4F86-A218-6AE0FB4CCC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1336" y="1110053"/>
            <a:ext cx="6630506" cy="4580301"/>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538CB0-A52A-631B-4F5D-D8F8181BF6F2}"/>
              </a:ext>
            </a:extLst>
          </p:cNvPr>
          <p:cNvSpPr>
            <a:spLocks noGrp="1"/>
          </p:cNvSpPr>
          <p:nvPr>
            <p:ph type="title"/>
          </p:nvPr>
        </p:nvSpPr>
        <p:spPr>
          <a:xfrm>
            <a:off x="4961376" y="1432223"/>
            <a:ext cx="6057144" cy="3357976"/>
          </a:xfrm>
        </p:spPr>
        <p:txBody>
          <a:bodyPr vert="horz" lIns="91440" tIns="45720" rIns="91440" bIns="45720" rtlCol="0" anchor="ctr">
            <a:normAutofit/>
          </a:bodyPr>
          <a:lstStyle/>
          <a:p>
            <a:pPr>
              <a:lnSpc>
                <a:spcPct val="80000"/>
              </a:lnSpc>
            </a:pPr>
            <a:r>
              <a:rPr lang="en-US" sz="6800">
                <a:blipFill dpi="0" rotWithShape="1">
                  <a:blip r:embed="rId4"/>
                  <a:srcRect/>
                  <a:tile tx="6350" ty="-127000" sx="65000" sy="64000" flip="none" algn="tl"/>
                </a:blipFill>
              </a:rPr>
              <a:t>Affordability and win-win negotiation</a:t>
            </a:r>
          </a:p>
        </p:txBody>
      </p:sp>
      <p:sp>
        <p:nvSpPr>
          <p:cNvPr id="27" name="Rectangle 26">
            <a:extLst>
              <a:ext uri="{FF2B5EF4-FFF2-40B4-BE49-F238E27FC236}">
                <a16:creationId xmlns:a16="http://schemas.microsoft.com/office/drawing/2014/main" id="{5CABD882-B7CE-4433-B509-99205DB705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5780565"/>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49F6A645-6137-4F43-8E88-D91CC337D5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6920" y="5257800"/>
            <a:ext cx="1080904" cy="1080902"/>
            <a:chOff x="9685338" y="4460675"/>
            <a:chExt cx="1080904" cy="1080902"/>
          </a:xfrm>
        </p:grpSpPr>
        <p:sp>
          <p:nvSpPr>
            <p:cNvPr id="30" name="Oval 29">
              <a:extLst>
                <a:ext uri="{FF2B5EF4-FFF2-40B4-BE49-F238E27FC236}">
                  <a16:creationId xmlns:a16="http://schemas.microsoft.com/office/drawing/2014/main" id="{3A2C783A-4EEE-481B-815A-A1BB14F44B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1" name="Oval 30">
              <a:extLst>
                <a:ext uri="{FF2B5EF4-FFF2-40B4-BE49-F238E27FC236}">
                  <a16:creationId xmlns:a16="http://schemas.microsoft.com/office/drawing/2014/main" id="{A0186437-0053-4886-B612-804E4DC90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pic>
        <p:nvPicPr>
          <p:cNvPr id="8" name="Graphic 7" descr="Handshake">
            <a:extLst>
              <a:ext uri="{FF2B5EF4-FFF2-40B4-BE49-F238E27FC236}">
                <a16:creationId xmlns:a16="http://schemas.microsoft.com/office/drawing/2014/main" id="{45DC3A2B-7605-F16E-88A9-49FA0535B90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33915" y="1686320"/>
            <a:ext cx="3416725" cy="3416725"/>
          </a:xfrm>
          <a:prstGeom prst="rect">
            <a:avLst/>
          </a:prstGeom>
        </p:spPr>
      </p:pic>
      <p:sp>
        <p:nvSpPr>
          <p:cNvPr id="4" name="Slide Number Placeholder 3">
            <a:extLst>
              <a:ext uri="{FF2B5EF4-FFF2-40B4-BE49-F238E27FC236}">
                <a16:creationId xmlns:a16="http://schemas.microsoft.com/office/drawing/2014/main" id="{EFDBD4F2-4011-7F16-5895-164F79B66403}"/>
              </a:ext>
            </a:extLst>
          </p:cNvPr>
          <p:cNvSpPr>
            <a:spLocks noGrp="1"/>
          </p:cNvSpPr>
          <p:nvPr>
            <p:ph type="sldNum" sz="quarter" idx="12"/>
          </p:nvPr>
        </p:nvSpPr>
        <p:spPr>
          <a:xfrm>
            <a:off x="9592056" y="5477256"/>
            <a:ext cx="1193868" cy="640080"/>
          </a:xfrm>
        </p:spPr>
        <p:txBody>
          <a:bodyPr vert="horz" lIns="91440" tIns="45720" rIns="91440" bIns="45720" rtlCol="0" anchor="ctr">
            <a:normAutofit/>
          </a:bodyPr>
          <a:lstStyle/>
          <a:p>
            <a:pPr>
              <a:spcAft>
                <a:spcPts val="600"/>
              </a:spcAft>
            </a:pPr>
            <a:fld id="{4FAB73BC-B049-4115-A692-8D63A059BFB8}" type="slidenum">
              <a:rPr lang="en-US" sz="2800" smtClean="0"/>
              <a:pPr>
                <a:spcAft>
                  <a:spcPts val="600"/>
                </a:spcAft>
              </a:pPr>
              <a:t>27</a:t>
            </a:fld>
            <a:endParaRPr lang="en-US" sz="2800"/>
          </a:p>
        </p:txBody>
      </p:sp>
    </p:spTree>
    <p:extLst>
      <p:ext uri="{BB962C8B-B14F-4D97-AF65-F5344CB8AC3E}">
        <p14:creationId xmlns:p14="http://schemas.microsoft.com/office/powerpoint/2010/main" val="29752255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10000"/>
          </a:bodyPr>
          <a:lstStyle/>
          <a:p>
            <a:r>
              <a:rPr lang="en-US" b="1" dirty="0"/>
              <a:t>Affordable (dictionary.com)</a:t>
            </a:r>
          </a:p>
          <a:p>
            <a:pPr lvl="1"/>
            <a:r>
              <a:rPr lang="en-US" i="1" dirty="0"/>
              <a:t>adjective:</a:t>
            </a:r>
            <a:r>
              <a:rPr lang="en-US" dirty="0"/>
              <a:t> that which can be afforded; </a:t>
            </a:r>
            <a:r>
              <a:rPr lang="en-US" b="1" dirty="0">
                <a:solidFill>
                  <a:srgbClr val="FFC000"/>
                </a:solidFill>
              </a:rPr>
              <a:t>believed</a:t>
            </a:r>
            <a:r>
              <a:rPr lang="en-US" dirty="0"/>
              <a:t> to be within one's financial means.</a:t>
            </a:r>
          </a:p>
          <a:p>
            <a:r>
              <a:rPr lang="en-US" b="1" dirty="0"/>
              <a:t>Afford (Merriam-Webster)</a:t>
            </a:r>
          </a:p>
          <a:p>
            <a:pPr lvl="1"/>
            <a:r>
              <a:rPr lang="en-US" i="1" dirty="0"/>
              <a:t>verb: </a:t>
            </a:r>
            <a:r>
              <a:rPr lang="en-US" dirty="0"/>
              <a:t>to manage to bear without </a:t>
            </a:r>
            <a:r>
              <a:rPr lang="en-US" b="1" dirty="0">
                <a:solidFill>
                  <a:srgbClr val="FFC000"/>
                </a:solidFill>
              </a:rPr>
              <a:t>serious</a:t>
            </a:r>
            <a:r>
              <a:rPr lang="en-US" dirty="0"/>
              <a:t> detriment. </a:t>
            </a:r>
          </a:p>
          <a:p>
            <a:r>
              <a:rPr lang="en-US" dirty="0"/>
              <a:t>Many customers define “affordable”  as “what I am willing to pay”!</a:t>
            </a:r>
          </a:p>
          <a:p>
            <a:endParaRPr lang="en-US" dirty="0"/>
          </a:p>
          <a:p>
            <a:r>
              <a:rPr lang="en-US" dirty="0">
                <a:solidFill>
                  <a:srgbClr val="FFC000"/>
                </a:solidFill>
              </a:rPr>
              <a:t>my emphases</a:t>
            </a:r>
          </a:p>
        </p:txBody>
      </p:sp>
      <p:sp>
        <p:nvSpPr>
          <p:cNvPr id="2" name="Title 1"/>
          <p:cNvSpPr>
            <a:spLocks noGrp="1"/>
          </p:cNvSpPr>
          <p:nvPr>
            <p:ph type="title"/>
          </p:nvPr>
        </p:nvSpPr>
        <p:spPr/>
        <p:txBody>
          <a:bodyPr>
            <a:normAutofit/>
          </a:bodyPr>
          <a:lstStyle/>
          <a:p>
            <a:r>
              <a:rPr lang="en-US" dirty="0"/>
              <a:t>What is“affordable”?</a:t>
            </a:r>
          </a:p>
        </p:txBody>
      </p:sp>
      <p:pic>
        <p:nvPicPr>
          <p:cNvPr id="77825" name="Picture 1" descr="C:\Documents and Settings\plaplante\Local Settings\Temporary Internet Files\Content.IE5\IOLB6FQP\MCj04315290000[1].png"/>
          <p:cNvPicPr>
            <a:picLocks noChangeAspect="1" noChangeArrowheads="1"/>
          </p:cNvPicPr>
          <p:nvPr/>
        </p:nvPicPr>
        <p:blipFill>
          <a:blip r:embed="rId2" cstate="print"/>
          <a:srcRect/>
          <a:stretch>
            <a:fillRect/>
          </a:stretch>
        </p:blipFill>
        <p:spPr bwMode="auto">
          <a:xfrm>
            <a:off x="3622159" y="4495801"/>
            <a:ext cx="2286000" cy="1600200"/>
          </a:xfrm>
          <a:prstGeom prst="rect">
            <a:avLst/>
          </a:prstGeom>
          <a:noFill/>
        </p:spPr>
      </p:pic>
      <p:sp>
        <p:nvSpPr>
          <p:cNvPr id="6" name="TextBox 5"/>
          <p:cNvSpPr txBox="1"/>
          <p:nvPr/>
        </p:nvSpPr>
        <p:spPr>
          <a:xfrm>
            <a:off x="5628168" y="4972735"/>
            <a:ext cx="3657600" cy="646331"/>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We are dealing with customer perceptions</a:t>
            </a:r>
          </a:p>
        </p:txBody>
      </p:sp>
      <p:sp>
        <p:nvSpPr>
          <p:cNvPr id="9" name="Slide Number Placeholder 8"/>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28</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32724227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dirty="0"/>
              <a:t>You price a set of features at $1 million dollars.</a:t>
            </a:r>
          </a:p>
          <a:p>
            <a:r>
              <a:rPr lang="en-US" dirty="0"/>
              <a:t>The customer objects, so, you drop the price to $800K. </a:t>
            </a:r>
          </a:p>
          <a:p>
            <a:r>
              <a:rPr lang="en-US" dirty="0"/>
              <a:t>The implication here is that you were originally price gouging.</a:t>
            </a:r>
          </a:p>
          <a:p>
            <a:r>
              <a:rPr lang="en-US" dirty="0"/>
              <a:t>Alternative: offer a reduced feature set at $800K.</a:t>
            </a:r>
          </a:p>
        </p:txBody>
      </p:sp>
      <p:sp>
        <p:nvSpPr>
          <p:cNvPr id="2" name="Title 1"/>
          <p:cNvSpPr>
            <a:spLocks noGrp="1"/>
          </p:cNvSpPr>
          <p:nvPr>
            <p:ph type="title"/>
          </p:nvPr>
        </p:nvSpPr>
        <p:spPr/>
        <p:txBody>
          <a:bodyPr/>
          <a:lstStyle/>
          <a:p>
            <a:r>
              <a:rPr lang="en-US" dirty="0"/>
              <a:t>Example 1: price gouging</a:t>
            </a:r>
          </a:p>
        </p:txBody>
      </p:sp>
      <p:pic>
        <p:nvPicPr>
          <p:cNvPr id="59393" name="Picture 1" descr="C:\Documents and Settings\plaplante\Local Settings\Temporary Internet Files\Content.IE5\VA9J54SK\MCj04325460000[1].png"/>
          <p:cNvPicPr>
            <a:picLocks noChangeAspect="1" noChangeArrowheads="1"/>
          </p:cNvPicPr>
          <p:nvPr/>
        </p:nvPicPr>
        <p:blipFill>
          <a:blip r:embed="rId2" cstate="print"/>
          <a:srcRect/>
          <a:stretch>
            <a:fillRect/>
          </a:stretch>
        </p:blipFill>
        <p:spPr bwMode="auto">
          <a:xfrm>
            <a:off x="2681432" y="3310839"/>
            <a:ext cx="552343" cy="552343"/>
          </a:xfrm>
          <a:prstGeom prst="rect">
            <a:avLst/>
          </a:prstGeom>
          <a:noFill/>
        </p:spPr>
      </p:pic>
      <p:pic>
        <p:nvPicPr>
          <p:cNvPr id="59395" name="Picture 3" descr="C:\Documents and Settings\plaplante\Local Settings\Temporary Internet Files\Content.IE5\VK1SZ78L\MPj04331600000[1].jpg"/>
          <p:cNvPicPr>
            <a:picLocks noChangeAspect="1" noChangeArrowheads="1"/>
          </p:cNvPicPr>
          <p:nvPr/>
        </p:nvPicPr>
        <p:blipFill>
          <a:blip r:embed="rId3" cstate="print"/>
          <a:srcRect/>
          <a:stretch>
            <a:fillRect/>
          </a:stretch>
        </p:blipFill>
        <p:spPr bwMode="auto">
          <a:xfrm>
            <a:off x="9865632" y="3569804"/>
            <a:ext cx="762000" cy="762000"/>
          </a:xfrm>
          <a:prstGeom prst="rect">
            <a:avLst/>
          </a:prstGeom>
          <a:noFill/>
        </p:spPr>
      </p:pic>
      <p:sp>
        <p:nvSpPr>
          <p:cNvPr id="8" name="Slide Number Placeholder 7"/>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29</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7714126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nvPr>
        </p:nvGraphicFramePr>
        <p:xfrm>
          <a:off x="1828801" y="1517497"/>
          <a:ext cx="8077201" cy="2667000"/>
        </p:xfrm>
        <a:graphic>
          <a:graphicData uri="http://schemas.openxmlformats.org/drawingml/2006/table">
            <a:tbl>
              <a:tblPr firstRow="1" bandRow="1">
                <a:tableStyleId>{5C22544A-7EE6-4342-B048-85BDC9FD1C3A}</a:tableStyleId>
              </a:tblPr>
              <a:tblGrid>
                <a:gridCol w="16764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219200">
                  <a:extLst>
                    <a:ext uri="{9D8B030D-6E8A-4147-A177-3AD203B41FA5}">
                      <a16:colId xmlns:a16="http://schemas.microsoft.com/office/drawing/2014/main" val="20004"/>
                    </a:ext>
                  </a:extLst>
                </a:gridCol>
                <a:gridCol w="1295401">
                  <a:extLst>
                    <a:ext uri="{9D8B030D-6E8A-4147-A177-3AD203B41FA5}">
                      <a16:colId xmlns:a16="http://schemas.microsoft.com/office/drawing/2014/main" val="20005"/>
                    </a:ext>
                  </a:extLst>
                </a:gridCol>
              </a:tblGrid>
              <a:tr h="370840">
                <a:tc>
                  <a:txBody>
                    <a:bodyPr/>
                    <a:lstStyle/>
                    <a:p>
                      <a:r>
                        <a:rPr lang="en-US" dirty="0"/>
                        <a:t>Requirement</a:t>
                      </a:r>
                    </a:p>
                  </a:txBody>
                  <a:tcPr/>
                </a:tc>
                <a:tc>
                  <a:txBody>
                    <a:bodyPr/>
                    <a:lstStyle/>
                    <a:p>
                      <a:r>
                        <a:rPr lang="en-US" dirty="0"/>
                        <a:t>Cost</a:t>
                      </a:r>
                    </a:p>
                    <a:p>
                      <a:r>
                        <a:rPr lang="en-US" dirty="0"/>
                        <a:t>Estimate</a:t>
                      </a:r>
                    </a:p>
                  </a:txBody>
                  <a:tcPr/>
                </a:tc>
                <a:tc>
                  <a:txBody>
                    <a:bodyPr/>
                    <a:lstStyle/>
                    <a:p>
                      <a:r>
                        <a:rPr lang="en-US" dirty="0"/>
                        <a:t>Performance Metric(s)</a:t>
                      </a:r>
                    </a:p>
                  </a:txBody>
                  <a:tcPr/>
                </a:tc>
                <a:tc>
                  <a:txBody>
                    <a:bodyPr/>
                    <a:lstStyle/>
                    <a:p>
                      <a:r>
                        <a:rPr lang="en-US" dirty="0"/>
                        <a:t>Rank</a:t>
                      </a:r>
                    </a:p>
                  </a:txBody>
                  <a:tcPr/>
                </a:tc>
                <a:tc>
                  <a:txBody>
                    <a:bodyPr/>
                    <a:lstStyle/>
                    <a:p>
                      <a:r>
                        <a:rPr lang="en-US" dirty="0"/>
                        <a:t>Schedule</a:t>
                      </a:r>
                    </a:p>
                  </a:txBody>
                  <a:tcPr/>
                </a:tc>
                <a:tc>
                  <a:txBody>
                    <a:bodyPr/>
                    <a:lstStyle/>
                    <a:p>
                      <a:r>
                        <a:rPr lang="en-US" dirty="0"/>
                        <a:t>Risk Factor</a:t>
                      </a:r>
                    </a:p>
                    <a:p>
                      <a:r>
                        <a:rPr lang="en-US" dirty="0"/>
                        <a:t>(5</a:t>
                      </a:r>
                      <a:r>
                        <a:rPr lang="en-US" baseline="0" dirty="0"/>
                        <a:t> high)</a:t>
                      </a:r>
                      <a:endParaRPr lang="en-US" dirty="0"/>
                    </a:p>
                  </a:txBody>
                  <a:tcPr/>
                </a:tc>
                <a:extLst>
                  <a:ext uri="{0D108BD9-81ED-4DB2-BD59-A6C34878D82A}">
                    <a16:rowId xmlns:a16="http://schemas.microsoft.com/office/drawing/2014/main" val="10000"/>
                  </a:ext>
                </a:extLst>
              </a:tr>
              <a:tr h="370840">
                <a:tc>
                  <a:txBody>
                    <a:bodyPr/>
                    <a:lstStyle/>
                    <a:p>
                      <a:r>
                        <a:rPr lang="en-US" dirty="0"/>
                        <a:t>…</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001"/>
                  </a:ext>
                </a:extLst>
              </a:tr>
              <a:tr h="370840">
                <a:tc>
                  <a:txBody>
                    <a:bodyPr/>
                    <a:lstStyle/>
                    <a:p>
                      <a:r>
                        <a:rPr lang="en-US" dirty="0"/>
                        <a:t>3.1.2</a:t>
                      </a:r>
                    </a:p>
                  </a:txBody>
                  <a:tcPr/>
                </a:tc>
                <a:tc>
                  <a:txBody>
                    <a:bodyPr/>
                    <a:lstStyle/>
                    <a:p>
                      <a:r>
                        <a:rPr lang="en-US" dirty="0"/>
                        <a:t>2.5K</a:t>
                      </a:r>
                    </a:p>
                  </a:txBody>
                  <a:tcPr/>
                </a:tc>
                <a:tc>
                  <a:txBody>
                    <a:bodyPr/>
                    <a:lstStyle/>
                    <a:p>
                      <a:r>
                        <a:rPr lang="en-US" dirty="0"/>
                        <a:t>Response time</a:t>
                      </a:r>
                    </a:p>
                  </a:txBody>
                  <a:tcPr/>
                </a:tc>
                <a:tc>
                  <a:txBody>
                    <a:bodyPr/>
                    <a:lstStyle/>
                    <a:p>
                      <a:r>
                        <a:rPr lang="en-US" dirty="0"/>
                        <a:t>high</a:t>
                      </a:r>
                    </a:p>
                  </a:txBody>
                  <a:tcPr/>
                </a:tc>
                <a:tc>
                  <a:txBody>
                    <a:bodyPr/>
                    <a:lstStyle/>
                    <a:p>
                      <a:r>
                        <a:rPr lang="en-US" dirty="0"/>
                        <a:t>.1 SM</a:t>
                      </a:r>
                    </a:p>
                  </a:txBody>
                  <a:tcPr/>
                </a:tc>
                <a:tc>
                  <a:txBody>
                    <a:bodyPr/>
                    <a:lstStyle/>
                    <a:p>
                      <a:r>
                        <a:rPr lang="en-US" dirty="0"/>
                        <a:t>5</a:t>
                      </a:r>
                    </a:p>
                  </a:txBody>
                  <a:tcPr/>
                </a:tc>
                <a:extLst>
                  <a:ext uri="{0D108BD9-81ED-4DB2-BD59-A6C34878D82A}">
                    <a16:rowId xmlns:a16="http://schemas.microsoft.com/office/drawing/2014/main" val="10002"/>
                  </a:ext>
                </a:extLst>
              </a:tr>
              <a:tr h="370840">
                <a:tc>
                  <a:txBody>
                    <a:bodyPr/>
                    <a:lstStyle/>
                    <a:p>
                      <a:r>
                        <a:rPr lang="en-US" dirty="0"/>
                        <a:t>3.1.3</a:t>
                      </a:r>
                    </a:p>
                  </a:txBody>
                  <a:tcPr/>
                </a:tc>
                <a:tc>
                  <a:txBody>
                    <a:bodyPr/>
                    <a:lstStyle/>
                    <a:p>
                      <a:r>
                        <a:rPr lang="en-US" dirty="0"/>
                        <a:t>5K</a:t>
                      </a:r>
                    </a:p>
                  </a:txBody>
                  <a:tcPr/>
                </a:tc>
                <a:tc>
                  <a:txBody>
                    <a:bodyPr/>
                    <a:lstStyle/>
                    <a:p>
                      <a:r>
                        <a:rPr lang="en-US" dirty="0"/>
                        <a:t>Accuracy</a:t>
                      </a:r>
                    </a:p>
                  </a:txBody>
                  <a:tcPr/>
                </a:tc>
                <a:tc>
                  <a:txBody>
                    <a:bodyPr/>
                    <a:lstStyle/>
                    <a:p>
                      <a:r>
                        <a:rPr lang="en-US" dirty="0"/>
                        <a:t>medium</a:t>
                      </a:r>
                    </a:p>
                  </a:txBody>
                  <a:tcPr/>
                </a:tc>
                <a:tc>
                  <a:txBody>
                    <a:bodyPr/>
                    <a:lstStyle/>
                    <a:p>
                      <a:r>
                        <a:rPr lang="en-US" dirty="0"/>
                        <a:t>.3</a:t>
                      </a:r>
                      <a:r>
                        <a:rPr lang="en-US" baseline="0" dirty="0"/>
                        <a:t> SM</a:t>
                      </a:r>
                      <a:endParaRPr lang="en-US" dirty="0"/>
                    </a:p>
                  </a:txBody>
                  <a:tcPr/>
                </a:tc>
                <a:tc>
                  <a:txBody>
                    <a:bodyPr/>
                    <a:lstStyle/>
                    <a:p>
                      <a:r>
                        <a:rPr lang="en-US" dirty="0"/>
                        <a:t>3</a:t>
                      </a:r>
                    </a:p>
                  </a:txBody>
                  <a:tcPr/>
                </a:tc>
                <a:extLst>
                  <a:ext uri="{0D108BD9-81ED-4DB2-BD59-A6C34878D82A}">
                    <a16:rowId xmlns:a16="http://schemas.microsoft.com/office/drawing/2014/main" val="10003"/>
                  </a:ext>
                </a:extLst>
              </a:tr>
              <a:tr h="370840">
                <a:tc>
                  <a:txBody>
                    <a:bodyPr/>
                    <a:lstStyle/>
                    <a:p>
                      <a:r>
                        <a:rPr lang="en-US" dirty="0"/>
                        <a:t>…</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004"/>
                  </a:ext>
                </a:extLst>
              </a:tr>
            </a:tbl>
          </a:graphicData>
        </a:graphic>
      </p:graphicFrame>
      <p:sp>
        <p:nvSpPr>
          <p:cNvPr id="3" name="Title 2"/>
          <p:cNvSpPr>
            <a:spLocks noGrp="1"/>
          </p:cNvSpPr>
          <p:nvPr>
            <p:ph type="title"/>
          </p:nvPr>
        </p:nvSpPr>
        <p:spPr/>
        <p:txBody>
          <a:bodyPr>
            <a:normAutofit fontScale="90000"/>
          </a:bodyPr>
          <a:lstStyle/>
          <a:p>
            <a:r>
              <a:rPr lang="en-US" dirty="0"/>
              <a:t>Risk matrix approach to affordability optimization</a:t>
            </a:r>
          </a:p>
        </p:txBody>
      </p:sp>
      <p:sp>
        <p:nvSpPr>
          <p:cNvPr id="5" name="TextBox 4"/>
          <p:cNvSpPr txBox="1"/>
          <p:nvPr/>
        </p:nvSpPr>
        <p:spPr>
          <a:xfrm>
            <a:off x="3048000" y="4847272"/>
            <a:ext cx="6096000" cy="147732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What about dependencies to other requirements?</a:t>
            </a:r>
          </a:p>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How do you quantify risk?</a:t>
            </a:r>
          </a:p>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What kinds of risks?</a:t>
            </a:r>
          </a:p>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What about internal consistency?</a:t>
            </a:r>
          </a:p>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What about profitability?</a:t>
            </a:r>
          </a:p>
        </p:txBody>
      </p:sp>
      <p:sp>
        <p:nvSpPr>
          <p:cNvPr id="6" name="TextBox 5"/>
          <p:cNvSpPr txBox="1"/>
          <p:nvPr/>
        </p:nvSpPr>
        <p:spPr>
          <a:xfrm>
            <a:off x="2209800" y="4114800"/>
            <a:ext cx="8001000"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Conduct tradeoff analysis based on some formulation of the above, …</a:t>
            </a:r>
          </a:p>
        </p:txBody>
      </p:sp>
      <p:sp>
        <p:nvSpPr>
          <p:cNvPr id="7" name="TextBox 6"/>
          <p:cNvSpPr txBox="1"/>
          <p:nvPr/>
        </p:nvSpPr>
        <p:spPr>
          <a:xfrm>
            <a:off x="5181600" y="4419601"/>
            <a:ext cx="3352800" cy="461665"/>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C000"/>
                </a:solidFill>
                <a:effectLst/>
                <a:uLnTx/>
                <a:uFillTx/>
                <a:latin typeface="Arial" charset="0"/>
                <a:ea typeface="+mn-ea"/>
                <a:cs typeface="+mn-cs"/>
              </a:rPr>
              <a:t>BUT</a:t>
            </a:r>
          </a:p>
        </p:txBody>
      </p:sp>
      <p:sp>
        <p:nvSpPr>
          <p:cNvPr id="10" name="Slide Number Placeholder 9"/>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682775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1524000" y="228600"/>
            <a:ext cx="8305800" cy="1143000"/>
          </a:xfrm>
        </p:spPr>
        <p:txBody>
          <a:bodyPr>
            <a:normAutofit fontScale="90000"/>
          </a:bodyPr>
          <a:lstStyle/>
          <a:p>
            <a:r>
              <a:rPr lang="en-US" dirty="0"/>
              <a:t>Problem with understanding win conditions</a:t>
            </a:r>
          </a:p>
        </p:txBody>
      </p:sp>
      <p:graphicFrame>
        <p:nvGraphicFramePr>
          <p:cNvPr id="3" name="Table 2"/>
          <p:cNvGraphicFramePr>
            <a:graphicFrameLocks noGrp="1"/>
          </p:cNvGraphicFramePr>
          <p:nvPr>
            <p:extLst>
              <p:ext uri="{D42A27DB-BD31-4B8C-83A1-F6EECF244321}">
                <p14:modId xmlns:p14="http://schemas.microsoft.com/office/powerpoint/2010/main" val="1051049907"/>
              </p:ext>
            </p:extLst>
          </p:nvPr>
        </p:nvGraphicFramePr>
        <p:xfrm>
          <a:off x="2819400" y="3810001"/>
          <a:ext cx="6934200" cy="1692021"/>
        </p:xfrm>
        <a:graphic>
          <a:graphicData uri="http://schemas.openxmlformats.org/drawingml/2006/table">
            <a:tbl>
              <a:tblPr/>
              <a:tblGrid>
                <a:gridCol w="2210393">
                  <a:extLst>
                    <a:ext uri="{9D8B030D-6E8A-4147-A177-3AD203B41FA5}">
                      <a16:colId xmlns:a16="http://schemas.microsoft.com/office/drawing/2014/main" val="20000"/>
                    </a:ext>
                  </a:extLst>
                </a:gridCol>
                <a:gridCol w="2375606">
                  <a:extLst>
                    <a:ext uri="{9D8B030D-6E8A-4147-A177-3AD203B41FA5}">
                      <a16:colId xmlns:a16="http://schemas.microsoft.com/office/drawing/2014/main" val="20001"/>
                    </a:ext>
                  </a:extLst>
                </a:gridCol>
                <a:gridCol w="2348201">
                  <a:extLst>
                    <a:ext uri="{9D8B030D-6E8A-4147-A177-3AD203B41FA5}">
                      <a16:colId xmlns:a16="http://schemas.microsoft.com/office/drawing/2014/main" val="20002"/>
                    </a:ext>
                  </a:extLst>
                </a:gridCol>
              </a:tblGrid>
              <a:tr h="564007">
                <a:tc>
                  <a:txBody>
                    <a:bodyPr/>
                    <a:lstStyle/>
                    <a:p>
                      <a:pPr marL="0" marR="0" indent="457200">
                        <a:lnSpc>
                          <a:spcPct val="200000"/>
                        </a:lnSpc>
                        <a:spcBef>
                          <a:spcPts val="0"/>
                        </a:spcBef>
                        <a:spcAft>
                          <a:spcPts val="0"/>
                        </a:spcAft>
                      </a:pPr>
                      <a:endParaRPr lang="en-US" sz="1800" dirty="0">
                        <a:solidFill>
                          <a:srgbClr val="C00000"/>
                        </a:solidFill>
                        <a:latin typeface="Times New Roman"/>
                        <a:ea typeface="Times New Roman"/>
                        <a:cs typeface="Arial"/>
                      </a:endParaRPr>
                    </a:p>
                  </a:txBody>
                  <a:tcPr marL="68580" marR="68580" marT="0" marB="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marL="0" marR="0">
                        <a:lnSpc>
                          <a:spcPct val="200000"/>
                        </a:lnSpc>
                        <a:spcBef>
                          <a:spcPts val="0"/>
                        </a:spcBef>
                        <a:spcAft>
                          <a:spcPts val="0"/>
                        </a:spcAft>
                      </a:pPr>
                      <a:r>
                        <a:rPr lang="en-US" sz="1800" b="1" dirty="0">
                          <a:solidFill>
                            <a:schemeClr val="tx2">
                              <a:lumMod val="10000"/>
                            </a:schemeClr>
                          </a:solidFill>
                          <a:latin typeface="Times New Roman"/>
                          <a:ea typeface="Times New Roman"/>
                          <a:cs typeface="Arial"/>
                        </a:rPr>
                        <a:t>Your Intuition Right</a:t>
                      </a:r>
                      <a:endParaRPr lang="en-US" sz="1800" dirty="0">
                        <a:solidFill>
                          <a:schemeClr val="tx2">
                            <a:lumMod val="10000"/>
                          </a:schemeClr>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solidFill>
                  </a:tcPr>
                </a:tc>
                <a:tc>
                  <a:txBody>
                    <a:bodyPr/>
                    <a:lstStyle/>
                    <a:p>
                      <a:pPr marL="0" marR="0">
                        <a:lnSpc>
                          <a:spcPct val="200000"/>
                        </a:lnSpc>
                        <a:spcBef>
                          <a:spcPts val="0"/>
                        </a:spcBef>
                        <a:spcAft>
                          <a:spcPts val="0"/>
                        </a:spcAft>
                      </a:pPr>
                      <a:r>
                        <a:rPr lang="en-US" sz="1800" b="1" dirty="0">
                          <a:solidFill>
                            <a:schemeClr val="tx2">
                              <a:lumMod val="10000"/>
                            </a:schemeClr>
                          </a:solidFill>
                          <a:latin typeface="Times New Roman"/>
                          <a:ea typeface="Times New Roman"/>
                          <a:cs typeface="Arial"/>
                        </a:rPr>
                        <a:t>Your Intuition Wrong</a:t>
                      </a:r>
                      <a:endParaRPr lang="en-US" sz="1800" dirty="0">
                        <a:solidFill>
                          <a:schemeClr val="tx2">
                            <a:lumMod val="10000"/>
                          </a:schemeClr>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64007">
                <a:tc>
                  <a:txBody>
                    <a:bodyPr/>
                    <a:lstStyle/>
                    <a:p>
                      <a:pPr marL="0" marR="0">
                        <a:lnSpc>
                          <a:spcPct val="200000"/>
                        </a:lnSpc>
                        <a:spcBef>
                          <a:spcPts val="0"/>
                        </a:spcBef>
                        <a:spcAft>
                          <a:spcPts val="0"/>
                        </a:spcAft>
                      </a:pPr>
                      <a:r>
                        <a:rPr lang="en-US" sz="1800" b="1" dirty="0">
                          <a:solidFill>
                            <a:srgbClr val="C00000"/>
                          </a:solidFill>
                          <a:latin typeface="Times New Roman"/>
                          <a:ea typeface="Times New Roman"/>
                          <a:cs typeface="Arial"/>
                        </a:rPr>
                        <a:t>Speak out </a:t>
                      </a:r>
                      <a:endParaRPr lang="en-US" sz="1800" dirty="0">
                        <a:solidFill>
                          <a:srgbClr val="C00000"/>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solidFill>
                  </a:tcPr>
                </a:tc>
                <a:tc>
                  <a:txBody>
                    <a:bodyPr/>
                    <a:lstStyle/>
                    <a:p>
                      <a:pPr marL="0" marR="0">
                        <a:lnSpc>
                          <a:spcPct val="200000"/>
                        </a:lnSpc>
                        <a:spcBef>
                          <a:spcPts val="0"/>
                        </a:spcBef>
                        <a:spcAft>
                          <a:spcPts val="0"/>
                        </a:spcAft>
                      </a:pPr>
                      <a:r>
                        <a:rPr lang="en-US" sz="1800" dirty="0">
                          <a:solidFill>
                            <a:schemeClr val="tx2">
                              <a:lumMod val="10000"/>
                            </a:schemeClr>
                          </a:solidFill>
                          <a:latin typeface="Times New Roman"/>
                          <a:ea typeface="Times New Roman"/>
                          <a:cs typeface="Arial"/>
                        </a:rPr>
                        <a:t>Small Loss </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00"/>
                    </a:solidFill>
                  </a:tcPr>
                </a:tc>
                <a:tc>
                  <a:txBody>
                    <a:bodyPr/>
                    <a:lstStyle/>
                    <a:p>
                      <a:pPr marL="0" marR="0">
                        <a:lnSpc>
                          <a:spcPct val="200000"/>
                        </a:lnSpc>
                        <a:spcBef>
                          <a:spcPts val="0"/>
                        </a:spcBef>
                        <a:spcAft>
                          <a:spcPts val="0"/>
                        </a:spcAft>
                      </a:pPr>
                      <a:r>
                        <a:rPr lang="en-US" sz="1800" dirty="0">
                          <a:solidFill>
                            <a:schemeClr val="tx2">
                              <a:lumMod val="10000"/>
                            </a:schemeClr>
                          </a:solidFill>
                          <a:latin typeface="Times New Roman"/>
                          <a:ea typeface="Times New Roman"/>
                          <a:cs typeface="Arial"/>
                        </a:rPr>
                        <a:t>Large Gain</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01"/>
                  </a:ext>
                </a:extLst>
              </a:tr>
              <a:tr h="564007">
                <a:tc>
                  <a:txBody>
                    <a:bodyPr/>
                    <a:lstStyle/>
                    <a:p>
                      <a:pPr marL="0" marR="0">
                        <a:lnSpc>
                          <a:spcPct val="200000"/>
                        </a:lnSpc>
                        <a:spcBef>
                          <a:spcPts val="0"/>
                        </a:spcBef>
                        <a:spcAft>
                          <a:spcPts val="0"/>
                        </a:spcAft>
                      </a:pPr>
                      <a:r>
                        <a:rPr lang="en-US" sz="1800" b="1" dirty="0">
                          <a:solidFill>
                            <a:srgbClr val="C00000"/>
                          </a:solidFill>
                          <a:latin typeface="Times New Roman"/>
                          <a:ea typeface="Times New Roman"/>
                          <a:cs typeface="Arial"/>
                        </a:rPr>
                        <a:t>Remain silent</a:t>
                      </a:r>
                      <a:endParaRPr lang="en-US" sz="1800" dirty="0">
                        <a:solidFill>
                          <a:srgbClr val="C00000"/>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solidFill>
                  </a:tcPr>
                </a:tc>
                <a:tc>
                  <a:txBody>
                    <a:bodyPr/>
                    <a:lstStyle/>
                    <a:p>
                      <a:pPr marL="0" marR="0">
                        <a:lnSpc>
                          <a:spcPct val="200000"/>
                        </a:lnSpc>
                        <a:spcBef>
                          <a:spcPts val="0"/>
                        </a:spcBef>
                        <a:spcAft>
                          <a:spcPts val="0"/>
                        </a:spcAft>
                      </a:pPr>
                      <a:r>
                        <a:rPr lang="en-US" sz="1800" dirty="0">
                          <a:solidFill>
                            <a:schemeClr val="tx2">
                              <a:lumMod val="10000"/>
                            </a:schemeClr>
                          </a:solidFill>
                          <a:latin typeface="Times New Roman"/>
                          <a:ea typeface="Times New Roman"/>
                          <a:cs typeface="Arial"/>
                        </a:rPr>
                        <a:t>Small Gain</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00"/>
                    </a:solidFill>
                  </a:tcPr>
                </a:tc>
                <a:tc>
                  <a:txBody>
                    <a:bodyPr/>
                    <a:lstStyle/>
                    <a:p>
                      <a:pPr marL="0" marR="0">
                        <a:lnSpc>
                          <a:spcPct val="200000"/>
                        </a:lnSpc>
                        <a:spcBef>
                          <a:spcPts val="0"/>
                        </a:spcBef>
                        <a:spcAft>
                          <a:spcPts val="0"/>
                        </a:spcAft>
                      </a:pPr>
                      <a:r>
                        <a:rPr lang="en-US" sz="1800" dirty="0">
                          <a:solidFill>
                            <a:schemeClr val="tx2">
                              <a:lumMod val="10000"/>
                            </a:schemeClr>
                          </a:solidFill>
                          <a:latin typeface="Times New Roman"/>
                          <a:ea typeface="Times New Roman"/>
                          <a:cs typeface="Arial"/>
                        </a:rPr>
                        <a:t>Large Loss</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bl>
          </a:graphicData>
        </a:graphic>
      </p:graphicFrame>
      <p:sp>
        <p:nvSpPr>
          <p:cNvPr id="4" name="TextBox 3"/>
          <p:cNvSpPr txBox="1"/>
          <p:nvPr/>
        </p:nvSpPr>
        <p:spPr>
          <a:xfrm>
            <a:off x="2438400" y="5715000"/>
            <a:ext cx="7391400"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“Pascal’s Wager” consequence matrix for requirements communication</a:t>
            </a:r>
          </a:p>
        </p:txBody>
      </p:sp>
      <p:sp>
        <p:nvSpPr>
          <p:cNvPr id="5" name="Cloud Callout 4"/>
          <p:cNvSpPr/>
          <p:nvPr/>
        </p:nvSpPr>
        <p:spPr>
          <a:xfrm>
            <a:off x="3810000" y="1676400"/>
            <a:ext cx="2667000" cy="762000"/>
          </a:xfrm>
          <a:prstGeom prst="cloudCallout">
            <a:avLst>
              <a:gd name="adj1" fmla="val -27205"/>
              <a:gd name="adj2" fmla="val 101654"/>
            </a:avLst>
          </a:prstGeom>
          <a:solidFill>
            <a:schemeClr val="accent1">
              <a:lumMod val="20000"/>
              <a:lumOff val="80000"/>
            </a:schemeClr>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rial"/>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FF0000"/>
                </a:solidFill>
                <a:effectLst/>
                <a:uLnTx/>
                <a:uFillTx/>
                <a:latin typeface="Arial"/>
                <a:ea typeface="+mn-ea"/>
                <a:cs typeface="+mn-cs"/>
              </a:rPr>
              <a:t>I wish we had </a:t>
            </a:r>
            <a:r>
              <a:rPr kumimoji="0" lang="en-US" sz="1800" b="0" i="0" u="none" strike="noStrike" kern="1200" cap="none" spc="0" normalizeH="0" baseline="0" noProof="0" dirty="0">
                <a:ln>
                  <a:noFill/>
                </a:ln>
                <a:solidFill>
                  <a:srgbClr val="FF0000"/>
                </a:solidFill>
                <a:effectLst/>
                <a:uLnTx/>
                <a:uFillTx/>
                <a:latin typeface="Arial"/>
                <a:ea typeface="+mn-ea"/>
                <a:cs typeface="+mn-cs"/>
              </a:rPr>
              <a:t>….</a:t>
            </a:r>
          </a:p>
        </p:txBody>
      </p:sp>
      <p:pic>
        <p:nvPicPr>
          <p:cNvPr id="92162" name="Picture 2" descr="C:\Documents and Settings\plaplante\Local Settings\Temporary Internet Files\Content.IE5\VK1SZ78L\MPj04421780000[1].jpg"/>
          <p:cNvPicPr>
            <a:picLocks noChangeAspect="1" noChangeArrowheads="1"/>
          </p:cNvPicPr>
          <p:nvPr/>
        </p:nvPicPr>
        <p:blipFill>
          <a:blip r:embed="rId2" cstate="print"/>
          <a:srcRect/>
          <a:stretch>
            <a:fillRect/>
          </a:stretch>
        </p:blipFill>
        <p:spPr bwMode="auto">
          <a:xfrm>
            <a:off x="3810000" y="3048000"/>
            <a:ext cx="990600" cy="990600"/>
          </a:xfrm>
          <a:prstGeom prst="rect">
            <a:avLst/>
          </a:prstGeom>
          <a:noFill/>
        </p:spPr>
      </p:pic>
      <p:sp>
        <p:nvSpPr>
          <p:cNvPr id="9" name="Slide Number Placeholder 8"/>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31</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37477026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10000"/>
          </a:bodyPr>
          <a:lstStyle/>
          <a:p>
            <a:pPr lvl="1"/>
            <a:r>
              <a:rPr lang="en-US" dirty="0"/>
              <a:t>Conflicting client-vendor goals</a:t>
            </a:r>
          </a:p>
          <a:p>
            <a:pPr lvl="1"/>
            <a:r>
              <a:rPr lang="en-US" dirty="0"/>
              <a:t>Low client involvement</a:t>
            </a:r>
          </a:p>
          <a:p>
            <a:pPr lvl="1"/>
            <a:r>
              <a:rPr lang="en-US" dirty="0"/>
              <a:t>Conflicting requirements engineering approaches (between client and vendor)</a:t>
            </a:r>
          </a:p>
          <a:p>
            <a:pPr lvl="1"/>
            <a:r>
              <a:rPr lang="en-US" dirty="0"/>
              <a:t>Misalignment of client commitment with project goals</a:t>
            </a:r>
          </a:p>
          <a:p>
            <a:pPr lvl="1"/>
            <a:r>
              <a:rPr lang="en-US" dirty="0"/>
              <a:t>Disagreements in tool selection</a:t>
            </a:r>
          </a:p>
          <a:p>
            <a:pPr lvl="1"/>
            <a:r>
              <a:rPr lang="en-US" dirty="0"/>
              <a:t>Communication issues</a:t>
            </a:r>
          </a:p>
          <a:p>
            <a:pPr lvl="1"/>
            <a:r>
              <a:rPr lang="en-US" dirty="0"/>
              <a:t>Disowning responsibility</a:t>
            </a:r>
          </a:p>
          <a:p>
            <a:pPr lvl="1"/>
            <a:r>
              <a:rPr lang="en-US" dirty="0"/>
              <a:t>Sign –off issues</a:t>
            </a:r>
          </a:p>
          <a:p>
            <a:pPr lvl="1"/>
            <a:r>
              <a:rPr lang="en-US" dirty="0"/>
              <a:t>Tools misaligned with expectation</a:t>
            </a:r>
          </a:p>
          <a:p>
            <a:endParaRPr lang="en-US" dirty="0"/>
          </a:p>
        </p:txBody>
      </p:sp>
      <p:sp>
        <p:nvSpPr>
          <p:cNvPr id="2" name="Title 1"/>
          <p:cNvSpPr>
            <a:spLocks noGrp="1"/>
          </p:cNvSpPr>
          <p:nvPr>
            <p:ph type="title"/>
          </p:nvPr>
        </p:nvSpPr>
        <p:spPr/>
        <p:txBody>
          <a:bodyPr>
            <a:normAutofit fontScale="90000"/>
          </a:bodyPr>
          <a:lstStyle/>
          <a:p>
            <a:r>
              <a:rPr lang="en-US" dirty="0"/>
              <a:t>Other problems with customer win conditions</a:t>
            </a:r>
          </a:p>
        </p:txBody>
      </p:sp>
      <p:sp>
        <p:nvSpPr>
          <p:cNvPr id="4" name="TextBox 3"/>
          <p:cNvSpPr txBox="1"/>
          <p:nvPr/>
        </p:nvSpPr>
        <p:spPr>
          <a:xfrm>
            <a:off x="2528776" y="6077893"/>
            <a:ext cx="7848600" cy="461665"/>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charset="0"/>
                <a:ea typeface="+mn-ea"/>
                <a:cs typeface="+mn-cs"/>
              </a:rPr>
              <a:t>Jyoti M. Bhat, Mayank Gupta, and Santhosh N. Murthy, Overcoming “Requirements Engineering Challenges: Lessons from Offshore Outsourcing,” </a:t>
            </a:r>
            <a:r>
              <a:rPr kumimoji="0" lang="en-US" sz="1200" b="0" i="1" u="none" strike="noStrike" kern="1200" cap="none" spc="0" normalizeH="0" baseline="0" noProof="0" dirty="0">
                <a:ln>
                  <a:noFill/>
                </a:ln>
                <a:solidFill>
                  <a:srgbClr val="FFFFFF"/>
                </a:solidFill>
                <a:effectLst/>
                <a:uLnTx/>
                <a:uFillTx/>
                <a:latin typeface="Arial" charset="0"/>
                <a:ea typeface="+mn-ea"/>
                <a:cs typeface="+mn-cs"/>
              </a:rPr>
              <a:t>IEEE Software</a:t>
            </a:r>
            <a:r>
              <a:rPr kumimoji="0" lang="en-US" sz="1200" b="0" i="0" u="none" strike="noStrike" kern="1200" cap="none" spc="0" normalizeH="0" baseline="0" noProof="0" dirty="0">
                <a:ln>
                  <a:noFill/>
                </a:ln>
                <a:solidFill>
                  <a:srgbClr val="FFFFFF"/>
                </a:solidFill>
                <a:effectLst/>
                <a:uLnTx/>
                <a:uFillTx/>
                <a:latin typeface="Arial" charset="0"/>
                <a:ea typeface="+mn-ea"/>
                <a:cs typeface="+mn-cs"/>
              </a:rPr>
              <a:t>, September/October 2006, pp. 38-44.</a:t>
            </a: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34200042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lvl="1"/>
            <a:r>
              <a:rPr lang="en-US" dirty="0"/>
              <a:t>Shared goal – that is, establish a project “metaphor”</a:t>
            </a:r>
          </a:p>
          <a:p>
            <a:pPr lvl="1"/>
            <a:r>
              <a:rPr lang="en-US" dirty="0"/>
              <a:t>Shared culture – in the project sense, not in the sociological sense</a:t>
            </a:r>
          </a:p>
          <a:p>
            <a:pPr lvl="1"/>
            <a:r>
              <a:rPr lang="en-US" dirty="0"/>
              <a:t>Shared process</a:t>
            </a:r>
          </a:p>
          <a:p>
            <a:pPr lvl="1"/>
            <a:r>
              <a:rPr lang="en-US" dirty="0"/>
              <a:t>Shared responsibility</a:t>
            </a:r>
          </a:p>
          <a:p>
            <a:pPr lvl="1"/>
            <a:r>
              <a:rPr lang="en-US" dirty="0"/>
              <a:t>Trust</a:t>
            </a:r>
          </a:p>
          <a:p>
            <a:endParaRPr lang="en-US" dirty="0"/>
          </a:p>
        </p:txBody>
      </p:sp>
      <p:sp>
        <p:nvSpPr>
          <p:cNvPr id="3" name="Title 2"/>
          <p:cNvSpPr>
            <a:spLocks noGrp="1"/>
          </p:cNvSpPr>
          <p:nvPr>
            <p:ph type="title"/>
          </p:nvPr>
        </p:nvSpPr>
        <p:spPr/>
        <p:txBody>
          <a:bodyPr/>
          <a:lstStyle/>
          <a:p>
            <a:r>
              <a:rPr lang="en-US" dirty="0"/>
              <a:t>Resolving client win conditions</a:t>
            </a: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33</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
        <p:nvSpPr>
          <p:cNvPr id="11" name="TextBox 10"/>
          <p:cNvSpPr txBox="1"/>
          <p:nvPr/>
        </p:nvSpPr>
        <p:spPr>
          <a:xfrm>
            <a:off x="2133600" y="5181600"/>
            <a:ext cx="4800600"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From Bhat et al., 2006.</a:t>
            </a:r>
          </a:p>
        </p:txBody>
      </p:sp>
    </p:spTree>
    <p:extLst>
      <p:ext uri="{BB962C8B-B14F-4D97-AF65-F5344CB8AC3E}">
        <p14:creationId xmlns:p14="http://schemas.microsoft.com/office/powerpoint/2010/main" val="20254529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Rectangle 3"/>
          <p:cNvSpPr>
            <a:spLocks noGrp="1" noChangeArrowheads="1"/>
          </p:cNvSpPr>
          <p:nvPr>
            <p:ph idx="1"/>
          </p:nvPr>
        </p:nvSpPr>
        <p:spPr>
          <a:noFill/>
        </p:spPr>
        <p:txBody>
          <a:bodyPr vert="horz" wrap="square" lIns="92075" tIns="46038" rIns="92075" bIns="46038" numCol="1" anchor="t" anchorCtr="0" compatLnSpc="1">
            <a:prstTxWarp prst="textNoShape">
              <a:avLst/>
            </a:prstTxWarp>
          </a:bodyPr>
          <a:lstStyle/>
          <a:p>
            <a:pPr eaLnBrk="1" hangingPunct="1"/>
            <a:r>
              <a:rPr lang="en-US" dirty="0"/>
              <a:t>Understand people’s expectations</a:t>
            </a:r>
          </a:p>
          <a:p>
            <a:pPr eaLnBrk="1" hangingPunct="1"/>
            <a:r>
              <a:rPr lang="en-US" dirty="0"/>
              <a:t>Set the ground rules up front</a:t>
            </a:r>
          </a:p>
          <a:p>
            <a:pPr eaLnBrk="1" hangingPunct="1"/>
            <a:r>
              <a:rPr lang="en-US" dirty="0"/>
              <a:t>Look for early successes</a:t>
            </a:r>
          </a:p>
          <a:p>
            <a:pPr eaLnBrk="1" hangingPunct="1"/>
            <a:r>
              <a:rPr lang="en-US" dirty="0"/>
              <a:t>Be sure to give a little</a:t>
            </a:r>
          </a:p>
          <a:p>
            <a:pPr eaLnBrk="1" hangingPunct="1"/>
            <a:r>
              <a:rPr lang="en-US" dirty="0"/>
              <a:t>Conclude negotiating only when all parties are satisfied</a:t>
            </a:r>
          </a:p>
        </p:txBody>
      </p:sp>
      <p:sp>
        <p:nvSpPr>
          <p:cNvPr id="39938" name="Slide Number Placeholder 5"/>
          <p:cNvSpPr>
            <a:spLocks noGrp="1"/>
          </p:cNvSpPr>
          <p:nvPr>
            <p:ph type="sldNum" sz="quarter" idx="12"/>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14140942-FE49-4FE3-B269-5636D556AB32}"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
        <p:nvSpPr>
          <p:cNvPr id="39939" name="AutoShape 2"/>
          <p:cNvSpPr>
            <a:spLocks noGrp="1" noChangeArrowheads="1"/>
          </p:cNvSpPr>
          <p:nvPr>
            <p:ph type="title"/>
          </p:nvPr>
        </p:nvSpPr>
        <p:spPr>
          <a:noFill/>
        </p:spPr>
        <p:txBody>
          <a:bodyPr vert="horz" wrap="square" lIns="92075" tIns="46038" rIns="92075" bIns="46038" numCol="1" anchor="ctr" anchorCtr="1" compatLnSpc="1">
            <a:prstTxWarp prst="textNoShape">
              <a:avLst/>
            </a:prstTxWarp>
          </a:bodyPr>
          <a:lstStyle/>
          <a:p>
            <a:pPr eaLnBrk="1" hangingPunct="1"/>
            <a:r>
              <a:rPr lang="en-US" dirty="0"/>
              <a:t>Win-win negotiating</a:t>
            </a:r>
          </a:p>
        </p:txBody>
      </p:sp>
    </p:spTree>
    <p:extLst>
      <p:ext uri="{BB962C8B-B14F-4D97-AF65-F5344CB8AC3E}">
        <p14:creationId xmlns:p14="http://schemas.microsoft.com/office/powerpoint/2010/main" val="2643339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schedule for cost</a:t>
            </a:r>
          </a:p>
          <a:p>
            <a:endParaRPr lang="en-US" dirty="0"/>
          </a:p>
          <a:p>
            <a:pPr>
              <a:buNone/>
            </a:pPr>
            <a:r>
              <a:rPr lang="en-US" dirty="0">
                <a:solidFill>
                  <a:srgbClr val="FF0000"/>
                </a:solidFill>
              </a:rPr>
              <a:t>	</a:t>
            </a:r>
            <a:r>
              <a:rPr lang="en-US" i="1" dirty="0"/>
              <a:t>Upon pressing the “launch missile button”, the system shall launch the missile within 40 ms.</a:t>
            </a:r>
          </a:p>
          <a:p>
            <a:pPr>
              <a:buNone/>
            </a:pPr>
            <a:endParaRPr lang="en-US" dirty="0"/>
          </a:p>
          <a:p>
            <a:pPr>
              <a:buNone/>
            </a:pPr>
            <a:r>
              <a:rPr lang="en-US" dirty="0"/>
              <a:t>	Cost: $75K, 2 staff months</a:t>
            </a:r>
          </a:p>
          <a:p>
            <a:pPr>
              <a:buNone/>
            </a:pPr>
            <a:endParaRPr lang="en-US" dirty="0"/>
          </a:p>
          <a:p>
            <a:r>
              <a:rPr lang="en-US" dirty="0"/>
              <a:t>Alternative: Maintain cost but relax schedule to 4 months.</a:t>
            </a:r>
          </a:p>
        </p:txBody>
      </p:sp>
      <p:sp>
        <p:nvSpPr>
          <p:cNvPr id="3" name="Title 2"/>
          <p:cNvSpPr>
            <a:spLocks noGrp="1"/>
          </p:cNvSpPr>
          <p:nvPr>
            <p:ph type="title"/>
          </p:nvPr>
        </p:nvSpPr>
        <p:spPr/>
        <p:txBody>
          <a:bodyPr/>
          <a:lstStyle/>
          <a:p>
            <a:r>
              <a:rPr lang="en-US" dirty="0"/>
              <a:t>Example 2</a:t>
            </a: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35</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18620278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cost for risk</a:t>
            </a:r>
          </a:p>
        </p:txBody>
      </p:sp>
      <p:sp>
        <p:nvSpPr>
          <p:cNvPr id="3" name="Title 2"/>
          <p:cNvSpPr>
            <a:spLocks noGrp="1"/>
          </p:cNvSpPr>
          <p:nvPr>
            <p:ph type="title"/>
          </p:nvPr>
        </p:nvSpPr>
        <p:spPr/>
        <p:txBody>
          <a:bodyPr/>
          <a:lstStyle/>
          <a:p>
            <a:r>
              <a:rPr lang="en-US" dirty="0"/>
              <a:t>Example 3</a:t>
            </a:r>
          </a:p>
        </p:txBody>
      </p:sp>
      <p:sp>
        <p:nvSpPr>
          <p:cNvPr id="4" name="Rectangle 3"/>
          <p:cNvSpPr/>
          <p:nvPr/>
        </p:nvSpPr>
        <p:spPr>
          <a:xfrm>
            <a:off x="2286000" y="2362201"/>
            <a:ext cx="807720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1" u="none" strike="noStrike" kern="1200" cap="none" spc="0" normalizeH="0" baseline="0" noProof="0" dirty="0">
                <a:ln>
                  <a:noFill/>
                </a:ln>
                <a:solidFill>
                  <a:srgbClr val="FFFFFF"/>
                </a:solidFill>
                <a:effectLst/>
                <a:uLnTx/>
                <a:uFillTx/>
                <a:latin typeface="Arial" charset="0"/>
                <a:ea typeface="+mn-ea"/>
                <a:cs typeface="+mn-cs"/>
              </a:rPr>
              <a:t>Upon pressing the “launch missile” button, the system shall launch the missile within 40 ms </a:t>
            </a:r>
            <a:r>
              <a:rPr kumimoji="0" lang="en-US" sz="2800" b="0" i="1" u="none" strike="noStrike" kern="1200" cap="none" spc="0" normalizeH="0" baseline="0" noProof="0" dirty="0">
                <a:ln>
                  <a:noFill/>
                </a:ln>
                <a:solidFill>
                  <a:srgbClr val="FFFF00"/>
                </a:solidFill>
                <a:effectLst/>
                <a:uLnTx/>
                <a:uFillTx/>
                <a:latin typeface="Arial" charset="0"/>
                <a:ea typeface="+mn-ea"/>
                <a:cs typeface="+mn-cs"/>
              </a:rPr>
              <a:t>with 99% certainty.</a:t>
            </a:r>
          </a:p>
        </p:txBody>
      </p:sp>
      <p:sp>
        <p:nvSpPr>
          <p:cNvPr id="5" name="Rectangle 4"/>
          <p:cNvSpPr/>
          <p:nvPr/>
        </p:nvSpPr>
        <p:spPr>
          <a:xfrm>
            <a:off x="2362200" y="4343401"/>
            <a:ext cx="754380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charset="0"/>
                <a:ea typeface="+mn-ea"/>
                <a:cs typeface="+mn-cs"/>
              </a:rPr>
              <a:t>Alternative: Recognize that hard schedulability guarantees are virtually impossible and expensive.</a:t>
            </a:r>
          </a:p>
        </p:txBody>
      </p:sp>
      <p:sp>
        <p:nvSpPr>
          <p:cNvPr id="8" name="Slide Number Placeholder 7"/>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5078194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performance (accuracy) for cost</a:t>
            </a:r>
          </a:p>
        </p:txBody>
      </p:sp>
      <p:sp>
        <p:nvSpPr>
          <p:cNvPr id="3" name="Title 2"/>
          <p:cNvSpPr>
            <a:spLocks noGrp="1"/>
          </p:cNvSpPr>
          <p:nvPr>
            <p:ph type="title"/>
          </p:nvPr>
        </p:nvSpPr>
        <p:spPr/>
        <p:txBody>
          <a:bodyPr/>
          <a:lstStyle/>
          <a:p>
            <a:r>
              <a:rPr lang="en-US" dirty="0"/>
              <a:t>Example 4</a:t>
            </a:r>
          </a:p>
        </p:txBody>
      </p:sp>
      <p:sp>
        <p:nvSpPr>
          <p:cNvPr id="4" name="Rectangle 3"/>
          <p:cNvSpPr/>
          <p:nvPr/>
        </p:nvSpPr>
        <p:spPr>
          <a:xfrm>
            <a:off x="2286000" y="2209801"/>
            <a:ext cx="7848600" cy="95410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1" u="none" strike="noStrike" kern="1200" cap="none" spc="0" normalizeH="0" baseline="0" noProof="0" dirty="0">
                <a:ln>
                  <a:noFill/>
                </a:ln>
                <a:solidFill>
                  <a:srgbClr val="FFFFFF"/>
                </a:solidFill>
                <a:effectLst/>
                <a:uLnTx/>
                <a:uFillTx/>
                <a:latin typeface="Arial" charset="0"/>
                <a:ea typeface="+mn-ea"/>
                <a:cs typeface="+mn-cs"/>
              </a:rPr>
              <a:t>Upon pressing the “launch missile” button, the system shall launch the missile </a:t>
            </a:r>
            <a:r>
              <a:rPr kumimoji="0" lang="en-US" sz="2800" b="0" i="1" u="none" strike="noStrike" kern="1200" cap="none" spc="0" normalizeH="0" baseline="0" noProof="0" dirty="0">
                <a:ln>
                  <a:noFill/>
                </a:ln>
                <a:solidFill>
                  <a:srgbClr val="FFFF00"/>
                </a:solidFill>
                <a:effectLst/>
                <a:uLnTx/>
                <a:uFillTx/>
                <a:latin typeface="Arial" charset="0"/>
                <a:ea typeface="+mn-ea"/>
                <a:cs typeface="+mn-cs"/>
              </a:rPr>
              <a:t>within 100 ms.</a:t>
            </a:r>
          </a:p>
        </p:txBody>
      </p:sp>
      <p:sp>
        <p:nvSpPr>
          <p:cNvPr id="5" name="Rectangle 4"/>
          <p:cNvSpPr/>
          <p:nvPr/>
        </p:nvSpPr>
        <p:spPr>
          <a:xfrm>
            <a:off x="2286000" y="3962401"/>
            <a:ext cx="7543800" cy="95410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charset="0"/>
                <a:ea typeface="+mn-ea"/>
                <a:cs typeface="+mn-cs"/>
              </a:rPr>
              <a:t>Alternative: Relax time to launch in order to meet schedulability constraints.</a:t>
            </a:r>
          </a:p>
        </p:txBody>
      </p:sp>
      <p:sp>
        <p:nvSpPr>
          <p:cNvPr id="8" name="Slide Number Placeholder 7"/>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37</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13412889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Picture 3" descr="101010 data lines to infinity">
            <a:extLst>
              <a:ext uri="{FF2B5EF4-FFF2-40B4-BE49-F238E27FC236}">
                <a16:creationId xmlns:a16="http://schemas.microsoft.com/office/drawing/2014/main" id="{88D03A41-A45E-B689-C63E-3F80665F7258}"/>
              </a:ext>
            </a:extLst>
          </p:cNvPr>
          <p:cNvPicPr>
            <a:picLocks noChangeAspect="1"/>
          </p:cNvPicPr>
          <p:nvPr/>
        </p:nvPicPr>
        <p:blipFill rotWithShape="1">
          <a:blip r:embed="rId2"/>
          <a:srcRect r="18157" b="1"/>
          <a:stretch/>
        </p:blipFill>
        <p:spPr>
          <a:xfrm>
            <a:off x="3523488" y="10"/>
            <a:ext cx="8668512" cy="6857990"/>
          </a:xfrm>
          <a:prstGeom prst="rect">
            <a:avLst/>
          </a:prstGeom>
        </p:spPr>
      </p:pic>
      <p:sp>
        <p:nvSpPr>
          <p:cNvPr id="10" name="Rectangle 9">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CCD8DEF-931C-6FF5-138C-0040BB600A3E}"/>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solidFill>
                  <a:schemeClr val="bg1"/>
                </a:solidFill>
              </a:rPr>
              <a:t>Traceability Help in Mitigating Risks</a:t>
            </a:r>
          </a:p>
        </p:txBody>
      </p:sp>
      <p:sp>
        <p:nvSpPr>
          <p:cNvPr id="12" name="Rectangle 1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463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4965430" y="629268"/>
            <a:ext cx="6586491" cy="1286160"/>
          </a:xfrm>
        </p:spPr>
        <p:txBody>
          <a:bodyPr anchor="b">
            <a:normAutofit/>
          </a:bodyPr>
          <a:lstStyle/>
          <a:p>
            <a:pPr eaLnBrk="1" hangingPunct="1">
              <a:defRPr/>
            </a:pPr>
            <a:r>
              <a:rPr lang="en-US" altLang="en-US"/>
              <a:t>Traceability</a:t>
            </a:r>
          </a:p>
        </p:txBody>
      </p:sp>
      <p:sp>
        <p:nvSpPr>
          <p:cNvPr id="119811" name="Rectangle 3"/>
          <p:cNvSpPr>
            <a:spLocks noGrp="1" noChangeArrowheads="1"/>
          </p:cNvSpPr>
          <p:nvPr>
            <p:ph type="body" idx="1"/>
          </p:nvPr>
        </p:nvSpPr>
        <p:spPr>
          <a:xfrm>
            <a:off x="4965431" y="2438400"/>
            <a:ext cx="6586489" cy="3785419"/>
          </a:xfrm>
        </p:spPr>
        <p:txBody>
          <a:bodyPr>
            <a:normAutofit/>
          </a:bodyPr>
          <a:lstStyle/>
          <a:p>
            <a:pPr eaLnBrk="1" hangingPunct="1">
              <a:defRPr/>
            </a:pPr>
            <a:r>
              <a:rPr lang="en-GB" sz="2000"/>
              <a:t>Traceability is concerned with the relationships between requirements, their sources and the system design</a:t>
            </a:r>
          </a:p>
          <a:p>
            <a:pPr lvl="1" eaLnBrk="1" hangingPunct="1">
              <a:defRPr/>
            </a:pPr>
            <a:r>
              <a:rPr lang="en-GB" sz="2000"/>
              <a:t>Source traceability</a:t>
            </a:r>
          </a:p>
          <a:p>
            <a:pPr lvl="2" eaLnBrk="1" hangingPunct="1">
              <a:defRPr/>
            </a:pPr>
            <a:r>
              <a:rPr lang="en-GB" dirty="0"/>
              <a:t>Links from requirements to stakeholders who proposed these requirements</a:t>
            </a:r>
          </a:p>
          <a:p>
            <a:pPr lvl="1" eaLnBrk="1" hangingPunct="1">
              <a:defRPr/>
            </a:pPr>
            <a:r>
              <a:rPr lang="en-GB" sz="2000"/>
              <a:t>Requirements traceability</a:t>
            </a:r>
          </a:p>
          <a:p>
            <a:pPr lvl="2" eaLnBrk="1" hangingPunct="1">
              <a:defRPr/>
            </a:pPr>
            <a:r>
              <a:rPr lang="en-GB" dirty="0"/>
              <a:t>Links between dependent requirements</a:t>
            </a:r>
          </a:p>
          <a:p>
            <a:pPr lvl="1" eaLnBrk="1" hangingPunct="1">
              <a:defRPr/>
            </a:pPr>
            <a:r>
              <a:rPr lang="en-GB" sz="2000"/>
              <a:t>Design traceability</a:t>
            </a:r>
          </a:p>
          <a:p>
            <a:pPr lvl="2" eaLnBrk="1" hangingPunct="1">
              <a:defRPr/>
            </a:pPr>
            <a:r>
              <a:rPr lang="en-GB" dirty="0"/>
              <a:t>Links from the requirements to the design</a:t>
            </a:r>
          </a:p>
        </p:txBody>
      </p:sp>
      <p:pic>
        <p:nvPicPr>
          <p:cNvPr id="119813" name="Picture 119812" descr="A person reaching for a paper on a table full of paper and sticky notes">
            <a:extLst>
              <a:ext uri="{FF2B5EF4-FFF2-40B4-BE49-F238E27FC236}">
                <a16:creationId xmlns:a16="http://schemas.microsoft.com/office/drawing/2014/main" id="{297724A0-641A-129A-8030-ACB02170A2DC}"/>
              </a:ext>
            </a:extLst>
          </p:cNvPr>
          <p:cNvPicPr>
            <a:picLocks noChangeAspect="1"/>
          </p:cNvPicPr>
          <p:nvPr/>
        </p:nvPicPr>
        <p:blipFill rotWithShape="1">
          <a:blip r:embed="rId3"/>
          <a:srcRect l="26944" r="27937" b="-1"/>
          <a:stretch/>
        </p:blipFill>
        <p:spPr>
          <a:xfrm>
            <a:off x="20" y="10"/>
            <a:ext cx="4635571" cy="6857990"/>
          </a:xfrm>
          <a:prstGeom prst="rect">
            <a:avLst/>
          </a:prstGeom>
          <a:effectLst/>
        </p:spPr>
      </p:pic>
      <p:cxnSp>
        <p:nvCxnSpPr>
          <p:cNvPr id="119817" name="Straight Connector 119816">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80934" y="2115117"/>
            <a:ext cx="6309360" cy="0"/>
          </a:xfrm>
          <a:prstGeom prst="line">
            <a:avLst/>
          </a:prstGeom>
          <a:ln w="19050">
            <a:solidFill>
              <a:srgbClr val="DB4F85"/>
            </a:solidFill>
          </a:ln>
        </p:spPr>
        <p:style>
          <a:lnRef idx="1">
            <a:schemeClr val="accent1"/>
          </a:lnRef>
          <a:fillRef idx="0">
            <a:schemeClr val="accent1"/>
          </a:fillRef>
          <a:effectRef idx="0">
            <a:schemeClr val="accent1"/>
          </a:effectRef>
          <a:fontRef idx="minor">
            <a:schemeClr val="tx1"/>
          </a:fontRef>
        </p:style>
      </p:cxnSp>
      <p:sp>
        <p:nvSpPr>
          <p:cNvPr id="2" name="Slide Number Placeholder 1"/>
          <p:cNvSpPr>
            <a:spLocks noGrp="1"/>
          </p:cNvSpPr>
          <p:nvPr>
            <p:ph type="sldNum" sz="quarter" idx="12"/>
          </p:nvPr>
        </p:nvSpPr>
        <p:spPr>
          <a:xfrm>
            <a:off x="10167042" y="6356350"/>
            <a:ext cx="1186758"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BE8D4D8C-92DE-4FE3-A230-151E93690843}" type="slidenum">
              <a:rPr kumimoji="0" lang="en-US" altLang="en-US" sz="1200" b="0" i="0" u="none" strike="noStrike" kern="1200" cap="none" spc="0" normalizeH="0" baseline="0" noProof="0">
                <a:ln>
                  <a:noFill/>
                </a:ln>
                <a:solidFill>
                  <a:prstClr val="black"/>
                </a:solidFill>
                <a:effectLst>
                  <a:outerShdw blurRad="38100" dist="38100" dir="2700000" algn="tl">
                    <a:srgbClr val="000000"/>
                  </a:outerShdw>
                </a:effectLst>
                <a:uLnTx/>
                <a:uFillTx/>
                <a:latin typeface="Arial" panose="020B0604020202020204"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39</a:t>
            </a:fld>
            <a:endParaRPr kumimoji="0" lang="en-US" altLang="en-US" sz="1200" b="0" i="0" u="none" strike="noStrike" kern="1200" cap="none" spc="0" normalizeH="0" baseline="0" noProof="0">
              <a:ln>
                <a:noFill/>
              </a:ln>
              <a:solidFill>
                <a:prstClr val="black"/>
              </a:solidFill>
              <a:effectLst>
                <a:outerShdw blurRad="38100" dist="38100" dir="2700000" algn="tl">
                  <a:srgbClr val="000000"/>
                </a:outerShdw>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2753949884"/>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Content Placeholder 4" descr="Table&#10;&#10;Description automatically generated">
            <a:extLst>
              <a:ext uri="{FF2B5EF4-FFF2-40B4-BE49-F238E27FC236}">
                <a16:creationId xmlns:a16="http://schemas.microsoft.com/office/drawing/2014/main" id="{76F5F8EA-00E3-9A28-511F-E34BA2DC6F79}"/>
              </a:ext>
            </a:extLst>
          </p:cNvPr>
          <p:cNvPicPr>
            <a:picLocks noGrp="1" noChangeAspect="1"/>
          </p:cNvPicPr>
          <p:nvPr>
            <p:ph idx="1"/>
          </p:nvPr>
        </p:nvPicPr>
        <p:blipFill>
          <a:blip r:embed="rId2"/>
          <a:stretch>
            <a:fillRect/>
          </a:stretch>
        </p:blipFill>
        <p:spPr>
          <a:xfrm>
            <a:off x="1865680" y="457200"/>
            <a:ext cx="8460639" cy="5943600"/>
          </a:xfrm>
          <a:prstGeom prst="rect">
            <a:avLst/>
          </a:prstGeom>
        </p:spPr>
      </p:pic>
    </p:spTree>
    <p:extLst>
      <p:ext uri="{BB962C8B-B14F-4D97-AF65-F5344CB8AC3E}">
        <p14:creationId xmlns:p14="http://schemas.microsoft.com/office/powerpoint/2010/main" val="4779651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Content Placeholder 4">
            <a:extLst>
              <a:ext uri="{FF2B5EF4-FFF2-40B4-BE49-F238E27FC236}">
                <a16:creationId xmlns:a16="http://schemas.microsoft.com/office/drawing/2014/main" id="{C6F59659-36AA-5106-A9FE-4E9D63EF1283}"/>
              </a:ext>
            </a:extLst>
          </p:cNvPr>
          <p:cNvPicPr>
            <a:picLocks noGrp="1" noChangeAspect="1"/>
          </p:cNvPicPr>
          <p:nvPr>
            <p:ph idx="1"/>
          </p:nvPr>
        </p:nvPicPr>
        <p:blipFill>
          <a:blip r:embed="rId2"/>
          <a:stretch>
            <a:fillRect/>
          </a:stretch>
        </p:blipFill>
        <p:spPr>
          <a:xfrm>
            <a:off x="1593273" y="457200"/>
            <a:ext cx="9005454" cy="5943600"/>
          </a:xfrm>
          <a:prstGeom prst="rect">
            <a:avLst/>
          </a:prstGeom>
        </p:spPr>
      </p:pic>
    </p:spTree>
    <p:extLst>
      <p:ext uri="{BB962C8B-B14F-4D97-AF65-F5344CB8AC3E}">
        <p14:creationId xmlns:p14="http://schemas.microsoft.com/office/powerpoint/2010/main" val="903347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Content Placeholder 4">
            <a:extLst>
              <a:ext uri="{FF2B5EF4-FFF2-40B4-BE49-F238E27FC236}">
                <a16:creationId xmlns:a16="http://schemas.microsoft.com/office/drawing/2014/main" id="{9E335A9D-145E-4D05-3F52-9173C0FA9857}"/>
              </a:ext>
            </a:extLst>
          </p:cNvPr>
          <p:cNvPicPr>
            <a:picLocks noGrp="1" noChangeAspect="1"/>
          </p:cNvPicPr>
          <p:nvPr>
            <p:ph idx="1"/>
          </p:nvPr>
        </p:nvPicPr>
        <p:blipFill>
          <a:blip r:embed="rId3"/>
          <a:stretch>
            <a:fillRect/>
          </a:stretch>
        </p:blipFill>
        <p:spPr>
          <a:xfrm>
            <a:off x="643467" y="1575139"/>
            <a:ext cx="10905066" cy="3707722"/>
          </a:xfrm>
          <a:prstGeom prst="rect">
            <a:avLst/>
          </a:prstGeom>
        </p:spPr>
      </p:pic>
    </p:spTree>
    <p:extLst>
      <p:ext uri="{BB962C8B-B14F-4D97-AF65-F5344CB8AC3E}">
        <p14:creationId xmlns:p14="http://schemas.microsoft.com/office/powerpoint/2010/main" val="21311194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4" name="Freeform: Shape 73">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962" name="Rectangle 2"/>
          <p:cNvSpPr>
            <a:spLocks noGrp="1" noChangeArrowheads="1"/>
          </p:cNvSpPr>
          <p:nvPr>
            <p:ph type="title"/>
          </p:nvPr>
        </p:nvSpPr>
        <p:spPr>
          <a:xfrm>
            <a:off x="686834" y="1153572"/>
            <a:ext cx="3200400" cy="4461163"/>
          </a:xfrm>
        </p:spPr>
        <p:txBody>
          <a:bodyPr>
            <a:normAutofit/>
          </a:bodyPr>
          <a:lstStyle/>
          <a:p>
            <a:r>
              <a:rPr lang="en-US">
                <a:solidFill>
                  <a:srgbClr val="FFFFFF"/>
                </a:solidFill>
              </a:rPr>
              <a:t>The Test Coverage Matrix</a:t>
            </a:r>
          </a:p>
        </p:txBody>
      </p:sp>
      <p:sp>
        <p:nvSpPr>
          <p:cNvPr id="76" name="Arc 7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8963" name="Rectangle 3"/>
          <p:cNvSpPr>
            <a:spLocks noGrp="1" noChangeArrowheads="1"/>
          </p:cNvSpPr>
          <p:nvPr>
            <p:ph type="body" idx="1"/>
          </p:nvPr>
        </p:nvSpPr>
        <p:spPr>
          <a:xfrm>
            <a:off x="4447308" y="591344"/>
            <a:ext cx="6906491" cy="5585619"/>
          </a:xfrm>
        </p:spPr>
        <p:txBody>
          <a:bodyPr anchor="ctr">
            <a:normAutofit/>
          </a:bodyPr>
          <a:lstStyle/>
          <a:p>
            <a:r>
              <a:rPr lang="en-US"/>
              <a:t>Ensures that requirements are listed.</a:t>
            </a:r>
          </a:p>
          <a:p>
            <a:r>
              <a:rPr lang="en-US"/>
              <a:t>Identifies the tests associated with each requirement.</a:t>
            </a:r>
          </a:p>
          <a:p>
            <a:r>
              <a:rPr lang="en-US"/>
              <a:t>Facilitates review of requirements and the tests.</a:t>
            </a:r>
          </a:p>
          <a:p>
            <a:r>
              <a:rPr lang="en-US"/>
              <a:t>Provides an easy mechanism to track status of test case design and review program.</a:t>
            </a:r>
          </a:p>
          <a:p>
            <a:r>
              <a:rPr lang="en-US"/>
              <a:t>Is easily made part of the master test plan and can be updated throughout the project to give a record of all requirements testing.</a:t>
            </a:r>
          </a:p>
          <a:p>
            <a:endParaRPr lang="en-US"/>
          </a:p>
        </p:txBody>
      </p:sp>
      <p:sp>
        <p:nvSpPr>
          <p:cNvPr id="6" name="Slide Number Placeholder 5"/>
          <p:cNvSpPr>
            <a:spLocks noGrp="1"/>
          </p:cNvSpPr>
          <p:nvPr>
            <p:ph type="sldNum" sz="quarter" idx="12"/>
          </p:nvPr>
        </p:nvSpPr>
        <p:spPr>
          <a:xfrm>
            <a:off x="9541564" y="6356350"/>
            <a:ext cx="1812235"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E44BFB8-5C4F-4AB3-BC4E-49C70684CAE9}"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Arc 75">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474114" name="Rectangle 2"/>
          <p:cNvSpPr>
            <a:spLocks noGrp="1" noChangeArrowheads="1"/>
          </p:cNvSpPr>
          <p:nvPr>
            <p:ph type="title"/>
          </p:nvPr>
        </p:nvSpPr>
        <p:spPr>
          <a:xfrm>
            <a:off x="5894962" y="479493"/>
            <a:ext cx="5458838" cy="1325563"/>
          </a:xfrm>
        </p:spPr>
        <p:txBody>
          <a:bodyPr vert="horz" lIns="91440" tIns="45720" rIns="91440" bIns="45720" rtlCol="0" anchor="ctr">
            <a:normAutofit/>
          </a:bodyPr>
          <a:lstStyle/>
          <a:p>
            <a:r>
              <a:rPr lang="en-US" kern="1200">
                <a:solidFill>
                  <a:schemeClr val="tx1"/>
                </a:solidFill>
                <a:latin typeface="+mj-lt"/>
                <a:ea typeface="+mj-ea"/>
                <a:cs typeface="+mj-cs"/>
              </a:rPr>
              <a:t>Test Coverage Matrix</a:t>
            </a:r>
          </a:p>
        </p:txBody>
      </p:sp>
      <p:sp>
        <p:nvSpPr>
          <p:cNvPr id="78" name="Freeform: Shape 77">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74117" name="Picture 5" descr="CoverageMatrix"/>
          <p:cNvPicPr>
            <a:picLocks noGrp="1" noChangeAspect="1" noChangeArrowheads="1"/>
          </p:cNvPicPr>
          <p:nvPr>
            <p:ph idx="1"/>
          </p:nvPr>
        </p:nvPicPr>
        <p:blipFill>
          <a:blip r:embed="rId3" cstate="print"/>
          <a:stretch>
            <a:fillRect/>
          </a:stretch>
        </p:blipFill>
        <p:spPr>
          <a:xfrm>
            <a:off x="703182" y="1751668"/>
            <a:ext cx="4777381" cy="3184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6" name="TextBox 5"/>
          <p:cNvSpPr txBox="1"/>
          <p:nvPr/>
        </p:nvSpPr>
        <p:spPr>
          <a:xfrm>
            <a:off x="5894962" y="1984443"/>
            <a:ext cx="5458838" cy="4192520"/>
          </a:xfrm>
          <a:prstGeom prst="rect">
            <a:avLst/>
          </a:prstGeom>
        </p:spPr>
        <p:txBody>
          <a:bodyPr vert="horz" lIns="91440" tIns="45720" rIns="91440" bIns="45720" rtlCol="0">
            <a:normAutofit/>
          </a:bodyPr>
          <a:lstStyle/>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T</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i</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 are test case numbers ,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N</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k</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 are requirements numbers from SRS.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A</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ij</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=X if test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T</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i</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tests requirement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N</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j</a:t>
            </a:r>
          </a:p>
        </p:txBody>
      </p:sp>
      <p:sp>
        <p:nvSpPr>
          <p:cNvPr id="5" name="Rectangle 19"/>
          <p:cNvSpPr>
            <a:spLocks noGrp="1" noChangeArrowheads="1"/>
          </p:cNvSpPr>
          <p:nvPr>
            <p:ph type="sldNum" sz="quarter" idx="12"/>
          </p:nvPr>
        </p:nvSpPr>
        <p:spPr>
          <a:xfrm>
            <a:off x="8610600" y="6356350"/>
            <a:ext cx="2743200"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DE576698-1B82-4B16-BFA3-EEBE0E9D0C2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2" name="Straight Connector 101">
            <a:extLst>
              <a:ext uri="{FF2B5EF4-FFF2-40B4-BE49-F238E27FC236}">
                <a16:creationId xmlns:a16="http://schemas.microsoft.com/office/drawing/2014/main" id="{D2E961F1-4A28-4A5F-BBD4-6E400E5E6C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72357"/>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104" name="Rectangle 103">
            <a:extLst>
              <a:ext uri="{FF2B5EF4-FFF2-40B4-BE49-F238E27FC236}">
                <a16:creationId xmlns:a16="http://schemas.microsoft.com/office/drawing/2014/main" id="{7F57BEA8-497D-4AA8-8A18-BDCD696B2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596"/>
            <a:ext cx="12192000" cy="1735555"/>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4562" name="Rectangle 2"/>
          <p:cNvSpPr>
            <a:spLocks noGrp="1" noChangeArrowheads="1"/>
          </p:cNvSpPr>
          <p:nvPr>
            <p:ph type="title"/>
          </p:nvPr>
        </p:nvSpPr>
        <p:spPr>
          <a:xfrm>
            <a:off x="526073" y="489439"/>
            <a:ext cx="11139854" cy="930447"/>
          </a:xfrm>
        </p:spPr>
        <p:txBody>
          <a:bodyPr vert="horz" lIns="91440" tIns="45720" rIns="91440" bIns="45720" rtlCol="0" anchor="b">
            <a:normAutofit/>
          </a:bodyPr>
          <a:lstStyle/>
          <a:p>
            <a:pPr algn="ctr"/>
            <a:r>
              <a:rPr lang="en-US" sz="5400" kern="1200">
                <a:solidFill>
                  <a:schemeClr val="bg1"/>
                </a:solidFill>
                <a:latin typeface="+mj-lt"/>
                <a:ea typeface="+mj-ea"/>
                <a:cs typeface="+mj-cs"/>
              </a:rPr>
              <a:t>Test Coverage Matrix : Example</a:t>
            </a:r>
          </a:p>
        </p:txBody>
      </p:sp>
      <p:cxnSp>
        <p:nvCxnSpPr>
          <p:cNvPr id="106" name="Straight Connector 105">
            <a:extLst>
              <a:ext uri="{FF2B5EF4-FFF2-40B4-BE49-F238E27FC236}">
                <a16:creationId xmlns:a16="http://schemas.microsoft.com/office/drawing/2014/main" id="{A82415D3-DDE5-4D63-8CB3-23A5EC581B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1479733"/>
            <a:ext cx="2743200" cy="0"/>
          </a:xfrm>
          <a:prstGeom prst="line">
            <a:avLst/>
          </a:prstGeom>
          <a:ln w="19050">
            <a:solidFill>
              <a:schemeClr val="bg1">
                <a:alpha val="75000"/>
              </a:schemeClr>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AD7193FB-6AE6-4B3B-8F89-56B55DD63B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201402"/>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0" name="Slide Number Placeholder 4"/>
          <p:cNvSpPr>
            <a:spLocks noGrp="1"/>
          </p:cNvSpPr>
          <p:nvPr>
            <p:ph type="sldNum" sz="quarter" idx="12"/>
          </p:nvPr>
        </p:nvSpPr>
        <p:spPr>
          <a:xfrm>
            <a:off x="8610600" y="6522430"/>
            <a:ext cx="2743200" cy="347472"/>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61FB552-B5F3-44BF-84B4-AEDD87C0DFBA}" type="slidenum">
              <a:rPr kumimoji="0" lang="en-US" sz="1200" b="0" i="0" u="none" strike="noStrike" kern="1200" cap="none" spc="0" normalizeH="0" baseline="0" noProof="0">
                <a:ln>
                  <a:noFill/>
                </a:ln>
                <a:solidFill>
                  <a:srgbClr val="898989"/>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45</a:t>
            </a:fld>
            <a:endParaRPr kumimoji="0" lang="en-US" sz="1200" b="0" i="0" u="none" strike="noStrike" kern="1200" cap="none" spc="0" normalizeH="0" baseline="0" noProof="0">
              <a:ln>
                <a:noFill/>
              </a:ln>
              <a:solidFill>
                <a:srgbClr val="898989"/>
              </a:solidFill>
              <a:effectLst/>
              <a:uLnTx/>
              <a:uFillTx/>
              <a:latin typeface="Calibri" panose="020F0502020204030204"/>
              <a:ea typeface="+mn-ea"/>
              <a:cs typeface="+mn-cs"/>
            </a:endParaRPr>
          </a:p>
        </p:txBody>
      </p:sp>
      <p:graphicFrame>
        <p:nvGraphicFramePr>
          <p:cNvPr id="194593" name="Group 33"/>
          <p:cNvGraphicFramePr>
            <a:graphicFrameLocks noGrp="1"/>
          </p:cNvGraphicFramePr>
          <p:nvPr/>
        </p:nvGraphicFramePr>
        <p:xfrm>
          <a:off x="320040" y="2571877"/>
          <a:ext cx="11496824" cy="3708969"/>
        </p:xfrm>
        <a:graphic>
          <a:graphicData uri="http://schemas.openxmlformats.org/drawingml/2006/table">
            <a:tbl>
              <a:tblPr firstRow="1" bandRow="1"/>
              <a:tblGrid>
                <a:gridCol w="4967240">
                  <a:extLst>
                    <a:ext uri="{9D8B030D-6E8A-4147-A177-3AD203B41FA5}">
                      <a16:colId xmlns:a16="http://schemas.microsoft.com/office/drawing/2014/main" val="20000"/>
                    </a:ext>
                  </a:extLst>
                </a:gridCol>
                <a:gridCol w="1632396">
                  <a:extLst>
                    <a:ext uri="{9D8B030D-6E8A-4147-A177-3AD203B41FA5}">
                      <a16:colId xmlns:a16="http://schemas.microsoft.com/office/drawing/2014/main" val="20001"/>
                    </a:ext>
                  </a:extLst>
                </a:gridCol>
                <a:gridCol w="1632396">
                  <a:extLst>
                    <a:ext uri="{9D8B030D-6E8A-4147-A177-3AD203B41FA5}">
                      <a16:colId xmlns:a16="http://schemas.microsoft.com/office/drawing/2014/main" val="20002"/>
                    </a:ext>
                  </a:extLst>
                </a:gridCol>
                <a:gridCol w="1632396">
                  <a:extLst>
                    <a:ext uri="{9D8B030D-6E8A-4147-A177-3AD203B41FA5}">
                      <a16:colId xmlns:a16="http://schemas.microsoft.com/office/drawing/2014/main" val="20003"/>
                    </a:ext>
                  </a:extLst>
                </a:gridCol>
                <a:gridCol w="1632396">
                  <a:extLst>
                    <a:ext uri="{9D8B030D-6E8A-4147-A177-3AD203B41FA5}">
                      <a16:colId xmlns:a16="http://schemas.microsoft.com/office/drawing/2014/main" val="20004"/>
                    </a:ext>
                  </a:extLst>
                </a:gridCol>
              </a:tblGrid>
              <a:tr h="461872">
                <a:tc rowSpan="2">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100" b="0" i="0" u="none" strike="noStrike" cap="none" normalizeH="0" baseline="0">
                          <a:ln>
                            <a:noFill/>
                          </a:ln>
                          <a:solidFill>
                            <a:schemeClr val="tx1"/>
                          </a:solidFill>
                          <a:effectLst/>
                          <a:latin typeface="Arial" pitchFamily="34" charset="0"/>
                        </a:rPr>
                        <a:t>Requirement</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4">
                  <a:txBody>
                    <a:bodyPr/>
                    <a:lstStyle/>
                    <a:p>
                      <a:pPr marL="0" marR="0" lvl="0" indent="0" algn="ct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100" b="0" i="0" u="none" strike="noStrike" cap="none" normalizeH="0" baseline="0">
                          <a:ln>
                            <a:noFill/>
                          </a:ln>
                          <a:solidFill>
                            <a:schemeClr val="tx1"/>
                          </a:solidFill>
                          <a:effectLst/>
                          <a:latin typeface="Arial" pitchFamily="34" charset="0"/>
                        </a:rPr>
                        <a:t>Test Case #</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800" b="0" i="0" u="none" strike="noStrike" cap="none" normalizeH="0" baseline="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800" b="0" i="0" u="none" strike="noStrike" cap="none" normalizeH="0" baseline="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800" b="0" i="0" u="none" strike="noStrike" cap="none" normalizeH="0" baseline="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91891">
                <a:tc vMerge="1">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400" b="0" i="0" u="none" strike="noStrike" cap="none" normalizeH="0" baseline="0">
                        <a:ln>
                          <a:noFill/>
                        </a:ln>
                        <a:solidFill>
                          <a:schemeClr val="tx1"/>
                        </a:solidFill>
                        <a:effectLst/>
                        <a:latin typeface="Arial" pitchFamily="34"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101</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102</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103</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104</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755790">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3.1. Provide the capability to submit the sales order for a single item.</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r>
                        <a:rPr lang="en-US" sz="2100"/>
                        <a:t>X</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defRPr/>
                      </a:pPr>
                      <a:r>
                        <a:rPr lang="en-US" sz="2100"/>
                        <a:t>X</a:t>
                      </a:r>
                    </a:p>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36823">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3.2. Provide the capability to submit the sales order with multiple items and multiple quantities. </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sz="2100"/>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r>
                        <a:rPr lang="en-US" sz="2100"/>
                        <a:t>X</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r>
                        <a:rPr lang="en-US" sz="2100"/>
                        <a:t>X</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r>
                        <a:rPr lang="en-US" sz="2100"/>
                        <a:t>X</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776784">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3.3. Generate an automatic back order for ordered items not in stock.</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100"/>
                        <a:t>X</a:t>
                      </a:r>
                    </a:p>
                    <a:p>
                      <a:endParaRPr lang="en-US" sz="2100"/>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defRPr/>
                      </a:pPr>
                      <a:r>
                        <a:rPr lang="en-US" sz="1600"/>
                        <a:t>X</a:t>
                      </a:r>
                    </a:p>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685809">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3.4. Generate an automatic customer credit verification for a new customer</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sz="2100"/>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defRPr/>
                      </a:pPr>
                      <a:r>
                        <a:rPr lang="en-US" sz="1600"/>
                        <a:t>X</a:t>
                      </a:r>
                    </a:p>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defRPr/>
                      </a:pPr>
                      <a:r>
                        <a:rPr lang="en-US" sz="1600"/>
                        <a:t>X</a:t>
                      </a:r>
                    </a:p>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F40FBDA-CEB1-40F0-9AB9-BD9C402D7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descr="Satellite view of Earth">
            <a:extLst>
              <a:ext uri="{FF2B5EF4-FFF2-40B4-BE49-F238E27FC236}">
                <a16:creationId xmlns:a16="http://schemas.microsoft.com/office/drawing/2014/main" id="{B38ED527-6575-B53E-ADCB-592DB89C3D88}"/>
              </a:ext>
            </a:extLst>
          </p:cNvPr>
          <p:cNvPicPr>
            <a:picLocks noChangeAspect="1"/>
          </p:cNvPicPr>
          <p:nvPr/>
        </p:nvPicPr>
        <p:blipFill rotWithShape="1">
          <a:blip r:embed="rId2">
            <a:alphaModFix amt="45000"/>
          </a:blip>
          <a:srcRect t="13316" b="11684"/>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0344D4FE-ABEF-4230-9E4E-AD5782FC7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07870" y="1267730"/>
            <a:ext cx="9576262" cy="4307950"/>
          </a:xfrm>
          <a:prstGeom prst="rect">
            <a:avLst/>
          </a:prstGeom>
          <a:noFill/>
          <a:ln w="9525" cap="sq" cmpd="sng" algn="ctr">
            <a:solidFill>
              <a:schemeClr val="tx1">
                <a:lumMod val="75000"/>
                <a:lumOff val="25000"/>
              </a:schemeClr>
            </a:solidFill>
            <a:prstDash val="solid"/>
            <a:miter lim="800000"/>
          </a:ln>
          <a:effectLst>
            <a:softEdge rad="0"/>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3A4B3AD-5A56-9DB8-3BA4-2BDD1E69E970}"/>
              </a:ext>
            </a:extLst>
          </p:cNvPr>
          <p:cNvSpPr>
            <a:spLocks noGrp="1"/>
          </p:cNvSpPr>
          <p:nvPr>
            <p:ph type="title"/>
          </p:nvPr>
        </p:nvSpPr>
        <p:spPr>
          <a:xfrm>
            <a:off x="1769532" y="1695576"/>
            <a:ext cx="8652938" cy="2857191"/>
          </a:xfrm>
        </p:spPr>
        <p:txBody>
          <a:bodyPr vert="horz" lIns="91440" tIns="45720" rIns="91440" bIns="45720" rtlCol="0" anchor="ctr">
            <a:normAutofit/>
          </a:bodyPr>
          <a:lstStyle/>
          <a:p>
            <a:pPr algn="ctr"/>
            <a:r>
              <a:rPr lang="en-US" sz="6200"/>
              <a:t>NASA Requirements Taxonomy and Tracebility</a:t>
            </a:r>
          </a:p>
        </p:txBody>
      </p:sp>
      <p:sp>
        <p:nvSpPr>
          <p:cNvPr id="13" name="Rectangle 12">
            <a:extLst>
              <a:ext uri="{FF2B5EF4-FFF2-40B4-BE49-F238E27FC236}">
                <a16:creationId xmlns:a16="http://schemas.microsoft.com/office/drawing/2014/main" id="{9325F979-D3F9-4926-81B7-7ACCB31A5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7801" y="1411615"/>
            <a:ext cx="9296400" cy="4034770"/>
          </a:xfrm>
          <a:prstGeom prst="rect">
            <a:avLst/>
          </a:prstGeom>
          <a:noFill/>
          <a:ln w="9525" cap="sq" cmpd="sng" algn="ctr">
            <a:solidFill>
              <a:schemeClr val="tx1">
                <a:lumMod val="75000"/>
                <a:lumOff val="25000"/>
                <a:alpha val="80000"/>
              </a:schemeClr>
            </a:solidFill>
            <a:prstDash val="solid"/>
            <a:miter lim="800000"/>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70891604"/>
      </p:ext>
    </p:extLst>
  </p:cSld>
  <p:clrMapOvr>
    <a:overrideClrMapping bg1="dk1" tx1="lt1" bg2="dk2" tx2="lt2" accent1="accent1" accent2="accent2" accent3="accent3" accent4="accent4" accent5="accent5" accent6="accent6" hlink="hlink" folHlink="folHlink"/>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0712" name="Rectangle 200711">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14" name="Rectangle 200713">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16" name="Rectangle 200715">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18" name="Rectangle 200717">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20" name="Rectangle 200719">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06" name="Rectangle 2"/>
          <p:cNvSpPr>
            <a:spLocks noGrp="1" noChangeArrowheads="1"/>
          </p:cNvSpPr>
          <p:nvPr>
            <p:ph type="title"/>
          </p:nvPr>
        </p:nvSpPr>
        <p:spPr>
          <a:xfrm>
            <a:off x="1371599" y="294538"/>
            <a:ext cx="9895951" cy="1033669"/>
          </a:xfrm>
        </p:spPr>
        <p:txBody>
          <a:bodyPr>
            <a:normAutofit/>
          </a:bodyPr>
          <a:lstStyle/>
          <a:p>
            <a:r>
              <a:rPr lang="en-US" sz="4000">
                <a:solidFill>
                  <a:srgbClr val="FFFFFF"/>
                </a:solidFill>
              </a:rPr>
              <a:t>NASA Requirements Taxonomy	</a:t>
            </a:r>
          </a:p>
        </p:txBody>
      </p:sp>
      <p:sp>
        <p:nvSpPr>
          <p:cNvPr id="200707" name="Rectangle 3"/>
          <p:cNvSpPr>
            <a:spLocks noGrp="1" noChangeArrowheads="1"/>
          </p:cNvSpPr>
          <p:nvPr>
            <p:ph type="body" idx="1"/>
          </p:nvPr>
        </p:nvSpPr>
        <p:spPr>
          <a:xfrm>
            <a:off x="1371599" y="2318197"/>
            <a:ext cx="9724031" cy="3683358"/>
          </a:xfrm>
        </p:spPr>
        <p:txBody>
          <a:bodyPr anchor="ctr">
            <a:noAutofit/>
          </a:bodyPr>
          <a:lstStyle/>
          <a:p>
            <a:r>
              <a:rPr lang="en-US" sz="2400" dirty="0"/>
              <a:t>Level 1</a:t>
            </a:r>
          </a:p>
          <a:p>
            <a:pPr lvl="1"/>
            <a:r>
              <a:rPr lang="en-US" dirty="0"/>
              <a:t>Mission level requirements</a:t>
            </a:r>
          </a:p>
          <a:p>
            <a:pPr lvl="1"/>
            <a:r>
              <a:rPr lang="en-US" dirty="0"/>
              <a:t>Very high level, rarely change</a:t>
            </a:r>
          </a:p>
          <a:p>
            <a:r>
              <a:rPr lang="en-US" sz="2400" dirty="0"/>
              <a:t>Level 2</a:t>
            </a:r>
          </a:p>
          <a:p>
            <a:pPr lvl="1"/>
            <a:r>
              <a:rPr lang="en-US" dirty="0"/>
              <a:t>High level with minimal change</a:t>
            </a:r>
          </a:p>
          <a:p>
            <a:r>
              <a:rPr lang="en-US" sz="2400" dirty="0"/>
              <a:t>Level 3 </a:t>
            </a:r>
          </a:p>
          <a:p>
            <a:pPr lvl="1"/>
            <a:r>
              <a:rPr lang="en-US" dirty="0"/>
              <a:t>Derived requirements from level 2</a:t>
            </a:r>
          </a:p>
          <a:p>
            <a:pPr lvl="1"/>
            <a:r>
              <a:rPr lang="en-US" dirty="0"/>
              <a:t>Each level 2 requirement traces to one or more level 3 requirement</a:t>
            </a:r>
          </a:p>
          <a:p>
            <a:pPr lvl="1"/>
            <a:r>
              <a:rPr lang="en-US" dirty="0"/>
              <a:t>Contracts bid at this level of detail</a:t>
            </a:r>
          </a:p>
          <a:p>
            <a:r>
              <a:rPr lang="en-US" sz="2400" dirty="0"/>
              <a:t>Level 4</a:t>
            </a:r>
          </a:p>
          <a:p>
            <a:pPr lvl="1"/>
            <a:r>
              <a:rPr lang="en-US" dirty="0"/>
              <a:t>Detailed requirements</a:t>
            </a:r>
          </a:p>
          <a:p>
            <a:pPr lvl="1"/>
            <a:r>
              <a:rPr lang="en-US" dirty="0"/>
              <a:t>Used to design and code the system</a:t>
            </a:r>
          </a:p>
        </p:txBody>
      </p:sp>
      <p:sp>
        <p:nvSpPr>
          <p:cNvPr id="6" name="Slide Number Placeholder 5"/>
          <p:cNvSpPr>
            <a:spLocks noGrp="1"/>
          </p:cNvSpPr>
          <p:nvPr>
            <p:ph type="sldNum" sz="quarter" idx="12"/>
          </p:nvPr>
        </p:nvSpPr>
        <p:spPr>
          <a:xfrm>
            <a:off x="11704320" y="6455431"/>
            <a:ext cx="445913"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F3D150DE-2595-4738-9BA8-86717D062DEE}"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47</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32040139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833" name="Rectangle 20583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35" name="Rectangle 205834">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37" name="Rectangle 205836">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39" name="Rectangle 205838">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5841" name="Freeform: Shape 205840">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5843" name="Rectangle 205842">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26" name="Rectangle 2"/>
          <p:cNvSpPr>
            <a:spLocks noGrp="1" noChangeArrowheads="1"/>
          </p:cNvSpPr>
          <p:nvPr>
            <p:ph type="title"/>
          </p:nvPr>
        </p:nvSpPr>
        <p:spPr>
          <a:xfrm>
            <a:off x="586478" y="1683756"/>
            <a:ext cx="3115265" cy="2396359"/>
          </a:xfrm>
        </p:spPr>
        <p:txBody>
          <a:bodyPr anchor="b">
            <a:normAutofit/>
          </a:bodyPr>
          <a:lstStyle/>
          <a:p>
            <a:pPr algn="r"/>
            <a:r>
              <a:rPr lang="en-US" sz="4000">
                <a:solidFill>
                  <a:srgbClr val="FFFFFF"/>
                </a:solidFill>
              </a:rPr>
              <a:t>Requirements Metrics</a:t>
            </a:r>
          </a:p>
        </p:txBody>
      </p:sp>
      <p:sp>
        <p:nvSpPr>
          <p:cNvPr id="6" name="Slide Number Placeholder 5"/>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CD462BDD-5145-48B6-AB01-03FFE04204F4}"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48</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graphicFrame>
        <p:nvGraphicFramePr>
          <p:cNvPr id="205829" name="Rectangle 3">
            <a:extLst>
              <a:ext uri="{FF2B5EF4-FFF2-40B4-BE49-F238E27FC236}">
                <a16:creationId xmlns:a16="http://schemas.microsoft.com/office/drawing/2014/main" id="{6067A545-E373-34D1-31CA-C3842E02CB62}"/>
              </a:ext>
            </a:extLst>
          </p:cNvPr>
          <p:cNvGraphicFramePr/>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7131760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A721CCF-F110-48DE-A99C-C494C2528A49}"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49</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06850" name="Rectangle 2"/>
          <p:cNvSpPr>
            <a:spLocks noGrp="1" noChangeArrowheads="1"/>
          </p:cNvSpPr>
          <p:nvPr>
            <p:ph type="title"/>
          </p:nvPr>
        </p:nvSpPr>
        <p:spPr>
          <a:xfrm>
            <a:off x="2033451" y="560397"/>
            <a:ext cx="8229600" cy="1143000"/>
          </a:xfrm>
        </p:spPr>
        <p:txBody>
          <a:bodyPr/>
          <a:lstStyle/>
          <a:p>
            <a:r>
              <a:rPr lang="en-US" dirty="0"/>
              <a:t>Requirement Links to Tests</a:t>
            </a:r>
          </a:p>
        </p:txBody>
      </p:sp>
      <p:sp>
        <p:nvSpPr>
          <p:cNvPr id="206851" name="Rectangle 3"/>
          <p:cNvSpPr>
            <a:spLocks noGrp="1" noChangeArrowheads="1"/>
          </p:cNvSpPr>
          <p:nvPr>
            <p:ph type="body" idx="1"/>
          </p:nvPr>
        </p:nvSpPr>
        <p:spPr/>
        <p:txBody>
          <a:bodyPr/>
          <a:lstStyle/>
          <a:p>
            <a:r>
              <a:rPr lang="en-US"/>
              <a:t>It is expected that each requirement will be linked to multiple tests.</a:t>
            </a:r>
          </a:p>
          <a:p>
            <a:pPr>
              <a:buFont typeface="Wingdings" pitchFamily="2" charset="2"/>
              <a:buNone/>
            </a:pPr>
            <a:endParaRPr lang="en-US"/>
          </a:p>
        </p:txBody>
      </p:sp>
      <p:sp>
        <p:nvSpPr>
          <p:cNvPr id="206852" name="Rectangle 4"/>
          <p:cNvSpPr>
            <a:spLocks noChangeArrowheads="1"/>
          </p:cNvSpPr>
          <p:nvPr/>
        </p:nvSpPr>
        <p:spPr bwMode="auto">
          <a:xfrm>
            <a:off x="3352800" y="3429000"/>
            <a:ext cx="685800" cy="457200"/>
          </a:xfrm>
          <a:prstGeom prst="rect">
            <a:avLst/>
          </a:prstGeom>
          <a:solidFill>
            <a:schemeClr val="tx1"/>
          </a:solidFill>
          <a:ln w="9525">
            <a:solidFill>
              <a:schemeClr val="tx1"/>
            </a:solidFill>
            <a:miter lim="800000"/>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53" name="Rectangle 5"/>
          <p:cNvSpPr>
            <a:spLocks noChangeArrowheads="1"/>
          </p:cNvSpPr>
          <p:nvPr/>
        </p:nvSpPr>
        <p:spPr bwMode="auto">
          <a:xfrm>
            <a:off x="3352800" y="4495800"/>
            <a:ext cx="685800" cy="457200"/>
          </a:xfrm>
          <a:prstGeom prst="rect">
            <a:avLst/>
          </a:prstGeom>
          <a:solidFill>
            <a:schemeClr val="tx1"/>
          </a:solidFill>
          <a:ln w="9525">
            <a:solidFill>
              <a:schemeClr val="tx1"/>
            </a:solidFill>
            <a:miter lim="800000"/>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54" name="Text Box 6"/>
          <p:cNvSpPr txBox="1">
            <a:spLocks noChangeArrowheads="1"/>
          </p:cNvSpPr>
          <p:nvPr/>
        </p:nvSpPr>
        <p:spPr bwMode="auto">
          <a:xfrm>
            <a:off x="2286000" y="3429000"/>
            <a:ext cx="914400" cy="30480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Times New Roman" pitchFamily="18" charset="0"/>
                <a:ea typeface="+mn-ea"/>
                <a:cs typeface="+mn-cs"/>
              </a:rPr>
              <a:t>Test A</a:t>
            </a:r>
          </a:p>
        </p:txBody>
      </p:sp>
      <p:sp>
        <p:nvSpPr>
          <p:cNvPr id="206855" name="Text Box 7"/>
          <p:cNvSpPr txBox="1">
            <a:spLocks noChangeArrowheads="1"/>
          </p:cNvSpPr>
          <p:nvPr/>
        </p:nvSpPr>
        <p:spPr bwMode="auto">
          <a:xfrm>
            <a:off x="2286000" y="4572000"/>
            <a:ext cx="914400" cy="30480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Times New Roman" pitchFamily="18" charset="0"/>
                <a:ea typeface="+mn-ea"/>
                <a:cs typeface="+mn-cs"/>
              </a:rPr>
              <a:t>Test B</a:t>
            </a:r>
          </a:p>
        </p:txBody>
      </p:sp>
      <p:sp>
        <p:nvSpPr>
          <p:cNvPr id="206856" name="Oval 8"/>
          <p:cNvSpPr>
            <a:spLocks noChangeArrowheads="1"/>
          </p:cNvSpPr>
          <p:nvPr/>
        </p:nvSpPr>
        <p:spPr bwMode="auto">
          <a:xfrm>
            <a:off x="5181600" y="3200400"/>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57" name="Text Box 9"/>
          <p:cNvSpPr txBox="1">
            <a:spLocks noChangeArrowheads="1"/>
          </p:cNvSpPr>
          <p:nvPr/>
        </p:nvSpPr>
        <p:spPr bwMode="auto">
          <a:xfrm>
            <a:off x="5562600" y="3124200"/>
            <a:ext cx="1447800" cy="274638"/>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1</a:t>
            </a:r>
          </a:p>
        </p:txBody>
      </p:sp>
      <p:sp>
        <p:nvSpPr>
          <p:cNvPr id="206860" name="Oval 12"/>
          <p:cNvSpPr>
            <a:spLocks noChangeArrowheads="1"/>
          </p:cNvSpPr>
          <p:nvPr/>
        </p:nvSpPr>
        <p:spPr bwMode="auto">
          <a:xfrm>
            <a:off x="5181600" y="3687763"/>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1" name="Text Box 13"/>
          <p:cNvSpPr txBox="1">
            <a:spLocks noChangeArrowheads="1"/>
          </p:cNvSpPr>
          <p:nvPr/>
        </p:nvSpPr>
        <p:spPr bwMode="auto">
          <a:xfrm>
            <a:off x="5562600" y="3611564"/>
            <a:ext cx="1447800" cy="274637"/>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2</a:t>
            </a:r>
          </a:p>
        </p:txBody>
      </p:sp>
      <p:sp>
        <p:nvSpPr>
          <p:cNvPr id="206862" name="Oval 14"/>
          <p:cNvSpPr>
            <a:spLocks noChangeArrowheads="1"/>
          </p:cNvSpPr>
          <p:nvPr/>
        </p:nvSpPr>
        <p:spPr bwMode="auto">
          <a:xfrm>
            <a:off x="5181600" y="4191000"/>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3" name="Text Box 15"/>
          <p:cNvSpPr txBox="1">
            <a:spLocks noChangeArrowheads="1"/>
          </p:cNvSpPr>
          <p:nvPr/>
        </p:nvSpPr>
        <p:spPr bwMode="auto">
          <a:xfrm>
            <a:off x="5562600" y="4114800"/>
            <a:ext cx="1447800" cy="274638"/>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3</a:t>
            </a:r>
          </a:p>
        </p:txBody>
      </p:sp>
      <p:sp>
        <p:nvSpPr>
          <p:cNvPr id="206864" name="Oval 16"/>
          <p:cNvSpPr>
            <a:spLocks noChangeArrowheads="1"/>
          </p:cNvSpPr>
          <p:nvPr/>
        </p:nvSpPr>
        <p:spPr bwMode="auto">
          <a:xfrm>
            <a:off x="5181600" y="4724400"/>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5" name="Text Box 17"/>
          <p:cNvSpPr txBox="1">
            <a:spLocks noChangeArrowheads="1"/>
          </p:cNvSpPr>
          <p:nvPr/>
        </p:nvSpPr>
        <p:spPr bwMode="auto">
          <a:xfrm>
            <a:off x="5562600" y="4648200"/>
            <a:ext cx="1447800" cy="274638"/>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4</a:t>
            </a:r>
          </a:p>
        </p:txBody>
      </p:sp>
      <p:sp>
        <p:nvSpPr>
          <p:cNvPr id="206866" name="Oval 18"/>
          <p:cNvSpPr>
            <a:spLocks noChangeArrowheads="1"/>
          </p:cNvSpPr>
          <p:nvPr/>
        </p:nvSpPr>
        <p:spPr bwMode="auto">
          <a:xfrm>
            <a:off x="5181600" y="5181600"/>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7" name="Text Box 19"/>
          <p:cNvSpPr txBox="1">
            <a:spLocks noChangeArrowheads="1"/>
          </p:cNvSpPr>
          <p:nvPr/>
        </p:nvSpPr>
        <p:spPr bwMode="auto">
          <a:xfrm>
            <a:off x="5562600" y="5105400"/>
            <a:ext cx="1447800" cy="274638"/>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5</a:t>
            </a:r>
          </a:p>
        </p:txBody>
      </p:sp>
      <p:sp>
        <p:nvSpPr>
          <p:cNvPr id="206868" name="Line 20"/>
          <p:cNvSpPr>
            <a:spLocks noChangeShapeType="1"/>
          </p:cNvSpPr>
          <p:nvPr/>
        </p:nvSpPr>
        <p:spPr bwMode="auto">
          <a:xfrm flipV="1">
            <a:off x="4038600" y="3276600"/>
            <a:ext cx="1143000" cy="3048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9" name="Line 21"/>
          <p:cNvSpPr>
            <a:spLocks noChangeShapeType="1"/>
          </p:cNvSpPr>
          <p:nvPr/>
        </p:nvSpPr>
        <p:spPr bwMode="auto">
          <a:xfrm>
            <a:off x="4038600" y="3733800"/>
            <a:ext cx="1143000" cy="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1" name="Line 23"/>
          <p:cNvSpPr>
            <a:spLocks noChangeShapeType="1"/>
          </p:cNvSpPr>
          <p:nvPr/>
        </p:nvSpPr>
        <p:spPr bwMode="auto">
          <a:xfrm>
            <a:off x="4038600" y="3886200"/>
            <a:ext cx="1219200" cy="12954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2" name="Line 24"/>
          <p:cNvSpPr>
            <a:spLocks noChangeShapeType="1"/>
          </p:cNvSpPr>
          <p:nvPr/>
        </p:nvSpPr>
        <p:spPr bwMode="auto">
          <a:xfrm flipV="1">
            <a:off x="4038600" y="3733800"/>
            <a:ext cx="1143000" cy="9144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3" name="Line 25"/>
          <p:cNvSpPr>
            <a:spLocks noChangeShapeType="1"/>
          </p:cNvSpPr>
          <p:nvPr/>
        </p:nvSpPr>
        <p:spPr bwMode="auto">
          <a:xfrm flipV="1">
            <a:off x="4038600" y="4267200"/>
            <a:ext cx="1143000" cy="4572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4" name="Line 26"/>
          <p:cNvSpPr>
            <a:spLocks noChangeShapeType="1"/>
          </p:cNvSpPr>
          <p:nvPr/>
        </p:nvSpPr>
        <p:spPr bwMode="auto">
          <a:xfrm>
            <a:off x="4038600" y="4800600"/>
            <a:ext cx="1143000" cy="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5" name="Line 27"/>
          <p:cNvSpPr>
            <a:spLocks noChangeShapeType="1"/>
          </p:cNvSpPr>
          <p:nvPr/>
        </p:nvSpPr>
        <p:spPr bwMode="auto">
          <a:xfrm>
            <a:off x="4038600" y="4876800"/>
            <a:ext cx="1143000" cy="3810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3841961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70C91F6-97F8-455D-8E7C-4EB3C81ADC3F}"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50</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09922" name="Rectangle 2"/>
          <p:cNvSpPr>
            <a:spLocks noGrp="1" noChangeArrowheads="1"/>
          </p:cNvSpPr>
          <p:nvPr>
            <p:ph type="title"/>
          </p:nvPr>
        </p:nvSpPr>
        <p:spPr>
          <a:xfrm>
            <a:off x="1981200" y="521208"/>
            <a:ext cx="8305800" cy="1143000"/>
          </a:xfrm>
        </p:spPr>
        <p:txBody>
          <a:bodyPr>
            <a:normAutofit/>
          </a:bodyPr>
          <a:lstStyle/>
          <a:p>
            <a:r>
              <a:rPr lang="en-US" dirty="0"/>
              <a:t>Requirement Links to Tests : Level 3</a:t>
            </a:r>
          </a:p>
        </p:txBody>
      </p:sp>
      <p:sp>
        <p:nvSpPr>
          <p:cNvPr id="209924" name="Text Box 4"/>
          <p:cNvSpPr txBox="1">
            <a:spLocks noChangeArrowheads="1"/>
          </p:cNvSpPr>
          <p:nvPr/>
        </p:nvSpPr>
        <p:spPr bwMode="auto">
          <a:xfrm>
            <a:off x="2286000" y="5562600"/>
            <a:ext cx="65532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aphicFrame>
        <p:nvGraphicFramePr>
          <p:cNvPr id="209926" name="Object 6"/>
          <p:cNvGraphicFramePr>
            <a:graphicFrameLocks noChangeAspect="1"/>
          </p:cNvGraphicFramePr>
          <p:nvPr/>
        </p:nvGraphicFramePr>
        <p:xfrm>
          <a:off x="2590800" y="1852614"/>
          <a:ext cx="10134600" cy="5233987"/>
        </p:xfrm>
        <a:graphic>
          <a:graphicData uri="http://schemas.openxmlformats.org/presentationml/2006/ole">
            <mc:AlternateContent xmlns:mc="http://schemas.openxmlformats.org/markup-compatibility/2006">
              <mc:Choice xmlns:v="urn:schemas-microsoft-com:vml" Requires="v">
                <p:oleObj name="Chart" r:id="rId2" imgW="7618934" imgH="5085248" progId="MSGraph.Chart.8">
                  <p:embed followColorScheme="full"/>
                </p:oleObj>
              </mc:Choice>
              <mc:Fallback>
                <p:oleObj name="Chart" r:id="rId2" imgW="7618934" imgH="5085248" progId="MSGraph.Chart.8">
                  <p:embed followColorScheme="full"/>
                  <p:pic>
                    <p:nvPicPr>
                      <p:cNvPr id="209926" name="Object 6"/>
                      <p:cNvPicPr>
                        <a:picLocks noChangeAspect="1" noChangeArrowheads="1"/>
                      </p:cNvPicPr>
                      <p:nvPr/>
                    </p:nvPicPr>
                    <p:blipFill>
                      <a:blip r:embed="rId3"/>
                      <a:srcRect/>
                      <a:stretch>
                        <a:fillRect/>
                      </a:stretch>
                    </p:blipFill>
                    <p:spPr bwMode="auto">
                      <a:xfrm>
                        <a:off x="2590800" y="1852614"/>
                        <a:ext cx="10134600" cy="5233987"/>
                      </a:xfrm>
                      <a:prstGeom prst="rect">
                        <a:avLst/>
                      </a:prstGeom>
                      <a:noFill/>
                    </p:spPr>
                  </p:pic>
                </p:oleObj>
              </mc:Fallback>
            </mc:AlternateContent>
          </a:graphicData>
        </a:graphic>
      </p:graphicFrame>
    </p:spTree>
    <p:extLst>
      <p:ext uri="{BB962C8B-B14F-4D97-AF65-F5344CB8AC3E}">
        <p14:creationId xmlns:p14="http://schemas.microsoft.com/office/powerpoint/2010/main" val="23068065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81740B8C-7E06-4F0D-8E06-ED1B7B03F6D5}"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51</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16066" name="Rectangle 2"/>
          <p:cNvSpPr>
            <a:spLocks noGrp="1" noChangeArrowheads="1"/>
          </p:cNvSpPr>
          <p:nvPr>
            <p:ph type="title"/>
          </p:nvPr>
        </p:nvSpPr>
        <p:spPr>
          <a:xfrm>
            <a:off x="1837510" y="181573"/>
            <a:ext cx="8830491" cy="1229216"/>
          </a:xfrm>
        </p:spPr>
        <p:txBody>
          <a:bodyPr>
            <a:normAutofit/>
          </a:bodyPr>
          <a:lstStyle/>
          <a:p>
            <a:r>
              <a:rPr lang="en-US" dirty="0"/>
              <a:t>Requirement linkage to Tests : Level 4</a:t>
            </a:r>
          </a:p>
        </p:txBody>
      </p:sp>
      <p:sp>
        <p:nvSpPr>
          <p:cNvPr id="216067" name="Text Box 3"/>
          <p:cNvSpPr txBox="1">
            <a:spLocks noChangeArrowheads="1"/>
          </p:cNvSpPr>
          <p:nvPr/>
        </p:nvSpPr>
        <p:spPr bwMode="auto">
          <a:xfrm>
            <a:off x="2286000" y="5562600"/>
            <a:ext cx="65532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aphicFrame>
        <p:nvGraphicFramePr>
          <p:cNvPr id="216069" name="Object 5"/>
          <p:cNvGraphicFramePr>
            <a:graphicFrameLocks noChangeAspect="1"/>
          </p:cNvGraphicFramePr>
          <p:nvPr/>
        </p:nvGraphicFramePr>
        <p:xfrm>
          <a:off x="2590800" y="1905001"/>
          <a:ext cx="9144000" cy="5919787"/>
        </p:xfrm>
        <a:graphic>
          <a:graphicData uri="http://schemas.openxmlformats.org/presentationml/2006/ole">
            <mc:AlternateContent xmlns:mc="http://schemas.openxmlformats.org/markup-compatibility/2006">
              <mc:Choice xmlns:v="urn:schemas-microsoft-com:vml" Requires="v">
                <p:oleObj name="Chart" r:id="rId2" imgW="7618934" imgH="5085248" progId="MSGraph.Chart.8">
                  <p:embed followColorScheme="full"/>
                </p:oleObj>
              </mc:Choice>
              <mc:Fallback>
                <p:oleObj name="Chart" r:id="rId2" imgW="7618934" imgH="5085248" progId="MSGraph.Chart.8">
                  <p:embed followColorScheme="full"/>
                  <p:pic>
                    <p:nvPicPr>
                      <p:cNvPr id="216069" name="Object 5"/>
                      <p:cNvPicPr>
                        <a:picLocks noChangeAspect="1" noChangeArrowheads="1"/>
                      </p:cNvPicPr>
                      <p:nvPr/>
                    </p:nvPicPr>
                    <p:blipFill>
                      <a:blip r:embed="rId3"/>
                      <a:srcRect/>
                      <a:stretch>
                        <a:fillRect/>
                      </a:stretch>
                    </p:blipFill>
                    <p:spPr bwMode="auto">
                      <a:xfrm>
                        <a:off x="2590800" y="1905001"/>
                        <a:ext cx="9144000" cy="5919787"/>
                      </a:xfrm>
                      <a:prstGeom prst="rect">
                        <a:avLst/>
                      </a:prstGeom>
                      <a:noFill/>
                    </p:spPr>
                  </p:pic>
                </p:oleObj>
              </mc:Fallback>
            </mc:AlternateContent>
          </a:graphicData>
        </a:graphic>
      </p:graphicFrame>
      <p:sp>
        <p:nvSpPr>
          <p:cNvPr id="216070" name="Text Box 6"/>
          <p:cNvSpPr txBox="1">
            <a:spLocks noChangeArrowheads="1"/>
          </p:cNvSpPr>
          <p:nvPr/>
        </p:nvSpPr>
        <p:spPr bwMode="auto">
          <a:xfrm>
            <a:off x="3048000" y="5715000"/>
            <a:ext cx="59436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25453488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7881" name="Rectangle 20788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883" name="Rectangle 20788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885" name="Rectangle 20788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887" name="Rectangle 20788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7889" name="Freeform: Shape 20788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7891" name="Rectangle 20789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874" name="Rectangle 2"/>
          <p:cNvSpPr>
            <a:spLocks noGrp="1" noChangeArrowheads="1"/>
          </p:cNvSpPr>
          <p:nvPr>
            <p:ph type="title"/>
          </p:nvPr>
        </p:nvSpPr>
        <p:spPr>
          <a:xfrm>
            <a:off x="586478" y="1683756"/>
            <a:ext cx="3115265" cy="2396359"/>
          </a:xfrm>
        </p:spPr>
        <p:txBody>
          <a:bodyPr anchor="b">
            <a:normAutofit/>
          </a:bodyPr>
          <a:lstStyle/>
          <a:p>
            <a:pPr algn="r"/>
            <a:r>
              <a:rPr lang="en-US" sz="4000">
                <a:solidFill>
                  <a:srgbClr val="FFFFFF"/>
                </a:solidFill>
              </a:rPr>
              <a:t>Test Span</a:t>
            </a:r>
          </a:p>
        </p:txBody>
      </p:sp>
      <p:sp>
        <p:nvSpPr>
          <p:cNvPr id="6" name="Slide Number Placeholder 5"/>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A3BB0CE0-432D-4473-B45C-BBE9057C92C8}"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52</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graphicFrame>
        <p:nvGraphicFramePr>
          <p:cNvPr id="207877" name="Rectangle 3">
            <a:extLst>
              <a:ext uri="{FF2B5EF4-FFF2-40B4-BE49-F238E27FC236}">
                <a16:creationId xmlns:a16="http://schemas.microsoft.com/office/drawing/2014/main" id="{027A63CD-4941-88FC-B994-082DFF91BAAB}"/>
              </a:ext>
            </a:extLst>
          </p:cNvPr>
          <p:cNvGraphicFramePr/>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633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8E06F6A-F5C3-4D48-BBF3-787216C3AC47}"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53</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08898" name="Rectangle 2"/>
          <p:cNvSpPr>
            <a:spLocks noGrp="1" noChangeArrowheads="1"/>
          </p:cNvSpPr>
          <p:nvPr>
            <p:ph type="title"/>
          </p:nvPr>
        </p:nvSpPr>
        <p:spPr>
          <a:xfrm>
            <a:off x="2020389" y="403642"/>
            <a:ext cx="8229600" cy="1143000"/>
          </a:xfrm>
        </p:spPr>
        <p:txBody>
          <a:bodyPr/>
          <a:lstStyle/>
          <a:p>
            <a:r>
              <a:rPr lang="en-US" dirty="0"/>
              <a:t>Testing Complexity</a:t>
            </a:r>
          </a:p>
        </p:txBody>
      </p:sp>
      <p:sp>
        <p:nvSpPr>
          <p:cNvPr id="208899" name="Rectangle 3"/>
          <p:cNvSpPr>
            <a:spLocks noGrp="1" noChangeArrowheads="1"/>
          </p:cNvSpPr>
          <p:nvPr>
            <p:ph type="body" idx="1"/>
          </p:nvPr>
        </p:nvSpPr>
        <p:spPr>
          <a:xfrm>
            <a:off x="2247900" y="1866900"/>
            <a:ext cx="7696200" cy="4038600"/>
          </a:xfrm>
        </p:spPr>
        <p:txBody>
          <a:bodyPr/>
          <a:lstStyle/>
          <a:p>
            <a:r>
              <a:rPr lang="en-US" sz="2000" dirty="0"/>
              <a:t>Look at the number of requirements, the number linkages and the number of tests.</a:t>
            </a:r>
          </a:p>
        </p:txBody>
      </p:sp>
      <p:graphicFrame>
        <p:nvGraphicFramePr>
          <p:cNvPr id="208901" name="Object 5"/>
          <p:cNvGraphicFramePr>
            <a:graphicFrameLocks noChangeAspect="1"/>
          </p:cNvGraphicFramePr>
          <p:nvPr/>
        </p:nvGraphicFramePr>
        <p:xfrm>
          <a:off x="3429001" y="2958332"/>
          <a:ext cx="9091975" cy="4027436"/>
        </p:xfrm>
        <a:graphic>
          <a:graphicData uri="http://schemas.openxmlformats.org/presentationml/2006/ole">
            <mc:AlternateContent xmlns:mc="http://schemas.openxmlformats.org/markup-compatibility/2006">
              <mc:Choice xmlns:v="urn:schemas-microsoft-com:vml" Requires="v">
                <p:oleObj name="Chart" r:id="rId2" imgW="7939913" imgH="5085248" progId="MSGraph.Chart.8">
                  <p:embed followColorScheme="full"/>
                </p:oleObj>
              </mc:Choice>
              <mc:Fallback>
                <p:oleObj name="Chart" r:id="rId2" imgW="7939913" imgH="5085248" progId="MSGraph.Chart.8">
                  <p:embed followColorScheme="full"/>
                  <p:pic>
                    <p:nvPicPr>
                      <p:cNvPr id="208901" name="Object 5"/>
                      <p:cNvPicPr>
                        <a:picLocks noChangeAspect="1" noChangeArrowheads="1"/>
                      </p:cNvPicPr>
                      <p:nvPr/>
                    </p:nvPicPr>
                    <p:blipFill>
                      <a:blip r:embed="rId3"/>
                      <a:srcRect/>
                      <a:stretch>
                        <a:fillRect/>
                      </a:stretch>
                    </p:blipFill>
                    <p:spPr bwMode="auto">
                      <a:xfrm>
                        <a:off x="3429001" y="2958332"/>
                        <a:ext cx="9091975" cy="4027436"/>
                      </a:xfrm>
                      <a:prstGeom prst="rect">
                        <a:avLst/>
                      </a:prstGeom>
                      <a:noFill/>
                    </p:spPr>
                  </p:pic>
                </p:oleObj>
              </mc:Fallback>
            </mc:AlternateContent>
          </a:graphicData>
        </a:graphic>
      </p:graphicFrame>
    </p:spTree>
    <p:extLst>
      <p:ext uri="{BB962C8B-B14F-4D97-AF65-F5344CB8AC3E}">
        <p14:creationId xmlns:p14="http://schemas.microsoft.com/office/powerpoint/2010/main" val="54572312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218184" name="Straight Connector 218183">
            <a:extLst>
              <a:ext uri="{FF2B5EF4-FFF2-40B4-BE49-F238E27FC236}">
                <a16:creationId xmlns:a16="http://schemas.microsoft.com/office/drawing/2014/main" id="{D2E961F1-4A28-4A5F-BBD4-6E400E5E6C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72357"/>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18186" name="Rectangle 218185">
            <a:extLst>
              <a:ext uri="{FF2B5EF4-FFF2-40B4-BE49-F238E27FC236}">
                <a16:creationId xmlns:a16="http://schemas.microsoft.com/office/drawing/2014/main" id="{7F57BEA8-497D-4AA8-8A18-BDCD696B2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596"/>
            <a:ext cx="12192000" cy="1735555"/>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8114" name="Rectangle 2"/>
          <p:cNvSpPr>
            <a:spLocks noGrp="1" noChangeArrowheads="1"/>
          </p:cNvSpPr>
          <p:nvPr>
            <p:ph type="title"/>
          </p:nvPr>
        </p:nvSpPr>
        <p:spPr>
          <a:xfrm>
            <a:off x="526073" y="489439"/>
            <a:ext cx="11139854" cy="930447"/>
          </a:xfrm>
        </p:spPr>
        <p:txBody>
          <a:bodyPr vert="horz" lIns="91440" tIns="45720" rIns="91440" bIns="45720" rtlCol="0" anchor="b">
            <a:normAutofit/>
          </a:bodyPr>
          <a:lstStyle/>
          <a:p>
            <a:pPr algn="ctr"/>
            <a:r>
              <a:rPr lang="en-US" sz="5400" kern="1200">
                <a:solidFill>
                  <a:schemeClr val="bg1"/>
                </a:solidFill>
                <a:latin typeface="+mj-lt"/>
                <a:ea typeface="+mj-ea"/>
                <a:cs typeface="+mj-cs"/>
              </a:rPr>
              <a:t>Testing Complexity</a:t>
            </a:r>
          </a:p>
        </p:txBody>
      </p:sp>
      <p:cxnSp>
        <p:nvCxnSpPr>
          <p:cNvPr id="218188" name="Straight Connector 218187">
            <a:extLst>
              <a:ext uri="{FF2B5EF4-FFF2-40B4-BE49-F238E27FC236}">
                <a16:creationId xmlns:a16="http://schemas.microsoft.com/office/drawing/2014/main" id="{A82415D3-DDE5-4D63-8CB3-23A5EC581B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1479733"/>
            <a:ext cx="2743200" cy="0"/>
          </a:xfrm>
          <a:prstGeom prst="line">
            <a:avLst/>
          </a:prstGeom>
          <a:ln w="19050">
            <a:solidFill>
              <a:schemeClr val="bg1">
                <a:alpha val="75000"/>
              </a:schemeClr>
            </a:solidFill>
          </a:ln>
        </p:spPr>
        <p:style>
          <a:lnRef idx="1">
            <a:schemeClr val="accent1"/>
          </a:lnRef>
          <a:fillRef idx="0">
            <a:schemeClr val="accent1"/>
          </a:fillRef>
          <a:effectRef idx="0">
            <a:schemeClr val="accent1"/>
          </a:effectRef>
          <a:fontRef idx="minor">
            <a:schemeClr val="tx1"/>
          </a:fontRef>
        </p:style>
      </p:cxnSp>
      <p:cxnSp>
        <p:nvCxnSpPr>
          <p:cNvPr id="218190" name="Straight Connector 218189">
            <a:extLst>
              <a:ext uri="{FF2B5EF4-FFF2-40B4-BE49-F238E27FC236}">
                <a16:creationId xmlns:a16="http://schemas.microsoft.com/office/drawing/2014/main" id="{AD7193FB-6AE6-4B3B-8F89-56B55DD63B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201402"/>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3" name="Slide Number Placeholder 5"/>
          <p:cNvSpPr>
            <a:spLocks noGrp="1"/>
          </p:cNvSpPr>
          <p:nvPr>
            <p:ph type="sldNum" sz="quarter" idx="12"/>
          </p:nvPr>
        </p:nvSpPr>
        <p:spPr>
          <a:xfrm>
            <a:off x="8610600" y="6522430"/>
            <a:ext cx="2743200" cy="347472"/>
          </a:xfrm>
        </p:spPr>
        <p:txBody>
          <a:bodyPr vert="horz" lIns="91440" tIns="45720" rIns="91440" bIns="45720" rtlCol="0" anchor="ct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6543EE63-19BD-4F2B-AB1D-6C2BE41ACF1C}" type="slidenum">
              <a:rPr kumimoji="0" lang="en-US" sz="1200" b="1" i="0" u="none" strike="noStrike" kern="1200" cap="none" spc="0" normalizeH="0" baseline="0" noProof="0">
                <a:ln>
                  <a:noFill/>
                </a:ln>
                <a:solidFill>
                  <a:srgbClr val="898989"/>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54</a:t>
            </a:fld>
            <a:endParaRPr kumimoji="0" lang="en-US" sz="1200" b="1" i="0" u="none" strike="noStrike" kern="1200" cap="none" spc="0" normalizeH="0" baseline="0" noProof="0">
              <a:ln>
                <a:noFill/>
              </a:ln>
              <a:solidFill>
                <a:srgbClr val="898989"/>
              </a:solidFill>
              <a:effectLst/>
              <a:uLnTx/>
              <a:uFillTx/>
              <a:latin typeface="Calibri" panose="020F0502020204030204"/>
              <a:ea typeface="+mn-ea"/>
              <a:cs typeface="+mn-cs"/>
            </a:endParaRPr>
          </a:p>
        </p:txBody>
      </p:sp>
      <p:graphicFrame>
        <p:nvGraphicFramePr>
          <p:cNvPr id="218179" name="Group 67"/>
          <p:cNvGraphicFramePr>
            <a:graphicFrameLocks noGrp="1"/>
          </p:cNvGraphicFramePr>
          <p:nvPr>
            <p:extLst>
              <p:ext uri="{D42A27DB-BD31-4B8C-83A1-F6EECF244321}">
                <p14:modId xmlns:p14="http://schemas.microsoft.com/office/powerpoint/2010/main" val="3256065252"/>
              </p:ext>
            </p:extLst>
          </p:nvPr>
        </p:nvGraphicFramePr>
        <p:xfrm>
          <a:off x="502296" y="2427541"/>
          <a:ext cx="11132310" cy="3997641"/>
        </p:xfrm>
        <a:graphic>
          <a:graphicData uri="http://schemas.openxmlformats.org/drawingml/2006/table">
            <a:tbl>
              <a:tblPr firstRow="1" bandRow="1"/>
              <a:tblGrid>
                <a:gridCol w="1546705">
                  <a:extLst>
                    <a:ext uri="{9D8B030D-6E8A-4147-A177-3AD203B41FA5}">
                      <a16:colId xmlns:a16="http://schemas.microsoft.com/office/drawing/2014/main" val="20000"/>
                    </a:ext>
                  </a:extLst>
                </a:gridCol>
                <a:gridCol w="1427728">
                  <a:extLst>
                    <a:ext uri="{9D8B030D-6E8A-4147-A177-3AD203B41FA5}">
                      <a16:colId xmlns:a16="http://schemas.microsoft.com/office/drawing/2014/main" val="20001"/>
                    </a:ext>
                  </a:extLst>
                </a:gridCol>
                <a:gridCol w="2871319">
                  <a:extLst>
                    <a:ext uri="{9D8B030D-6E8A-4147-A177-3AD203B41FA5}">
                      <a16:colId xmlns:a16="http://schemas.microsoft.com/office/drawing/2014/main" val="20002"/>
                    </a:ext>
                  </a:extLst>
                </a:gridCol>
                <a:gridCol w="2415239">
                  <a:extLst>
                    <a:ext uri="{9D8B030D-6E8A-4147-A177-3AD203B41FA5}">
                      <a16:colId xmlns:a16="http://schemas.microsoft.com/office/drawing/2014/main" val="20003"/>
                    </a:ext>
                  </a:extLst>
                </a:gridCol>
                <a:gridCol w="2871319">
                  <a:extLst>
                    <a:ext uri="{9D8B030D-6E8A-4147-A177-3AD203B41FA5}">
                      <a16:colId xmlns:a16="http://schemas.microsoft.com/office/drawing/2014/main" val="20004"/>
                    </a:ext>
                  </a:extLst>
                </a:gridCol>
              </a:tblGrid>
              <a:tr h="1484837">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Build</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Level</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dirty="0">
                          <a:ln>
                            <a:noFill/>
                          </a:ln>
                          <a:solidFill>
                            <a:schemeClr val="tx1"/>
                          </a:solidFill>
                          <a:effectLst/>
                          <a:latin typeface="Arial" pitchFamily="34" charset="0"/>
                        </a:rPr>
                        <a:t>Ratio Links to Requirements</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Ratio Links to Tests</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Ratio Requirements to Tests</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28201">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2</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3</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2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5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dirty="0">
                          <a:ln>
                            <a:noFill/>
                          </a:ln>
                          <a:solidFill>
                            <a:schemeClr val="tx1"/>
                          </a:solidFill>
                          <a:effectLst/>
                          <a:latin typeface="Arial" pitchFamily="34" charset="0"/>
                        </a:rPr>
                        <a:t>2.5 : 1</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28201">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3</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3</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10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dirty="0">
                          <a:ln>
                            <a:noFill/>
                          </a:ln>
                          <a:solidFill>
                            <a:schemeClr val="tx1"/>
                          </a:solidFill>
                          <a:effectLst/>
                          <a:latin typeface="Arial" pitchFamily="34" charset="0"/>
                        </a:rPr>
                        <a:t>2.5 : 1</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28201">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2</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dirty="0">
                          <a:ln>
                            <a:noFill/>
                          </a:ln>
                          <a:solidFill>
                            <a:srgbClr val="CC3300"/>
                          </a:solidFill>
                          <a:effectLst/>
                          <a:latin typeface="Arial" pitchFamily="34" charset="0"/>
                        </a:rPr>
                        <a:t>0.5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4.5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dirty="0">
                          <a:ln>
                            <a:noFill/>
                          </a:ln>
                          <a:solidFill>
                            <a:schemeClr val="tx1"/>
                          </a:solidFill>
                          <a:effectLst/>
                          <a:latin typeface="Arial" pitchFamily="34" charset="0"/>
                        </a:rPr>
                        <a:t>9 : 1</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628201">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3</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rgbClr val="CC3300"/>
                          </a:solidFill>
                          <a:effectLst/>
                          <a:latin typeface="Arial" pitchFamily="34" charset="0"/>
                        </a:rPr>
                        <a:t>0.75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dirty="0">
                          <a:ln>
                            <a:noFill/>
                          </a:ln>
                          <a:solidFill>
                            <a:schemeClr val="tx1"/>
                          </a:solidFill>
                          <a:effectLst/>
                          <a:latin typeface="Arial" pitchFamily="34" charset="0"/>
                        </a:rPr>
                        <a:t>5.33 : 1</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173546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1897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2326386" y="2448306"/>
            <a:ext cx="8161020" cy="3038094"/>
          </a:xfrm>
        </p:spPr>
        <p:txBody>
          <a:bodyPr>
            <a:normAutofit fontScale="62500" lnSpcReduction="20000"/>
          </a:bodyPr>
          <a:lstStyle/>
          <a:p>
            <a:pPr marL="0" indent="0">
              <a:buNone/>
            </a:pPr>
            <a:r>
              <a:rPr lang="en-US" sz="3400" dirty="0"/>
              <a:t>       </a:t>
            </a:r>
            <a:r>
              <a:rPr lang="en-US" sz="3400" b="1" dirty="0"/>
              <a:t>Read:</a:t>
            </a:r>
          </a:p>
          <a:p>
            <a:pPr lvl="2"/>
            <a:endParaRPr lang="en-US" sz="2325" dirty="0"/>
          </a:p>
          <a:p>
            <a:pPr lvl="2"/>
            <a:endParaRPr lang="en-US" sz="2325" dirty="0"/>
          </a:p>
          <a:p>
            <a:pPr lvl="2"/>
            <a:r>
              <a:rPr lang="en-US" sz="2900" dirty="0"/>
              <a:t>Chapter 28</a:t>
            </a:r>
          </a:p>
          <a:p>
            <a:pPr marL="205978" lvl="1" indent="0">
              <a:buNone/>
            </a:pPr>
            <a:endParaRPr lang="en-US" sz="2325" dirty="0"/>
          </a:p>
          <a:p>
            <a:pPr marL="205978" lvl="1" indent="0">
              <a:buNone/>
            </a:pPr>
            <a:endParaRPr lang="en-US" sz="2325" dirty="0"/>
          </a:p>
          <a:p>
            <a:pPr marL="205978" lvl="1" indent="0">
              <a:buNone/>
            </a:pPr>
            <a:endParaRPr lang="en-US" sz="2325" dirty="0"/>
          </a:p>
          <a:p>
            <a:pPr marL="0" lvl="1" indent="0">
              <a:spcBef>
                <a:spcPts val="900"/>
              </a:spcBef>
              <a:buNone/>
            </a:pPr>
            <a:r>
              <a:rPr lang="en-US" sz="3800" dirty="0"/>
              <a:t>         </a:t>
            </a:r>
            <a:r>
              <a:rPr lang="en-US" sz="3800" b="1" dirty="0"/>
              <a:t>Assignments &amp; Project Tasks (</a:t>
            </a:r>
            <a:r>
              <a:rPr lang="en-US" sz="3800" b="1" u="sng" dirty="0"/>
              <a:t>Upcoming three items</a:t>
            </a:r>
            <a:r>
              <a:rPr lang="en-US" sz="3800" b="1" dirty="0"/>
              <a:t>):</a:t>
            </a:r>
          </a:p>
          <a:p>
            <a:endParaRPr lang="en-US" dirty="0"/>
          </a:p>
          <a:p>
            <a:pPr lvl="2"/>
            <a:r>
              <a:rPr lang="en-US" sz="2900" dirty="0"/>
              <a:t>Assignment 3 is due tomorrow </a:t>
            </a:r>
          </a:p>
          <a:p>
            <a:pPr lvl="2"/>
            <a:r>
              <a:rPr lang="en-US" sz="2900" dirty="0"/>
              <a:t>Project Deliverable 4 is due in 2 weeks.</a:t>
            </a: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81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081458" y="3928547"/>
            <a:ext cx="685800" cy="685800"/>
          </a:xfrm>
          <a:prstGeom prst="rect">
            <a:avLst/>
          </a:prstGeom>
        </p:spPr>
      </p:pic>
      <p:sp>
        <p:nvSpPr>
          <p:cNvPr id="5" name="Slide Number Placeholder 4">
            <a:extLst>
              <a:ext uri="{FF2B5EF4-FFF2-40B4-BE49-F238E27FC236}">
                <a16:creationId xmlns:a16="http://schemas.microsoft.com/office/drawing/2014/main" id="{14340FC3-8972-025E-B135-FB8860CA08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B9A93A2-046E-4DE2-8DC8-437C9DCCFAA3}" type="slidenum">
              <a:rPr kumimoji="0" lang="en-US" sz="9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1923313"/>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_rels/theme5.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1_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6.xml><?xml version="1.0" encoding="utf-8"?>
<a:theme xmlns:a="http://schemas.openxmlformats.org/drawingml/2006/main" name="Ripple">
  <a:themeElements>
    <a:clrScheme name="Ripple 3">
      <a:dk1>
        <a:srgbClr val="008AE8"/>
      </a:dk1>
      <a:lt1>
        <a:srgbClr val="FFFFFF"/>
      </a:lt1>
      <a:dk2>
        <a:srgbClr val="0068AE"/>
      </a:dk2>
      <a:lt2>
        <a:srgbClr val="CCECFF"/>
      </a:lt2>
      <a:accent1>
        <a:srgbClr val="009999"/>
      </a:accent1>
      <a:accent2>
        <a:srgbClr val="0088E4"/>
      </a:accent2>
      <a:accent3>
        <a:srgbClr val="AAB9D3"/>
      </a:accent3>
      <a:accent4>
        <a:srgbClr val="DADADA"/>
      </a:accent4>
      <a:accent5>
        <a:srgbClr val="AACACA"/>
      </a:accent5>
      <a:accent6>
        <a:srgbClr val="007BCF"/>
      </a:accent6>
      <a:hlink>
        <a:srgbClr val="99FF99"/>
      </a:hlink>
      <a:folHlink>
        <a:srgbClr val="AFE1FF"/>
      </a:folHlink>
    </a:clrScheme>
    <a:fontScheme name="Rippl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Ripple 1">
        <a:dk1>
          <a:srgbClr val="2B2B85"/>
        </a:dk1>
        <a:lt1>
          <a:srgbClr val="FFFFFF"/>
        </a:lt1>
        <a:dk2>
          <a:srgbClr val="00254A"/>
        </a:dk2>
        <a:lt2>
          <a:srgbClr val="C0C0C0"/>
        </a:lt2>
        <a:accent1>
          <a:srgbClr val="0099FF"/>
        </a:accent1>
        <a:accent2>
          <a:srgbClr val="006699"/>
        </a:accent2>
        <a:accent3>
          <a:srgbClr val="AAACB1"/>
        </a:accent3>
        <a:accent4>
          <a:srgbClr val="DADADA"/>
        </a:accent4>
        <a:accent5>
          <a:srgbClr val="AACAFF"/>
        </a:accent5>
        <a:accent6>
          <a:srgbClr val="005C8A"/>
        </a:accent6>
        <a:hlink>
          <a:srgbClr val="99CCFF"/>
        </a:hlink>
        <a:folHlink>
          <a:srgbClr val="8F8FB5"/>
        </a:folHlink>
      </a:clrScheme>
      <a:clrMap bg1="dk2" tx1="lt1" bg2="dk1" tx2="lt2" accent1="accent1" accent2="accent2" accent3="accent3" accent4="accent4" accent5="accent5" accent6="accent6" hlink="hlink" folHlink="folHlink"/>
    </a:extraClrScheme>
    <a:extraClrScheme>
      <a:clrScheme name="Ripple 2">
        <a:dk1>
          <a:srgbClr val="3B4B5D"/>
        </a:dk1>
        <a:lt1>
          <a:srgbClr val="FFFFFF"/>
        </a:lt1>
        <a:dk2>
          <a:srgbClr val="466886"/>
        </a:dk2>
        <a:lt2>
          <a:srgbClr val="CCECFF"/>
        </a:lt2>
        <a:accent1>
          <a:srgbClr val="6D9D97"/>
        </a:accent1>
        <a:accent2>
          <a:srgbClr val="53718C"/>
        </a:accent2>
        <a:accent3>
          <a:srgbClr val="B0B9C3"/>
        </a:accent3>
        <a:accent4>
          <a:srgbClr val="DADADA"/>
        </a:accent4>
        <a:accent5>
          <a:srgbClr val="BACCC9"/>
        </a:accent5>
        <a:accent6>
          <a:srgbClr val="4A667E"/>
        </a:accent6>
        <a:hlink>
          <a:srgbClr val="99CCFF"/>
        </a:hlink>
        <a:folHlink>
          <a:srgbClr val="A97CF2"/>
        </a:folHlink>
      </a:clrScheme>
      <a:clrMap bg1="dk2" tx1="lt1" bg2="dk1" tx2="lt2" accent1="accent1" accent2="accent2" accent3="accent3" accent4="accent4" accent5="accent5" accent6="accent6" hlink="hlink" folHlink="folHlink"/>
    </a:extraClrScheme>
    <a:extraClrScheme>
      <a:clrScheme name="Ripple 3">
        <a:dk1>
          <a:srgbClr val="008AE8"/>
        </a:dk1>
        <a:lt1>
          <a:srgbClr val="FFFFFF"/>
        </a:lt1>
        <a:dk2>
          <a:srgbClr val="0068AE"/>
        </a:dk2>
        <a:lt2>
          <a:srgbClr val="CCECFF"/>
        </a:lt2>
        <a:accent1>
          <a:srgbClr val="009999"/>
        </a:accent1>
        <a:accent2>
          <a:srgbClr val="0088E4"/>
        </a:accent2>
        <a:accent3>
          <a:srgbClr val="AAB9D3"/>
        </a:accent3>
        <a:accent4>
          <a:srgbClr val="DADADA"/>
        </a:accent4>
        <a:accent5>
          <a:srgbClr val="AACACA"/>
        </a:accent5>
        <a:accent6>
          <a:srgbClr val="007BCF"/>
        </a:accent6>
        <a:hlink>
          <a:srgbClr val="99FF99"/>
        </a:hlink>
        <a:folHlink>
          <a:srgbClr val="AFE1FF"/>
        </a:folHlink>
      </a:clrScheme>
      <a:clrMap bg1="dk2" tx1="lt1" bg2="dk1" tx2="lt2" accent1="accent1" accent2="accent2" accent3="accent3" accent4="accent4" accent5="accent5" accent6="accent6" hlink="hlink" folHlink="folHlink"/>
    </a:extraClrScheme>
    <a:extraClrScheme>
      <a:clrScheme name="Ripple 4">
        <a:dk1>
          <a:srgbClr val="9B69FF"/>
        </a:dk1>
        <a:lt1>
          <a:srgbClr val="FFFFFF"/>
        </a:lt1>
        <a:dk2>
          <a:srgbClr val="666699"/>
        </a:dk2>
        <a:lt2>
          <a:srgbClr val="D9D9FF"/>
        </a:lt2>
        <a:accent1>
          <a:srgbClr val="66CCFF"/>
        </a:accent1>
        <a:accent2>
          <a:srgbClr val="9966FF"/>
        </a:accent2>
        <a:accent3>
          <a:srgbClr val="B8B8CA"/>
        </a:accent3>
        <a:accent4>
          <a:srgbClr val="DADADA"/>
        </a:accent4>
        <a:accent5>
          <a:srgbClr val="B8E2FF"/>
        </a:accent5>
        <a:accent6>
          <a:srgbClr val="8A5CE7"/>
        </a:accent6>
        <a:hlink>
          <a:srgbClr val="0099CC"/>
        </a:hlink>
        <a:folHlink>
          <a:srgbClr val="003399"/>
        </a:folHlink>
      </a:clrScheme>
      <a:clrMap bg1="dk2" tx1="lt1" bg2="dk1" tx2="lt2" accent1="accent1" accent2="accent2" accent3="accent3" accent4="accent4" accent5="accent5" accent6="accent6" hlink="hlink" folHlink="folHlink"/>
    </a:extraClrScheme>
    <a:extraClrScheme>
      <a:clrScheme name="Ripple 5">
        <a:dk1>
          <a:srgbClr val="008080"/>
        </a:dk1>
        <a:lt1>
          <a:srgbClr val="FFFFFF"/>
        </a:lt1>
        <a:dk2>
          <a:srgbClr val="006666"/>
        </a:dk2>
        <a:lt2>
          <a:srgbClr val="FFFFCC"/>
        </a:lt2>
        <a:accent1>
          <a:srgbClr val="0099FF"/>
        </a:accent1>
        <a:accent2>
          <a:srgbClr val="008080"/>
        </a:accent2>
        <a:accent3>
          <a:srgbClr val="AAB8B8"/>
        </a:accent3>
        <a:accent4>
          <a:srgbClr val="DADADA"/>
        </a:accent4>
        <a:accent5>
          <a:srgbClr val="AACAFF"/>
        </a:accent5>
        <a:accent6>
          <a:srgbClr val="007373"/>
        </a:accent6>
        <a:hlink>
          <a:srgbClr val="1ACE9F"/>
        </a:hlink>
        <a:folHlink>
          <a:srgbClr val="A5B5CD"/>
        </a:folHlink>
      </a:clrScheme>
      <a:clrMap bg1="dk2" tx1="lt1" bg2="dk1" tx2="lt2" accent1="accent1" accent2="accent2" accent3="accent3" accent4="accent4" accent5="accent5" accent6="accent6" hlink="hlink" folHlink="folHlink"/>
    </a:extraClrScheme>
    <a:extraClrScheme>
      <a:clrScheme name="Ripple 6">
        <a:dk1>
          <a:srgbClr val="CDD9D1"/>
        </a:dk1>
        <a:lt1>
          <a:srgbClr val="FFFFFF"/>
        </a:lt1>
        <a:dk2>
          <a:srgbClr val="A3BBA9"/>
        </a:dk2>
        <a:lt2>
          <a:srgbClr val="007D80"/>
        </a:lt2>
        <a:accent1>
          <a:srgbClr val="9CA8A4"/>
        </a:accent1>
        <a:accent2>
          <a:srgbClr val="CBD7CE"/>
        </a:accent2>
        <a:accent3>
          <a:srgbClr val="CEDAD1"/>
        </a:accent3>
        <a:accent4>
          <a:srgbClr val="DADADA"/>
        </a:accent4>
        <a:accent5>
          <a:srgbClr val="CBD1CF"/>
        </a:accent5>
        <a:accent6>
          <a:srgbClr val="B8C3BA"/>
        </a:accent6>
        <a:hlink>
          <a:srgbClr val="009900"/>
        </a:hlink>
        <a:folHlink>
          <a:srgbClr val="009999"/>
        </a:folHlink>
      </a:clrScheme>
      <a:clrMap bg1="dk2" tx1="lt1" bg2="dk1" tx2="lt2" accent1="accent1" accent2="accent2" accent3="accent3" accent4="accent4" accent5="accent5" accent6="accent6" hlink="hlink" folHlink="folHlink"/>
    </a:extraClrScheme>
    <a:extraClrScheme>
      <a:clrScheme name="Ripple 7">
        <a:dk1>
          <a:srgbClr val="686B5D"/>
        </a:dk1>
        <a:lt1>
          <a:srgbClr val="DCDAD0"/>
        </a:lt1>
        <a:dk2>
          <a:srgbClr val="525040"/>
        </a:dk2>
        <a:lt2>
          <a:srgbClr val="D3D2A6"/>
        </a:lt2>
        <a:accent1>
          <a:srgbClr val="5D8770"/>
        </a:accent1>
        <a:accent2>
          <a:srgbClr val="686B5D"/>
        </a:accent2>
        <a:accent3>
          <a:srgbClr val="B3B3AF"/>
        </a:accent3>
        <a:accent4>
          <a:srgbClr val="BCBAB1"/>
        </a:accent4>
        <a:accent5>
          <a:srgbClr val="B6C3BB"/>
        </a:accent5>
        <a:accent6>
          <a:srgbClr val="5E6053"/>
        </a:accent6>
        <a:hlink>
          <a:srgbClr val="85B7A9"/>
        </a:hlink>
        <a:folHlink>
          <a:srgbClr val="B89362"/>
        </a:folHlink>
      </a:clrScheme>
      <a:clrMap bg1="dk2" tx1="lt1" bg2="dk1" tx2="lt2" accent1="accent1" accent2="accent2" accent3="accent3" accent4="accent4" accent5="accent5" accent6="accent6" hlink="hlink" folHlink="folHlink"/>
    </a:extraClrScheme>
    <a:extraClrScheme>
      <a:clrScheme name="Ripple 8">
        <a:dk1>
          <a:srgbClr val="000000"/>
        </a:dk1>
        <a:lt1>
          <a:srgbClr val="EAEAEA"/>
        </a:lt1>
        <a:dk2>
          <a:srgbClr val="000000"/>
        </a:dk2>
        <a:lt2>
          <a:srgbClr val="B2B2B2"/>
        </a:lt2>
        <a:accent1>
          <a:srgbClr val="A4BCC4"/>
        </a:accent1>
        <a:accent2>
          <a:srgbClr val="FFFFFF"/>
        </a:accent2>
        <a:accent3>
          <a:srgbClr val="F3F3F3"/>
        </a:accent3>
        <a:accent4>
          <a:srgbClr val="000000"/>
        </a:accent4>
        <a:accent5>
          <a:srgbClr val="CFDADE"/>
        </a:accent5>
        <a:accent6>
          <a:srgbClr val="E7E7E7"/>
        </a:accent6>
        <a:hlink>
          <a:srgbClr val="0066FF"/>
        </a:hlink>
        <a:folHlink>
          <a:srgbClr val="00CC66"/>
        </a:folHlink>
      </a:clrScheme>
      <a:clrMap bg1="lt1" tx1="dk1" bg2="lt2" tx2="dk2" accent1="accent1" accent2="accent2" accent3="accent3" accent4="accent4" accent5="accent5" accent6="accent6" hlink="hlink" folHlink="folHlink"/>
    </a:extraClrScheme>
    <a:extraClrScheme>
      <a:clrScheme name="Ripple 9">
        <a:dk1>
          <a:srgbClr val="000000"/>
        </a:dk1>
        <a:lt1>
          <a:srgbClr val="D7D1B9"/>
        </a:lt1>
        <a:dk2>
          <a:srgbClr val="B39257"/>
        </a:dk2>
        <a:lt2>
          <a:srgbClr val="B1A887"/>
        </a:lt2>
        <a:accent1>
          <a:srgbClr val="FFCC66"/>
        </a:accent1>
        <a:accent2>
          <a:srgbClr val="E6E3AC"/>
        </a:accent2>
        <a:accent3>
          <a:srgbClr val="E8E5D9"/>
        </a:accent3>
        <a:accent4>
          <a:srgbClr val="000000"/>
        </a:accent4>
        <a:accent5>
          <a:srgbClr val="FFE2B8"/>
        </a:accent5>
        <a:accent6>
          <a:srgbClr val="D0CE9B"/>
        </a:accent6>
        <a:hlink>
          <a:srgbClr val="666633"/>
        </a:hlink>
        <a:folHlink>
          <a:srgbClr val="9C9800"/>
        </a:folHlink>
      </a:clrScheme>
      <a:clrMap bg1="lt1" tx1="dk1" bg2="lt2" tx2="dk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TotalTime>
  <Words>2992</Words>
  <Application>Microsoft Macintosh PowerPoint</Application>
  <PresentationFormat>Widescreen</PresentationFormat>
  <Paragraphs>510</Paragraphs>
  <Slides>55</Slides>
  <Notes>22</Notes>
  <HiddenSlides>0</HiddenSlides>
  <MMClips>1</MMClips>
  <ScaleCrop>false</ScaleCrop>
  <HeadingPairs>
    <vt:vector size="8" baseType="variant">
      <vt:variant>
        <vt:lpstr>Fonts Used</vt:lpstr>
      </vt:variant>
      <vt:variant>
        <vt:i4>13</vt:i4>
      </vt:variant>
      <vt:variant>
        <vt:lpstr>Theme</vt:lpstr>
      </vt:variant>
      <vt:variant>
        <vt:i4>7</vt:i4>
      </vt:variant>
      <vt:variant>
        <vt:lpstr>Embedded OLE Servers</vt:lpstr>
      </vt:variant>
      <vt:variant>
        <vt:i4>2</vt:i4>
      </vt:variant>
      <vt:variant>
        <vt:lpstr>Slide Titles</vt:lpstr>
      </vt:variant>
      <vt:variant>
        <vt:i4>55</vt:i4>
      </vt:variant>
    </vt:vector>
  </HeadingPairs>
  <TitlesOfParts>
    <vt:vector size="77" baseType="lpstr">
      <vt:lpstr>Aptos</vt:lpstr>
      <vt:lpstr>Aptos Display</vt:lpstr>
      <vt:lpstr>Arial</vt:lpstr>
      <vt:lpstr>Arial Black</vt:lpstr>
      <vt:lpstr>Calibri</vt:lpstr>
      <vt:lpstr>Calibri Light</vt:lpstr>
      <vt:lpstr>Cambria Math</vt:lpstr>
      <vt:lpstr>Comic Sans MS</vt:lpstr>
      <vt:lpstr>Courier New</vt:lpstr>
      <vt:lpstr>Rockwell Extra Bold</vt:lpstr>
      <vt:lpstr>Times New Roman</vt:lpstr>
      <vt:lpstr>Wingdings</vt:lpstr>
      <vt:lpstr>Wingdings 2</vt:lpstr>
      <vt:lpstr>Office Theme</vt:lpstr>
      <vt:lpstr>1_Office Theme</vt:lpstr>
      <vt:lpstr>Wood Type</vt:lpstr>
      <vt:lpstr>3_Office Theme</vt:lpstr>
      <vt:lpstr>1_Wood Type</vt:lpstr>
      <vt:lpstr>Ripple</vt:lpstr>
      <vt:lpstr>2_Office Theme</vt:lpstr>
      <vt:lpstr>Equation</vt:lpstr>
      <vt:lpstr>Chart</vt:lpstr>
      <vt:lpstr>Software Engineering CS411, FALL 2025 </vt:lpstr>
      <vt:lpstr>agenda</vt:lpstr>
      <vt:lpstr>PowerPoint Presentation</vt:lpstr>
      <vt:lpstr>Beta Testing</vt:lpstr>
      <vt:lpstr>Product Sustaining</vt:lpstr>
      <vt:lpstr>Product Sustaining</vt:lpstr>
      <vt:lpstr>Product Sustaining</vt:lpstr>
      <vt:lpstr>Measuring Test Effectiveness</vt:lpstr>
      <vt:lpstr>PowerPoint Presentation</vt:lpstr>
      <vt:lpstr>PowerPoint Presentation</vt:lpstr>
      <vt:lpstr>PowerPoint Presentation</vt:lpstr>
      <vt:lpstr>INDUSTRY-WIDE DEFECT CAUSES</vt:lpstr>
      <vt:lpstr>INDUSTRY-WIDE DEFECT CAUSES</vt:lpstr>
      <vt:lpstr>Spoilage Metric</vt:lpstr>
      <vt:lpstr>Spoilage Metric</vt:lpstr>
      <vt:lpstr>Spoilage Metric</vt:lpstr>
      <vt:lpstr>Spoilage Metric</vt:lpstr>
      <vt:lpstr> TEST YOUR KNOWLEDGE</vt:lpstr>
      <vt:lpstr>PowerPoint Presentation</vt:lpstr>
      <vt:lpstr>PowerPoint Presentation</vt:lpstr>
      <vt:lpstr>PowerPoint Presentation</vt:lpstr>
      <vt:lpstr>Risk Management</vt:lpstr>
      <vt:lpstr>Risk Management</vt:lpstr>
      <vt:lpstr>Risk Classification</vt:lpstr>
      <vt:lpstr>Examples of risks</vt:lpstr>
      <vt:lpstr>The risk management process</vt:lpstr>
      <vt:lpstr>Affordability and win-win negotiation</vt:lpstr>
      <vt:lpstr>What is“affordable”?</vt:lpstr>
      <vt:lpstr>Example 1: price gouging</vt:lpstr>
      <vt:lpstr>Risk matrix approach to affordability optimization</vt:lpstr>
      <vt:lpstr>Problem with understanding win conditions</vt:lpstr>
      <vt:lpstr>Other problems with customer win conditions</vt:lpstr>
      <vt:lpstr>Resolving client win conditions</vt:lpstr>
      <vt:lpstr>Win-win negotiating</vt:lpstr>
      <vt:lpstr>Example 2</vt:lpstr>
      <vt:lpstr>Example 3</vt:lpstr>
      <vt:lpstr>Example 4</vt:lpstr>
      <vt:lpstr>Traceability Help in Mitigating Risks</vt:lpstr>
      <vt:lpstr>Traceability</vt:lpstr>
      <vt:lpstr>PowerPoint Presentation</vt:lpstr>
      <vt:lpstr>PowerPoint Presentation</vt:lpstr>
      <vt:lpstr>PowerPoint Presentation</vt:lpstr>
      <vt:lpstr>The Test Coverage Matrix</vt:lpstr>
      <vt:lpstr>Test Coverage Matrix</vt:lpstr>
      <vt:lpstr>Test Coverage Matrix : Example</vt:lpstr>
      <vt:lpstr>NASA Requirements Taxonomy and Tracebility</vt:lpstr>
      <vt:lpstr>NASA Requirements Taxonomy </vt:lpstr>
      <vt:lpstr>Requirements Metrics</vt:lpstr>
      <vt:lpstr>Requirement Links to Tests</vt:lpstr>
      <vt:lpstr>Requirement Links to Tests : Level 3</vt:lpstr>
      <vt:lpstr>Requirement linkage to Tests : Level 4</vt:lpstr>
      <vt:lpstr>Test Span</vt:lpstr>
      <vt:lpstr>Testing Complexity</vt:lpstr>
      <vt:lpstr>Testing Complexity</vt:lpstr>
      <vt:lpstr>Readings , Assignments, Project Tasks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Engineering CS-UH 2012, Spring 2024</dc:title>
  <dc:creator>Kassab, Mohamad Hassan</dc:creator>
  <cp:lastModifiedBy>Kontothanassis, Leonidas</cp:lastModifiedBy>
  <cp:revision>21</cp:revision>
  <dcterms:created xsi:type="dcterms:W3CDTF">2024-04-24T20:34:49Z</dcterms:created>
  <dcterms:modified xsi:type="dcterms:W3CDTF">2025-11-03T20:54:12Z</dcterms:modified>
</cp:coreProperties>
</file>