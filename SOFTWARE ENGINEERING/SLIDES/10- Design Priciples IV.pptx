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  <p:sldMasterId id="2147483673" r:id="rId3"/>
    <p:sldMasterId id="2147483686" r:id="rId4"/>
  </p:sldMasterIdLst>
  <p:notesMasterIdLst>
    <p:notesMasterId r:id="rId20"/>
  </p:notesMasterIdLst>
  <p:sldIdLst>
    <p:sldId id="339" r:id="rId5"/>
    <p:sldId id="771" r:id="rId6"/>
    <p:sldId id="776" r:id="rId7"/>
    <p:sldId id="583" r:id="rId8"/>
    <p:sldId id="779" r:id="rId9"/>
    <p:sldId id="556" r:id="rId10"/>
    <p:sldId id="532" r:id="rId11"/>
    <p:sldId id="584" r:id="rId12"/>
    <p:sldId id="557" r:id="rId13"/>
    <p:sldId id="780" r:id="rId14"/>
    <p:sldId id="558" r:id="rId15"/>
    <p:sldId id="560" r:id="rId16"/>
    <p:sldId id="781" r:id="rId17"/>
    <p:sldId id="775" r:id="rId18"/>
    <p:sldId id="47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76" autoAdjust="0"/>
    <p:restoredTop sz="89116" autoAdjust="0"/>
  </p:normalViewPr>
  <p:slideViewPr>
    <p:cSldViewPr snapToGrid="0">
      <p:cViewPr varScale="1">
        <p:scale>
          <a:sx n="113" d="100"/>
          <a:sy n="113" d="100"/>
        </p:scale>
        <p:origin x="12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CE0B75-3254-4C74-BB35-9E80A03F7FF5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F33C957-FC02-4F3A-B93D-EB85CB8A0A7E}">
      <dgm:prSet/>
      <dgm:spPr/>
      <dgm:t>
        <a:bodyPr/>
        <a:lstStyle/>
        <a:p>
          <a:r>
            <a:rPr lang="en-US" dirty="0"/>
            <a:t>During our discussions on GRASP patterns, we explained the concepts using ”Interaction Diagrams”. </a:t>
          </a:r>
        </a:p>
      </dgm:t>
    </dgm:pt>
    <dgm:pt modelId="{625A8301-1F71-4462-9E68-A746BF61DF9E}" type="parTrans" cxnId="{F6558595-B105-43DA-8582-95FAF30394E7}">
      <dgm:prSet/>
      <dgm:spPr/>
      <dgm:t>
        <a:bodyPr/>
        <a:lstStyle/>
        <a:p>
          <a:endParaRPr lang="en-US"/>
        </a:p>
      </dgm:t>
    </dgm:pt>
    <dgm:pt modelId="{9A0F8854-B1FE-4D5B-8F7C-337FEFBA6F90}" type="sibTrans" cxnId="{F6558595-B105-43DA-8582-95FAF30394E7}">
      <dgm:prSet/>
      <dgm:spPr/>
      <dgm:t>
        <a:bodyPr/>
        <a:lstStyle/>
        <a:p>
          <a:endParaRPr lang="en-US"/>
        </a:p>
      </dgm:t>
    </dgm:pt>
    <dgm:pt modelId="{3AFF01EC-4330-47F1-95D4-C47B017F654A}">
      <dgm:prSet/>
      <dgm:spPr/>
      <dgm:t>
        <a:bodyPr/>
        <a:lstStyle/>
        <a:p>
          <a:r>
            <a:rPr lang="en-US"/>
            <a:t>These are your 4</a:t>
          </a:r>
          <a:r>
            <a:rPr lang="en-US" baseline="30000"/>
            <a:t>th</a:t>
          </a:r>
          <a:r>
            <a:rPr lang="en-US"/>
            <a:t> type of UML diagrams you need to be familiar with in this course.</a:t>
          </a:r>
        </a:p>
      </dgm:t>
    </dgm:pt>
    <dgm:pt modelId="{42270BD3-AC61-4613-B48E-6DA5633CE33D}" type="parTrans" cxnId="{60EBB11F-47BE-466B-BDEE-4F9BE36086C6}">
      <dgm:prSet/>
      <dgm:spPr/>
      <dgm:t>
        <a:bodyPr/>
        <a:lstStyle/>
        <a:p>
          <a:endParaRPr lang="en-US"/>
        </a:p>
      </dgm:t>
    </dgm:pt>
    <dgm:pt modelId="{0B78C9A2-BAAD-4C7F-B221-4DFA9B81C1BB}" type="sibTrans" cxnId="{60EBB11F-47BE-466B-BDEE-4F9BE36086C6}">
      <dgm:prSet/>
      <dgm:spPr/>
      <dgm:t>
        <a:bodyPr/>
        <a:lstStyle/>
        <a:p>
          <a:endParaRPr lang="en-US"/>
        </a:p>
      </dgm:t>
    </dgm:pt>
    <dgm:pt modelId="{EE459064-3859-4C0F-8435-70A7DB754A27}" type="pres">
      <dgm:prSet presAssocID="{F6CE0B75-3254-4C74-BB35-9E80A03F7FF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7336A48-ED42-40BC-A643-F2E502B5E773}" type="pres">
      <dgm:prSet presAssocID="{2F33C957-FC02-4F3A-B93D-EB85CB8A0A7E}" presName="hierRoot1" presStyleCnt="0"/>
      <dgm:spPr/>
    </dgm:pt>
    <dgm:pt modelId="{F00CDE92-8E65-4E42-9E7C-EB8F4067EC5C}" type="pres">
      <dgm:prSet presAssocID="{2F33C957-FC02-4F3A-B93D-EB85CB8A0A7E}" presName="composite" presStyleCnt="0"/>
      <dgm:spPr/>
    </dgm:pt>
    <dgm:pt modelId="{67367D42-08D9-49A1-846A-F0880F88900D}" type="pres">
      <dgm:prSet presAssocID="{2F33C957-FC02-4F3A-B93D-EB85CB8A0A7E}" presName="background" presStyleLbl="node0" presStyleIdx="0" presStyleCnt="2"/>
      <dgm:spPr/>
    </dgm:pt>
    <dgm:pt modelId="{F2DE6F09-0F30-4CE3-B459-F39520F42A7D}" type="pres">
      <dgm:prSet presAssocID="{2F33C957-FC02-4F3A-B93D-EB85CB8A0A7E}" presName="text" presStyleLbl="fgAcc0" presStyleIdx="0" presStyleCnt="2">
        <dgm:presLayoutVars>
          <dgm:chPref val="3"/>
        </dgm:presLayoutVars>
      </dgm:prSet>
      <dgm:spPr/>
    </dgm:pt>
    <dgm:pt modelId="{0F91018A-B732-40F5-9D58-72002475418C}" type="pres">
      <dgm:prSet presAssocID="{2F33C957-FC02-4F3A-B93D-EB85CB8A0A7E}" presName="hierChild2" presStyleCnt="0"/>
      <dgm:spPr/>
    </dgm:pt>
    <dgm:pt modelId="{BE521982-C0A6-4710-B7F8-A85F00303968}" type="pres">
      <dgm:prSet presAssocID="{3AFF01EC-4330-47F1-95D4-C47B017F654A}" presName="hierRoot1" presStyleCnt="0"/>
      <dgm:spPr/>
    </dgm:pt>
    <dgm:pt modelId="{1165838B-063A-402A-9D5F-D9D087877F36}" type="pres">
      <dgm:prSet presAssocID="{3AFF01EC-4330-47F1-95D4-C47B017F654A}" presName="composite" presStyleCnt="0"/>
      <dgm:spPr/>
    </dgm:pt>
    <dgm:pt modelId="{6457F5AF-1918-44C5-8A16-56BD4C01E18B}" type="pres">
      <dgm:prSet presAssocID="{3AFF01EC-4330-47F1-95D4-C47B017F654A}" presName="background" presStyleLbl="node0" presStyleIdx="1" presStyleCnt="2"/>
      <dgm:spPr/>
    </dgm:pt>
    <dgm:pt modelId="{E5BCBF23-1DD8-4758-8C10-F464CE376855}" type="pres">
      <dgm:prSet presAssocID="{3AFF01EC-4330-47F1-95D4-C47B017F654A}" presName="text" presStyleLbl="fgAcc0" presStyleIdx="1" presStyleCnt="2">
        <dgm:presLayoutVars>
          <dgm:chPref val="3"/>
        </dgm:presLayoutVars>
      </dgm:prSet>
      <dgm:spPr/>
    </dgm:pt>
    <dgm:pt modelId="{F17B73BD-5C72-4CF5-9720-A81134EE4461}" type="pres">
      <dgm:prSet presAssocID="{3AFF01EC-4330-47F1-95D4-C47B017F654A}" presName="hierChild2" presStyleCnt="0"/>
      <dgm:spPr/>
    </dgm:pt>
  </dgm:ptLst>
  <dgm:cxnLst>
    <dgm:cxn modelId="{60EBB11F-47BE-466B-BDEE-4F9BE36086C6}" srcId="{F6CE0B75-3254-4C74-BB35-9E80A03F7FF5}" destId="{3AFF01EC-4330-47F1-95D4-C47B017F654A}" srcOrd="1" destOrd="0" parTransId="{42270BD3-AC61-4613-B48E-6DA5633CE33D}" sibTransId="{0B78C9A2-BAAD-4C7F-B221-4DFA9B81C1BB}"/>
    <dgm:cxn modelId="{EBC04941-F4E1-4F65-947D-DDBCEDA6F5DE}" type="presOf" srcId="{F6CE0B75-3254-4C74-BB35-9E80A03F7FF5}" destId="{EE459064-3859-4C0F-8435-70A7DB754A27}" srcOrd="0" destOrd="0" presId="urn:microsoft.com/office/officeart/2005/8/layout/hierarchy1"/>
    <dgm:cxn modelId="{66234D5A-6E37-4141-B5C8-CF7707D445DA}" type="presOf" srcId="{3AFF01EC-4330-47F1-95D4-C47B017F654A}" destId="{E5BCBF23-1DD8-4758-8C10-F464CE376855}" srcOrd="0" destOrd="0" presId="urn:microsoft.com/office/officeart/2005/8/layout/hierarchy1"/>
    <dgm:cxn modelId="{1186EC91-A8DB-4E05-92DA-CCFF72D4B329}" type="presOf" srcId="{2F33C957-FC02-4F3A-B93D-EB85CB8A0A7E}" destId="{F2DE6F09-0F30-4CE3-B459-F39520F42A7D}" srcOrd="0" destOrd="0" presId="urn:microsoft.com/office/officeart/2005/8/layout/hierarchy1"/>
    <dgm:cxn modelId="{F6558595-B105-43DA-8582-95FAF30394E7}" srcId="{F6CE0B75-3254-4C74-BB35-9E80A03F7FF5}" destId="{2F33C957-FC02-4F3A-B93D-EB85CB8A0A7E}" srcOrd="0" destOrd="0" parTransId="{625A8301-1F71-4462-9E68-A746BF61DF9E}" sibTransId="{9A0F8854-B1FE-4D5B-8F7C-337FEFBA6F90}"/>
    <dgm:cxn modelId="{D0DB5E28-B3B6-4DD4-89B4-C8B3FEAC410E}" type="presParOf" srcId="{EE459064-3859-4C0F-8435-70A7DB754A27}" destId="{87336A48-ED42-40BC-A643-F2E502B5E773}" srcOrd="0" destOrd="0" presId="urn:microsoft.com/office/officeart/2005/8/layout/hierarchy1"/>
    <dgm:cxn modelId="{C1A76D46-00C4-4916-A67E-B56D3ECD6F48}" type="presParOf" srcId="{87336A48-ED42-40BC-A643-F2E502B5E773}" destId="{F00CDE92-8E65-4E42-9E7C-EB8F4067EC5C}" srcOrd="0" destOrd="0" presId="urn:microsoft.com/office/officeart/2005/8/layout/hierarchy1"/>
    <dgm:cxn modelId="{2DB5036B-52D7-4B53-A993-738776F09F5A}" type="presParOf" srcId="{F00CDE92-8E65-4E42-9E7C-EB8F4067EC5C}" destId="{67367D42-08D9-49A1-846A-F0880F88900D}" srcOrd="0" destOrd="0" presId="urn:microsoft.com/office/officeart/2005/8/layout/hierarchy1"/>
    <dgm:cxn modelId="{09CEC7B7-D49C-4B39-A763-CEC5527ECECE}" type="presParOf" srcId="{F00CDE92-8E65-4E42-9E7C-EB8F4067EC5C}" destId="{F2DE6F09-0F30-4CE3-B459-F39520F42A7D}" srcOrd="1" destOrd="0" presId="urn:microsoft.com/office/officeart/2005/8/layout/hierarchy1"/>
    <dgm:cxn modelId="{D666208E-76D7-4E56-80F3-7532FBCD30E9}" type="presParOf" srcId="{87336A48-ED42-40BC-A643-F2E502B5E773}" destId="{0F91018A-B732-40F5-9D58-72002475418C}" srcOrd="1" destOrd="0" presId="urn:microsoft.com/office/officeart/2005/8/layout/hierarchy1"/>
    <dgm:cxn modelId="{801EF208-73ED-460B-BFB6-C7433ED1E012}" type="presParOf" srcId="{EE459064-3859-4C0F-8435-70A7DB754A27}" destId="{BE521982-C0A6-4710-B7F8-A85F00303968}" srcOrd="1" destOrd="0" presId="urn:microsoft.com/office/officeart/2005/8/layout/hierarchy1"/>
    <dgm:cxn modelId="{F67F7EF6-DA04-4241-BC8C-66FD8C5A20A4}" type="presParOf" srcId="{BE521982-C0A6-4710-B7F8-A85F00303968}" destId="{1165838B-063A-402A-9D5F-D9D087877F36}" srcOrd="0" destOrd="0" presId="urn:microsoft.com/office/officeart/2005/8/layout/hierarchy1"/>
    <dgm:cxn modelId="{BD9B2200-60FA-41AE-92AB-23A8C670EA9E}" type="presParOf" srcId="{1165838B-063A-402A-9D5F-D9D087877F36}" destId="{6457F5AF-1918-44C5-8A16-56BD4C01E18B}" srcOrd="0" destOrd="0" presId="urn:microsoft.com/office/officeart/2005/8/layout/hierarchy1"/>
    <dgm:cxn modelId="{C0EDBE57-A227-414C-ABF9-7F4FE8D4E307}" type="presParOf" srcId="{1165838B-063A-402A-9D5F-D9D087877F36}" destId="{E5BCBF23-1DD8-4758-8C10-F464CE376855}" srcOrd="1" destOrd="0" presId="urn:microsoft.com/office/officeart/2005/8/layout/hierarchy1"/>
    <dgm:cxn modelId="{A5A9A46B-B42B-4522-90FA-349571C7F7C4}" type="presParOf" srcId="{BE521982-C0A6-4710-B7F8-A85F00303968}" destId="{F17B73BD-5C72-4CF5-9720-A81134EE446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367D42-08D9-49A1-846A-F0880F88900D}">
      <dsp:nvSpPr>
        <dsp:cNvPr id="0" name=""/>
        <dsp:cNvSpPr/>
      </dsp:nvSpPr>
      <dsp:spPr>
        <a:xfrm>
          <a:off x="134291" y="612"/>
          <a:ext cx="4332795" cy="275132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DE6F09-0F30-4CE3-B459-F39520F42A7D}">
      <dsp:nvSpPr>
        <dsp:cNvPr id="0" name=""/>
        <dsp:cNvSpPr/>
      </dsp:nvSpPr>
      <dsp:spPr>
        <a:xfrm>
          <a:off x="615713" y="457963"/>
          <a:ext cx="4332795" cy="275132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During our discussions on GRASP patterns, we explained the concepts using ”Interaction Diagrams”. </a:t>
          </a:r>
        </a:p>
      </dsp:txBody>
      <dsp:txXfrm>
        <a:off x="696297" y="538547"/>
        <a:ext cx="4171627" cy="2590157"/>
      </dsp:txXfrm>
    </dsp:sp>
    <dsp:sp modelId="{6457F5AF-1918-44C5-8A16-56BD4C01E18B}">
      <dsp:nvSpPr>
        <dsp:cNvPr id="0" name=""/>
        <dsp:cNvSpPr/>
      </dsp:nvSpPr>
      <dsp:spPr>
        <a:xfrm>
          <a:off x="5429930" y="612"/>
          <a:ext cx="4332795" cy="275132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BCBF23-1DD8-4758-8C10-F464CE376855}">
      <dsp:nvSpPr>
        <dsp:cNvPr id="0" name=""/>
        <dsp:cNvSpPr/>
      </dsp:nvSpPr>
      <dsp:spPr>
        <a:xfrm>
          <a:off x="5911352" y="457963"/>
          <a:ext cx="4332795" cy="275132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These are your 4</a:t>
          </a:r>
          <a:r>
            <a:rPr lang="en-US" sz="3200" kern="1200" baseline="30000"/>
            <a:t>th</a:t>
          </a:r>
          <a:r>
            <a:rPr lang="en-US" sz="3200" kern="1200"/>
            <a:t> type of UML diagrams you need to be familiar with in this course.</a:t>
          </a:r>
        </a:p>
      </dsp:txBody>
      <dsp:txXfrm>
        <a:off x="5991936" y="538547"/>
        <a:ext cx="4171627" cy="25901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048847-F91B-4B1D-AD73-BB1B8880DDE5}" type="datetimeFigureOut">
              <a:rPr lang="en-US" smtClean="0"/>
              <a:t>8/21/25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B0D67-D7BD-4ABE-8D65-14A981A516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460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A482EEC-E663-438C-B41C-52AE046FACA3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69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06400" y="696913"/>
            <a:ext cx="6188075" cy="3481387"/>
          </a:xfrm>
          <a:ln/>
        </p:spPr>
      </p:sp>
      <p:sp>
        <p:nvSpPr>
          <p:cNvPr id="7669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558" y="4409758"/>
            <a:ext cx="5130586" cy="4177665"/>
          </a:xfrm>
        </p:spPr>
        <p:txBody>
          <a:bodyPr/>
          <a:lstStyle/>
          <a:p>
            <a:pPr defTabSz="915772"/>
            <a:r>
              <a:rPr lang="en-US" altLang="en-US" dirty="0"/>
              <a:t>Operation contractions use a pre and post condition</a:t>
            </a:r>
            <a:r>
              <a:rPr lang="en-US" altLang="en-US" baseline="0" dirty="0"/>
              <a:t> form to describe detailed changes to objects in a domain model</a:t>
            </a:r>
          </a:p>
          <a:p>
            <a:pPr defTabSz="915772"/>
            <a:endParaRPr lang="en-US" altLang="en-US" baseline="0" dirty="0"/>
          </a:p>
          <a:p>
            <a:pPr defTabSz="915772"/>
            <a:r>
              <a:rPr lang="en-US" altLang="en-US" baseline="0" dirty="0"/>
              <a:t>To create a contract – identify the system operations from the system sequence diagram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653141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</a:t>
            </a:r>
            <a:r>
              <a:rPr lang="en-US" baseline="0" dirty="0"/>
              <a:t> of a sequence diagram</a:t>
            </a:r>
          </a:p>
          <a:p>
            <a:endParaRPr lang="en-US" baseline="0" dirty="0"/>
          </a:p>
          <a:p>
            <a:r>
              <a:rPr lang="en-US" sz="1100" kern="1200" dirty="0">
                <a:solidFill>
                  <a:schemeClr val="tx1"/>
                </a:solidFill>
                <a:latin typeface="UniversS 55 Roman" pitchFamily="2" charset="0"/>
                <a:ea typeface="+mn-ea"/>
                <a:cs typeface="+mn-cs"/>
              </a:rPr>
              <a:t>what are the differences between a SSD and a sequence diagram? </a:t>
            </a:r>
          </a:p>
          <a:p>
            <a:r>
              <a:rPr lang="en-US" sz="1100" kern="1200" dirty="0">
                <a:solidFill>
                  <a:schemeClr val="tx1"/>
                </a:solidFill>
                <a:latin typeface="UniversS 55 Roman" pitchFamily="2" charset="0"/>
                <a:ea typeface="+mn-ea"/>
                <a:cs typeface="+mn-cs"/>
              </a:rPr>
              <a:t>An SSD is just a sequence diagram with one primary actor and an object called ":System". That is the only difference. </a:t>
            </a:r>
          </a:p>
          <a:p>
            <a:r>
              <a:rPr lang="en-US" sz="1100" kern="1200" dirty="0">
                <a:solidFill>
                  <a:schemeClr val="tx1"/>
                </a:solidFill>
                <a:latin typeface="UniversS 55 Roman" pitchFamily="2" charset="0"/>
                <a:ea typeface="+mn-ea"/>
                <a:cs typeface="+mn-cs"/>
              </a:rPr>
              <a:t>If the object is called ":System" and it is the only object.... then the diagram is a SSD. Else it is not. </a:t>
            </a:r>
          </a:p>
          <a:p>
            <a:r>
              <a:rPr lang="en-US" sz="1100" kern="1200" dirty="0">
                <a:solidFill>
                  <a:schemeClr val="tx1"/>
                </a:solidFill>
                <a:latin typeface="UniversS 55 Roman" pitchFamily="2" charset="0"/>
                <a:ea typeface="+mn-ea"/>
                <a:cs typeface="+mn-cs"/>
              </a:rPr>
              <a:t>Semantics: SSDs show the sequence of events between an actor and the whole system. A sequence diagram should show the objects in side the system do something. </a:t>
            </a:r>
          </a:p>
          <a:p>
            <a:endParaRPr lang="en-US" sz="1100" kern="1200" dirty="0">
              <a:solidFill>
                <a:schemeClr val="tx1"/>
              </a:solidFill>
              <a:latin typeface="UniversS 55 Roman" pitchFamily="2" charset="0"/>
              <a:ea typeface="+mn-ea"/>
              <a:cs typeface="+mn-cs"/>
            </a:endParaRPr>
          </a:p>
          <a:p>
            <a:r>
              <a:rPr lang="en-US" sz="1100" kern="1200" dirty="0">
                <a:solidFill>
                  <a:schemeClr val="tx1"/>
                </a:solidFill>
                <a:latin typeface="UniversS 55 Roman" pitchFamily="2" charset="0"/>
                <a:ea typeface="+mn-ea"/>
                <a:cs typeface="+mn-cs"/>
              </a:rPr>
              <a:t>Object lifeline</a:t>
            </a:r>
          </a:p>
          <a:p>
            <a:r>
              <a:rPr lang="en-US" sz="1100" kern="1200" dirty="0">
                <a:solidFill>
                  <a:schemeClr val="tx1"/>
                </a:solidFill>
                <a:latin typeface="UniversS 55 Roman" pitchFamily="2" charset="0"/>
                <a:ea typeface="+mn-ea"/>
                <a:cs typeface="+mn-cs"/>
              </a:rPr>
              <a:t>Sometimes objects are placed</a:t>
            </a:r>
            <a:r>
              <a:rPr lang="en-US" sz="1100" kern="1200" baseline="0" dirty="0">
                <a:solidFill>
                  <a:schemeClr val="tx1"/>
                </a:solidFill>
                <a:latin typeface="UniversS 55 Roman" pitchFamily="2" charset="0"/>
                <a:ea typeface="+mn-ea"/>
                <a:cs typeface="+mn-cs"/>
              </a:rPr>
              <a:t> </a:t>
            </a:r>
            <a:r>
              <a:rPr lang="en-US" sz="1100" kern="1200" dirty="0">
                <a:solidFill>
                  <a:schemeClr val="tx1"/>
                </a:solidFill>
                <a:latin typeface="UniversS 55 Roman" pitchFamily="2" charset="0"/>
                <a:ea typeface="+mn-ea"/>
                <a:cs typeface="+mn-cs"/>
              </a:rPr>
              <a:t>lower to show their creation height.</a:t>
            </a:r>
          </a:p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672FC-9574-4AE4-89B8-0111A97AD77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5D954BD-C11F-4B84-93FB-D9AF7D3720E0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51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06400" y="696913"/>
            <a:ext cx="6188075" cy="3481387"/>
          </a:xfrm>
          <a:ln/>
        </p:spPr>
      </p:sp>
      <p:sp>
        <p:nvSpPr>
          <p:cNvPr id="7751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558" y="4409758"/>
            <a:ext cx="5130586" cy="4177665"/>
          </a:xfrm>
        </p:spPr>
        <p:txBody>
          <a:bodyPr/>
          <a:lstStyle/>
          <a:p>
            <a:pPr defTabSz="915772"/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7023384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100" kern="1200" baseline="0" dirty="0">
                <a:solidFill>
                  <a:schemeClr val="tx1"/>
                </a:solidFill>
                <a:latin typeface="UniversS 55 Roman" pitchFamily="2" charset="0"/>
                <a:ea typeface="+mn-ea"/>
                <a:cs typeface="+mn-cs"/>
              </a:rPr>
              <a:t>Reference (or pointer)</a:t>
            </a:r>
          </a:p>
          <a:p>
            <a:endParaRPr lang="en-US" sz="1100" kern="1200" baseline="0" dirty="0">
              <a:solidFill>
                <a:schemeClr val="tx1"/>
              </a:solidFill>
              <a:latin typeface="UniversS 55 Roman" pitchFamily="2" charset="0"/>
              <a:ea typeface="+mn-ea"/>
              <a:cs typeface="+mn-cs"/>
            </a:endParaRPr>
          </a:p>
          <a:p>
            <a:r>
              <a:rPr lang="en-US" sz="1100" kern="1200" baseline="0" dirty="0">
                <a:solidFill>
                  <a:schemeClr val="tx1"/>
                </a:solidFill>
                <a:latin typeface="UniversS 55 Roman" pitchFamily="2" charset="0"/>
                <a:ea typeface="+mn-ea"/>
                <a:cs typeface="+mn-cs"/>
              </a:rPr>
              <a:t>•</a:t>
            </a:r>
            <a:r>
              <a:rPr lang="en-US" sz="1100" b="1" kern="1200" baseline="0" dirty="0">
                <a:solidFill>
                  <a:schemeClr val="tx1"/>
                </a:solidFill>
                <a:latin typeface="UniversS 55 Roman" pitchFamily="2" charset="0"/>
                <a:ea typeface="+mn-ea"/>
                <a:cs typeface="+mn-cs"/>
              </a:rPr>
              <a:t>Communication Diagrams show relationship between objects</a:t>
            </a:r>
          </a:p>
          <a:p>
            <a:endParaRPr lang="en-US" sz="1100" kern="1200" baseline="0" dirty="0">
              <a:solidFill>
                <a:schemeClr val="tx1"/>
              </a:solidFill>
              <a:latin typeface="UniversS 55 Roman" pitchFamily="2" charset="0"/>
              <a:ea typeface="+mn-ea"/>
              <a:cs typeface="+mn-cs"/>
            </a:endParaRPr>
          </a:p>
          <a:p>
            <a:r>
              <a:rPr lang="en-US" sz="1100" kern="1200" baseline="0" dirty="0">
                <a:solidFill>
                  <a:schemeClr val="tx1"/>
                </a:solidFill>
                <a:latin typeface="UniversS 55 Roman" pitchFamily="2" charset="0"/>
                <a:ea typeface="+mn-ea"/>
                <a:cs typeface="+mn-cs"/>
              </a:rPr>
              <a:t>•</a:t>
            </a:r>
            <a:r>
              <a:rPr lang="en-US" sz="1100" b="1" kern="1200" baseline="0" dirty="0">
                <a:solidFill>
                  <a:schemeClr val="tx1"/>
                </a:solidFill>
                <a:latin typeface="UniversS 55 Roman" pitchFamily="2" charset="0"/>
                <a:ea typeface="+mn-ea"/>
                <a:cs typeface="+mn-cs"/>
              </a:rPr>
              <a:t>Sequence Diagrams focus on the time in which events occur</a:t>
            </a:r>
          </a:p>
          <a:p>
            <a:endParaRPr lang="en-US" dirty="0"/>
          </a:p>
          <a:p>
            <a:r>
              <a:rPr lang="en-US" dirty="0"/>
              <a:t>Visibility – see or have a reference to another object.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672FC-9574-4AE4-89B8-0111A97AD77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100" kern="1200" dirty="0">
                <a:solidFill>
                  <a:schemeClr val="tx1"/>
                </a:solidFill>
                <a:latin typeface="UniversS 55 Roman" pitchFamily="2" charset="0"/>
                <a:ea typeface="+mn-ea"/>
                <a:cs typeface="+mn-cs"/>
              </a:rPr>
              <a:t>Take note of the Java class definition for POST, a POST instance may have attribute visibility to </a:t>
            </a:r>
            <a:r>
              <a:rPr lang="en-US" sz="1100" kern="1200" dirty="0" err="1">
                <a:solidFill>
                  <a:schemeClr val="tx1"/>
                </a:solidFill>
                <a:latin typeface="UniversS 55 Roman" pitchFamily="2" charset="0"/>
                <a:ea typeface="+mn-ea"/>
                <a:cs typeface="+mn-cs"/>
              </a:rPr>
              <a:t>ProductCatalog</a:t>
            </a:r>
            <a:r>
              <a:rPr lang="en-US" sz="1100" kern="1200" dirty="0">
                <a:solidFill>
                  <a:schemeClr val="tx1"/>
                </a:solidFill>
                <a:latin typeface="UniversS 55 Roman" pitchFamily="2" charset="0"/>
                <a:ea typeface="+mn-ea"/>
                <a:cs typeface="+mn-cs"/>
              </a:rPr>
              <a:t>, since it is an attribute of the POST class.  This visibility is needed because in the </a:t>
            </a:r>
            <a:r>
              <a:rPr lang="en-US" sz="1100" kern="1200" dirty="0" err="1">
                <a:solidFill>
                  <a:schemeClr val="tx1"/>
                </a:solidFill>
                <a:latin typeface="UniversS 55 Roman" pitchFamily="2" charset="0"/>
                <a:ea typeface="+mn-ea"/>
                <a:cs typeface="+mn-cs"/>
              </a:rPr>
              <a:t>enterItem</a:t>
            </a:r>
            <a:r>
              <a:rPr lang="en-US" sz="1100" kern="1200" dirty="0">
                <a:solidFill>
                  <a:schemeClr val="tx1"/>
                </a:solidFill>
                <a:latin typeface="UniversS 55 Roman" pitchFamily="2" charset="0"/>
                <a:ea typeface="+mn-ea"/>
                <a:cs typeface="+mn-cs"/>
              </a:rPr>
              <a:t> method shown a POST instance needs to send the specification message to a </a:t>
            </a:r>
            <a:r>
              <a:rPr lang="en-US" sz="1100" kern="1200" dirty="0" err="1">
                <a:solidFill>
                  <a:schemeClr val="tx1"/>
                </a:solidFill>
                <a:latin typeface="UniversS 55 Roman" pitchFamily="2" charset="0"/>
                <a:ea typeface="+mn-ea"/>
                <a:cs typeface="+mn-cs"/>
              </a:rPr>
              <a:t>ProductCatalog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672FC-9574-4AE4-89B8-0111A97AD77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3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7C918-20C2-4BAB-2D2C-B38AE8C15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EBEC92-6DCA-9FD0-EEEC-EC003BAAEE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CE859-F241-0ACD-8897-7F12712DA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E2907-09B0-78FC-8E76-F74A8E0CD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597F20-8B1F-2B59-A47F-D2A290CCB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819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9508D-A5CB-45B7-DFB8-E0234B5D6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123E2-C76D-1127-FF35-AF6FD2741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47F7C-981C-F881-53A9-E96CA035C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D6235E-DC6E-FFCF-3638-E9FD3D93B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5FBAD0-D5F2-409D-7051-0BF8E5C76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11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4BA50-CCB1-0778-8762-8CBCE629E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4D12CA-35D1-D5FB-4A46-B048631B4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A9003-34ED-8574-A5D0-D68DF02C1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C3AAF-63D0-E92C-34FB-915DFC31D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642D99-D592-A100-609F-1B765442D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5107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659A0-0E7A-0289-E156-75F93A91F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B8049-D55B-127E-E17C-FED9FB5C25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8B8108-D3D6-C73B-323C-0AA408D15E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192B38-E8CF-F470-2F9A-6C54367E0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FA0BC-9D1A-47D4-1A57-1F8421467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A9EB2-322A-250C-066B-6BFBB89F1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232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61091-B280-D020-B87F-56A5C7998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A241C-2CEA-2888-11BA-513E3DAE9C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D3E2FF-9950-99FF-33E5-E58F4F63B5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A4D120-887B-C7E7-84E5-E8638EFFEE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30BC97-3A89-E6D7-1140-51C25937DE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4872CC-523B-EDFF-B07C-A988FF25E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DC73F5-4907-67F9-6775-0034061F0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923B05-41DD-9B73-E688-AD4D5574B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43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FDD47-9F9D-1C4B-2165-9A53BB6C0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0D5964-9C5D-EA8F-DA52-78E3261CB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A55C0A-7735-2D52-EEA5-234D79115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DC1569-42A8-98D0-16F3-B183232AB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203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8B3E13-7EA6-3D73-648A-2D0D22743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331C45-823D-48D6-E882-B9E105D23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9D351-3EEA-D614-A892-FFF26DE28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842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55A8B-50D0-83FB-2159-2B579DF22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ABC32D-920C-1C24-48E6-CC3109972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299DDF-0A0B-9DA1-5CD4-A91ADE067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8DF80B-BCA3-4FB3-6DCB-9B98EF772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7FE636-FDF9-6C74-F1B2-FE52D6F4B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BD3ED8-4EFE-38B7-5C03-FB19B9DC8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458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104E8-D094-B7C7-0658-D030AD44C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3528A8-9417-066D-515E-B2BFDB456B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661CA-CB31-CE95-59EB-199EB01FE3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C3D29A-7780-32C6-BCE9-DA203FC78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49631F-67E1-EBBB-7362-1A69C42F2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0B73C7-BEDB-BE2F-217E-6FEBC3818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522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5D78B-9936-1F51-5CB7-1F108EEE6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CBAD41-306C-C39A-7D73-62ABBFF0F3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4D22CF-C457-89F9-52AF-973D3183C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1B72F-0EE0-461F-7306-9D3B900E1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A33E54-F7D9-99BD-6AF1-600F160E3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441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1AF3BD-73E4-3394-B2D5-E3A7F4831D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40C9F7-A547-28A7-7323-ACA4095826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17E184-987F-4FE3-BE43-C6C2EE5A5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E8E29-E126-0F76-B95D-8D0B5853F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82B896-055F-C156-CF27-EED60EB91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0553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C7F33F08-D016-6ED5-B138-B93CDD4D75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901" y="0"/>
            <a:ext cx="11722100" cy="533400"/>
          </a:xfrm>
          <a:prstGeom prst="rect">
            <a:avLst/>
          </a:prstGeom>
          <a:solidFill>
            <a:srgbClr val="336699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1800"/>
          </a:p>
        </p:txBody>
      </p:sp>
      <p:sp>
        <p:nvSpPr>
          <p:cNvPr id="3" name="Text Box 5">
            <a:extLst>
              <a:ext uri="{FF2B5EF4-FFF2-40B4-BE49-F238E27FC236}">
                <a16:creationId xmlns:a16="http://schemas.microsoft.com/office/drawing/2014/main" id="{95271A30-4721-8D61-C73E-A7C7F17BC2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1067" y="104775"/>
            <a:ext cx="11700933" cy="6001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91440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sz="3000">
                <a:solidFill>
                  <a:schemeClr val="bg1"/>
                </a:solidFill>
                <a:latin typeface="SIEMENS-Firmenmarke" pitchFamily="2" charset="0"/>
              </a:rPr>
              <a:t>SWENG 537: Software Systems Design</a:t>
            </a:r>
            <a:endParaRPr lang="en-US" sz="2800">
              <a:solidFill>
                <a:schemeClr val="bg1"/>
              </a:solidFill>
              <a:latin typeface="SIEMENS-Firmenmarke" pitchFamily="2" charset="0"/>
            </a:endParaRPr>
          </a:p>
        </p:txBody>
      </p:sp>
      <p:sp>
        <p:nvSpPr>
          <p:cNvPr id="4" name="Text Box 6">
            <a:extLst>
              <a:ext uri="{FF2B5EF4-FFF2-40B4-BE49-F238E27FC236}">
                <a16:creationId xmlns:a16="http://schemas.microsoft.com/office/drawing/2014/main" id="{AA06E916-F9EF-BB91-1539-3B53D89551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26400" y="6523039"/>
            <a:ext cx="3759200" cy="3231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de-DE" sz="1000">
                <a:solidFill>
                  <a:srgbClr val="336699"/>
                </a:solidFill>
              </a:rPr>
              <a:t>© Engineering Division, Penn State Great Valley</a:t>
            </a:r>
          </a:p>
          <a:p>
            <a:pPr algn="r">
              <a:lnSpc>
                <a:spcPct val="90000"/>
              </a:lnSpc>
              <a:defRPr/>
            </a:pPr>
            <a:r>
              <a:rPr lang="de-DE" sz="1000">
                <a:solidFill>
                  <a:srgbClr val="336699"/>
                </a:solidFill>
              </a:rPr>
              <a:t>Last Updated: </a:t>
            </a:r>
            <a:fld id="{76AEC2A7-4FC1-486E-9F5F-8DDAB7DDBC36}" type="datetime4">
              <a:rPr lang="en-US" sz="1000">
                <a:solidFill>
                  <a:srgbClr val="336699"/>
                </a:solidFill>
              </a:rPr>
              <a:pPr algn="r">
                <a:lnSpc>
                  <a:spcPct val="90000"/>
                </a:lnSpc>
                <a:defRPr/>
              </a:pPr>
              <a:t>August 21, 2025</a:t>
            </a:fld>
            <a:endParaRPr lang="de-DE" sz="1600">
              <a:latin typeface="Arial" charset="0"/>
            </a:endParaRPr>
          </a:p>
        </p:txBody>
      </p:sp>
      <p:sp>
        <p:nvSpPr>
          <p:cNvPr id="5" name="Text Box 8">
            <a:extLst>
              <a:ext uri="{FF2B5EF4-FFF2-40B4-BE49-F238E27FC236}">
                <a16:creationId xmlns:a16="http://schemas.microsoft.com/office/drawing/2014/main" id="{798A1968-A2F0-D475-33DA-03D232BC2817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-2931054" y="3578697"/>
            <a:ext cx="6321425" cy="230832"/>
          </a:xfrm>
          <a:prstGeom prst="rect">
            <a:avLst/>
          </a:prstGeom>
          <a:gradFill rotWithShape="0">
            <a:gsLst>
              <a:gs pos="0">
                <a:srgbClr val="999999"/>
              </a:gs>
              <a:gs pos="100000">
                <a:srgbClr val="999999">
                  <a:gamma/>
                  <a:shade val="46275"/>
                  <a:invGamma/>
                </a:srgbClr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lIns="0" tIns="0">
            <a:spAutoFit/>
          </a:bodyPr>
          <a:lstStyle/>
          <a:p>
            <a:pPr algn="l">
              <a:defRPr/>
            </a:pPr>
            <a:r>
              <a:rPr lang="de-DE" sz="1200" b="1">
                <a:solidFill>
                  <a:schemeClr val="bg1"/>
                </a:solidFill>
                <a:latin typeface="Arial" charset="0"/>
              </a:rPr>
              <a:t>        </a:t>
            </a:r>
          </a:p>
        </p:txBody>
      </p:sp>
      <p:sp>
        <p:nvSpPr>
          <p:cNvPr id="119810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2235200" y="1219200"/>
            <a:ext cx="9144000" cy="1447800"/>
          </a:xfrm>
        </p:spPr>
        <p:txBody>
          <a:bodyPr rIns="0" anchor="b"/>
          <a:lstStyle>
            <a:lvl1pPr>
              <a:defRPr sz="3400">
                <a:solidFill>
                  <a:srgbClr val="990000"/>
                </a:solidFill>
              </a:defRPr>
            </a:lvl1pPr>
          </a:lstStyle>
          <a:p>
            <a:r>
              <a:rPr lang="de-DE"/>
              <a:t>headline arial narrow bold</a:t>
            </a:r>
            <a:br>
              <a:rPr lang="de-DE"/>
            </a:br>
            <a:r>
              <a:rPr lang="de-DE"/>
              <a:t>44 pt, 0 pt leading</a:t>
            </a:r>
          </a:p>
        </p:txBody>
      </p:sp>
      <p:sp>
        <p:nvSpPr>
          <p:cNvPr id="119811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224617" y="3614738"/>
            <a:ext cx="9144000" cy="1752600"/>
          </a:xfrm>
        </p:spPr>
        <p:txBody>
          <a:bodyPr rIns="0"/>
          <a:lstStyle>
            <a:lvl1pPr marL="0" indent="0" algn="ctr">
              <a:buFont typeface="Wingdings" pitchFamily="2" charset="2"/>
              <a:buNone/>
              <a:defRPr sz="2400" b="1"/>
            </a:lvl1pPr>
          </a:lstStyle>
          <a:p>
            <a:r>
              <a:rPr lang="de-DE"/>
              <a:t>arial narrow 24 pt. bold</a:t>
            </a:r>
          </a:p>
        </p:txBody>
      </p:sp>
    </p:spTree>
    <p:extLst>
      <p:ext uri="{BB962C8B-B14F-4D97-AF65-F5344CB8AC3E}">
        <p14:creationId xmlns:p14="http://schemas.microsoft.com/office/powerpoint/2010/main" val="810008466"/>
      </p:ext>
    </p:extLst>
  </p:cSld>
  <p:clrMapOvr>
    <a:masterClrMapping/>
  </p:clrMapOvr>
  <p:transition>
    <p:strips dir="rd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0DFE61C6-DBA0-BD74-142E-68756D37EF39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C03EE66-85A7-42E5-BCB9-2884DF035A82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3145244014"/>
      </p:ext>
    </p:extLst>
  </p:cSld>
  <p:clrMapOvr>
    <a:masterClrMapping/>
  </p:clrMapOvr>
  <p:transition>
    <p:strips dir="rd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4CE2F57C-A21D-B485-AF29-40E5F8945C1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EBD54E7-5F7C-4CC0-81D1-A19AC002651B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2091857135"/>
      </p:ext>
    </p:extLst>
  </p:cSld>
  <p:clrMapOvr>
    <a:masterClrMapping/>
  </p:clrMapOvr>
  <p:transition>
    <p:strips dir="rd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21317" y="1828800"/>
            <a:ext cx="5128683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53200" y="1828800"/>
            <a:ext cx="51308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9">
            <a:extLst>
              <a:ext uri="{FF2B5EF4-FFF2-40B4-BE49-F238E27FC236}">
                <a16:creationId xmlns:a16="http://schemas.microsoft.com/office/drawing/2014/main" id="{57448D6C-E875-AD2A-4D9C-79719B8B3030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FEE65DB-B2AB-495D-9299-B5DFCFA28388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1941692148"/>
      </p:ext>
    </p:extLst>
  </p:cSld>
  <p:clrMapOvr>
    <a:masterClrMapping/>
  </p:clrMapOvr>
  <p:transition>
    <p:strips dir="rd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9">
            <a:extLst>
              <a:ext uri="{FF2B5EF4-FFF2-40B4-BE49-F238E27FC236}">
                <a16:creationId xmlns:a16="http://schemas.microsoft.com/office/drawing/2014/main" id="{486ED3EF-C3EA-8B5D-4B16-559D86A4E0C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0F98CF5-9AE7-4786-B13E-797328401BF6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1396810015"/>
      </p:ext>
    </p:extLst>
  </p:cSld>
  <p:clrMapOvr>
    <a:masterClrMapping/>
  </p:clrMapOvr>
  <p:transition>
    <p:strips dir="rd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9">
            <a:extLst>
              <a:ext uri="{FF2B5EF4-FFF2-40B4-BE49-F238E27FC236}">
                <a16:creationId xmlns:a16="http://schemas.microsoft.com/office/drawing/2014/main" id="{E36A3930-6349-12FB-5192-86424ADD8930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527568B-A8F3-4468-9EF1-2B509F023149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3683681138"/>
      </p:ext>
    </p:extLst>
  </p:cSld>
  <p:clrMapOvr>
    <a:masterClrMapping/>
  </p:clrMapOvr>
  <p:transition>
    <p:strips dir="rd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>
            <a:extLst>
              <a:ext uri="{FF2B5EF4-FFF2-40B4-BE49-F238E27FC236}">
                <a16:creationId xmlns:a16="http://schemas.microsoft.com/office/drawing/2014/main" id="{B441927B-3258-E4C3-CE6C-550F37628F2D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037515-ABFA-425C-A5BB-467EEDC3C6CD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2214041240"/>
      </p:ext>
    </p:extLst>
  </p:cSld>
  <p:clrMapOvr>
    <a:masterClrMapping/>
  </p:clrMapOvr>
  <p:transition>
    <p:strips dir="rd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9">
            <a:extLst>
              <a:ext uri="{FF2B5EF4-FFF2-40B4-BE49-F238E27FC236}">
                <a16:creationId xmlns:a16="http://schemas.microsoft.com/office/drawing/2014/main" id="{7CAC1458-2254-43E1-BBC2-13C3021A8411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918E807-297E-4F87-ACBA-A9BDCFAB9B75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2042409524"/>
      </p:ext>
    </p:extLst>
  </p:cSld>
  <p:clrMapOvr>
    <a:masterClrMapping/>
  </p:clrMapOvr>
  <p:transition>
    <p:strips dir="rd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9">
            <a:extLst>
              <a:ext uri="{FF2B5EF4-FFF2-40B4-BE49-F238E27FC236}">
                <a16:creationId xmlns:a16="http://schemas.microsoft.com/office/drawing/2014/main" id="{280C4D00-106C-6C34-336C-9AD363A1511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953752E-C382-4970-A515-C6C47B2256A5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1993135771"/>
      </p:ext>
    </p:extLst>
  </p:cSld>
  <p:clrMapOvr>
    <a:masterClrMapping/>
  </p:clrMapOvr>
  <p:transition>
    <p:strips dir="rd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1BDCA160-64B8-B2DF-0A57-8B117EE1005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1BFFDC5-0B19-42D5-A7FB-FFDBB9E974CB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2094030374"/>
      </p:ext>
    </p:extLst>
  </p:cSld>
  <p:clrMapOvr>
    <a:masterClrMapping/>
  </p:clrMapOvr>
  <p:transition>
    <p:strips dir="rd"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69917" y="609600"/>
            <a:ext cx="2614083" cy="5334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21317" y="609600"/>
            <a:ext cx="7645400" cy="53340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06C9261F-98D6-FBD5-D721-5C0B664941D1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386F535-B57D-425A-BFA5-AA4AC0F0DE9D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4117519442"/>
      </p:ext>
    </p:extLst>
  </p:cSld>
  <p:clrMapOvr>
    <a:masterClrMapping/>
  </p:clrMapOvr>
  <p:transition>
    <p:strips dir="rd"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80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EF089-A624-4AB7-8B7F-2212E43B5F77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17834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363538" indent="-363538">
              <a:tabLst/>
              <a:defRPr sz="3600"/>
            </a:lvl1pPr>
            <a:lvl2pPr marL="628650" indent="-354013">
              <a:tabLst/>
              <a:defRPr sz="3200"/>
            </a:lvl2pPr>
            <a:lvl3pPr marL="893763" indent="-346075">
              <a:tabLst/>
              <a:defRPr sz="2800"/>
            </a:lvl3pPr>
            <a:lvl4pPr marL="1158875" indent="-336550">
              <a:tabLst/>
              <a:defRPr sz="2800"/>
            </a:lvl4pPr>
            <a:lvl5pPr marL="1423988" indent="-327025">
              <a:tabLst/>
              <a:defRPr sz="2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BC5EE-8023-48A0-B577-A5117191FDD2}" type="datetime1">
              <a:rPr lang="en-US" smtClean="0"/>
              <a:t>8/21/25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737070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8A247A89-8FD0-4D3F-AE44-186FA5A357B4}" type="datetime1">
              <a:rPr lang="en-US" smtClean="0"/>
              <a:t>8/21/25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57643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F76F02-BBAE-414F-9EC4-5B5F51B31BDB}" type="datetime1">
              <a:rPr lang="en-US" smtClean="0"/>
              <a:t>8/21/25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53293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F49CE-F4FE-45C3-BBAB-CFE946522D3B}" type="datetime1">
              <a:rPr lang="en-US" smtClean="0"/>
              <a:t>8/21/25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77221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21F2F-1A99-4762-A6E9-3172ACF4978C}" type="datetime1">
              <a:rPr lang="en-US" smtClean="0"/>
              <a:t>8/21/25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2524593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A1192-0569-4FE3-B36A-F319D4D12EA7}" type="datetime1">
              <a:rPr lang="en-US" smtClean="0"/>
              <a:t>8/21/25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57813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0433F-3AC1-46DB-A8F6-3397C409090D}" type="datetime1">
              <a:rPr lang="en-US" smtClean="0"/>
              <a:t>8/21/25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548171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6D33-D9B1-481D-971E-4AEB549657B4}" type="datetime1">
              <a:rPr lang="en-US" smtClean="0"/>
              <a:t>8/21/25</a:t>
            </a:fld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07410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0853F-751A-4ADE-AEBA-5696F2A13B50}" type="datetime1">
              <a:rPr lang="en-US" smtClean="0"/>
              <a:t>8/21/25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87940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279F3-C829-4592-BA39-957487C9EDF2}" type="datetime1">
              <a:rPr lang="en-US" smtClean="0"/>
              <a:t>8/21/25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815653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 + 1 colum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5"/>
          <p:cNvSpPr txBox="1">
            <a:spLocks noGrp="1"/>
          </p:cNvSpPr>
          <p:nvPr>
            <p:ph type="title"/>
          </p:nvPr>
        </p:nvSpPr>
        <p:spPr>
          <a:xfrm>
            <a:off x="1048200" y="410826"/>
            <a:ext cx="10095600" cy="9369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body" idx="1"/>
          </p:nvPr>
        </p:nvSpPr>
        <p:spPr>
          <a:xfrm>
            <a:off x="1048200" y="1682267"/>
            <a:ext cx="10095600" cy="47649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419100">
              <a:spcBef>
                <a:spcPts val="600"/>
              </a:spcBef>
              <a:spcAft>
                <a:spcPts val="0"/>
              </a:spcAft>
              <a:buSzPts val="3000"/>
              <a:buChar char="◎"/>
              <a:defRPr/>
            </a:lvl1pPr>
            <a:lvl2pPr marL="914400" lvl="1" indent="-381000"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marL="1371600" lvl="2" indent="-381000">
              <a:spcBef>
                <a:spcPts val="0"/>
              </a:spcBef>
              <a:spcAft>
                <a:spcPts val="0"/>
              </a:spcAft>
              <a:buSzPts val="2400"/>
              <a:buChar char="◉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sldNum" idx="12"/>
          </p:nvPr>
        </p:nvSpPr>
        <p:spPr>
          <a:xfrm>
            <a:off x="11205845" y="6333134"/>
            <a:ext cx="731600" cy="5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3077180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7C918-20C2-4BAB-2D2C-B38AE8C15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EBEC92-6DCA-9FD0-EEEC-EC003BAAEE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CE859-F241-0ACD-8897-7F12712DA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740F0-8D79-495E-B31A-3E49AC1C392C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E2907-09B0-78FC-8E76-F74A8E0CD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597F20-8B1F-2B59-A47F-D2A290CCB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71517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9508D-A5CB-45B7-DFB8-E0234B5D6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123E2-C76D-1127-FF35-AF6FD2741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47F7C-981C-F881-53A9-E96CA035C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28BDA-9B8E-40EE-8EFE-B18FAD0D75EC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D6235E-DC6E-FFCF-3638-E9FD3D93B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5FBAD0-D5F2-409D-7051-0BF8E5C76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55969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4BA50-CCB1-0778-8762-8CBCE629E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4D12CA-35D1-D5FB-4A46-B048631B4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A9003-34ED-8574-A5D0-D68DF02C1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0D614-6458-4B51-9DCA-B0DBF6D8176E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C3AAF-63D0-E92C-34FB-915DFC31D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642D99-D592-A100-609F-1B765442D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086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659A0-0E7A-0289-E156-75F93A91F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B8049-D55B-127E-E17C-FED9FB5C25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8B8108-D3D6-C73B-323C-0AA408D15E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192B38-E8CF-F470-2F9A-6C54367E0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A1686-F5EA-44B0-91C2-AF3A88CD829C}" type="datetime1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FA0BC-9D1A-47D4-1A57-1F8421467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A9EB2-322A-250C-066B-6BFBB89F1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78838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61091-B280-D020-B87F-56A5C7998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A241C-2CEA-2888-11BA-513E3DAE9C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D3E2FF-9950-99FF-33E5-E58F4F63B5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A4D120-887B-C7E7-84E5-E8638EFFEE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30BC97-3A89-E6D7-1140-51C25937DE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4872CC-523B-EDFF-B07C-A988FF25E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1C9CE-5F70-4D08-8D74-912FFF2544AC}" type="datetime1">
              <a:rPr lang="en-US" smtClean="0"/>
              <a:t>8/21/25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DC73F5-4907-67F9-6775-0034061F0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923B05-41DD-9B73-E688-AD4D5574B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5418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FDD47-9F9D-1C4B-2165-9A53BB6C0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0D5964-9C5D-EA8F-DA52-78E3261CB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52172-A2FA-488F-8B1C-F529DA47DF4B}" type="datetime1">
              <a:rPr lang="en-US" smtClean="0"/>
              <a:t>8/21/25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A55C0A-7735-2D52-EEA5-234D79115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DC1569-42A8-98D0-16F3-B183232AB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94705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8B3E13-7EA6-3D73-648A-2D0D22743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0BF12-A709-4858-8AEA-EDDDDF9B7248}" type="datetime1">
              <a:rPr lang="en-US" smtClean="0"/>
              <a:t>8/21/25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331C45-823D-48D6-E882-B9E105D23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9D351-3EEA-D614-A892-FFF26DE28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51725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55A8B-50D0-83FB-2159-2B579DF22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ABC32D-920C-1C24-48E6-CC3109972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299DDF-0A0B-9DA1-5CD4-A91ADE067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8DF80B-BCA3-4FB3-6DCB-9B98EF772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9A0E3-2305-4250-853C-7606E57B25C6}" type="datetime1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7FE636-FDF9-6C74-F1B2-FE52D6F4B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BD3ED8-4EFE-38B7-5C03-FB19B9DC8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7998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104E8-D094-B7C7-0658-D030AD44C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3528A8-9417-066D-515E-B2BFDB456B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661CA-CB31-CE95-59EB-199EB01FE3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C3D29A-7780-32C6-BCE9-DA203FC78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A6F473-73D7-4C02-8A96-0F759AA3D1BF}" type="datetime1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49631F-67E1-EBBB-7362-1A69C42F2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0B73C7-BEDB-BE2F-217E-6FEBC3818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77455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5D78B-9936-1F51-5CB7-1F108EEE6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CBAD41-306C-C39A-7D73-62ABBFF0F3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4D22CF-C457-89F9-52AF-973D3183C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2071A-2E6E-47D6-ACB5-F4F09F2F4C67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1B72F-0EE0-461F-7306-9D3B900E1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A33E54-F7D9-99BD-6AF1-600F160E3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83900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1AF3BD-73E4-3394-B2D5-E3A7F4831D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40C9F7-A547-28A7-7323-ACA4095826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17E184-987F-4FE3-BE43-C6C2EE5A5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E3465-5FFD-4F56-952A-46D90904E51A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E8E29-E126-0F76-B95D-8D0B5853F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82B896-055F-C156-CF27-EED60EB91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816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4.xml"/><Relationship Id="rId2" Type="http://schemas.openxmlformats.org/officeDocument/2006/relationships/slideLayout" Target="../slideLayouts/slideLayout24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5" Type="http://schemas.microsoft.com/office/2007/relationships/hdphoto" Target="../media/hdphoto1.wdp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image" Target="../media/image2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4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3E55C1-AE0D-3A18-37E0-79544F0BC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79D306-3FD0-BDCB-12EC-C7792AE3A4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692521-5971-A773-811D-A748C3EC2F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DD4B3E-CEA8-7115-56DC-5E2A05AA98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B59FAF-B8B0-C983-6B9A-6153FD4AD8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516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>
            <a:extLst>
              <a:ext uri="{FF2B5EF4-FFF2-40B4-BE49-F238E27FC236}">
                <a16:creationId xmlns:a16="http://schemas.microsoft.com/office/drawing/2014/main" id="{18F1ECE1-9929-DE64-5632-72540D1E0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901" y="0"/>
            <a:ext cx="11722100" cy="533400"/>
          </a:xfrm>
          <a:prstGeom prst="rect">
            <a:avLst/>
          </a:prstGeom>
          <a:solidFill>
            <a:srgbClr val="336699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defTabSz="762000">
              <a:defRPr/>
            </a:pPr>
            <a:endParaRPr lang="en-US" sz="1600">
              <a:solidFill>
                <a:schemeClr val="bg1"/>
              </a:solidFill>
            </a:endParaRPr>
          </a:p>
        </p:txBody>
      </p:sp>
      <p:sp>
        <p:nvSpPr>
          <p:cNvPr id="118787" name="Text Box 3">
            <a:extLst>
              <a:ext uri="{FF2B5EF4-FFF2-40B4-BE49-F238E27FC236}">
                <a16:creationId xmlns:a16="http://schemas.microsoft.com/office/drawing/2014/main" id="{76FAA039-BCD5-DF52-3464-54E83919E5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9518" y="95250"/>
            <a:ext cx="10674349" cy="4462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sz="2600">
                <a:solidFill>
                  <a:schemeClr val="bg1"/>
                </a:solidFill>
                <a:latin typeface="SIEMENS-Firmenmarke" pitchFamily="2" charset="0"/>
              </a:rPr>
              <a:t>SWENG 537: Software Systems Design</a:t>
            </a:r>
            <a:endParaRPr lang="en-US" sz="2400">
              <a:solidFill>
                <a:schemeClr val="bg1"/>
              </a:solidFill>
              <a:latin typeface="SIEMENS-Firmenmarke" pitchFamily="2" charset="0"/>
            </a:endParaRPr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EE92D2C-33B8-70ED-16BA-3A755D5F5C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21317" y="609600"/>
            <a:ext cx="10462683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en-US"/>
              <a:t>Click to edit mater Title style</a:t>
            </a:r>
          </a:p>
        </p:txBody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136EAA36-8F01-3A0D-8422-3765DC01E1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21317" y="1828800"/>
            <a:ext cx="10462683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en-US"/>
              <a:t>Click to edit Master text styles</a:t>
            </a:r>
          </a:p>
          <a:p>
            <a:pPr lvl="1"/>
            <a:r>
              <a:rPr lang="de-DE" altLang="en-US"/>
              <a:t>Second level</a:t>
            </a:r>
          </a:p>
          <a:p>
            <a:pPr lvl="2"/>
            <a:r>
              <a:rPr lang="de-DE" altLang="en-US"/>
              <a:t>Third level</a:t>
            </a:r>
          </a:p>
          <a:p>
            <a:pPr lvl="3"/>
            <a:r>
              <a:rPr lang="de-DE" altLang="en-US"/>
              <a:t>Fourth level</a:t>
            </a:r>
          </a:p>
          <a:p>
            <a:pPr lvl="4"/>
            <a:r>
              <a:rPr lang="de-DE" altLang="en-US"/>
              <a:t>Fifth level</a:t>
            </a:r>
          </a:p>
        </p:txBody>
      </p:sp>
      <p:sp>
        <p:nvSpPr>
          <p:cNvPr id="118803" name="Rectangle 19">
            <a:extLst>
              <a:ext uri="{FF2B5EF4-FFF2-40B4-BE49-F238E27FC236}">
                <a16:creationId xmlns:a16="http://schemas.microsoft.com/office/drawing/2014/main" id="{CCC05AEF-4FC5-7CA8-848A-24CEB999B89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13851" y="6400800"/>
            <a:ext cx="2470149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91440" bIns="4572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10000"/>
              </a:lnSpc>
              <a:defRPr sz="1000"/>
            </a:lvl1pPr>
          </a:lstStyle>
          <a:p>
            <a:fld id="{E0656729-D543-4138-8524-6AD43830E923}" type="slidenum">
              <a:rPr lang="de-DE" altLang="en-US"/>
              <a:pPr/>
              <a:t>‹#›</a:t>
            </a:fld>
            <a:endParaRPr lang="de-DE" altLang="en-US"/>
          </a:p>
        </p:txBody>
      </p:sp>
      <p:sp>
        <p:nvSpPr>
          <p:cNvPr id="118804" name="Text Box 20">
            <a:extLst>
              <a:ext uri="{FF2B5EF4-FFF2-40B4-BE49-F238E27FC236}">
                <a16:creationId xmlns:a16="http://schemas.microsoft.com/office/drawing/2014/main" id="{DFA5C3A8-C016-4867-F5D6-A2ACFA93DCCB}"/>
              </a:ext>
            </a:extLst>
          </p:cNvPr>
          <p:cNvSpPr txBox="1">
            <a:spLocks noChangeArrowheads="1"/>
          </p:cNvSpPr>
          <p:nvPr userDrawn="1"/>
        </p:nvSpPr>
        <p:spPr bwMode="auto">
          <a:xfrm rot="16200000">
            <a:off x="-2930790" y="3582666"/>
            <a:ext cx="6329363" cy="230832"/>
          </a:xfrm>
          <a:prstGeom prst="rect">
            <a:avLst/>
          </a:prstGeom>
          <a:gradFill rotWithShape="0">
            <a:gsLst>
              <a:gs pos="0">
                <a:srgbClr val="999999"/>
              </a:gs>
              <a:gs pos="100000">
                <a:srgbClr val="999999">
                  <a:gamma/>
                  <a:shade val="46275"/>
                  <a:invGamma/>
                </a:srgbClr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lIns="0" tIns="0">
            <a:spAutoFit/>
          </a:bodyPr>
          <a:lstStyle/>
          <a:p>
            <a:pPr algn="l">
              <a:defRPr/>
            </a:pPr>
            <a:r>
              <a:rPr lang="de-DE" sz="1200" b="1">
                <a:solidFill>
                  <a:schemeClr val="bg1"/>
                </a:solidFill>
                <a:latin typeface="Arial" charset="0"/>
              </a:rPr>
              <a:t>        </a:t>
            </a:r>
            <a:r>
              <a:rPr lang="en-US" sz="1200" b="1">
                <a:solidFill>
                  <a:schemeClr val="bg1"/>
                </a:solidFill>
                <a:latin typeface="Arial" charset="0"/>
                <a:cs typeface="Arial" charset="0"/>
              </a:rPr>
              <a:t>© ENGINEERING DIVISION, </a:t>
            </a:r>
            <a:r>
              <a:rPr lang="de-DE" sz="1200" b="1">
                <a:solidFill>
                  <a:schemeClr val="bg1"/>
                </a:solidFill>
                <a:latin typeface="Arial" charset="0"/>
              </a:rPr>
              <a:t>PENN STATE UNIVERSITY</a:t>
            </a:r>
          </a:p>
        </p:txBody>
      </p:sp>
    </p:spTree>
    <p:extLst>
      <p:ext uri="{BB962C8B-B14F-4D97-AF65-F5344CB8AC3E}">
        <p14:creationId xmlns:p14="http://schemas.microsoft.com/office/powerpoint/2010/main" val="3374561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ransition>
    <p:strips dir="rd"/>
  </p:transition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9pPr>
    </p:titleStyle>
    <p:bodyStyle>
      <a:lvl1pPr marL="190500" indent="-190500" algn="l" rtl="0" eaLnBrk="0" fontAlgn="base" hangingPunct="0">
        <a:spcBef>
          <a:spcPct val="15000"/>
        </a:spcBef>
        <a:spcAft>
          <a:spcPct val="0"/>
        </a:spcAft>
        <a:buSzPct val="70000"/>
        <a:buFont typeface="Wingdings" panose="05000000000000000000" pitchFamily="2" charset="2"/>
        <a:buChar char="q"/>
        <a:defRPr>
          <a:solidFill>
            <a:schemeClr val="tx1"/>
          </a:solidFill>
          <a:latin typeface="+mn-lt"/>
          <a:ea typeface="+mn-ea"/>
          <a:cs typeface="+mn-cs"/>
        </a:defRPr>
      </a:lvl1pPr>
      <a:lvl2pPr marL="571500" indent="-190500" algn="l" rtl="0" eaLnBrk="0" fontAlgn="base" hangingPunct="0"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600">
          <a:solidFill>
            <a:schemeClr val="tx1"/>
          </a:solidFill>
          <a:latin typeface="+mn-lt"/>
        </a:defRPr>
      </a:lvl2pPr>
      <a:lvl3pPr marL="952500" indent="-190500" algn="l" rtl="0" eaLnBrk="0" fontAlgn="base" hangingPunct="0">
        <a:lnSpc>
          <a:spcPct val="11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400">
          <a:solidFill>
            <a:schemeClr val="tx1"/>
          </a:solidFill>
          <a:latin typeface="+mn-lt"/>
        </a:defRPr>
      </a:lvl3pPr>
      <a:lvl4pPr marL="1333500" indent="-190500" algn="l" rtl="0" eaLnBrk="0" fontAlgn="base" hangingPunct="0">
        <a:lnSpc>
          <a:spcPct val="15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200">
          <a:solidFill>
            <a:schemeClr val="tx1"/>
          </a:solidFill>
          <a:latin typeface="+mn-lt"/>
        </a:defRPr>
      </a:lvl4pPr>
      <a:lvl5pPr marL="1714500" indent="-190500" algn="l" rtl="0" eaLnBrk="0" fontAlgn="base" hangingPunct="0">
        <a:lnSpc>
          <a:spcPct val="15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000">
          <a:solidFill>
            <a:schemeClr val="tx1"/>
          </a:solidFill>
          <a:latin typeface="+mn-lt"/>
        </a:defRPr>
      </a:lvl5pPr>
      <a:lvl6pPr marL="2171700" indent="-190500" algn="l" rtl="0" eaLnBrk="0" fontAlgn="base" hangingPunct="0">
        <a:lnSpc>
          <a:spcPct val="15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000">
          <a:solidFill>
            <a:schemeClr val="tx1"/>
          </a:solidFill>
          <a:latin typeface="+mn-lt"/>
        </a:defRPr>
      </a:lvl6pPr>
      <a:lvl7pPr marL="2628900" indent="-190500" algn="l" rtl="0" eaLnBrk="0" fontAlgn="base" hangingPunct="0">
        <a:lnSpc>
          <a:spcPct val="15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000">
          <a:solidFill>
            <a:schemeClr val="tx1"/>
          </a:solidFill>
          <a:latin typeface="+mn-lt"/>
        </a:defRPr>
      </a:lvl7pPr>
      <a:lvl8pPr marL="3086100" indent="-190500" algn="l" rtl="0" eaLnBrk="0" fontAlgn="base" hangingPunct="0">
        <a:lnSpc>
          <a:spcPct val="15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000">
          <a:solidFill>
            <a:schemeClr val="tx1"/>
          </a:solidFill>
          <a:latin typeface="+mn-lt"/>
        </a:defRPr>
      </a:lvl8pPr>
      <a:lvl9pPr marL="3543300" indent="-190500" algn="l" rtl="0" eaLnBrk="0" fontAlgn="base" hangingPunct="0">
        <a:lnSpc>
          <a:spcPct val="15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88B3F41A-BBB1-4D5B-B4E1-5EA02F485917}" type="datetime1">
              <a:rPr lang="en-US" smtClean="0"/>
              <a:t>8/21/25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6328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3E55C1-AE0D-3A18-37E0-79544F0BC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79D306-3FD0-BDCB-12EC-C7792AE3A4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692521-5971-A773-811D-A748C3EC2F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3404E8-3BFB-4863-AE30-0CED78AF3C5E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DD4B3E-CEA8-7115-56DC-5E2A05AA98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B59FAF-B8B0-C983-6B9A-6153FD4AD8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147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3.xml"/><Relationship Id="rId7" Type="http://schemas.openxmlformats.org/officeDocument/2006/relationships/image" Target="../media/image5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60">
            <a:extLst>
              <a:ext uri="{FF2B5EF4-FFF2-40B4-BE49-F238E27FC236}">
                <a16:creationId xmlns:a16="http://schemas.microsoft.com/office/drawing/2014/main" id="{EB384DB2-5DBE-4000-BBD8-68F4A6F353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8895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8497EEB-0DDE-4044-AAB7-899504057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72078"/>
            <a:ext cx="12192000" cy="3095754"/>
          </a:xfrm>
          <a:prstGeom prst="rect">
            <a:avLst/>
          </a:prstGeom>
          <a:blipFill dpi="0" rotWithShape="1">
            <a:blip r:embed="rId4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91D5588-0A43-44F8-8BF9-4BD0CB073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45590" y="5218262"/>
            <a:ext cx="1080904" cy="1080902"/>
            <a:chOff x="9685338" y="4460675"/>
            <a:chExt cx="1080904" cy="1080902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C96F04B2-EA02-4F51-91CB-9399DBE724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6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524F9A86-344F-4139-A831-9D8F3E0EE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4" name="Title 3"/>
          <p:cNvSpPr>
            <a:spLocks noGrp="1"/>
          </p:cNvSpPr>
          <p:nvPr>
            <p:ph type="ctrTitle" sz="quarter"/>
          </p:nvPr>
        </p:nvSpPr>
        <p:spPr>
          <a:xfrm>
            <a:off x="619432" y="3803009"/>
            <a:ext cx="10953136" cy="1604733"/>
          </a:xfrm>
        </p:spPr>
        <p:txBody>
          <a:bodyPr anchor="b">
            <a:normAutofit/>
          </a:bodyPr>
          <a:lstStyle/>
          <a:p>
            <a:pPr algn="ctr"/>
            <a:r>
              <a:rPr lang="en-US" sz="6100" dirty="0">
                <a:latin typeface="Calibri" panose="020F0502020204030204" pitchFamily="34" charset="0"/>
                <a:cs typeface="Calibri" panose="020F0502020204030204" pitchFamily="34" charset="0"/>
              </a:rPr>
              <a:t>Software Engineering</a:t>
            </a:r>
            <a:br>
              <a:rPr lang="en-US" sz="610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6100">
                <a:latin typeface="Calibri" panose="020F0502020204030204" pitchFamily="34" charset="0"/>
                <a:cs typeface="Calibri" panose="020F0502020204030204" pitchFamily="34" charset="0"/>
              </a:rPr>
              <a:t>cs411, FALL 2025 </a:t>
            </a:r>
            <a:endParaRPr lang="en-US" sz="6100" dirty="0"/>
          </a:p>
        </p:txBody>
      </p:sp>
      <p:sp>
        <p:nvSpPr>
          <p:cNvPr id="5" name="Subtitle 4"/>
          <p:cNvSpPr>
            <a:spLocks noGrp="1"/>
          </p:cNvSpPr>
          <p:nvPr>
            <p:ph type="subTitle" sz="quarter" idx="1"/>
          </p:nvPr>
        </p:nvSpPr>
        <p:spPr>
          <a:xfrm>
            <a:off x="1954031" y="5407742"/>
            <a:ext cx="8283940" cy="86504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000000"/>
                </a:solidFill>
              </a:rPr>
              <a:t>Lectures 10: Design Principles IV by </a:t>
            </a:r>
            <a:r>
              <a:rPr lang="en-US" dirty="0">
                <a:solidFill>
                  <a:srgbClr val="000000"/>
                </a:solidFill>
              </a:rPr>
              <a:t>Dr. Mohamad Kassab</a:t>
            </a:r>
          </a:p>
          <a:p>
            <a:pPr algn="ctr"/>
            <a:r>
              <a:rPr lang="en-US" dirty="0">
                <a:solidFill>
                  <a:srgbClr val="000000"/>
                </a:solidFill>
              </a:rPr>
              <a:t>Leonidas Kontothanassis   </a:t>
            </a:r>
            <a:r>
              <a:rPr lang="en-US" dirty="0" err="1">
                <a:solidFill>
                  <a:srgbClr val="000000"/>
                </a:solidFill>
              </a:rPr>
              <a:t>kthanasi@bu.edu</a:t>
            </a:r>
            <a:endParaRPr lang="en-US" dirty="0">
              <a:solidFill>
                <a:srgbClr val="000000"/>
              </a:solidFill>
            </a:endParaRPr>
          </a:p>
        </p:txBody>
      </p:sp>
      <p:pic>
        <p:nvPicPr>
          <p:cNvPr id="7" name="Video 6" descr="A white gears in a circle&#10;&#10;Description automatically generated">
            <a:extLst>
              <a:ext uri="{FF2B5EF4-FFF2-40B4-BE49-F238E27FC236}">
                <a16:creationId xmlns:a16="http://schemas.microsoft.com/office/drawing/2014/main" id="{4694D9F2-7F32-C331-7163-755981700F5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7"/>
          <a:srcRect r="1" b="285"/>
          <a:stretch/>
        </p:blipFill>
        <p:spPr>
          <a:xfrm>
            <a:off x="3604426" y="643468"/>
            <a:ext cx="4983148" cy="279506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D3A1EA5-3A5A-E904-971A-35508953B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AB73BC-B049-4115-A692-8D63A059BFB8}" type="slidenum">
              <a:rPr kumimoji="0" lang="en-US" sz="28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1954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85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009DD9B-5EE2-4C0D-8B2B-351C8C1022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720DB99-7745-4E75-9D96-AAB6D55C5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4504" y="464119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68803C4-E159-4360-B7BB-74205C8F78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4504" y="601952"/>
            <a:ext cx="10222992" cy="1385874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4B0465-3B07-49BF-BEA7-D814762462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4504" y="2038655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9A3347-8576-FA16-4B27-35AF1FDC9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</p:spPr>
        <p:txBody>
          <a:bodyPr>
            <a:normAutofit/>
          </a:bodyPr>
          <a:lstStyle/>
          <a:p>
            <a:r>
              <a:rPr lang="en-US" dirty="0"/>
              <a:t>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BD7749-20C1-909A-BE69-465D4AE59E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647" y="2291220"/>
            <a:ext cx="11202271" cy="4366469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endParaRPr lang="en-US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/>
              <a:t>Interaction Diagrams</a:t>
            </a:r>
          </a:p>
          <a:p>
            <a:r>
              <a:rPr lang="en-US" dirty="0"/>
              <a:t>In Class Exercise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9B7FFA5-14CB-4A4F-9BCC-CA3AA5D9D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01725" y="6229681"/>
            <a:ext cx="457200" cy="457200"/>
          </a:xfrm>
          <a:prstGeom prst="ellipse">
            <a:avLst/>
          </a:prstGeom>
          <a:blipFill dpi="0" rotWithShape="1">
            <a:blip r:embed="rId4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50800" ty="0" sx="85000" sy="85000" flip="none" algn="tl"/>
          </a:blipFill>
          <a:ln w="25400" cap="flat" cmpd="sng" algn="ctr">
            <a:noFill/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ckwell Extra Bold" pitchFamily="18" charset="0"/>
              <a:ea typeface="+mn-ea"/>
              <a:cs typeface="+mn-cs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4E48745-7512-4EC2-9E20-9092D121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30918" y="6258874"/>
            <a:ext cx="398813" cy="398815"/>
          </a:xfrm>
          <a:prstGeom prst="ellipse">
            <a:avLst/>
          </a:prstGeom>
          <a:noFill/>
          <a:ln w="12700" cap="flat" cmpd="sng" algn="ctr">
            <a:solidFill>
              <a:srgbClr val="FFFFFF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70DE7D-4BAE-F41A-DF31-318F363A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1128" y="6272784"/>
            <a:ext cx="64008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4FAB73BC-B049-4115-A692-8D63A059BFB8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8224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04B018-BDC5-EEE8-99DC-7EC648F9E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Interactions Diagrams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A2648F6-1B54-B1EB-5600-9F18DD5CC01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80980678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129403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965" name="Flowchart: Document 765964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175" y="0"/>
            <a:ext cx="3248025" cy="3400426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5954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171162"/>
            <a:ext cx="2840182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en-US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From Use Cases</a:t>
            </a:r>
          </a:p>
        </p:txBody>
      </p:sp>
      <p:pic>
        <p:nvPicPr>
          <p:cNvPr id="765955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207933" y="1544625"/>
            <a:ext cx="7347537" cy="3769725"/>
          </a:xfrm>
          <a:prstGeom prst="rect">
            <a:avLst/>
          </a:prstGeom>
          <a:noFill/>
        </p:spPr>
      </p:pic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0926476" y="6356350"/>
            <a:ext cx="625443" cy="365125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marR="0" lvl="0" indent="0" fontAlgn="auto"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0C0E1BF-AC19-4E39-AD54-1E1A62203205}" type="slidenum">
              <a:rPr kumimoji="0" lang="en-US" b="0" i="0" u="none" strike="noStrike" cap="none" spc="0" normalizeH="0" baseline="0" noProof="0">
                <a:ln>
                  <a:noFill/>
                </a:ln>
                <a:effectLst/>
                <a:uLnTx/>
                <a:uFillTx/>
              </a:rPr>
              <a:pPr marR="0" lvl="0" indent="0" fontAlgn="auto"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b="0" i="0" u="none" strike="noStrike" cap="none" spc="0" normalizeH="0" baseline="0" noProof="0">
              <a:ln>
                <a:noFill/>
              </a:ln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4564374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23D36-391D-E091-2EC3-15503759E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8505" y="0"/>
            <a:ext cx="5219307" cy="708552"/>
          </a:xfrm>
        </p:spPr>
        <p:txBody>
          <a:bodyPr anchor="b">
            <a:normAutofit/>
          </a:bodyPr>
          <a:lstStyle/>
          <a:p>
            <a:r>
              <a:rPr lang="en-US" sz="3200" dirty="0"/>
              <a:t>Use Case : Process Sale</a:t>
            </a:r>
          </a:p>
        </p:txBody>
      </p:sp>
      <p:pic>
        <p:nvPicPr>
          <p:cNvPr id="5" name="Picture 4" descr="Shopping cart">
            <a:extLst>
              <a:ext uri="{FF2B5EF4-FFF2-40B4-BE49-F238E27FC236}">
                <a16:creationId xmlns:a16="http://schemas.microsoft.com/office/drawing/2014/main" id="{6AF36379-697A-78A1-6236-BAA8FEF64C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935" b="1"/>
          <a:stretch/>
        </p:blipFill>
        <p:spPr>
          <a:xfrm>
            <a:off x="40585" y="2094632"/>
            <a:ext cx="2897380" cy="3142703"/>
          </a:xfrm>
          <a:prstGeom prst="rect">
            <a:avLst/>
          </a:prstGeom>
        </p:spPr>
      </p:pic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3F1B146-4BA1-4D94-1BEF-9AC66FDC6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1867" y="708552"/>
            <a:ext cx="8805334" cy="6301848"/>
          </a:xfrm>
        </p:spPr>
        <p:txBody>
          <a:bodyPr anchor="t">
            <a:normAutofit/>
          </a:bodyPr>
          <a:lstStyle/>
          <a:p>
            <a:pPr>
              <a:buFont typeface="+mj-lt"/>
              <a:buAutoNum type="arabicPeriod"/>
            </a:pPr>
            <a:r>
              <a:rPr lang="en-US" sz="2400" b="1" dirty="0"/>
              <a:t>Cashier</a:t>
            </a:r>
            <a:r>
              <a:rPr lang="en-US" sz="2400" dirty="0"/>
              <a:t> selects </a:t>
            </a:r>
            <a:r>
              <a:rPr lang="en-US" sz="2400" b="1" dirty="0" err="1"/>
              <a:t>MakeNewSale</a:t>
            </a:r>
            <a:r>
              <a:rPr lang="en-US" sz="2400" dirty="0"/>
              <a:t> to begin a new sale.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System</a:t>
            </a:r>
            <a:r>
              <a:rPr lang="en-US" sz="2400" dirty="0"/>
              <a:t> initializes a new, empty sale.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Cashier</a:t>
            </a:r>
            <a:r>
              <a:rPr lang="en-US" sz="2400" dirty="0"/>
              <a:t> repeatedly invokes </a:t>
            </a:r>
            <a:r>
              <a:rPr lang="en-US" sz="2400" b="1" dirty="0" err="1"/>
              <a:t>EnterItem</a:t>
            </a:r>
            <a:r>
              <a:rPr lang="en-US" sz="2400" b="1" dirty="0"/>
              <a:t> </a:t>
            </a:r>
            <a:r>
              <a:rPr lang="en-US" sz="2400" dirty="0"/>
              <a:t>for each product being purchased: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b="1" dirty="0"/>
              <a:t>System</a:t>
            </a:r>
            <a:r>
              <a:rPr lang="en-US" dirty="0"/>
              <a:t> looks up the product specification (price, description, etc.).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b="1" dirty="0"/>
              <a:t>System</a:t>
            </a:r>
            <a:r>
              <a:rPr lang="en-US" dirty="0"/>
              <a:t> creates a line item for the product in the current sale.</a:t>
            </a:r>
          </a:p>
          <a:p>
            <a:pPr>
              <a:buFont typeface="+mj-lt"/>
              <a:buAutoNum type="arabicPeriod"/>
            </a:pPr>
            <a:r>
              <a:rPr lang="en-US" sz="2400" dirty="0"/>
              <a:t>When there are no more items, </a:t>
            </a:r>
            <a:r>
              <a:rPr lang="en-US" sz="2400" b="1" dirty="0"/>
              <a:t>Cashier</a:t>
            </a:r>
            <a:r>
              <a:rPr lang="en-US" sz="2400" dirty="0"/>
              <a:t>  invokes </a:t>
            </a:r>
            <a:r>
              <a:rPr lang="en-US" sz="2400" b="1" dirty="0" err="1"/>
              <a:t>EndSale</a:t>
            </a:r>
            <a:r>
              <a:rPr lang="en-US" sz="2400" dirty="0"/>
              <a:t>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b="1" dirty="0"/>
              <a:t>System</a:t>
            </a:r>
            <a:r>
              <a:rPr lang="en-US" dirty="0"/>
              <a:t> calculates the total price and displays it.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Cashier</a:t>
            </a:r>
            <a:r>
              <a:rPr lang="en-US" sz="2400" dirty="0"/>
              <a:t> invokes </a:t>
            </a:r>
            <a:r>
              <a:rPr lang="en-US" sz="2400" b="1" dirty="0" err="1"/>
              <a:t>MakePayment</a:t>
            </a:r>
            <a:r>
              <a:rPr lang="en-US" sz="2400" dirty="0"/>
              <a:t>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b="1" dirty="0"/>
              <a:t>System</a:t>
            </a:r>
            <a:r>
              <a:rPr lang="en-US" dirty="0"/>
              <a:t> processes the payment (e.g., cash or electronic).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b="1" dirty="0"/>
              <a:t>System</a:t>
            </a:r>
            <a:r>
              <a:rPr lang="en-US" dirty="0"/>
              <a:t> records the payment and completes the sale.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b="1" dirty="0"/>
              <a:t>System</a:t>
            </a:r>
            <a:r>
              <a:rPr lang="en-US" dirty="0"/>
              <a:t> prints or displays a receipt for the </a:t>
            </a:r>
            <a:r>
              <a:rPr lang="en-US" b="1" dirty="0"/>
              <a:t>Cashier</a:t>
            </a:r>
            <a:r>
              <a:rPr lang="en-US" dirty="0"/>
              <a:t> and </a:t>
            </a:r>
            <a:r>
              <a:rPr lang="en-US" b="1" dirty="0"/>
              <a:t>Customer</a:t>
            </a:r>
            <a:r>
              <a:rPr lang="en-US" dirty="0"/>
              <a:t>.</a:t>
            </a:r>
          </a:p>
          <a:p>
            <a:endParaRPr lang="en-US" sz="7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6C73AF9-0D33-5C66-5D79-0D0129904B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5025" y="6737718"/>
            <a:ext cx="12207200" cy="123363"/>
            <a:chOff x="-5025" y="6737718"/>
            <a:chExt cx="12207200" cy="12336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D96FD6F-5EE9-36C7-C200-3111EF6D0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62A39BB2-02C1-8A8B-8021-68446E0474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8977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28441" name="Rectangle 828440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8421" name="Rectangle 5"/>
          <p:cNvSpPr>
            <a:spLocks noChangeArrowheads="1"/>
          </p:cNvSpPr>
          <p:nvPr/>
        </p:nvSpPr>
        <p:spPr bwMode="auto">
          <a:xfrm>
            <a:off x="645064" y="525982"/>
            <a:ext cx="4282983" cy="12003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0" marR="0" lvl="0" indent="0" fontAlgn="auto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SSD Example for use case : Process Sale</a:t>
            </a:r>
          </a:p>
        </p:txBody>
      </p:sp>
      <p:sp>
        <p:nvSpPr>
          <p:cNvPr id="828443" name="Rectangle 828442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E65829-011D-0EBD-9744-CACB56A99935}"/>
              </a:ext>
            </a:extLst>
          </p:cNvPr>
          <p:cNvSpPr txBox="1"/>
          <p:nvPr/>
        </p:nvSpPr>
        <p:spPr>
          <a:xfrm>
            <a:off x="221551" y="2031101"/>
            <a:ext cx="5165009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42900"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SSD’s are an almost direct translation of the UC scenario(s).</a:t>
            </a:r>
          </a:p>
          <a:p>
            <a:pPr marL="342900"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b="1" dirty="0"/>
          </a:p>
          <a:p>
            <a:pPr marL="342900"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Each use case can be visually represented with one system sequence diagram.</a:t>
            </a:r>
          </a:p>
          <a:p>
            <a:pPr marL="342900"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b="1" dirty="0"/>
          </a:p>
          <a:p>
            <a:pPr marL="342900"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The system sequence diagram shall focus on visually presenting the main success scenario of the use case.</a:t>
            </a:r>
          </a:p>
          <a:p>
            <a:pPr marL="342900"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b="1" dirty="0"/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b="1" dirty="0"/>
          </a:p>
        </p:txBody>
      </p:sp>
      <p:sp>
        <p:nvSpPr>
          <p:cNvPr id="828445" name="Rectangle 828444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8447" name="Rectangle 828446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8449" name="Rectangle 828448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28419" name="Picture 3"/>
          <p:cNvPicPr>
            <a:picLocks noChangeAspect="1" noChangeArrowheads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7738" y="1360869"/>
            <a:ext cx="5628018" cy="3903392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5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610600" y="649224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 lvl="0" indent="0" algn="r" fontAlgn="auto"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54EED831-2B35-429C-962D-5D046F2CC130}" type="slidenum">
              <a:rPr kumimoji="0" lang="en-US" b="0" i="0" u="none" strike="noStrike" cap="none" spc="0" normalizeH="0" baseline="0" noProof="0">
                <a:ln>
                  <a:noFill/>
                </a:ln>
                <a:effectLst/>
                <a:uLnTx/>
                <a:uFillTx/>
              </a:rPr>
              <a:pPr marR="0" lvl="0" indent="0" algn="r" fontAlgn="auto"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b="0" i="0" u="none" strike="noStrike" cap="none" spc="0" normalizeH="0" baseline="0" noProof="0">
              <a:ln>
                <a:noFill/>
              </a:ln>
              <a:effectLst/>
              <a:uLnTx/>
              <a:uFillTx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0" name="Rectangle 129">
            <a:extLst>
              <a:ext uri="{FF2B5EF4-FFF2-40B4-BE49-F238E27FC236}">
                <a16:creationId xmlns:a16="http://schemas.microsoft.com/office/drawing/2014/main" id="{7301F447-EEF7-48F5-AF73-7566EE7F64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CFBE33-633C-DCE4-463A-202445536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334644"/>
            <a:ext cx="10509504" cy="1076914"/>
          </a:xfrm>
        </p:spPr>
        <p:txBody>
          <a:bodyPr anchor="ctr">
            <a:normAutofit/>
          </a:bodyPr>
          <a:lstStyle/>
          <a:p>
            <a:r>
              <a:rPr lang="en-US" sz="4000" dirty="0"/>
              <a:t>Domain Model is by RE based on all Use Cases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F7117410-A2A4-4085-9ADC-46744551DB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2772" y="0"/>
            <a:ext cx="10506456" cy="1913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9F74EB5-E547-4FB4-95F5-BCC788F3C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1512994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21C97506-756E-C972-37EE-227975771C5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558578" y="1737360"/>
            <a:ext cx="6889565" cy="4535424"/>
            <a:chOff x="863" y="962"/>
            <a:chExt cx="3697" cy="3310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720670F7-5797-8495-D30B-2AC7B75E676F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863" y="962"/>
              <a:ext cx="3697" cy="3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5A67905-F8FA-DE70-7BBB-6E29578402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3" y="3014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AAF07B8-30F0-39B8-94FF-8DA53FB972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6" y="3055"/>
              <a:ext cx="26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register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058123C-4AB1-3260-C796-CF85677C71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3" y="3191"/>
              <a:ext cx="521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95177BB-4521-CD1E-CBBA-3865A6F346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3" y="2268"/>
              <a:ext cx="609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146A6E8-21BB-8BE9-92EE-AB54FB6913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30" y="2309"/>
              <a:ext cx="15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Item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EB19EBB-6B35-47DE-ADDF-DE6DCD20DD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3" y="2445"/>
              <a:ext cx="609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611FACC-AB90-10A6-8C4B-15CA70EA46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3" y="2222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A96E249-ECCC-1D2D-4F00-11CED89DEE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20" y="2263"/>
              <a:ext cx="192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Store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3053282-5A7F-3C5C-1DC5-6856E0F38A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3" y="2399"/>
              <a:ext cx="521" cy="26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1572C4D-3C6B-46BE-9F28-CA3BE6990C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9" y="2439"/>
              <a:ext cx="28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address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E28DB24-A79B-D6A9-D2BC-2A6C05D7BD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9" y="2534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name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5B89E7D-D776-7A00-8AB6-AB7CC50BF9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19" y="3014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BD7759C-0070-8967-5514-D16ABBB545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0" y="3055"/>
              <a:ext cx="16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Sale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CBE1354-F097-CB1E-CAC3-8BB4717C5F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19" y="3191"/>
              <a:ext cx="521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2819031-2847-434D-9693-E6A6B1CFEC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65" y="3231"/>
              <a:ext cx="15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date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905FD80-5A07-34BA-3675-07566C675A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65" y="3420"/>
              <a:ext cx="152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time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A13DA31-8149-5D9D-F67E-959A5BDCDE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6" y="3908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89619DC-CDD6-6A7C-3EB8-488990B703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0" y="3950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Payment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43D0BAB-FA76-5367-9BF7-EB50C5F732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6" y="408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B70EC30-31B2-33DF-DD9E-7DC0CD1E2D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2" y="4127"/>
              <a:ext cx="26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amount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385508D-B172-9DDE-B7B9-0460DE50E2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19" y="2134"/>
              <a:ext cx="521" cy="26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9586504-044F-3FB2-CCC0-8F73141512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80" y="2173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Sales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CBCA06C-0585-73CD-2C33-637C02118C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26" y="2268"/>
              <a:ext cx="30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LineItem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E67344A-44BE-A031-F197-C61FA14A91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19" y="2401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40FC486-9188-17C0-AA34-8DAD5380C6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65" y="2443"/>
              <a:ext cx="28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quantity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7F20A28-E954-D16A-AB4B-F2D61DB28E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63" y="3908"/>
              <a:ext cx="520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F10F652-4554-1AAC-C0B3-7EACC181CC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87" y="3950"/>
              <a:ext cx="27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Cashier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960D2F1-E2F5-2DA8-FB97-6AD3A9EBC1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63" y="4086"/>
              <a:ext cx="520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B4BA7DD-9496-276F-4022-6202246C44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4" y="3908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4619AA75-C262-4B63-4AF3-5F1F7758BE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62" y="3950"/>
              <a:ext cx="34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Customer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FB68569-D74C-CA30-E954-EEE64006FC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4" y="408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1440E3-B36B-8464-1AAA-C217F31DD0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6" y="3107"/>
              <a:ext cx="520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45373E9-F59D-867D-9187-63AA5FA68F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11" y="3148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Manager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DE14DDA-3585-D8FD-2210-E1B9EADA78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6" y="3284"/>
              <a:ext cx="520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A3FC904-D6F9-7B98-2733-E237FBAAF5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3" y="1468"/>
              <a:ext cx="521" cy="26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0D752F0-AC95-2E95-B53B-AD40A95167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7" y="1507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Product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84F2991B-AE03-82B2-4870-0500EE87B7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9" y="1601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Catalog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A9738B36-650A-F997-EC12-6D714DFAF4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3" y="173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CE0D3576-5263-5B06-AF01-F7CE96F1C2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0" y="1376"/>
              <a:ext cx="615" cy="26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403AD5AA-93C2-AAEC-5DC2-2D0FC2A6E5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70" y="1415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Product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AAB6593D-2921-6841-F973-448AFD627F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82" y="1509"/>
              <a:ext cx="45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Specification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7C5AAE86-8CD1-A22A-39D1-BD2CFC5631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0" y="1643"/>
              <a:ext cx="615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ED10B6D-F98F-C295-4A17-1556BA090C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6" y="1683"/>
              <a:ext cx="3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description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A3FE746-63FE-B747-C4CA-26365EE68C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6" y="1777"/>
              <a:ext cx="17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price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ECF009DF-CEF5-8F66-2DA7-71551E2BCD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6" y="1872"/>
              <a:ext cx="1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UPC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51" name="Line 50">
              <a:extLst>
                <a:ext uri="{FF2B5EF4-FFF2-40B4-BE49-F238E27FC236}">
                  <a16:creationId xmlns:a16="http://schemas.microsoft.com/office/drawing/2014/main" id="{E17A34C4-1E74-8F01-4449-1A849B79B72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74" y="2445"/>
              <a:ext cx="629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0A3359D-BCE1-52C3-C0EE-6C6A5E21E3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68" y="2358"/>
              <a:ext cx="24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Stocks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304F60A-0A17-AC50-AD13-998658C98E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76" y="2451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52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54" name="Line 53">
              <a:extLst>
                <a:ext uri="{FF2B5EF4-FFF2-40B4-BE49-F238E27FC236}">
                  <a16:creationId xmlns:a16="http://schemas.microsoft.com/office/drawing/2014/main" id="{993E34AC-7979-878F-941D-2D6E386342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14" y="2667"/>
              <a:ext cx="1" cy="347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3566EEB-7F65-E876-8049-DEAC044EAD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5" y="2752"/>
              <a:ext cx="27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Houses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38546CD-7ED0-3351-1817-1E12286991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1" y="2884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1FF9C658-CDE6-B125-86DC-D1B565E6F4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69" y="2868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25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58" name="Line 57">
              <a:extLst>
                <a:ext uri="{FF2B5EF4-FFF2-40B4-BE49-F238E27FC236}">
                  <a16:creationId xmlns:a16="http://schemas.microsoft.com/office/drawing/2014/main" id="{B47C09A0-1D92-94F8-8DBC-1654B30117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14" y="1913"/>
              <a:ext cx="1" cy="309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25BFD4CF-30DA-30B0-7192-68ABDAC443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4" y="2010"/>
              <a:ext cx="300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Used-by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51931C67-503B-CAD4-708D-F675944914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6" y="2095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52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61" name="Line 60">
              <a:extLst>
                <a:ext uri="{FF2B5EF4-FFF2-40B4-BE49-F238E27FC236}">
                  <a16:creationId xmlns:a16="http://schemas.microsoft.com/office/drawing/2014/main" id="{76CEBC2F-2BE1-2418-CF6D-CCFD27A9616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74" y="1690"/>
              <a:ext cx="626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920D14F4-DDBD-8389-EA60-288146473D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1" y="1604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Contains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5CD2F30-067F-3B50-AFC6-A6F363ACB0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8" y="1728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AB930A7-6F32-4AA9-7AC1-BF5075DECE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7" y="1712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25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65" name="Line 64">
              <a:extLst>
                <a:ext uri="{FF2B5EF4-FFF2-40B4-BE49-F238E27FC236}">
                  <a16:creationId xmlns:a16="http://schemas.microsoft.com/office/drawing/2014/main" id="{E367542F-6E61-2B5F-956D-2AE72FC0DE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07" y="2006"/>
              <a:ext cx="1" cy="262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FC4E2126-24BB-CC2A-554A-C8FB22C8A9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4" y="2050"/>
              <a:ext cx="35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Describes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49BF7EA-CFC3-C15E-FA16-55FA8906B3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43" y="2140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52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68" name="Line 67">
              <a:extLst>
                <a:ext uri="{FF2B5EF4-FFF2-40B4-BE49-F238E27FC236}">
                  <a16:creationId xmlns:a16="http://schemas.microsoft.com/office/drawing/2014/main" id="{EB505EC3-263D-B378-E8D3-33BE4504893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840" y="3419"/>
              <a:ext cx="713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74E8295-B08A-1AE5-ED77-2353449F0C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78" y="3333"/>
              <a:ext cx="44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Captured-on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70" name="Line 69">
              <a:extLst>
                <a:ext uri="{FF2B5EF4-FFF2-40B4-BE49-F238E27FC236}">
                  <a16:creationId xmlns:a16="http://schemas.microsoft.com/office/drawing/2014/main" id="{B4415FCE-C832-ADDB-F3F4-72462C28B6D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579" y="2579"/>
              <a:ext cx="1" cy="435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F1C8F45D-1CBD-D20D-02BD-142B1AB1A6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99" y="2756"/>
              <a:ext cx="45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Contained-in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A4EF5B2-6619-8372-FC5F-FC20066F26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6" y="2620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2335CF09-4A76-CB03-B36E-6D2793202B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35" y="2604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25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5260EDC8-A0FC-66E9-D523-40FCDCD52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6" y="1293"/>
              <a:ext cx="2321" cy="841"/>
            </a:xfrm>
            <a:custGeom>
              <a:avLst/>
              <a:gdLst/>
              <a:ahLst/>
              <a:cxnLst>
                <a:cxn ang="0">
                  <a:pos x="2321" y="83"/>
                </a:cxn>
                <a:cxn ang="0">
                  <a:pos x="2321" y="0"/>
                </a:cxn>
                <a:cxn ang="0">
                  <a:pos x="0" y="0"/>
                </a:cxn>
                <a:cxn ang="0">
                  <a:pos x="0" y="841"/>
                </a:cxn>
              </a:cxnLst>
              <a:rect l="0" t="0" r="r" b="b"/>
              <a:pathLst>
                <a:path w="2321" h="841">
                  <a:moveTo>
                    <a:pt x="2321" y="83"/>
                  </a:moveTo>
                  <a:lnTo>
                    <a:pt x="2321" y="0"/>
                  </a:lnTo>
                  <a:lnTo>
                    <a:pt x="0" y="0"/>
                  </a:lnTo>
                  <a:lnTo>
                    <a:pt x="0" y="841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E4D4AC-304F-6EEF-356F-1C35A0189E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5" y="1205"/>
              <a:ext cx="47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Described-by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5EB294B4-09C5-AB62-6188-A0982FFA6C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35" y="2008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52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AB8A13F1-9F52-C7F3-23F7-4215D722F799}"/>
                </a:ext>
              </a:extLst>
            </p:cNvPr>
            <p:cNvSpPr>
              <a:spLocks/>
            </p:cNvSpPr>
            <p:nvPr/>
          </p:nvSpPr>
          <p:spPr bwMode="auto">
            <a:xfrm>
              <a:off x="1473" y="1071"/>
              <a:ext cx="3016" cy="1374"/>
            </a:xfrm>
            <a:custGeom>
              <a:avLst/>
              <a:gdLst/>
              <a:ahLst/>
              <a:cxnLst>
                <a:cxn ang="0">
                  <a:pos x="0" y="1063"/>
                </a:cxn>
                <a:cxn ang="0">
                  <a:pos x="0" y="0"/>
                </a:cxn>
                <a:cxn ang="0">
                  <a:pos x="3016" y="0"/>
                </a:cxn>
                <a:cxn ang="0">
                  <a:pos x="3016" y="1374"/>
                </a:cxn>
                <a:cxn ang="0">
                  <a:pos x="2839" y="1374"/>
                </a:cxn>
              </a:cxnLst>
              <a:rect l="0" t="0" r="r" b="b"/>
              <a:pathLst>
                <a:path w="3016" h="1374">
                  <a:moveTo>
                    <a:pt x="0" y="1063"/>
                  </a:moveTo>
                  <a:lnTo>
                    <a:pt x="0" y="0"/>
                  </a:lnTo>
                  <a:lnTo>
                    <a:pt x="3016" y="0"/>
                  </a:lnTo>
                  <a:lnTo>
                    <a:pt x="3016" y="1374"/>
                  </a:lnTo>
                  <a:lnTo>
                    <a:pt x="2839" y="1374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0D635C30-00D5-5470-1F58-D7455726E6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2" y="984"/>
              <a:ext cx="56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Records-sale-of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E21B5BD7-02C1-B551-8526-6604CD8E85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0" y="1998"/>
              <a:ext cx="13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0..1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80" name="Line 79">
              <a:extLst>
                <a:ext uri="{FF2B5EF4-FFF2-40B4-BE49-F238E27FC236}">
                  <a16:creationId xmlns:a16="http://schemas.microsoft.com/office/drawing/2014/main" id="{921247D1-1737-B7E8-FFEE-6536BD7BEF8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74" y="3284"/>
              <a:ext cx="632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4D9C1FF6-34CF-1461-B3CA-769D8A13D2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8" y="3197"/>
              <a:ext cx="3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Started-by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EB549BE9-71F6-A1C2-7F11-EBC080A1C7D5}"/>
                </a:ext>
              </a:extLst>
            </p:cNvPr>
            <p:cNvSpPr>
              <a:spLocks/>
            </p:cNvSpPr>
            <p:nvPr/>
          </p:nvSpPr>
          <p:spPr bwMode="auto">
            <a:xfrm>
              <a:off x="1137" y="3554"/>
              <a:ext cx="336" cy="354"/>
            </a:xfrm>
            <a:custGeom>
              <a:avLst/>
              <a:gdLst/>
              <a:ahLst/>
              <a:cxnLst>
                <a:cxn ang="0">
                  <a:pos x="0" y="354"/>
                </a:cxn>
                <a:cxn ang="0">
                  <a:pos x="0" y="177"/>
                </a:cxn>
                <a:cxn ang="0">
                  <a:pos x="336" y="177"/>
                </a:cxn>
                <a:cxn ang="0">
                  <a:pos x="336" y="0"/>
                </a:cxn>
              </a:cxnLst>
              <a:rect l="0" t="0" r="r" b="b"/>
              <a:pathLst>
                <a:path w="336" h="354">
                  <a:moveTo>
                    <a:pt x="0" y="354"/>
                  </a:moveTo>
                  <a:lnTo>
                    <a:pt x="0" y="177"/>
                  </a:lnTo>
                  <a:lnTo>
                    <a:pt x="336" y="177"/>
                  </a:lnTo>
                  <a:lnTo>
                    <a:pt x="336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E7CD8EA5-B8A1-3D14-7ED0-9450AFBDF9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" y="3646"/>
              <a:ext cx="27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Paid-by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D70EEB72-D308-DCD8-37A3-5516B5046E6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6" y="3554"/>
              <a:ext cx="348" cy="354"/>
            </a:xfrm>
            <a:custGeom>
              <a:avLst/>
              <a:gdLst/>
              <a:ahLst/>
              <a:cxnLst>
                <a:cxn ang="0">
                  <a:pos x="348" y="354"/>
                </a:cxn>
                <a:cxn ang="0">
                  <a:pos x="348" y="177"/>
                </a:cxn>
                <a:cxn ang="0">
                  <a:pos x="0" y="177"/>
                </a:cxn>
                <a:cxn ang="0">
                  <a:pos x="0" y="0"/>
                </a:cxn>
              </a:cxnLst>
              <a:rect l="0" t="0" r="r" b="b"/>
              <a:pathLst>
                <a:path w="348" h="354">
                  <a:moveTo>
                    <a:pt x="348" y="354"/>
                  </a:moveTo>
                  <a:lnTo>
                    <a:pt x="348" y="177"/>
                  </a:lnTo>
                  <a:lnTo>
                    <a:pt x="0" y="177"/>
                  </a:lnTo>
                  <a:lnTo>
                    <a:pt x="0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9DD18847-592E-D6BA-E92F-96196B5541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94" y="3629"/>
              <a:ext cx="39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Initiated-by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025F850E-4F52-6352-18DE-317289E7FD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840" y="2556"/>
              <a:ext cx="713" cy="594"/>
            </a:xfrm>
            <a:custGeom>
              <a:avLst/>
              <a:gdLst/>
              <a:ahLst/>
              <a:cxnLst>
                <a:cxn ang="0">
                  <a:pos x="0" y="594"/>
                </a:cxn>
                <a:cxn ang="0">
                  <a:pos x="357" y="594"/>
                </a:cxn>
                <a:cxn ang="0">
                  <a:pos x="357" y="0"/>
                </a:cxn>
                <a:cxn ang="0">
                  <a:pos x="713" y="0"/>
                </a:cxn>
              </a:cxnLst>
              <a:rect l="0" t="0" r="r" b="b"/>
              <a:pathLst>
                <a:path w="713" h="594">
                  <a:moveTo>
                    <a:pt x="0" y="594"/>
                  </a:moveTo>
                  <a:lnTo>
                    <a:pt x="357" y="594"/>
                  </a:lnTo>
                  <a:lnTo>
                    <a:pt x="357" y="0"/>
                  </a:lnTo>
                  <a:lnTo>
                    <a:pt x="713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69DF0D5F-A2B1-5D5E-9073-07071B6045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28" y="2706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Logs-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83D374-A4BD-9305-4B77-9277BE5616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4" y="2801"/>
              <a:ext cx="3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completed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F477178-3D18-5EB5-5224-E317684951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05" y="289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6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7FE0EC98-F7A1-462F-EFFB-553A251642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68" y="3000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52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E3667AAF-C1ED-3D47-8C72-122800165B3A}"/>
                </a:ext>
              </a:extLst>
            </p:cNvPr>
            <p:cNvSpPr>
              <a:spLocks/>
            </p:cNvSpPr>
            <p:nvPr/>
          </p:nvSpPr>
          <p:spPr bwMode="auto">
            <a:xfrm>
              <a:off x="2814" y="3554"/>
              <a:ext cx="808" cy="35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77"/>
                </a:cxn>
                <a:cxn ang="0">
                  <a:pos x="808" y="177"/>
                </a:cxn>
                <a:cxn ang="0">
                  <a:pos x="808" y="354"/>
                </a:cxn>
              </a:cxnLst>
              <a:rect l="0" t="0" r="r" b="b"/>
              <a:pathLst>
                <a:path w="808" h="354">
                  <a:moveTo>
                    <a:pt x="0" y="0"/>
                  </a:moveTo>
                  <a:lnTo>
                    <a:pt x="0" y="177"/>
                  </a:lnTo>
                  <a:lnTo>
                    <a:pt x="808" y="177"/>
                  </a:lnTo>
                  <a:lnTo>
                    <a:pt x="808" y="354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D5BA667D-7C0D-64B7-5A9A-7A236CAED7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76" y="364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3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EDF2B876-3B00-BFD2-A2A6-E55FEC556B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0" y="3645"/>
              <a:ext cx="65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 Records-sales-on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40FF6BFA-C290-5AA6-402F-CFB990AF17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14" y="169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28A20B60-6347-B869-BEDC-503008F923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49" y="2453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772FAF62-8AE2-2D19-7C6C-2AD357D59E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45" y="270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92D49F9D-EB16-BFE2-57F1-67234C9F42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14" y="2453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D0E2B50F-8335-4A46-74B0-272457C866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49" y="1246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A8183378-7160-7FD2-A2F6-88E9E62B74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55" y="244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DA64B7A2-210D-3700-E493-220998BEA1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1" y="328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CDD216DF-C6E1-067C-21CF-7DDAAC660B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14" y="3304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33BBA5D0-33D1-ACE6-77AC-38026099A5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54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18859938-010B-E599-BA1B-523F0315A4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39" y="359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14C3589-64F9-395F-543E-BC2F295773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6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BD120E7C-CDEA-A42E-207D-0575AA719D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41" y="355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8B3814C2-AF8F-32D6-AC43-95A3FB4272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1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26B90A47-A214-83F1-CCFF-B7C85E02D1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3" y="359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681951AC-8EC4-4828-F547-4A5ECE11E3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11" y="2886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" name="Rectangle 109">
              <a:extLst>
                <a:ext uri="{FF2B5EF4-FFF2-40B4-BE49-F238E27FC236}">
                  <a16:creationId xmlns:a16="http://schemas.microsoft.com/office/drawing/2014/main" id="{6E262ED8-AEF2-842B-7B4E-28BAA37693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49" y="343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" name="Rectangle 110">
              <a:extLst>
                <a:ext uri="{FF2B5EF4-FFF2-40B4-BE49-F238E27FC236}">
                  <a16:creationId xmlns:a16="http://schemas.microsoft.com/office/drawing/2014/main" id="{225B7087-1514-2A08-040B-9693C21E81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39" y="191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78077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479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4" b="0" i="0" u="none" strike="noStrike" kern="1200" cap="none" spc="0" normalizeH="0" baseline="0" noProof="0">
                  <a:ln>
                    <a:noFill/>
                  </a:ln>
                  <a:solidFill>
                    <a:srgbClr val="1D588A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</p:grp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15E1550-21C2-1ED1-EEE7-4F78048CA77A}"/>
              </a:ext>
            </a:extLst>
          </p:cNvPr>
          <p:cNvCxnSpPr>
            <a:endCxn id="26" idx="1"/>
          </p:cNvCxnSpPr>
          <p:nvPr/>
        </p:nvCxnSpPr>
        <p:spPr>
          <a:xfrm flipV="1">
            <a:off x="2968052" y="3526180"/>
            <a:ext cx="1440307" cy="6638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DCEDEEAD-9B79-8A99-C52E-721C0C2FF444}"/>
              </a:ext>
            </a:extLst>
          </p:cNvPr>
          <p:cNvSpPr txBox="1"/>
          <p:nvPr/>
        </p:nvSpPr>
        <p:spPr>
          <a:xfrm>
            <a:off x="2146314" y="4101944"/>
            <a:ext cx="1052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Concepts</a:t>
            </a: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5B3E6DAF-36A0-49D3-2E1A-9A3B5EB24809}"/>
              </a:ext>
            </a:extLst>
          </p:cNvPr>
          <p:cNvCxnSpPr/>
          <p:nvPr/>
        </p:nvCxnSpPr>
        <p:spPr>
          <a:xfrm flipV="1">
            <a:off x="3120452" y="4982722"/>
            <a:ext cx="1440307" cy="6638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13090A36-7139-6F23-13D4-D3F33C6CC377}"/>
              </a:ext>
            </a:extLst>
          </p:cNvPr>
          <p:cNvSpPr txBox="1"/>
          <p:nvPr/>
        </p:nvSpPr>
        <p:spPr>
          <a:xfrm>
            <a:off x="1983992" y="5462242"/>
            <a:ext cx="1118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Attributes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8D147621-074B-CE79-C4F3-1FC437F5454A}"/>
              </a:ext>
            </a:extLst>
          </p:cNvPr>
          <p:cNvCxnSpPr/>
          <p:nvPr/>
        </p:nvCxnSpPr>
        <p:spPr>
          <a:xfrm flipV="1">
            <a:off x="3210314" y="2702171"/>
            <a:ext cx="1440307" cy="6638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75A8DFBB-8EFC-96FB-BDCF-B26F10CA3F24}"/>
              </a:ext>
            </a:extLst>
          </p:cNvPr>
          <p:cNvSpPr txBox="1"/>
          <p:nvPr/>
        </p:nvSpPr>
        <p:spPr>
          <a:xfrm>
            <a:off x="1967378" y="3187855"/>
            <a:ext cx="1251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Association</a:t>
            </a:r>
          </a:p>
        </p:txBody>
      </p:sp>
      <p:sp>
        <p:nvSpPr>
          <p:cNvPr id="125" name="Slide Number Placeholder 124">
            <a:extLst>
              <a:ext uri="{FF2B5EF4-FFF2-40B4-BE49-F238E27FC236}">
                <a16:creationId xmlns:a16="http://schemas.microsoft.com/office/drawing/2014/main" id="{203A8ABC-1632-58C0-8347-96F4A8220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DF6DEEC-D04A-4FF0-9A08-7D39859C24F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2FBBA79-9929-E019-6F0F-2C5F6CC7AA70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3163504" y="5646594"/>
            <a:ext cx="505024" cy="4939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3396C1A6-67C9-66D3-A1AC-0ECD6FBE796A}"/>
              </a:ext>
            </a:extLst>
          </p:cNvPr>
          <p:cNvCxnSpPr>
            <a:cxnSpLocks/>
          </p:cNvCxnSpPr>
          <p:nvPr/>
        </p:nvCxnSpPr>
        <p:spPr>
          <a:xfrm>
            <a:off x="2946381" y="4181123"/>
            <a:ext cx="1419116" cy="3790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0455B3F6-80E7-D837-969F-3263F87155DE}"/>
              </a:ext>
            </a:extLst>
          </p:cNvPr>
          <p:cNvCxnSpPr>
            <a:cxnSpLocks/>
          </p:cNvCxnSpPr>
          <p:nvPr/>
        </p:nvCxnSpPr>
        <p:spPr>
          <a:xfrm flipV="1">
            <a:off x="3180387" y="2985629"/>
            <a:ext cx="1902580" cy="4021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654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/>
      <p:bldP spid="120" grpId="0"/>
      <p:bldP spid="12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74173" name="Rectangle 774172">
            <a:extLst>
              <a:ext uri="{FF2B5EF4-FFF2-40B4-BE49-F238E27FC236}">
                <a16:creationId xmlns:a16="http://schemas.microsoft.com/office/drawing/2014/main" id="{2F687420-BEB4-45CD-8226-339BE553B8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645064" y="525982"/>
            <a:ext cx="4282983" cy="120036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en-US" sz="3100"/>
              <a:t>Operation Contract Example : for enterItem()</a:t>
            </a:r>
          </a:p>
        </p:txBody>
      </p:sp>
      <p:sp>
        <p:nvSpPr>
          <p:cNvPr id="774174" name="Rectangle 774173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A32E58-8148-3512-094F-BF09C1BC62B7}"/>
              </a:ext>
            </a:extLst>
          </p:cNvPr>
          <p:cNvSpPr txBox="1"/>
          <p:nvPr/>
        </p:nvSpPr>
        <p:spPr>
          <a:xfrm>
            <a:off x="67427" y="2031101"/>
            <a:ext cx="5654301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200" dirty="0"/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200" dirty="0"/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Operation Contracts are written for important system operations.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200" dirty="0"/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Each Operation Contract can be translated visually into one interaction diagram.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200" dirty="0"/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For example, in the next slide, we will show the interaction diagram that represents the operation </a:t>
            </a:r>
            <a:r>
              <a:rPr lang="en-US" sz="2200" dirty="0" err="1"/>
              <a:t>enterItem</a:t>
            </a:r>
            <a:r>
              <a:rPr lang="en-US" sz="2200" dirty="0"/>
              <a:t>()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774161" name="Rectangle 774160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4163" name="Rectangle 774162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4165" name="Rectangle 774164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74147" name="Picture 3" descr="contract"/>
          <p:cNvPicPr>
            <a:picLocks noGrp="1" noChangeAspect="1" noChangeArrowheads="1"/>
          </p:cNvPicPr>
          <p:nvPr>
            <p:ph idx="1"/>
          </p:nvPr>
        </p:nvPicPr>
        <p:blipFill>
          <a:blip r:embed="rId3"/>
          <a:srcRect l="2679" r="11434"/>
          <a:stretch/>
        </p:blipFill>
        <p:spPr>
          <a:xfrm>
            <a:off x="5987738" y="650494"/>
            <a:ext cx="5628018" cy="5324142"/>
          </a:xfrm>
          <a:prstGeom prst="rect">
            <a:avLst/>
          </a:prstGeom>
          <a:noFill/>
        </p:spPr>
      </p:pic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610600" y="649224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Aft>
                <a:spcPts val="600"/>
              </a:spcAft>
              <a:defRPr/>
            </a:pPr>
            <a:fld id="{B4DA01F8-02BC-447E-BCC7-96AFC80205E3}" type="slidenum">
              <a:rPr lang="en-US">
                <a:solidFill>
                  <a:prstClr val="black">
                    <a:tint val="75000"/>
                  </a:prstClr>
                </a:solidFill>
                <a:latin typeface="Calibri" panose="020F0502020204030204"/>
              </a:rPr>
              <a:pPr algn="r">
                <a:spcAft>
                  <a:spcPts val="600"/>
                </a:spcAft>
                <a:defRPr/>
              </a:pPr>
              <a:t>8</a:t>
            </a:fld>
            <a:endParaRPr lang="en-US">
              <a:solidFill>
                <a:prstClr val="black">
                  <a:tint val="75000"/>
                </a:prstClr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9733765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8672C2FB-BDE4-453D-B736-F2F905298F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3467" y="832679"/>
            <a:ext cx="10905066" cy="5192641"/>
          </a:xfrm>
          <a:prstGeom prst="rect">
            <a:avLst/>
          </a:prstGeom>
          <a:noFill/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853D5C-23EC-4695-8F34-F54732ACE5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44C8290B-349C-469A-A3A9-47E61E8F9E2E}" type="slidenum">
              <a:rPr kumimoji="0" lang="de-DE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51208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922919"/>
            <a:ext cx="11111729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48A987-8CD9-7173-8C96-C8381D0C4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9304" y="0"/>
            <a:ext cx="9849751" cy="1349671"/>
          </a:xfrm>
        </p:spPr>
        <p:txBody>
          <a:bodyPr anchor="b">
            <a:normAutofit/>
          </a:bodyPr>
          <a:lstStyle/>
          <a:p>
            <a:r>
              <a:rPr lang="en-US" sz="5400" dirty="0"/>
              <a:t>More on Interaction Diagrams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C7032-1919-8173-3B4B-8088045CFE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9304" y="2902913"/>
            <a:ext cx="9849751" cy="3032168"/>
          </a:xfrm>
        </p:spPr>
        <p:txBody>
          <a:bodyPr anchor="ctr">
            <a:normAutofit fontScale="92500" lnSpcReduction="10000"/>
          </a:bodyPr>
          <a:lstStyle/>
          <a:p>
            <a:r>
              <a:rPr lang="en-US" sz="2400" dirty="0"/>
              <a:t>Designer designs these operation contracts and interaction diagrams taking as an input:</a:t>
            </a:r>
          </a:p>
          <a:p>
            <a:pPr marL="0" indent="0">
              <a:buNone/>
            </a:pPr>
            <a:endParaRPr lang="en-US" sz="2400" dirty="0"/>
          </a:p>
          <a:p>
            <a:pPr lvl="1"/>
            <a:r>
              <a:rPr lang="en-US" dirty="0"/>
              <a:t>All artifacts given by requirements engineer; specially the domain model</a:t>
            </a:r>
          </a:p>
          <a:p>
            <a:pPr lvl="1"/>
            <a:r>
              <a:rPr lang="en-US" dirty="0"/>
              <a:t>The importance to satisfy the GRASP Patterns where applicable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Can you try to find which GRASP Patterns were considered while designing </a:t>
            </a:r>
            <a:r>
              <a:rPr lang="en-US" dirty="0" err="1">
                <a:solidFill>
                  <a:srgbClr val="FF0000"/>
                </a:solidFill>
              </a:rPr>
              <a:t>enterItem</a:t>
            </a:r>
            <a:r>
              <a:rPr lang="en-US" dirty="0">
                <a:solidFill>
                  <a:srgbClr val="FF0000"/>
                </a:solidFill>
              </a:rPr>
              <a:t>()?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3336821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29449" name="Rectangle 829448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9442" name="Rectangle 2"/>
          <p:cNvSpPr>
            <a:spLocks noGrp="1" noChangeArrowheads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en-US" sz="5400"/>
              <a:t>Object Communication</a:t>
            </a:r>
          </a:p>
        </p:txBody>
      </p:sp>
      <p:pic>
        <p:nvPicPr>
          <p:cNvPr id="829445" name="Picture 829444" descr="Empty speech bubbles">
            <a:extLst>
              <a:ext uri="{FF2B5EF4-FFF2-40B4-BE49-F238E27FC236}">
                <a16:creationId xmlns:a16="http://schemas.microsoft.com/office/drawing/2014/main" id="{E1A84D07-FE55-B7F6-8B34-7731FCA315D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1582" r="23087" b="-1"/>
          <a:stretch/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829451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94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297762" y="2706624"/>
            <a:ext cx="6251110" cy="3483864"/>
          </a:xfrm>
        </p:spPr>
        <p:txBody>
          <a:bodyPr>
            <a:normAutofit/>
          </a:bodyPr>
          <a:lstStyle/>
          <a:p>
            <a:pPr marL="342900" indent="-342900"/>
            <a:r>
              <a:rPr lang="en-US" sz="2400" dirty="0"/>
              <a:t>How do objects communicate with each other?</a:t>
            </a:r>
          </a:p>
          <a:p>
            <a:pPr marL="342900" indent="-342900"/>
            <a:r>
              <a:rPr lang="en-US" sz="2400" dirty="0"/>
              <a:t>Interaction diagrams describe behavior, but the nature of the communication is implicit.</a:t>
            </a:r>
          </a:p>
          <a:p>
            <a:pPr marL="342900" indent="-342900"/>
            <a:r>
              <a:rPr lang="en-US" sz="2400" dirty="0"/>
              <a:t>For an object to send a message to another, the receiver must be visible – the sender must have some kind of reference to the receiver.</a:t>
            </a:r>
          </a:p>
          <a:p>
            <a:pPr marL="342900" indent="-342900"/>
            <a:r>
              <a:rPr lang="en-US" sz="2400" dirty="0"/>
              <a:t>Visibility is the ability of one object to see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0052978" y="6356350"/>
            <a:ext cx="1300821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7336BD8E-B5BA-48EA-A715-EF8DA1D1352E}" type="slidenum">
              <a:rPr kumimoji="0" lang="de-DE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31497" name="Rectangle 831496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1490" name="Rectangle 2"/>
          <p:cNvSpPr>
            <a:spLocks noGrp="1" noChangeArrowheads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Attribute Visibility</a:t>
            </a:r>
          </a:p>
        </p:txBody>
      </p:sp>
      <p:sp>
        <p:nvSpPr>
          <p:cNvPr id="8314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38881" y="1809541"/>
            <a:ext cx="10909643" cy="68740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 is visible to A if B is an attribute of A</a:t>
            </a:r>
          </a:p>
        </p:txBody>
      </p:sp>
      <p:sp>
        <p:nvSpPr>
          <p:cNvPr id="831499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31492" name="Picture 4"/>
          <p:cNvPicPr>
            <a:picLocks noChangeAspect="1" noChangeArrowheads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53647" y="2633472"/>
            <a:ext cx="7481658" cy="3586353"/>
          </a:xfrm>
          <a:prstGeom prst="rect">
            <a:avLst/>
          </a:prstGeom>
          <a:noFill/>
        </p:spPr>
      </p:pic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B841151F-FA5B-4E96-B889-B442E74CD463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016C8C-DBF5-D25F-54CA-7D9345E06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4" y="525982"/>
            <a:ext cx="4282983" cy="1200361"/>
          </a:xfrm>
        </p:spPr>
        <p:txBody>
          <a:bodyPr anchor="b">
            <a:normAutofit/>
          </a:bodyPr>
          <a:lstStyle/>
          <a:p>
            <a:r>
              <a:rPr lang="en-US" sz="3600"/>
              <a:t>In Class Exercise</a:t>
            </a:r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5E5D4-04CA-94CC-76F1-54EF985E2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066" y="2031101"/>
            <a:ext cx="4282984" cy="3511943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b="1" dirty="0"/>
              <a:t>Library Borrowing System</a:t>
            </a:r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7BDF816-C9DD-06E2-5A35-5600701BD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139676" y="650494"/>
            <a:ext cx="5324142" cy="5324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052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F56F3-5C3D-7964-9C74-B18CA45B5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348" y="11176"/>
            <a:ext cx="10058400" cy="1609344"/>
          </a:xfrm>
        </p:spPr>
        <p:txBody>
          <a:bodyPr>
            <a:noAutofit/>
          </a:bodyPr>
          <a:lstStyle/>
          <a:p>
            <a:pPr algn="just"/>
            <a:r>
              <a:rPr lang="en-US" sz="4000" dirty="0"/>
              <a:t>Readings , Assignments, Project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CA3C13-C6C6-1D43-90A5-FDB216772D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2121407"/>
            <a:ext cx="10881360" cy="460006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       </a:t>
            </a:r>
            <a:r>
              <a:rPr lang="en-US" sz="3100" b="1" dirty="0"/>
              <a:t>Read:</a:t>
            </a:r>
          </a:p>
          <a:p>
            <a:pPr lvl="2"/>
            <a:endParaRPr lang="en-US" sz="3100" dirty="0"/>
          </a:p>
          <a:p>
            <a:pPr lvl="2"/>
            <a:r>
              <a:rPr lang="en-US" sz="3100" dirty="0"/>
              <a:t>Chapters 9, 11, 12, 14 of the textbook.</a:t>
            </a:r>
          </a:p>
          <a:p>
            <a:pPr marL="274637" lvl="1" indent="0">
              <a:buNone/>
            </a:pPr>
            <a:endParaRPr lang="en-US" sz="3100" dirty="0"/>
          </a:p>
          <a:p>
            <a:pPr marL="0" lvl="1" indent="0">
              <a:spcBef>
                <a:spcPts val="1200"/>
              </a:spcBef>
              <a:buNone/>
            </a:pPr>
            <a:r>
              <a:rPr lang="en-US" sz="3100" dirty="0"/>
              <a:t>         </a:t>
            </a:r>
            <a:r>
              <a:rPr lang="en-US" sz="3100" b="1" dirty="0"/>
              <a:t>Assignments &amp; Project Tasks:</a:t>
            </a:r>
          </a:p>
          <a:p>
            <a:pPr lvl="2" algn="just"/>
            <a:r>
              <a:rPr lang="en-US" sz="3100" dirty="0"/>
              <a:t>Assignment 2 is due on 4/3. </a:t>
            </a:r>
            <a:r>
              <a:rPr lang="en-US" sz="3100" u="sng" dirty="0"/>
              <a:t>This is an individual Assignment.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2E8F83-779A-E8B9-DD19-B6BCF0E14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AB73BC-B049-4115-A692-8D63A059BFB8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phic 5" descr="Closed book with solid fill">
            <a:extLst>
              <a:ext uri="{FF2B5EF4-FFF2-40B4-BE49-F238E27FC236}">
                <a16:creationId xmlns:a16="http://schemas.microsoft.com/office/drawing/2014/main" id="{361AFB0C-1F93-39C9-9BCB-758EFEAABE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3277" y="1848539"/>
            <a:ext cx="914400" cy="914400"/>
          </a:xfrm>
          <a:prstGeom prst="rect">
            <a:avLst/>
          </a:prstGeom>
        </p:spPr>
      </p:pic>
      <p:pic>
        <p:nvPicPr>
          <p:cNvPr id="8" name="Graphic 7" descr="Inbox Check with solid fill">
            <a:extLst>
              <a:ext uri="{FF2B5EF4-FFF2-40B4-BE49-F238E27FC236}">
                <a16:creationId xmlns:a16="http://schemas.microsoft.com/office/drawing/2014/main" id="{7E1EAE56-3188-9CC6-4554-392E28EF31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3277" y="355316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9233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Yellow question mark">
            <a:extLst>
              <a:ext uri="{FF2B5EF4-FFF2-40B4-BE49-F238E27FC236}">
                <a16:creationId xmlns:a16="http://schemas.microsoft.com/office/drawing/2014/main" id="{90FD73D1-447F-2389-971D-2D689D69A9A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250"/>
          <a:stretch/>
        </p:blipFill>
        <p:spPr>
          <a:xfrm>
            <a:off x="3" y="10"/>
            <a:ext cx="12191997" cy="685798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17F72E41-D8D7-F589-0125-D336DE2AF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598" y="21736"/>
            <a:ext cx="12206598" cy="6879745"/>
            <a:chOff x="-14598" y="21736"/>
            <a:chExt cx="12206598" cy="687974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C13EADE-3A56-21CF-6809-E58C7DDCBA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4578264" y="-733992"/>
              <a:ext cx="3020876" cy="12206596"/>
            </a:xfrm>
            <a:prstGeom prst="rect">
              <a:avLst/>
            </a:prstGeom>
            <a:gradFill flip="none" rotWithShape="1">
              <a:gsLst>
                <a:gs pos="21000">
                  <a:srgbClr val="000000">
                    <a:alpha val="62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B1EA0F4-FEA8-8A8D-25F3-BCCDA3F4F8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3832304"/>
              <a:ext cx="12192000" cy="3055057"/>
            </a:xfrm>
            <a:prstGeom prst="rect">
              <a:avLst/>
            </a:prstGeom>
            <a:gradFill flip="none" rotWithShape="1">
              <a:gsLst>
                <a:gs pos="0">
                  <a:schemeClr val="accent5"/>
                </a:gs>
                <a:gs pos="75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558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3842CE-80A1-1110-8DDA-D6F18BE0C6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7617204" y="1610686"/>
              <a:ext cx="4574794" cy="5290794"/>
            </a:xfrm>
            <a:prstGeom prst="rect">
              <a:avLst/>
            </a:prstGeom>
            <a:gradFill flip="none" rotWithShape="1">
              <a:gsLst>
                <a:gs pos="5000">
                  <a:schemeClr val="accent2"/>
                </a:gs>
                <a:gs pos="49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2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1C9318B-F00C-0365-EC3A-B46DF3523B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4597" y="21736"/>
              <a:ext cx="3585523" cy="6879745"/>
            </a:xfrm>
            <a:prstGeom prst="rect">
              <a:avLst/>
            </a:prstGeom>
            <a:gradFill flip="none" rotWithShape="1">
              <a:gsLst>
                <a:gs pos="5000">
                  <a:schemeClr val="accent2"/>
                </a:gs>
                <a:gs pos="49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96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E92A2C8-D25D-5522-FFDD-CF5793AEFC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806026" y="1712428"/>
              <a:ext cx="4354310" cy="5995557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60000"/>
                    <a:lumOff val="40000"/>
                  </a:schemeClr>
                </a:gs>
                <a:gs pos="54000">
                  <a:schemeClr val="accent2"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365D34-0718-7406-D03A-0E561285F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93447"/>
            <a:ext cx="10141040" cy="112610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077091832"/>
      </p:ext>
    </p:extLst>
  </p:cSld>
  <p:clrMapOvr>
    <a:masterClrMapping/>
  </p:clrMapOvr>
</p:sld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002 My SCR template">
  <a:themeElements>
    <a:clrScheme name="">
      <a:dk1>
        <a:srgbClr val="336699"/>
      </a:dk1>
      <a:lt1>
        <a:srgbClr val="FFFFFF"/>
      </a:lt1>
      <a:dk2>
        <a:srgbClr val="999999"/>
      </a:dk2>
      <a:lt2>
        <a:srgbClr val="990000"/>
      </a:lt2>
      <a:accent1>
        <a:srgbClr val="FFCC00"/>
      </a:accent1>
      <a:accent2>
        <a:srgbClr val="FF9900"/>
      </a:accent2>
      <a:accent3>
        <a:srgbClr val="FFFFFF"/>
      </a:accent3>
      <a:accent4>
        <a:srgbClr val="2A5682"/>
      </a:accent4>
      <a:accent5>
        <a:srgbClr val="FFE2AA"/>
      </a:accent5>
      <a:accent6>
        <a:srgbClr val="E78A00"/>
      </a:accent6>
      <a:hlink>
        <a:srgbClr val="99CC66"/>
      </a:hlink>
      <a:folHlink>
        <a:srgbClr val="336699"/>
      </a:folHlink>
    </a:clrScheme>
    <a:fontScheme name="2002 My SCR template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rgbClr val="171D63"/>
          </a:solidFill>
          <a:prstDash val="solid"/>
          <a:round/>
          <a:headEnd type="none" w="med" len="med"/>
          <a:tailEnd type="none" w="med" len="med"/>
        </a:ln>
        <a:effectLst>
          <a:outerShdw dist="71842" dir="2700000" algn="ctr" rotWithShape="0">
            <a:srgbClr val="171D63"/>
          </a:outerShdw>
        </a:effectLst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0" fontAlgn="base" latinLnBrk="0" hangingPunct="0">
          <a:lnSpc>
            <a:spcPts val="24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rgbClr val="002B5D"/>
            </a:solidFill>
            <a:effectLst/>
            <a:latin typeface="Arial Narrow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rgbClr val="171D63"/>
          </a:solidFill>
          <a:prstDash val="solid"/>
          <a:round/>
          <a:headEnd type="none" w="med" len="med"/>
          <a:tailEnd type="none" w="med" len="med"/>
        </a:ln>
        <a:effectLst>
          <a:outerShdw dist="71842" dir="2700000" algn="ctr" rotWithShape="0">
            <a:srgbClr val="171D63"/>
          </a:outerShdw>
        </a:effectLst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0" fontAlgn="base" latinLnBrk="0" hangingPunct="0">
          <a:lnSpc>
            <a:spcPts val="24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rgbClr val="002B5D"/>
            </a:solidFill>
            <a:effectLst/>
            <a:latin typeface="Arial Narrow" pitchFamily="34" charset="0"/>
          </a:defRPr>
        </a:defPPr>
      </a:lstStyle>
    </a:lnDef>
  </a:objectDefaults>
  <a:extraClrSchemeLst>
    <a:extraClrScheme>
      <a:clrScheme name="2002 My SCR template 1">
        <a:dk1>
          <a:srgbClr val="002B5D"/>
        </a:dk1>
        <a:lt1>
          <a:srgbClr val="FFFFFF"/>
        </a:lt1>
        <a:dk2>
          <a:srgbClr val="FF9B06"/>
        </a:dk2>
        <a:lt2>
          <a:srgbClr val="641014"/>
        </a:lt2>
        <a:accent1>
          <a:srgbClr val="ACCF00"/>
        </a:accent1>
        <a:accent2>
          <a:srgbClr val="C8DB57"/>
        </a:accent2>
        <a:accent3>
          <a:srgbClr val="FFFFFF"/>
        </a:accent3>
        <a:accent4>
          <a:srgbClr val="00234E"/>
        </a:accent4>
        <a:accent5>
          <a:srgbClr val="D2E4AA"/>
        </a:accent5>
        <a:accent6>
          <a:srgbClr val="B5C64E"/>
        </a:accent6>
        <a:hlink>
          <a:srgbClr val="D8DE91"/>
        </a:hlink>
        <a:folHlink>
          <a:srgbClr val="E4E8B4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4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1238</TotalTime>
  <Words>796</Words>
  <Application>Microsoft Macintosh PowerPoint</Application>
  <PresentationFormat>Widescreen</PresentationFormat>
  <Paragraphs>171</Paragraphs>
  <Slides>15</Slides>
  <Notes>5</Notes>
  <HiddenSlides>0</HiddenSlides>
  <MMClips>1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15</vt:i4>
      </vt:variant>
    </vt:vector>
  </HeadingPairs>
  <TitlesOfParts>
    <vt:vector size="29" baseType="lpstr">
      <vt:lpstr>Arial</vt:lpstr>
      <vt:lpstr>Arial Narrow</vt:lpstr>
      <vt:lpstr>Calibri</vt:lpstr>
      <vt:lpstr>Calibri Light</vt:lpstr>
      <vt:lpstr>Marlett</vt:lpstr>
      <vt:lpstr>Rockwell Extra Bold</vt:lpstr>
      <vt:lpstr>SIEMENS-Firmenmarke</vt:lpstr>
      <vt:lpstr>Times New Roman</vt:lpstr>
      <vt:lpstr>UniversS 55 Roman</vt:lpstr>
      <vt:lpstr>Wingdings</vt:lpstr>
      <vt:lpstr>Office Theme</vt:lpstr>
      <vt:lpstr>2002 My SCR template</vt:lpstr>
      <vt:lpstr>Wood Type</vt:lpstr>
      <vt:lpstr>1_Office Theme</vt:lpstr>
      <vt:lpstr>Software Engineering cs411, FALL 2025 </vt:lpstr>
      <vt:lpstr>Lesson plan</vt:lpstr>
      <vt:lpstr>Interactions Diagrams</vt:lpstr>
      <vt:lpstr>From Use Cases</vt:lpstr>
      <vt:lpstr>Use Case : Process Sale</vt:lpstr>
      <vt:lpstr>PowerPoint Presentation</vt:lpstr>
      <vt:lpstr>Domain Model is by RE based on all Use Cases</vt:lpstr>
      <vt:lpstr>Operation Contract Example : for enterItem()</vt:lpstr>
      <vt:lpstr>PowerPoint Presentation</vt:lpstr>
      <vt:lpstr>More on Interaction Diagrams</vt:lpstr>
      <vt:lpstr>Object Communication</vt:lpstr>
      <vt:lpstr>Attribute Visibility</vt:lpstr>
      <vt:lpstr>In Class Exercise</vt:lpstr>
      <vt:lpstr>Readings , Assignments, Project Tasks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Requirements Engineering for Software and Systems, 3rd Edition</dc:title>
  <dc:creator>Kassab, Mohamad Hassan</dc:creator>
  <cp:lastModifiedBy>Leonidas Kontothanassis</cp:lastModifiedBy>
  <cp:revision>69</cp:revision>
  <dcterms:created xsi:type="dcterms:W3CDTF">2022-09-05T18:50:47Z</dcterms:created>
  <dcterms:modified xsi:type="dcterms:W3CDTF">2025-08-21T15:20:01Z</dcterms:modified>
</cp:coreProperties>
</file>