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24" r:id="rId1"/>
    <p:sldMasterId id="2147483936" r:id="rId2"/>
  </p:sldMasterIdLst>
  <p:notesMasterIdLst>
    <p:notesMasterId r:id="rId83"/>
  </p:notesMasterIdLst>
  <p:sldIdLst>
    <p:sldId id="665" r:id="rId3"/>
    <p:sldId id="773" r:id="rId4"/>
    <p:sldId id="752" r:id="rId5"/>
    <p:sldId id="500" r:id="rId6"/>
    <p:sldId id="716" r:id="rId7"/>
    <p:sldId id="712" r:id="rId8"/>
    <p:sldId id="713" r:id="rId9"/>
    <p:sldId id="754" r:id="rId10"/>
    <p:sldId id="742" r:id="rId11"/>
    <p:sldId id="509" r:id="rId12"/>
    <p:sldId id="510" r:id="rId13"/>
    <p:sldId id="512" r:id="rId14"/>
    <p:sldId id="513" r:id="rId15"/>
    <p:sldId id="515" r:id="rId16"/>
    <p:sldId id="406" r:id="rId17"/>
    <p:sldId id="755" r:id="rId18"/>
    <p:sldId id="517" r:id="rId19"/>
    <p:sldId id="518" r:id="rId20"/>
    <p:sldId id="519" r:id="rId21"/>
    <p:sldId id="520" r:id="rId22"/>
    <p:sldId id="521" r:id="rId23"/>
    <p:sldId id="412" r:id="rId24"/>
    <p:sldId id="413" r:id="rId25"/>
    <p:sldId id="522" r:id="rId26"/>
    <p:sldId id="415" r:id="rId27"/>
    <p:sldId id="416" r:id="rId28"/>
    <p:sldId id="524" r:id="rId29"/>
    <p:sldId id="417" r:id="rId30"/>
    <p:sldId id="525" r:id="rId31"/>
    <p:sldId id="526" r:id="rId32"/>
    <p:sldId id="527" r:id="rId33"/>
    <p:sldId id="423" r:id="rId34"/>
    <p:sldId id="424" r:id="rId35"/>
    <p:sldId id="425" r:id="rId36"/>
    <p:sldId id="426" r:id="rId37"/>
    <p:sldId id="427" r:id="rId38"/>
    <p:sldId id="428" r:id="rId39"/>
    <p:sldId id="429" r:id="rId40"/>
    <p:sldId id="769" r:id="rId41"/>
    <p:sldId id="770" r:id="rId42"/>
    <p:sldId id="771" r:id="rId43"/>
    <p:sldId id="772" r:id="rId44"/>
    <p:sldId id="528" r:id="rId45"/>
    <p:sldId id="529" r:id="rId46"/>
    <p:sldId id="530" r:id="rId47"/>
    <p:sldId id="531" r:id="rId48"/>
    <p:sldId id="767" r:id="rId49"/>
    <p:sldId id="768" r:id="rId50"/>
    <p:sldId id="532" r:id="rId51"/>
    <p:sldId id="533" r:id="rId52"/>
    <p:sldId id="534" r:id="rId53"/>
    <p:sldId id="535" r:id="rId54"/>
    <p:sldId id="536" r:id="rId55"/>
    <p:sldId id="537" r:id="rId56"/>
    <p:sldId id="538" r:id="rId57"/>
    <p:sldId id="539" r:id="rId58"/>
    <p:sldId id="540" r:id="rId59"/>
    <p:sldId id="541" r:id="rId60"/>
    <p:sldId id="542" r:id="rId61"/>
    <p:sldId id="543" r:id="rId62"/>
    <p:sldId id="544" r:id="rId63"/>
    <p:sldId id="545" r:id="rId64"/>
    <p:sldId id="546" r:id="rId65"/>
    <p:sldId id="547" r:id="rId66"/>
    <p:sldId id="548" r:id="rId67"/>
    <p:sldId id="549" r:id="rId68"/>
    <p:sldId id="550" r:id="rId69"/>
    <p:sldId id="551" r:id="rId70"/>
    <p:sldId id="552" r:id="rId71"/>
    <p:sldId id="553" r:id="rId72"/>
    <p:sldId id="456" r:id="rId73"/>
    <p:sldId id="457" r:id="rId74"/>
    <p:sldId id="774" r:id="rId75"/>
    <p:sldId id="775" r:id="rId76"/>
    <p:sldId id="748" r:id="rId77"/>
    <p:sldId id="749" r:id="rId78"/>
    <p:sldId id="750" r:id="rId79"/>
    <p:sldId id="751" r:id="rId80"/>
    <p:sldId id="766" r:id="rId81"/>
    <p:sldId id="747"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34"/>
    <p:restoredTop sz="71287"/>
  </p:normalViewPr>
  <p:slideViewPr>
    <p:cSldViewPr snapToGrid="0" snapToObjects="1">
      <p:cViewPr varScale="1">
        <p:scale>
          <a:sx n="112" d="100"/>
          <a:sy n="112" d="100"/>
        </p:scale>
        <p:origin x="1920" y="19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presProps" Target="pres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viewProps" Target="view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tableStyles" Target="tableStyles.xml"/><Relationship Id="rId61" Type="http://schemas.openxmlformats.org/officeDocument/2006/relationships/slide" Target="slides/slide59.xml"/><Relationship Id="rId82" Type="http://schemas.openxmlformats.org/officeDocument/2006/relationships/slide" Target="slides/slide80.xml"/></Relationships>
</file>

<file path=ppt/diagrams/_rels/data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2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26.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917648C-F669-4C79-A995-2F0E02E3FB72}" type="doc">
      <dgm:prSet loTypeId="urn:microsoft.com/office/officeart/2018/2/layout/IconLabelDescriptionList" loCatId="icon" qsTypeId="urn:microsoft.com/office/officeart/2005/8/quickstyle/simple1" qsCatId="simple" csTypeId="urn:microsoft.com/office/officeart/2018/5/colors/Iconchunking_neutralbg_colorful1" csCatId="colorful" phldr="1"/>
      <dgm:spPr/>
      <dgm:t>
        <a:bodyPr/>
        <a:lstStyle/>
        <a:p>
          <a:endParaRPr lang="en-US"/>
        </a:p>
      </dgm:t>
    </dgm:pt>
    <dgm:pt modelId="{D65DF3A1-F022-4BCD-A41A-689712A4075E}">
      <dgm:prSet custT="1"/>
      <dgm:spPr/>
      <dgm:t>
        <a:bodyPr/>
        <a:lstStyle/>
        <a:p>
          <a:pPr>
            <a:defRPr b="1"/>
          </a:pPr>
          <a:r>
            <a:rPr lang="en-US" sz="2000" dirty="0"/>
            <a:t>The business needs differs from one context to another</a:t>
          </a:r>
        </a:p>
      </dgm:t>
    </dgm:pt>
    <dgm:pt modelId="{43132E43-D9C4-4AAA-9946-CC1A4FBDC981}" type="parTrans" cxnId="{8A38CAE6-CCB0-4D5A-9BCF-09B5071ECD78}">
      <dgm:prSet/>
      <dgm:spPr/>
      <dgm:t>
        <a:bodyPr/>
        <a:lstStyle/>
        <a:p>
          <a:endParaRPr lang="en-US"/>
        </a:p>
      </dgm:t>
    </dgm:pt>
    <dgm:pt modelId="{9736BE4A-E78D-4A7A-8F88-17AA272F1B66}" type="sibTrans" cxnId="{8A38CAE6-CCB0-4D5A-9BCF-09B5071ECD78}">
      <dgm:prSet/>
      <dgm:spPr/>
      <dgm:t>
        <a:bodyPr/>
        <a:lstStyle/>
        <a:p>
          <a:endParaRPr lang="en-US"/>
        </a:p>
      </dgm:t>
    </dgm:pt>
    <dgm:pt modelId="{9705C025-98F0-479D-ADF4-64B37BD1B0E6}">
      <dgm:prSet custT="1"/>
      <dgm:spPr/>
      <dgm:t>
        <a:bodyPr/>
        <a:lstStyle/>
        <a:p>
          <a:pPr>
            <a:defRPr b="1"/>
          </a:pPr>
          <a:r>
            <a:rPr lang="en-US" sz="2400" dirty="0"/>
            <a:t>Organizations have assets they need to protect</a:t>
          </a:r>
        </a:p>
      </dgm:t>
    </dgm:pt>
    <dgm:pt modelId="{AB10647F-AB12-4515-8263-887A15E9D0CB}" type="parTrans" cxnId="{466DA000-1461-4AE2-9976-8BEF402A0369}">
      <dgm:prSet/>
      <dgm:spPr/>
      <dgm:t>
        <a:bodyPr/>
        <a:lstStyle/>
        <a:p>
          <a:endParaRPr lang="en-US"/>
        </a:p>
      </dgm:t>
    </dgm:pt>
    <dgm:pt modelId="{89FCC9EE-DEE0-4D61-8483-57342F649CAE}" type="sibTrans" cxnId="{466DA000-1461-4AE2-9976-8BEF402A0369}">
      <dgm:prSet/>
      <dgm:spPr/>
      <dgm:t>
        <a:bodyPr/>
        <a:lstStyle/>
        <a:p>
          <a:endParaRPr lang="en-US"/>
        </a:p>
      </dgm:t>
    </dgm:pt>
    <dgm:pt modelId="{F65D502A-8D58-4737-9A1D-0C206FAA517F}">
      <dgm:prSet/>
      <dgm:spPr/>
      <dgm:t>
        <a:bodyPr/>
        <a:lstStyle/>
        <a:p>
          <a:pPr>
            <a:defRPr b="1"/>
          </a:pPr>
          <a:r>
            <a:rPr lang="en-US" dirty="0"/>
            <a:t>They need to protect these assets for different reasons</a:t>
          </a:r>
        </a:p>
      </dgm:t>
    </dgm:pt>
    <dgm:pt modelId="{FF690992-C6E4-4978-8892-50E1D2046B74}" type="parTrans" cxnId="{D4D0D2D2-3723-42E8-A7D1-F2CAF11E42CE}">
      <dgm:prSet/>
      <dgm:spPr/>
      <dgm:t>
        <a:bodyPr/>
        <a:lstStyle/>
        <a:p>
          <a:endParaRPr lang="en-US"/>
        </a:p>
      </dgm:t>
    </dgm:pt>
    <dgm:pt modelId="{9C5ED690-BC5B-4019-8E62-A421398978DE}" type="sibTrans" cxnId="{D4D0D2D2-3723-42E8-A7D1-F2CAF11E42CE}">
      <dgm:prSet/>
      <dgm:spPr/>
      <dgm:t>
        <a:bodyPr/>
        <a:lstStyle/>
        <a:p>
          <a:endParaRPr lang="en-US"/>
        </a:p>
      </dgm:t>
    </dgm:pt>
    <dgm:pt modelId="{201C5CAF-8662-4C50-8BCC-2F28D4C67B04}">
      <dgm:prSet/>
      <dgm:spPr/>
      <dgm:t>
        <a:bodyPr/>
        <a:lstStyle/>
        <a:p>
          <a:r>
            <a:rPr lang="en-US"/>
            <a:t>Business continuity</a:t>
          </a:r>
        </a:p>
      </dgm:t>
    </dgm:pt>
    <dgm:pt modelId="{0D8A0183-E304-458B-AF73-EB43ECA64812}" type="parTrans" cxnId="{D4DBE5C5-EE5B-4BCF-9F9A-FF4CB09CDC76}">
      <dgm:prSet/>
      <dgm:spPr/>
      <dgm:t>
        <a:bodyPr/>
        <a:lstStyle/>
        <a:p>
          <a:endParaRPr lang="en-US"/>
        </a:p>
      </dgm:t>
    </dgm:pt>
    <dgm:pt modelId="{BA281148-D1DC-4125-AC2A-04B1F26CFC0A}" type="sibTrans" cxnId="{D4DBE5C5-EE5B-4BCF-9F9A-FF4CB09CDC76}">
      <dgm:prSet/>
      <dgm:spPr/>
      <dgm:t>
        <a:bodyPr/>
        <a:lstStyle/>
        <a:p>
          <a:endParaRPr lang="en-US"/>
        </a:p>
      </dgm:t>
    </dgm:pt>
    <dgm:pt modelId="{F32E0B90-A65F-4152-8EF7-2D195D6BCA87}">
      <dgm:prSet/>
      <dgm:spPr/>
      <dgm:t>
        <a:bodyPr/>
        <a:lstStyle/>
        <a:p>
          <a:r>
            <a:rPr lang="en-US" dirty="0"/>
            <a:t>Liability reasons</a:t>
          </a:r>
        </a:p>
      </dgm:t>
    </dgm:pt>
    <dgm:pt modelId="{74DCAC03-6CED-42C1-9B27-B2A49386A739}" type="parTrans" cxnId="{6D231398-D538-4B33-9C59-56676C358240}">
      <dgm:prSet/>
      <dgm:spPr/>
      <dgm:t>
        <a:bodyPr/>
        <a:lstStyle/>
        <a:p>
          <a:endParaRPr lang="en-US"/>
        </a:p>
      </dgm:t>
    </dgm:pt>
    <dgm:pt modelId="{CFD67B9A-E674-476A-9A24-5CACADF4484A}" type="sibTrans" cxnId="{6D231398-D538-4B33-9C59-56676C358240}">
      <dgm:prSet/>
      <dgm:spPr/>
      <dgm:t>
        <a:bodyPr/>
        <a:lstStyle/>
        <a:p>
          <a:endParaRPr lang="en-US"/>
        </a:p>
      </dgm:t>
    </dgm:pt>
    <dgm:pt modelId="{5C1D0D15-5642-4568-868F-F43BF7B3C0B1}">
      <dgm:prSet/>
      <dgm:spPr/>
      <dgm:t>
        <a:bodyPr/>
        <a:lstStyle/>
        <a:p>
          <a:r>
            <a:rPr lang="en-US"/>
            <a:t>Regulation</a:t>
          </a:r>
        </a:p>
      </dgm:t>
    </dgm:pt>
    <dgm:pt modelId="{7BAA395E-735F-4B6D-8A4F-920D6C3C7667}" type="parTrans" cxnId="{FEC0464E-4EEF-44F9-A7B7-543719BA60B4}">
      <dgm:prSet/>
      <dgm:spPr/>
      <dgm:t>
        <a:bodyPr/>
        <a:lstStyle/>
        <a:p>
          <a:endParaRPr lang="en-US"/>
        </a:p>
      </dgm:t>
    </dgm:pt>
    <dgm:pt modelId="{FF6BC8B6-20F4-4184-8EFC-B6A032E3D795}" type="sibTrans" cxnId="{FEC0464E-4EEF-44F9-A7B7-543719BA60B4}">
      <dgm:prSet/>
      <dgm:spPr/>
      <dgm:t>
        <a:bodyPr/>
        <a:lstStyle/>
        <a:p>
          <a:endParaRPr lang="en-US"/>
        </a:p>
      </dgm:t>
    </dgm:pt>
    <dgm:pt modelId="{1A78ECCE-D4BB-4EBA-B372-8D03193ED4B7}">
      <dgm:prSet/>
      <dgm:spPr/>
      <dgm:t>
        <a:bodyPr/>
        <a:lstStyle/>
        <a:p>
          <a:r>
            <a:rPr lang="en-US"/>
            <a:t>Protection of IP</a:t>
          </a:r>
        </a:p>
      </dgm:t>
    </dgm:pt>
    <dgm:pt modelId="{F3B8960F-3A5E-4638-9BB6-EE030D4EEB74}" type="parTrans" cxnId="{6D04339A-DCCF-49AA-85CB-A37C8BD6DC25}">
      <dgm:prSet/>
      <dgm:spPr/>
      <dgm:t>
        <a:bodyPr/>
        <a:lstStyle/>
        <a:p>
          <a:endParaRPr lang="en-US"/>
        </a:p>
      </dgm:t>
    </dgm:pt>
    <dgm:pt modelId="{AA36AB42-8F4F-43B7-972A-59062CCFE770}" type="sibTrans" cxnId="{6D04339A-DCCF-49AA-85CB-A37C8BD6DC25}">
      <dgm:prSet/>
      <dgm:spPr/>
      <dgm:t>
        <a:bodyPr/>
        <a:lstStyle/>
        <a:p>
          <a:endParaRPr lang="en-US"/>
        </a:p>
      </dgm:t>
    </dgm:pt>
    <dgm:pt modelId="{B421A5C9-1B6A-4443-BB3C-C3373ADD5EC9}">
      <dgm:prSet/>
      <dgm:spPr/>
      <dgm:t>
        <a:bodyPr/>
        <a:lstStyle/>
        <a:p>
          <a:r>
            <a:rPr lang="en-US"/>
            <a:t>…</a:t>
          </a:r>
        </a:p>
      </dgm:t>
    </dgm:pt>
    <dgm:pt modelId="{DDA21F75-5026-4DF3-80F4-04AB0986F1C0}" type="parTrans" cxnId="{8AC4B400-7E79-4B47-9DA5-94AC5F4902FA}">
      <dgm:prSet/>
      <dgm:spPr/>
      <dgm:t>
        <a:bodyPr/>
        <a:lstStyle/>
        <a:p>
          <a:endParaRPr lang="en-US"/>
        </a:p>
      </dgm:t>
    </dgm:pt>
    <dgm:pt modelId="{C71BC22E-F765-4D6E-B08F-89251C852B40}" type="sibTrans" cxnId="{8AC4B400-7E79-4B47-9DA5-94AC5F4902FA}">
      <dgm:prSet/>
      <dgm:spPr/>
      <dgm:t>
        <a:bodyPr/>
        <a:lstStyle/>
        <a:p>
          <a:endParaRPr lang="en-US"/>
        </a:p>
      </dgm:t>
    </dgm:pt>
    <dgm:pt modelId="{A776FF67-B851-4F1A-9426-794403E4CE88}" type="pres">
      <dgm:prSet presAssocID="{6917648C-F669-4C79-A995-2F0E02E3FB72}" presName="root" presStyleCnt="0">
        <dgm:presLayoutVars>
          <dgm:dir/>
          <dgm:resizeHandles val="exact"/>
        </dgm:presLayoutVars>
      </dgm:prSet>
      <dgm:spPr/>
    </dgm:pt>
    <dgm:pt modelId="{4D6B0D93-C75A-4554-A75C-DE0A6795728D}" type="pres">
      <dgm:prSet presAssocID="{D65DF3A1-F022-4BCD-A41A-689712A4075E}" presName="compNode" presStyleCnt="0"/>
      <dgm:spPr/>
    </dgm:pt>
    <dgm:pt modelId="{78820750-AB84-43A7-AF2F-9EFF0FDB2D40}" type="pres">
      <dgm:prSet presAssocID="{D65DF3A1-F022-4BCD-A41A-689712A4075E}"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andshake"/>
        </a:ext>
      </dgm:extLst>
    </dgm:pt>
    <dgm:pt modelId="{E5B12579-7B9F-4B0C-88F4-AC525588AD3F}" type="pres">
      <dgm:prSet presAssocID="{D65DF3A1-F022-4BCD-A41A-689712A4075E}" presName="iconSpace" presStyleCnt="0"/>
      <dgm:spPr/>
    </dgm:pt>
    <dgm:pt modelId="{BF7DB62E-686F-4529-B09A-9309822DEA2C}" type="pres">
      <dgm:prSet presAssocID="{D65DF3A1-F022-4BCD-A41A-689712A4075E}" presName="parTx" presStyleLbl="revTx" presStyleIdx="0" presStyleCnt="6">
        <dgm:presLayoutVars>
          <dgm:chMax val="0"/>
          <dgm:chPref val="0"/>
        </dgm:presLayoutVars>
      </dgm:prSet>
      <dgm:spPr/>
    </dgm:pt>
    <dgm:pt modelId="{BD60EA65-938D-4717-A48C-566AA3F4419F}" type="pres">
      <dgm:prSet presAssocID="{D65DF3A1-F022-4BCD-A41A-689712A4075E}" presName="txSpace" presStyleCnt="0"/>
      <dgm:spPr/>
    </dgm:pt>
    <dgm:pt modelId="{D5E0E63B-0E45-4837-B65F-650CE9915764}" type="pres">
      <dgm:prSet presAssocID="{D65DF3A1-F022-4BCD-A41A-689712A4075E}" presName="desTx" presStyleLbl="revTx" presStyleIdx="1" presStyleCnt="6">
        <dgm:presLayoutVars/>
      </dgm:prSet>
      <dgm:spPr/>
    </dgm:pt>
    <dgm:pt modelId="{BCC9BB68-488C-4AA6-B70B-670DAB2C75BF}" type="pres">
      <dgm:prSet presAssocID="{9736BE4A-E78D-4A7A-8F88-17AA272F1B66}" presName="sibTrans" presStyleCnt="0"/>
      <dgm:spPr/>
    </dgm:pt>
    <dgm:pt modelId="{E33F13C3-90B9-48F0-8626-DF7CE04BFA87}" type="pres">
      <dgm:prSet presAssocID="{9705C025-98F0-479D-ADF4-64B37BD1B0E6}" presName="compNode" presStyleCnt="0"/>
      <dgm:spPr/>
    </dgm:pt>
    <dgm:pt modelId="{AF603483-2983-44DD-8E07-CCB29A304308}" type="pres">
      <dgm:prSet presAssocID="{9705C025-98F0-479D-ADF4-64B37BD1B0E6}"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Lock"/>
        </a:ext>
      </dgm:extLst>
    </dgm:pt>
    <dgm:pt modelId="{181FC2EF-A711-4CD0-AE5D-76EE0A7D7D8C}" type="pres">
      <dgm:prSet presAssocID="{9705C025-98F0-479D-ADF4-64B37BD1B0E6}" presName="iconSpace" presStyleCnt="0"/>
      <dgm:spPr/>
    </dgm:pt>
    <dgm:pt modelId="{517F605A-7761-4D88-BB50-93E9F5C815EA}" type="pres">
      <dgm:prSet presAssocID="{9705C025-98F0-479D-ADF4-64B37BD1B0E6}" presName="parTx" presStyleLbl="revTx" presStyleIdx="2" presStyleCnt="6">
        <dgm:presLayoutVars>
          <dgm:chMax val="0"/>
          <dgm:chPref val="0"/>
        </dgm:presLayoutVars>
      </dgm:prSet>
      <dgm:spPr/>
    </dgm:pt>
    <dgm:pt modelId="{D1708F9C-5088-49AB-B0C1-E636E2F330F0}" type="pres">
      <dgm:prSet presAssocID="{9705C025-98F0-479D-ADF4-64B37BD1B0E6}" presName="txSpace" presStyleCnt="0"/>
      <dgm:spPr/>
    </dgm:pt>
    <dgm:pt modelId="{96E6901E-0D6B-46EC-A5E0-971D96AC2DE8}" type="pres">
      <dgm:prSet presAssocID="{9705C025-98F0-479D-ADF4-64B37BD1B0E6}" presName="desTx" presStyleLbl="revTx" presStyleIdx="3" presStyleCnt="6">
        <dgm:presLayoutVars/>
      </dgm:prSet>
      <dgm:spPr/>
    </dgm:pt>
    <dgm:pt modelId="{E258D218-AD59-4A25-AAD6-03C204F70E27}" type="pres">
      <dgm:prSet presAssocID="{89FCC9EE-DEE0-4D61-8483-57342F649CAE}" presName="sibTrans" presStyleCnt="0"/>
      <dgm:spPr/>
    </dgm:pt>
    <dgm:pt modelId="{B1B9C684-2D17-4997-B2E4-486C47B8CDEF}" type="pres">
      <dgm:prSet presAssocID="{F65D502A-8D58-4737-9A1D-0C206FAA517F}" presName="compNode" presStyleCnt="0"/>
      <dgm:spPr/>
    </dgm:pt>
    <dgm:pt modelId="{C2DC4918-FB15-437C-A1C2-8BCD1C0DE656}" type="pres">
      <dgm:prSet presAssocID="{F65D502A-8D58-4737-9A1D-0C206FAA517F}"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Gavel"/>
        </a:ext>
      </dgm:extLst>
    </dgm:pt>
    <dgm:pt modelId="{64E82FDE-F182-4C8F-8E8C-AB48B14F2EF8}" type="pres">
      <dgm:prSet presAssocID="{F65D502A-8D58-4737-9A1D-0C206FAA517F}" presName="iconSpace" presStyleCnt="0"/>
      <dgm:spPr/>
    </dgm:pt>
    <dgm:pt modelId="{F8945D14-3AA8-4A0B-8902-20C9355AA7BD}" type="pres">
      <dgm:prSet presAssocID="{F65D502A-8D58-4737-9A1D-0C206FAA517F}" presName="parTx" presStyleLbl="revTx" presStyleIdx="4" presStyleCnt="6">
        <dgm:presLayoutVars>
          <dgm:chMax val="0"/>
          <dgm:chPref val="0"/>
        </dgm:presLayoutVars>
      </dgm:prSet>
      <dgm:spPr/>
    </dgm:pt>
    <dgm:pt modelId="{844639AA-CDC1-49BA-8AE8-25A4835CB668}" type="pres">
      <dgm:prSet presAssocID="{F65D502A-8D58-4737-9A1D-0C206FAA517F}" presName="txSpace" presStyleCnt="0"/>
      <dgm:spPr/>
    </dgm:pt>
    <dgm:pt modelId="{D73B72BE-5D9C-48C5-8307-23EAF7DEE611}" type="pres">
      <dgm:prSet presAssocID="{F65D502A-8D58-4737-9A1D-0C206FAA517F}" presName="desTx" presStyleLbl="revTx" presStyleIdx="5" presStyleCnt="6">
        <dgm:presLayoutVars/>
      </dgm:prSet>
      <dgm:spPr/>
    </dgm:pt>
  </dgm:ptLst>
  <dgm:cxnLst>
    <dgm:cxn modelId="{466DA000-1461-4AE2-9976-8BEF402A0369}" srcId="{6917648C-F669-4C79-A995-2F0E02E3FB72}" destId="{9705C025-98F0-479D-ADF4-64B37BD1B0E6}" srcOrd="1" destOrd="0" parTransId="{AB10647F-AB12-4515-8263-887A15E9D0CB}" sibTransId="{89FCC9EE-DEE0-4D61-8483-57342F649CAE}"/>
    <dgm:cxn modelId="{8AC4B400-7E79-4B47-9DA5-94AC5F4902FA}" srcId="{F65D502A-8D58-4737-9A1D-0C206FAA517F}" destId="{B421A5C9-1B6A-4443-BB3C-C3373ADD5EC9}" srcOrd="4" destOrd="0" parTransId="{DDA21F75-5026-4DF3-80F4-04AB0986F1C0}" sibTransId="{C71BC22E-F765-4D6E-B08F-89251C852B40}"/>
    <dgm:cxn modelId="{385DCF02-BD2A-472B-BFA0-32D312E9FB33}" type="presOf" srcId="{9705C025-98F0-479D-ADF4-64B37BD1B0E6}" destId="{517F605A-7761-4D88-BB50-93E9F5C815EA}" srcOrd="0" destOrd="0" presId="urn:microsoft.com/office/officeart/2018/2/layout/IconLabelDescriptionList"/>
    <dgm:cxn modelId="{CF475B15-9DBB-4ED9-80C3-A5959C04E052}" type="presOf" srcId="{D65DF3A1-F022-4BCD-A41A-689712A4075E}" destId="{BF7DB62E-686F-4529-B09A-9309822DEA2C}" srcOrd="0" destOrd="0" presId="urn:microsoft.com/office/officeart/2018/2/layout/IconLabelDescriptionList"/>
    <dgm:cxn modelId="{A0C53F22-F532-47FE-B5C0-37269D70ACFF}" type="presOf" srcId="{201C5CAF-8662-4C50-8BCC-2F28D4C67B04}" destId="{D73B72BE-5D9C-48C5-8307-23EAF7DEE611}" srcOrd="0" destOrd="0" presId="urn:microsoft.com/office/officeart/2018/2/layout/IconLabelDescriptionList"/>
    <dgm:cxn modelId="{7C16CC24-654A-4CAA-914E-42B742D1702A}" type="presOf" srcId="{5C1D0D15-5642-4568-868F-F43BF7B3C0B1}" destId="{D73B72BE-5D9C-48C5-8307-23EAF7DEE611}" srcOrd="0" destOrd="2" presId="urn:microsoft.com/office/officeart/2018/2/layout/IconLabelDescriptionList"/>
    <dgm:cxn modelId="{39A20E32-0D42-462B-9942-85004D975248}" type="presOf" srcId="{B421A5C9-1B6A-4443-BB3C-C3373ADD5EC9}" destId="{D73B72BE-5D9C-48C5-8307-23EAF7DEE611}" srcOrd="0" destOrd="4" presId="urn:microsoft.com/office/officeart/2018/2/layout/IconLabelDescriptionList"/>
    <dgm:cxn modelId="{FEC0464E-4EEF-44F9-A7B7-543719BA60B4}" srcId="{F65D502A-8D58-4737-9A1D-0C206FAA517F}" destId="{5C1D0D15-5642-4568-868F-F43BF7B3C0B1}" srcOrd="2" destOrd="0" parTransId="{7BAA395E-735F-4B6D-8A4F-920D6C3C7667}" sibTransId="{FF6BC8B6-20F4-4184-8EFC-B6A032E3D795}"/>
    <dgm:cxn modelId="{B2B45C6E-CE7B-4E65-9651-DC2FAE90D5D9}" type="presOf" srcId="{1A78ECCE-D4BB-4EBA-B372-8D03193ED4B7}" destId="{D73B72BE-5D9C-48C5-8307-23EAF7DEE611}" srcOrd="0" destOrd="3" presId="urn:microsoft.com/office/officeart/2018/2/layout/IconLabelDescriptionList"/>
    <dgm:cxn modelId="{9E46CC90-A356-4279-8FA3-54CA745A2BF9}" type="presOf" srcId="{F32E0B90-A65F-4152-8EF7-2D195D6BCA87}" destId="{D73B72BE-5D9C-48C5-8307-23EAF7DEE611}" srcOrd="0" destOrd="1" presId="urn:microsoft.com/office/officeart/2018/2/layout/IconLabelDescriptionList"/>
    <dgm:cxn modelId="{6D231398-D538-4B33-9C59-56676C358240}" srcId="{F65D502A-8D58-4737-9A1D-0C206FAA517F}" destId="{F32E0B90-A65F-4152-8EF7-2D195D6BCA87}" srcOrd="1" destOrd="0" parTransId="{74DCAC03-6CED-42C1-9B27-B2A49386A739}" sibTransId="{CFD67B9A-E674-476A-9A24-5CACADF4484A}"/>
    <dgm:cxn modelId="{6D04339A-DCCF-49AA-85CB-A37C8BD6DC25}" srcId="{F65D502A-8D58-4737-9A1D-0C206FAA517F}" destId="{1A78ECCE-D4BB-4EBA-B372-8D03193ED4B7}" srcOrd="3" destOrd="0" parTransId="{F3B8960F-3A5E-4638-9BB6-EE030D4EEB74}" sibTransId="{AA36AB42-8F4F-43B7-972A-59062CCFE770}"/>
    <dgm:cxn modelId="{D4DBE5C5-EE5B-4BCF-9F9A-FF4CB09CDC76}" srcId="{F65D502A-8D58-4737-9A1D-0C206FAA517F}" destId="{201C5CAF-8662-4C50-8BCC-2F28D4C67B04}" srcOrd="0" destOrd="0" parTransId="{0D8A0183-E304-458B-AF73-EB43ECA64812}" sibTransId="{BA281148-D1DC-4125-AC2A-04B1F26CFC0A}"/>
    <dgm:cxn modelId="{D4D0D2D2-3723-42E8-A7D1-F2CAF11E42CE}" srcId="{6917648C-F669-4C79-A995-2F0E02E3FB72}" destId="{F65D502A-8D58-4737-9A1D-0C206FAA517F}" srcOrd="2" destOrd="0" parTransId="{FF690992-C6E4-4978-8892-50E1D2046B74}" sibTransId="{9C5ED690-BC5B-4019-8E62-A421398978DE}"/>
    <dgm:cxn modelId="{51A189DC-675D-4F68-9080-EB264DF0A4DC}" type="presOf" srcId="{F65D502A-8D58-4737-9A1D-0C206FAA517F}" destId="{F8945D14-3AA8-4A0B-8902-20C9355AA7BD}" srcOrd="0" destOrd="0" presId="urn:microsoft.com/office/officeart/2018/2/layout/IconLabelDescriptionList"/>
    <dgm:cxn modelId="{BB51F1E2-3299-4844-A2AB-B6E4899DD3E7}" type="presOf" srcId="{6917648C-F669-4C79-A995-2F0E02E3FB72}" destId="{A776FF67-B851-4F1A-9426-794403E4CE88}" srcOrd="0" destOrd="0" presId="urn:microsoft.com/office/officeart/2018/2/layout/IconLabelDescriptionList"/>
    <dgm:cxn modelId="{8A38CAE6-CCB0-4D5A-9BCF-09B5071ECD78}" srcId="{6917648C-F669-4C79-A995-2F0E02E3FB72}" destId="{D65DF3A1-F022-4BCD-A41A-689712A4075E}" srcOrd="0" destOrd="0" parTransId="{43132E43-D9C4-4AAA-9946-CC1A4FBDC981}" sibTransId="{9736BE4A-E78D-4A7A-8F88-17AA272F1B66}"/>
    <dgm:cxn modelId="{7B20A50B-865C-4D3B-AA2F-AB78A845C7F3}" type="presParOf" srcId="{A776FF67-B851-4F1A-9426-794403E4CE88}" destId="{4D6B0D93-C75A-4554-A75C-DE0A6795728D}" srcOrd="0" destOrd="0" presId="urn:microsoft.com/office/officeart/2018/2/layout/IconLabelDescriptionList"/>
    <dgm:cxn modelId="{5DCBBE79-F680-4258-9A8D-D85B4F43732D}" type="presParOf" srcId="{4D6B0D93-C75A-4554-A75C-DE0A6795728D}" destId="{78820750-AB84-43A7-AF2F-9EFF0FDB2D40}" srcOrd="0" destOrd="0" presId="urn:microsoft.com/office/officeart/2018/2/layout/IconLabelDescriptionList"/>
    <dgm:cxn modelId="{37E1037E-915F-4E39-8832-ADE7F8064A2F}" type="presParOf" srcId="{4D6B0D93-C75A-4554-A75C-DE0A6795728D}" destId="{E5B12579-7B9F-4B0C-88F4-AC525588AD3F}" srcOrd="1" destOrd="0" presId="urn:microsoft.com/office/officeart/2018/2/layout/IconLabelDescriptionList"/>
    <dgm:cxn modelId="{F33938D6-5EFC-4CA3-A5D0-70DE068B56D7}" type="presParOf" srcId="{4D6B0D93-C75A-4554-A75C-DE0A6795728D}" destId="{BF7DB62E-686F-4529-B09A-9309822DEA2C}" srcOrd="2" destOrd="0" presId="urn:microsoft.com/office/officeart/2018/2/layout/IconLabelDescriptionList"/>
    <dgm:cxn modelId="{C1BBD667-512F-4601-95B8-6D08D0AA6384}" type="presParOf" srcId="{4D6B0D93-C75A-4554-A75C-DE0A6795728D}" destId="{BD60EA65-938D-4717-A48C-566AA3F4419F}" srcOrd="3" destOrd="0" presId="urn:microsoft.com/office/officeart/2018/2/layout/IconLabelDescriptionList"/>
    <dgm:cxn modelId="{F168ED81-D3B7-4AAE-83A3-AB31627A3C7F}" type="presParOf" srcId="{4D6B0D93-C75A-4554-A75C-DE0A6795728D}" destId="{D5E0E63B-0E45-4837-B65F-650CE9915764}" srcOrd="4" destOrd="0" presId="urn:microsoft.com/office/officeart/2018/2/layout/IconLabelDescriptionList"/>
    <dgm:cxn modelId="{29B60E2C-5F70-40F5-A340-69BA0DBDADDE}" type="presParOf" srcId="{A776FF67-B851-4F1A-9426-794403E4CE88}" destId="{BCC9BB68-488C-4AA6-B70B-670DAB2C75BF}" srcOrd="1" destOrd="0" presId="urn:microsoft.com/office/officeart/2018/2/layout/IconLabelDescriptionList"/>
    <dgm:cxn modelId="{5BD40892-EF9B-4656-9C62-A523CF0F423A}" type="presParOf" srcId="{A776FF67-B851-4F1A-9426-794403E4CE88}" destId="{E33F13C3-90B9-48F0-8626-DF7CE04BFA87}" srcOrd="2" destOrd="0" presId="urn:microsoft.com/office/officeart/2018/2/layout/IconLabelDescriptionList"/>
    <dgm:cxn modelId="{14EAAF44-99CC-4D32-B9B5-BD1B944388A9}" type="presParOf" srcId="{E33F13C3-90B9-48F0-8626-DF7CE04BFA87}" destId="{AF603483-2983-44DD-8E07-CCB29A304308}" srcOrd="0" destOrd="0" presId="urn:microsoft.com/office/officeart/2018/2/layout/IconLabelDescriptionList"/>
    <dgm:cxn modelId="{C623DCCD-38DD-424E-B5E3-445941FA182A}" type="presParOf" srcId="{E33F13C3-90B9-48F0-8626-DF7CE04BFA87}" destId="{181FC2EF-A711-4CD0-AE5D-76EE0A7D7D8C}" srcOrd="1" destOrd="0" presId="urn:microsoft.com/office/officeart/2018/2/layout/IconLabelDescriptionList"/>
    <dgm:cxn modelId="{BE550EB3-5F83-4909-89B2-33BEBD1A18BC}" type="presParOf" srcId="{E33F13C3-90B9-48F0-8626-DF7CE04BFA87}" destId="{517F605A-7761-4D88-BB50-93E9F5C815EA}" srcOrd="2" destOrd="0" presId="urn:microsoft.com/office/officeart/2018/2/layout/IconLabelDescriptionList"/>
    <dgm:cxn modelId="{B8828073-28EE-428F-8C76-FEFC17CA8671}" type="presParOf" srcId="{E33F13C3-90B9-48F0-8626-DF7CE04BFA87}" destId="{D1708F9C-5088-49AB-B0C1-E636E2F330F0}" srcOrd="3" destOrd="0" presId="urn:microsoft.com/office/officeart/2018/2/layout/IconLabelDescriptionList"/>
    <dgm:cxn modelId="{906D7966-9AC1-44C7-89CA-055F076B3D46}" type="presParOf" srcId="{E33F13C3-90B9-48F0-8626-DF7CE04BFA87}" destId="{96E6901E-0D6B-46EC-A5E0-971D96AC2DE8}" srcOrd="4" destOrd="0" presId="urn:microsoft.com/office/officeart/2018/2/layout/IconLabelDescriptionList"/>
    <dgm:cxn modelId="{8B731326-2C6C-4DA5-9A54-E302A24E6FA4}" type="presParOf" srcId="{A776FF67-B851-4F1A-9426-794403E4CE88}" destId="{E258D218-AD59-4A25-AAD6-03C204F70E27}" srcOrd="3" destOrd="0" presId="urn:microsoft.com/office/officeart/2018/2/layout/IconLabelDescriptionList"/>
    <dgm:cxn modelId="{D1D3F45E-3EFF-4047-81A1-37FC0409D329}" type="presParOf" srcId="{A776FF67-B851-4F1A-9426-794403E4CE88}" destId="{B1B9C684-2D17-4997-B2E4-486C47B8CDEF}" srcOrd="4" destOrd="0" presId="urn:microsoft.com/office/officeart/2018/2/layout/IconLabelDescriptionList"/>
    <dgm:cxn modelId="{28123D02-E20B-4EE7-AA7F-14E309CD5680}" type="presParOf" srcId="{B1B9C684-2D17-4997-B2E4-486C47B8CDEF}" destId="{C2DC4918-FB15-437C-A1C2-8BCD1C0DE656}" srcOrd="0" destOrd="0" presId="urn:microsoft.com/office/officeart/2018/2/layout/IconLabelDescriptionList"/>
    <dgm:cxn modelId="{30C92768-5870-44BB-8F79-B54C1DF17CC3}" type="presParOf" srcId="{B1B9C684-2D17-4997-B2E4-486C47B8CDEF}" destId="{64E82FDE-F182-4C8F-8E8C-AB48B14F2EF8}" srcOrd="1" destOrd="0" presId="urn:microsoft.com/office/officeart/2018/2/layout/IconLabelDescriptionList"/>
    <dgm:cxn modelId="{80D10495-FE04-4438-8618-D34D94E5DDD0}" type="presParOf" srcId="{B1B9C684-2D17-4997-B2E4-486C47B8CDEF}" destId="{F8945D14-3AA8-4A0B-8902-20C9355AA7BD}" srcOrd="2" destOrd="0" presId="urn:microsoft.com/office/officeart/2018/2/layout/IconLabelDescriptionList"/>
    <dgm:cxn modelId="{5B42F193-D321-468A-BE78-F8DCC9B1BE5A}" type="presParOf" srcId="{B1B9C684-2D17-4997-B2E4-486C47B8CDEF}" destId="{844639AA-CDC1-49BA-8AE8-25A4835CB668}" srcOrd="3" destOrd="0" presId="urn:microsoft.com/office/officeart/2018/2/layout/IconLabelDescriptionList"/>
    <dgm:cxn modelId="{49704638-335C-4208-A331-106079C3D071}" type="presParOf" srcId="{B1B9C684-2D17-4997-B2E4-486C47B8CDEF}" destId="{D73B72BE-5D9C-48C5-8307-23EAF7DEE611}"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C441F78-AAFE-4858-95BB-A78655E779BD}"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450AD3A0-F1A3-4886-AB2D-F0378C927A8A}">
      <dgm:prSet/>
      <dgm:spPr/>
      <dgm:t>
        <a:bodyPr/>
        <a:lstStyle/>
        <a:p>
          <a:r>
            <a:rPr lang="en-US"/>
            <a:t>Usability is concerned with how easy it is for the user to accomplish a desired task and the kind of user support the system provides. </a:t>
          </a:r>
        </a:p>
      </dgm:t>
    </dgm:pt>
    <dgm:pt modelId="{6C51DCF2-0D94-4CE8-95AE-1342C711737D}" type="parTrans" cxnId="{2AF4BC4D-EE24-4D16-B968-5A1E1A81F86D}">
      <dgm:prSet/>
      <dgm:spPr/>
      <dgm:t>
        <a:bodyPr/>
        <a:lstStyle/>
        <a:p>
          <a:endParaRPr lang="en-US"/>
        </a:p>
      </dgm:t>
    </dgm:pt>
    <dgm:pt modelId="{625B2471-108F-41DD-831C-E7CD816DFCB1}" type="sibTrans" cxnId="{2AF4BC4D-EE24-4D16-B968-5A1E1A81F86D}">
      <dgm:prSet/>
      <dgm:spPr/>
      <dgm:t>
        <a:bodyPr/>
        <a:lstStyle/>
        <a:p>
          <a:endParaRPr lang="en-US"/>
        </a:p>
      </dgm:t>
    </dgm:pt>
    <dgm:pt modelId="{7DD7F091-6F24-435C-9B59-409B542BDB24}">
      <dgm:prSet/>
      <dgm:spPr/>
      <dgm:t>
        <a:bodyPr/>
        <a:lstStyle/>
        <a:p>
          <a:r>
            <a:rPr lang="en-US"/>
            <a:t>Over the years, a focus on usability has shown itself to be one of the cheapest and easiest ways to improve a system’s quality (or, more precisely, the user’s </a:t>
          </a:r>
          <a:r>
            <a:rPr lang="en-US" i="1"/>
            <a:t>perception</a:t>
          </a:r>
          <a:r>
            <a:rPr lang="en-US"/>
            <a:t> of quality). </a:t>
          </a:r>
        </a:p>
      </dgm:t>
    </dgm:pt>
    <dgm:pt modelId="{25F20492-D7CA-4DE9-9EE2-3D612F5CE4D9}" type="parTrans" cxnId="{BDC5EA44-BFED-424A-BF57-E14F4A4A3C78}">
      <dgm:prSet/>
      <dgm:spPr/>
      <dgm:t>
        <a:bodyPr/>
        <a:lstStyle/>
        <a:p>
          <a:endParaRPr lang="en-US"/>
        </a:p>
      </dgm:t>
    </dgm:pt>
    <dgm:pt modelId="{C54CE9E0-C08C-4456-BA1C-4FC129B0BDF0}" type="sibTrans" cxnId="{BDC5EA44-BFED-424A-BF57-E14F4A4A3C78}">
      <dgm:prSet/>
      <dgm:spPr/>
      <dgm:t>
        <a:bodyPr/>
        <a:lstStyle/>
        <a:p>
          <a:endParaRPr lang="en-US"/>
        </a:p>
      </dgm:t>
    </dgm:pt>
    <dgm:pt modelId="{F9358DB2-5E86-4981-89CD-F8D979005226}" type="pres">
      <dgm:prSet presAssocID="{EC441F78-AAFE-4858-95BB-A78655E779BD}" presName="hierChild1" presStyleCnt="0">
        <dgm:presLayoutVars>
          <dgm:chPref val="1"/>
          <dgm:dir/>
          <dgm:animOne val="branch"/>
          <dgm:animLvl val="lvl"/>
          <dgm:resizeHandles/>
        </dgm:presLayoutVars>
      </dgm:prSet>
      <dgm:spPr/>
    </dgm:pt>
    <dgm:pt modelId="{405BAE96-21BE-4120-9F14-81349FCD82F0}" type="pres">
      <dgm:prSet presAssocID="{450AD3A0-F1A3-4886-AB2D-F0378C927A8A}" presName="hierRoot1" presStyleCnt="0"/>
      <dgm:spPr/>
    </dgm:pt>
    <dgm:pt modelId="{033A61F0-A8DA-4F99-B4E2-1341F45B01E3}" type="pres">
      <dgm:prSet presAssocID="{450AD3A0-F1A3-4886-AB2D-F0378C927A8A}" presName="composite" presStyleCnt="0"/>
      <dgm:spPr/>
    </dgm:pt>
    <dgm:pt modelId="{BE2BEB89-E149-45EF-AB9A-D05778A7D0A5}" type="pres">
      <dgm:prSet presAssocID="{450AD3A0-F1A3-4886-AB2D-F0378C927A8A}" presName="background" presStyleLbl="node0" presStyleIdx="0" presStyleCnt="2"/>
      <dgm:spPr/>
    </dgm:pt>
    <dgm:pt modelId="{17702D73-A31D-40E2-BABF-308C1B7613E9}" type="pres">
      <dgm:prSet presAssocID="{450AD3A0-F1A3-4886-AB2D-F0378C927A8A}" presName="text" presStyleLbl="fgAcc0" presStyleIdx="0" presStyleCnt="2">
        <dgm:presLayoutVars>
          <dgm:chPref val="3"/>
        </dgm:presLayoutVars>
      </dgm:prSet>
      <dgm:spPr/>
    </dgm:pt>
    <dgm:pt modelId="{19861C86-EF0A-4445-849A-7DEF0381F48D}" type="pres">
      <dgm:prSet presAssocID="{450AD3A0-F1A3-4886-AB2D-F0378C927A8A}" presName="hierChild2" presStyleCnt="0"/>
      <dgm:spPr/>
    </dgm:pt>
    <dgm:pt modelId="{C0D5446F-2AF0-481A-A34D-C0D5A46A93F6}" type="pres">
      <dgm:prSet presAssocID="{7DD7F091-6F24-435C-9B59-409B542BDB24}" presName="hierRoot1" presStyleCnt="0"/>
      <dgm:spPr/>
    </dgm:pt>
    <dgm:pt modelId="{2F729EA5-4098-45EA-AD11-CC9F4544C3C5}" type="pres">
      <dgm:prSet presAssocID="{7DD7F091-6F24-435C-9B59-409B542BDB24}" presName="composite" presStyleCnt="0"/>
      <dgm:spPr/>
    </dgm:pt>
    <dgm:pt modelId="{5B1795CD-B29A-4BE1-A0F1-2A2AC55DD926}" type="pres">
      <dgm:prSet presAssocID="{7DD7F091-6F24-435C-9B59-409B542BDB24}" presName="background" presStyleLbl="node0" presStyleIdx="1" presStyleCnt="2"/>
      <dgm:spPr/>
    </dgm:pt>
    <dgm:pt modelId="{BCFB94E9-D809-4442-A012-157DFBDCD620}" type="pres">
      <dgm:prSet presAssocID="{7DD7F091-6F24-435C-9B59-409B542BDB24}" presName="text" presStyleLbl="fgAcc0" presStyleIdx="1" presStyleCnt="2">
        <dgm:presLayoutVars>
          <dgm:chPref val="3"/>
        </dgm:presLayoutVars>
      </dgm:prSet>
      <dgm:spPr/>
    </dgm:pt>
    <dgm:pt modelId="{9881EA36-5470-4FA4-ABD6-9CE8F587A558}" type="pres">
      <dgm:prSet presAssocID="{7DD7F091-6F24-435C-9B59-409B542BDB24}" presName="hierChild2" presStyleCnt="0"/>
      <dgm:spPr/>
    </dgm:pt>
  </dgm:ptLst>
  <dgm:cxnLst>
    <dgm:cxn modelId="{BDC5EA44-BFED-424A-BF57-E14F4A4A3C78}" srcId="{EC441F78-AAFE-4858-95BB-A78655E779BD}" destId="{7DD7F091-6F24-435C-9B59-409B542BDB24}" srcOrd="1" destOrd="0" parTransId="{25F20492-D7CA-4DE9-9EE2-3D612F5CE4D9}" sibTransId="{C54CE9E0-C08C-4456-BA1C-4FC129B0BDF0}"/>
    <dgm:cxn modelId="{2AF4BC4D-EE24-4D16-B968-5A1E1A81F86D}" srcId="{EC441F78-AAFE-4858-95BB-A78655E779BD}" destId="{450AD3A0-F1A3-4886-AB2D-F0378C927A8A}" srcOrd="0" destOrd="0" parTransId="{6C51DCF2-0D94-4CE8-95AE-1342C711737D}" sibTransId="{625B2471-108F-41DD-831C-E7CD816DFCB1}"/>
    <dgm:cxn modelId="{832A8B8F-A20F-4851-A56D-7A45778DB02B}" type="presOf" srcId="{EC441F78-AAFE-4858-95BB-A78655E779BD}" destId="{F9358DB2-5E86-4981-89CD-F8D979005226}" srcOrd="0" destOrd="0" presId="urn:microsoft.com/office/officeart/2005/8/layout/hierarchy1"/>
    <dgm:cxn modelId="{72A02E99-14CC-480C-8F6C-0F396CC5510C}" type="presOf" srcId="{450AD3A0-F1A3-4886-AB2D-F0378C927A8A}" destId="{17702D73-A31D-40E2-BABF-308C1B7613E9}" srcOrd="0" destOrd="0" presId="urn:microsoft.com/office/officeart/2005/8/layout/hierarchy1"/>
    <dgm:cxn modelId="{9F271EFE-F045-4CAE-A865-D3F7EC310787}" type="presOf" srcId="{7DD7F091-6F24-435C-9B59-409B542BDB24}" destId="{BCFB94E9-D809-4442-A012-157DFBDCD620}" srcOrd="0" destOrd="0" presId="urn:microsoft.com/office/officeart/2005/8/layout/hierarchy1"/>
    <dgm:cxn modelId="{76448743-B44D-4D14-9F0B-4BB7F2DB9BFF}" type="presParOf" srcId="{F9358DB2-5E86-4981-89CD-F8D979005226}" destId="{405BAE96-21BE-4120-9F14-81349FCD82F0}" srcOrd="0" destOrd="0" presId="urn:microsoft.com/office/officeart/2005/8/layout/hierarchy1"/>
    <dgm:cxn modelId="{7F50B6A8-14CF-4628-BBE8-8D4BFFCFD48B}" type="presParOf" srcId="{405BAE96-21BE-4120-9F14-81349FCD82F0}" destId="{033A61F0-A8DA-4F99-B4E2-1341F45B01E3}" srcOrd="0" destOrd="0" presId="urn:microsoft.com/office/officeart/2005/8/layout/hierarchy1"/>
    <dgm:cxn modelId="{7BCD8167-4353-448C-A619-72E1E3F91D17}" type="presParOf" srcId="{033A61F0-A8DA-4F99-B4E2-1341F45B01E3}" destId="{BE2BEB89-E149-45EF-AB9A-D05778A7D0A5}" srcOrd="0" destOrd="0" presId="urn:microsoft.com/office/officeart/2005/8/layout/hierarchy1"/>
    <dgm:cxn modelId="{80BF0EC5-3A77-4A11-9108-4B4DE2FEF22F}" type="presParOf" srcId="{033A61F0-A8DA-4F99-B4E2-1341F45B01E3}" destId="{17702D73-A31D-40E2-BABF-308C1B7613E9}" srcOrd="1" destOrd="0" presId="urn:microsoft.com/office/officeart/2005/8/layout/hierarchy1"/>
    <dgm:cxn modelId="{25A3DB86-D991-4DA6-A7E5-908EEF6E7F25}" type="presParOf" srcId="{405BAE96-21BE-4120-9F14-81349FCD82F0}" destId="{19861C86-EF0A-4445-849A-7DEF0381F48D}" srcOrd="1" destOrd="0" presId="urn:microsoft.com/office/officeart/2005/8/layout/hierarchy1"/>
    <dgm:cxn modelId="{9C846534-02AA-4F9B-B301-292E4BB1D1A4}" type="presParOf" srcId="{F9358DB2-5E86-4981-89CD-F8D979005226}" destId="{C0D5446F-2AF0-481A-A34D-C0D5A46A93F6}" srcOrd="1" destOrd="0" presId="urn:microsoft.com/office/officeart/2005/8/layout/hierarchy1"/>
    <dgm:cxn modelId="{CC8D4C3A-003B-4AA6-95EA-327ECD80E289}" type="presParOf" srcId="{C0D5446F-2AF0-481A-A34D-C0D5A46A93F6}" destId="{2F729EA5-4098-45EA-AD11-CC9F4544C3C5}" srcOrd="0" destOrd="0" presId="urn:microsoft.com/office/officeart/2005/8/layout/hierarchy1"/>
    <dgm:cxn modelId="{FE07C1DB-BEE2-44A7-AA87-E0E4B46A4837}" type="presParOf" srcId="{2F729EA5-4098-45EA-AD11-CC9F4544C3C5}" destId="{5B1795CD-B29A-4BE1-A0F1-2A2AC55DD926}" srcOrd="0" destOrd="0" presId="urn:microsoft.com/office/officeart/2005/8/layout/hierarchy1"/>
    <dgm:cxn modelId="{6D96EF58-4A5F-494C-B791-536145038DDE}" type="presParOf" srcId="{2F729EA5-4098-45EA-AD11-CC9F4544C3C5}" destId="{BCFB94E9-D809-4442-A012-157DFBDCD620}" srcOrd="1" destOrd="0" presId="urn:microsoft.com/office/officeart/2005/8/layout/hierarchy1"/>
    <dgm:cxn modelId="{6C49D8D9-9163-4EE6-BF3A-DBF57A3224AD}" type="presParOf" srcId="{C0D5446F-2AF0-481A-A34D-C0D5A46A93F6}" destId="{9881EA36-5470-4FA4-ABD6-9CE8F587A558}"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820750-AB84-43A7-AF2F-9EFF0FDB2D40}">
      <dsp:nvSpPr>
        <dsp:cNvPr id="0" name=""/>
        <dsp:cNvSpPr/>
      </dsp:nvSpPr>
      <dsp:spPr>
        <a:xfrm>
          <a:off x="1582" y="272723"/>
          <a:ext cx="1141382" cy="114138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F7DB62E-686F-4529-B09A-9309822DEA2C}">
      <dsp:nvSpPr>
        <dsp:cNvPr id="0" name=""/>
        <dsp:cNvSpPr/>
      </dsp:nvSpPr>
      <dsp:spPr>
        <a:xfrm>
          <a:off x="1582" y="1570942"/>
          <a:ext cx="3261093" cy="6731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defRPr b="1"/>
          </a:pPr>
          <a:r>
            <a:rPr lang="en-US" sz="2000" kern="1200" dirty="0"/>
            <a:t>The business needs differs from one context to another</a:t>
          </a:r>
        </a:p>
      </dsp:txBody>
      <dsp:txXfrm>
        <a:off x="1582" y="1570942"/>
        <a:ext cx="3261093" cy="673136"/>
      </dsp:txXfrm>
    </dsp:sp>
    <dsp:sp modelId="{D5E0E63B-0E45-4837-B65F-650CE9915764}">
      <dsp:nvSpPr>
        <dsp:cNvPr id="0" name=""/>
        <dsp:cNvSpPr/>
      </dsp:nvSpPr>
      <dsp:spPr>
        <a:xfrm>
          <a:off x="1582" y="2317026"/>
          <a:ext cx="3261093" cy="1603055"/>
        </a:xfrm>
        <a:prstGeom prst="rect">
          <a:avLst/>
        </a:prstGeom>
        <a:noFill/>
        <a:ln>
          <a:noFill/>
        </a:ln>
        <a:effectLst/>
      </dsp:spPr>
      <dsp:style>
        <a:lnRef idx="0">
          <a:scrgbClr r="0" g="0" b="0"/>
        </a:lnRef>
        <a:fillRef idx="0">
          <a:scrgbClr r="0" g="0" b="0"/>
        </a:fillRef>
        <a:effectRef idx="0">
          <a:scrgbClr r="0" g="0" b="0"/>
        </a:effectRef>
        <a:fontRef idx="minor"/>
      </dsp:style>
    </dsp:sp>
    <dsp:sp modelId="{AF603483-2983-44DD-8E07-CCB29A304308}">
      <dsp:nvSpPr>
        <dsp:cNvPr id="0" name=""/>
        <dsp:cNvSpPr/>
      </dsp:nvSpPr>
      <dsp:spPr>
        <a:xfrm>
          <a:off x="3833367" y="272723"/>
          <a:ext cx="1141382" cy="114138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17F605A-7761-4D88-BB50-93E9F5C815EA}">
      <dsp:nvSpPr>
        <dsp:cNvPr id="0" name=""/>
        <dsp:cNvSpPr/>
      </dsp:nvSpPr>
      <dsp:spPr>
        <a:xfrm>
          <a:off x="3833367" y="1570942"/>
          <a:ext cx="3261093" cy="6731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90000"/>
            </a:lnSpc>
            <a:spcBef>
              <a:spcPct val="0"/>
            </a:spcBef>
            <a:spcAft>
              <a:spcPct val="35000"/>
            </a:spcAft>
            <a:buNone/>
            <a:defRPr b="1"/>
          </a:pPr>
          <a:r>
            <a:rPr lang="en-US" sz="2400" kern="1200" dirty="0"/>
            <a:t>Organizations have assets they need to protect</a:t>
          </a:r>
        </a:p>
      </dsp:txBody>
      <dsp:txXfrm>
        <a:off x="3833367" y="1570942"/>
        <a:ext cx="3261093" cy="673136"/>
      </dsp:txXfrm>
    </dsp:sp>
    <dsp:sp modelId="{96E6901E-0D6B-46EC-A5E0-971D96AC2DE8}">
      <dsp:nvSpPr>
        <dsp:cNvPr id="0" name=""/>
        <dsp:cNvSpPr/>
      </dsp:nvSpPr>
      <dsp:spPr>
        <a:xfrm>
          <a:off x="3833367" y="2317026"/>
          <a:ext cx="3261093" cy="1603055"/>
        </a:xfrm>
        <a:prstGeom prst="rect">
          <a:avLst/>
        </a:prstGeom>
        <a:noFill/>
        <a:ln>
          <a:noFill/>
        </a:ln>
        <a:effectLst/>
      </dsp:spPr>
      <dsp:style>
        <a:lnRef idx="0">
          <a:scrgbClr r="0" g="0" b="0"/>
        </a:lnRef>
        <a:fillRef idx="0">
          <a:scrgbClr r="0" g="0" b="0"/>
        </a:fillRef>
        <a:effectRef idx="0">
          <a:scrgbClr r="0" g="0" b="0"/>
        </a:effectRef>
        <a:fontRef idx="minor"/>
      </dsp:style>
    </dsp:sp>
    <dsp:sp modelId="{C2DC4918-FB15-437C-A1C2-8BCD1C0DE656}">
      <dsp:nvSpPr>
        <dsp:cNvPr id="0" name=""/>
        <dsp:cNvSpPr/>
      </dsp:nvSpPr>
      <dsp:spPr>
        <a:xfrm>
          <a:off x="7665152" y="272723"/>
          <a:ext cx="1141382" cy="114138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8945D14-3AA8-4A0B-8902-20C9355AA7BD}">
      <dsp:nvSpPr>
        <dsp:cNvPr id="0" name=""/>
        <dsp:cNvSpPr/>
      </dsp:nvSpPr>
      <dsp:spPr>
        <a:xfrm>
          <a:off x="7665152" y="1570942"/>
          <a:ext cx="3261093" cy="6731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77900">
            <a:lnSpc>
              <a:spcPct val="90000"/>
            </a:lnSpc>
            <a:spcBef>
              <a:spcPct val="0"/>
            </a:spcBef>
            <a:spcAft>
              <a:spcPct val="35000"/>
            </a:spcAft>
            <a:buNone/>
            <a:defRPr b="1"/>
          </a:pPr>
          <a:r>
            <a:rPr lang="en-US" sz="2200" kern="1200" dirty="0"/>
            <a:t>They need to protect these assets for different reasons</a:t>
          </a:r>
        </a:p>
      </dsp:txBody>
      <dsp:txXfrm>
        <a:off x="7665152" y="1570942"/>
        <a:ext cx="3261093" cy="673136"/>
      </dsp:txXfrm>
    </dsp:sp>
    <dsp:sp modelId="{D73B72BE-5D9C-48C5-8307-23EAF7DEE611}">
      <dsp:nvSpPr>
        <dsp:cNvPr id="0" name=""/>
        <dsp:cNvSpPr/>
      </dsp:nvSpPr>
      <dsp:spPr>
        <a:xfrm>
          <a:off x="7665152" y="2317026"/>
          <a:ext cx="3261093" cy="16030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US" sz="1700" kern="1200"/>
            <a:t>Business continuity</a:t>
          </a:r>
        </a:p>
        <a:p>
          <a:pPr marL="0" lvl="0" indent="0" algn="l" defTabSz="755650">
            <a:lnSpc>
              <a:spcPct val="90000"/>
            </a:lnSpc>
            <a:spcBef>
              <a:spcPct val="0"/>
            </a:spcBef>
            <a:spcAft>
              <a:spcPct val="35000"/>
            </a:spcAft>
            <a:buNone/>
          </a:pPr>
          <a:r>
            <a:rPr lang="en-US" sz="1700" kern="1200" dirty="0"/>
            <a:t>Liability reasons</a:t>
          </a:r>
        </a:p>
        <a:p>
          <a:pPr marL="0" lvl="0" indent="0" algn="l" defTabSz="755650">
            <a:lnSpc>
              <a:spcPct val="90000"/>
            </a:lnSpc>
            <a:spcBef>
              <a:spcPct val="0"/>
            </a:spcBef>
            <a:spcAft>
              <a:spcPct val="35000"/>
            </a:spcAft>
            <a:buNone/>
          </a:pPr>
          <a:r>
            <a:rPr lang="en-US" sz="1700" kern="1200"/>
            <a:t>Regulation</a:t>
          </a:r>
        </a:p>
        <a:p>
          <a:pPr marL="0" lvl="0" indent="0" algn="l" defTabSz="755650">
            <a:lnSpc>
              <a:spcPct val="90000"/>
            </a:lnSpc>
            <a:spcBef>
              <a:spcPct val="0"/>
            </a:spcBef>
            <a:spcAft>
              <a:spcPct val="35000"/>
            </a:spcAft>
            <a:buNone/>
          </a:pPr>
          <a:r>
            <a:rPr lang="en-US" sz="1700" kern="1200"/>
            <a:t>Protection of IP</a:t>
          </a:r>
        </a:p>
        <a:p>
          <a:pPr marL="0" lvl="0" indent="0" algn="l" defTabSz="755650">
            <a:lnSpc>
              <a:spcPct val="90000"/>
            </a:lnSpc>
            <a:spcBef>
              <a:spcPct val="0"/>
            </a:spcBef>
            <a:spcAft>
              <a:spcPct val="35000"/>
            </a:spcAft>
            <a:buNone/>
          </a:pPr>
          <a:r>
            <a:rPr lang="en-US" sz="1700" kern="1200"/>
            <a:t>…</a:t>
          </a:r>
        </a:p>
      </dsp:txBody>
      <dsp:txXfrm>
        <a:off x="7665152" y="2317026"/>
        <a:ext cx="3261093" cy="16030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E2BEB89-E149-45EF-AB9A-D05778A7D0A5}">
      <dsp:nvSpPr>
        <dsp:cNvPr id="0" name=""/>
        <dsp:cNvSpPr/>
      </dsp:nvSpPr>
      <dsp:spPr>
        <a:xfrm>
          <a:off x="1320" y="150224"/>
          <a:ext cx="4636182" cy="294397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7702D73-A31D-40E2-BABF-308C1B7613E9}">
      <dsp:nvSpPr>
        <dsp:cNvPr id="0" name=""/>
        <dsp:cNvSpPr/>
      </dsp:nvSpPr>
      <dsp:spPr>
        <a:xfrm>
          <a:off x="516452" y="639599"/>
          <a:ext cx="4636182" cy="294397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Usability is concerned with how easy it is for the user to accomplish a desired task and the kind of user support the system provides. </a:t>
          </a:r>
        </a:p>
      </dsp:txBody>
      <dsp:txXfrm>
        <a:off x="602678" y="725825"/>
        <a:ext cx="4463730" cy="2771523"/>
      </dsp:txXfrm>
    </dsp:sp>
    <dsp:sp modelId="{5B1795CD-B29A-4BE1-A0F1-2A2AC55DD926}">
      <dsp:nvSpPr>
        <dsp:cNvPr id="0" name=""/>
        <dsp:cNvSpPr/>
      </dsp:nvSpPr>
      <dsp:spPr>
        <a:xfrm>
          <a:off x="5667765" y="150224"/>
          <a:ext cx="4636182" cy="294397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CFB94E9-D809-4442-A012-157DFBDCD620}">
      <dsp:nvSpPr>
        <dsp:cNvPr id="0" name=""/>
        <dsp:cNvSpPr/>
      </dsp:nvSpPr>
      <dsp:spPr>
        <a:xfrm>
          <a:off x="6182897" y="639599"/>
          <a:ext cx="4636182" cy="294397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Over the years, a focus on usability has shown itself to be one of the cheapest and easiest ways to improve a system’s quality (or, more precisely, the user’s </a:t>
          </a:r>
          <a:r>
            <a:rPr lang="en-US" sz="2600" i="1" kern="1200"/>
            <a:t>perception</a:t>
          </a:r>
          <a:r>
            <a:rPr lang="en-US" sz="2600" kern="1200"/>
            <a:t> of quality). </a:t>
          </a:r>
        </a:p>
      </dsp:txBody>
      <dsp:txXfrm>
        <a:off x="6269123" y="725825"/>
        <a:ext cx="4463730" cy="2771523"/>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9594B4-488C-1D4D-9D01-18FDF3232C7B}" type="datetimeFigureOut">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B19D3B-3BB9-F24B-A943-E16822E4BADC}" type="slidenum">
              <a:rPr lang="en-US" smtClean="0"/>
              <a:t>‹#›</a:t>
            </a:fld>
            <a:endParaRPr lang="en-US"/>
          </a:p>
        </p:txBody>
      </p:sp>
    </p:spTree>
    <p:extLst>
      <p:ext uri="{BB962C8B-B14F-4D97-AF65-F5344CB8AC3E}">
        <p14:creationId xmlns:p14="http://schemas.microsoft.com/office/powerpoint/2010/main" val="1913611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1</a:t>
            </a:fld>
            <a:endParaRPr lang="en-US"/>
          </a:p>
        </p:txBody>
      </p:sp>
    </p:spTree>
    <p:extLst>
      <p:ext uri="{BB962C8B-B14F-4D97-AF65-F5344CB8AC3E}">
        <p14:creationId xmlns:p14="http://schemas.microsoft.com/office/powerpoint/2010/main" val="18213359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3</a:t>
            </a:fld>
            <a:endParaRPr lang="en-US"/>
          </a:p>
        </p:txBody>
      </p:sp>
    </p:spTree>
    <p:extLst>
      <p:ext uri="{BB962C8B-B14F-4D97-AF65-F5344CB8AC3E}">
        <p14:creationId xmlns:p14="http://schemas.microsoft.com/office/powerpoint/2010/main" val="15819825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2"/>
          <p:cNvSpPr>
            <a:spLocks noGrp="1" noRot="1" noChangeAspect="1" noChangeArrowheads="1" noTextEdit="1"/>
          </p:cNvSpPr>
          <p:nvPr>
            <p:ph type="sldImg"/>
          </p:nvPr>
        </p:nvSpPr>
        <p:spPr>
          <a:ln/>
        </p:spPr>
      </p:sp>
      <p:sp>
        <p:nvSpPr>
          <p:cNvPr id="27650" name="Rectangle 3"/>
          <p:cNvSpPr>
            <a:spLocks noGrp="1" noChangeArrowheads="1"/>
          </p:cNvSpPr>
          <p:nvPr>
            <p:ph type="body" idx="1"/>
          </p:nvPr>
        </p:nvSpPr>
        <p:spPr>
          <a:noFill/>
          <a:ln/>
        </p:spPr>
        <p:txBody>
          <a:bodyPr/>
          <a:lstStyle/>
          <a:p>
            <a:pPr>
              <a:buFontTx/>
              <a:buChar char="•"/>
            </a:pPr>
            <a:r>
              <a:rPr lang="en-US" dirty="0"/>
              <a:t>In the software market place, in which functionally equivalent products compete for the same customer, Non Functional Requirements (NFRs) become more important in distinguishing between the competing products.</a:t>
            </a:r>
          </a:p>
          <a:p>
            <a:pPr>
              <a:buFontTx/>
              <a:buChar char="•"/>
            </a:pPr>
            <a:r>
              <a:rPr lang="en-US" dirty="0"/>
              <a:t>However, in practice, NFRs receive little attention relative to Functional Requirements (FRs) [WW03]. This is mainly because of the nature of these requirements which poses a challenge when taking the choice of treating them at an early stage of the development process. NFRs are subjective, relative and they tend to become scattered among multiple modules when they are mapped from the n-dimensional requirements domain to the one-dimensional solution space.  Furthermore, NFRs can often interact, in the sense that attempts to achieve one NFR can help or hinder the achievement of other NFRs at particular software functionality. Such an interaction creates an extensive network of interdependencies and tradeoffs between NFRs which is not easy to trace or estimate [CNYM00].  </a:t>
            </a:r>
          </a:p>
        </p:txBody>
      </p:sp>
    </p:spTree>
    <p:extLst>
      <p:ext uri="{BB962C8B-B14F-4D97-AF65-F5344CB8AC3E}">
        <p14:creationId xmlns:p14="http://schemas.microsoft.com/office/powerpoint/2010/main" val="12534112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9DD50A-DFE6-4083-B103-2DE8F64842F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76622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9DD50A-DFE6-4083-B103-2DE8F64842F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67314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9DD50A-DFE6-4083-B103-2DE8F64842F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91739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89" name="Rectangle 2"/>
          <p:cNvSpPr>
            <a:spLocks noGrp="1" noRot="1" noChangeAspect="1" noChangeArrowheads="1" noTextEdit="1"/>
          </p:cNvSpPr>
          <p:nvPr>
            <p:ph type="sldImg"/>
          </p:nvPr>
        </p:nvSpPr>
        <p:spPr>
          <a:ln/>
        </p:spPr>
      </p:sp>
      <p:sp>
        <p:nvSpPr>
          <p:cNvPr id="63490" name="Rectangle 3"/>
          <p:cNvSpPr>
            <a:spLocks noGrp="1" noChangeArrowheads="1"/>
          </p:cNvSpPr>
          <p:nvPr>
            <p:ph type="body" idx="1"/>
          </p:nvPr>
        </p:nvSpPr>
        <p:spPr>
          <a:noFill/>
          <a:ln/>
        </p:spPr>
        <p:txBody>
          <a:bodyPr/>
          <a:lstStyle/>
          <a:p>
            <a:r>
              <a:rPr lang="en-US"/>
              <a:t>1- Quality is the totality of characteristics of an entity that bear on its ability to satisfy stated and implied needs [ISO912601].</a:t>
            </a:r>
          </a:p>
          <a:p>
            <a:endParaRPr lang="en-US"/>
          </a:p>
          <a:p>
            <a:r>
              <a:rPr lang="en-US"/>
              <a:t>2- discuss the ISO 9126 and its criticism.</a:t>
            </a:r>
          </a:p>
          <a:p>
            <a:r>
              <a:rPr lang="en-US"/>
              <a:t>Some qualities are left out and not included in the ISO 9126 (e.g. correctness, interoperability, testability).</a:t>
            </a:r>
          </a:p>
          <a:p>
            <a:endParaRPr lang="en-US"/>
          </a:p>
          <a:p>
            <a:r>
              <a:rPr lang="en-US"/>
              <a:t>3- We built quality taxonomy out of many inputted approaches starting from the ISO 9126-1 (see section 4.7) to define the root nodes for the quality taxonomy (External Quality, Internal Quality and Quality in Use). Figure 4-8 shows the graphical representation of the quality taxonomy.</a:t>
            </a:r>
          </a:p>
          <a:p>
            <a:r>
              <a:rPr lang="en-US"/>
              <a:t>4- We lists 87 quality requirements, we list their parent qualities according to the defining refernce.</a:t>
            </a:r>
          </a:p>
        </p:txBody>
      </p:sp>
    </p:spTree>
    <p:extLst>
      <p:ext uri="{BB962C8B-B14F-4D97-AF65-F5344CB8AC3E}">
        <p14:creationId xmlns:p14="http://schemas.microsoft.com/office/powerpoint/2010/main" val="4164924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95789E-32BF-4BCD-9509-3BAE69BCF054}" type="slidenum">
              <a:rPr kumimoji="0" lang="en-AU"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AU"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315569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Element			Description					In this scenario</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b="1" dirty="0"/>
              <a:t>Stimulus Source	</a:t>
            </a:r>
            <a:r>
              <a:rPr lang="en-US" dirty="0"/>
              <a:t>The entity that generates the stimulus or detects the problem.		</a:t>
            </a:r>
            <a:r>
              <a:rPr lang="en-US" b="1" dirty="0"/>
              <a:t>Heartbeat monitor</a:t>
            </a:r>
            <a:r>
              <a:rPr lang="en-US" dirty="0"/>
              <a:t> (it’s the component detecting the failure)</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b="1" dirty="0"/>
              <a:t>Stimulus		</a:t>
            </a:r>
            <a:r>
              <a:rPr lang="en-US" dirty="0"/>
              <a:t>The event or condition that requires a system response.		</a:t>
            </a:r>
            <a:r>
              <a:rPr lang="en-US" b="1" dirty="0"/>
              <a:t>Server becomes nonresponsive (failure detected)</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b="1" dirty="0"/>
              <a:t>Environment	</a:t>
            </a:r>
            <a:r>
              <a:rPr lang="en-US" dirty="0"/>
              <a:t>The operating condition when the event occurs.			</a:t>
            </a:r>
            <a:r>
              <a:rPr lang="en-US" b="1" dirty="0"/>
              <a:t>During normal operation</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b="1" dirty="0"/>
              <a:t>Artifact		</a:t>
            </a:r>
            <a:r>
              <a:rPr lang="en-US" dirty="0"/>
              <a:t>The part of the system that is affected or reacts.			</a:t>
            </a:r>
            <a:r>
              <a:rPr lang="en-US" b="1" dirty="0"/>
              <a:t>The overall system / server cluster</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b="1" dirty="0"/>
              <a:t>Response	</a:t>
            </a:r>
            <a:r>
              <a:rPr lang="en-US" dirty="0"/>
              <a:t>The system’s reaction or behavior after the stimulus.		</a:t>
            </a:r>
            <a:r>
              <a:rPr lang="en-US" b="1" dirty="0"/>
              <a:t>System informs the operator and continues to operate (fails over or uses redundancy)</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b="1" dirty="0"/>
              <a:t>Response Measure	</a:t>
            </a:r>
            <a:r>
              <a:rPr lang="en-US" dirty="0"/>
              <a:t>The quantitative or qualitative criteria to judge the response’s success.	</a:t>
            </a:r>
            <a:r>
              <a:rPr lang="en-US" b="1" dirty="0"/>
              <a:t>No downtime</a:t>
            </a:r>
            <a:r>
              <a:rPr lang="en-US" dirty="0"/>
              <a:t> (i.e., continuous operation maintained)</a:t>
            </a: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16</a:t>
            </a:fld>
            <a:endParaRPr lang="en-US"/>
          </a:p>
        </p:txBody>
      </p:sp>
    </p:spTree>
    <p:extLst>
      <p:ext uri="{BB962C8B-B14F-4D97-AF65-F5344CB8AC3E}">
        <p14:creationId xmlns:p14="http://schemas.microsoft.com/office/powerpoint/2010/main" val="38948648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26</a:t>
            </a:fld>
            <a:endParaRPr lang="en-US"/>
          </a:p>
        </p:txBody>
      </p:sp>
    </p:spTree>
    <p:extLst>
      <p:ext uri="{BB962C8B-B14F-4D97-AF65-F5344CB8AC3E}">
        <p14:creationId xmlns:p14="http://schemas.microsoft.com/office/powerpoint/2010/main" val="7606229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42</a:t>
            </a:fld>
            <a:endParaRPr lang="en-US"/>
          </a:p>
        </p:txBody>
      </p:sp>
    </p:spTree>
    <p:extLst>
      <p:ext uri="{BB962C8B-B14F-4D97-AF65-F5344CB8AC3E}">
        <p14:creationId xmlns:p14="http://schemas.microsoft.com/office/powerpoint/2010/main" val="2732599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57</a:t>
            </a:fld>
            <a:endParaRPr lang="en-US"/>
          </a:p>
        </p:txBody>
      </p:sp>
    </p:spTree>
    <p:extLst>
      <p:ext uri="{BB962C8B-B14F-4D97-AF65-F5344CB8AC3E}">
        <p14:creationId xmlns:p14="http://schemas.microsoft.com/office/powerpoint/2010/main" val="1628493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0414431-FF23-4A24-8B45-A0372FE9EE5E}"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
        <p:nvSpPr>
          <p:cNvPr id="97283" name="Rectangle 2"/>
          <p:cNvSpPr>
            <a:spLocks noGrp="1" noRot="1" noChangeAspect="1" noChangeArrowheads="1" noTextEdit="1"/>
          </p:cNvSpPr>
          <p:nvPr>
            <p:ph type="sldImg"/>
          </p:nvPr>
        </p:nvSpPr>
        <p:spPr>
          <a:ln/>
        </p:spPr>
      </p:sp>
      <p:sp>
        <p:nvSpPr>
          <p:cNvPr id="97284"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050467948"/>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B85A9166-B5C1-43B3-9533-8CF82F81D100}" type="datetime1">
              <a:rPr lang="en-US" smtClean="0"/>
              <a:t>11/12/25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358919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94BF64F-6144-444E-988A-6420B14C84B8}" type="datetime1">
              <a:rPr lang="en-US" smtClean="0"/>
              <a:t>11/12/25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210065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D89F0F51-6BB8-4D85-BCAF-BBAE9BF6D63F}" type="datetime1">
              <a:rPr lang="en-US" smtClean="0"/>
              <a:t>11/12/25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56076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3C1C5B9-0979-4337-9433-28B2252D7B9C}" type="datetime1">
              <a:rPr lang="en-US" smtClean="0"/>
              <a:t>11/12/25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09689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97510C-4C3E-4590-AF9B-088A0793655E}" type="datetime1">
              <a:rPr lang="en-US" smtClean="0"/>
              <a:t>11/12/25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011700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0C2E6EA-B617-4FA3-B722-819A431F47A1}" type="datetime1">
              <a:rPr lang="en-US" smtClean="0"/>
              <a:t>11/12/25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78521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8DEB0B-87A6-4E7E-9570-E00E4603EA1F}" type="datetime1">
              <a:rPr lang="en-US" smtClean="0"/>
              <a:t>11/12/25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677770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48E00814-8522-4960-97A2-0BF56C6B3C53}" type="datetime1">
              <a:rPr lang="en-US" smtClean="0"/>
              <a:t>11/12/25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1882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BFC71927-8AD3-4556-944B-23E1208CACC2}" type="datetime1">
              <a:rPr lang="en-US" smtClean="0"/>
              <a:t>11/12/25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6224969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27F5568-2F58-47C0-BD52-BF67D8A22C05}" type="datetime1">
              <a:rPr lang="en-US" smtClean="0"/>
              <a:t>11/12/25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15620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5495091-AC36-4867-B3C7-1566EB215E79}" type="datetime1">
              <a:rPr lang="en-US" smtClean="0"/>
              <a:t>11/12/25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039374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4906DF4A-240A-465F-B539-DAE322A0D748}" type="datetime1">
              <a:rPr lang="en-US" smtClean="0"/>
              <a:t>11/12/25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4479108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FC4C9671-A92D-4C3B-9DC3-8B5FF2A4D6E3}" type="datetime1">
              <a:rPr lang="en-US" smtClean="0"/>
              <a:t>11/12/25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8751047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D702AF2C-A58C-4E17-85D5-601C539FD8F8}" type="datetime1">
              <a:rPr lang="en-US" smtClean="0"/>
              <a:t>11/12/25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1419463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91F8EE21-F48B-49D0-8F1B-AF6136662266}" type="datetime1">
              <a:rPr lang="en-US" smtClean="0"/>
              <a:t>11/12/25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22163230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721734BD-9D91-499E-828D-4F90FF70A873}" type="datetime1">
              <a:rPr lang="en-US" smtClean="0"/>
              <a:t>11/12/25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651906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EE8EBB6-28C7-41AF-877D-7C4FB5642878}" type="datetime1">
              <a:rPr lang="en-US" smtClean="0"/>
              <a:t>11/12/25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4320505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7BC5173F-C4C7-420C-B0A5-C239680F5BD7}" type="datetime1">
              <a:rPr lang="en-US" smtClean="0"/>
              <a:t>11/12/25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82130731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9100197F-8FB2-4308-8247-2E8F505D7913}" type="datetime1">
              <a:rPr lang="en-US" smtClean="0"/>
              <a:t>11/12/25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5016372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12919DA0-8331-4C54-A216-E5DB9446AB95}" type="datetime1">
              <a:rPr lang="en-US" smtClean="0"/>
              <a:t>11/12/25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89299002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162CEE10-8BBB-4551-8570-26A81B53200C}" type="datetime1">
              <a:rPr lang="en-US" smtClean="0"/>
              <a:t>11/12/25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07156330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FC5BB150-5D7C-4E02-B2E0-F8C1E830E790}" type="datetime1">
              <a:rPr lang="en-US" smtClean="0"/>
              <a:t>11/12/25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679613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0000000-1234-1234-1234-123412341234}" type="slidenum">
              <a:rPr kumimoji="0" lang="en"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453589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17162BAA-55AB-4959-B60E-EA6724FD8AFC}" type="datetime1">
              <a:rPr lang="en-US" smtClean="0"/>
              <a:t>11/12/25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83956294"/>
      </p:ext>
    </p:extLst>
  </p:cSld>
  <p:clrMap bg1="lt1" tx1="dk1" bg2="lt2" tx2="dk2" accent1="accent1" accent2="accent2" accent3="accent3" accent4="accent4" accent5="accent5" accent6="accent6" hlink="hlink" folHlink="folHlink"/>
  <p:sldLayoutIdLst>
    <p:sldLayoutId id="2147483925" r:id="rId1"/>
    <p:sldLayoutId id="2147483926" r:id="rId2"/>
    <p:sldLayoutId id="2147483927" r:id="rId3"/>
    <p:sldLayoutId id="2147483928" r:id="rId4"/>
    <p:sldLayoutId id="2147483929" r:id="rId5"/>
    <p:sldLayoutId id="2147483930" r:id="rId6"/>
    <p:sldLayoutId id="2147483931" r:id="rId7"/>
    <p:sldLayoutId id="2147483932" r:id="rId8"/>
    <p:sldLayoutId id="2147483933" r:id="rId9"/>
    <p:sldLayoutId id="2147483934" r:id="rId10"/>
    <p:sldLayoutId id="2147483935"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6C3EDB-E810-4533-B20B-AEAF0F83485D}" type="datetime1">
              <a:rPr lang="en-US" smtClean="0"/>
              <a:t>11/12/25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620612424"/>
      </p:ext>
    </p:extLst>
  </p:cSld>
  <p:clrMap bg1="lt1" tx1="dk1" bg2="lt2" tx2="dk2" accent1="accent1" accent2="accent2" accent3="accent3" accent4="accent4" accent5="accent5" accent6="accent6" hlink="hlink" folHlink="folHlink"/>
  <p:sldLayoutIdLst>
    <p:sldLayoutId id="2147483937" r:id="rId1"/>
    <p:sldLayoutId id="2147483938" r:id="rId2"/>
    <p:sldLayoutId id="2147483939" r:id="rId3"/>
    <p:sldLayoutId id="2147483940" r:id="rId4"/>
    <p:sldLayoutId id="2147483941" r:id="rId5"/>
    <p:sldLayoutId id="2147483942" r:id="rId6"/>
    <p:sldLayoutId id="2147483943" r:id="rId7"/>
    <p:sldLayoutId id="2147483944" r:id="rId8"/>
    <p:sldLayoutId id="2147483945" r:id="rId9"/>
    <p:sldLayoutId id="2147483946" r:id="rId10"/>
    <p:sldLayoutId id="2147483947" r:id="rId11"/>
    <p:sldLayoutId id="2147483948"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1.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2.png"/><Relationship Id="rId4" Type="http://schemas.microsoft.com/office/2007/relationships/hdphoto" Target="../media/hdphoto2.wdp"/></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7.xml"/><Relationship Id="rId1" Type="http://schemas.openxmlformats.org/officeDocument/2006/relationships/slideLayout" Target="../slideLayouts/slideLayout13.xml"/><Relationship Id="rId5" Type="http://schemas.openxmlformats.org/officeDocument/2006/relationships/image" Target="../media/image12.jpeg"/><Relationship Id="rId4" Type="http://schemas.openxmlformats.org/officeDocument/2006/relationships/image" Target="../media/image11.jpeg"/></Relationships>
</file>

<file path=ppt/slides/_rels/slide1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NUL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en.wikipedia.org/wiki/Diffie%E2%80%93Hellman_key_exchange" TargetMode="Externa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3.xml"/></Relationships>
</file>

<file path=ppt/slides/_rels/slide6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5.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3.xml"/></Relationships>
</file>

<file path=ppt/slides/_rels/slide66.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14.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3.xml"/></Relationships>
</file>

<file path=ppt/slides/_rels/slide7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3.xml"/></Relationships>
</file>

<file path=ppt/slides/_rels/slide77.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45.png"/><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9.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47.png"/><Relationship Id="rId1" Type="http://schemas.openxmlformats.org/officeDocument/2006/relationships/slideLayout" Target="../slideLayouts/slideLayout2.xml"/><Relationship Id="rId5" Type="http://schemas.openxmlformats.org/officeDocument/2006/relationships/image" Target="../media/image50.svg"/><Relationship Id="rId4" Type="http://schemas.openxmlformats.org/officeDocument/2006/relationships/image" Target="../media/image49.png"/></Relationships>
</file>

<file path=ppt/slides/_rels/slide80.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40" name="Rectangle 39">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41">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43" name="Oval 42">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44" name="Oval 4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a:latin typeface="Calibri" panose="020F0502020204030204" pitchFamily="34" charset="0"/>
                <a:cs typeface="Calibri" panose="020F0502020204030204" pitchFamily="34" charset="0"/>
              </a:rPr>
              <a:t>Software Engineering</a:t>
            </a:r>
            <a:br>
              <a:rPr lang="en-US" sz="6100">
                <a:latin typeface="Calibri" panose="020F0502020204030204" pitchFamily="34" charset="0"/>
                <a:cs typeface="Calibri" panose="020F0502020204030204" pitchFamily="34" charset="0"/>
              </a:rPr>
            </a:br>
            <a:endParaRPr lang="en-US" sz="6100"/>
          </a:p>
        </p:txBody>
      </p:sp>
      <p:sp>
        <p:nvSpPr>
          <p:cNvPr id="5" name="Subtitle 4"/>
          <p:cNvSpPr>
            <a:spLocks noGrp="1"/>
          </p:cNvSpPr>
          <p:nvPr>
            <p:ph type="subTitle" sz="quarter" idx="1"/>
          </p:nvPr>
        </p:nvSpPr>
        <p:spPr>
          <a:xfrm>
            <a:off x="1651934" y="4785741"/>
            <a:ext cx="8590608" cy="865042"/>
          </a:xfrm>
        </p:spPr>
        <p:txBody>
          <a:bodyPr>
            <a:noAutofit/>
          </a:bodyPr>
          <a:lstStyle/>
          <a:p>
            <a:pPr algn="ctr"/>
            <a:r>
              <a:rPr lang="en-US" sz="2500" b="1" dirty="0">
                <a:solidFill>
                  <a:srgbClr val="000000"/>
                </a:solidFill>
              </a:rPr>
              <a:t>Non-Functional Requirements (NFRs) by </a:t>
            </a:r>
            <a:r>
              <a:rPr lang="en-US" sz="2500" dirty="0">
                <a:solidFill>
                  <a:srgbClr val="000000"/>
                </a:solidFill>
              </a:rPr>
              <a:t>Prof. Mohamad Kassab</a:t>
            </a:r>
          </a:p>
          <a:p>
            <a:pPr algn="ctr"/>
            <a:r>
              <a:rPr lang="en-US" sz="2500" dirty="0">
                <a:solidFill>
                  <a:srgbClr val="000000"/>
                </a:solidFill>
              </a:rPr>
              <a:t>Leonidas Kontothanassis   </a:t>
            </a:r>
            <a:r>
              <a:rPr lang="en-US" sz="2500" dirty="0" err="1">
                <a:solidFill>
                  <a:srgbClr val="000000"/>
                </a:solidFill>
              </a:rPr>
              <a:t>kthanasi@bu.edu</a:t>
            </a:r>
            <a:endParaRPr lang="en-US" sz="2500" dirty="0">
              <a:solidFill>
                <a:srgbClr val="000000"/>
              </a:solidFill>
            </a:endParaRPr>
          </a:p>
        </p:txBody>
      </p:sp>
      <p:pic>
        <p:nvPicPr>
          <p:cNvPr id="7" name="Video 6">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Tree>
    <p:extLst>
      <p:ext uri="{BB962C8B-B14F-4D97-AF65-F5344CB8AC3E}">
        <p14:creationId xmlns:p14="http://schemas.microsoft.com/office/powerpoint/2010/main" val="412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82F57B6-A44D-8F92-FEF7-50C134A87C59}"/>
              </a:ext>
            </a:extLst>
          </p:cNvPr>
          <p:cNvSpPr>
            <a:spLocks noGrp="1"/>
          </p:cNvSpPr>
          <p:nvPr>
            <p:ph type="sldNum" sz="quarter" idx="12"/>
          </p:nvPr>
        </p:nvSpPr>
        <p:spPr/>
        <p:txBody>
          <a:bodyPr/>
          <a:lstStyle/>
          <a:p>
            <a:fld id="{4FAB73BC-B049-4115-A692-8D63A059BFB8}" type="slidenum">
              <a:rPr lang="en-US" smtClean="0"/>
              <a:pPr/>
              <a:t>2</a:t>
            </a:fld>
            <a:endParaRPr lang="en-US" dirty="0"/>
          </a:p>
        </p:txBody>
      </p:sp>
      <p:pic>
        <p:nvPicPr>
          <p:cNvPr id="6" name="Picture 5" descr="A person smiling at the camera&#10;&#10;AI-generated content may be incorrect.">
            <a:extLst>
              <a:ext uri="{FF2B5EF4-FFF2-40B4-BE49-F238E27FC236}">
                <a16:creationId xmlns:a16="http://schemas.microsoft.com/office/drawing/2014/main" id="{E0DB21D1-BF84-BD4B-7BBF-A656734E15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6652" y="85879"/>
            <a:ext cx="8512813" cy="6772121"/>
          </a:xfrm>
          <a:prstGeom prst="rect">
            <a:avLst/>
          </a:prstGeom>
        </p:spPr>
      </p:pic>
    </p:spTree>
    <p:extLst>
      <p:ext uri="{BB962C8B-B14F-4D97-AF65-F5344CB8AC3E}">
        <p14:creationId xmlns:p14="http://schemas.microsoft.com/office/powerpoint/2010/main" val="2218079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62E11DD-B54B-4751-9C17-39DAF9EF46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blipFill dpi="0" rotWithShape="1">
            <a:blip r:embed="rId3">
              <a:alphaModFix amt="60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76D323-876F-6411-1C3C-6BB656985393}"/>
              </a:ext>
            </a:extLst>
          </p:cNvPr>
          <p:cNvSpPr>
            <a:spLocks noGrp="1"/>
          </p:cNvSpPr>
          <p:nvPr>
            <p:ph type="title"/>
          </p:nvPr>
        </p:nvSpPr>
        <p:spPr>
          <a:xfrm>
            <a:off x="471487" y="2624327"/>
            <a:ext cx="3228975" cy="1609344"/>
          </a:xfrm>
        </p:spPr>
        <p:txBody>
          <a:bodyPr>
            <a:normAutofit/>
          </a:bodyPr>
          <a:lstStyle/>
          <a:p>
            <a:r>
              <a:rPr lang="en-US" sz="4800" dirty="0"/>
              <a:t>Lesson </a:t>
            </a:r>
            <a:br>
              <a:rPr lang="en-US" sz="4800" dirty="0"/>
            </a:br>
            <a:r>
              <a:rPr lang="en-US" sz="4800" dirty="0"/>
              <a:t>OUTLINE</a:t>
            </a:r>
          </a:p>
        </p:txBody>
      </p:sp>
      <p:sp>
        <p:nvSpPr>
          <p:cNvPr id="3" name="Content Placeholder 2">
            <a:extLst>
              <a:ext uri="{FF2B5EF4-FFF2-40B4-BE49-F238E27FC236}">
                <a16:creationId xmlns:a16="http://schemas.microsoft.com/office/drawing/2014/main" id="{F2FE9FD9-47BF-703A-6615-EFFBA6E798B4}"/>
              </a:ext>
            </a:extLst>
          </p:cNvPr>
          <p:cNvSpPr>
            <a:spLocks noGrp="1"/>
          </p:cNvSpPr>
          <p:nvPr>
            <p:ph idx="1"/>
          </p:nvPr>
        </p:nvSpPr>
        <p:spPr>
          <a:xfrm>
            <a:off x="4083512" y="220091"/>
            <a:ext cx="7775413" cy="6672261"/>
          </a:xfrm>
        </p:spPr>
        <p:txBody>
          <a:bodyPr>
            <a:normAutofit/>
          </a:bodyPr>
          <a:lstStyle/>
          <a:p>
            <a:pPr algn="just"/>
            <a:r>
              <a:rPr lang="en-US" sz="3400" dirty="0"/>
              <a:t>What are NFRs?</a:t>
            </a:r>
          </a:p>
          <a:p>
            <a:pPr algn="just"/>
            <a:r>
              <a:rPr lang="en-US" sz="3400" dirty="0"/>
              <a:t>Different Types of NFRs.</a:t>
            </a:r>
          </a:p>
          <a:p>
            <a:pPr algn="just"/>
            <a:r>
              <a:rPr lang="en-US" sz="3400" dirty="0"/>
              <a:t>How to Specify Quality Attributes?</a:t>
            </a:r>
          </a:p>
          <a:p>
            <a:pPr algn="just"/>
            <a:r>
              <a:rPr lang="en-US" sz="3400" dirty="0"/>
              <a:t>Popular Quality Attributes:</a:t>
            </a:r>
          </a:p>
          <a:p>
            <a:pPr lvl="2" algn="just"/>
            <a:r>
              <a:rPr lang="en-US" sz="3400" dirty="0"/>
              <a:t>Security</a:t>
            </a:r>
          </a:p>
          <a:p>
            <a:pPr lvl="2" algn="just"/>
            <a:r>
              <a:rPr lang="en-US" sz="3400" dirty="0"/>
              <a:t>Availability</a:t>
            </a:r>
          </a:p>
          <a:p>
            <a:pPr lvl="2" algn="just"/>
            <a:r>
              <a:rPr lang="en-US" sz="3400" dirty="0"/>
              <a:t>Modifiability</a:t>
            </a:r>
          </a:p>
          <a:p>
            <a:pPr lvl="2" algn="just"/>
            <a:r>
              <a:rPr lang="en-US" sz="3400" dirty="0"/>
              <a:t>Interoperability</a:t>
            </a:r>
          </a:p>
          <a:p>
            <a:pPr lvl="2" algn="just"/>
            <a:r>
              <a:rPr lang="en-US" sz="3400" dirty="0"/>
              <a:t>Performance</a:t>
            </a:r>
          </a:p>
          <a:p>
            <a:pPr lvl="2" algn="just"/>
            <a:r>
              <a:rPr lang="en-US" sz="3400" dirty="0"/>
              <a:t>Testability</a:t>
            </a:r>
          </a:p>
          <a:p>
            <a:pPr lvl="2" algn="just"/>
            <a:r>
              <a:rPr lang="en-US" sz="3400" dirty="0"/>
              <a:t>Usability</a:t>
            </a:r>
          </a:p>
          <a:p>
            <a:pPr lvl="1"/>
            <a:endParaRPr lang="en-US" sz="1300" dirty="0"/>
          </a:p>
          <a:p>
            <a:pPr lvl="1"/>
            <a:endParaRPr lang="en-US" sz="1300" dirty="0"/>
          </a:p>
          <a:p>
            <a:pPr lvl="1"/>
            <a:endParaRPr lang="en-US" sz="1300" dirty="0"/>
          </a:p>
        </p:txBody>
      </p:sp>
      <p:grpSp>
        <p:nvGrpSpPr>
          <p:cNvPr id="12" name="Group 11">
            <a:extLst>
              <a:ext uri="{FF2B5EF4-FFF2-40B4-BE49-F238E27FC236}">
                <a16:creationId xmlns:a16="http://schemas.microsoft.com/office/drawing/2014/main" id="{B55DE4E1-F219-45A4-96D9-9A86D0E4DBD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3" name="Oval 12">
              <a:extLst>
                <a:ext uri="{FF2B5EF4-FFF2-40B4-BE49-F238E27FC236}">
                  <a16:creationId xmlns:a16="http://schemas.microsoft.com/office/drawing/2014/main" id="{3601C3FF-4A5D-437C-B3DB-A53B99D30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61B1BDC9-B583-4F65-8FE9-E2CBE71D93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3A92893A-903C-2E34-8766-CDB1C5C40A7F}"/>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3</a:t>
            </a:fld>
            <a:endParaRPr lang="en-US"/>
          </a:p>
        </p:txBody>
      </p:sp>
    </p:spTree>
    <p:extLst>
      <p:ext uri="{BB962C8B-B14F-4D97-AF65-F5344CB8AC3E}">
        <p14:creationId xmlns:p14="http://schemas.microsoft.com/office/powerpoint/2010/main" val="42189896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650" name="Rectangle 26649">
            <a:extLst>
              <a:ext uri="{FF2B5EF4-FFF2-40B4-BE49-F238E27FC236}">
                <a16:creationId xmlns:a16="http://schemas.microsoft.com/office/drawing/2014/main" id="{5D13CC36-B950-4F02-9BAF-9A7EB26739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52" name="Rectangle 26651">
            <a:extLst>
              <a:ext uri="{FF2B5EF4-FFF2-40B4-BE49-F238E27FC236}">
                <a16:creationId xmlns:a16="http://schemas.microsoft.com/office/drawing/2014/main" id="{D1BDED99-B35B-4FEE-A274-8E8DB6FEEE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02473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646" name="Picture 26645" descr="Technological background">
            <a:extLst>
              <a:ext uri="{FF2B5EF4-FFF2-40B4-BE49-F238E27FC236}">
                <a16:creationId xmlns:a16="http://schemas.microsoft.com/office/drawing/2014/main" id="{C2F8A1C8-2A28-22FB-C6D6-CDABA355CA06}"/>
              </a:ext>
            </a:extLst>
          </p:cNvPr>
          <p:cNvPicPr>
            <a:picLocks noChangeAspect="1"/>
          </p:cNvPicPr>
          <p:nvPr/>
        </p:nvPicPr>
        <p:blipFill rotWithShape="1">
          <a:blip r:embed="rId3"/>
          <a:srcRect l="21976" r="36912" b="-1"/>
          <a:stretch/>
        </p:blipFill>
        <p:spPr>
          <a:xfrm>
            <a:off x="7968222" y="10"/>
            <a:ext cx="4223778" cy="6857990"/>
          </a:xfrm>
          <a:custGeom>
            <a:avLst/>
            <a:gdLst/>
            <a:ahLst/>
            <a:cxnLst/>
            <a:rect l="l" t="t" r="r" b="b"/>
            <a:pathLst>
              <a:path w="4223778" h="6865951">
                <a:moveTo>
                  <a:pt x="478794" y="0"/>
                </a:moveTo>
                <a:lnTo>
                  <a:pt x="4223778" y="0"/>
                </a:lnTo>
                <a:lnTo>
                  <a:pt x="4223778" y="6865951"/>
                </a:lnTo>
                <a:lnTo>
                  <a:pt x="52221" y="6865951"/>
                </a:lnTo>
                <a:lnTo>
                  <a:pt x="49989" y="6844695"/>
                </a:lnTo>
                <a:cubicBezTo>
                  <a:pt x="46440" y="6810509"/>
                  <a:pt x="42891" y="6776323"/>
                  <a:pt x="41304" y="6765443"/>
                </a:cubicBezTo>
                <a:cubicBezTo>
                  <a:pt x="35681" y="6732842"/>
                  <a:pt x="13533" y="6716945"/>
                  <a:pt x="11182" y="6694817"/>
                </a:cubicBezTo>
                <a:cubicBezTo>
                  <a:pt x="16764" y="6697663"/>
                  <a:pt x="14835" y="6635151"/>
                  <a:pt x="10913" y="6627127"/>
                </a:cubicBezTo>
                <a:cubicBezTo>
                  <a:pt x="19564" y="6579282"/>
                  <a:pt x="-12861" y="6585665"/>
                  <a:pt x="5999" y="6527525"/>
                </a:cubicBezTo>
                <a:cubicBezTo>
                  <a:pt x="12287" y="6468687"/>
                  <a:pt x="19003" y="6409739"/>
                  <a:pt x="7685" y="6346547"/>
                </a:cubicBezTo>
                <a:cubicBezTo>
                  <a:pt x="31149" y="6240430"/>
                  <a:pt x="5895" y="6134229"/>
                  <a:pt x="12535" y="6084924"/>
                </a:cubicBezTo>
                <a:cubicBezTo>
                  <a:pt x="14696" y="6024961"/>
                  <a:pt x="53867" y="6020785"/>
                  <a:pt x="45320" y="5989742"/>
                </a:cubicBezTo>
                <a:cubicBezTo>
                  <a:pt x="41264" y="5940899"/>
                  <a:pt x="43258" y="5932095"/>
                  <a:pt x="40418" y="5889597"/>
                </a:cubicBezTo>
                <a:cubicBezTo>
                  <a:pt x="20860" y="5848611"/>
                  <a:pt x="51187" y="5792775"/>
                  <a:pt x="49796" y="5755774"/>
                </a:cubicBezTo>
                <a:cubicBezTo>
                  <a:pt x="43522" y="5734342"/>
                  <a:pt x="37368" y="5692606"/>
                  <a:pt x="49956" y="5684909"/>
                </a:cubicBezTo>
                <a:cubicBezTo>
                  <a:pt x="52825" y="5660429"/>
                  <a:pt x="62553" y="5623499"/>
                  <a:pt x="67011" y="5608897"/>
                </a:cubicBezTo>
                <a:lnTo>
                  <a:pt x="76701" y="5597290"/>
                </a:lnTo>
                <a:cubicBezTo>
                  <a:pt x="87717" y="5587442"/>
                  <a:pt x="82431" y="5550877"/>
                  <a:pt x="89120" y="5529641"/>
                </a:cubicBezTo>
                <a:cubicBezTo>
                  <a:pt x="69291" y="5496375"/>
                  <a:pt x="118554" y="5526326"/>
                  <a:pt x="94330" y="5470852"/>
                </a:cubicBezTo>
                <a:cubicBezTo>
                  <a:pt x="95483" y="5449506"/>
                  <a:pt x="114690" y="5429653"/>
                  <a:pt x="116139" y="5390946"/>
                </a:cubicBezTo>
                <a:cubicBezTo>
                  <a:pt x="127589" y="5337323"/>
                  <a:pt x="132794" y="5338384"/>
                  <a:pt x="135560" y="5284344"/>
                </a:cubicBezTo>
                <a:cubicBezTo>
                  <a:pt x="143629" y="5226223"/>
                  <a:pt x="148113" y="5192743"/>
                  <a:pt x="158141" y="5143920"/>
                </a:cubicBezTo>
                <a:cubicBezTo>
                  <a:pt x="170128" y="5118849"/>
                  <a:pt x="159838" y="5102006"/>
                  <a:pt x="174950" y="5088188"/>
                </a:cubicBezTo>
                <a:cubicBezTo>
                  <a:pt x="197620" y="5107654"/>
                  <a:pt x="181875" y="4983257"/>
                  <a:pt x="203603" y="5010764"/>
                </a:cubicBezTo>
                <a:lnTo>
                  <a:pt x="258582" y="4919969"/>
                </a:lnTo>
                <a:cubicBezTo>
                  <a:pt x="238838" y="4883087"/>
                  <a:pt x="271098" y="4853332"/>
                  <a:pt x="287910" y="4849612"/>
                </a:cubicBezTo>
                <a:cubicBezTo>
                  <a:pt x="294156" y="4811643"/>
                  <a:pt x="286101" y="4834074"/>
                  <a:pt x="305439" y="4799017"/>
                </a:cubicBezTo>
                <a:cubicBezTo>
                  <a:pt x="322572" y="4758926"/>
                  <a:pt x="352642" y="4705848"/>
                  <a:pt x="373456" y="4667754"/>
                </a:cubicBezTo>
                <a:cubicBezTo>
                  <a:pt x="384080" y="4649919"/>
                  <a:pt x="401158" y="4670663"/>
                  <a:pt x="407944" y="4574050"/>
                </a:cubicBezTo>
                <a:cubicBezTo>
                  <a:pt x="408098" y="4548109"/>
                  <a:pt x="427782" y="4503327"/>
                  <a:pt x="425133" y="4462469"/>
                </a:cubicBezTo>
                <a:lnTo>
                  <a:pt x="433890" y="4364681"/>
                </a:lnTo>
                <a:cubicBezTo>
                  <a:pt x="430018" y="4339230"/>
                  <a:pt x="435361" y="4287915"/>
                  <a:pt x="440691" y="4222147"/>
                </a:cubicBezTo>
                <a:cubicBezTo>
                  <a:pt x="451463" y="4164562"/>
                  <a:pt x="497377" y="4067298"/>
                  <a:pt x="503057" y="3977136"/>
                </a:cubicBezTo>
                <a:cubicBezTo>
                  <a:pt x="519229" y="3939837"/>
                  <a:pt x="472839" y="3875689"/>
                  <a:pt x="507582" y="3776020"/>
                </a:cubicBezTo>
                <a:cubicBezTo>
                  <a:pt x="497716" y="3757477"/>
                  <a:pt x="518006" y="3707185"/>
                  <a:pt x="521577" y="3692206"/>
                </a:cubicBezTo>
                <a:cubicBezTo>
                  <a:pt x="525148" y="3677227"/>
                  <a:pt x="526352" y="3687655"/>
                  <a:pt x="529009" y="3686147"/>
                </a:cubicBezTo>
                <a:cubicBezTo>
                  <a:pt x="531848" y="3650325"/>
                  <a:pt x="545504" y="3563351"/>
                  <a:pt x="551870" y="3514534"/>
                </a:cubicBezTo>
                <a:cubicBezTo>
                  <a:pt x="561331" y="3487751"/>
                  <a:pt x="581973" y="3426419"/>
                  <a:pt x="567205" y="3393248"/>
                </a:cubicBezTo>
                <a:cubicBezTo>
                  <a:pt x="585208" y="3400657"/>
                  <a:pt x="563566" y="3353906"/>
                  <a:pt x="579630" y="3344723"/>
                </a:cubicBezTo>
                <a:cubicBezTo>
                  <a:pt x="592861" y="3339338"/>
                  <a:pt x="589379" y="3323900"/>
                  <a:pt x="592672" y="3310978"/>
                </a:cubicBezTo>
                <a:cubicBezTo>
                  <a:pt x="605351" y="3299735"/>
                  <a:pt x="594296" y="3237176"/>
                  <a:pt x="589270" y="3216655"/>
                </a:cubicBezTo>
                <a:cubicBezTo>
                  <a:pt x="566909" y="3160431"/>
                  <a:pt x="626099" y="3142203"/>
                  <a:pt x="609663" y="3096973"/>
                </a:cubicBezTo>
                <a:cubicBezTo>
                  <a:pt x="609191" y="3084373"/>
                  <a:pt x="615889" y="3033331"/>
                  <a:pt x="618886" y="3023628"/>
                </a:cubicBezTo>
                <a:lnTo>
                  <a:pt x="630425" y="2998646"/>
                </a:lnTo>
                <a:lnTo>
                  <a:pt x="640017" y="2995914"/>
                </a:lnTo>
                <a:lnTo>
                  <a:pt x="643600" y="2978244"/>
                </a:lnTo>
                <a:lnTo>
                  <a:pt x="659520" y="2950805"/>
                </a:lnTo>
                <a:cubicBezTo>
                  <a:pt x="620152" y="2937671"/>
                  <a:pt x="687598" y="2860550"/>
                  <a:pt x="650890" y="2864933"/>
                </a:cubicBezTo>
                <a:cubicBezTo>
                  <a:pt x="663707" y="2817056"/>
                  <a:pt x="662078" y="2779813"/>
                  <a:pt x="640210" y="2741864"/>
                </a:cubicBezTo>
                <a:cubicBezTo>
                  <a:pt x="634452" y="2649732"/>
                  <a:pt x="665268" y="2597914"/>
                  <a:pt x="639387" y="2510931"/>
                </a:cubicBezTo>
                <a:cubicBezTo>
                  <a:pt x="645574" y="2407642"/>
                  <a:pt x="671719" y="2317589"/>
                  <a:pt x="680438" y="2227415"/>
                </a:cubicBezTo>
                <a:cubicBezTo>
                  <a:pt x="664175" y="2189847"/>
                  <a:pt x="704423" y="2141655"/>
                  <a:pt x="688135" y="2054289"/>
                </a:cubicBezTo>
                <a:cubicBezTo>
                  <a:pt x="683239" y="2048201"/>
                  <a:pt x="684029" y="1979567"/>
                  <a:pt x="681480" y="1972202"/>
                </a:cubicBezTo>
                <a:lnTo>
                  <a:pt x="686247" y="1917474"/>
                </a:lnTo>
                <a:lnTo>
                  <a:pt x="679783" y="1862721"/>
                </a:lnTo>
                <a:cubicBezTo>
                  <a:pt x="683677" y="1851209"/>
                  <a:pt x="688980" y="1824057"/>
                  <a:pt x="686639" y="1818227"/>
                </a:cubicBezTo>
                <a:lnTo>
                  <a:pt x="658235" y="1742488"/>
                </a:lnTo>
                <a:cubicBezTo>
                  <a:pt x="645662" y="1715201"/>
                  <a:pt x="661423" y="1719638"/>
                  <a:pt x="636990" y="1638389"/>
                </a:cubicBezTo>
                <a:cubicBezTo>
                  <a:pt x="626351" y="1601441"/>
                  <a:pt x="629414" y="1617134"/>
                  <a:pt x="602059" y="1570807"/>
                </a:cubicBezTo>
                <a:lnTo>
                  <a:pt x="570903" y="1513173"/>
                </a:lnTo>
                <a:cubicBezTo>
                  <a:pt x="570781" y="1503175"/>
                  <a:pt x="550561" y="1468055"/>
                  <a:pt x="550438" y="1458058"/>
                </a:cubicBezTo>
                <a:cubicBezTo>
                  <a:pt x="556848" y="1428101"/>
                  <a:pt x="546263" y="1422712"/>
                  <a:pt x="531416" y="1385478"/>
                </a:cubicBezTo>
                <a:cubicBezTo>
                  <a:pt x="527790" y="1370753"/>
                  <a:pt x="490725" y="1304050"/>
                  <a:pt x="501981" y="1265452"/>
                </a:cubicBezTo>
                <a:cubicBezTo>
                  <a:pt x="501825" y="1234781"/>
                  <a:pt x="490462" y="1187660"/>
                  <a:pt x="487370" y="1141743"/>
                </a:cubicBezTo>
                <a:cubicBezTo>
                  <a:pt x="484278" y="1095826"/>
                  <a:pt x="483852" y="1028118"/>
                  <a:pt x="483427" y="989948"/>
                </a:cubicBezTo>
                <a:cubicBezTo>
                  <a:pt x="483001" y="951779"/>
                  <a:pt x="494678" y="945984"/>
                  <a:pt x="484820" y="912725"/>
                </a:cubicBezTo>
                <a:cubicBezTo>
                  <a:pt x="467566" y="854951"/>
                  <a:pt x="510777" y="860797"/>
                  <a:pt x="475093" y="812798"/>
                </a:cubicBezTo>
                <a:cubicBezTo>
                  <a:pt x="461960" y="787034"/>
                  <a:pt x="498505" y="551948"/>
                  <a:pt x="461972" y="450605"/>
                </a:cubicBezTo>
                <a:cubicBezTo>
                  <a:pt x="470167" y="357604"/>
                  <a:pt x="458694" y="431306"/>
                  <a:pt x="465015" y="372906"/>
                </a:cubicBezTo>
                <a:cubicBezTo>
                  <a:pt x="503427" y="364177"/>
                  <a:pt x="489736" y="290341"/>
                  <a:pt x="490377" y="246134"/>
                </a:cubicBezTo>
                <a:cubicBezTo>
                  <a:pt x="491019" y="201927"/>
                  <a:pt x="449725" y="138160"/>
                  <a:pt x="468864" y="107666"/>
                </a:cubicBezTo>
                <a:cubicBezTo>
                  <a:pt x="468282" y="89794"/>
                  <a:pt x="477749" y="76947"/>
                  <a:pt x="477167" y="59075"/>
                </a:cubicBezTo>
                <a:lnTo>
                  <a:pt x="472992" y="14560"/>
                </a:lnTo>
                <a:close/>
              </a:path>
            </a:pathLst>
          </a:custGeom>
        </p:spPr>
      </p:pic>
      <p:sp>
        <p:nvSpPr>
          <p:cNvPr id="26625" name="Rectangle 2"/>
          <p:cNvSpPr>
            <a:spLocks noGrp="1" noChangeArrowheads="1"/>
          </p:cNvSpPr>
          <p:nvPr>
            <p:ph type="title"/>
          </p:nvPr>
        </p:nvSpPr>
        <p:spPr>
          <a:xfrm>
            <a:off x="172278" y="115903"/>
            <a:ext cx="6831188" cy="1322887"/>
          </a:xfrm>
        </p:spPr>
        <p:txBody>
          <a:bodyPr>
            <a:normAutofit/>
          </a:bodyPr>
          <a:lstStyle/>
          <a:p>
            <a:r>
              <a:rPr lang="en-US" dirty="0"/>
              <a:t>Nonfunctional requirements</a:t>
            </a:r>
          </a:p>
        </p:txBody>
      </p:sp>
      <p:sp>
        <p:nvSpPr>
          <p:cNvPr id="26626" name="Rectangle 3"/>
          <p:cNvSpPr>
            <a:spLocks noGrp="1" noChangeArrowheads="1"/>
          </p:cNvSpPr>
          <p:nvPr>
            <p:ph type="body" idx="1"/>
          </p:nvPr>
        </p:nvSpPr>
        <p:spPr>
          <a:xfrm>
            <a:off x="243625" y="1717024"/>
            <a:ext cx="7724597" cy="3908585"/>
          </a:xfrm>
        </p:spPr>
        <p:txBody>
          <a:bodyPr>
            <a:noAutofit/>
          </a:bodyPr>
          <a:lstStyle/>
          <a:p>
            <a:r>
              <a:rPr lang="en-US" sz="2400" dirty="0"/>
              <a:t>Software systems are characterized both by their functional requirements (FRs) (what the system does) and by their nonfunctional requirements (NFRs) (how the system behaves with respect to some observable attributes like reliability, reusability, maintainability, etc.). </a:t>
            </a:r>
          </a:p>
          <a:p>
            <a:pPr>
              <a:buFontTx/>
              <a:buNone/>
            </a:pPr>
            <a:endParaRPr lang="en-US" sz="2400" dirty="0"/>
          </a:p>
          <a:p>
            <a:r>
              <a:rPr lang="en-US" sz="2400" dirty="0"/>
              <a:t>In the software marketplace, in which functionally equivalent products compete for the same customer, NFRs become more important.</a:t>
            </a:r>
          </a:p>
          <a:p>
            <a:pPr>
              <a:buFontTx/>
              <a:buNone/>
            </a:pPr>
            <a:endParaRPr lang="en-US" sz="2400" dirty="0"/>
          </a:p>
          <a:p>
            <a:r>
              <a:rPr lang="en-US" sz="2400" dirty="0"/>
              <a:t>NFRs receive little attention relative to Functional Requirements.</a:t>
            </a:r>
          </a:p>
        </p:txBody>
      </p:sp>
      <p:sp>
        <p:nvSpPr>
          <p:cNvPr id="26627" name="Slide Number Placeholder 3"/>
          <p:cNvSpPr>
            <a:spLocks noGrp="1"/>
          </p:cNvSpPr>
          <p:nvPr>
            <p:ph type="sldNum" sz="quarter" idx="12"/>
          </p:nvPr>
        </p:nvSpPr>
        <p:spPr>
          <a:xfrm>
            <a:off x="8610600" y="6356350"/>
            <a:ext cx="2743200" cy="365125"/>
          </a:xfrm>
        </p:spPr>
        <p:txBody>
          <a:bodyPr>
            <a:normAutofit/>
          </a:bodyPr>
          <a:lstStyle/>
          <a:p>
            <a:pPr marL="0" marR="0" lvl="0" indent="0" defTabSz="914400" rtl="0" eaLnBrk="1" fontAlgn="base" latinLnBrk="0" hangingPunct="1">
              <a:spcBef>
                <a:spcPct val="0"/>
              </a:spcBef>
              <a:spcAft>
                <a:spcPts val="600"/>
              </a:spcAft>
              <a:buClrTx/>
              <a:buSzTx/>
              <a:buFontTx/>
              <a:buNone/>
              <a:tabLst/>
              <a:defRPr/>
            </a:pPr>
            <a:fld id="{5A768BD1-4574-45E7-B4C5-2FA28E41E087}" type="slidenum">
              <a:rPr kumimoji="0" lang="en-US" sz="1000" b="0" i="0" u="none" strike="noStrike" kern="1200" cap="none" spc="0" normalizeH="0" baseline="0" noProof="0">
                <a:ln>
                  <a:noFill/>
                </a:ln>
                <a:solidFill>
                  <a:srgbClr val="FFFFFF"/>
                </a:solidFill>
                <a:effectLst/>
                <a:uLnTx/>
                <a:uFillTx/>
                <a:latin typeface="Arial" charset="0"/>
                <a:ea typeface="+mn-ea"/>
                <a:cs typeface="Arial" charset="0"/>
              </a:rPr>
              <a:pPr marL="0" marR="0" lvl="0" indent="0" defTabSz="914400" rtl="0" eaLnBrk="1" fontAlgn="base" latinLnBrk="0" hangingPunct="1">
                <a:spcBef>
                  <a:spcPct val="0"/>
                </a:spcBef>
                <a:spcAft>
                  <a:spcPts val="600"/>
                </a:spcAft>
                <a:buClrTx/>
                <a:buSzTx/>
                <a:buFontTx/>
                <a:buNone/>
                <a:tabLst/>
                <a:defRPr/>
              </a:pPr>
              <a:t>4</a:t>
            </a:fld>
            <a:endParaRPr kumimoji="0" lang="en-US" sz="1000" b="0" i="0" u="none" strike="noStrike" kern="1200" cap="none" spc="0" normalizeH="0" baseline="0" noProof="0">
              <a:ln>
                <a:noFill/>
              </a:ln>
              <a:solidFill>
                <a:srgbClr val="FFFFFF"/>
              </a:solidFill>
              <a:effectLst/>
              <a:uLnTx/>
              <a:uFillTx/>
              <a:latin typeface="Arial" charset="0"/>
              <a:ea typeface="+mn-ea"/>
              <a:cs typeface="Arial" charset="0"/>
            </a:endParaRPr>
          </a:p>
        </p:txBody>
      </p:sp>
    </p:spTree>
    <p:extLst>
      <p:ext uri="{BB962C8B-B14F-4D97-AF65-F5344CB8AC3E}">
        <p14:creationId xmlns:p14="http://schemas.microsoft.com/office/powerpoint/2010/main" val="20806589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724C2E-D76E-49A4-A9E2-72C6294BED29}"/>
              </a:ext>
            </a:extLst>
          </p:cNvPr>
          <p:cNvSpPr>
            <a:spLocks noGrp="1"/>
          </p:cNvSpPr>
          <p:nvPr>
            <p:ph type="title"/>
          </p:nvPr>
        </p:nvSpPr>
        <p:spPr>
          <a:xfrm>
            <a:off x="838200" y="365125"/>
            <a:ext cx="10515600" cy="1325563"/>
          </a:xfrm>
        </p:spPr>
        <p:txBody>
          <a:bodyPr vert="horz" lIns="91440" tIns="45720" rIns="91440" bIns="45720" rtlCol="0" anchor="ctr">
            <a:normAutofit/>
          </a:bodyPr>
          <a:lstStyle/>
          <a:p>
            <a:pPr marL="285750" indent="-228600">
              <a:spcBef>
                <a:spcPct val="0"/>
              </a:spcBef>
            </a:pPr>
            <a:r>
              <a:rPr lang="en-US" sz="5400" b="1" kern="1200" dirty="0">
                <a:solidFill>
                  <a:schemeClr val="tx1"/>
                </a:solidFill>
                <a:latin typeface="+mj-lt"/>
                <a:ea typeface="+mj-ea"/>
                <a:cs typeface="+mj-cs"/>
              </a:rPr>
              <a:t>What are NFRs?</a:t>
            </a:r>
          </a:p>
        </p:txBody>
      </p:sp>
      <p:sp>
        <p:nvSpPr>
          <p:cNvPr id="45"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DE9BD323-169D-4E56-A53A-946A1E188688}"/>
              </a:ext>
            </a:extLst>
          </p:cNvPr>
          <p:cNvSpPr>
            <a:spLocks noGrp="1"/>
          </p:cNvSpPr>
          <p:nvPr>
            <p:ph type="body" idx="1"/>
          </p:nvPr>
        </p:nvSpPr>
        <p:spPr>
          <a:xfrm>
            <a:off x="271463" y="1756811"/>
            <a:ext cx="11615737" cy="5010912"/>
          </a:xfrm>
        </p:spPr>
        <p:txBody>
          <a:bodyPr vert="horz" lIns="91440" tIns="45720" rIns="91440" bIns="45720" rtlCol="0">
            <a:normAutofit/>
          </a:bodyPr>
          <a:lstStyle/>
          <a:p>
            <a:pPr marL="685800" lvl="1" indent="-228600">
              <a:buFont typeface="Arial" panose="020B0604020202020204" pitchFamily="34" charset="0"/>
              <a:buChar char="•"/>
            </a:pPr>
            <a:endParaRPr lang="en-US" sz="2500" dirty="0"/>
          </a:p>
          <a:p>
            <a:pPr lvl="1" indent="-228600">
              <a:buFont typeface="Arial" panose="020B0604020202020204" pitchFamily="34" charset="0"/>
              <a:buChar char="•"/>
            </a:pPr>
            <a:r>
              <a:rPr lang="en-US" sz="3600" dirty="0"/>
              <a:t>No consensus in RE community what NFRs really are .</a:t>
            </a:r>
          </a:p>
          <a:p>
            <a:pPr marL="685800" lvl="1" indent="0">
              <a:buNone/>
            </a:pPr>
            <a:endParaRPr lang="en-US" sz="3600" dirty="0"/>
          </a:p>
          <a:p>
            <a:pPr lvl="1" indent="-228600">
              <a:buFont typeface="Arial" panose="020B0604020202020204" pitchFamily="34" charset="0"/>
              <a:buChar char="•"/>
            </a:pPr>
            <a:r>
              <a:rPr lang="en-US" sz="3600" dirty="0"/>
              <a:t>NFRs have been (at best) specified in loose, fuzzy terms that are open to wide negating and interpretations.</a:t>
            </a:r>
          </a:p>
          <a:p>
            <a:pPr lvl="1" indent="-228600">
              <a:buFont typeface="Arial" panose="020B0604020202020204" pitchFamily="34" charset="0"/>
              <a:buChar char="•"/>
            </a:pPr>
            <a:endParaRPr lang="en-US" sz="3600" dirty="0"/>
          </a:p>
          <a:p>
            <a:pPr lvl="1" indent="-228600">
              <a:buFont typeface="Arial" panose="020B0604020202020204" pitchFamily="34" charset="0"/>
              <a:buChar char="•"/>
            </a:pPr>
            <a:r>
              <a:rPr lang="en-US" sz="3600" dirty="0"/>
              <a:t>The next two slides provide some existing definitions from the literature.</a:t>
            </a:r>
          </a:p>
        </p:txBody>
      </p:sp>
      <p:sp>
        <p:nvSpPr>
          <p:cNvPr id="4" name="Slide Number Placeholder 3">
            <a:extLst>
              <a:ext uri="{FF2B5EF4-FFF2-40B4-BE49-F238E27FC236}">
                <a16:creationId xmlns:a16="http://schemas.microsoft.com/office/drawing/2014/main" id="{F79F1ED3-6CCC-42F4-9C05-6CA61244A2EE}"/>
              </a:ext>
            </a:extLst>
          </p:cNvPr>
          <p:cNvSpPr>
            <a:spLocks noGrp="1"/>
          </p:cNvSpPr>
          <p:nvPr>
            <p:ph type="sldNum" idx="12"/>
          </p:nvPr>
        </p:nvSpPr>
        <p:spPr>
          <a:xfrm>
            <a:off x="8610600" y="6356350"/>
            <a:ext cx="2743200" cy="365125"/>
          </a:xfrm>
        </p:spPr>
        <p:txBody>
          <a:bodyPr vert="horz" lIns="91440" tIns="45720" rIns="91440" bIns="45720" rtlCol="0" anchor="ctr">
            <a:normAutofit/>
          </a:bodyPr>
          <a:lstStyle/>
          <a:p>
            <a:pPr marR="0" lvl="0" indent="0" fontAlgn="auto">
              <a:spcBef>
                <a:spcPts val="0"/>
              </a:spcBef>
              <a:spcAft>
                <a:spcPts val="600"/>
              </a:spcAft>
              <a:buClrTx/>
              <a:buSzTx/>
              <a:buFontTx/>
              <a:buNone/>
              <a:tabLst/>
              <a:defRPr/>
            </a:pPr>
            <a:fld id="{00000000-1234-1234-1234-123412341234}" type="slidenum">
              <a:rPr kumimoji="0" lang="en-US" b="0" i="0" u="none" strike="noStrike" cap="none" spc="0" normalizeH="0" baseline="0" noProof="0">
                <a:ln>
                  <a:noFill/>
                </a:ln>
                <a:effectLst/>
                <a:uLnTx/>
                <a:uFillTx/>
              </a:rPr>
              <a:pPr marR="0" lvl="0" indent="0" fontAlgn="auto">
                <a:spcBef>
                  <a:spcPts val="0"/>
                </a:spcBef>
                <a:spcAft>
                  <a:spcPts val="600"/>
                </a:spcAft>
                <a:buClrTx/>
                <a:buSzTx/>
                <a:buFontTx/>
                <a:buNone/>
                <a:tabLst/>
                <a:defRPr/>
              </a:pPr>
              <a:t>5</a:t>
            </a:fld>
            <a:endParaRPr kumimoji="0" lang="en-US" b="0" i="0" u="none" strike="noStrike" cap="none" spc="0" normalizeH="0" baseline="0" noProof="0">
              <a:ln>
                <a:noFill/>
              </a:ln>
              <a:effectLst/>
              <a:uLnTx/>
              <a:uFillTx/>
            </a:endParaRPr>
          </a:p>
        </p:txBody>
      </p:sp>
    </p:spTree>
    <p:extLst>
      <p:ext uri="{BB962C8B-B14F-4D97-AF65-F5344CB8AC3E}">
        <p14:creationId xmlns:p14="http://schemas.microsoft.com/office/powerpoint/2010/main" val="3351752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713A87-BCE4-4810-ABAC-D950E5A5683F}"/>
              </a:ext>
            </a:extLst>
          </p:cNvPr>
          <p:cNvSpPr>
            <a:spLocks noGrp="1"/>
          </p:cNvSpPr>
          <p:nvPr>
            <p:ph type="title"/>
          </p:nvPr>
        </p:nvSpPr>
        <p:spPr>
          <a:xfrm>
            <a:off x="841248" y="548640"/>
            <a:ext cx="3600860" cy="5431536"/>
          </a:xfrm>
        </p:spPr>
        <p:txBody>
          <a:bodyPr vert="horz" lIns="91440" tIns="45720" rIns="91440" bIns="45720" rtlCol="0" anchor="ctr">
            <a:normAutofit/>
          </a:bodyPr>
          <a:lstStyle/>
          <a:p>
            <a:pPr>
              <a:spcBef>
                <a:spcPct val="0"/>
              </a:spcBef>
            </a:pPr>
            <a:r>
              <a:rPr lang="en-US" sz="4800" b="1" kern="1200" dirty="0">
                <a:solidFill>
                  <a:schemeClr val="tx1"/>
                </a:solidFill>
                <a:latin typeface="+mj-lt"/>
                <a:ea typeface="+mj-ea"/>
                <a:cs typeface="+mj-cs"/>
              </a:rPr>
              <a:t>What are NFRs?</a:t>
            </a:r>
            <a:endParaRPr lang="en-US" sz="4600" kern="1200" dirty="0">
              <a:solidFill>
                <a:schemeClr val="tx1"/>
              </a:solidFill>
              <a:latin typeface="+mj-lt"/>
              <a:ea typeface="+mj-ea"/>
              <a:cs typeface="+mj-cs"/>
            </a:endParaRPr>
          </a:p>
        </p:txBody>
      </p:sp>
      <p:sp>
        <p:nvSpPr>
          <p:cNvPr id="28"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A4D224B0-2225-4887-BBD1-12FFDCCA122E}"/>
              </a:ext>
            </a:extLst>
          </p:cNvPr>
          <p:cNvSpPr>
            <a:spLocks noGrp="1"/>
          </p:cNvSpPr>
          <p:nvPr>
            <p:ph type="body" idx="1"/>
          </p:nvPr>
        </p:nvSpPr>
        <p:spPr>
          <a:xfrm>
            <a:off x="5126418" y="552090"/>
            <a:ext cx="6224335" cy="6020987"/>
          </a:xfrm>
        </p:spPr>
        <p:txBody>
          <a:bodyPr vert="horz" lIns="91440" tIns="45720" rIns="91440" bIns="45720" rtlCol="0" anchor="ctr">
            <a:normAutofit/>
          </a:bodyPr>
          <a:lstStyle/>
          <a:p>
            <a:pPr marL="0" indent="0">
              <a:buNone/>
            </a:pPr>
            <a:r>
              <a:rPr lang="en-US" sz="1400" b="1" u="sng" dirty="0"/>
              <a:t>There is no such consensus for NFRs:</a:t>
            </a:r>
          </a:p>
          <a:p>
            <a:pPr indent="-228600">
              <a:buFont typeface="Arial" panose="020B0604020202020204" pitchFamily="34" charset="0"/>
              <a:buChar char="•"/>
            </a:pPr>
            <a:endParaRPr lang="en-US" sz="1400" dirty="0"/>
          </a:p>
          <a:p>
            <a:pPr lvl="1" indent="-228600">
              <a:buFont typeface="Arial" panose="020B0604020202020204" pitchFamily="34" charset="0"/>
              <a:buChar char="•"/>
            </a:pPr>
            <a:r>
              <a:rPr lang="en-US" sz="1400" b="1" dirty="0"/>
              <a:t>[BOOK: NON-FUNCTIONAL REQUIREMENTS IN SOFTWARE ENGINEERING]:</a:t>
            </a:r>
            <a:r>
              <a:rPr lang="en-US" sz="1400" dirty="0"/>
              <a:t> lists 161 NFRs !!</a:t>
            </a:r>
          </a:p>
          <a:p>
            <a:pPr lvl="1" indent="-228600">
              <a:buFont typeface="Arial" panose="020B0604020202020204" pitchFamily="34" charset="0"/>
              <a:buChar char="•"/>
            </a:pPr>
            <a:endParaRPr lang="en-US" sz="1400" dirty="0"/>
          </a:p>
          <a:p>
            <a:pPr lvl="1" indent="-228600">
              <a:buFont typeface="Arial" panose="020B0604020202020204" pitchFamily="34" charset="0"/>
              <a:buChar char="•"/>
            </a:pPr>
            <a:r>
              <a:rPr lang="en-US" sz="1400" b="1" dirty="0"/>
              <a:t>[IEEE 610.12]:</a:t>
            </a:r>
            <a:r>
              <a:rPr lang="en-US" sz="1400" dirty="0"/>
              <a:t> Term is not defined. The standard distinguishes design requirements, implementation requirements, interface requirements, performance requirements, and physical requirements.</a:t>
            </a:r>
          </a:p>
          <a:p>
            <a:pPr lvl="1" indent="-228600">
              <a:buFont typeface="Arial" panose="020B0604020202020204" pitchFamily="34" charset="0"/>
              <a:buChar char="•"/>
            </a:pPr>
            <a:endParaRPr lang="en-US" sz="1400" dirty="0"/>
          </a:p>
          <a:p>
            <a:pPr lvl="1" indent="-228600">
              <a:buFont typeface="Arial" panose="020B0604020202020204" pitchFamily="34" charset="0"/>
              <a:buChar char="•"/>
            </a:pPr>
            <a:r>
              <a:rPr lang="en-US" sz="1400" b="1" dirty="0"/>
              <a:t>[IEEE 29148]:</a:t>
            </a:r>
            <a:r>
              <a:rPr lang="en-US" sz="1400" dirty="0"/>
              <a:t> Term is not defined. The standard defines the categories functionality, external interfaces, performance, attributes (portability, security, etc.), and design constraints. Project requirements (such as schedule, cost, or development requirements) are explicitly excluded.</a:t>
            </a:r>
          </a:p>
          <a:p>
            <a:pPr lvl="1" indent="-228600">
              <a:buFont typeface="Arial" panose="020B0604020202020204" pitchFamily="34" charset="0"/>
              <a:buChar char="•"/>
            </a:pPr>
            <a:endParaRPr lang="en-US" sz="1400" dirty="0"/>
          </a:p>
          <a:p>
            <a:pPr lvl="1" indent="-228600">
              <a:buFont typeface="Arial" panose="020B0604020202020204" pitchFamily="34" charset="0"/>
              <a:buChar char="•"/>
            </a:pPr>
            <a:r>
              <a:rPr lang="en-US" sz="1400" dirty="0"/>
              <a:t>How NFRs are referred to in research articles?</a:t>
            </a:r>
          </a:p>
          <a:p>
            <a:pPr lvl="1" indent="-228600">
              <a:buFont typeface="Arial" panose="020B0604020202020204" pitchFamily="34" charset="0"/>
              <a:buChar char="•"/>
            </a:pPr>
            <a:endParaRPr lang="en-US" sz="1400" dirty="0"/>
          </a:p>
          <a:p>
            <a:pPr lvl="2" indent="-228600">
              <a:buFont typeface="Arial" panose="020B0604020202020204" pitchFamily="34" charset="0"/>
              <a:buChar char="•"/>
            </a:pPr>
            <a:r>
              <a:rPr lang="en-US" sz="1000" b="1" dirty="0"/>
              <a:t>[Anton97]:</a:t>
            </a:r>
            <a:r>
              <a:rPr lang="en-US" sz="1000" dirty="0"/>
              <a:t> Describe the nonbehavioral </a:t>
            </a:r>
            <a:r>
              <a:rPr lang="en-US" sz="1000" b="1" i="1" dirty="0">
                <a:solidFill>
                  <a:schemeClr val="accent2"/>
                </a:solidFill>
              </a:rPr>
              <a:t>aspects</a:t>
            </a:r>
            <a:r>
              <a:rPr lang="en-US" sz="1000" b="1" i="1" dirty="0"/>
              <a:t> </a:t>
            </a:r>
            <a:r>
              <a:rPr lang="en-US" sz="1000" dirty="0"/>
              <a:t>of a system, capturing the properties and constraints under which a system must operate.</a:t>
            </a:r>
          </a:p>
          <a:p>
            <a:pPr lvl="2" indent="-228600">
              <a:buFont typeface="Arial" panose="020B0604020202020204" pitchFamily="34" charset="0"/>
              <a:buChar char="•"/>
            </a:pPr>
            <a:endParaRPr lang="en-US" sz="1000" dirty="0"/>
          </a:p>
          <a:p>
            <a:pPr lvl="2" indent="-228600">
              <a:buFont typeface="Arial" panose="020B0604020202020204" pitchFamily="34" charset="0"/>
              <a:buChar char="•"/>
            </a:pPr>
            <a:r>
              <a:rPr lang="en-US" sz="1000" b="1" dirty="0"/>
              <a:t>[Davis93]:</a:t>
            </a:r>
            <a:r>
              <a:rPr lang="en-US" sz="1000" dirty="0"/>
              <a:t> The required overall</a:t>
            </a:r>
            <a:r>
              <a:rPr lang="en-US" sz="1000" dirty="0">
                <a:solidFill>
                  <a:schemeClr val="accent2"/>
                </a:solidFill>
              </a:rPr>
              <a:t> </a:t>
            </a:r>
            <a:r>
              <a:rPr lang="en-US" sz="1000" b="1" i="1" dirty="0">
                <a:solidFill>
                  <a:schemeClr val="accent2"/>
                </a:solidFill>
              </a:rPr>
              <a:t>attributes</a:t>
            </a:r>
            <a:r>
              <a:rPr lang="en-US" sz="1000" dirty="0">
                <a:solidFill>
                  <a:schemeClr val="accent2"/>
                </a:solidFill>
              </a:rPr>
              <a:t> </a:t>
            </a:r>
            <a:r>
              <a:rPr lang="en-US" sz="1000" dirty="0"/>
              <a:t>of the system, including portability, reliability, efficiency, human engineering, testability, understandability, and modifiability.</a:t>
            </a:r>
          </a:p>
          <a:p>
            <a:pPr lvl="2" indent="-228600">
              <a:buFont typeface="Arial" panose="020B0604020202020204" pitchFamily="34" charset="0"/>
              <a:buChar char="•"/>
            </a:pPr>
            <a:endParaRPr lang="en-US" sz="1000" dirty="0"/>
          </a:p>
          <a:p>
            <a:pPr lvl="2" indent="-228600">
              <a:buFont typeface="Arial" panose="020B0604020202020204" pitchFamily="34" charset="0"/>
              <a:buChar char="•"/>
            </a:pPr>
            <a:r>
              <a:rPr lang="en-US" sz="1000" b="1" dirty="0"/>
              <a:t>[Jacobson99]:</a:t>
            </a:r>
            <a:r>
              <a:rPr lang="en-US" sz="1000" dirty="0"/>
              <a:t> A requirement that specifies system</a:t>
            </a:r>
            <a:r>
              <a:rPr lang="en-US" sz="1000" dirty="0">
                <a:solidFill>
                  <a:schemeClr val="accent2"/>
                </a:solidFill>
              </a:rPr>
              <a:t> </a:t>
            </a:r>
            <a:r>
              <a:rPr lang="en-US" sz="1000" b="1" i="1" dirty="0">
                <a:solidFill>
                  <a:schemeClr val="accent2"/>
                </a:solidFill>
              </a:rPr>
              <a:t>properties</a:t>
            </a:r>
            <a:r>
              <a:rPr lang="en-US" sz="1000" dirty="0"/>
              <a:t>, such as environmental and implementation constraints, performance, platform dependencies, maintainability, extensibility, and reliability. A requirement that specifies physical constraints on a functional requirement.</a:t>
            </a:r>
          </a:p>
          <a:p>
            <a:pPr lvl="2" indent="-228600">
              <a:buFont typeface="Arial" panose="020B0604020202020204" pitchFamily="34" charset="0"/>
              <a:buChar char="•"/>
            </a:pPr>
            <a:endParaRPr lang="en-US" sz="1000" dirty="0"/>
          </a:p>
          <a:p>
            <a:pPr lvl="2" indent="-228600">
              <a:buFont typeface="Arial" panose="020B0604020202020204" pitchFamily="34" charset="0"/>
              <a:buChar char="•"/>
            </a:pPr>
            <a:r>
              <a:rPr lang="en-US" sz="1000" b="1" dirty="0"/>
              <a:t>[Kotonya98]:</a:t>
            </a:r>
            <a:r>
              <a:rPr lang="en-US" sz="1000" dirty="0"/>
              <a:t> Requirements which are not specifically concerned with the functionality of a system. They place restrictions on the product being developed and the development process, and they specify external </a:t>
            </a:r>
            <a:r>
              <a:rPr lang="en-US" sz="1000" b="1" i="1" dirty="0">
                <a:solidFill>
                  <a:schemeClr val="accent2"/>
                </a:solidFill>
              </a:rPr>
              <a:t>constraints</a:t>
            </a:r>
            <a:r>
              <a:rPr lang="en-US" sz="1000" dirty="0"/>
              <a:t> that the product must meet.</a:t>
            </a:r>
          </a:p>
          <a:p>
            <a:pPr indent="-228600">
              <a:buFont typeface="Arial" panose="020B0604020202020204" pitchFamily="34" charset="0"/>
              <a:buChar char="•"/>
            </a:pPr>
            <a:endParaRPr lang="en-US" sz="1200" dirty="0"/>
          </a:p>
        </p:txBody>
      </p:sp>
      <p:sp>
        <p:nvSpPr>
          <p:cNvPr id="4" name="Slide Number Placeholder 3">
            <a:extLst>
              <a:ext uri="{FF2B5EF4-FFF2-40B4-BE49-F238E27FC236}">
                <a16:creationId xmlns:a16="http://schemas.microsoft.com/office/drawing/2014/main" id="{5FA906C6-53C3-42E8-96A4-4F560DB63093}"/>
              </a:ext>
            </a:extLst>
          </p:cNvPr>
          <p:cNvSpPr>
            <a:spLocks noGrp="1"/>
          </p:cNvSpPr>
          <p:nvPr>
            <p:ph type="sldNum" idx="12"/>
          </p:nvPr>
        </p:nvSpPr>
        <p:spPr>
          <a:xfrm>
            <a:off x="8610600" y="6356350"/>
            <a:ext cx="2743200" cy="365125"/>
          </a:xfrm>
        </p:spPr>
        <p:txBody>
          <a:bodyPr vert="horz" lIns="91440" tIns="45720" rIns="91440" bIns="45720" rtlCol="0" anchor="ctr">
            <a:normAutofit/>
          </a:bodyPr>
          <a:lstStyle/>
          <a:p>
            <a:pPr marR="0" lvl="0" indent="0" fontAlgn="auto">
              <a:spcBef>
                <a:spcPts val="0"/>
              </a:spcBef>
              <a:spcAft>
                <a:spcPts val="600"/>
              </a:spcAft>
              <a:buClrTx/>
              <a:buSzTx/>
              <a:buFontTx/>
              <a:buNone/>
              <a:tabLst/>
              <a:defRPr/>
            </a:pPr>
            <a:fld id="{00000000-1234-1234-1234-123412341234}" type="slidenum">
              <a:rPr kumimoji="0" lang="en-US" b="0" i="0" u="none" strike="noStrike" cap="none" spc="0" normalizeH="0" baseline="0" noProof="0">
                <a:ln>
                  <a:noFill/>
                </a:ln>
                <a:effectLst/>
                <a:uLnTx/>
                <a:uFillTx/>
              </a:rPr>
              <a:pPr marR="0" lvl="0" indent="0" fontAlgn="auto">
                <a:spcBef>
                  <a:spcPts val="0"/>
                </a:spcBef>
                <a:spcAft>
                  <a:spcPts val="600"/>
                </a:spcAft>
                <a:buClrTx/>
                <a:buSzTx/>
                <a:buFontTx/>
                <a:buNone/>
                <a:tabLst/>
                <a:defRPr/>
              </a:pPr>
              <a:t>6</a:t>
            </a:fld>
            <a:endParaRPr kumimoji="0" lang="en-US" b="0" i="0" u="none" strike="noStrike" cap="none" spc="0" normalizeH="0" baseline="0" noProof="0" dirty="0">
              <a:ln>
                <a:noFill/>
              </a:ln>
              <a:effectLst/>
              <a:uLnTx/>
              <a:uFillTx/>
            </a:endParaRPr>
          </a:p>
        </p:txBody>
      </p:sp>
    </p:spTree>
    <p:extLst>
      <p:ext uri="{BB962C8B-B14F-4D97-AF65-F5344CB8AC3E}">
        <p14:creationId xmlns:p14="http://schemas.microsoft.com/office/powerpoint/2010/main" val="89305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2" end="1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84FBB52-7B3E-459E-B9BE-C086A2BC98A7}"/>
              </a:ext>
            </a:extLst>
          </p:cNvPr>
          <p:cNvSpPr>
            <a:spLocks noGrp="1"/>
          </p:cNvSpPr>
          <p:nvPr>
            <p:ph type="title"/>
          </p:nvPr>
        </p:nvSpPr>
        <p:spPr>
          <a:xfrm>
            <a:off x="841248" y="548640"/>
            <a:ext cx="3600860" cy="5431536"/>
          </a:xfrm>
        </p:spPr>
        <p:txBody>
          <a:bodyPr vert="horz" lIns="91440" tIns="45720" rIns="91440" bIns="45720" rtlCol="0" anchor="ctr">
            <a:normAutofit/>
          </a:bodyPr>
          <a:lstStyle/>
          <a:p>
            <a:pPr>
              <a:spcBef>
                <a:spcPct val="0"/>
              </a:spcBef>
            </a:pPr>
            <a:r>
              <a:rPr lang="en-US" sz="4800" b="1" kern="1200" dirty="0">
                <a:solidFill>
                  <a:schemeClr val="tx1"/>
                </a:solidFill>
                <a:latin typeface="+mj-lt"/>
                <a:ea typeface="+mj-ea"/>
                <a:cs typeface="+mj-cs"/>
              </a:rPr>
              <a:t>What are NFRs?</a:t>
            </a:r>
            <a:endParaRPr lang="en-US" sz="4600" kern="1200" dirty="0">
              <a:solidFill>
                <a:schemeClr val="tx1"/>
              </a:solidFill>
              <a:latin typeface="+mj-lt"/>
              <a:ea typeface="+mj-ea"/>
              <a:cs typeface="+mj-cs"/>
            </a:endParaRPr>
          </a:p>
        </p:txBody>
      </p:sp>
      <p:sp>
        <p:nvSpPr>
          <p:cNvPr id="28"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C710C60A-09B1-4099-9370-15C56DA21079}"/>
              </a:ext>
            </a:extLst>
          </p:cNvPr>
          <p:cNvSpPr>
            <a:spLocks noGrp="1"/>
          </p:cNvSpPr>
          <p:nvPr>
            <p:ph type="body" idx="1"/>
          </p:nvPr>
        </p:nvSpPr>
        <p:spPr>
          <a:xfrm>
            <a:off x="5126418" y="552091"/>
            <a:ext cx="6224335" cy="6169384"/>
          </a:xfrm>
        </p:spPr>
        <p:txBody>
          <a:bodyPr vert="horz" lIns="91440" tIns="45720" rIns="91440" bIns="45720" rtlCol="0" anchor="ctr">
            <a:normAutofit fontScale="77500" lnSpcReduction="20000"/>
          </a:bodyPr>
          <a:lstStyle/>
          <a:p>
            <a:pPr lvl="1" indent="-228600">
              <a:buFont typeface="Arial" panose="020B0604020202020204" pitchFamily="34" charset="0"/>
              <a:buChar char="•"/>
            </a:pPr>
            <a:r>
              <a:rPr lang="en-US" sz="2200" b="1" dirty="0"/>
              <a:t>[Ncube02]:</a:t>
            </a:r>
            <a:r>
              <a:rPr lang="en-US" sz="2200" dirty="0"/>
              <a:t> The behavioral </a:t>
            </a:r>
            <a:r>
              <a:rPr lang="en-US" sz="2200" b="1" i="1" dirty="0">
                <a:solidFill>
                  <a:schemeClr val="accent2"/>
                </a:solidFill>
              </a:rPr>
              <a:t>properties</a:t>
            </a:r>
            <a:r>
              <a:rPr lang="en-US" sz="2200" dirty="0"/>
              <a:t> that the specified functions must have, such as performance, usability.</a:t>
            </a:r>
          </a:p>
          <a:p>
            <a:pPr lvl="1" indent="-228600">
              <a:buFont typeface="Arial" panose="020B0604020202020204" pitchFamily="34" charset="0"/>
              <a:buChar char="•"/>
            </a:pPr>
            <a:endParaRPr lang="en-US" sz="2200" dirty="0"/>
          </a:p>
          <a:p>
            <a:pPr lvl="1" indent="-228600">
              <a:buFont typeface="Arial" panose="020B0604020202020204" pitchFamily="34" charset="0"/>
              <a:buChar char="•"/>
            </a:pPr>
            <a:r>
              <a:rPr lang="en-US" sz="2200" dirty="0"/>
              <a:t>[</a:t>
            </a:r>
            <a:r>
              <a:rPr lang="en-US" sz="2200" b="1" dirty="0"/>
              <a:t>Robertson99]:</a:t>
            </a:r>
            <a:r>
              <a:rPr lang="en-US" sz="2200" dirty="0"/>
              <a:t> A </a:t>
            </a:r>
            <a:r>
              <a:rPr lang="en-US" sz="2200" b="1" i="1" dirty="0">
                <a:solidFill>
                  <a:schemeClr val="accent2"/>
                </a:solidFill>
              </a:rPr>
              <a:t>property</a:t>
            </a:r>
            <a:r>
              <a:rPr lang="en-US" sz="2200" dirty="0"/>
              <a:t>, or </a:t>
            </a:r>
            <a:r>
              <a:rPr lang="en-US" sz="2200" b="1" i="1" dirty="0">
                <a:solidFill>
                  <a:schemeClr val="accent2"/>
                </a:solidFill>
              </a:rPr>
              <a:t>quality</a:t>
            </a:r>
            <a:r>
              <a:rPr lang="en-US" sz="2200" dirty="0"/>
              <a:t>, that the product must have, such as an appearance, or a speed or accuracy property.</a:t>
            </a:r>
          </a:p>
          <a:p>
            <a:pPr lvl="1" indent="-228600">
              <a:buFont typeface="Arial" panose="020B0604020202020204" pitchFamily="34" charset="0"/>
              <a:buChar char="•"/>
            </a:pPr>
            <a:endParaRPr lang="en-US" sz="2200" dirty="0"/>
          </a:p>
          <a:p>
            <a:pPr lvl="1" indent="-228600">
              <a:buFont typeface="Arial" panose="020B0604020202020204" pitchFamily="34" charset="0"/>
              <a:buChar char="•"/>
            </a:pPr>
            <a:r>
              <a:rPr lang="en-US" sz="2200" b="1" dirty="0"/>
              <a:t>[Wiegers03]:</a:t>
            </a:r>
            <a:r>
              <a:rPr lang="en-US" sz="2200" dirty="0"/>
              <a:t> A description of a </a:t>
            </a:r>
            <a:r>
              <a:rPr lang="en-US" sz="2200" b="1" i="1" dirty="0">
                <a:solidFill>
                  <a:schemeClr val="accent2"/>
                </a:solidFill>
              </a:rPr>
              <a:t>property</a:t>
            </a:r>
            <a:r>
              <a:rPr lang="en-US" sz="2200" dirty="0"/>
              <a:t> or </a:t>
            </a:r>
            <a:r>
              <a:rPr lang="en-US" sz="2200" b="1" i="1" dirty="0">
                <a:solidFill>
                  <a:schemeClr val="accent2"/>
                </a:solidFill>
              </a:rPr>
              <a:t>characteristic</a:t>
            </a:r>
            <a:r>
              <a:rPr lang="en-US" sz="2200" dirty="0"/>
              <a:t> that a software system must exhibit or a constraint that it must respect, other than an observable system behavior.</a:t>
            </a:r>
          </a:p>
          <a:p>
            <a:pPr lvl="1" indent="-228600">
              <a:buFont typeface="Arial" panose="020B0604020202020204" pitchFamily="34" charset="0"/>
              <a:buChar char="•"/>
            </a:pPr>
            <a:endParaRPr lang="en-US" sz="2200" dirty="0"/>
          </a:p>
          <a:p>
            <a:pPr lvl="1" indent="-228600">
              <a:buFont typeface="Arial" panose="020B0604020202020204" pitchFamily="34" charset="0"/>
              <a:buChar char="•"/>
            </a:pPr>
            <a:r>
              <a:rPr lang="en-US" sz="2200" b="1" dirty="0"/>
              <a:t>[</a:t>
            </a:r>
            <a:r>
              <a:rPr lang="en-US" sz="2200" b="1" dirty="0" err="1"/>
              <a:t>Wikipedia_NFR</a:t>
            </a:r>
            <a:r>
              <a:rPr lang="en-US" sz="2200" b="1" dirty="0"/>
              <a:t>]:</a:t>
            </a:r>
            <a:r>
              <a:rPr lang="en-US" sz="2200" dirty="0"/>
              <a:t> Requirements which specify </a:t>
            </a:r>
            <a:r>
              <a:rPr lang="en-US" sz="2200" b="1" i="1" dirty="0">
                <a:solidFill>
                  <a:schemeClr val="accent2"/>
                </a:solidFill>
              </a:rPr>
              <a:t>criteria</a:t>
            </a:r>
            <a:r>
              <a:rPr lang="en-US" sz="2200" dirty="0">
                <a:solidFill>
                  <a:schemeClr val="accent2"/>
                </a:solidFill>
              </a:rPr>
              <a:t> </a:t>
            </a:r>
            <a:r>
              <a:rPr lang="en-US" sz="2200" dirty="0"/>
              <a:t>that can be used to judge the operation of a system, rather than specific behaviors.</a:t>
            </a:r>
          </a:p>
          <a:p>
            <a:pPr lvl="1" indent="-228600">
              <a:buFont typeface="Arial" panose="020B0604020202020204" pitchFamily="34" charset="0"/>
              <a:buChar char="•"/>
            </a:pPr>
            <a:endParaRPr lang="en-US" sz="2200" dirty="0"/>
          </a:p>
          <a:p>
            <a:pPr lvl="1" indent="-228600">
              <a:buFont typeface="Arial" panose="020B0604020202020204" pitchFamily="34" charset="0"/>
              <a:buChar char="•"/>
            </a:pPr>
            <a:r>
              <a:rPr lang="en-US" sz="2200" b="1" dirty="0"/>
              <a:t>[</a:t>
            </a:r>
            <a:r>
              <a:rPr lang="en-US" sz="2200" b="1" dirty="0" err="1"/>
              <a:t>Wikipedia_Requirements</a:t>
            </a:r>
            <a:r>
              <a:rPr lang="en-US" sz="2200" b="1" dirty="0"/>
              <a:t> Analysis]:</a:t>
            </a:r>
            <a:r>
              <a:rPr lang="en-US" sz="2200" dirty="0"/>
              <a:t>  Requirements which impose </a:t>
            </a:r>
            <a:r>
              <a:rPr lang="en-US" sz="2200" b="1" i="1" dirty="0">
                <a:solidFill>
                  <a:schemeClr val="accent2"/>
                </a:solidFill>
              </a:rPr>
              <a:t>constraints</a:t>
            </a:r>
            <a:r>
              <a:rPr lang="en-US" sz="2200" dirty="0"/>
              <a:t> on the design or implementation (such as performance requirements, quality standards, or design constraints).</a:t>
            </a:r>
          </a:p>
          <a:p>
            <a:pPr lvl="1" indent="-228600">
              <a:buFont typeface="Arial" panose="020B0604020202020204" pitchFamily="34" charset="0"/>
              <a:buChar char="•"/>
            </a:pPr>
            <a:endParaRPr lang="en-US" sz="2200" dirty="0"/>
          </a:p>
          <a:p>
            <a:pPr indent="-228600">
              <a:buFont typeface="Arial" panose="020B0604020202020204" pitchFamily="34" charset="0"/>
              <a:buChar char="•"/>
            </a:pPr>
            <a:r>
              <a:rPr lang="en-US" sz="2600" b="1" dirty="0"/>
              <a:t>NFRs are also referred to as :</a:t>
            </a:r>
          </a:p>
          <a:p>
            <a:pPr lvl="1" indent="-228600">
              <a:buFont typeface="Arial" panose="020B0604020202020204" pitchFamily="34" charset="0"/>
              <a:buChar char="•"/>
            </a:pPr>
            <a:endParaRPr lang="en-US" sz="2200" b="1" dirty="0"/>
          </a:p>
          <a:p>
            <a:pPr lvl="2" indent="-228600">
              <a:buFont typeface="Arial" panose="020B0604020202020204" pitchFamily="34" charset="0"/>
              <a:buChar char="•"/>
            </a:pPr>
            <a:r>
              <a:rPr lang="en-US" b="1" dirty="0">
                <a:solidFill>
                  <a:schemeClr val="accent2"/>
                </a:solidFill>
              </a:rPr>
              <a:t>-</a:t>
            </a:r>
            <a:r>
              <a:rPr lang="en-US" b="1" dirty="0" err="1">
                <a:solidFill>
                  <a:schemeClr val="accent2"/>
                </a:solidFill>
              </a:rPr>
              <a:t>ilities</a:t>
            </a:r>
            <a:r>
              <a:rPr lang="en-US" dirty="0"/>
              <a:t>: understandability, usability, modifiability, inter-operability, reliability, portability, maintainability, scalability, (re-)configurability, customizability, adaptability, variability, volatility, traceability,…</a:t>
            </a:r>
          </a:p>
          <a:p>
            <a:pPr lvl="2" indent="-228600">
              <a:buFont typeface="Arial" panose="020B0604020202020204" pitchFamily="34" charset="0"/>
              <a:buChar char="•"/>
            </a:pPr>
            <a:endParaRPr lang="en-US" dirty="0"/>
          </a:p>
          <a:p>
            <a:pPr lvl="2" indent="-228600">
              <a:buFont typeface="Arial" panose="020B0604020202020204" pitchFamily="34" charset="0"/>
              <a:buChar char="•"/>
            </a:pPr>
            <a:r>
              <a:rPr lang="en-US" b="1" dirty="0">
                <a:solidFill>
                  <a:schemeClr val="accent2"/>
                </a:solidFill>
              </a:rPr>
              <a:t>-</a:t>
            </a:r>
            <a:r>
              <a:rPr lang="en-US" b="1" dirty="0" err="1">
                <a:solidFill>
                  <a:schemeClr val="accent2"/>
                </a:solidFill>
              </a:rPr>
              <a:t>ities</a:t>
            </a:r>
            <a:r>
              <a:rPr lang="en-US" dirty="0"/>
              <a:t>: security, simplicity, clarity, integrity, modularity, ..</a:t>
            </a:r>
          </a:p>
          <a:p>
            <a:pPr lvl="2" indent="-228600">
              <a:buFont typeface="Arial" panose="020B0604020202020204" pitchFamily="34" charset="0"/>
              <a:buChar char="•"/>
            </a:pPr>
            <a:endParaRPr lang="en-US" dirty="0"/>
          </a:p>
          <a:p>
            <a:pPr lvl="2" indent="-228600">
              <a:buFont typeface="Arial" panose="020B0604020202020204" pitchFamily="34" charset="0"/>
              <a:buChar char="•"/>
            </a:pPr>
            <a:r>
              <a:rPr lang="en-US" b="1" dirty="0">
                <a:solidFill>
                  <a:schemeClr val="accent2"/>
                </a:solidFill>
              </a:rPr>
              <a:t>-ness</a:t>
            </a:r>
            <a:r>
              <a:rPr lang="en-US" dirty="0"/>
              <a:t>: user-friendliness, robustness, responsiveness, completeness, correctness, cohesiveness, …</a:t>
            </a:r>
          </a:p>
          <a:p>
            <a:pPr indent="-228600">
              <a:buFont typeface="Arial" panose="020B0604020202020204" pitchFamily="34" charset="0"/>
              <a:buChar char="•"/>
            </a:pPr>
            <a:endParaRPr lang="en-US" sz="1200" dirty="0"/>
          </a:p>
        </p:txBody>
      </p:sp>
      <p:sp>
        <p:nvSpPr>
          <p:cNvPr id="4" name="Slide Number Placeholder 3">
            <a:extLst>
              <a:ext uri="{FF2B5EF4-FFF2-40B4-BE49-F238E27FC236}">
                <a16:creationId xmlns:a16="http://schemas.microsoft.com/office/drawing/2014/main" id="{6C2105D9-8ED8-4860-8957-C0E44A5288D4}"/>
              </a:ext>
            </a:extLst>
          </p:cNvPr>
          <p:cNvSpPr>
            <a:spLocks noGrp="1"/>
          </p:cNvSpPr>
          <p:nvPr>
            <p:ph type="sldNum" idx="12"/>
          </p:nvPr>
        </p:nvSpPr>
        <p:spPr>
          <a:xfrm>
            <a:off x="8610600" y="6356350"/>
            <a:ext cx="2743200" cy="365125"/>
          </a:xfrm>
        </p:spPr>
        <p:txBody>
          <a:bodyPr vert="horz" lIns="91440" tIns="45720" rIns="91440" bIns="45720" rtlCol="0" anchor="ctr">
            <a:normAutofit/>
          </a:bodyPr>
          <a:lstStyle/>
          <a:p>
            <a:pPr marR="0" lvl="0" indent="0" fontAlgn="auto">
              <a:spcBef>
                <a:spcPts val="0"/>
              </a:spcBef>
              <a:spcAft>
                <a:spcPts val="600"/>
              </a:spcAft>
              <a:buClrTx/>
              <a:buSzTx/>
              <a:buFontTx/>
              <a:buNone/>
              <a:tabLst/>
              <a:defRPr/>
            </a:pPr>
            <a:fld id="{00000000-1234-1234-1234-123412341234}" type="slidenum">
              <a:rPr kumimoji="0" lang="en-US" b="0" i="0" u="none" strike="noStrike" cap="none" spc="0" normalizeH="0" baseline="0" noProof="0">
                <a:ln>
                  <a:noFill/>
                </a:ln>
                <a:effectLst/>
                <a:uLnTx/>
                <a:uFillTx/>
              </a:rPr>
              <a:pPr marR="0" lvl="0" indent="0" fontAlgn="auto">
                <a:spcBef>
                  <a:spcPts val="0"/>
                </a:spcBef>
                <a:spcAft>
                  <a:spcPts val="600"/>
                </a:spcAft>
                <a:buClrTx/>
                <a:buSzTx/>
                <a:buFontTx/>
                <a:buNone/>
                <a:tabLst/>
                <a:defRPr/>
              </a:pPr>
              <a:t>7</a:t>
            </a:fld>
            <a:endParaRPr kumimoji="0" lang="en-US" b="0" i="0" u="none" strike="noStrike" cap="none" spc="0" normalizeH="0" baseline="0" noProof="0">
              <a:ln>
                <a:noFill/>
              </a:ln>
              <a:effectLst/>
              <a:uLnTx/>
              <a:uFillTx/>
            </a:endParaRPr>
          </a:p>
        </p:txBody>
      </p:sp>
    </p:spTree>
    <p:extLst>
      <p:ext uri="{BB962C8B-B14F-4D97-AF65-F5344CB8AC3E}">
        <p14:creationId xmlns:p14="http://schemas.microsoft.com/office/powerpoint/2010/main" val="37373559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B724C2E-D76E-49A4-A9E2-72C6294BED29}"/>
              </a:ext>
            </a:extLst>
          </p:cNvPr>
          <p:cNvSpPr>
            <a:spLocks noGrp="1"/>
          </p:cNvSpPr>
          <p:nvPr>
            <p:ph type="title"/>
          </p:nvPr>
        </p:nvSpPr>
        <p:spPr>
          <a:xfrm>
            <a:off x="838200" y="365125"/>
            <a:ext cx="10515600" cy="1325563"/>
          </a:xfrm>
        </p:spPr>
        <p:txBody>
          <a:bodyPr vert="horz" lIns="91440" tIns="45720" rIns="91440" bIns="45720" rtlCol="0" anchor="ctr">
            <a:normAutofit/>
          </a:bodyPr>
          <a:lstStyle/>
          <a:p>
            <a:pPr marL="285750" indent="-228600">
              <a:spcBef>
                <a:spcPct val="0"/>
              </a:spcBef>
            </a:pPr>
            <a:r>
              <a:rPr lang="en-US" sz="5400" b="1" kern="1200" dirty="0">
                <a:solidFill>
                  <a:schemeClr val="tx1"/>
                </a:solidFill>
                <a:latin typeface="+mj-lt"/>
                <a:ea typeface="+mj-ea"/>
                <a:cs typeface="+mj-cs"/>
              </a:rPr>
              <a:t>What are NFRs?</a:t>
            </a:r>
          </a:p>
        </p:txBody>
      </p:sp>
      <p:sp>
        <p:nvSpPr>
          <p:cNvPr id="45"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ext Placeholder 2">
            <a:extLst>
              <a:ext uri="{FF2B5EF4-FFF2-40B4-BE49-F238E27FC236}">
                <a16:creationId xmlns:a16="http://schemas.microsoft.com/office/drawing/2014/main" id="{DE9BD323-169D-4E56-A53A-946A1E188688}"/>
              </a:ext>
            </a:extLst>
          </p:cNvPr>
          <p:cNvSpPr>
            <a:spLocks noGrp="1"/>
          </p:cNvSpPr>
          <p:nvPr>
            <p:ph type="body" idx="1"/>
          </p:nvPr>
        </p:nvSpPr>
        <p:spPr>
          <a:xfrm>
            <a:off x="271463" y="1756811"/>
            <a:ext cx="11615737" cy="5010912"/>
          </a:xfrm>
        </p:spPr>
        <p:txBody>
          <a:bodyPr vert="horz" lIns="91440" tIns="45720" rIns="91440" bIns="45720" rtlCol="0">
            <a:normAutofit fontScale="85000" lnSpcReduction="20000"/>
          </a:bodyPr>
          <a:lstStyle/>
          <a:p>
            <a:pPr marL="685800" lvl="1" indent="-228600">
              <a:buFont typeface="Arial" panose="020B0604020202020204" pitchFamily="34" charset="0"/>
              <a:buChar char="•"/>
            </a:pPr>
            <a:endParaRPr lang="en-US" sz="2500" dirty="0"/>
          </a:p>
          <a:p>
            <a:pPr lvl="1" indent="-228600">
              <a:buFont typeface="Arial" panose="020B0604020202020204" pitchFamily="34" charset="0"/>
              <a:buChar char="•"/>
            </a:pPr>
            <a:endParaRPr lang="en-US" sz="2500" dirty="0"/>
          </a:p>
          <a:p>
            <a:pPr lvl="1" indent="-228600" algn="just">
              <a:buFont typeface="Arial" panose="020B0604020202020204" pitchFamily="34" charset="0"/>
              <a:buChar char="•"/>
              <a:defRPr/>
            </a:pPr>
            <a:r>
              <a:rPr lang="en-US" sz="2900" dirty="0"/>
              <a:t>We will move forward with the notion that a Non-Functional Requirement is any requirement that is not explicitly classified as a functional requirement.</a:t>
            </a:r>
          </a:p>
          <a:p>
            <a:pPr lvl="1" indent="-228600" algn="just">
              <a:buFont typeface="Arial" panose="020B0604020202020204" pitchFamily="34" charset="0"/>
              <a:buChar char="•"/>
              <a:defRPr/>
            </a:pPr>
            <a:endParaRPr lang="en-US" sz="2900" dirty="0"/>
          </a:p>
          <a:p>
            <a:pPr lvl="1" indent="-228600" algn="just">
              <a:buFont typeface="Arial" panose="020B0604020202020204" pitchFamily="34" charset="0"/>
              <a:buChar char="•"/>
              <a:defRPr/>
            </a:pPr>
            <a:r>
              <a:rPr lang="en-US" sz="2900" dirty="0"/>
              <a:t>Bear in mind that some NFRs (quality attributes) are domain / project specific:</a:t>
            </a:r>
          </a:p>
          <a:p>
            <a:pPr marL="1600200" lvl="3" indent="-228600" algn="just">
              <a:buFont typeface="Arial" panose="020B0604020202020204" pitchFamily="34" charset="0"/>
              <a:buChar char="•"/>
              <a:defRPr/>
            </a:pPr>
            <a:endParaRPr lang="en-US" sz="2900" dirty="0"/>
          </a:p>
          <a:p>
            <a:pPr lvl="4" indent="-228600" algn="just">
              <a:buFont typeface="Arial" panose="020B0604020202020204" pitchFamily="34" charset="0"/>
              <a:buChar char="•"/>
              <a:defRPr/>
            </a:pPr>
            <a:r>
              <a:rPr lang="en-US" sz="2900" b="1" dirty="0" err="1"/>
              <a:t>Iowability</a:t>
            </a:r>
            <a:r>
              <a:rPr lang="en-US" sz="2900" b="1" dirty="0"/>
              <a:t> [Bass12]  ! </a:t>
            </a:r>
          </a:p>
          <a:p>
            <a:pPr lvl="4" indent="-228600" algn="just">
              <a:buFont typeface="Arial" panose="020B0604020202020204" pitchFamily="34" charset="0"/>
              <a:buChar char="•"/>
              <a:defRPr/>
            </a:pPr>
            <a:r>
              <a:rPr lang="en-US" sz="2900" b="1" dirty="0"/>
              <a:t>Caring [Kassab17]  !</a:t>
            </a:r>
          </a:p>
          <a:p>
            <a:pPr lvl="4" indent="-228600" algn="just">
              <a:buFont typeface="Arial" panose="020B0604020202020204" pitchFamily="34" charset="0"/>
              <a:buChar char="•"/>
              <a:defRPr/>
            </a:pPr>
            <a:r>
              <a:rPr lang="en-US" sz="2900" b="1" dirty="0"/>
              <a:t>Humanization [Kassab20] !</a:t>
            </a:r>
          </a:p>
          <a:p>
            <a:pPr lvl="2" indent="-228600" algn="just">
              <a:buFont typeface="Arial" panose="020B0604020202020204" pitchFamily="34" charset="0"/>
              <a:buChar char="•"/>
            </a:pPr>
            <a:endParaRPr lang="en-US" sz="2900" dirty="0"/>
          </a:p>
          <a:p>
            <a:pPr lvl="1" indent="-228600" algn="just">
              <a:buFont typeface="Arial" panose="020B0604020202020204" pitchFamily="34" charset="0"/>
              <a:buChar char="•"/>
            </a:pPr>
            <a:r>
              <a:rPr lang="en-US" sz="2900" dirty="0"/>
              <a:t>Each attribute community has developed its own vocabulary.</a:t>
            </a:r>
          </a:p>
          <a:p>
            <a:pPr marL="914400" lvl="2" indent="-228600" algn="just">
              <a:buFont typeface="Arial" panose="020B0604020202020204" pitchFamily="34" charset="0"/>
              <a:buChar char="•"/>
            </a:pPr>
            <a:endParaRPr lang="en-US" sz="2900" dirty="0"/>
          </a:p>
          <a:p>
            <a:pPr lvl="1" indent="-228600" algn="just">
              <a:buFont typeface="Arial" panose="020B0604020202020204" pitchFamily="34" charset="0"/>
              <a:buChar char="•"/>
            </a:pPr>
            <a:r>
              <a:rPr lang="en-US" sz="2900" dirty="0"/>
              <a:t>In software engineering approaches and industrial practices, NFRs are handled separately from FRs of a system at later stages of the development.</a:t>
            </a:r>
          </a:p>
          <a:p>
            <a:pPr lvl="1" indent="-228600" algn="just">
              <a:buFont typeface="Arial" panose="020B0604020202020204" pitchFamily="34" charset="0"/>
              <a:buChar char="•"/>
            </a:pPr>
            <a:endParaRPr lang="en-US" sz="2900" dirty="0"/>
          </a:p>
          <a:p>
            <a:pPr lvl="1" indent="-228600" algn="just">
              <a:buFont typeface="Arial" panose="020B0604020202020204" pitchFamily="34" charset="0"/>
              <a:buChar char="•"/>
            </a:pPr>
            <a:r>
              <a:rPr lang="en-US" sz="2900" dirty="0"/>
              <a:t>But because of this, some software engineering principles such as abstraction,</a:t>
            </a:r>
          </a:p>
          <a:p>
            <a:pPr marL="914400" lvl="2" indent="0" algn="just">
              <a:buNone/>
            </a:pPr>
            <a:r>
              <a:rPr lang="en-US" sz="2900" dirty="0"/>
              <a:t> localization, modularization, uniformity and reusability, can be compromised.</a:t>
            </a:r>
          </a:p>
          <a:p>
            <a:pPr indent="-228600">
              <a:buFont typeface="Arial" panose="020B0604020202020204" pitchFamily="34" charset="0"/>
              <a:buChar char="•"/>
            </a:pPr>
            <a:endParaRPr lang="en-US" sz="1500" dirty="0"/>
          </a:p>
        </p:txBody>
      </p:sp>
      <p:sp>
        <p:nvSpPr>
          <p:cNvPr id="4" name="Slide Number Placeholder 3">
            <a:extLst>
              <a:ext uri="{FF2B5EF4-FFF2-40B4-BE49-F238E27FC236}">
                <a16:creationId xmlns:a16="http://schemas.microsoft.com/office/drawing/2014/main" id="{F79F1ED3-6CCC-42F4-9C05-6CA61244A2EE}"/>
              </a:ext>
            </a:extLst>
          </p:cNvPr>
          <p:cNvSpPr>
            <a:spLocks noGrp="1"/>
          </p:cNvSpPr>
          <p:nvPr>
            <p:ph type="sldNum" idx="12"/>
          </p:nvPr>
        </p:nvSpPr>
        <p:spPr>
          <a:xfrm>
            <a:off x="8610600" y="6356350"/>
            <a:ext cx="2743200"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0000000-1234-1234-1234-123412341234}"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82791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AA3495-2D62-C91B-4779-0FA820D07A0B}"/>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spcBef>
                <a:spcPct val="0"/>
              </a:spcBef>
            </a:pPr>
            <a:r>
              <a:rPr lang="en-US" sz="3200" kern="1200">
                <a:solidFill>
                  <a:schemeClr val="bg1"/>
                </a:solidFill>
                <a:latin typeface="+mj-lt"/>
                <a:ea typeface="+mj-ea"/>
                <a:cs typeface="+mj-cs"/>
              </a:rPr>
              <a:t>Different Types of NFRs</a:t>
            </a:r>
          </a:p>
        </p:txBody>
      </p:sp>
      <p:pic>
        <p:nvPicPr>
          <p:cNvPr id="5" name="Picture 4">
            <a:extLst>
              <a:ext uri="{FF2B5EF4-FFF2-40B4-BE49-F238E27FC236}">
                <a16:creationId xmlns:a16="http://schemas.microsoft.com/office/drawing/2014/main" id="{E003ADCD-42E1-61D0-A6F9-EFCBDF949B31}"/>
              </a:ext>
            </a:extLst>
          </p:cNvPr>
          <p:cNvPicPr>
            <a:picLocks noChangeAspect="1"/>
          </p:cNvPicPr>
          <p:nvPr/>
        </p:nvPicPr>
        <p:blipFill>
          <a:blip r:embed="rId2"/>
          <a:stretch>
            <a:fillRect/>
          </a:stretch>
        </p:blipFill>
        <p:spPr>
          <a:xfrm>
            <a:off x="1659195" y="2265162"/>
            <a:ext cx="10588429" cy="4394199"/>
          </a:xfrm>
          <a:prstGeom prst="rect">
            <a:avLst/>
          </a:prstGeom>
        </p:spPr>
      </p:pic>
      <p:sp>
        <p:nvSpPr>
          <p:cNvPr id="3" name="TextBox 2">
            <a:extLst>
              <a:ext uri="{FF2B5EF4-FFF2-40B4-BE49-F238E27FC236}">
                <a16:creationId xmlns:a16="http://schemas.microsoft.com/office/drawing/2014/main" id="{8EC717F1-4BEC-F413-950E-74D2D7BECA21}"/>
              </a:ext>
            </a:extLst>
          </p:cNvPr>
          <p:cNvSpPr txBox="1"/>
          <p:nvPr/>
        </p:nvSpPr>
        <p:spPr>
          <a:xfrm>
            <a:off x="294969" y="1803497"/>
            <a:ext cx="3539611" cy="923330"/>
          </a:xfrm>
          <a:prstGeom prst="rect">
            <a:avLst/>
          </a:prstGeom>
          <a:noFill/>
        </p:spPr>
        <p:txBody>
          <a:bodyPr wrap="square" rtlCol="0">
            <a:spAutoFit/>
          </a:bodyPr>
          <a:lstStyle/>
          <a:p>
            <a:r>
              <a:rPr lang="en-US" b="1" dirty="0">
                <a:solidFill>
                  <a:schemeClr val="accent2"/>
                </a:solidFill>
              </a:rPr>
              <a:t>In the remaining of this lesson, we will focus more on Quality Requirements (Attributes)</a:t>
            </a:r>
          </a:p>
        </p:txBody>
      </p:sp>
      <p:cxnSp>
        <p:nvCxnSpPr>
          <p:cNvPr id="6" name="Straight Connector 5">
            <a:extLst>
              <a:ext uri="{FF2B5EF4-FFF2-40B4-BE49-F238E27FC236}">
                <a16:creationId xmlns:a16="http://schemas.microsoft.com/office/drawing/2014/main" id="{BA1BF65E-4047-01E6-6822-E3044B2424D2}"/>
              </a:ext>
            </a:extLst>
          </p:cNvPr>
          <p:cNvCxnSpPr>
            <a:cxnSpLocks/>
          </p:cNvCxnSpPr>
          <p:nvPr/>
        </p:nvCxnSpPr>
        <p:spPr>
          <a:xfrm>
            <a:off x="2064774" y="2699117"/>
            <a:ext cx="398206" cy="876859"/>
          </a:xfrm>
          <a:prstGeom prst="line">
            <a:avLst/>
          </a:prstGeom>
        </p:spPr>
        <p:style>
          <a:lnRef idx="1">
            <a:schemeClr val="accent2"/>
          </a:lnRef>
          <a:fillRef idx="0">
            <a:schemeClr val="accent2"/>
          </a:fillRef>
          <a:effectRef idx="0">
            <a:schemeClr val="accent2"/>
          </a:effectRef>
          <a:fontRef idx="minor">
            <a:schemeClr val="tx1"/>
          </a:fontRef>
        </p:style>
      </p:cxnSp>
      <p:sp>
        <p:nvSpPr>
          <p:cNvPr id="8" name="Slide Number Placeholder 7">
            <a:extLst>
              <a:ext uri="{FF2B5EF4-FFF2-40B4-BE49-F238E27FC236}">
                <a16:creationId xmlns:a16="http://schemas.microsoft.com/office/drawing/2014/main" id="{296C2E38-45FF-87B8-5C5F-2CB59EBF1244}"/>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0000000-1234-1234-1234-123412341234}" type="slidenum">
              <a:rPr kumimoji="0" lang="en"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26714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88258" y="58244"/>
            <a:ext cx="7298392" cy="1084756"/>
          </a:xfrm>
        </p:spPr>
        <p:txBody>
          <a:bodyPr anchor="b">
            <a:normAutofit/>
          </a:bodyPr>
          <a:lstStyle/>
          <a:p>
            <a:r>
              <a:rPr lang="en-US" sz="4000" dirty="0"/>
              <a:t>How to specify Quality Attributes?</a:t>
            </a:r>
          </a:p>
        </p:txBody>
      </p:sp>
      <p:sp>
        <p:nvSpPr>
          <p:cNvPr id="3" name="Content Placeholder 2"/>
          <p:cNvSpPr>
            <a:spLocks noGrp="1"/>
          </p:cNvSpPr>
          <p:nvPr>
            <p:ph idx="1"/>
          </p:nvPr>
        </p:nvSpPr>
        <p:spPr>
          <a:xfrm>
            <a:off x="188259" y="1312645"/>
            <a:ext cx="7597996" cy="5487111"/>
          </a:xfrm>
        </p:spPr>
        <p:txBody>
          <a:bodyPr anchor="t">
            <a:normAutofit fontScale="92500"/>
          </a:bodyPr>
          <a:lstStyle/>
          <a:p>
            <a:r>
              <a:rPr lang="en-US" sz="3500" dirty="0"/>
              <a:t>If a functional requirement is "when the user presses the green button the Options dialog appears”:</a:t>
            </a:r>
          </a:p>
          <a:p>
            <a:pPr lvl="1"/>
            <a:r>
              <a:rPr lang="en-US" sz="3500" dirty="0"/>
              <a:t>a </a:t>
            </a:r>
            <a:r>
              <a:rPr lang="en-US" sz="3500" dirty="0">
                <a:solidFill>
                  <a:schemeClr val="accent2"/>
                </a:solidFill>
              </a:rPr>
              <a:t>performance</a:t>
            </a:r>
            <a:r>
              <a:rPr lang="en-US" sz="3500" dirty="0"/>
              <a:t> QA annotation might describe how quickly the dialog will appear; </a:t>
            </a:r>
          </a:p>
          <a:p>
            <a:pPr lvl="1"/>
            <a:r>
              <a:rPr lang="en-US" sz="3500" dirty="0"/>
              <a:t>an </a:t>
            </a:r>
            <a:r>
              <a:rPr lang="en-US" sz="3500" dirty="0">
                <a:solidFill>
                  <a:schemeClr val="accent2"/>
                </a:solidFill>
              </a:rPr>
              <a:t>availability</a:t>
            </a:r>
            <a:r>
              <a:rPr lang="en-US" sz="3500" dirty="0"/>
              <a:t> QA annotation might describe how often this function will fail, and how quickly it will be repaired; </a:t>
            </a:r>
          </a:p>
          <a:p>
            <a:pPr lvl="1"/>
            <a:r>
              <a:rPr lang="en-US" sz="3500" dirty="0"/>
              <a:t>a </a:t>
            </a:r>
            <a:r>
              <a:rPr lang="en-US" sz="3500" dirty="0">
                <a:solidFill>
                  <a:schemeClr val="accent2"/>
                </a:solidFill>
              </a:rPr>
              <a:t>usability</a:t>
            </a:r>
            <a:r>
              <a:rPr lang="en-US" sz="3500" dirty="0"/>
              <a:t> QA annotation might describe how easy it is to learn this function.</a:t>
            </a:r>
          </a:p>
          <a:p>
            <a:endParaRPr lang="en-US" sz="2000" dirty="0"/>
          </a:p>
        </p:txBody>
      </p:sp>
      <p:sp>
        <p:nvSpPr>
          <p:cNvPr id="13" name="Rectangle 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263B2B07-347A-E967-2CBF-0DCB2D92396D}"/>
              </a:ext>
            </a:extLst>
          </p:cNvPr>
          <p:cNvPicPr>
            <a:picLocks noChangeAspect="1"/>
          </p:cNvPicPr>
          <p:nvPr/>
        </p:nvPicPr>
        <p:blipFill>
          <a:blip r:embed="rId2"/>
          <a:stretch>
            <a:fillRect/>
          </a:stretch>
        </p:blipFill>
        <p:spPr>
          <a:xfrm>
            <a:off x="8084328" y="1296687"/>
            <a:ext cx="4170530" cy="4264602"/>
          </a:xfrm>
          <a:prstGeom prst="rect">
            <a:avLst/>
          </a:prstGeom>
        </p:spPr>
      </p:pic>
      <p:sp>
        <p:nvSpPr>
          <p:cNvPr id="4" name="Slide Number Placeholder 3">
            <a:extLst>
              <a:ext uri="{FF2B5EF4-FFF2-40B4-BE49-F238E27FC236}">
                <a16:creationId xmlns:a16="http://schemas.microsoft.com/office/drawing/2014/main" id="{08A695C5-B4B1-8F0E-1F66-9176EB66E26F}"/>
              </a:ext>
            </a:extLst>
          </p:cNvPr>
          <p:cNvSpPr>
            <a:spLocks noGrp="1"/>
          </p:cNvSpPr>
          <p:nvPr>
            <p:ph type="sldNum" sz="quarter" idx="12"/>
          </p:nvPr>
        </p:nvSpPr>
        <p:spPr/>
        <p:txBody>
          <a:bodyPr/>
          <a:lstStyle/>
          <a:p>
            <a:fld id="{7DF6DEEC-D04A-4FF0-9A08-7D39859C24F4}" type="slidenum">
              <a:rPr lang="en-US" smtClean="0"/>
              <a:t>10</a:t>
            </a:fld>
            <a:endParaRPr lang="en-US"/>
          </a:p>
        </p:txBody>
      </p:sp>
    </p:spTree>
    <p:extLst>
      <p:ext uri="{BB962C8B-B14F-4D97-AF65-F5344CB8AC3E}">
        <p14:creationId xmlns:p14="http://schemas.microsoft.com/office/powerpoint/2010/main" val="28655845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699655" y="471806"/>
            <a:ext cx="10515600" cy="793750"/>
          </a:xfrm>
        </p:spPr>
        <p:txBody>
          <a:bodyPr>
            <a:normAutofit/>
          </a:bodyPr>
          <a:lstStyle/>
          <a:p>
            <a:r>
              <a:rPr lang="en-US" sz="4400" dirty="0"/>
              <a:t>How to specify Quality Attributes?</a:t>
            </a:r>
            <a:endParaRPr lang="en-US" dirty="0"/>
          </a:p>
        </p:txBody>
      </p:sp>
      <p:sp>
        <p:nvSpPr>
          <p:cNvPr id="3" name="Content Placeholder 2"/>
          <p:cNvSpPr>
            <a:spLocks noGrp="1"/>
          </p:cNvSpPr>
          <p:nvPr>
            <p:ph idx="1"/>
          </p:nvPr>
        </p:nvSpPr>
        <p:spPr>
          <a:xfrm>
            <a:off x="504167" y="1585596"/>
            <a:ext cx="11064378" cy="4800599"/>
          </a:xfrm>
        </p:spPr>
        <p:txBody>
          <a:bodyPr>
            <a:normAutofit/>
          </a:bodyPr>
          <a:lstStyle/>
          <a:p>
            <a:r>
              <a:rPr lang="en-US" sz="2500" dirty="0"/>
              <a:t>There are three problems with previous discussions of quality attributes: </a:t>
            </a:r>
          </a:p>
          <a:p>
            <a:endParaRPr lang="en-US" sz="2500" dirty="0"/>
          </a:p>
          <a:p>
            <a:pPr marL="514350" indent="-514350" algn="just">
              <a:buFont typeface="+mj-lt"/>
              <a:buAutoNum type="arabicPeriod"/>
            </a:pPr>
            <a:r>
              <a:rPr lang="en-US" sz="2500" dirty="0"/>
              <a:t>The definitions provided for an attribute are not testable. It is meaningless to say that a system will be “modifiable”. </a:t>
            </a:r>
          </a:p>
          <a:p>
            <a:pPr marL="514350" indent="-514350" algn="just">
              <a:buFont typeface="+mj-lt"/>
              <a:buAutoNum type="arabicPeriod"/>
            </a:pPr>
            <a:endParaRPr lang="en-US" sz="2500" dirty="0"/>
          </a:p>
          <a:p>
            <a:pPr marL="514350" indent="-514350" algn="just">
              <a:buFont typeface="+mj-lt"/>
              <a:buAutoNum type="arabicPeriod"/>
            </a:pPr>
            <a:r>
              <a:rPr lang="en-US" sz="2500" dirty="0"/>
              <a:t>Endless time is wasted on arguing over which quality a concern belongs to (see next slide). Is a system failure due to a denial of service attack an aspect of availability, performance, security, or usability? </a:t>
            </a:r>
          </a:p>
          <a:p>
            <a:pPr marL="514350" indent="-514350" algn="just">
              <a:buFont typeface="+mj-lt"/>
              <a:buAutoNum type="arabicPeriod"/>
            </a:pPr>
            <a:endParaRPr lang="en-US" sz="2500" dirty="0"/>
          </a:p>
          <a:p>
            <a:pPr marL="514350" indent="-514350" algn="just">
              <a:buFont typeface="+mj-lt"/>
              <a:buAutoNum type="arabicPeriod"/>
            </a:pPr>
            <a:r>
              <a:rPr lang="en-US" sz="2500" dirty="0"/>
              <a:t>Each attribute community has developed its own vocabulary. (Remember </a:t>
            </a:r>
            <a:r>
              <a:rPr lang="en-US" sz="2500" dirty="0" err="1"/>
              <a:t>Iowability</a:t>
            </a:r>
            <a:r>
              <a:rPr lang="en-US" sz="2500" dirty="0"/>
              <a:t> quality !)</a:t>
            </a:r>
          </a:p>
        </p:txBody>
      </p:sp>
      <p:sp>
        <p:nvSpPr>
          <p:cNvPr id="4" name="Slide Number Placeholder 3">
            <a:extLst>
              <a:ext uri="{FF2B5EF4-FFF2-40B4-BE49-F238E27FC236}">
                <a16:creationId xmlns:a16="http://schemas.microsoft.com/office/drawing/2014/main" id="{77DBC287-6268-794F-B618-3B8BE3FE6609}"/>
              </a:ext>
            </a:extLst>
          </p:cNvPr>
          <p:cNvSpPr>
            <a:spLocks noGrp="1"/>
          </p:cNvSpPr>
          <p:nvPr>
            <p:ph type="sldNum" sz="quarter" idx="12"/>
          </p:nvPr>
        </p:nvSpPr>
        <p:spPr/>
        <p:txBody>
          <a:bodyPr/>
          <a:lstStyle/>
          <a:p>
            <a:fld id="{7DF6DEEC-D04A-4FF0-9A08-7D39859C24F4}" type="slidenum">
              <a:rPr lang="en-US" smtClean="0"/>
              <a:t>11</a:t>
            </a:fld>
            <a:endParaRPr lang="en-US"/>
          </a:p>
        </p:txBody>
      </p:sp>
    </p:spTree>
    <p:extLst>
      <p:ext uri="{BB962C8B-B14F-4D97-AF65-F5344CB8AC3E}">
        <p14:creationId xmlns:p14="http://schemas.microsoft.com/office/powerpoint/2010/main" val="2838221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Rectangle 2"/>
          <p:cNvSpPr>
            <a:spLocks noGrp="1" noChangeArrowheads="1"/>
          </p:cNvSpPr>
          <p:nvPr>
            <p:ph type="title"/>
          </p:nvPr>
        </p:nvSpPr>
        <p:spPr>
          <a:xfrm>
            <a:off x="795129" y="76200"/>
            <a:ext cx="10551743" cy="1143000"/>
          </a:xfrm>
        </p:spPr>
        <p:txBody>
          <a:bodyPr/>
          <a:lstStyle/>
          <a:p>
            <a:r>
              <a:rPr lang="en-US" sz="3600" dirty="0"/>
              <a:t>Quality Requirement Taxonomy – 2009 (My Proposal)</a:t>
            </a:r>
          </a:p>
        </p:txBody>
      </p:sp>
      <p:pic>
        <p:nvPicPr>
          <p:cNvPr id="62466" name="Picture 4" descr="QualityTax"/>
          <p:cNvPicPr>
            <a:picLocks noChangeAspect="1" noChangeArrowheads="1"/>
          </p:cNvPicPr>
          <p:nvPr/>
        </p:nvPicPr>
        <p:blipFill>
          <a:blip r:embed="rId3"/>
          <a:srcRect/>
          <a:stretch>
            <a:fillRect/>
          </a:stretch>
        </p:blipFill>
        <p:spPr bwMode="auto">
          <a:xfrm>
            <a:off x="1828800" y="1295400"/>
            <a:ext cx="3886200" cy="5181600"/>
          </a:xfrm>
          <a:prstGeom prst="rect">
            <a:avLst/>
          </a:prstGeom>
          <a:noFill/>
          <a:ln w="9525">
            <a:noFill/>
            <a:miter lim="800000"/>
            <a:headEnd/>
            <a:tailEnd/>
          </a:ln>
        </p:spPr>
      </p:pic>
      <p:sp>
        <p:nvSpPr>
          <p:cNvPr id="6" name="Rounded Rectangle 5"/>
          <p:cNvSpPr/>
          <p:nvPr/>
        </p:nvSpPr>
        <p:spPr bwMode="auto">
          <a:xfrm>
            <a:off x="1676400" y="1219200"/>
            <a:ext cx="4267200" cy="5334000"/>
          </a:xfrm>
          <a:prstGeom prst="roundRect">
            <a:avLst>
              <a:gd name="adj" fmla="val 7555"/>
            </a:avLst>
          </a:prstGeom>
          <a:noFill/>
          <a:ln w="76200" cap="flat" cmpd="sng" algn="ctr">
            <a:solidFill>
              <a:schemeClr val="bg2">
                <a:lumMod val="20000"/>
                <a:lumOff val="80000"/>
              </a:schemeClr>
            </a:solidFill>
            <a:prstDash val="solid"/>
            <a:round/>
            <a:headEnd type="none" w="med" len="med"/>
            <a:tailEnd type="none" w="med" len="med"/>
          </a:ln>
          <a:effectLst>
            <a:outerShdw blurRad="292100" sx="102000" sy="102000" algn="ctr" rotWithShape="0">
              <a:prstClr val="black">
                <a:alpha val="13000"/>
              </a:prstClr>
            </a:outerShdw>
          </a:effectLst>
        </p:spPr>
        <p:txBody>
          <a:bodyPr lIns="90488" tIns="44450" rIns="90488" bIns="44450" anchor="ctr"/>
          <a:lstStyle/>
          <a:p>
            <a:pPr marL="0" marR="0" lvl="0" indent="0" algn="l" defTabSz="7620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ＭＳ Ｐゴシック" pitchFamily="-108" charset="-128"/>
              <a:cs typeface="+mn-cs"/>
            </a:endParaRPr>
          </a:p>
        </p:txBody>
      </p:sp>
      <p:sp>
        <p:nvSpPr>
          <p:cNvPr id="8" name="Rounded Rectangle 7"/>
          <p:cNvSpPr/>
          <p:nvPr/>
        </p:nvSpPr>
        <p:spPr bwMode="auto">
          <a:xfrm>
            <a:off x="6096000" y="1447800"/>
            <a:ext cx="4419600" cy="2209800"/>
          </a:xfrm>
          <a:prstGeom prst="roundRect">
            <a:avLst>
              <a:gd name="adj" fmla="val 7555"/>
            </a:avLst>
          </a:prstGeom>
          <a:noFill/>
          <a:ln w="76200" cap="flat" cmpd="sng" algn="ctr">
            <a:solidFill>
              <a:schemeClr val="bg2">
                <a:lumMod val="20000"/>
                <a:lumOff val="80000"/>
              </a:schemeClr>
            </a:solidFill>
            <a:prstDash val="solid"/>
            <a:round/>
            <a:headEnd type="none" w="med" len="med"/>
            <a:tailEnd type="none" w="med" len="med"/>
          </a:ln>
          <a:effectLst>
            <a:outerShdw blurRad="292100" sx="102000" sy="102000" algn="ctr" rotWithShape="0">
              <a:prstClr val="black">
                <a:alpha val="13000"/>
              </a:prstClr>
            </a:outerShdw>
          </a:effectLst>
        </p:spPr>
        <p:txBody>
          <a:bodyPr lIns="90488" tIns="44450" rIns="90488" bIns="44450" anchor="ctr"/>
          <a:lstStyle/>
          <a:p>
            <a:pPr marL="0" marR="0" lvl="0" indent="0" algn="l" defTabSz="7620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ＭＳ Ｐゴシック" pitchFamily="-108" charset="-128"/>
              <a:cs typeface="+mn-cs"/>
            </a:endParaRPr>
          </a:p>
        </p:txBody>
      </p:sp>
      <p:pic>
        <p:nvPicPr>
          <p:cNvPr id="62470" name="Picture 6" descr="asserted model for accuracy"/>
          <p:cNvPicPr>
            <a:picLocks noChangeAspect="1" noChangeArrowheads="1"/>
          </p:cNvPicPr>
          <p:nvPr/>
        </p:nvPicPr>
        <p:blipFill>
          <a:blip r:embed="rId4"/>
          <a:srcRect/>
          <a:stretch>
            <a:fillRect/>
          </a:stretch>
        </p:blipFill>
        <p:spPr bwMode="auto">
          <a:xfrm>
            <a:off x="6324600" y="1524001"/>
            <a:ext cx="4114800" cy="1781175"/>
          </a:xfrm>
          <a:prstGeom prst="rect">
            <a:avLst/>
          </a:prstGeom>
          <a:noFill/>
          <a:ln w="9525">
            <a:noFill/>
            <a:miter lim="800000"/>
            <a:headEnd/>
            <a:tailEnd/>
          </a:ln>
        </p:spPr>
      </p:pic>
      <p:sp>
        <p:nvSpPr>
          <p:cNvPr id="10" name="Rounded Rectangle 9"/>
          <p:cNvSpPr/>
          <p:nvPr/>
        </p:nvSpPr>
        <p:spPr bwMode="auto">
          <a:xfrm>
            <a:off x="6096000" y="3886200"/>
            <a:ext cx="4495800" cy="2209800"/>
          </a:xfrm>
          <a:prstGeom prst="roundRect">
            <a:avLst>
              <a:gd name="adj" fmla="val 7555"/>
            </a:avLst>
          </a:prstGeom>
          <a:noFill/>
          <a:ln w="76200" cap="flat" cmpd="sng" algn="ctr">
            <a:solidFill>
              <a:schemeClr val="bg2">
                <a:lumMod val="20000"/>
                <a:lumOff val="80000"/>
              </a:schemeClr>
            </a:solidFill>
            <a:prstDash val="solid"/>
            <a:round/>
            <a:headEnd type="none" w="med" len="med"/>
            <a:tailEnd type="none" w="med" len="med"/>
          </a:ln>
          <a:effectLst>
            <a:outerShdw blurRad="292100" sx="102000" sy="102000" algn="ctr" rotWithShape="0">
              <a:prstClr val="black">
                <a:alpha val="13000"/>
              </a:prstClr>
            </a:outerShdw>
          </a:effectLst>
        </p:spPr>
        <p:txBody>
          <a:bodyPr lIns="90488" tIns="44450" rIns="90488" bIns="44450" anchor="ctr"/>
          <a:lstStyle/>
          <a:p>
            <a:pPr marL="0" marR="0" lvl="0" indent="0" algn="l" defTabSz="7620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ＭＳ Ｐゴシック" pitchFamily="-108" charset="-128"/>
              <a:cs typeface="+mn-cs"/>
            </a:endParaRPr>
          </a:p>
        </p:txBody>
      </p:sp>
      <p:pic>
        <p:nvPicPr>
          <p:cNvPr id="62472" name="Picture 7" descr="Inferred Model for accuracy"/>
          <p:cNvPicPr>
            <a:picLocks noChangeAspect="1" noChangeArrowheads="1"/>
          </p:cNvPicPr>
          <p:nvPr/>
        </p:nvPicPr>
        <p:blipFill>
          <a:blip r:embed="rId5"/>
          <a:srcRect/>
          <a:stretch>
            <a:fillRect/>
          </a:stretch>
        </p:blipFill>
        <p:spPr bwMode="auto">
          <a:xfrm>
            <a:off x="6172200" y="4191000"/>
            <a:ext cx="4343400" cy="1619250"/>
          </a:xfrm>
          <a:prstGeom prst="rect">
            <a:avLst/>
          </a:prstGeom>
          <a:noFill/>
          <a:ln w="9525">
            <a:noFill/>
            <a:miter lim="800000"/>
            <a:headEnd/>
            <a:tailEnd/>
          </a:ln>
        </p:spPr>
      </p:pic>
      <p:sp>
        <p:nvSpPr>
          <p:cNvPr id="62473" name="Rectangle 11"/>
          <p:cNvSpPr>
            <a:spLocks noChangeArrowheads="1"/>
          </p:cNvSpPr>
          <p:nvPr/>
        </p:nvSpPr>
        <p:spPr bwMode="auto">
          <a:xfrm>
            <a:off x="6248400" y="3287713"/>
            <a:ext cx="3640612" cy="369332"/>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Calibri"/>
                <a:ea typeface="+mn-ea"/>
                <a:cs typeface="+mn-cs"/>
              </a:rPr>
              <a:t>Asserted Model for Accuracy quality</a:t>
            </a: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62474" name="Rectangle 12"/>
          <p:cNvSpPr>
            <a:spLocks noChangeArrowheads="1"/>
          </p:cNvSpPr>
          <p:nvPr/>
        </p:nvSpPr>
        <p:spPr bwMode="auto">
          <a:xfrm>
            <a:off x="6324600" y="5715000"/>
            <a:ext cx="3573094" cy="369332"/>
          </a:xfrm>
          <a:prstGeom prst="rect">
            <a:avLst/>
          </a:prstGeom>
          <a:noFill/>
          <a:ln w="9525">
            <a:noFill/>
            <a:miter lim="800000"/>
            <a:headEnd/>
            <a:tailEnd/>
          </a:ln>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Calibri"/>
                <a:ea typeface="+mn-ea"/>
                <a:cs typeface="+mn-cs"/>
              </a:rPr>
              <a:t>Inferred Model for Accuracy quality</a:t>
            </a: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2" name="Slide Number Placeholder 1">
            <a:extLst>
              <a:ext uri="{FF2B5EF4-FFF2-40B4-BE49-F238E27FC236}">
                <a16:creationId xmlns:a16="http://schemas.microsoft.com/office/drawing/2014/main" id="{B563F28E-B4B3-DBD1-CCC5-1710787452A2}"/>
              </a:ext>
            </a:extLst>
          </p:cNvPr>
          <p:cNvSpPr>
            <a:spLocks noGrp="1"/>
          </p:cNvSpPr>
          <p:nvPr>
            <p:ph type="sldNum" sz="quarter" idx="12"/>
          </p:nvPr>
        </p:nvSpPr>
        <p:spPr/>
        <p:txBody>
          <a:bodyPr/>
          <a:lstStyle/>
          <a:p>
            <a:fld id="{7DF6DEEC-D04A-4FF0-9A08-7D39859C24F4}" type="slidenum">
              <a:rPr lang="en-US" smtClean="0"/>
              <a:t>12</a:t>
            </a:fld>
            <a:endParaRPr lang="en-US"/>
          </a:p>
        </p:txBody>
      </p:sp>
    </p:spTree>
    <p:extLst>
      <p:ext uri="{BB962C8B-B14F-4D97-AF65-F5344CB8AC3E}">
        <p14:creationId xmlns:p14="http://schemas.microsoft.com/office/powerpoint/2010/main" val="8345298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E51BA4DF-2BD4-4EC2-B1DB-B27C8AC71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368202" y="-289348"/>
            <a:ext cx="7505143" cy="1675623"/>
          </a:xfrm>
        </p:spPr>
        <p:txBody>
          <a:bodyPr anchor="b">
            <a:normAutofit/>
          </a:bodyPr>
          <a:lstStyle/>
          <a:p>
            <a:r>
              <a:rPr lang="en-US" sz="4000" dirty="0"/>
              <a:t>How to specify Quality Attributes?</a:t>
            </a:r>
          </a:p>
        </p:txBody>
      </p:sp>
      <p:pic>
        <p:nvPicPr>
          <p:cNvPr id="12" name="Picture 11" descr="Magnifying glass and question mark">
            <a:extLst>
              <a:ext uri="{FF2B5EF4-FFF2-40B4-BE49-F238E27FC236}">
                <a16:creationId xmlns:a16="http://schemas.microsoft.com/office/drawing/2014/main" id="{C14508A8-07D1-344E-16AD-FB8893B44B10}"/>
              </a:ext>
            </a:extLst>
          </p:cNvPr>
          <p:cNvPicPr>
            <a:picLocks noChangeAspect="1"/>
          </p:cNvPicPr>
          <p:nvPr/>
        </p:nvPicPr>
        <p:blipFill rotWithShape="1">
          <a:blip r:embed="rId3"/>
          <a:srcRect l="34614" r="30966"/>
          <a:stretch/>
        </p:blipFill>
        <p:spPr>
          <a:xfrm>
            <a:off x="1" y="10"/>
            <a:ext cx="4196496" cy="6857990"/>
          </a:xfrm>
          <a:prstGeom prst="rect">
            <a:avLst/>
          </a:prstGeom>
          <a:effectLst/>
        </p:spPr>
      </p:pic>
      <p:sp>
        <p:nvSpPr>
          <p:cNvPr id="3" name="Content Placeholder 2"/>
          <p:cNvSpPr>
            <a:spLocks noGrp="1"/>
          </p:cNvSpPr>
          <p:nvPr>
            <p:ph idx="1"/>
          </p:nvPr>
        </p:nvSpPr>
        <p:spPr>
          <a:xfrm>
            <a:off x="4721503" y="1808018"/>
            <a:ext cx="6798539" cy="3718348"/>
          </a:xfrm>
        </p:spPr>
        <p:txBody>
          <a:bodyPr>
            <a:normAutofit/>
          </a:bodyPr>
          <a:lstStyle/>
          <a:p>
            <a:pPr marL="0" indent="0" algn="ctr">
              <a:buNone/>
            </a:pPr>
            <a:r>
              <a:rPr lang="en-US" sz="4400" dirty="0"/>
              <a:t>A solution to these problems is to use “</a:t>
            </a:r>
            <a:r>
              <a:rPr lang="en-US" sz="4400" b="1" i="1" dirty="0">
                <a:solidFill>
                  <a:schemeClr val="accent2"/>
                </a:solidFill>
              </a:rPr>
              <a:t>quality attribute scenarios”</a:t>
            </a:r>
            <a:r>
              <a:rPr lang="en-US" sz="4400" b="1" dirty="0">
                <a:solidFill>
                  <a:schemeClr val="accent2"/>
                </a:solidFill>
              </a:rPr>
              <a:t> </a:t>
            </a:r>
            <a:r>
              <a:rPr lang="en-US" sz="4400" dirty="0"/>
              <a:t>as a means of characterizing quality attributes.</a:t>
            </a:r>
          </a:p>
          <a:p>
            <a:endParaRPr lang="en-US" sz="3000" dirty="0"/>
          </a:p>
          <a:p>
            <a:pPr marL="0" indent="0">
              <a:buNone/>
            </a:pPr>
            <a:endParaRPr lang="en-US" sz="2000" dirty="0"/>
          </a:p>
        </p:txBody>
      </p:sp>
      <p:sp>
        <p:nvSpPr>
          <p:cNvPr id="4" name="Slide Number Placeholder 3">
            <a:extLst>
              <a:ext uri="{FF2B5EF4-FFF2-40B4-BE49-F238E27FC236}">
                <a16:creationId xmlns:a16="http://schemas.microsoft.com/office/drawing/2014/main" id="{4F211AE0-017B-1535-9376-016658A907CC}"/>
              </a:ext>
            </a:extLst>
          </p:cNvPr>
          <p:cNvSpPr>
            <a:spLocks noGrp="1"/>
          </p:cNvSpPr>
          <p:nvPr>
            <p:ph type="sldNum" sz="quarter" idx="12"/>
          </p:nvPr>
        </p:nvSpPr>
        <p:spPr/>
        <p:txBody>
          <a:bodyPr/>
          <a:lstStyle/>
          <a:p>
            <a:fld id="{7DF6DEEC-D04A-4FF0-9A08-7D39859C24F4}" type="slidenum">
              <a:rPr lang="en-US" smtClean="0"/>
              <a:t>13</a:t>
            </a:fld>
            <a:endParaRPr lang="en-US"/>
          </a:p>
        </p:txBody>
      </p:sp>
    </p:spTree>
    <p:extLst>
      <p:ext uri="{BB962C8B-B14F-4D97-AF65-F5344CB8AC3E}">
        <p14:creationId xmlns:p14="http://schemas.microsoft.com/office/powerpoint/2010/main" val="34776760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Specifying Quality Attribute Scenario Requirements</a:t>
            </a:r>
          </a:p>
        </p:txBody>
      </p:sp>
      <p:sp>
        <p:nvSpPr>
          <p:cNvPr id="3" name="Content Placeholder 2"/>
          <p:cNvSpPr>
            <a:spLocks noGrp="1"/>
          </p:cNvSpPr>
          <p:nvPr>
            <p:ph idx="1"/>
          </p:nvPr>
        </p:nvSpPr>
        <p:spPr>
          <a:xfrm>
            <a:off x="838200" y="2057400"/>
            <a:ext cx="10515600" cy="3871762"/>
          </a:xfrm>
        </p:spPr>
        <p:txBody>
          <a:bodyPr>
            <a:normAutofit/>
          </a:bodyPr>
          <a:lstStyle/>
          <a:p>
            <a:pPr marL="514350" indent="-514350">
              <a:buFont typeface="+mj-lt"/>
              <a:buAutoNum type="arabicPeriod"/>
            </a:pPr>
            <a:r>
              <a:rPr lang="en-US" sz="2000" b="1" dirty="0"/>
              <a:t>Source of stimulus</a:t>
            </a:r>
            <a:r>
              <a:rPr lang="en-US" sz="2000" dirty="0"/>
              <a:t>. This is some entity (a human, a computer system, or any other actuator) that generated the stimulus.</a:t>
            </a:r>
          </a:p>
          <a:p>
            <a:pPr marL="514350" indent="-514350">
              <a:buFont typeface="+mj-lt"/>
              <a:buAutoNum type="arabicPeriod"/>
            </a:pPr>
            <a:r>
              <a:rPr lang="en-US" sz="2000" b="1" dirty="0"/>
              <a:t>Stimulus</a:t>
            </a:r>
            <a:r>
              <a:rPr lang="en-US" sz="2000" dirty="0"/>
              <a:t>. The stimulus is a condition that requires a response when it arrives at a system.</a:t>
            </a:r>
          </a:p>
          <a:p>
            <a:pPr marL="514350" indent="-514350">
              <a:buFont typeface="+mj-lt"/>
              <a:buAutoNum type="arabicPeriod"/>
            </a:pPr>
            <a:r>
              <a:rPr lang="en-US" sz="2000" b="1" dirty="0"/>
              <a:t>Environment</a:t>
            </a:r>
            <a:r>
              <a:rPr lang="en-US" sz="2000" dirty="0"/>
              <a:t>. The stimulus occurs under certain conditions. The system may be in an overload condition or in normal operation, or some other relevant state.  For many systems, “normal” operation can refer to one of a number of modes. </a:t>
            </a:r>
          </a:p>
          <a:p>
            <a:pPr marL="514350" indent="-514350">
              <a:buFont typeface="+mj-lt"/>
              <a:buAutoNum type="arabicPeriod"/>
            </a:pPr>
            <a:r>
              <a:rPr lang="en-US" sz="2000" b="1" dirty="0"/>
              <a:t>Artifact</a:t>
            </a:r>
            <a:r>
              <a:rPr lang="en-US" sz="2000" dirty="0"/>
              <a:t>. Some artifact is stimulated. This may be a collection of systems, the whole system, or some piece or pieces of it.</a:t>
            </a:r>
          </a:p>
          <a:p>
            <a:pPr marL="514350" indent="-514350">
              <a:buFont typeface="+mj-lt"/>
              <a:buAutoNum type="arabicPeriod"/>
            </a:pPr>
            <a:r>
              <a:rPr lang="en-US" sz="2000" b="1" dirty="0"/>
              <a:t>Response</a:t>
            </a:r>
            <a:r>
              <a:rPr lang="en-US" sz="2000" dirty="0"/>
              <a:t>. The response is the activity undertaken as the result of the arrival of the stimulus. </a:t>
            </a:r>
          </a:p>
          <a:p>
            <a:pPr marL="514350" indent="-514350">
              <a:buFont typeface="+mj-lt"/>
              <a:buAutoNum type="arabicPeriod"/>
            </a:pPr>
            <a:r>
              <a:rPr lang="en-US" sz="2000" b="1" dirty="0"/>
              <a:t>Response measure</a:t>
            </a:r>
            <a:r>
              <a:rPr lang="en-US" sz="2000" dirty="0"/>
              <a:t>. When the response occurs, it should be measurable in some fashion so that the requirement can be tested. </a:t>
            </a:r>
          </a:p>
          <a:p>
            <a:endParaRPr lang="en-US" sz="2000" dirty="0"/>
          </a:p>
          <a:p>
            <a:endParaRPr lang="en-US" sz="2000" dirty="0"/>
          </a:p>
        </p:txBody>
      </p:sp>
      <p:sp>
        <p:nvSpPr>
          <p:cNvPr id="4" name="Slide Number Placeholder 3">
            <a:extLst>
              <a:ext uri="{FF2B5EF4-FFF2-40B4-BE49-F238E27FC236}">
                <a16:creationId xmlns:a16="http://schemas.microsoft.com/office/drawing/2014/main" id="{98D80DC0-ECC0-D669-1609-F380FC9F184A}"/>
              </a:ext>
            </a:extLst>
          </p:cNvPr>
          <p:cNvSpPr>
            <a:spLocks noGrp="1"/>
          </p:cNvSpPr>
          <p:nvPr>
            <p:ph type="sldNum" sz="quarter" idx="12"/>
          </p:nvPr>
        </p:nvSpPr>
        <p:spPr/>
        <p:txBody>
          <a:bodyPr/>
          <a:lstStyle/>
          <a:p>
            <a:fld id="{7DF6DEEC-D04A-4FF0-9A08-7D39859C24F4}" type="slidenum">
              <a:rPr lang="en-US" smtClean="0"/>
              <a:t>14</a:t>
            </a:fld>
            <a:endParaRPr lang="en-US"/>
          </a:p>
        </p:txBody>
      </p:sp>
    </p:spTree>
    <p:extLst>
      <p:ext uri="{BB962C8B-B14F-4D97-AF65-F5344CB8AC3E}">
        <p14:creationId xmlns:p14="http://schemas.microsoft.com/office/powerpoint/2010/main" val="10543095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9">
            <a:extLst>
              <a:ext uri="{FF2B5EF4-FFF2-40B4-BE49-F238E27FC236}">
                <a16:creationId xmlns:a16="http://schemas.microsoft.com/office/drawing/2014/main" id="{96918796-2918-40D6-BE3A-4600C47FCD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72747"/>
            <a:ext cx="10515600" cy="715556"/>
          </a:xfrm>
        </p:spPr>
        <p:txBody>
          <a:bodyPr>
            <a:normAutofit/>
          </a:bodyPr>
          <a:lstStyle/>
          <a:p>
            <a:pPr algn="ctr"/>
            <a:r>
              <a:rPr lang="en-US" sz="3200" dirty="0">
                <a:solidFill>
                  <a:schemeClr val="bg1"/>
                </a:solidFill>
              </a:rPr>
              <a:t>Specifying Quality Attribute Scenario Requirements</a:t>
            </a:r>
          </a:p>
        </p:txBody>
      </p:sp>
      <p:sp>
        <p:nvSpPr>
          <p:cNvPr id="3" name="Content Placeholder 2"/>
          <p:cNvSpPr>
            <a:spLocks noGrp="1"/>
          </p:cNvSpPr>
          <p:nvPr>
            <p:ph idx="1"/>
          </p:nvPr>
        </p:nvSpPr>
        <p:spPr>
          <a:xfrm>
            <a:off x="1428750" y="1597390"/>
            <a:ext cx="9334500" cy="870305"/>
          </a:xfrm>
        </p:spPr>
        <p:txBody>
          <a:bodyPr>
            <a:normAutofit/>
          </a:bodyPr>
          <a:lstStyle/>
          <a:p>
            <a:pPr algn="ctr"/>
            <a:r>
              <a:rPr lang="en-US" sz="1600"/>
              <a:t>Example general scenario for availability:</a:t>
            </a:r>
          </a:p>
          <a:p>
            <a:pPr algn="ctr"/>
            <a:endParaRPr lang="en-US" sz="1600"/>
          </a:p>
          <a:p>
            <a:pPr algn="ctr"/>
            <a:endParaRPr lang="en-US" sz="1600"/>
          </a:p>
        </p:txBody>
      </p:sp>
      <p:pic>
        <p:nvPicPr>
          <p:cNvPr id="5" name="Picture 4"/>
          <p:cNvPicPr/>
          <p:nvPr/>
        </p:nvPicPr>
        <p:blipFill>
          <a:blip r:embed="rId2"/>
          <a:stretch>
            <a:fillRect/>
          </a:stretch>
        </p:blipFill>
        <p:spPr>
          <a:xfrm>
            <a:off x="838200" y="3039203"/>
            <a:ext cx="10515600" cy="2366010"/>
          </a:xfrm>
          <a:prstGeom prst="rect">
            <a:avLst/>
          </a:prstGeom>
        </p:spPr>
      </p:pic>
      <p:sp>
        <p:nvSpPr>
          <p:cNvPr id="6" name="Slide Number Placeholder 5">
            <a:extLst>
              <a:ext uri="{FF2B5EF4-FFF2-40B4-BE49-F238E27FC236}">
                <a16:creationId xmlns:a16="http://schemas.microsoft.com/office/drawing/2014/main" id="{86D5BE97-9135-FF6E-9AB5-C74717961377}"/>
              </a:ext>
            </a:extLst>
          </p:cNvPr>
          <p:cNvSpPr>
            <a:spLocks noGrp="1"/>
          </p:cNvSpPr>
          <p:nvPr>
            <p:ph type="sldNum" sz="quarter" idx="12"/>
          </p:nvPr>
        </p:nvSpPr>
        <p:spPr/>
        <p:txBody>
          <a:bodyPr/>
          <a:lstStyle/>
          <a:p>
            <a:fld id="{7DF6DEEC-D04A-4FF0-9A08-7D39859C24F4}" type="slidenum">
              <a:rPr lang="en-US" smtClean="0"/>
              <a:t>15</a:t>
            </a:fld>
            <a:endParaRPr lang="en-US"/>
          </a:p>
        </p:txBody>
      </p:sp>
    </p:spTree>
    <p:extLst>
      <p:ext uri="{BB962C8B-B14F-4D97-AF65-F5344CB8AC3E}">
        <p14:creationId xmlns:p14="http://schemas.microsoft.com/office/powerpoint/2010/main" val="452615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EE2D22-D8BA-0A74-BBB9-59EA16FE9C25}"/>
              </a:ext>
            </a:extLst>
          </p:cNvPr>
          <p:cNvSpPr>
            <a:spLocks noGrp="1"/>
          </p:cNvSpPr>
          <p:nvPr>
            <p:ph type="title"/>
          </p:nvPr>
        </p:nvSpPr>
        <p:spPr>
          <a:xfrm>
            <a:off x="686834" y="1153572"/>
            <a:ext cx="3200400" cy="4461163"/>
          </a:xfrm>
        </p:spPr>
        <p:txBody>
          <a:bodyPr>
            <a:normAutofit/>
          </a:bodyPr>
          <a:lstStyle/>
          <a:p>
            <a:r>
              <a:rPr lang="en-US" sz="4100" dirty="0">
                <a:solidFill>
                  <a:srgbClr val="FFFFFF"/>
                </a:solidFill>
              </a:rPr>
              <a:t>Specifying Quality Attribute</a:t>
            </a:r>
            <a:br>
              <a:rPr lang="en-US" sz="4100" dirty="0">
                <a:solidFill>
                  <a:srgbClr val="FFFFFF"/>
                </a:solidFill>
              </a:rPr>
            </a:br>
            <a:r>
              <a:rPr lang="en-US" sz="4100" dirty="0">
                <a:solidFill>
                  <a:srgbClr val="FFFFFF"/>
                </a:solidFill>
              </a:rPr>
              <a:t>Scenario Requirements</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FE56A132-A28B-0972-52E4-BE79E273A829}"/>
              </a:ext>
            </a:extLst>
          </p:cNvPr>
          <p:cNvSpPr>
            <a:spLocks noGrp="1"/>
          </p:cNvSpPr>
          <p:nvPr>
            <p:ph idx="1"/>
          </p:nvPr>
        </p:nvSpPr>
        <p:spPr>
          <a:xfrm>
            <a:off x="4281055" y="591344"/>
            <a:ext cx="7606145" cy="5585619"/>
          </a:xfrm>
        </p:spPr>
        <p:txBody>
          <a:bodyPr anchor="ctr">
            <a:normAutofit/>
          </a:bodyPr>
          <a:lstStyle/>
          <a:p>
            <a:pPr algn="just"/>
            <a:r>
              <a:rPr lang="en-US" sz="2600" dirty="0"/>
              <a:t>It is not sufficient to state that “The system must be highly available”. Can you tell how??</a:t>
            </a:r>
          </a:p>
          <a:p>
            <a:pPr algn="just"/>
            <a:r>
              <a:rPr lang="en-US" sz="2600" dirty="0"/>
              <a:t>Instead, a quality scenario shall specify the </a:t>
            </a:r>
            <a:r>
              <a:rPr lang="en-US" sz="2600" b="1" i="1" dirty="0"/>
              <a:t>availability</a:t>
            </a:r>
            <a:r>
              <a:rPr lang="en-US" sz="2600" dirty="0"/>
              <a:t> more concretely; for example:</a:t>
            </a:r>
          </a:p>
          <a:p>
            <a:pPr marL="0" indent="0" algn="just">
              <a:buNone/>
            </a:pPr>
            <a:endParaRPr lang="en-US" sz="2600" dirty="0"/>
          </a:p>
          <a:p>
            <a:pPr marL="0" indent="0" algn="just">
              <a:buNone/>
            </a:pPr>
            <a:r>
              <a:rPr lang="en-US" sz="2600" i="1" dirty="0">
                <a:solidFill>
                  <a:schemeClr val="accent2"/>
                </a:solidFill>
              </a:rPr>
              <a:t>The heartbeat monitor determines that the server is nonresponsive during normal operations. The system informs the operator and continues to operate with no downtime. </a:t>
            </a:r>
          </a:p>
          <a:p>
            <a:pPr algn="just"/>
            <a:endParaRPr lang="en-US" sz="2600" dirty="0"/>
          </a:p>
          <a:p>
            <a:pPr algn="just"/>
            <a:r>
              <a:rPr lang="en-US" sz="2600" dirty="0"/>
              <a:t>Can you determine the 6 elements in the above scenario (stimulus, stimulus source, response, response measure, environment, artifact)?</a:t>
            </a:r>
          </a:p>
          <a:p>
            <a:endParaRPr lang="en-US" sz="2600" dirty="0"/>
          </a:p>
        </p:txBody>
      </p:sp>
      <p:sp>
        <p:nvSpPr>
          <p:cNvPr id="4" name="Slide Number Placeholder 3">
            <a:extLst>
              <a:ext uri="{FF2B5EF4-FFF2-40B4-BE49-F238E27FC236}">
                <a16:creationId xmlns:a16="http://schemas.microsoft.com/office/drawing/2014/main" id="{111179BC-077F-7B42-E545-5500D31CA4F7}"/>
              </a:ext>
            </a:extLst>
          </p:cNvPr>
          <p:cNvSpPr>
            <a:spLocks noGrp="1"/>
          </p:cNvSpPr>
          <p:nvPr>
            <p:ph type="sldNum" sz="quarter" idx="12"/>
          </p:nvPr>
        </p:nvSpPr>
        <p:spPr/>
        <p:txBody>
          <a:bodyPr/>
          <a:lstStyle/>
          <a:p>
            <a:fld id="{7DF6DEEC-D04A-4FF0-9A08-7D39859C24F4}" type="slidenum">
              <a:rPr lang="en-US" smtClean="0"/>
              <a:t>16</a:t>
            </a:fld>
            <a:endParaRPr lang="en-US"/>
          </a:p>
        </p:txBody>
      </p:sp>
    </p:spTree>
    <p:extLst>
      <p:ext uri="{BB962C8B-B14F-4D97-AF65-F5344CB8AC3E}">
        <p14:creationId xmlns:p14="http://schemas.microsoft.com/office/powerpoint/2010/main" val="442661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descr="A digital balance scale using circles">
            <a:extLst>
              <a:ext uri="{FF2B5EF4-FFF2-40B4-BE49-F238E27FC236}">
                <a16:creationId xmlns:a16="http://schemas.microsoft.com/office/drawing/2014/main" id="{720666A7-6E3E-3A01-7106-B396661ACE84}"/>
              </a:ext>
            </a:extLst>
          </p:cNvPr>
          <p:cNvPicPr>
            <a:picLocks noChangeAspect="1"/>
          </p:cNvPicPr>
          <p:nvPr/>
        </p:nvPicPr>
        <p:blipFill rotWithShape="1">
          <a:blip r:embed="rId2"/>
          <a:srcRect b="7025"/>
          <a:stretch/>
        </p:blipFill>
        <p:spPr>
          <a:xfrm>
            <a:off x="20" y="10"/>
            <a:ext cx="12191980" cy="6857990"/>
          </a:xfrm>
          <a:prstGeom prst="rect">
            <a:avLst/>
          </a:prstGeom>
        </p:spPr>
      </p:pic>
      <p:sp>
        <p:nvSpPr>
          <p:cNvPr id="13" name="Freeform 5">
            <a:extLst>
              <a:ext uri="{FF2B5EF4-FFF2-40B4-BE49-F238E27FC236}">
                <a16:creationId xmlns:a16="http://schemas.microsoft.com/office/drawing/2014/main" id="{87CC2527-562A-4F69-B487-4371E5B243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7488621" y="2277613"/>
            <a:ext cx="4703379" cy="4580387"/>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0000"/>
            </a:schemeClr>
          </a:solidFill>
          <a:ln w="50800" cap="sq" cmpd="dbl">
            <a:noFill/>
            <a:miter lim="800000"/>
          </a:ln>
          <a:effectLst/>
        </p:spPr>
        <p:txBody>
          <a:bodyPr vert="horz" lIns="91440" tIns="45720" rIns="91440" bIns="45720" rtlCol="0" anchor="t">
            <a:normAutofit/>
          </a:bodyPr>
          <a:lstStyle/>
          <a:p>
            <a:pPr marL="0" marR="0" lvl="0" indent="0" algn="ctr" defTabSz="914400" rtl="0" eaLnBrk="1" fontAlgn="auto" latinLnBrk="0" hangingPunct="1">
              <a:lnSpc>
                <a:spcPct val="100000"/>
              </a:lnSpc>
              <a:spcBef>
                <a:spcPts val="0"/>
              </a:spcBef>
              <a:spcAft>
                <a:spcPts val="1000"/>
              </a:spcAft>
              <a:buClr>
                <a:prstClr val="black"/>
              </a:buClr>
              <a:buSzPct val="100000"/>
              <a:buFont typeface="Arial"/>
              <a:buNone/>
              <a:tabLst/>
              <a:defRPr/>
            </a:pPr>
            <a:endParaRPr kumimoji="0" lang="en-US" sz="1600" b="0" i="0" u="none" strike="noStrike" kern="1200" cap="all" spc="0" normalizeH="0" baseline="0" noProof="0">
              <a:ln>
                <a:noFill/>
              </a:ln>
              <a:solidFill>
                <a:prstClr val="black"/>
              </a:solidFill>
              <a:effectLst/>
              <a:uLnTx/>
              <a:uFillTx/>
              <a:latin typeface="Calibri" panose="020F0502020204030204"/>
              <a:ea typeface="+mn-ea"/>
              <a:cs typeface="+mn-cs"/>
            </a:endParaRPr>
          </a:p>
        </p:txBody>
      </p:sp>
      <p:sp>
        <p:nvSpPr>
          <p:cNvPr id="7" name="Title 6"/>
          <p:cNvSpPr>
            <a:spLocks noGrp="1"/>
          </p:cNvSpPr>
          <p:nvPr>
            <p:ph type="title"/>
          </p:nvPr>
        </p:nvSpPr>
        <p:spPr>
          <a:xfrm>
            <a:off x="8022021" y="3231931"/>
            <a:ext cx="3852041" cy="1834056"/>
          </a:xfrm>
        </p:spPr>
        <p:txBody>
          <a:bodyPr vert="horz" lIns="91440" tIns="45720" rIns="91440" bIns="45720" rtlCol="0" anchor="b">
            <a:normAutofit/>
          </a:bodyPr>
          <a:lstStyle/>
          <a:p>
            <a:pPr algn="ctr"/>
            <a:r>
              <a:rPr lang="en-US" sz="4000" b="0" dirty="0"/>
              <a:t>Popular Quality Attributes</a:t>
            </a:r>
            <a:endParaRPr lang="en-US" sz="4000" dirty="0"/>
          </a:p>
        </p:txBody>
      </p:sp>
      <p:cxnSp>
        <p:nvCxnSpPr>
          <p:cNvPr id="15" name="Straight Connector 14">
            <a:extLst>
              <a:ext uri="{FF2B5EF4-FFF2-40B4-BE49-F238E27FC236}">
                <a16:creationId xmlns:a16="http://schemas.microsoft.com/office/drawing/2014/main" id="{BCDAEC91-5BCE-4B55-9CC0-43EF94CB73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480331" y="5123793"/>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F2E4EBE0-428F-7068-11D3-5C2AF1594DB2}"/>
              </a:ext>
            </a:extLst>
          </p:cNvPr>
          <p:cNvSpPr>
            <a:spLocks noGrp="1"/>
          </p:cNvSpPr>
          <p:nvPr>
            <p:ph type="sldNum" sz="quarter" idx="12"/>
          </p:nvPr>
        </p:nvSpPr>
        <p:spPr/>
        <p:txBody>
          <a:bodyPr/>
          <a:lstStyle/>
          <a:p>
            <a:fld id="{7DF6DEEC-D04A-4FF0-9A08-7D39859C24F4}" type="slidenum">
              <a:rPr lang="en-US" smtClean="0"/>
              <a:t>17</a:t>
            </a:fld>
            <a:endParaRPr lang="en-US"/>
          </a:p>
        </p:txBody>
      </p:sp>
    </p:spTree>
    <p:extLst>
      <p:ext uri="{BB962C8B-B14F-4D97-AF65-F5344CB8AC3E}">
        <p14:creationId xmlns:p14="http://schemas.microsoft.com/office/powerpoint/2010/main" val="35194486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Transparent padlock">
            <a:extLst>
              <a:ext uri="{FF2B5EF4-FFF2-40B4-BE49-F238E27FC236}">
                <a16:creationId xmlns:a16="http://schemas.microsoft.com/office/drawing/2014/main" id="{3221E9D3-CCCA-B900-6714-687208C5C29B}"/>
              </a:ext>
            </a:extLst>
          </p:cNvPr>
          <p:cNvPicPr>
            <a:picLocks noChangeAspect="1"/>
          </p:cNvPicPr>
          <p:nvPr/>
        </p:nvPicPr>
        <p:blipFill rotWithShape="1">
          <a:blip r:embed="rId2"/>
          <a:srcRect t="14122"/>
          <a:stretch/>
        </p:blipFill>
        <p:spPr>
          <a:xfrm>
            <a:off x="20" y="10"/>
            <a:ext cx="12191980" cy="6857990"/>
          </a:xfrm>
          <a:prstGeom prst="rect">
            <a:avLst/>
          </a:prstGeom>
        </p:spPr>
      </p:pic>
      <p:sp>
        <p:nvSpPr>
          <p:cNvPr id="8" name="Freeform 5">
            <a:extLst>
              <a:ext uri="{FF2B5EF4-FFF2-40B4-BE49-F238E27FC236}">
                <a16:creationId xmlns:a16="http://schemas.microsoft.com/office/drawing/2014/main" id="{87CC2527-562A-4F69-B487-4371E5B243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7488621" y="2277613"/>
            <a:ext cx="4703379" cy="4580387"/>
          </a:xfrm>
          <a:custGeom>
            <a:avLst/>
            <a:gdLst>
              <a:gd name="T0" fmla="*/ 1333 w 1333"/>
              <a:gd name="T1" fmla="*/ 1031 h 1298"/>
              <a:gd name="T2" fmla="*/ 1333 w 1333"/>
              <a:gd name="T3" fmla="*/ 380 h 1298"/>
              <a:gd name="T4" fmla="*/ 706 w 1333"/>
              <a:gd name="T5" fmla="*/ 0 h 1298"/>
              <a:gd name="T6" fmla="*/ 0 w 1333"/>
              <a:gd name="T7" fmla="*/ 706 h 1298"/>
              <a:gd name="T8" fmla="*/ 323 w 1333"/>
              <a:gd name="T9" fmla="*/ 1298 h 1298"/>
              <a:gd name="T10" fmla="*/ 1090 w 1333"/>
              <a:gd name="T11" fmla="*/ 1298 h 1298"/>
              <a:gd name="T12" fmla="*/ 1333 w 1333"/>
              <a:gd name="T13" fmla="*/ 1031 h 1298"/>
            </a:gdLst>
            <a:ahLst/>
            <a:cxnLst>
              <a:cxn ang="0">
                <a:pos x="T0" y="T1"/>
              </a:cxn>
              <a:cxn ang="0">
                <a:pos x="T2" y="T3"/>
              </a:cxn>
              <a:cxn ang="0">
                <a:pos x="T4" y="T5"/>
              </a:cxn>
              <a:cxn ang="0">
                <a:pos x="T6" y="T7"/>
              </a:cxn>
              <a:cxn ang="0">
                <a:pos x="T8" y="T9"/>
              </a:cxn>
              <a:cxn ang="0">
                <a:pos x="T10" y="T11"/>
              </a:cxn>
              <a:cxn ang="0">
                <a:pos x="T12" y="T13"/>
              </a:cxn>
            </a:cxnLst>
            <a:rect l="0" t="0" r="r" b="b"/>
            <a:pathLst>
              <a:path w="1333" h="1298">
                <a:moveTo>
                  <a:pt x="1333" y="1031"/>
                </a:moveTo>
                <a:cubicBezTo>
                  <a:pt x="1333" y="380"/>
                  <a:pt x="1333" y="380"/>
                  <a:pt x="1333" y="380"/>
                </a:cubicBezTo>
                <a:cubicBezTo>
                  <a:pt x="1215" y="154"/>
                  <a:pt x="979" y="0"/>
                  <a:pt x="706" y="0"/>
                </a:cubicBezTo>
                <a:cubicBezTo>
                  <a:pt x="317" y="0"/>
                  <a:pt x="0" y="316"/>
                  <a:pt x="0" y="706"/>
                </a:cubicBezTo>
                <a:cubicBezTo>
                  <a:pt x="0" y="954"/>
                  <a:pt x="129" y="1172"/>
                  <a:pt x="323" y="1298"/>
                </a:cubicBezTo>
                <a:cubicBezTo>
                  <a:pt x="1090" y="1298"/>
                  <a:pt x="1090" y="1298"/>
                  <a:pt x="1090" y="1298"/>
                </a:cubicBezTo>
                <a:cubicBezTo>
                  <a:pt x="1193" y="1232"/>
                  <a:pt x="1276" y="1140"/>
                  <a:pt x="1333" y="1031"/>
                </a:cubicBezTo>
                <a:close/>
              </a:path>
            </a:pathLst>
          </a:custGeom>
          <a:solidFill>
            <a:schemeClr val="bg1">
              <a:alpha val="70000"/>
            </a:schemeClr>
          </a:solidFill>
          <a:ln w="50800" cap="sq" cmpd="dbl">
            <a:noFill/>
            <a:miter lim="800000"/>
          </a:ln>
          <a:effectLst/>
        </p:spPr>
        <p:txBody>
          <a:bodyPr vert="horz" lIns="91440" tIns="45720" rIns="91440" bIns="45720" rtlCol="0" anchor="t">
            <a:normAutofit/>
          </a:bodyPr>
          <a:lstStyle/>
          <a:p>
            <a:pPr marL="0" marR="0" lvl="0" indent="0" algn="ctr" defTabSz="914400" rtl="0" eaLnBrk="1" fontAlgn="auto" latinLnBrk="0" hangingPunct="1">
              <a:lnSpc>
                <a:spcPct val="100000"/>
              </a:lnSpc>
              <a:spcBef>
                <a:spcPts val="0"/>
              </a:spcBef>
              <a:spcAft>
                <a:spcPts val="1000"/>
              </a:spcAft>
              <a:buClr>
                <a:prstClr val="black"/>
              </a:buClr>
              <a:buSzPct val="100000"/>
              <a:buFont typeface="Arial"/>
              <a:buNone/>
              <a:tabLst/>
              <a:defRPr/>
            </a:pPr>
            <a:endParaRPr kumimoji="0" lang="en-US" sz="1600" b="0" i="0" u="none" strike="noStrike" kern="1200" cap="all" spc="0" normalizeH="0" baseline="0" noProof="0">
              <a:ln>
                <a:noFill/>
              </a:ln>
              <a:solidFill>
                <a:prstClr val="black"/>
              </a:solidFill>
              <a:effectLst/>
              <a:uLnTx/>
              <a:uFillTx/>
              <a:latin typeface="Calibri" panose="020F0502020204030204"/>
              <a:ea typeface="+mn-ea"/>
              <a:cs typeface="+mn-cs"/>
            </a:endParaRPr>
          </a:p>
        </p:txBody>
      </p:sp>
      <p:sp>
        <p:nvSpPr>
          <p:cNvPr id="2" name="Title 1"/>
          <p:cNvSpPr>
            <a:spLocks noGrp="1"/>
          </p:cNvSpPr>
          <p:nvPr>
            <p:ph type="title"/>
          </p:nvPr>
        </p:nvSpPr>
        <p:spPr>
          <a:xfrm>
            <a:off x="8022021" y="3231931"/>
            <a:ext cx="3852041" cy="1834056"/>
          </a:xfrm>
        </p:spPr>
        <p:txBody>
          <a:bodyPr vert="horz" lIns="91440" tIns="45720" rIns="91440" bIns="45720" rtlCol="0" anchor="b">
            <a:normAutofit/>
          </a:bodyPr>
          <a:lstStyle/>
          <a:p>
            <a:pPr algn="ctr"/>
            <a:r>
              <a:rPr lang="en-US" sz="4000"/>
              <a:t>Security</a:t>
            </a:r>
          </a:p>
        </p:txBody>
      </p:sp>
      <p:cxnSp>
        <p:nvCxnSpPr>
          <p:cNvPr id="10" name="Straight Connector 9">
            <a:extLst>
              <a:ext uri="{FF2B5EF4-FFF2-40B4-BE49-F238E27FC236}">
                <a16:creationId xmlns:a16="http://schemas.microsoft.com/office/drawing/2014/main" id="{BCDAEC91-5BCE-4B55-9CC0-43EF94CB73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480331" y="5123793"/>
            <a:ext cx="935420" cy="0"/>
          </a:xfrm>
          <a:prstGeom prst="line">
            <a:avLst/>
          </a:prstGeom>
          <a:ln w="25400" cap="sq">
            <a:solidFill>
              <a:schemeClr val="tx1">
                <a:lumMod val="85000"/>
                <a:lumOff val="15000"/>
              </a:schemeClr>
            </a:solidFill>
            <a:bevel/>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24F022D4-64D2-9D9B-5CE7-2546262172FF}"/>
              </a:ext>
            </a:extLst>
          </p:cNvPr>
          <p:cNvSpPr>
            <a:spLocks noGrp="1"/>
          </p:cNvSpPr>
          <p:nvPr>
            <p:ph type="sldNum" sz="quarter" idx="12"/>
          </p:nvPr>
        </p:nvSpPr>
        <p:spPr/>
        <p:txBody>
          <a:bodyPr/>
          <a:lstStyle/>
          <a:p>
            <a:fld id="{7DF6DEEC-D04A-4FF0-9A08-7D39859C24F4}" type="slidenum">
              <a:rPr lang="en-US" smtClean="0"/>
              <a:t>18</a:t>
            </a:fld>
            <a:endParaRPr lang="en-US"/>
          </a:p>
        </p:txBody>
      </p:sp>
    </p:spTree>
    <p:extLst>
      <p:ext uri="{BB962C8B-B14F-4D97-AF65-F5344CB8AC3E}">
        <p14:creationId xmlns:p14="http://schemas.microsoft.com/office/powerpoint/2010/main" val="30718315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0080" y="325369"/>
            <a:ext cx="4368602" cy="1956841"/>
          </a:xfrm>
        </p:spPr>
        <p:txBody>
          <a:bodyPr anchor="b">
            <a:normAutofit/>
          </a:bodyPr>
          <a:lstStyle/>
          <a:p>
            <a:r>
              <a:rPr lang="en-US" sz="5400"/>
              <a:t>Security … What is it?</a:t>
            </a:r>
          </a:p>
        </p:txBody>
      </p:sp>
      <p:sp>
        <p:nvSpPr>
          <p:cNvPr id="18"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148507" y="2942488"/>
            <a:ext cx="4860175" cy="3320668"/>
          </a:xfrm>
        </p:spPr>
        <p:txBody>
          <a:bodyPr>
            <a:noAutofit/>
          </a:bodyPr>
          <a:lstStyle/>
          <a:p>
            <a:r>
              <a:rPr lang="en-US" sz="3600" dirty="0"/>
              <a:t>What do we mean when we say security?</a:t>
            </a:r>
          </a:p>
          <a:p>
            <a:endParaRPr lang="en-US" sz="3600" dirty="0"/>
          </a:p>
          <a:p>
            <a:r>
              <a:rPr lang="en-US" sz="3600" dirty="0"/>
              <a:t>In your experience what does this mean?</a:t>
            </a:r>
          </a:p>
        </p:txBody>
      </p:sp>
      <p:pic>
        <p:nvPicPr>
          <p:cNvPr id="6" name="Picture 5" descr="Transparent padlock">
            <a:extLst>
              <a:ext uri="{FF2B5EF4-FFF2-40B4-BE49-F238E27FC236}">
                <a16:creationId xmlns:a16="http://schemas.microsoft.com/office/drawing/2014/main" id="{5D592823-C0CD-33B5-A19E-9AB0B4B636A8}"/>
              </a:ext>
            </a:extLst>
          </p:cNvPr>
          <p:cNvPicPr>
            <a:picLocks noChangeAspect="1"/>
          </p:cNvPicPr>
          <p:nvPr/>
        </p:nvPicPr>
        <p:blipFill rotWithShape="1">
          <a:blip r:embed="rId2"/>
          <a:srcRect l="1712" r="32591" b="2"/>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4" name="Slide Number Placeholder 3">
            <a:extLst>
              <a:ext uri="{FF2B5EF4-FFF2-40B4-BE49-F238E27FC236}">
                <a16:creationId xmlns:a16="http://schemas.microsoft.com/office/drawing/2014/main" id="{63758CC7-9EAE-7AE8-72ED-15359FEC7C22}"/>
              </a:ext>
            </a:extLst>
          </p:cNvPr>
          <p:cNvSpPr>
            <a:spLocks noGrp="1"/>
          </p:cNvSpPr>
          <p:nvPr>
            <p:ph type="sldNum" sz="quarter" idx="12"/>
          </p:nvPr>
        </p:nvSpPr>
        <p:spPr/>
        <p:txBody>
          <a:bodyPr/>
          <a:lstStyle/>
          <a:p>
            <a:fld id="{7DF6DEEC-D04A-4FF0-9A08-7D39859C24F4}" type="slidenum">
              <a:rPr lang="en-US" smtClean="0"/>
              <a:t>19</a:t>
            </a:fld>
            <a:endParaRPr lang="en-US"/>
          </a:p>
        </p:txBody>
      </p:sp>
    </p:spTree>
    <p:extLst>
      <p:ext uri="{BB962C8B-B14F-4D97-AF65-F5344CB8AC3E}">
        <p14:creationId xmlns:p14="http://schemas.microsoft.com/office/powerpoint/2010/main" val="29361313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Let’s Look at some Examples</a:t>
            </a:r>
          </a:p>
        </p:txBody>
      </p:sp>
      <p:pic>
        <p:nvPicPr>
          <p:cNvPr id="1026" name="Picture 2" descr="http://t1.gstatic.com/images?q=tbn:ANd9GcTvCoe0ktM1M7W1dqNbooufYXMA8SSJj58sxwIDAIjDTp-ukNz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76600" y="1981200"/>
            <a:ext cx="5181600" cy="371348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p:cNvPicPr>
            <a:picLocks noChangeAspect="1"/>
          </p:cNvPicPr>
          <p:nvPr/>
        </p:nvPicPr>
        <p:blipFill>
          <a:blip r:embed="rId3"/>
          <a:stretch>
            <a:fillRect/>
          </a:stretch>
        </p:blipFill>
        <p:spPr>
          <a:xfrm>
            <a:off x="3276152" y="1981894"/>
            <a:ext cx="5182049" cy="3712786"/>
          </a:xfrm>
          <a:prstGeom prst="rect">
            <a:avLst/>
          </a:prstGeom>
        </p:spPr>
      </p:pic>
      <p:sp>
        <p:nvSpPr>
          <p:cNvPr id="4" name="Slide Number Placeholder 3">
            <a:extLst>
              <a:ext uri="{FF2B5EF4-FFF2-40B4-BE49-F238E27FC236}">
                <a16:creationId xmlns:a16="http://schemas.microsoft.com/office/drawing/2014/main" id="{996923CE-4E38-4C03-FEE4-3E48128FC789}"/>
              </a:ext>
            </a:extLst>
          </p:cNvPr>
          <p:cNvSpPr>
            <a:spLocks noGrp="1"/>
          </p:cNvSpPr>
          <p:nvPr>
            <p:ph type="sldNum" sz="quarter" idx="12"/>
          </p:nvPr>
        </p:nvSpPr>
        <p:spPr/>
        <p:txBody>
          <a:bodyPr/>
          <a:lstStyle/>
          <a:p>
            <a:fld id="{7DF6DEEC-D04A-4FF0-9A08-7D39859C24F4}" type="slidenum">
              <a:rPr lang="en-US" smtClean="0"/>
              <a:t>20</a:t>
            </a:fld>
            <a:endParaRPr lang="en-US"/>
          </a:p>
        </p:txBody>
      </p:sp>
    </p:spTree>
    <p:extLst>
      <p:ext uri="{BB962C8B-B14F-4D97-AF65-F5344CB8AC3E}">
        <p14:creationId xmlns:p14="http://schemas.microsoft.com/office/powerpoint/2010/main" val="3929256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1" name="Arc 30">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r>
              <a:rPr lang="en-US"/>
              <a:t>Fort Knox</a:t>
            </a:r>
          </a:p>
        </p:txBody>
      </p:sp>
      <p:sp>
        <p:nvSpPr>
          <p:cNvPr id="33" name="Freeform: Shape 32">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CFD40A53-1753-68D8-AFA0-E619578D2A58}"/>
              </a:ext>
            </a:extLst>
          </p:cNvPr>
          <p:cNvPicPr>
            <a:picLocks noChangeAspect="1"/>
          </p:cNvPicPr>
          <p:nvPr/>
        </p:nvPicPr>
        <p:blipFill rotWithShape="1">
          <a:blip r:embed="rId2"/>
          <a:srcRect l="7917" r="20114" b="-2"/>
          <a:stretch/>
        </p:blipFill>
        <p:spPr>
          <a:xfrm>
            <a:off x="703182" y="962659"/>
            <a:ext cx="4777381" cy="4762937"/>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lang="en-US" dirty="0"/>
              <a:t>Fort</a:t>
            </a:r>
            <a:r>
              <a:rPr lang="en-US" baseline="0" dirty="0"/>
              <a:t> Knox is a US Army post in Kentucky</a:t>
            </a:r>
          </a:p>
          <a:p>
            <a:pPr marL="0" indent="0">
              <a:buNone/>
            </a:pPr>
            <a:endParaRPr lang="en-US" baseline="0" dirty="0"/>
          </a:p>
          <a:p>
            <a:r>
              <a:rPr lang="en-US" dirty="0"/>
              <a:t>In addition to housing various US Army functions it is also the home to a gold bullion depository</a:t>
            </a:r>
          </a:p>
          <a:p>
            <a:pPr lvl="1"/>
            <a:r>
              <a:rPr lang="en-US" dirty="0"/>
              <a:t>5000+ tons of gold housed there</a:t>
            </a:r>
          </a:p>
        </p:txBody>
      </p:sp>
      <p:sp>
        <p:nvSpPr>
          <p:cNvPr id="4" name="Slide Number Placeholder 3">
            <a:extLst>
              <a:ext uri="{FF2B5EF4-FFF2-40B4-BE49-F238E27FC236}">
                <a16:creationId xmlns:a16="http://schemas.microsoft.com/office/drawing/2014/main" id="{72287214-A9CA-3728-8948-BFCE5A751446}"/>
              </a:ext>
            </a:extLst>
          </p:cNvPr>
          <p:cNvSpPr>
            <a:spLocks noGrp="1"/>
          </p:cNvSpPr>
          <p:nvPr>
            <p:ph type="sldNum" sz="quarter" idx="12"/>
          </p:nvPr>
        </p:nvSpPr>
        <p:spPr>
          <a:xfrm>
            <a:off x="8610600" y="6356350"/>
            <a:ext cx="2743200" cy="365125"/>
          </a:xfrm>
        </p:spPr>
        <p:txBody>
          <a:bodyPr>
            <a:normAutofit/>
          </a:bodyPr>
          <a:lstStyle/>
          <a:p>
            <a:pPr>
              <a:spcAft>
                <a:spcPts val="600"/>
              </a:spcAft>
            </a:pPr>
            <a:fld id="{7DF6DEEC-D04A-4FF0-9A08-7D39859C24F4}" type="slidenum">
              <a:rPr lang="en-US" smtClean="0"/>
              <a:pPr>
                <a:spcAft>
                  <a:spcPts val="600"/>
                </a:spcAft>
              </a:pPr>
              <a:t>21</a:t>
            </a:fld>
            <a:endParaRPr lang="en-US"/>
          </a:p>
        </p:txBody>
      </p:sp>
    </p:spTree>
    <p:extLst>
      <p:ext uri="{BB962C8B-B14F-4D97-AF65-F5344CB8AC3E}">
        <p14:creationId xmlns:p14="http://schemas.microsoft.com/office/powerpoint/2010/main" val="34329235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297762" y="329184"/>
            <a:ext cx="6251110" cy="1783080"/>
          </a:xfrm>
        </p:spPr>
        <p:txBody>
          <a:bodyPr anchor="b">
            <a:normAutofit/>
          </a:bodyPr>
          <a:lstStyle/>
          <a:p>
            <a:r>
              <a:rPr lang="en-US" sz="5400"/>
              <a:t>Security </a:t>
            </a:r>
          </a:p>
        </p:txBody>
      </p:sp>
      <p:pic>
        <p:nvPicPr>
          <p:cNvPr id="8" name="Picture 7"/>
          <p:cNvPicPr>
            <a:picLocks noChangeAspect="1"/>
          </p:cNvPicPr>
          <p:nvPr/>
        </p:nvPicPr>
        <p:blipFill rotWithShape="1">
          <a:blip r:embed="rId2"/>
          <a:srcRect l="1189"/>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16"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5297762" y="2706624"/>
            <a:ext cx="6251110" cy="3483864"/>
          </a:xfrm>
        </p:spPr>
        <p:txBody>
          <a:bodyPr>
            <a:noAutofit/>
          </a:bodyPr>
          <a:lstStyle/>
          <a:p>
            <a:r>
              <a:rPr lang="en-US" sz="3600" dirty="0"/>
              <a:t>What is</a:t>
            </a:r>
            <a:r>
              <a:rPr lang="en-US" sz="3600" baseline="0" dirty="0"/>
              <a:t> the business asset that needs protection in this case?</a:t>
            </a:r>
          </a:p>
          <a:p>
            <a:endParaRPr lang="en-US" sz="3600" baseline="0" dirty="0"/>
          </a:p>
          <a:p>
            <a:pPr marL="0" indent="0">
              <a:buNone/>
            </a:pPr>
            <a:endParaRPr lang="en-US" sz="3600" baseline="0" dirty="0"/>
          </a:p>
          <a:p>
            <a:r>
              <a:rPr lang="en-US" sz="3600" baseline="0" dirty="0"/>
              <a:t>What does protect mean here?</a:t>
            </a:r>
          </a:p>
        </p:txBody>
      </p:sp>
      <p:sp>
        <p:nvSpPr>
          <p:cNvPr id="4" name="AutoShape 2" descr="data:image/jpeg;base64,/9j/4AAQSkZJRgABAQAAAQABAAD/2wCEAAkGBhQSERUUExQWFBUWGB4YFxgXFxoYFxgXHRwbGBcXHRYaHCYeGBojHRgWHy8gIycpLCwsFx4xNTAqNSYrLCkBCQoKDgwOGg8PGikkHyQsKiwsLCksLCkpLCksLCwsKSwsLCwsKSksLCwpLCwpLCksLCksLCwsLCwsKSksLCwpLP/AABEIAQ8AugMBIgACEQEDEQH/xAAbAAACAwEBAQAAAAAAAAAAAAADBAIFBgEAB//EAEgQAAECAwQGBgcGAwYGAwAAAAECEQADIQQSMUEFEyJRYXEGMoGRsfAjQlJyocHRFCQzYrLhgpLCFTRTY9LxB0NEc6LiFnST/8QAGgEAAgMBAQAAAAAAAAAAAAAAAgMAAQUEBv/EAC8RAAIBAgUDAgQGAwAAAAAAAAABAgMRBCExMkESE1FhcSIzgZEUI0KhsdHB4fD/2gAMAwEAAhEDEQA/AKjpnPu2ohkmhxB9pWaVBoX0zbdSuWBeHokk3F3a8mL84n05/vqxwb4mFOlg9OkbpSYffIW0hvS2llSihJWqstKiFISsEnMuQe6JW7SWqUkHV1QFVvILnGqaDDOK/pYj7wkbpSB4xHpaPvAG6WkeMS5Vi5tGkShQSQom6FbKwcfyqBJhmzTr6b1QNyksadsUGnZIVbgkhwEpHiY0MqTclJY0AACewZ45xG+Akit/txKSUEF00LEeBgydNSz6xHMfSFtKWYGVMJAwJFIzQmRwrESzOl0kbaXbUKwWk9ogwMYYTImi1qTgSORaC/FNaoHs+DcBUSujdGNl6emD1z2sfEQ3K6VqGISeYI8INYqJTos1aRuJHb9YKkq3g8x9Iz0jpWg4pPYQfFosrPp+UrMjmPo8MWIpvkDtSXBZMdw7D+0ESn3u5/AmF5OkJasJiX5gH4w9LrDLQkV8SOS0D2g/d4xP7OrdBREkyRublTwiu1EncaF1JIxBjgUYZs7l2Jd+eQ3wVSFZhJ5pI+NfCAdFeS+6xMTDEkzzBygZo/lV9WiEySnepPvA+OED2WEqqOC1Qxt7viPrCyZTVSQo8CKfvEPsyvZPdAdDD60ZDpgH0hN94DxhTpaPvihuSkfCGekhvaSmt/iJHxH1gHSVN7SMwfnQPCOk5wHS0PbSn8qR8I50oS9uUPcT8P3gvSJL6SWPzoT+mOacTe0mof5iB+n6xRCOlA+kyNx8EPGonp9EBx3cs4zVoQ+lJp3KP6GjW2tHok8/PhFchcGf03SzTTw+YHzjFCfG16TFrJN7P1pEfPkzRn8I4acbps7JMeTOid+EUzhv7xHtbuUIjgRMamwAKPZE7POB3d8AmTdrh8IHpLTDayCS55GBhSSlSlBKQVE0AFSTyi+svRVSkArUZaiTsqQQacyITUcYK8mMSvoIKtqsXgsnSy04EjkSPCEtK2YyZqkEvdzGBoCPGK+famDDEwcaae0GWWpp5PTyaksFrPMhQ/8AIRpLH0utFxKzLCkqAY3WBfN0mnaI+XSjVo+n6LR9yle4PGDqSlTt0ti4wjLU1OgLXrZk04NLB5Gjt2wOzaUn+rOlrAAqqW3D1VCDdFrMyp+foAa9kUNll/d5nNDd/mkdsJNp3OWSVzQo0zObalSVclFD8r6TBE6bo6rPMA3pKVM/8Sd+6M/OJFnlMTUrdjxFIcnLUJ0tD0KUPQcO2GJgNFqrS1nJ2hMR78tXixHxjn9oWT/FT3wjItyipYIDS7xDcHgf9u/lH83/AKwaYNrGftksq0muhrPAz9oQHSAvaTXxnJ8UxaypRNvetZ5/Vj8IgmXet3OeMjkd8K6xvSVmkZZVpRXGcjxS8QtSCrSquM9HwKBFmiRe0g9KTh8FD6QGWh9JAkCs5+4gmIpE6RFAfSU73leDRpLRY5mse+8upu7jw7Yo7Ih7fOP5lfqYxrZuB5fSKtdu5NEZzT1gXNsy0Ia8q6zlh1gceyMPO6IWsFtU9AaKSaEkb96T3R9NNE4PyiUpIqa+zV/VKqdhKu+MaWJnSdkaHaUldnyCfoicjrypg5oU3e0KR9qVOIJAIYGj57KSc95PdHZ9kTMIKpaFOANoA4OcSOMWsf5iTsep8Sfs84UieuORMfXrP0Yss5SwbMh0KuqYBNWSqhQQ9FCvGMf0l6A2hM9X2azTDJpdugq9UXsyrF8Y6KeKhN9Ly9xcqUoq5TdHJhE+WomgWncc6x9fVYSATgARxGIdwO2Plln0RNlqSlSFpIUAXSQQXBq4pv5Nvj7ba9HEImEsQEqJuq3B6ORujOxrTkmh1F2WZjunmiibDMNTdKVAXTgFAHkNruj59/8AALYhpk6zqTLBBUXTQFsWJIoY+39J7GDY7VRbmUvjkTWp3CK9OjFGyBRZRVJBUzuTccmtDC6OKlSp2XkuUFN5nxu2aMRL2g4Zs3FY3cpDWWT7qYy/SOXsHDFNRhiI11z7tI9xMdsZOcU2BazsanoyK2n/AOuPB4zdmDWedzRGj6OTAftRBBGoAp7ppGek/wB3m+8jy3n661PR+5wSyeZ6f/dpXNfinv8APOHZyfvMr3ZfgIStA+7yea/FI8+RDs4/eZfBMvwGMMAOWdO1aOS/0qhJEug+oh+yis/kv9K4WlmgrlugkUztksq/tYKkltYVOQRmSMmgGj5H3sK3zCetm5LseRFIno2bPVaAlU1ZQSonbegdhVL7s4jozS1oXPTLUt0lRrdlksASKgUw3QlJPRjG3yiGjpf316l5hJ3CpblUR7Rq3tmX4pIoX9bN2yiWj9MTF2gS7ssEqO1qmLC8ynCmqx74jozSgVaAkSZaVkq2gpYwvEliljn3xfT6kcvQR0agG2TVAjrGgy2xvjTzT1uz+kxm7PpeQmapYlKCyahM1Kqv7JIOIEaVfr8x4JgrWTBvewlMYI2nbgCfDKCSLShaQoKBSpyDg7l6PvJMeUsBNS3F2yO+kSsVkMqSEpIKJaCxO5KScQeG6POV7ORqw0B2ecV38CBMXLDE1ShRS+eLcojo/RZQucosdbNUsN6qTgmrYVwh3QVsTOlS5q5aQFgKullMHIZyK4ROx6PKUpSEEqAD3TiWr6z4whvpbQxZ5ndGqAWu6FJZbTMTeWEprQl9koiy0PbJptM1K3EhkGWpSGclIv7RAdlUhPRtolEqAKqzGmEpWwWCEqcsQ4CQMWpFt0Qty5klJnKQiY5dJF0hiQNkqBqGPbC5rXIFuyLay2RF5d2eglSryg4oWAZgqmAyiFmtV+fOs5loUJaUkl6KCw7Xbp5Y5wXRehNXNnzApEzXrvkENdLBLOCXwjnR+2ItSFTUyEoZakGovG6Sl3CRShhyoxlojkc2JdGei65UmZKtIE2+tdb5V6NVAh1MRQswpFgLJImy5ktMuiXlkXGYgYAjgRURzQ2iJkvXGcpZBmKUhpyy0sl0pZ6MKNwhqwolpBXL1gEw3y4UXJADlwSKAbocqXlAuTPjfSnogoSAtd9CtkqdOBzFGzhqZK+7SW9hHgGjRdOVTvsRVNVtFIJCpYSL24ENnviolj7rIGYlo8BF4dtpo6XmWfRmyiXLtYTQas991R8YoLMv7vMf20jjgY0ehyyLX/2z+lUZuUHkTPfSfhG7T2v3M6e47PP3eT/H+pPny8OzFfeZfJHyiutP4ErcL36hjuhyYp7SgcE/LuhothbKfx+S+XVVAJaaDHDhBLIfxuSvA/v5cwOSNkch5wgkRhtFrOtbboDizef3gWiljXDEEhWIyDns60F0Yo3lHEXXxJanzrA9EElblLMkh7z4gUZ+14448HRLkFoSeVTqswdnSxwOBMK6Akfe7+yHBoOAIduL/CHtDpN4kuKEtRsBuwgOhFDWqqSUpILpPPHD1oKD0JLkrNB2QKnF0jZUDvri/wAI1axRXOKLo+XUaNuozgOxi/WKK94+JEMi/hYElmhK1aPTNlqlqLBQZ2BrXIkP2Q1PQUJUq6lQYkhlJdLEkdUjDjHv7OM5JQGFQagkUUDkC2HxhzSqUyZK1zZaShKSpYGJQ20GKEhWLM8edrP4rGlHQrLJLe76BaAQCAhSAwIfBMwNiMqQ7YJCkpDTJ14JS5ICnLMrFBzeJoUlTEImIDZEEilKBRw5QezzmLlcxxheQ4cF2/Dr3wmTuEiFisgTKWuTMvXtZOF4OFKN5ZZrtCaUixsdpXdD6tRNcSOzOK6xlCUJKJyFJA2Spi4fAEKA7Wi/lJSrBSSx9r/2NIXN63JoC0euZZ0zVamVMSpa5tF3VByTdrLYsKYxdyZdHFnSkGuwpIxrkExWWhYs8hSlSJcwJBJYsVOrBihvWGJg6JycPs81J/JMDbvbEddOT6dyOSau8kdnLRZpIVPmTU1CSb8xdVKupDbWZAiNtnLlyGs65l5LBAVKvDEA4oBNHzhHSmrMj7wJxRsPtlW3eSEmiyevdh+1aRWEEITMvUAJlksHD4Ag0eE918BdBhP+KtpnfZrqp0uYCoAAS7isQQRtl8N0BR/d5Q3IR4CHP+JdnlLQCqYSpC3QkpuuWIZiBVq9kISk+hl+4j9IjqoN2s/IyxcaDUGtF4bDbXu7V74RxMqwFJQJwS5BPpUguPer3wroxZ+z2kvW4f6ozyJytWVuSsKCXNWSxJFaN5pWN6nt+pmz1NYro7ImISlE4sl6hl4kH1ccIJM6LjWBYmgMwIUlsOL4xippAQhV1KjMcqJSMiGy4mGAi6sS0ul2qlSkqDs+Ch54wwDM1EvowsaxloVedqnEhq0pEEdFpzDq4e1FFZ7dMN5ps0BLk+lUp2BoEqfd5zYTpaYw9JNPHZ/0xaBdwGiZyfSEBmQSXS2Qp8PjENCTNpbXS0slwGMEsFETTXqndj5aB6LUQJrhmQWLFz8jnHMuPqdT5O6GBBWasEFtpxlvgHR/GaWZkKeoNWT+0T0PNITNpggnAiuY+ET0ROBRNLAbBenP6RccrElnch0aQbxvYvvBpVsOEaA9U+8r9SopOi4F6hBriONc+cXnqjmfE/WJ+hg/qROToszVIVdSrVrCiFPUMQw2T8d0M6UmSUSphnSQZaUkrAul0jHZo8JW2xzZtnmS5LBarrKKrhSynLEB6hxQiLO1ypSpSkTZaii7ti8SCAKvcmORTdHnq2/P/ZorQAucky3SmYKpyDhN5L+sa3b3yicmcHcFVK9Qg/FMElqlrQFoUspKQoOFGhDg7SSYFKn3WIX/ADJSmuJyTHP6DELot2os5VJUJiZaCUkqBvN7qm34AxdpSlXWCFNmzv2sYqtGpRLlIQiYhQlhgq8Ho7PdmDwizsc/WISsKSLyQSLxaoBZ674qduCAfssuTJUZklCwlKlqajgErwKRXmYupcjZSbiw7Gk0g14hQiksFg1KF30pm3jMUXNClSlLukFBehu45Q5YLSFy0LEopCkpWBrGICgCBRgMYtMTJXA2iwauyk2oz1JSm9MOtKwyTevMFPRgaDKGZy70slKpxN0kbKVVZwCLp4QsT6BaZ+sWgiZfGsKnQ6iR13LIYU3QSzTUmUFStaApIUnMsQ6aEE4EYwMn4CUbamL6c6PeSVKnKvJIUdlKajeQARiRHR+DLH5E+AjvTOXekTAtSgSly4YuA/s0rHJL6mW+N1Ph4x34Z3iSeo3ZaWe0+4f6ozIX6BX/AHBzwOR+caWT/drT7qv6ozLtIVn6QYcjujfhp9X/ACZk9x61L9DK5HniPP7wyT95SPd8B5/aE7TWVKzYHniOzzuho/3hPZ4DPz8oNIA7ZZlZ2HVVz8/twACLS1HHcIJZBSbyV4HtP+/Ex6XLoOthv/aCQLD2BXop5YjZAx8N0dsCjq55q1yjl97xCxqOonVT6oFadpidhQRJnGhcAUPwwpCFqvY6HfMhoya0ufjRB3YuchyiOjZvo7QcGTTlVsM8YPY0HUztkh0sz41Pntjmj7OpMmaCC5ycYOWq+LNEVsvYt8k+iSU0ulwTj3Rdo6ifOLfWKnowhILJBABIYl8CxrucRbJ6ieQ/pipfLZS3onN0TPmoBkXryVovXVlGzeBUGvAHZBi8tcmXcUJiJyUkEKO0qhBBqCpqPFO1oun7OJj0qhTNtB6EsTdeLq2qSiWozZs1Eut4zBQA0qooLYtQx5zEP4zvVynm2izos5VIWpV2UdWCgkKup2E1QCoFhnHZNsSR+JLBZqED4XnFYYAlS5Pop6CmXLdKSKkJS6QNoPQAYR1M0kAq1b0NCpnx9ownIYgtjtRSi6Li2vHhUlTYq3w5KUFpSbsnaAU3MOzlDRVaPRqkXQmWXWtTlOJWpS2coJo7RZaMlmbJRMEuWAtIUBdFHD5DnATViC9j0PdQUqRLVVZoRUKUpQFUZAgY5R7RdqQqVLmIQpKVpCki8lJAIcBgsNTIQyjQCwVG4naUVM/qsA1RwMIaPUNUhSEqSggFKQbrBgUhgumWEFe6JqGsiSZRTNMxR273pCp0kqbBeFwgQSxhIlJ1YmBIQLlHZLbIZQJwaPImuklWtxOKwaOSwF45UjuqSEJuiYkJSAlqlgGGIL0aFydyJGN6VSFrkLVMmqvFNXQAxbgBBEj0aB+VPhAulkr0C781QJSxBSkVI4IDVgp6qOSfCNLDbQZhpavu9o90/wBUZxf4Cvf55Hs87o0F/wC6zvdPiaRnCv0Jb28DyPn943oZx+r/AJMuWpG1fhyuXz8+aQ1/1Ceznl5+uMKWg+jlYimXPcPPjDN77wnPDwHZ53NDfQA9ZDSbyV4b/OWTOaV1RhgIXs5pM5HHkOweewktVBy9r9olyMakTQZEwlmvAVBZqd8clISJE6qWJS9GAwod8RkBrOpyar3VbLDGkTs6xqFMX2hVuNY5v6H/ANnLKlOomtcZwKM2MSscspkzXOJGCiQxOD/CJSCTIW5FSMUlhXNzEZFnAkLF5BdTks6cXYh4l9PYt/5GtBMxIDY+OMWSOonkPlFVoVeyosBRWAYZ5dkWYwHIRJfKZS3h5y5yUoMgzPxUBdxJUBLrfJoQ/V4xbaYlSJ0pUubPmIlqa9fTcwIUKqQA1K1inn6Tmykp1KmKpiQrZvC6aKUaUYZvF/pawm0yFyTaUXVhibqXxByUMWbCPO1t53cCNvKJUhS5c6XM1aKJ3sGGC/lEkWUg+opsamvYxpDOkpEyVLd5MyqQ20HvED81KwmWdjLlk768v8OEpjE7hLDLVZ5IQZUpdxJdVQVM6vYpSkWI0ckpH3eSxHEchREZ6VNRYrE82UidqkgLI6yqs7KTXEYmLWQuWpKSJCEhSQWvMaschjAzXJVhddnVJlEqlulCSpRSqpAdRxul2jtjIKEFMtQSUgpAUxCSHAbWUYZCAm4iUvWyythMUplkuh1KZioPslm4Q3IkoCQ0uakMGAmkMMgBrKCCbyCOTElMu8RMZKXVt3iwG1iupocIDbUzPs6jKE0ruHV4HaIdLv2YwJS9XJUqaZxSkKKzffY2tyn6rYRJV4SzqlWhJbZolQBAp1gaViWZDJ9NLOrVrClLyxCQcaYJDVaHFq2U9nhCXS+VM1KyqcSTQ3kJHKoSGq0NqwTyHhGhhtv1FTJqX90m8j4xnF/g79v5Hz5eL9Z+6TeXz4RnV/hbtvLkfP7NG5DT7/yZstSNpOxKD+qOOfd53Q072gZsRxyHDz8IVtR2JeeyMefHz4QYH7wMq/Tz5JhgDJWRVJnI+HDt7jxgssFhjhxhexVC83B+WXd5aCilG+A+sRMqQ1/01Suszc54UY0aJyi1nN1Smv4tXj6u98otVWVN27dUA70Ix5vA/sSbt1pgD3sQ783MA6bf2G9a/cTss1RkEkl72YbsaPIbUllhr+LPm5FOcOfY03LvpGd3YE+DfCOIsCRLuArAd3Ka/pb4RXaf7WL61+4DRc4qQpRxKS9CMjkYtFZed8KCQEJUxUdk9YNkeAEMqPnvgai6aTRcHeY0i2XVSksk6xZSXcEC6SCC9cMGhzSOjyq71SErSsu5cAu2FKtCUiYCUpuXibxe83VahF079++CWiQVTpa9WAlF68KVJACcAAWrHm6u801oQ0xpRFnlCZMlOlwlk3SSThQgPzgumtHLn2dSJLS5irpSq9dZlAqDpDilINPRKWGXZr4JFNnHg5pB50qguy5yS4/5hNHr68J6rWaLsJy9E3LMkWhJWEy/S7QUFsHUaqc/tDGoBTspmCjJAUQ1KYL5R6ZLQRdUZzHZNTV6b8KwppeZMTJVqFTNYwuU4gZhqB+6Bu2yxieZcuQVTQtko2yVKU4badlVz5wKeAuzEyBMSVSyZZvKDEp2CxXTLGJ22bKWhSJhmFB2SCmYxBo1E5uIjaEXZShKTMBSghAuqoQCEDaG9sYJFMEJR1DTr5GraaCtRfZF/qmvrYRK26TmCWrVkhTMnZJrlQp8YHabc0sqmJmJS22Sg0BofGI2m0kBVK8iWPhFq71RDN9K5hVLUnW9ZTBwkZ0wSC7Q8s4ecjCHSqypUCbxopxhyrSH10bzlGhhtq9xVQFaVtY5nIeIjOqmtJ37XwY8OUaSZJKrKpKQVKIDAB8xlFOvREwywDLW98+rlv8AHv5xtw2/czZaiNqVSW/sjx79/wDu8HCvvHaMezz+zPK0aKmMjYXRI9U0rWgFPO6pjYF697imcVulsPPkhmIFgLEetTy43c/ORxyPdA7JZVC8Lqhhkd6eHHzVzJlFhQ+eZikiuDUPHQYiY8DDSibx54i8deIQFazsq90xFSy+FI7ajsnl8xEVYxz4j5bG0d6DlABQooe9euqCgDslIUGxGI5xNCUaxJVrQl9oCYqoY5Be9oknUMjWhd5lEEKmBLOAWurYerlALSuUCNXrWzcrI4YvHmJ5yZqx0LmTOsxUAn7Q77LGYS9cKnjBLXZUlJCTa72ThW8P6u54oZFpN9Orv3nN1gXdi7UOTxb2ddoK06xU649WSSQGJ9je0I0I0KWiSoYmaA4qUkVcNijeIFOmr/xVNvZBpyuRd21Eu60ybMSkqA2kkVegqgZ5RTaTlSkgGVMUtTpo2RUL3q7io9kXFtl3GJ6ZJABtMwhw2yjG8Lo/DxJuiO2ueptmap8vRCtcOpFRMWQxe6ykqfJ0qCk/ECHJmk53IXgCdWcLwBOG4mLtcgK33lIUiYtV1WydhId6BjcpVoVnqXS7MV1kgkpTQFQvnq5JcxbWiZLUkhU2lKsBUKChVqVAhHSQAR6ObW8kYBWyVJCizZJJPZBx4IZvpDLUEn0jgkYgfIRaTTTzuil6RJUU1mOLw9UDMAYdsXU/DsPhHdhtEJmNaLrLDHGtOUNGT+ZXf+0KaJ/CTyHgIceN2jtM2epEyPzHtunxTEfsx9o/yo/0wUGPQ4AHqD7X/iIlqVe1/wCP7xMRJ4hQsTHniBUN4jwVEbLCR0GB3uMdvRCELSaHs8RESa+eEetStntT+oRBa2bzlHNiX+Wx1HciE5SisAgkBJuUU11xeIah2hXlEpUlSibyVJAbKhxfFPKJG1OUupilLAMkMkkl3IcuXrHplpqAlV6hJyZmYOzZnujzM5XbyNVDVimCWtKkXipLsAl8QxoE7j8Yu7Np6ctQSTdSxL6p60YYcT3Rn7LpEy1hSWvMRVjQ8ItpHSOYpQBKEgvUjgS2I4Qh5kaHtIzBNQEzLQkAkKYhKC6TeGI3iKW02dIUAiaCMybpyJGBpDdtnCdRUwBi+QejUJVhXKELRY0pAImvVmccdxiLItIl9lSaKnpTUHAZEH2uEHteklhiFyy5PqHv65hCQhlZqLMA4rhgwyhhCtoBWzjzwJ5boK6IRtGkFzElJKdoZJLsGNNo8ITmX3ZyBj1eI+sWdoQjNbHdeT9eQhC2slmYu/EZNh2xZGZ3Tsi8CxJZSSacXGXCLW0Gh5Hwiu0raGSRSpTlk9G7zDk9dC24x3YVt6+RNRD+ivw08h4CHHhPRp9GnkPAQ00egpbUZk9xJ49ejjcI80NFkgY88cAjrRCGG0vJaXJugvcqwxwNYjpGU0iQWLlKnYVyNYb0tLJTKb2N7bojpBPopNPVOfLPOEN6jUhTSMu7Z5JGJC+eWJj2kUhNnkmoJvO2OIg+k5TyJIY9UttHEtnnEdLoH2eTTAK+URvUliy0PKZBO8o8RFwQ8Vth/DHNPiPpFi8Jr/K+w2lvHUWUqKVBSQyAgBsgpSnJfF1H4QK1KKJhS6DshTjiVBqK4P2wSRo68q/QulIbad03q0S2bNwxMCtK0y5gQZZqkr6xGCrrMUccY81LNs0kCk6WUlYLPQhqpfDMF8obR0nUZstGrSL4VW8txdAIFVYkmBWbSglrcIDMQ16tSM7vCH0dIr6koEkbT+teZg/VuVgCMjbAtZTeR1XPXBd23mFJkkJAJADqCSCBm5xfhuhy0yzMukymuu7INXA7sIQtaLrFjtKaqVJ9UmmR6sUWgadJ6tYKU5EbsW3bm+MMS9KzJpAYCuV45E4OHwhBc+6oXkK2XJALO7Z1bCDptqVUEtQ5zCePsxZQzaibwvEYHLexwv7xCNoQBdYpq78DTO8d57oJPswIAZmepLu7b2waEbVZ2IZQq+5gzbjxgiFbpOcRS8KqTQc4enBgeR8IqdIzVOioIK05cd8XE7A+6flHbhloKm8iGkLQqXZwpBYgpGedDgYql6cnhKTeFXfZ3Nx4mLLTP92HMRTWkHVS8PW8RG9T2ozZbmMzdOzwpKQRUJfZOeOceTp60Xylw1fVOWGcL2kelRhgnIefO6PSx6ZVRir5+f3guplNDEnpBaCCXTT8p3tvhpOmJ5Hq/wAiv9UVdmVsKrkMuI8/tDCDQVHcPmXg0Az2m1hpYLVlUwo8e0mRckinUz7I9p0dQEt6MPQx3SZITK33N3KFPkaj2kkp1UkEhrpbPdEdKTGkyW9kswxw7o9pVXo5Ir1MuYiGl1kSpO+7w4b4qXJaLqynYHMeBh+K6z9RPvD9KofJ89sKxHyg6XzBrR8tQWo1KVBLYFmBehNKnweCTNJyxOEoy1FZRecolkXXbF3BeK6xy5n2gkmZqtWGAUpr7l6Avg0MqtdnE8IKVGbcfBRVcf2nwfJ485JXbNJErTKvrCkpCRdutQVd32RCa0qE5CGqu8xc0ugE5cYatYvTZZQFBICgoPdckpulr1cD3xyYpCVoSZZvLe6aOGDmruP9oXkEw8vQ6gsKLFgQwxq29LZfGI2k3FJSUnafAhqDiIkmxr1qF3dhIU4vYks1MKMYLarUhCkAyarJCerkCS9Yiuy7IQtUoqZhgc1HOjOBSK+ZKXrUIcbYUQXwutk1XdotrTJJmJUEsACGfF2bClGPfCk60ETEIKQSu8xcEC6HL0iLUogdHsQSoUBHeRn2QGZK27t4Ndd+Ls2O6LBFnZRUUpqAMNzl8OPwgFptpSq6Aki67gnezfOJk0Qztsmm8kAg+kD0wLindFzacFe6YorVO9KnB1TQot/CPBI74u7SaK92NLDLQ56mjBadLWYe8n5xSWk+jlDgfHdjF1p0+gT7w8DFPahsIp6p8Y24bYmdLcwk8+mTTJH1iMr8VVPa+cdtf4w/h3bo5K/FXX2/n58iLWhGRs42FUbDx8+TB0poKfAQCQRcVjl8/PkwygUFPiINC2T02oOHdrgwiOlz+GA/UGcD6RLZf8Az55QLTuKHb8MYkvC5cjU9AumCyZVD1Bm2cR0uhxIrggZ8fjAOkCh6JwD6MeMR04oAyBnq0+MR53Jc0ck7Kfe/pVDpPnthCQaJ94+CocJxjnxHykNo7xf+1JibSiW41RQSpTOygWCb2A5Q4JchU+/fCpoTdxrcd+qBg+cKyLYozFoZIuBNS5dw+DhmiOoaaZoWm8UBJGIYEne71jzsnbXLI0V5LC0TdpBReZ9uh6rFsnxbCPLnSzMQk39YQSgMp6MFEZDEQnY7Yoz1JURcCAQpm2ioghzTACkOKErWoUVjWBJCah2LXqZ4CAWWTDJWlEy8htYAFOpziGLPWtWgdotACkghV6pQS5wFSK0ofjEbRaZmtTdUoy7pfZHWcXatuJgNpnutN4qKmN3ItS9lyimQlap5KkdYBJLjBwxAzrVogu1pMxCCg3lBRSaUCWvVdw7jDGIFCjNSSVau4p6+u6bvHC9B0asq6pKwDVsEkgGpO9oiyt7FHV6PJWFMKJIbGpKSDh+X4wrarwUzJFHx4kYNwg2qOsvMSm6zEk1BxbDAtCs62ArWi4xQEvhUKBIw5HGI8/sQprSr0st2qsYdkXE80PKKKbaHtEsN64PwH0i4nklwN31+kaeH+Hpuc9Tk9p4+gT73yMU9r6qPd+cWnSA+hR73yMVVpZpeez842obY+xnyWbCWgvOGfV37hHrP+IumS93Hz5p5f445jwEcs/4i6vRXz/eCBOSeors+fnzV6WqgrlxhCUNhVMx84s5SDdHIecYPQG1yv6QH0v8ACB4wLpIrbSH/AOWMuce6RTWnFtyfCBdJF+lA/wAsfP6wDCuF6QTWMug/DGXExzTszbkivUR+o8IB0l/ERwlD5x7TqnnyhuQjxMR8lo09i6pPDm1Tg+BhlK8YVsahcNcoYEcmJSVM6KOcmRl2wa4yhLD3At8iCSK0xpE0aNUmcZtKouN2u7x4WqUJwSQdaUONkuUA+1u4PHjZ1a4LANwIKSkq9Ylwpqg0jzry9MjQJWi1kTUIYMoKJNaMzd7nuiWoGsSu/tJCgAwwUz0JrgIIJzLSm51nre3B/Zglo0cStKnAuhQZnd2+nxhfqgmBmWxYmIF4XTevEgDABq5R6fORfQSsX6hDkVdipgMaARyeSlaUuGU7nczEZ5vAJ9kSZiFle0h7ooBUMaZ04xa8MjXgOZ6rya0Yuwzo2XOI6y6v1gSMa4CuPMxz7Q6wAoMxJLZ0artv7o4VgqDrcgHdQHHAcIrgsigqEwklRTdDbXrOXo+67Ap4BKgEB2DktV3arEnAwS8b5xZgzDOr5coEuaDeYFxQ4jJwO4xLsplAmU05AYOZhV2FKQ3Zdfti6lnaPL5mKX/qEb7x7qmLUPtNu+sbOH1ictTayPSBtUj3vlFZaC4QPy/MxY9IF+jl8VHwiun+o/s/Mxrw2r2OB6sIofeBX1hTsERsx2llvVMSUXn4Zjw+kQkGq/dPyiyuT0s7B5j5+fNLaS10UyG6KmX+GW3j+qLmQNlNchnwggSg6QVtBHu+ED6Sr9O35BBdNp+8K5pHwED6QIe0HknwiMhDpOr0oH+WPnE9Ln73L91HiYj0ikk2igJ2RhB9IyCbYkhKiAE4AkfCBejCRf2JWweXjBiqsKSbwAALAs7itGccMRB5i2c7h8o48Y/y0jpobmFlyZZWF3nWAUu+RqQwpuicmYvWLcm4ybmG43vi0BkE1U42mUaORQBnfhErLagpLqVVyKDcSBRjiGPbHnHfM0UHKkvgSQN29xj2GFhIVr9bim5cuknF3fMcIMmahyxJLDfT4DjEpUx3cKOY5MBmd7xSbWhGTE2rXQKPjxbBoBNszzAujhJThkSD/SO+JGeLwBScPy/WOO6+qKjM7uyKzTIcSp1EOGAB7S/Hl3x4Stp3qzZYVOHbEJqrp9UO+e5uHGOS7QBmn48BvireCE0LLqckAGjABwwO7eTEJgSApiSc8aluPBohNtVQxpwECM0uaqrlhXDLhBWbIyoSBrpQPWq/Paz5ND02YUuQHdgz73r8YTXIOvSqrB3fkYYXaQp2INQKcx9Y1aDzRy1FkF04XRK4k+EV1o9XHqjxMX1ssOtShizA4g1flAlaCdtvAAdR+3rCNmL+FHBLVlVMJ1z4V+UDs+K6erF4dBOq9fOLtc/ePJ0CkesrBsAN30guqK5Ksyklp9GX9oeBi/ssvYTT1Rv3RGXoWWA15WPtJ5buMXVnsKLieQ9ZO7lFdyPlE6ZeCqmS5TkkAk5sPpHr6MaOc84rftAOAUe75mJhCzghXej/AFRnSxNbhHaqNPyPmcny/wBYCq1JGULiyzCOqBzX9EmPCxTP8sdqj/SIU6+JfgPtUhlM8KOGELTbekEjE1g1nsKgXKh3fvHpehgKkknPDHugqkpTppS1BjFRk2hdNtNSE0d68eQaDS7YsA7IxzdsAOEOJsA3q74kLEnc/bHH2F4HqRXKmzHego1AMn3q4xJExftfBP7xZiyJ9kR3UjcO6L7C8InUVjKJqp/4m+CUx1MovRqe8T3vFokRMd8X2f8ArE6irFkU7sP5frElWRR3j+X5iLFo6RBdpFdRXCwnj3/SBK0bvPxUYthEVmkX21yV1FJM0Ug/7fWELTo4o2kvQuWzavyjRlMcMuGxppPIFsr7FpaXcAMxI4FQB7iXEODTUnC+knm/hBUShuEEAhboK+rCU7Cq9LyzmVcpaz4JgKrcDgiZ/wDmseIEPmIlMT8PH1J1sQNpJwlzO5I8VCLyyhVxOyeqPZ3e9CEXdll7CfdHhDqVCMQJTbP/2Q=="/>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5" name="AutoShape 4" descr="data:image/jpeg;base64,/9j/4AAQSkZJRgABAQAAAQABAAD/2wCEAAkGBhQSERUUExQWFBUWGB4YFxgXFxoYFxgXHRwbGBcXHRYaHCYeGBojHRgWHy8gIycpLCwsFx4xNTAqNSYrLCkBCQoKDgwOGg8PGikkHyQsKiwsLCksLCkpLCksLCwsKSwsLCwsKSksLCwpLCwpLCksLCksLCwsLCwsKSksLCwpLP/AABEIAQ8AugMBIgACEQEDEQH/xAAbAAACAwEBAQAAAAAAAAAAAAADBAIFBgEAB//EAEgQAAECAwQGBgcGAwYGAwAAAAECEQADIQQSMUEFEyJRYXEGMoGRsfAjQlJyocHRFCQzYrLhgpLCFTRTY9LxB0NEc6LiFnST/8QAGgEAAgMBAQAAAAAAAAAAAAAAAgMAAQUEBv/EAC8RAAIBAgUDAgQGAwAAAAAAAAABAgMRBCExMkESE1FhcSIzgZEUI0KhsdHB4fD/2gAMAwEAAhEDEQA/AKjpnPu2ohkmhxB9pWaVBoX0zbdSuWBeHokk3F3a8mL84n05/vqxwb4mFOlg9OkbpSYffIW0hvS2llSihJWqstKiFISsEnMuQe6JW7SWqUkHV1QFVvILnGqaDDOK/pYj7wkbpSB4xHpaPvAG6WkeMS5Vi5tGkShQSQom6FbKwcfyqBJhmzTr6b1QNyksadsUGnZIVbgkhwEpHiY0MqTclJY0AACewZ45xG+Akit/txKSUEF00LEeBgydNSz6xHMfSFtKWYGVMJAwJFIzQmRwrESzOl0kbaXbUKwWk9ogwMYYTImi1qTgSORaC/FNaoHs+DcBUSujdGNl6emD1z2sfEQ3K6VqGISeYI8INYqJTos1aRuJHb9YKkq3g8x9Iz0jpWg4pPYQfFosrPp+UrMjmPo8MWIpvkDtSXBZMdw7D+0ESn3u5/AmF5OkJasJiX5gH4w9LrDLQkV8SOS0D2g/d4xP7OrdBREkyRublTwiu1EncaF1JIxBjgUYZs7l2Jd+eQ3wVSFZhJ5pI+NfCAdFeS+6xMTDEkzzBygZo/lV9WiEySnepPvA+OED2WEqqOC1Qxt7viPrCyZTVSQo8CKfvEPsyvZPdAdDD60ZDpgH0hN94DxhTpaPvihuSkfCGekhvaSmt/iJHxH1gHSVN7SMwfnQPCOk5wHS0PbSn8qR8I50oS9uUPcT8P3gvSJL6SWPzoT+mOacTe0mof5iB+n6xRCOlA+kyNx8EPGonp9EBx3cs4zVoQ+lJp3KP6GjW2tHok8/PhFchcGf03SzTTw+YHzjFCfG16TFrJN7P1pEfPkzRn8I4acbps7JMeTOid+EUzhv7xHtbuUIjgRMamwAKPZE7POB3d8AmTdrh8IHpLTDayCS55GBhSSlSlBKQVE0AFSTyi+svRVSkArUZaiTsqQQacyITUcYK8mMSvoIKtqsXgsnSy04EjkSPCEtK2YyZqkEvdzGBoCPGK+famDDEwcaae0GWWpp5PTyaksFrPMhQ/8AIRpLH0utFxKzLCkqAY3WBfN0mnaI+XSjVo+n6LR9yle4PGDqSlTt0ti4wjLU1OgLXrZk04NLB5Gjt2wOzaUn+rOlrAAqqW3D1VCDdFrMyp+foAa9kUNll/d5nNDd/mkdsJNp3OWSVzQo0zObalSVclFD8r6TBE6bo6rPMA3pKVM/8Sd+6M/OJFnlMTUrdjxFIcnLUJ0tD0KUPQcO2GJgNFqrS1nJ2hMR78tXixHxjn9oWT/FT3wjItyipYIDS7xDcHgf9u/lH83/AKwaYNrGftksq0muhrPAz9oQHSAvaTXxnJ8UxaypRNvetZ5/Vj8IgmXet3OeMjkd8K6xvSVmkZZVpRXGcjxS8QtSCrSquM9HwKBFmiRe0g9KTh8FD6QGWh9JAkCs5+4gmIpE6RFAfSU73leDRpLRY5mse+8upu7jw7Yo7Ih7fOP5lfqYxrZuB5fSKtdu5NEZzT1gXNsy0Ia8q6zlh1gceyMPO6IWsFtU9AaKSaEkb96T3R9NNE4PyiUpIqa+zV/VKqdhKu+MaWJnSdkaHaUldnyCfoicjrypg5oU3e0KR9qVOIJAIYGj57KSc95PdHZ9kTMIKpaFOANoA4OcSOMWsf5iTsep8Sfs84UieuORMfXrP0Yss5SwbMh0KuqYBNWSqhQQ9FCvGMf0l6A2hM9X2azTDJpdugq9UXsyrF8Y6KeKhN9Ly9xcqUoq5TdHJhE+WomgWncc6x9fVYSATgARxGIdwO2Plln0RNlqSlSFpIUAXSQQXBq4pv5Nvj7ba9HEImEsQEqJuq3B6ORujOxrTkmh1F2WZjunmiibDMNTdKVAXTgFAHkNruj59/8AALYhpk6zqTLBBUXTQFsWJIoY+39J7GDY7VRbmUvjkTWp3CK9OjFGyBRZRVJBUzuTccmtDC6OKlSp2XkuUFN5nxu2aMRL2g4Zs3FY3cpDWWT7qYy/SOXsHDFNRhiI11z7tI9xMdsZOcU2BazsanoyK2n/AOuPB4zdmDWedzRGj6OTAftRBBGoAp7ppGek/wB3m+8jy3n661PR+5wSyeZ6f/dpXNfinv8APOHZyfvMr3ZfgIStA+7yea/FI8+RDs4/eZfBMvwGMMAOWdO1aOS/0qhJEug+oh+yis/kv9K4WlmgrlugkUztksq/tYKkltYVOQRmSMmgGj5H3sK3zCetm5LseRFIno2bPVaAlU1ZQSonbegdhVL7s4jozS1oXPTLUt0lRrdlksASKgUw3QlJPRjG3yiGjpf316l5hJ3CpblUR7Rq3tmX4pIoX9bN2yiWj9MTF2gS7ssEqO1qmLC8ynCmqx74jozSgVaAkSZaVkq2gpYwvEliljn3xfT6kcvQR0agG2TVAjrGgy2xvjTzT1uz+kxm7PpeQmapYlKCyahM1Kqv7JIOIEaVfr8x4JgrWTBvewlMYI2nbgCfDKCSLShaQoKBSpyDg7l6PvJMeUsBNS3F2yO+kSsVkMqSEpIKJaCxO5KScQeG6POV7ORqw0B2ecV38CBMXLDE1ShRS+eLcojo/RZQucosdbNUsN6qTgmrYVwh3QVsTOlS5q5aQFgKullMHIZyK4ROx6PKUpSEEqAD3TiWr6z4whvpbQxZ5ndGqAWu6FJZbTMTeWEprQl9koiy0PbJptM1K3EhkGWpSGclIv7RAdlUhPRtolEqAKqzGmEpWwWCEqcsQ4CQMWpFt0Qty5klJnKQiY5dJF0hiQNkqBqGPbC5rXIFuyLay2RF5d2eglSryg4oWAZgqmAyiFmtV+fOs5loUJaUkl6KCw7Xbp5Y5wXRehNXNnzApEzXrvkENdLBLOCXwjnR+2ItSFTUyEoZakGovG6Sl3CRShhyoxlojkc2JdGei65UmZKtIE2+tdb5V6NVAh1MRQswpFgLJImy5ktMuiXlkXGYgYAjgRURzQ2iJkvXGcpZBmKUhpyy0sl0pZ6MKNwhqwolpBXL1gEw3y4UXJADlwSKAbocqXlAuTPjfSnogoSAtd9CtkqdOBzFGzhqZK+7SW9hHgGjRdOVTvsRVNVtFIJCpYSL24ENnviolj7rIGYlo8BF4dtpo6XmWfRmyiXLtYTQas991R8YoLMv7vMf20jjgY0ehyyLX/2z+lUZuUHkTPfSfhG7T2v3M6e47PP3eT/H+pPny8OzFfeZfJHyiutP4ErcL36hjuhyYp7SgcE/LuhothbKfx+S+XVVAJaaDHDhBLIfxuSvA/v5cwOSNkch5wgkRhtFrOtbboDizef3gWiljXDEEhWIyDns60F0Yo3lHEXXxJanzrA9EElblLMkh7z4gUZ+14448HRLkFoSeVTqswdnSxwOBMK6Akfe7+yHBoOAIduL/CHtDpN4kuKEtRsBuwgOhFDWqqSUpILpPPHD1oKD0JLkrNB2QKnF0jZUDvri/wAI1axRXOKLo+XUaNuozgOxi/WKK94+JEMi/hYElmhK1aPTNlqlqLBQZ2BrXIkP2Q1PQUJUq6lQYkhlJdLEkdUjDjHv7OM5JQGFQagkUUDkC2HxhzSqUyZK1zZaShKSpYGJQ20GKEhWLM8edrP4rGlHQrLJLe76BaAQCAhSAwIfBMwNiMqQ7YJCkpDTJ14JS5ICnLMrFBzeJoUlTEImIDZEEilKBRw5QezzmLlcxxheQ4cF2/Dr3wmTuEiFisgTKWuTMvXtZOF4OFKN5ZZrtCaUixsdpXdD6tRNcSOzOK6xlCUJKJyFJA2Spi4fAEKA7Wi/lJSrBSSx9r/2NIXN63JoC0euZZ0zVamVMSpa5tF3VByTdrLYsKYxdyZdHFnSkGuwpIxrkExWWhYs8hSlSJcwJBJYsVOrBihvWGJg6JycPs81J/JMDbvbEddOT6dyOSau8kdnLRZpIVPmTU1CSb8xdVKupDbWZAiNtnLlyGs65l5LBAVKvDEA4oBNHzhHSmrMj7wJxRsPtlW3eSEmiyevdh+1aRWEEITMvUAJlksHD4Ag0eE918BdBhP+KtpnfZrqp0uYCoAAS7isQQRtl8N0BR/d5Q3IR4CHP+JdnlLQCqYSpC3QkpuuWIZiBVq9kISk+hl+4j9IjqoN2s/IyxcaDUGtF4bDbXu7V74RxMqwFJQJwS5BPpUguPer3wroxZ+z2kvW4f6ozyJytWVuSsKCXNWSxJFaN5pWN6nt+pmz1NYro7ImISlE4sl6hl4kH1ccIJM6LjWBYmgMwIUlsOL4xippAQhV1KjMcqJSMiGy4mGAi6sS0ul2qlSkqDs+Ch54wwDM1EvowsaxloVedqnEhq0pEEdFpzDq4e1FFZ7dMN5ps0BLk+lUp2BoEqfd5zYTpaYw9JNPHZ/0xaBdwGiZyfSEBmQSXS2Qp8PjENCTNpbXS0slwGMEsFETTXqndj5aB6LUQJrhmQWLFz8jnHMuPqdT5O6GBBWasEFtpxlvgHR/GaWZkKeoNWT+0T0PNITNpggnAiuY+ET0ROBRNLAbBenP6RccrElnch0aQbxvYvvBpVsOEaA9U+8r9SopOi4F6hBriONc+cXnqjmfE/WJ+hg/qROToszVIVdSrVrCiFPUMQw2T8d0M6UmSUSphnSQZaUkrAul0jHZo8JW2xzZtnmS5LBarrKKrhSynLEB6hxQiLO1ypSpSkTZaii7ti8SCAKvcmORTdHnq2/P/ZorQAucky3SmYKpyDhN5L+sa3b3yicmcHcFVK9Qg/FMElqlrQFoUspKQoOFGhDg7SSYFKn3WIX/ADJSmuJyTHP6DELot2os5VJUJiZaCUkqBvN7qm34AxdpSlXWCFNmzv2sYqtGpRLlIQiYhQlhgq8Ho7PdmDwizsc/WISsKSLyQSLxaoBZ674qduCAfssuTJUZklCwlKlqajgErwKRXmYupcjZSbiw7Gk0g14hQiksFg1KF30pm3jMUXNClSlLukFBehu45Q5YLSFy0LEopCkpWBrGICgCBRgMYtMTJXA2iwauyk2oz1JSm9MOtKwyTevMFPRgaDKGZy70slKpxN0kbKVVZwCLp4QsT6BaZ+sWgiZfGsKnQ6iR13LIYU3QSzTUmUFStaApIUnMsQ6aEE4EYwMn4CUbamL6c6PeSVKnKvJIUdlKajeQARiRHR+DLH5E+AjvTOXekTAtSgSly4YuA/s0rHJL6mW+N1Ph4x34Z3iSeo3ZaWe0+4f6ozIX6BX/AHBzwOR+caWT/drT7qv6ozLtIVn6QYcjujfhp9X/ACZk9x61L9DK5HniPP7wyT95SPd8B5/aE7TWVKzYHniOzzuho/3hPZ4DPz8oNIA7ZZlZ2HVVz8/twACLS1HHcIJZBSbyV4HtP+/Ex6XLoOthv/aCQLD2BXop5YjZAx8N0dsCjq55q1yjl97xCxqOonVT6oFadpidhQRJnGhcAUPwwpCFqvY6HfMhoya0ufjRB3YuchyiOjZvo7QcGTTlVsM8YPY0HUztkh0sz41Pntjmj7OpMmaCC5ycYOWq+LNEVsvYt8k+iSU0ulwTj3Rdo6ifOLfWKnowhILJBABIYl8CxrucRbJ6ieQ/pipfLZS3onN0TPmoBkXryVovXVlGzeBUGvAHZBi8tcmXcUJiJyUkEKO0qhBBqCpqPFO1oun7OJj0qhTNtB6EsTdeLq2qSiWozZs1Eut4zBQA0qooLYtQx5zEP4zvVynm2izos5VIWpV2UdWCgkKup2E1QCoFhnHZNsSR+JLBZqED4XnFYYAlS5Pop6CmXLdKSKkJS6QNoPQAYR1M0kAq1b0NCpnx9ownIYgtjtRSi6Li2vHhUlTYq3w5KUFpSbsnaAU3MOzlDRVaPRqkXQmWXWtTlOJWpS2coJo7RZaMlmbJRMEuWAtIUBdFHD5DnATViC9j0PdQUqRLVVZoRUKUpQFUZAgY5R7RdqQqVLmIQpKVpCki8lJAIcBgsNTIQyjQCwVG4naUVM/qsA1RwMIaPUNUhSEqSggFKQbrBgUhgumWEFe6JqGsiSZRTNMxR273pCp0kqbBeFwgQSxhIlJ1YmBIQLlHZLbIZQJwaPImuklWtxOKwaOSwF45UjuqSEJuiYkJSAlqlgGGIL0aFydyJGN6VSFrkLVMmqvFNXQAxbgBBEj0aB+VPhAulkr0C781QJSxBSkVI4IDVgp6qOSfCNLDbQZhpavu9o90/wBUZxf4Cvf55Hs87o0F/wC6zvdPiaRnCv0Jb28DyPn943oZx+r/AJMuWpG1fhyuXz8+aQ1/1Ceznl5+uMKWg+jlYimXPcPPjDN77wnPDwHZ53NDfQA9ZDSbyV4b/OWTOaV1RhgIXs5pM5HHkOweewktVBy9r9olyMakTQZEwlmvAVBZqd8clISJE6qWJS9GAwod8RkBrOpyar3VbLDGkTs6xqFMX2hVuNY5v6H/ANnLKlOomtcZwKM2MSscspkzXOJGCiQxOD/CJSCTIW5FSMUlhXNzEZFnAkLF5BdTks6cXYh4l9PYt/5GtBMxIDY+OMWSOonkPlFVoVeyosBRWAYZ5dkWYwHIRJfKZS3h5y5yUoMgzPxUBdxJUBLrfJoQ/V4xbaYlSJ0pUubPmIlqa9fTcwIUKqQA1K1inn6Tmykp1KmKpiQrZvC6aKUaUYZvF/pawm0yFyTaUXVhibqXxByUMWbCPO1t53cCNvKJUhS5c6XM1aKJ3sGGC/lEkWUg+opsamvYxpDOkpEyVLd5MyqQ20HvED81KwmWdjLlk768v8OEpjE7hLDLVZ5IQZUpdxJdVQVM6vYpSkWI0ckpH3eSxHEchREZ6VNRYrE82UidqkgLI6yqs7KTXEYmLWQuWpKSJCEhSQWvMaschjAzXJVhddnVJlEqlulCSpRSqpAdRxul2jtjIKEFMtQSUgpAUxCSHAbWUYZCAm4iUvWyythMUplkuh1KZioPslm4Q3IkoCQ0uakMGAmkMMgBrKCCbyCOTElMu8RMZKXVt3iwG1iupocIDbUzPs6jKE0ruHV4HaIdLv2YwJS9XJUqaZxSkKKzffY2tyn6rYRJV4SzqlWhJbZolQBAp1gaViWZDJ9NLOrVrClLyxCQcaYJDVaHFq2U9nhCXS+VM1KyqcSTQ3kJHKoSGq0NqwTyHhGhhtv1FTJqX90m8j4xnF/g79v5Hz5eL9Z+6TeXz4RnV/hbtvLkfP7NG5DT7/yZstSNpOxKD+qOOfd53Q072gZsRxyHDz8IVtR2JeeyMefHz4QYH7wMq/Tz5JhgDJWRVJnI+HDt7jxgssFhjhxhexVC83B+WXd5aCilG+A+sRMqQ1/01Suszc54UY0aJyi1nN1Smv4tXj6u98otVWVN27dUA70Ix5vA/sSbt1pgD3sQ783MA6bf2G9a/cTss1RkEkl72YbsaPIbUllhr+LPm5FOcOfY03LvpGd3YE+DfCOIsCRLuArAd3Ka/pb4RXaf7WL61+4DRc4qQpRxKS9CMjkYtFZed8KCQEJUxUdk9YNkeAEMqPnvgai6aTRcHeY0i2XVSksk6xZSXcEC6SCC9cMGhzSOjyq71SErSsu5cAu2FKtCUiYCUpuXibxe83VahF079++CWiQVTpa9WAlF68KVJACcAAWrHm6u801oQ0xpRFnlCZMlOlwlk3SSThQgPzgumtHLn2dSJLS5irpSq9dZlAqDpDilINPRKWGXZr4JFNnHg5pB50qguy5yS4/5hNHr68J6rWaLsJy9E3LMkWhJWEy/S7QUFsHUaqc/tDGoBTspmCjJAUQ1KYL5R6ZLQRdUZzHZNTV6b8KwppeZMTJVqFTNYwuU4gZhqB+6Bu2yxieZcuQVTQtko2yVKU4badlVz5wKeAuzEyBMSVSyZZvKDEp2CxXTLGJ22bKWhSJhmFB2SCmYxBo1E5uIjaEXZShKTMBSghAuqoQCEDaG9sYJFMEJR1DTr5GraaCtRfZF/qmvrYRK26TmCWrVkhTMnZJrlQp8YHabc0sqmJmJS22Sg0BofGI2m0kBVK8iWPhFq71RDN9K5hVLUnW9ZTBwkZ0wSC7Q8s4ecjCHSqypUCbxopxhyrSH10bzlGhhtq9xVQFaVtY5nIeIjOqmtJ37XwY8OUaSZJKrKpKQVKIDAB8xlFOvREwywDLW98+rlv8AHv5xtw2/czZaiNqVSW/sjx79/wDu8HCvvHaMezz+zPK0aKmMjYXRI9U0rWgFPO6pjYF697imcVulsPPkhmIFgLEetTy43c/ORxyPdA7JZVC8Lqhhkd6eHHzVzJlFhQ+eZikiuDUPHQYiY8DDSibx54i8deIQFazsq90xFSy+FI7ajsnl8xEVYxz4j5bG0d6DlABQooe9euqCgDslIUGxGI5xNCUaxJVrQl9oCYqoY5Be9oknUMjWhd5lEEKmBLOAWurYerlALSuUCNXrWzcrI4YvHmJ5yZqx0LmTOsxUAn7Q77LGYS9cKnjBLXZUlJCTa72ThW8P6u54oZFpN9Orv3nN1gXdi7UOTxb2ddoK06xU649WSSQGJ9je0I0I0KWiSoYmaA4qUkVcNijeIFOmr/xVNvZBpyuRd21Eu60ybMSkqA2kkVegqgZ5RTaTlSkgGVMUtTpo2RUL3q7io9kXFtl3GJ6ZJABtMwhw2yjG8Lo/DxJuiO2ueptmap8vRCtcOpFRMWQxe6ykqfJ0qCk/ECHJmk53IXgCdWcLwBOG4mLtcgK33lIUiYtV1WydhId6BjcpVoVnqXS7MV1kgkpTQFQvnq5JcxbWiZLUkhU2lKsBUKChVqVAhHSQAR6ObW8kYBWyVJCizZJJPZBx4IZvpDLUEn0jgkYgfIRaTTTzuil6RJUU1mOLw9UDMAYdsXU/DsPhHdhtEJmNaLrLDHGtOUNGT+ZXf+0KaJ/CTyHgIceN2jtM2epEyPzHtunxTEfsx9o/yo/0wUGPQ4AHqD7X/iIlqVe1/wCP7xMRJ4hQsTHniBUN4jwVEbLCR0GB3uMdvRCELSaHs8RESa+eEetStntT+oRBa2bzlHNiX+Wx1HciE5SisAgkBJuUU11xeIah2hXlEpUlSibyVJAbKhxfFPKJG1OUupilLAMkMkkl3IcuXrHplpqAlV6hJyZmYOzZnujzM5XbyNVDVimCWtKkXipLsAl8QxoE7j8Yu7Np6ctQSTdSxL6p60YYcT3Rn7LpEy1hSWvMRVjQ8ItpHSOYpQBKEgvUjgS2I4Qh5kaHtIzBNQEzLQkAkKYhKC6TeGI3iKW02dIUAiaCMybpyJGBpDdtnCdRUwBi+QejUJVhXKELRY0pAImvVmccdxiLItIl9lSaKnpTUHAZEH2uEHteklhiFyy5PqHv65hCQhlZqLMA4rhgwyhhCtoBWzjzwJ5boK6IRtGkFzElJKdoZJLsGNNo8ITmX3ZyBj1eI+sWdoQjNbHdeT9eQhC2slmYu/EZNh2xZGZ3Tsi8CxJZSSacXGXCLW0Gh5Hwiu0raGSRSpTlk9G7zDk9dC24x3YVt6+RNRD+ivw08h4CHHhPRp9GnkPAQ00egpbUZk9xJ49ejjcI80NFkgY88cAjrRCGG0vJaXJugvcqwxwNYjpGU0iQWLlKnYVyNYb0tLJTKb2N7bojpBPopNPVOfLPOEN6jUhTSMu7Z5JGJC+eWJj2kUhNnkmoJvO2OIg+k5TyJIY9UttHEtnnEdLoH2eTTAK+URvUliy0PKZBO8o8RFwQ8Vth/DHNPiPpFi8Jr/K+w2lvHUWUqKVBSQyAgBsgpSnJfF1H4QK1KKJhS6DshTjiVBqK4P2wSRo68q/QulIbad03q0S2bNwxMCtK0y5gQZZqkr6xGCrrMUccY81LNs0kCk6WUlYLPQhqpfDMF8obR0nUZstGrSL4VW8txdAIFVYkmBWbSglrcIDMQ16tSM7vCH0dIr6koEkbT+teZg/VuVgCMjbAtZTeR1XPXBd23mFJkkJAJADqCSCBm5xfhuhy0yzMukymuu7INXA7sIQtaLrFjtKaqVJ9UmmR6sUWgadJ6tYKU5EbsW3bm+MMS9KzJpAYCuV45E4OHwhBc+6oXkK2XJALO7Z1bCDptqVUEtQ5zCePsxZQzaibwvEYHLexwv7xCNoQBdYpq78DTO8d57oJPswIAZmepLu7b2waEbVZ2IZQq+5gzbjxgiFbpOcRS8KqTQc4enBgeR8IqdIzVOioIK05cd8XE7A+6flHbhloKm8iGkLQqXZwpBYgpGedDgYql6cnhKTeFXfZ3Nx4mLLTP92HMRTWkHVS8PW8RG9T2ozZbmMzdOzwpKQRUJfZOeOceTp60Xylw1fVOWGcL2kelRhgnIefO6PSx6ZVRir5+f3guplNDEnpBaCCXTT8p3tvhpOmJ5Hq/wAiv9UVdmVsKrkMuI8/tDCDQVHcPmXg0Az2m1hpYLVlUwo8e0mRckinUz7I9p0dQEt6MPQx3SZITK33N3KFPkaj2kkp1UkEhrpbPdEdKTGkyW9kswxw7o9pVXo5Ir1MuYiGl1kSpO+7w4b4qXJaLqynYHMeBh+K6z9RPvD9KofJ89sKxHyg6XzBrR8tQWo1KVBLYFmBehNKnweCTNJyxOEoy1FZRecolkXXbF3BeK6xy5n2gkmZqtWGAUpr7l6Avg0MqtdnE8IKVGbcfBRVcf2nwfJ485JXbNJErTKvrCkpCRdutQVd32RCa0qE5CGqu8xc0ugE5cYatYvTZZQFBICgoPdckpulr1cD3xyYpCVoSZZvLe6aOGDmruP9oXkEw8vQ6gsKLFgQwxq29LZfGI2k3FJSUnafAhqDiIkmxr1qF3dhIU4vYks1MKMYLarUhCkAyarJCerkCS9Yiuy7IQtUoqZhgc1HOjOBSK+ZKXrUIcbYUQXwutk1XdotrTJJmJUEsACGfF2bClGPfCk60ETEIKQSu8xcEC6HL0iLUogdHsQSoUBHeRn2QGZK27t4Ndd+Ls2O6LBFnZRUUpqAMNzl8OPwgFptpSq6Aki67gnezfOJk0Qztsmm8kAg+kD0wLindFzacFe6YorVO9KnB1TQot/CPBI74u7SaK92NLDLQ56mjBadLWYe8n5xSWk+jlDgfHdjF1p0+gT7w8DFPahsIp6p8Y24bYmdLcwk8+mTTJH1iMr8VVPa+cdtf4w/h3bo5K/FXX2/n58iLWhGRs42FUbDx8+TB0poKfAQCQRcVjl8/PkwygUFPiINC2T02oOHdrgwiOlz+GA/UGcD6RLZf8Az55QLTuKHb8MYkvC5cjU9AumCyZVD1Bm2cR0uhxIrggZ8fjAOkCh6JwD6MeMR04oAyBnq0+MR53Jc0ck7Kfe/pVDpPnthCQaJ94+CocJxjnxHykNo7xf+1JibSiW41RQSpTOygWCb2A5Q4JchU+/fCpoTdxrcd+qBg+cKyLYozFoZIuBNS5dw+DhmiOoaaZoWm8UBJGIYEne71jzsnbXLI0V5LC0TdpBReZ9uh6rFsnxbCPLnSzMQk39YQSgMp6MFEZDEQnY7Yoz1JURcCAQpm2ioghzTACkOKErWoUVjWBJCah2LXqZ4CAWWTDJWlEy8htYAFOpziGLPWtWgdotACkghV6pQS5wFSK0ofjEbRaZmtTdUoy7pfZHWcXatuJgNpnutN4qKmN3ItS9lyimQlap5KkdYBJLjBwxAzrVogu1pMxCCg3lBRSaUCWvVdw7jDGIFCjNSSVau4p6+u6bvHC9B0asq6pKwDVsEkgGpO9oiyt7FHV6PJWFMKJIbGpKSDh+X4wrarwUzJFHx4kYNwg2qOsvMSm6zEk1BxbDAtCs62ArWi4xQEvhUKBIw5HGI8/sQprSr0st2qsYdkXE80PKKKbaHtEsN64PwH0i4nklwN31+kaeH+Hpuc9Tk9p4+gT73yMU9r6qPd+cWnSA+hR73yMVVpZpeez842obY+xnyWbCWgvOGfV37hHrP+IumS93Hz5p5f445jwEcs/4i6vRXz/eCBOSeors+fnzV6WqgrlxhCUNhVMx84s5SDdHIecYPQG1yv6QH0v8ACB4wLpIrbSH/AOWMuce6RTWnFtyfCBdJF+lA/wAsfP6wDCuF6QTWMug/DGXExzTszbkivUR+o8IB0l/ERwlD5x7TqnnyhuQjxMR8lo09i6pPDm1Tg+BhlK8YVsahcNcoYEcmJSVM6KOcmRl2wa4yhLD3At8iCSK0xpE0aNUmcZtKouN2u7x4WqUJwSQdaUONkuUA+1u4PHjZ1a4LANwIKSkq9Ylwpqg0jzry9MjQJWi1kTUIYMoKJNaMzd7nuiWoGsSu/tJCgAwwUz0JrgIIJzLSm51nre3B/Zglo0cStKnAuhQZnd2+nxhfqgmBmWxYmIF4XTevEgDABq5R6fORfQSsX6hDkVdipgMaARyeSlaUuGU7nczEZ5vAJ9kSZiFle0h7ooBUMaZ04xa8MjXgOZ6rya0Yuwzo2XOI6y6v1gSMa4CuPMxz7Q6wAoMxJLZ0artv7o4VgqDrcgHdQHHAcIrgsigqEwklRTdDbXrOXo+67Ap4BKgEB2DktV3arEnAwS8b5xZgzDOr5coEuaDeYFxQ4jJwO4xLsplAmU05AYOZhV2FKQ3Zdfti6lnaPL5mKX/qEb7x7qmLUPtNu+sbOH1ictTayPSBtUj3vlFZaC4QPy/MxY9IF+jl8VHwiun+o/s/Mxrw2r2OB6sIofeBX1hTsERsx2llvVMSUXn4Zjw+kQkGq/dPyiyuT0s7B5j5+fNLaS10UyG6KmX+GW3j+qLmQNlNchnwggSg6QVtBHu+ED6Sr9O35BBdNp+8K5pHwED6QIe0HknwiMhDpOr0oH+WPnE9Ln73L91HiYj0ikk2igJ2RhB9IyCbYkhKiAE4AkfCBejCRf2JWweXjBiqsKSbwAALAs7itGccMRB5i2c7h8o48Y/y0jpobmFlyZZWF3nWAUu+RqQwpuicmYvWLcm4ybmG43vi0BkE1U42mUaORQBnfhErLagpLqVVyKDcSBRjiGPbHnHfM0UHKkvgSQN29xj2GFhIVr9bim5cuknF3fMcIMmahyxJLDfT4DjEpUx3cKOY5MBmd7xSbWhGTE2rXQKPjxbBoBNszzAujhJThkSD/SO+JGeLwBScPy/WOO6+qKjM7uyKzTIcSp1EOGAB7S/Hl3x4Stp3qzZYVOHbEJqrp9UO+e5uHGOS7QBmn48BvireCE0LLqckAGjABwwO7eTEJgSApiSc8aluPBohNtVQxpwECM0uaqrlhXDLhBWbIyoSBrpQPWq/Paz5ND02YUuQHdgz73r8YTXIOvSqrB3fkYYXaQp2INQKcx9Y1aDzRy1FkF04XRK4k+EV1o9XHqjxMX1ssOtShizA4g1flAlaCdtvAAdR+3rCNmL+FHBLVlVMJ1z4V+UDs+K6erF4dBOq9fOLtc/ePJ0CkesrBsAN30guqK5Ksyklp9GX9oeBi/ssvYTT1Rv3RGXoWWA15WPtJ5buMXVnsKLieQ9ZO7lFdyPlE6ZeCqmS5TkkAk5sPpHr6MaOc84rftAOAUe75mJhCzghXej/AFRnSxNbhHaqNPyPmcny/wBYCq1JGULiyzCOqBzX9EmPCxTP8sdqj/SIU6+JfgPtUhlM8KOGELTbekEjE1g1nsKgXKh3fvHpehgKkknPDHugqkpTppS1BjFRk2hdNtNSE0d68eQaDS7YsA7IxzdsAOEOJsA3q74kLEnc/bHH2F4HqRXKmzHego1AMn3q4xJExftfBP7xZiyJ9kR3UjcO6L7C8InUVjKJqp/4m+CUx1MovRqe8T3vFokRMd8X2f8ArE6irFkU7sP5frElWRR3j+X5iLFo6RBdpFdRXCwnj3/SBK0bvPxUYthEVmkX21yV1FJM0Ug/7fWELTo4o2kvQuWzavyjRlMcMuGxppPIFsr7FpaXcAMxI4FQB7iXEODTUnC+knm/hBUShuEEAhboK+rCU7Cq9LyzmVcpaz4JgKrcDgiZ/wDmseIEPmIlMT8PH1J1sQNpJwlzO5I8VCLyyhVxOyeqPZ3e9CEXdll7CfdHhDqVCMQJTbP/2Q=="/>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6" name="AutoShape 6" descr="data:image/jpeg;base64,/9j/4AAQSkZJRgABAQAAAQABAAD/2wCEAAkGBhQSERUUExQWFBUWGB4YFxgXFxoYFxgXHRwbGBcXHRYaHCYeGBojHRgWHy8gIycpLCwsFx4xNTAqNSYrLCkBCQoKDgwOGg8PGikkHyQsKiwsLCksLCkpLCksLCwsKSwsLCwsKSksLCwpLCwpLCksLCksLCwsLCwsKSksLCwpLP/AABEIAQ8AugMBIgACEQEDEQH/xAAbAAACAwEBAQAAAAAAAAAAAAADBAIFBgEAB//EAEgQAAECAwQGBgcGAwYGAwAAAAECEQADIQQSMUEFEyJRYXEGMoGRsfAjQlJyocHRFCQzYrLhgpLCFTRTY9LxB0NEc6LiFnST/8QAGgEAAgMBAQAAAAAAAAAAAAAAAgMAAQUEBv/EAC8RAAIBAgUDAgQGAwAAAAAAAAABAgMRBCExMkESE1FhcSIzgZEUI0KhsdHB4fD/2gAMAwEAAhEDEQA/AKjpnPu2ohkmhxB9pWaVBoX0zbdSuWBeHokk3F3a8mL84n05/vqxwb4mFOlg9OkbpSYffIW0hvS2llSihJWqstKiFISsEnMuQe6JW7SWqUkHV1QFVvILnGqaDDOK/pYj7wkbpSB4xHpaPvAG6WkeMS5Vi5tGkShQSQom6FbKwcfyqBJhmzTr6b1QNyksadsUGnZIVbgkhwEpHiY0MqTclJY0AACewZ45xG+Akit/txKSUEF00LEeBgydNSz6xHMfSFtKWYGVMJAwJFIzQmRwrESzOl0kbaXbUKwWk9ogwMYYTImi1qTgSORaC/FNaoHs+DcBUSujdGNl6emD1z2sfEQ3K6VqGISeYI8INYqJTos1aRuJHb9YKkq3g8x9Iz0jpWg4pPYQfFosrPp+UrMjmPo8MWIpvkDtSXBZMdw7D+0ESn3u5/AmF5OkJasJiX5gH4w9LrDLQkV8SOS0D2g/d4xP7OrdBREkyRublTwiu1EncaF1JIxBjgUYZs7l2Jd+eQ3wVSFZhJ5pI+NfCAdFeS+6xMTDEkzzBygZo/lV9WiEySnepPvA+OED2WEqqOC1Qxt7viPrCyZTVSQo8CKfvEPsyvZPdAdDD60ZDpgH0hN94DxhTpaPvihuSkfCGekhvaSmt/iJHxH1gHSVN7SMwfnQPCOk5wHS0PbSn8qR8I50oS9uUPcT8P3gvSJL6SWPzoT+mOacTe0mof5iB+n6xRCOlA+kyNx8EPGonp9EBx3cs4zVoQ+lJp3KP6GjW2tHok8/PhFchcGf03SzTTw+YHzjFCfG16TFrJN7P1pEfPkzRn8I4acbps7JMeTOid+EUzhv7xHtbuUIjgRMamwAKPZE7POB3d8AmTdrh8IHpLTDayCS55GBhSSlSlBKQVE0AFSTyi+svRVSkArUZaiTsqQQacyITUcYK8mMSvoIKtqsXgsnSy04EjkSPCEtK2YyZqkEvdzGBoCPGK+famDDEwcaae0GWWpp5PTyaksFrPMhQ/8AIRpLH0utFxKzLCkqAY3WBfN0mnaI+XSjVo+n6LR9yle4PGDqSlTt0ti4wjLU1OgLXrZk04NLB5Gjt2wOzaUn+rOlrAAqqW3D1VCDdFrMyp+foAa9kUNll/d5nNDd/mkdsJNp3OWSVzQo0zObalSVclFD8r6TBE6bo6rPMA3pKVM/8Sd+6M/OJFnlMTUrdjxFIcnLUJ0tD0KUPQcO2GJgNFqrS1nJ2hMR78tXixHxjn9oWT/FT3wjItyipYIDS7xDcHgf9u/lH83/AKwaYNrGftksq0muhrPAz9oQHSAvaTXxnJ8UxaypRNvetZ5/Vj8IgmXet3OeMjkd8K6xvSVmkZZVpRXGcjxS8QtSCrSquM9HwKBFmiRe0g9KTh8FD6QGWh9JAkCs5+4gmIpE6RFAfSU73leDRpLRY5mse+8upu7jw7Yo7Ih7fOP5lfqYxrZuB5fSKtdu5NEZzT1gXNsy0Ia8q6zlh1gceyMPO6IWsFtU9AaKSaEkb96T3R9NNE4PyiUpIqa+zV/VKqdhKu+MaWJnSdkaHaUldnyCfoicjrypg5oU3e0KR9qVOIJAIYGj57KSc95PdHZ9kTMIKpaFOANoA4OcSOMWsf5iTsep8Sfs84UieuORMfXrP0Yss5SwbMh0KuqYBNWSqhQQ9FCvGMf0l6A2hM9X2azTDJpdugq9UXsyrF8Y6KeKhN9Ly9xcqUoq5TdHJhE+WomgWncc6x9fVYSATgARxGIdwO2Plln0RNlqSlSFpIUAXSQQXBq4pv5Nvj7ba9HEImEsQEqJuq3B6ORujOxrTkmh1F2WZjunmiibDMNTdKVAXTgFAHkNruj59/8AALYhpk6zqTLBBUXTQFsWJIoY+39J7GDY7VRbmUvjkTWp3CK9OjFGyBRZRVJBUzuTccmtDC6OKlSp2XkuUFN5nxu2aMRL2g4Zs3FY3cpDWWT7qYy/SOXsHDFNRhiI11z7tI9xMdsZOcU2BazsanoyK2n/AOuPB4zdmDWedzRGj6OTAftRBBGoAp7ppGek/wB3m+8jy3n661PR+5wSyeZ6f/dpXNfinv8APOHZyfvMr3ZfgIStA+7yea/FI8+RDs4/eZfBMvwGMMAOWdO1aOS/0qhJEug+oh+yis/kv9K4WlmgrlugkUztksq/tYKkltYVOQRmSMmgGj5H3sK3zCetm5LseRFIno2bPVaAlU1ZQSonbegdhVL7s4jozS1oXPTLUt0lRrdlksASKgUw3QlJPRjG3yiGjpf316l5hJ3CpblUR7Rq3tmX4pIoX9bN2yiWj9MTF2gS7ssEqO1qmLC8ynCmqx74jozSgVaAkSZaVkq2gpYwvEliljn3xfT6kcvQR0agG2TVAjrGgy2xvjTzT1uz+kxm7PpeQmapYlKCyahM1Kqv7JIOIEaVfr8x4JgrWTBvewlMYI2nbgCfDKCSLShaQoKBSpyDg7l6PvJMeUsBNS3F2yO+kSsVkMqSEpIKJaCxO5KScQeG6POV7ORqw0B2ecV38CBMXLDE1ShRS+eLcojo/RZQucosdbNUsN6qTgmrYVwh3QVsTOlS5q5aQFgKullMHIZyK4ROx6PKUpSEEqAD3TiWr6z4whvpbQxZ5ndGqAWu6FJZbTMTeWEprQl9koiy0PbJptM1K3EhkGWpSGclIv7RAdlUhPRtolEqAKqzGmEpWwWCEqcsQ4CQMWpFt0Qty5klJnKQiY5dJF0hiQNkqBqGPbC5rXIFuyLay2RF5d2eglSryg4oWAZgqmAyiFmtV+fOs5loUJaUkl6KCw7Xbp5Y5wXRehNXNnzApEzXrvkENdLBLOCXwjnR+2ItSFTUyEoZakGovG6Sl3CRShhyoxlojkc2JdGei65UmZKtIE2+tdb5V6NVAh1MRQswpFgLJImy5ktMuiXlkXGYgYAjgRURzQ2iJkvXGcpZBmKUhpyy0sl0pZ6MKNwhqwolpBXL1gEw3y4UXJADlwSKAbocqXlAuTPjfSnogoSAtd9CtkqdOBzFGzhqZK+7SW9hHgGjRdOVTvsRVNVtFIJCpYSL24ENnviolj7rIGYlo8BF4dtpo6XmWfRmyiXLtYTQas991R8YoLMv7vMf20jjgY0ehyyLX/2z+lUZuUHkTPfSfhG7T2v3M6e47PP3eT/H+pPny8OzFfeZfJHyiutP4ErcL36hjuhyYp7SgcE/LuhothbKfx+S+XVVAJaaDHDhBLIfxuSvA/v5cwOSNkch5wgkRhtFrOtbboDizef3gWiljXDEEhWIyDns60F0Yo3lHEXXxJanzrA9EElblLMkh7z4gUZ+14448HRLkFoSeVTqswdnSxwOBMK6Akfe7+yHBoOAIduL/CHtDpN4kuKEtRsBuwgOhFDWqqSUpILpPPHD1oKD0JLkrNB2QKnF0jZUDvri/wAI1axRXOKLo+XUaNuozgOxi/WKK94+JEMi/hYElmhK1aPTNlqlqLBQZ2BrXIkP2Q1PQUJUq6lQYkhlJdLEkdUjDjHv7OM5JQGFQagkUUDkC2HxhzSqUyZK1zZaShKSpYGJQ20GKEhWLM8edrP4rGlHQrLJLe76BaAQCAhSAwIfBMwNiMqQ7YJCkpDTJ14JS5ICnLMrFBzeJoUlTEImIDZEEilKBRw5QezzmLlcxxheQ4cF2/Dr3wmTuEiFisgTKWuTMvXtZOF4OFKN5ZZrtCaUixsdpXdD6tRNcSOzOK6xlCUJKJyFJA2Spi4fAEKA7Wi/lJSrBSSx9r/2NIXN63JoC0euZZ0zVamVMSpa5tF3VByTdrLYsKYxdyZdHFnSkGuwpIxrkExWWhYs8hSlSJcwJBJYsVOrBihvWGJg6JycPs81J/JMDbvbEddOT6dyOSau8kdnLRZpIVPmTU1CSb8xdVKupDbWZAiNtnLlyGs65l5LBAVKvDEA4oBNHzhHSmrMj7wJxRsPtlW3eSEmiyevdh+1aRWEEITMvUAJlksHD4Ag0eE918BdBhP+KtpnfZrqp0uYCoAAS7isQQRtl8N0BR/d5Q3IR4CHP+JdnlLQCqYSpC3QkpuuWIZiBVq9kISk+hl+4j9IjqoN2s/IyxcaDUGtF4bDbXu7V74RxMqwFJQJwS5BPpUguPer3wroxZ+z2kvW4f6ozyJytWVuSsKCXNWSxJFaN5pWN6nt+pmz1NYro7ImISlE4sl6hl4kH1ccIJM6LjWBYmgMwIUlsOL4xippAQhV1KjMcqJSMiGy4mGAi6sS0ul2qlSkqDs+Ch54wwDM1EvowsaxloVedqnEhq0pEEdFpzDq4e1FFZ7dMN5ps0BLk+lUp2BoEqfd5zYTpaYw9JNPHZ/0xaBdwGiZyfSEBmQSXS2Qp8PjENCTNpbXS0slwGMEsFETTXqndj5aB6LUQJrhmQWLFz8jnHMuPqdT5O6GBBWasEFtpxlvgHR/GaWZkKeoNWT+0T0PNITNpggnAiuY+ET0ROBRNLAbBenP6RccrElnch0aQbxvYvvBpVsOEaA9U+8r9SopOi4F6hBriONc+cXnqjmfE/WJ+hg/qROToszVIVdSrVrCiFPUMQw2T8d0M6UmSUSphnSQZaUkrAul0jHZo8JW2xzZtnmS5LBarrKKrhSynLEB6hxQiLO1ypSpSkTZaii7ti8SCAKvcmORTdHnq2/P/ZorQAucky3SmYKpyDhN5L+sa3b3yicmcHcFVK9Qg/FMElqlrQFoUspKQoOFGhDg7SSYFKn3WIX/ADJSmuJyTHP6DELot2os5VJUJiZaCUkqBvN7qm34AxdpSlXWCFNmzv2sYqtGpRLlIQiYhQlhgq8Ho7PdmDwizsc/WISsKSLyQSLxaoBZ674qduCAfssuTJUZklCwlKlqajgErwKRXmYupcjZSbiw7Gk0g14hQiksFg1KF30pm3jMUXNClSlLukFBehu45Q5YLSFy0LEopCkpWBrGICgCBRgMYtMTJXA2iwauyk2oz1JSm9MOtKwyTevMFPRgaDKGZy70slKpxN0kbKVVZwCLp4QsT6BaZ+sWgiZfGsKnQ6iR13LIYU3QSzTUmUFStaApIUnMsQ6aEE4EYwMn4CUbamL6c6PeSVKnKvJIUdlKajeQARiRHR+DLH5E+AjvTOXekTAtSgSly4YuA/s0rHJL6mW+N1Ph4x34Z3iSeo3ZaWe0+4f6ozIX6BX/AHBzwOR+caWT/drT7qv6ozLtIVn6QYcjujfhp9X/ACZk9x61L9DK5HniPP7wyT95SPd8B5/aE7TWVKzYHniOzzuho/3hPZ4DPz8oNIA7ZZlZ2HVVz8/twACLS1HHcIJZBSbyV4HtP+/Ex6XLoOthv/aCQLD2BXop5YjZAx8N0dsCjq55q1yjl97xCxqOonVT6oFadpidhQRJnGhcAUPwwpCFqvY6HfMhoya0ufjRB3YuchyiOjZvo7QcGTTlVsM8YPY0HUztkh0sz41Pntjmj7OpMmaCC5ycYOWq+LNEVsvYt8k+iSU0ulwTj3Rdo6ifOLfWKnowhILJBABIYl8CxrucRbJ6ieQ/pipfLZS3onN0TPmoBkXryVovXVlGzeBUGvAHZBi8tcmXcUJiJyUkEKO0qhBBqCpqPFO1oun7OJj0qhTNtB6EsTdeLq2qSiWozZs1Eut4zBQA0qooLYtQx5zEP4zvVynm2izos5VIWpV2UdWCgkKup2E1QCoFhnHZNsSR+JLBZqED4XnFYYAlS5Pop6CmXLdKSKkJS6QNoPQAYR1M0kAq1b0NCpnx9ownIYgtjtRSi6Li2vHhUlTYq3w5KUFpSbsnaAU3MOzlDRVaPRqkXQmWXWtTlOJWpS2coJo7RZaMlmbJRMEuWAtIUBdFHD5DnATViC9j0PdQUqRLVVZoRUKUpQFUZAgY5R7RdqQqVLmIQpKVpCki8lJAIcBgsNTIQyjQCwVG4naUVM/qsA1RwMIaPUNUhSEqSggFKQbrBgUhgumWEFe6JqGsiSZRTNMxR273pCp0kqbBeFwgQSxhIlJ1YmBIQLlHZLbIZQJwaPImuklWtxOKwaOSwF45UjuqSEJuiYkJSAlqlgGGIL0aFydyJGN6VSFrkLVMmqvFNXQAxbgBBEj0aB+VPhAulkr0C781QJSxBSkVI4IDVgp6qOSfCNLDbQZhpavu9o90/wBUZxf4Cvf55Hs87o0F/wC6zvdPiaRnCv0Jb28DyPn943oZx+r/AJMuWpG1fhyuXz8+aQ1/1Ceznl5+uMKWg+jlYimXPcPPjDN77wnPDwHZ53NDfQA9ZDSbyV4b/OWTOaV1RhgIXs5pM5HHkOweewktVBy9r9olyMakTQZEwlmvAVBZqd8clISJE6qWJS9GAwod8RkBrOpyar3VbLDGkTs6xqFMX2hVuNY5v6H/ANnLKlOomtcZwKM2MSscspkzXOJGCiQxOD/CJSCTIW5FSMUlhXNzEZFnAkLF5BdTks6cXYh4l9PYt/5GtBMxIDY+OMWSOonkPlFVoVeyosBRWAYZ5dkWYwHIRJfKZS3h5y5yUoMgzPxUBdxJUBLrfJoQ/V4xbaYlSJ0pUubPmIlqa9fTcwIUKqQA1K1inn6Tmykp1KmKpiQrZvC6aKUaUYZvF/pawm0yFyTaUXVhibqXxByUMWbCPO1t53cCNvKJUhS5c6XM1aKJ3sGGC/lEkWUg+opsamvYxpDOkpEyVLd5MyqQ20HvED81KwmWdjLlk768v8OEpjE7hLDLVZ5IQZUpdxJdVQVM6vYpSkWI0ckpH3eSxHEchREZ6VNRYrE82UidqkgLI6yqs7KTXEYmLWQuWpKSJCEhSQWvMaschjAzXJVhddnVJlEqlulCSpRSqpAdRxul2jtjIKEFMtQSUgpAUxCSHAbWUYZCAm4iUvWyythMUplkuh1KZioPslm4Q3IkoCQ0uakMGAmkMMgBrKCCbyCOTElMu8RMZKXVt3iwG1iupocIDbUzPs6jKE0ruHV4HaIdLv2YwJS9XJUqaZxSkKKzffY2tyn6rYRJV4SzqlWhJbZolQBAp1gaViWZDJ9NLOrVrClLyxCQcaYJDVaHFq2U9nhCXS+VM1KyqcSTQ3kJHKoSGq0NqwTyHhGhhtv1FTJqX90m8j4xnF/g79v5Hz5eL9Z+6TeXz4RnV/hbtvLkfP7NG5DT7/yZstSNpOxKD+qOOfd53Q072gZsRxyHDz8IVtR2JeeyMefHz4QYH7wMq/Tz5JhgDJWRVJnI+HDt7jxgssFhjhxhexVC83B+WXd5aCilG+A+sRMqQ1/01Suszc54UY0aJyi1nN1Smv4tXj6u98otVWVN27dUA70Ix5vA/sSbt1pgD3sQ783MA6bf2G9a/cTss1RkEkl72YbsaPIbUllhr+LPm5FOcOfY03LvpGd3YE+DfCOIsCRLuArAd3Ka/pb4RXaf7WL61+4DRc4qQpRxKS9CMjkYtFZed8KCQEJUxUdk9YNkeAEMqPnvgai6aTRcHeY0i2XVSksk6xZSXcEC6SCC9cMGhzSOjyq71SErSsu5cAu2FKtCUiYCUpuXibxe83VahF079++CWiQVTpa9WAlF68KVJACcAAWrHm6u801oQ0xpRFnlCZMlOlwlk3SSThQgPzgumtHLn2dSJLS5irpSq9dZlAqDpDilINPRKWGXZr4JFNnHg5pB50qguy5yS4/5hNHr68J6rWaLsJy9E3LMkWhJWEy/S7QUFsHUaqc/tDGoBTspmCjJAUQ1KYL5R6ZLQRdUZzHZNTV6b8KwppeZMTJVqFTNYwuU4gZhqB+6Bu2yxieZcuQVTQtko2yVKU4badlVz5wKeAuzEyBMSVSyZZvKDEp2CxXTLGJ22bKWhSJhmFB2SCmYxBo1E5uIjaEXZShKTMBSghAuqoQCEDaG9sYJFMEJR1DTr5GraaCtRfZF/qmvrYRK26TmCWrVkhTMnZJrlQp8YHabc0sqmJmJS22Sg0BofGI2m0kBVK8iWPhFq71RDN9K5hVLUnW9ZTBwkZ0wSC7Q8s4ecjCHSqypUCbxopxhyrSH10bzlGhhtq9xVQFaVtY5nIeIjOqmtJ37XwY8OUaSZJKrKpKQVKIDAB8xlFOvREwywDLW98+rlv8AHv5xtw2/czZaiNqVSW/sjx79/wDu8HCvvHaMezz+zPK0aKmMjYXRI9U0rWgFPO6pjYF697imcVulsPPkhmIFgLEetTy43c/ORxyPdA7JZVC8Lqhhkd6eHHzVzJlFhQ+eZikiuDUPHQYiY8DDSibx54i8deIQFazsq90xFSy+FI7ajsnl8xEVYxz4j5bG0d6DlABQooe9euqCgDslIUGxGI5xNCUaxJVrQl9oCYqoY5Be9oknUMjWhd5lEEKmBLOAWurYerlALSuUCNXrWzcrI4YvHmJ5yZqx0LmTOsxUAn7Q77LGYS9cKnjBLXZUlJCTa72ThW8P6u54oZFpN9Orv3nN1gXdi7UOTxb2ddoK06xU649WSSQGJ9je0I0I0KWiSoYmaA4qUkVcNijeIFOmr/xVNvZBpyuRd21Eu60ybMSkqA2kkVegqgZ5RTaTlSkgGVMUtTpo2RUL3q7io9kXFtl3GJ6ZJABtMwhw2yjG8Lo/DxJuiO2ueptmap8vRCtcOpFRMWQxe6ykqfJ0qCk/ECHJmk53IXgCdWcLwBOG4mLtcgK33lIUiYtV1WydhId6BjcpVoVnqXS7MV1kgkpTQFQvnq5JcxbWiZLUkhU2lKsBUKChVqVAhHSQAR6ObW8kYBWyVJCizZJJPZBx4IZvpDLUEn0jgkYgfIRaTTTzuil6RJUU1mOLw9UDMAYdsXU/DsPhHdhtEJmNaLrLDHGtOUNGT+ZXf+0KaJ/CTyHgIceN2jtM2epEyPzHtunxTEfsx9o/yo/0wUGPQ4AHqD7X/iIlqVe1/wCP7xMRJ4hQsTHniBUN4jwVEbLCR0GB3uMdvRCELSaHs8RESa+eEetStntT+oRBa2bzlHNiX+Wx1HciE5SisAgkBJuUU11xeIah2hXlEpUlSibyVJAbKhxfFPKJG1OUupilLAMkMkkl3IcuXrHplpqAlV6hJyZmYOzZnujzM5XbyNVDVimCWtKkXipLsAl8QxoE7j8Yu7Np6ctQSTdSxL6p60YYcT3Rn7LpEy1hSWvMRVjQ8ItpHSOYpQBKEgvUjgS2I4Qh5kaHtIzBNQEzLQkAkKYhKC6TeGI3iKW02dIUAiaCMybpyJGBpDdtnCdRUwBi+QejUJVhXKELRY0pAImvVmccdxiLItIl9lSaKnpTUHAZEH2uEHteklhiFyy5PqHv65hCQhlZqLMA4rhgwyhhCtoBWzjzwJ5boK6IRtGkFzElJKdoZJLsGNNo8ITmX3ZyBj1eI+sWdoQjNbHdeT9eQhC2slmYu/EZNh2xZGZ3Tsi8CxJZSSacXGXCLW0Gh5Hwiu0raGSRSpTlk9G7zDk9dC24x3YVt6+RNRD+ivw08h4CHHhPRp9GnkPAQ00egpbUZk9xJ49ejjcI80NFkgY88cAjrRCGG0vJaXJugvcqwxwNYjpGU0iQWLlKnYVyNYb0tLJTKb2N7bojpBPopNPVOfLPOEN6jUhTSMu7Z5JGJC+eWJj2kUhNnkmoJvO2OIg+k5TyJIY9UttHEtnnEdLoH2eTTAK+URvUliy0PKZBO8o8RFwQ8Vth/DHNPiPpFi8Jr/K+w2lvHUWUqKVBSQyAgBsgpSnJfF1H4QK1KKJhS6DshTjiVBqK4P2wSRo68q/QulIbad03q0S2bNwxMCtK0y5gQZZqkr6xGCrrMUccY81LNs0kCk6WUlYLPQhqpfDMF8obR0nUZstGrSL4VW8txdAIFVYkmBWbSglrcIDMQ16tSM7vCH0dIr6koEkbT+teZg/VuVgCMjbAtZTeR1XPXBd23mFJkkJAJADqCSCBm5xfhuhy0yzMukymuu7INXA7sIQtaLrFjtKaqVJ9UmmR6sUWgadJ6tYKU5EbsW3bm+MMS9KzJpAYCuV45E4OHwhBc+6oXkK2XJALO7Z1bCDptqVUEtQ5zCePsxZQzaibwvEYHLexwv7xCNoQBdYpq78DTO8d57oJPswIAZmepLu7b2waEbVZ2IZQq+5gzbjxgiFbpOcRS8KqTQc4enBgeR8IqdIzVOioIK05cd8XE7A+6flHbhloKm8iGkLQqXZwpBYgpGedDgYql6cnhKTeFXfZ3Nx4mLLTP92HMRTWkHVS8PW8RG9T2ozZbmMzdOzwpKQRUJfZOeOceTp60Xylw1fVOWGcL2kelRhgnIefO6PSx6ZVRir5+f3guplNDEnpBaCCXTT8p3tvhpOmJ5Hq/wAiv9UVdmVsKrkMuI8/tDCDQVHcPmXg0Az2m1hpYLVlUwo8e0mRckinUz7I9p0dQEt6MPQx3SZITK33N3KFPkaj2kkp1UkEhrpbPdEdKTGkyW9kswxw7o9pVXo5Ir1MuYiGl1kSpO+7w4b4qXJaLqynYHMeBh+K6z9RPvD9KofJ89sKxHyg6XzBrR8tQWo1KVBLYFmBehNKnweCTNJyxOEoy1FZRecolkXXbF3BeK6xy5n2gkmZqtWGAUpr7l6Avg0MqtdnE8IKVGbcfBRVcf2nwfJ485JXbNJErTKvrCkpCRdutQVd32RCa0qE5CGqu8xc0ugE5cYatYvTZZQFBICgoPdckpulr1cD3xyYpCVoSZZvLe6aOGDmruP9oXkEw8vQ6gsKLFgQwxq29LZfGI2k3FJSUnafAhqDiIkmxr1qF3dhIU4vYks1MKMYLarUhCkAyarJCerkCS9Yiuy7IQtUoqZhgc1HOjOBSK+ZKXrUIcbYUQXwutk1XdotrTJJmJUEsACGfF2bClGPfCk60ETEIKQSu8xcEC6HL0iLUogdHsQSoUBHeRn2QGZK27t4Ndd+Ls2O6LBFnZRUUpqAMNzl8OPwgFptpSq6Aki67gnezfOJk0Qztsmm8kAg+kD0wLindFzacFe6YorVO9KnB1TQot/CPBI74u7SaK92NLDLQ56mjBadLWYe8n5xSWk+jlDgfHdjF1p0+gT7w8DFPahsIp6p8Y24bYmdLcwk8+mTTJH1iMr8VVPa+cdtf4w/h3bo5K/FXX2/n58iLWhGRs42FUbDx8+TB0poKfAQCQRcVjl8/PkwygUFPiINC2T02oOHdrgwiOlz+GA/UGcD6RLZf8Az55QLTuKHb8MYkvC5cjU9AumCyZVD1Bm2cR0uhxIrggZ8fjAOkCh6JwD6MeMR04oAyBnq0+MR53Jc0ck7Kfe/pVDpPnthCQaJ94+CocJxjnxHykNo7xf+1JibSiW41RQSpTOygWCb2A5Q4JchU+/fCpoTdxrcd+qBg+cKyLYozFoZIuBNS5dw+DhmiOoaaZoWm8UBJGIYEne71jzsnbXLI0V5LC0TdpBReZ9uh6rFsnxbCPLnSzMQk39YQSgMp6MFEZDEQnY7Yoz1JURcCAQpm2ioghzTACkOKErWoUVjWBJCah2LXqZ4CAWWTDJWlEy8htYAFOpziGLPWtWgdotACkghV6pQS5wFSK0ofjEbRaZmtTdUoy7pfZHWcXatuJgNpnutN4qKmN3ItS9lyimQlap5KkdYBJLjBwxAzrVogu1pMxCCg3lBRSaUCWvVdw7jDGIFCjNSSVau4p6+u6bvHC9B0asq6pKwDVsEkgGpO9oiyt7FHV6PJWFMKJIbGpKSDh+X4wrarwUzJFHx4kYNwg2qOsvMSm6zEk1BxbDAtCs62ArWi4xQEvhUKBIw5HGI8/sQprSr0st2qsYdkXE80PKKKbaHtEsN64PwH0i4nklwN31+kaeH+Hpuc9Tk9p4+gT73yMU9r6qPd+cWnSA+hR73yMVVpZpeez842obY+xnyWbCWgvOGfV37hHrP+IumS93Hz5p5f445jwEcs/4i6vRXz/eCBOSeors+fnzV6WqgrlxhCUNhVMx84s5SDdHIecYPQG1yv6QH0v8ACB4wLpIrbSH/AOWMuce6RTWnFtyfCBdJF+lA/wAsfP6wDCuF6QTWMug/DGXExzTszbkivUR+o8IB0l/ERwlD5x7TqnnyhuQjxMR8lo09i6pPDm1Tg+BhlK8YVsahcNcoYEcmJSVM6KOcmRl2wa4yhLD3At8iCSK0xpE0aNUmcZtKouN2u7x4WqUJwSQdaUONkuUA+1u4PHjZ1a4LANwIKSkq9Ylwpqg0jzry9MjQJWi1kTUIYMoKJNaMzd7nuiWoGsSu/tJCgAwwUz0JrgIIJzLSm51nre3B/Zglo0cStKnAuhQZnd2+nxhfqgmBmWxYmIF4XTevEgDABq5R6fORfQSsX6hDkVdipgMaARyeSlaUuGU7nczEZ5vAJ9kSZiFle0h7ooBUMaZ04xa8MjXgOZ6rya0Yuwzo2XOI6y6v1gSMa4CuPMxz7Q6wAoMxJLZ0artv7o4VgqDrcgHdQHHAcIrgsigqEwklRTdDbXrOXo+67Ap4BKgEB2DktV3arEnAwS8b5xZgzDOr5coEuaDeYFxQ4jJwO4xLsplAmU05AYOZhV2FKQ3Zdfti6lnaPL5mKX/qEb7x7qmLUPtNu+sbOH1ictTayPSBtUj3vlFZaC4QPy/MxY9IF+jl8VHwiun+o/s/Mxrw2r2OB6sIofeBX1hTsERsx2llvVMSUXn4Zjw+kQkGq/dPyiyuT0s7B5j5+fNLaS10UyG6KmX+GW3j+qLmQNlNchnwggSg6QVtBHu+ED6Sr9O35BBdNp+8K5pHwED6QIe0HknwiMhDpOr0oH+WPnE9Ln73L91HiYj0ikk2igJ2RhB9IyCbYkhKiAE4AkfCBejCRf2JWweXjBiqsKSbwAALAs7itGccMRB5i2c7h8o48Y/y0jpobmFlyZZWF3nWAUu+RqQwpuicmYvWLcm4ybmG43vi0BkE1U42mUaORQBnfhErLagpLqVVyKDcSBRjiGPbHnHfM0UHKkvgSQN29xj2GFhIVr9bim5cuknF3fMcIMmahyxJLDfT4DjEpUx3cKOY5MBmd7xSbWhGTE2rXQKPjxbBoBNszzAujhJThkSD/SO+JGeLwBScPy/WOO6+qKjM7uyKzTIcSp1EOGAB7S/Hl3x4Stp3qzZYVOHbEJqrp9UO+e5uHGOS7QBmn48BvireCE0LLqckAGjABwwO7eTEJgSApiSc8aluPBohNtVQxpwECM0uaqrlhXDLhBWbIyoSBrpQPWq/Paz5ND02YUuQHdgz73r8YTXIOvSqrB3fkYYXaQp2INQKcx9Y1aDzRy1FkF04XRK4k+EV1o9XHqjxMX1ssOtShizA4g1flAlaCdtvAAdR+3rCNmL+FHBLVlVMJ1z4V+UDs+K6erF4dBOq9fOLtc/ePJ0CkesrBsAN30guqK5Ksyklp9GX9oeBi/ssvYTT1Rv3RGXoWWA15WPtJ5buMXVnsKLieQ9ZO7lFdyPlE6ZeCqmS5TkkAk5sPpHr6MaOc84rftAOAUe75mJhCzghXej/AFRnSxNbhHaqNPyPmcny/wBYCq1JGULiyzCOqBzX9EmPCxTP8sdqj/SIU6+JfgPtUhlM8KOGELTbekEjE1g1nsKgXKh3fvHpehgKkknPDHugqkpTppS1BjFRk2hdNtNSE0d68eQaDS7YsA7IxzdsAOEOJsA3q74kLEnc/bHH2F4HqRXKmzHego1AMn3q4xJExftfBP7xZiyJ9kR3UjcO6L7C8InUVjKJqp/4m+CUx1MovRqe8T3vFokRMd8X2f8ArE6irFkU7sP5frElWRR3j+X5iLFo6RBdpFdRXCwnj3/SBK0bvPxUYthEVmkX21yV1FJM0Ug/7fWELTo4o2kvQuWzavyjRlMcMuGxppPIFsr7FpaXcAMxI4FQB7iXEODTUnC+knm/hBUShuEEAhboK+rCU7Cq9LyzmVcpaz4JgKrcDgiZ/wDmseIEPmIlMT8PH1J1sQNpJwlzO5I8VCLyyhVxOyeqPZ3e9CEXdll7CfdHhDqVCMQJTbP/2Q=="/>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7" name="AutoShape 8" descr="data:image/jpeg;base64,/9j/4AAQSkZJRgABAQAAAQABAAD/2wCEAAkGBhQSERUUExQWFBUWGB4YFxgXFxoYFxgXHRwbGBcXHRYaHCYeGBojHRgWHy8gIycpLCwsFx4xNTAqNSYrLCkBCQoKDgwOGg8PGikkHyQsKiwsLCksLCkpLCksLCwsKSwsLCwsKSksLCwpLCwpLCksLCksLCwsLCwsKSksLCwpLP/AABEIAQ8AugMBIgACEQEDEQH/xAAbAAACAwEBAQAAAAAAAAAAAAADBAIFBgEAB//EAEgQAAECAwQGBgcGAwYGAwAAAAECEQADIQQSMUEFEyJRYXEGMoGRsfAjQlJyocHRFCQzYrLhgpLCFTRTY9LxB0NEc6LiFnST/8QAGgEAAgMBAQAAAAAAAAAAAAAAAgMAAQUEBv/EAC8RAAIBAgUDAgQGAwAAAAAAAAABAgMRBCExMkESE1FhcSIzgZEUI0KhsdHB4fD/2gAMAwEAAhEDEQA/AKjpnPu2ohkmhxB9pWaVBoX0zbdSuWBeHokk3F3a8mL84n05/vqxwb4mFOlg9OkbpSYffIW0hvS2llSihJWqstKiFISsEnMuQe6JW7SWqUkHV1QFVvILnGqaDDOK/pYj7wkbpSB4xHpaPvAG6WkeMS5Vi5tGkShQSQom6FbKwcfyqBJhmzTr6b1QNyksadsUGnZIVbgkhwEpHiY0MqTclJY0AACewZ45xG+Akit/txKSUEF00LEeBgydNSz6xHMfSFtKWYGVMJAwJFIzQmRwrESzOl0kbaXbUKwWk9ogwMYYTImi1qTgSORaC/FNaoHs+DcBUSujdGNl6emD1z2sfEQ3K6VqGISeYI8INYqJTos1aRuJHb9YKkq3g8x9Iz0jpWg4pPYQfFosrPp+UrMjmPo8MWIpvkDtSXBZMdw7D+0ESn3u5/AmF5OkJasJiX5gH4w9LrDLQkV8SOS0D2g/d4xP7OrdBREkyRublTwiu1EncaF1JIxBjgUYZs7l2Jd+eQ3wVSFZhJ5pI+NfCAdFeS+6xMTDEkzzBygZo/lV9WiEySnepPvA+OED2WEqqOC1Qxt7viPrCyZTVSQo8CKfvEPsyvZPdAdDD60ZDpgH0hN94DxhTpaPvihuSkfCGekhvaSmt/iJHxH1gHSVN7SMwfnQPCOk5wHS0PbSn8qR8I50oS9uUPcT8P3gvSJL6SWPzoT+mOacTe0mof5iB+n6xRCOlA+kyNx8EPGonp9EBx3cs4zVoQ+lJp3KP6GjW2tHok8/PhFchcGf03SzTTw+YHzjFCfG16TFrJN7P1pEfPkzRn8I4acbps7JMeTOid+EUzhv7xHtbuUIjgRMamwAKPZE7POB3d8AmTdrh8IHpLTDayCS55GBhSSlSlBKQVE0AFSTyi+svRVSkArUZaiTsqQQacyITUcYK8mMSvoIKtqsXgsnSy04EjkSPCEtK2YyZqkEvdzGBoCPGK+famDDEwcaae0GWWpp5PTyaksFrPMhQ/8AIRpLH0utFxKzLCkqAY3WBfN0mnaI+XSjVo+n6LR9yle4PGDqSlTt0ti4wjLU1OgLXrZk04NLB5Gjt2wOzaUn+rOlrAAqqW3D1VCDdFrMyp+foAa9kUNll/d5nNDd/mkdsJNp3OWSVzQo0zObalSVclFD8r6TBE6bo6rPMA3pKVM/8Sd+6M/OJFnlMTUrdjxFIcnLUJ0tD0KUPQcO2GJgNFqrS1nJ2hMR78tXixHxjn9oWT/FT3wjItyipYIDS7xDcHgf9u/lH83/AKwaYNrGftksq0muhrPAz9oQHSAvaTXxnJ8UxaypRNvetZ5/Vj8IgmXet3OeMjkd8K6xvSVmkZZVpRXGcjxS8QtSCrSquM9HwKBFmiRe0g9KTh8FD6QGWh9JAkCs5+4gmIpE6RFAfSU73leDRpLRY5mse+8upu7jw7Yo7Ih7fOP5lfqYxrZuB5fSKtdu5NEZzT1gXNsy0Ia8q6zlh1gceyMPO6IWsFtU9AaKSaEkb96T3R9NNE4PyiUpIqa+zV/VKqdhKu+MaWJnSdkaHaUldnyCfoicjrypg5oU3e0KR9qVOIJAIYGj57KSc95PdHZ9kTMIKpaFOANoA4OcSOMWsf5iTsep8Sfs84UieuORMfXrP0Yss5SwbMh0KuqYBNWSqhQQ9FCvGMf0l6A2hM9X2azTDJpdugq9UXsyrF8Y6KeKhN9Ly9xcqUoq5TdHJhE+WomgWncc6x9fVYSATgARxGIdwO2Plln0RNlqSlSFpIUAXSQQXBq4pv5Nvj7ba9HEImEsQEqJuq3B6ORujOxrTkmh1F2WZjunmiibDMNTdKVAXTgFAHkNruj59/8AALYhpk6zqTLBBUXTQFsWJIoY+39J7GDY7VRbmUvjkTWp3CK9OjFGyBRZRVJBUzuTccmtDC6OKlSp2XkuUFN5nxu2aMRL2g4Zs3FY3cpDWWT7qYy/SOXsHDFNRhiI11z7tI9xMdsZOcU2BazsanoyK2n/AOuPB4zdmDWedzRGj6OTAftRBBGoAp7ppGek/wB3m+8jy3n661PR+5wSyeZ6f/dpXNfinv8APOHZyfvMr3ZfgIStA+7yea/FI8+RDs4/eZfBMvwGMMAOWdO1aOS/0qhJEug+oh+yis/kv9K4WlmgrlugkUztksq/tYKkltYVOQRmSMmgGj5H3sK3zCetm5LseRFIno2bPVaAlU1ZQSonbegdhVL7s4jozS1oXPTLUt0lRrdlksASKgUw3QlJPRjG3yiGjpf316l5hJ3CpblUR7Rq3tmX4pIoX9bN2yiWj9MTF2gS7ssEqO1qmLC8ynCmqx74jozSgVaAkSZaVkq2gpYwvEliljn3xfT6kcvQR0agG2TVAjrGgy2xvjTzT1uz+kxm7PpeQmapYlKCyahM1Kqv7JIOIEaVfr8x4JgrWTBvewlMYI2nbgCfDKCSLShaQoKBSpyDg7l6PvJMeUsBNS3F2yO+kSsVkMqSEpIKJaCxO5KScQeG6POV7ORqw0B2ecV38CBMXLDE1ShRS+eLcojo/RZQucosdbNUsN6qTgmrYVwh3QVsTOlS5q5aQFgKullMHIZyK4ROx6PKUpSEEqAD3TiWr6z4whvpbQxZ5ndGqAWu6FJZbTMTeWEprQl9koiy0PbJptM1K3EhkGWpSGclIv7RAdlUhPRtolEqAKqzGmEpWwWCEqcsQ4CQMWpFt0Qty5klJnKQiY5dJF0hiQNkqBqGPbC5rXIFuyLay2RF5d2eglSryg4oWAZgqmAyiFmtV+fOs5loUJaUkl6KCw7Xbp5Y5wXRehNXNnzApEzXrvkENdLBLOCXwjnR+2ItSFTUyEoZakGovG6Sl3CRShhyoxlojkc2JdGei65UmZKtIE2+tdb5V6NVAh1MRQswpFgLJImy5ktMuiXlkXGYgYAjgRURzQ2iJkvXGcpZBmKUhpyy0sl0pZ6MKNwhqwolpBXL1gEw3y4UXJADlwSKAbocqXlAuTPjfSnogoSAtd9CtkqdOBzFGzhqZK+7SW9hHgGjRdOVTvsRVNVtFIJCpYSL24ENnviolj7rIGYlo8BF4dtpo6XmWfRmyiXLtYTQas991R8YoLMv7vMf20jjgY0ehyyLX/2z+lUZuUHkTPfSfhG7T2v3M6e47PP3eT/H+pPny8OzFfeZfJHyiutP4ErcL36hjuhyYp7SgcE/LuhothbKfx+S+XVVAJaaDHDhBLIfxuSvA/v5cwOSNkch5wgkRhtFrOtbboDizef3gWiljXDEEhWIyDns60F0Yo3lHEXXxJanzrA9EElblLMkh7z4gUZ+14448HRLkFoSeVTqswdnSxwOBMK6Akfe7+yHBoOAIduL/CHtDpN4kuKEtRsBuwgOhFDWqqSUpILpPPHD1oKD0JLkrNB2QKnF0jZUDvri/wAI1axRXOKLo+XUaNuozgOxi/WKK94+JEMi/hYElmhK1aPTNlqlqLBQZ2BrXIkP2Q1PQUJUq6lQYkhlJdLEkdUjDjHv7OM5JQGFQagkUUDkC2HxhzSqUyZK1zZaShKSpYGJQ20GKEhWLM8edrP4rGlHQrLJLe76BaAQCAhSAwIfBMwNiMqQ7YJCkpDTJ14JS5ICnLMrFBzeJoUlTEImIDZEEilKBRw5QezzmLlcxxheQ4cF2/Dr3wmTuEiFisgTKWuTMvXtZOF4OFKN5ZZrtCaUixsdpXdD6tRNcSOzOK6xlCUJKJyFJA2Spi4fAEKA7Wi/lJSrBSSx9r/2NIXN63JoC0euZZ0zVamVMSpa5tF3VByTdrLYsKYxdyZdHFnSkGuwpIxrkExWWhYs8hSlSJcwJBJYsVOrBihvWGJg6JycPs81J/JMDbvbEddOT6dyOSau8kdnLRZpIVPmTU1CSb8xdVKupDbWZAiNtnLlyGs65l5LBAVKvDEA4oBNHzhHSmrMj7wJxRsPtlW3eSEmiyevdh+1aRWEEITMvUAJlksHD4Ag0eE918BdBhP+KtpnfZrqp0uYCoAAS7isQQRtl8N0BR/d5Q3IR4CHP+JdnlLQCqYSpC3QkpuuWIZiBVq9kISk+hl+4j9IjqoN2s/IyxcaDUGtF4bDbXu7V74RxMqwFJQJwS5BPpUguPer3wroxZ+z2kvW4f6ozyJytWVuSsKCXNWSxJFaN5pWN6nt+pmz1NYro7ImISlE4sl6hl4kH1ccIJM6LjWBYmgMwIUlsOL4xippAQhV1KjMcqJSMiGy4mGAi6sS0ul2qlSkqDs+Ch54wwDM1EvowsaxloVedqnEhq0pEEdFpzDq4e1FFZ7dMN5ps0BLk+lUp2BoEqfd5zYTpaYw9JNPHZ/0xaBdwGiZyfSEBmQSXS2Qp8PjENCTNpbXS0slwGMEsFETTXqndj5aB6LUQJrhmQWLFz8jnHMuPqdT5O6GBBWasEFtpxlvgHR/GaWZkKeoNWT+0T0PNITNpggnAiuY+ET0ROBRNLAbBenP6RccrElnch0aQbxvYvvBpVsOEaA9U+8r9SopOi4F6hBriONc+cXnqjmfE/WJ+hg/qROToszVIVdSrVrCiFPUMQw2T8d0M6UmSUSphnSQZaUkrAul0jHZo8JW2xzZtnmS5LBarrKKrhSynLEB6hxQiLO1ypSpSkTZaii7ti8SCAKvcmORTdHnq2/P/ZorQAucky3SmYKpyDhN5L+sa3b3yicmcHcFVK9Qg/FMElqlrQFoUspKQoOFGhDg7SSYFKn3WIX/ADJSmuJyTHP6DELot2os5VJUJiZaCUkqBvN7qm34AxdpSlXWCFNmzv2sYqtGpRLlIQiYhQlhgq8Ho7PdmDwizsc/WISsKSLyQSLxaoBZ674qduCAfssuTJUZklCwlKlqajgErwKRXmYupcjZSbiw7Gk0g14hQiksFg1KF30pm3jMUXNClSlLukFBehu45Q5YLSFy0LEopCkpWBrGICgCBRgMYtMTJXA2iwauyk2oz1JSm9MOtKwyTevMFPRgaDKGZy70slKpxN0kbKVVZwCLp4QsT6BaZ+sWgiZfGsKnQ6iR13LIYU3QSzTUmUFStaApIUnMsQ6aEE4EYwMn4CUbamL6c6PeSVKnKvJIUdlKajeQARiRHR+DLH5E+AjvTOXekTAtSgSly4YuA/s0rHJL6mW+N1Ph4x34Z3iSeo3ZaWe0+4f6ozIX6BX/AHBzwOR+caWT/drT7qv6ozLtIVn6QYcjujfhp9X/ACZk9x61L9DK5HniPP7wyT95SPd8B5/aE7TWVKzYHniOzzuho/3hPZ4DPz8oNIA7ZZlZ2HVVz8/twACLS1HHcIJZBSbyV4HtP+/Ex6XLoOthv/aCQLD2BXop5YjZAx8N0dsCjq55q1yjl97xCxqOonVT6oFadpidhQRJnGhcAUPwwpCFqvY6HfMhoya0ufjRB3YuchyiOjZvo7QcGTTlVsM8YPY0HUztkh0sz41Pntjmj7OpMmaCC5ycYOWq+LNEVsvYt8k+iSU0ulwTj3Rdo6ifOLfWKnowhILJBABIYl8CxrucRbJ6ieQ/pipfLZS3onN0TPmoBkXryVovXVlGzeBUGvAHZBi8tcmXcUJiJyUkEKO0qhBBqCpqPFO1oun7OJj0qhTNtB6EsTdeLq2qSiWozZs1Eut4zBQA0qooLYtQx5zEP4zvVynm2izos5VIWpV2UdWCgkKup2E1QCoFhnHZNsSR+JLBZqED4XnFYYAlS5Pop6CmXLdKSKkJS6QNoPQAYR1M0kAq1b0NCpnx9ownIYgtjtRSi6Li2vHhUlTYq3w5KUFpSbsnaAU3MOzlDRVaPRqkXQmWXWtTlOJWpS2coJo7RZaMlmbJRMEuWAtIUBdFHD5DnATViC9j0PdQUqRLVVZoRUKUpQFUZAgY5R7RdqQqVLmIQpKVpCki8lJAIcBgsNTIQyjQCwVG4naUVM/qsA1RwMIaPUNUhSEqSggFKQbrBgUhgumWEFe6JqGsiSZRTNMxR273pCp0kqbBeFwgQSxhIlJ1YmBIQLlHZLbIZQJwaPImuklWtxOKwaOSwF45UjuqSEJuiYkJSAlqlgGGIL0aFydyJGN6VSFrkLVMmqvFNXQAxbgBBEj0aB+VPhAulkr0C781QJSxBSkVI4IDVgp6qOSfCNLDbQZhpavu9o90/wBUZxf4Cvf55Hs87o0F/wC6zvdPiaRnCv0Jb28DyPn943oZx+r/AJMuWpG1fhyuXz8+aQ1/1Ceznl5+uMKWg+jlYimXPcPPjDN77wnPDwHZ53NDfQA9ZDSbyV4b/OWTOaV1RhgIXs5pM5HHkOweewktVBy9r9olyMakTQZEwlmvAVBZqd8clISJE6qWJS9GAwod8RkBrOpyar3VbLDGkTs6xqFMX2hVuNY5v6H/ANnLKlOomtcZwKM2MSscspkzXOJGCiQxOD/CJSCTIW5FSMUlhXNzEZFnAkLF5BdTks6cXYh4l9PYt/5GtBMxIDY+OMWSOonkPlFVoVeyosBRWAYZ5dkWYwHIRJfKZS3h5y5yUoMgzPxUBdxJUBLrfJoQ/V4xbaYlSJ0pUubPmIlqa9fTcwIUKqQA1K1inn6Tmykp1KmKpiQrZvC6aKUaUYZvF/pawm0yFyTaUXVhibqXxByUMWbCPO1t53cCNvKJUhS5c6XM1aKJ3sGGC/lEkWUg+opsamvYxpDOkpEyVLd5MyqQ20HvED81KwmWdjLlk768v8OEpjE7hLDLVZ5IQZUpdxJdVQVM6vYpSkWI0ckpH3eSxHEchREZ6VNRYrE82UidqkgLI6yqs7KTXEYmLWQuWpKSJCEhSQWvMaschjAzXJVhddnVJlEqlulCSpRSqpAdRxul2jtjIKEFMtQSUgpAUxCSHAbWUYZCAm4iUvWyythMUplkuh1KZioPslm4Q3IkoCQ0uakMGAmkMMgBrKCCbyCOTElMu8RMZKXVt3iwG1iupocIDbUzPs6jKE0ruHV4HaIdLv2YwJS9XJUqaZxSkKKzffY2tyn6rYRJV4SzqlWhJbZolQBAp1gaViWZDJ9NLOrVrClLyxCQcaYJDVaHFq2U9nhCXS+VM1KyqcSTQ3kJHKoSGq0NqwTyHhGhhtv1FTJqX90m8j4xnF/g79v5Hz5eL9Z+6TeXz4RnV/hbtvLkfP7NG5DT7/yZstSNpOxKD+qOOfd53Q072gZsRxyHDz8IVtR2JeeyMefHz4QYH7wMq/Tz5JhgDJWRVJnI+HDt7jxgssFhjhxhexVC83B+WXd5aCilG+A+sRMqQ1/01Suszc54UY0aJyi1nN1Smv4tXj6u98otVWVN27dUA70Ix5vA/sSbt1pgD3sQ783MA6bf2G9a/cTss1RkEkl72YbsaPIbUllhr+LPm5FOcOfY03LvpGd3YE+DfCOIsCRLuArAd3Ka/pb4RXaf7WL61+4DRc4qQpRxKS9CMjkYtFZed8KCQEJUxUdk9YNkeAEMqPnvgai6aTRcHeY0i2XVSksk6xZSXcEC6SCC9cMGhzSOjyq71SErSsu5cAu2FKtCUiYCUpuXibxe83VahF079++CWiQVTpa9WAlF68KVJACcAAWrHm6u801oQ0xpRFnlCZMlOlwlk3SSThQgPzgumtHLn2dSJLS5irpSq9dZlAqDpDilINPRKWGXZr4JFNnHg5pB50qguy5yS4/5hNHr68J6rWaLsJy9E3LMkWhJWEy/S7QUFsHUaqc/tDGoBTspmCjJAUQ1KYL5R6ZLQRdUZzHZNTV6b8KwppeZMTJVqFTNYwuU4gZhqB+6Bu2yxieZcuQVTQtko2yVKU4badlVz5wKeAuzEyBMSVSyZZvKDEp2CxXTLGJ22bKWhSJhmFB2SCmYxBo1E5uIjaEXZShKTMBSghAuqoQCEDaG9sYJFMEJR1DTr5GraaCtRfZF/qmvrYRK26TmCWrVkhTMnZJrlQp8YHabc0sqmJmJS22Sg0BofGI2m0kBVK8iWPhFq71RDN9K5hVLUnW9ZTBwkZ0wSC7Q8s4ecjCHSqypUCbxopxhyrSH10bzlGhhtq9xVQFaVtY5nIeIjOqmtJ37XwY8OUaSZJKrKpKQVKIDAB8xlFOvREwywDLW98+rlv8AHv5xtw2/czZaiNqVSW/sjx79/wDu8HCvvHaMezz+zPK0aKmMjYXRI9U0rWgFPO6pjYF697imcVulsPPkhmIFgLEetTy43c/ORxyPdA7JZVC8Lqhhkd6eHHzVzJlFhQ+eZikiuDUPHQYiY8DDSibx54i8deIQFazsq90xFSy+FI7ajsnl8xEVYxz4j5bG0d6DlABQooe9euqCgDslIUGxGI5xNCUaxJVrQl9oCYqoY5Be9oknUMjWhd5lEEKmBLOAWurYerlALSuUCNXrWzcrI4YvHmJ5yZqx0LmTOsxUAn7Q77LGYS9cKnjBLXZUlJCTa72ThW8P6u54oZFpN9Orv3nN1gXdi7UOTxb2ddoK06xU649WSSQGJ9je0I0I0KWiSoYmaA4qUkVcNijeIFOmr/xVNvZBpyuRd21Eu60ybMSkqA2kkVegqgZ5RTaTlSkgGVMUtTpo2RUL3q7io9kXFtl3GJ6ZJABtMwhw2yjG8Lo/DxJuiO2ueptmap8vRCtcOpFRMWQxe6ykqfJ0qCk/ECHJmk53IXgCdWcLwBOG4mLtcgK33lIUiYtV1WydhId6BjcpVoVnqXS7MV1kgkpTQFQvnq5JcxbWiZLUkhU2lKsBUKChVqVAhHSQAR6ObW8kYBWyVJCizZJJPZBx4IZvpDLUEn0jgkYgfIRaTTTzuil6RJUU1mOLw9UDMAYdsXU/DsPhHdhtEJmNaLrLDHGtOUNGT+ZXf+0KaJ/CTyHgIceN2jtM2epEyPzHtunxTEfsx9o/yo/0wUGPQ4AHqD7X/iIlqVe1/wCP7xMRJ4hQsTHniBUN4jwVEbLCR0GB3uMdvRCELSaHs8RESa+eEetStntT+oRBa2bzlHNiX+Wx1HciE5SisAgkBJuUU11xeIah2hXlEpUlSibyVJAbKhxfFPKJG1OUupilLAMkMkkl3IcuXrHplpqAlV6hJyZmYOzZnujzM5XbyNVDVimCWtKkXipLsAl8QxoE7j8Yu7Np6ctQSTdSxL6p60YYcT3Rn7LpEy1hSWvMRVjQ8ItpHSOYpQBKEgvUjgS2I4Qh5kaHtIzBNQEzLQkAkKYhKC6TeGI3iKW02dIUAiaCMybpyJGBpDdtnCdRUwBi+QejUJVhXKELRY0pAImvVmccdxiLItIl9lSaKnpTUHAZEH2uEHteklhiFyy5PqHv65hCQhlZqLMA4rhgwyhhCtoBWzjzwJ5boK6IRtGkFzElJKdoZJLsGNNo8ITmX3ZyBj1eI+sWdoQjNbHdeT9eQhC2slmYu/EZNh2xZGZ3Tsi8CxJZSSacXGXCLW0Gh5Hwiu0raGSRSpTlk9G7zDk9dC24x3YVt6+RNRD+ivw08h4CHHhPRp9GnkPAQ00egpbUZk9xJ49ejjcI80NFkgY88cAjrRCGG0vJaXJugvcqwxwNYjpGU0iQWLlKnYVyNYb0tLJTKb2N7bojpBPopNPVOfLPOEN6jUhTSMu7Z5JGJC+eWJj2kUhNnkmoJvO2OIg+k5TyJIY9UttHEtnnEdLoH2eTTAK+URvUliy0PKZBO8o8RFwQ8Vth/DHNPiPpFi8Jr/K+w2lvHUWUqKVBSQyAgBsgpSnJfF1H4QK1KKJhS6DshTjiVBqK4P2wSRo68q/QulIbad03q0S2bNwxMCtK0y5gQZZqkr6xGCrrMUccY81LNs0kCk6WUlYLPQhqpfDMF8obR0nUZstGrSL4VW8txdAIFVYkmBWbSglrcIDMQ16tSM7vCH0dIr6koEkbT+teZg/VuVgCMjbAtZTeR1XPXBd23mFJkkJAJADqCSCBm5xfhuhy0yzMukymuu7INXA7sIQtaLrFjtKaqVJ9UmmR6sUWgadJ6tYKU5EbsW3bm+MMS9KzJpAYCuV45E4OHwhBc+6oXkK2XJALO7Z1bCDptqVUEtQ5zCePsxZQzaibwvEYHLexwv7xCNoQBdYpq78DTO8d57oJPswIAZmepLu7b2waEbVZ2IZQq+5gzbjxgiFbpOcRS8KqTQc4enBgeR8IqdIzVOioIK05cd8XE7A+6flHbhloKm8iGkLQqXZwpBYgpGedDgYql6cnhKTeFXfZ3Nx4mLLTP92HMRTWkHVS8PW8RG9T2ozZbmMzdOzwpKQRUJfZOeOceTp60Xylw1fVOWGcL2kelRhgnIefO6PSx6ZVRir5+f3guplNDEnpBaCCXTT8p3tvhpOmJ5Hq/wAiv9UVdmVsKrkMuI8/tDCDQVHcPmXg0Az2m1hpYLVlUwo8e0mRckinUz7I9p0dQEt6MPQx3SZITK33N3KFPkaj2kkp1UkEhrpbPdEdKTGkyW9kswxw7o9pVXo5Ir1MuYiGl1kSpO+7w4b4qXJaLqynYHMeBh+K6z9RPvD9KofJ89sKxHyg6XzBrR8tQWo1KVBLYFmBehNKnweCTNJyxOEoy1FZRecolkXXbF3BeK6xy5n2gkmZqtWGAUpr7l6Avg0MqtdnE8IKVGbcfBRVcf2nwfJ485JXbNJErTKvrCkpCRdutQVd32RCa0qE5CGqu8xc0ugE5cYatYvTZZQFBICgoPdckpulr1cD3xyYpCVoSZZvLe6aOGDmruP9oXkEw8vQ6gsKLFgQwxq29LZfGI2k3FJSUnafAhqDiIkmxr1qF3dhIU4vYks1MKMYLarUhCkAyarJCerkCS9Yiuy7IQtUoqZhgc1HOjOBSK+ZKXrUIcbYUQXwutk1XdotrTJJmJUEsACGfF2bClGPfCk60ETEIKQSu8xcEC6HL0iLUogdHsQSoUBHeRn2QGZK27t4Ndd+Ls2O6LBFnZRUUpqAMNzl8OPwgFptpSq6Aki67gnezfOJk0Qztsmm8kAg+kD0wLindFzacFe6YorVO9KnB1TQot/CPBI74u7SaK92NLDLQ56mjBadLWYe8n5xSWk+jlDgfHdjF1p0+gT7w8DFPahsIp6p8Y24bYmdLcwk8+mTTJH1iMr8VVPa+cdtf4w/h3bo5K/FXX2/n58iLWhGRs42FUbDx8+TB0poKfAQCQRcVjl8/PkwygUFPiINC2T02oOHdrgwiOlz+GA/UGcD6RLZf8Az55QLTuKHb8MYkvC5cjU9AumCyZVD1Bm2cR0uhxIrggZ8fjAOkCh6JwD6MeMR04oAyBnq0+MR53Jc0ck7Kfe/pVDpPnthCQaJ94+CocJxjnxHykNo7xf+1JibSiW41RQSpTOygWCb2A5Q4JchU+/fCpoTdxrcd+qBg+cKyLYozFoZIuBNS5dw+DhmiOoaaZoWm8UBJGIYEne71jzsnbXLI0V5LC0TdpBReZ9uh6rFsnxbCPLnSzMQk39YQSgMp6MFEZDEQnY7Yoz1JURcCAQpm2ioghzTACkOKErWoUVjWBJCah2LXqZ4CAWWTDJWlEy8htYAFOpziGLPWtWgdotACkghV6pQS5wFSK0ofjEbRaZmtTdUoy7pfZHWcXatuJgNpnutN4qKmN3ItS9lyimQlap5KkdYBJLjBwxAzrVogu1pMxCCg3lBRSaUCWvVdw7jDGIFCjNSSVau4p6+u6bvHC9B0asq6pKwDVsEkgGpO9oiyt7FHV6PJWFMKJIbGpKSDh+X4wrarwUzJFHx4kYNwg2qOsvMSm6zEk1BxbDAtCs62ArWi4xQEvhUKBIw5HGI8/sQprSr0st2qsYdkXE80PKKKbaHtEsN64PwH0i4nklwN31+kaeH+Hpuc9Tk9p4+gT73yMU9r6qPd+cWnSA+hR73yMVVpZpeez842obY+xnyWbCWgvOGfV37hHrP+IumS93Hz5p5f445jwEcs/4i6vRXz/eCBOSeors+fnzV6WqgrlxhCUNhVMx84s5SDdHIecYPQG1yv6QH0v8ACB4wLpIrbSH/AOWMuce6RTWnFtyfCBdJF+lA/wAsfP6wDCuF6QTWMug/DGXExzTszbkivUR+o8IB0l/ERwlD5x7TqnnyhuQjxMR8lo09i6pPDm1Tg+BhlK8YVsahcNcoYEcmJSVM6KOcmRl2wa4yhLD3At8iCSK0xpE0aNUmcZtKouN2u7x4WqUJwSQdaUONkuUA+1u4PHjZ1a4LANwIKSkq9Ylwpqg0jzry9MjQJWi1kTUIYMoKJNaMzd7nuiWoGsSu/tJCgAwwUz0JrgIIJzLSm51nre3B/Zglo0cStKnAuhQZnd2+nxhfqgmBmWxYmIF4XTevEgDABq5R6fORfQSsX6hDkVdipgMaARyeSlaUuGU7nczEZ5vAJ9kSZiFle0h7ooBUMaZ04xa8MjXgOZ6rya0Yuwzo2XOI6y6v1gSMa4CuPMxz7Q6wAoMxJLZ0artv7o4VgqDrcgHdQHHAcIrgsigqEwklRTdDbXrOXo+67Ap4BKgEB2DktV3arEnAwS8b5xZgzDOr5coEuaDeYFxQ4jJwO4xLsplAmU05AYOZhV2FKQ3Zdfti6lnaPL5mKX/qEb7x7qmLUPtNu+sbOH1ictTayPSBtUj3vlFZaC4QPy/MxY9IF+jl8VHwiun+o/s/Mxrw2r2OB6sIofeBX1hTsERsx2llvVMSUXn4Zjw+kQkGq/dPyiyuT0s7B5j5+fNLaS10UyG6KmX+GW3j+qLmQNlNchnwggSg6QVtBHu+ED6Sr9O35BBdNp+8K5pHwED6QIe0HknwiMhDpOr0oH+WPnE9Ln73L91HiYj0ikk2igJ2RhB9IyCbYkhKiAE4AkfCBejCRf2JWweXjBiqsKSbwAALAs7itGccMRB5i2c7h8o48Y/y0jpobmFlyZZWF3nWAUu+RqQwpuicmYvWLcm4ybmG43vi0BkE1U42mUaORQBnfhErLagpLqVVyKDcSBRjiGPbHnHfM0UHKkvgSQN29xj2GFhIVr9bim5cuknF3fMcIMmahyxJLDfT4DjEpUx3cKOY5MBmd7xSbWhGTE2rXQKPjxbBoBNszzAujhJThkSD/SO+JGeLwBScPy/WOO6+qKjM7uyKzTIcSp1EOGAB7S/Hl3x4Stp3qzZYVOHbEJqrp9UO+e5uHGOS7QBmn48BvireCE0LLqckAGjABwwO7eTEJgSApiSc8aluPBohNtVQxpwECM0uaqrlhXDLhBWbIyoSBrpQPWq/Paz5ND02YUuQHdgz73r8YTXIOvSqrB3fkYYXaQp2INQKcx9Y1aDzRy1FkF04XRK4k+EV1o9XHqjxMX1ssOtShizA4g1flAlaCdtvAAdR+3rCNmL+FHBLVlVMJ1z4V+UDs+K6erF4dBOq9fOLtc/ePJ0CkesrBsAN30guqK5Ksyklp9GX9oeBi/ssvYTT1Rv3RGXoWWA15WPtJ5buMXVnsKLieQ9ZO7lFdyPlE6ZeCqmS5TkkAk5sPpHr6MaOc84rftAOAUe75mJhCzghXej/AFRnSxNbhHaqNPyPmcny/wBYCq1JGULiyzCOqBzX9EmPCxTP8sdqj/SIU6+JfgPtUhlM8KOGELTbekEjE1g1nsKgXKh3fvHpehgKkknPDHugqkpTppS1BjFRk2hdNtNSE0d68eQaDS7YsA7IxzdsAOEOJsA3q74kLEnc/bHH2F4HqRXKmzHego1AMn3q4xJExftfBP7xZiyJ9kR3UjcO6L7C8InUVjKJqp/4m+CUx1MovRqe8T3vFokRMd8X2f8ArE6irFkU7sP5frElWRR3j+X5iLFo6RBdpFdRXCwnj3/SBK0bvPxUYthEVmkX21yV1FJM0Ug/7fWELTo4o2kvQuWzavyjRlMcMuGxppPIFsr7FpaXcAMxI4FQB7iXEODTUnC+knm/hBUShuEEAhboK+rCU7Cq9LyzmVcpaz4JgKrcDgiZ/wDmseIEPmIlMT8PH1J1sQNpJwlzO5I8VCLyyhVxOyeqPZ3e9CEXdll7CfdHhDqVCMQJTbP/2Q=="/>
          <p:cNvSpPr>
            <a:spLocks noChangeAspect="1" noChangeArrowheads="1"/>
          </p:cNvSpPr>
          <p:nvPr/>
        </p:nvSpPr>
        <p:spPr bwMode="auto">
          <a:xfrm>
            <a:off x="2136775" y="3127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Slide Number Placeholder 8">
            <a:extLst>
              <a:ext uri="{FF2B5EF4-FFF2-40B4-BE49-F238E27FC236}">
                <a16:creationId xmlns:a16="http://schemas.microsoft.com/office/drawing/2014/main" id="{A2419D5C-EEA6-EDF8-0AAF-2DC61308BC9E}"/>
              </a:ext>
            </a:extLst>
          </p:cNvPr>
          <p:cNvSpPr>
            <a:spLocks noGrp="1"/>
          </p:cNvSpPr>
          <p:nvPr>
            <p:ph type="sldNum" sz="quarter" idx="12"/>
          </p:nvPr>
        </p:nvSpPr>
        <p:spPr/>
        <p:txBody>
          <a:bodyPr/>
          <a:lstStyle/>
          <a:p>
            <a:fld id="{7DF6DEEC-D04A-4FF0-9A08-7D39859C24F4}" type="slidenum">
              <a:rPr lang="en-US" smtClean="0"/>
              <a:t>22</a:t>
            </a:fld>
            <a:endParaRPr lang="en-US"/>
          </a:p>
        </p:txBody>
      </p:sp>
    </p:spTree>
    <p:extLst>
      <p:ext uri="{BB962C8B-B14F-4D97-AF65-F5344CB8AC3E}">
        <p14:creationId xmlns:p14="http://schemas.microsoft.com/office/powerpoint/2010/main" val="16288839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A6D37EE4-EA1B-46EE-A54B-5233C63C96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72493" y="238539"/>
            <a:ext cx="11047013" cy="1434415"/>
          </a:xfrm>
        </p:spPr>
        <p:txBody>
          <a:bodyPr anchor="b">
            <a:normAutofit/>
          </a:bodyPr>
          <a:lstStyle/>
          <a:p>
            <a:r>
              <a:rPr lang="en-US" sz="5400"/>
              <a:t>What About the CIA?</a:t>
            </a:r>
          </a:p>
        </p:txBody>
      </p:sp>
      <p:sp>
        <p:nvSpPr>
          <p:cNvPr id="20" name="sketch line">
            <a:extLst>
              <a:ext uri="{FF2B5EF4-FFF2-40B4-BE49-F238E27FC236}">
                <a16:creationId xmlns:a16="http://schemas.microsoft.com/office/drawing/2014/main" id="{927D5270-6648-4CC1-8F78-48BE299CA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767709"/>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76EA48B2-12E8-9025-8AFA-1CC9ECA9DF90}"/>
              </a:ext>
            </a:extLst>
          </p:cNvPr>
          <p:cNvPicPr>
            <a:picLocks noChangeAspect="1"/>
          </p:cNvPicPr>
          <p:nvPr/>
        </p:nvPicPr>
        <p:blipFill rotWithShape="1">
          <a:blip r:embed="rId2"/>
          <a:srcRect l="2605" r="1138" b="-1"/>
          <a:stretch/>
        </p:blipFill>
        <p:spPr>
          <a:xfrm>
            <a:off x="572492" y="2002056"/>
            <a:ext cx="3943849" cy="4184060"/>
          </a:xfrm>
          <a:custGeom>
            <a:avLst/>
            <a:gdLst/>
            <a:ahLst/>
            <a:cxnLst/>
            <a:rect l="l" t="t" r="r" b="b"/>
            <a:pathLst>
              <a:path w="3807743" h="6307845">
                <a:moveTo>
                  <a:pt x="723201" y="386"/>
                </a:moveTo>
                <a:cubicBezTo>
                  <a:pt x="853884" y="-4204"/>
                  <a:pt x="1013493" y="33912"/>
                  <a:pt x="1176100" y="22622"/>
                </a:cubicBezTo>
                <a:cubicBezTo>
                  <a:pt x="1230302" y="18859"/>
                  <a:pt x="1281736" y="20622"/>
                  <a:pt x="1331852" y="24473"/>
                </a:cubicBezTo>
                <a:lnTo>
                  <a:pt x="1439547" y="34944"/>
                </a:lnTo>
                <a:lnTo>
                  <a:pt x="1484197" y="36226"/>
                </a:lnTo>
                <a:cubicBezTo>
                  <a:pt x="1535166" y="35421"/>
                  <a:pt x="1586369" y="31625"/>
                  <a:pt x="1636625" y="22622"/>
                </a:cubicBezTo>
                <a:cubicBezTo>
                  <a:pt x="1686882" y="13619"/>
                  <a:pt x="1729837" y="10653"/>
                  <a:pt x="1768740" y="10885"/>
                </a:cubicBezTo>
                <a:lnTo>
                  <a:pt x="1829538" y="15086"/>
                </a:lnTo>
                <a:lnTo>
                  <a:pt x="1869968" y="7996"/>
                </a:lnTo>
                <a:cubicBezTo>
                  <a:pt x="1953577" y="-31"/>
                  <a:pt x="2036989" y="9808"/>
                  <a:pt x="2112925" y="20118"/>
                </a:cubicBezTo>
                <a:lnTo>
                  <a:pt x="2119331" y="20977"/>
                </a:lnTo>
                <a:lnTo>
                  <a:pt x="2221855" y="13374"/>
                </a:lnTo>
                <a:cubicBezTo>
                  <a:pt x="2261207" y="12845"/>
                  <a:pt x="2298379" y="14359"/>
                  <a:pt x="2333484" y="16393"/>
                </a:cubicBezTo>
                <a:lnTo>
                  <a:pt x="2372613" y="18812"/>
                </a:lnTo>
                <a:lnTo>
                  <a:pt x="2404945" y="9387"/>
                </a:lnTo>
                <a:cubicBezTo>
                  <a:pt x="2452532" y="1754"/>
                  <a:pt x="2506192" y="9333"/>
                  <a:pt x="2561622" y="17814"/>
                </a:cubicBezTo>
                <a:lnTo>
                  <a:pt x="2583950" y="20591"/>
                </a:lnTo>
                <a:lnTo>
                  <a:pt x="2643527" y="20319"/>
                </a:lnTo>
                <a:cubicBezTo>
                  <a:pt x="2669677" y="20426"/>
                  <a:pt x="2697963" y="20717"/>
                  <a:pt x="2727392" y="21103"/>
                </a:cubicBezTo>
                <a:lnTo>
                  <a:pt x="2786908" y="21989"/>
                </a:lnTo>
                <a:lnTo>
                  <a:pt x="2846459" y="13267"/>
                </a:lnTo>
                <a:cubicBezTo>
                  <a:pt x="2896401" y="10176"/>
                  <a:pt x="2960607" y="12733"/>
                  <a:pt x="3036361" y="17072"/>
                </a:cubicBezTo>
                <a:lnTo>
                  <a:pt x="3129100" y="22671"/>
                </a:lnTo>
                <a:lnTo>
                  <a:pt x="3130653" y="22622"/>
                </a:lnTo>
                <a:cubicBezTo>
                  <a:pt x="3178874" y="19804"/>
                  <a:pt x="3260845" y="26231"/>
                  <a:pt x="3352422" y="32691"/>
                </a:cubicBezTo>
                <a:lnTo>
                  <a:pt x="3362608" y="33356"/>
                </a:lnTo>
                <a:lnTo>
                  <a:pt x="3446036" y="35579"/>
                </a:lnTo>
                <a:cubicBezTo>
                  <a:pt x="3550323" y="36566"/>
                  <a:pt x="3662083" y="33535"/>
                  <a:pt x="3778601" y="22622"/>
                </a:cubicBezTo>
                <a:cubicBezTo>
                  <a:pt x="3793981" y="243672"/>
                  <a:pt x="3764152" y="318695"/>
                  <a:pt x="3778601" y="467157"/>
                </a:cubicBezTo>
                <a:cubicBezTo>
                  <a:pt x="3790077" y="557563"/>
                  <a:pt x="3783697" y="684218"/>
                  <a:pt x="3777639" y="811856"/>
                </a:cubicBezTo>
                <a:lnTo>
                  <a:pt x="3773760" y="922625"/>
                </a:lnTo>
                <a:lnTo>
                  <a:pt x="3778601" y="974384"/>
                </a:lnTo>
                <a:cubicBezTo>
                  <a:pt x="3785784" y="1003717"/>
                  <a:pt x="3785160" y="1041120"/>
                  <a:pt x="3781239" y="1085904"/>
                </a:cubicBezTo>
                <a:lnTo>
                  <a:pt x="3776107" y="1132519"/>
                </a:lnTo>
                <a:lnTo>
                  <a:pt x="3778601" y="1162456"/>
                </a:lnTo>
                <a:cubicBezTo>
                  <a:pt x="3791360" y="1256797"/>
                  <a:pt x="3774958" y="1367020"/>
                  <a:pt x="3763568" y="1469787"/>
                </a:cubicBezTo>
                <a:lnTo>
                  <a:pt x="3758806" y="1520515"/>
                </a:lnTo>
                <a:lnTo>
                  <a:pt x="3760417" y="1549437"/>
                </a:lnTo>
                <a:cubicBezTo>
                  <a:pt x="3764298" y="1588133"/>
                  <a:pt x="3770171" y="1628243"/>
                  <a:pt x="3778601" y="1669683"/>
                </a:cubicBezTo>
                <a:cubicBezTo>
                  <a:pt x="3846039" y="2001203"/>
                  <a:pt x="3774784" y="2142285"/>
                  <a:pt x="3778601" y="2364982"/>
                </a:cubicBezTo>
                <a:lnTo>
                  <a:pt x="3776565" y="2406088"/>
                </a:lnTo>
                <a:lnTo>
                  <a:pt x="3778601" y="2427673"/>
                </a:lnTo>
                <a:cubicBezTo>
                  <a:pt x="3821357" y="2695960"/>
                  <a:pt x="3735684" y="2699438"/>
                  <a:pt x="3778601" y="2809517"/>
                </a:cubicBezTo>
                <a:cubicBezTo>
                  <a:pt x="3789330" y="2837037"/>
                  <a:pt x="3791666" y="2872927"/>
                  <a:pt x="3789892" y="2914654"/>
                </a:cubicBezTo>
                <a:lnTo>
                  <a:pt x="3784971" y="2966248"/>
                </a:lnTo>
                <a:lnTo>
                  <a:pt x="3796722" y="3024078"/>
                </a:lnTo>
                <a:cubicBezTo>
                  <a:pt x="3809238" y="3115139"/>
                  <a:pt x="3806232" y="3210898"/>
                  <a:pt x="3799338" y="3302850"/>
                </a:cubicBezTo>
                <a:lnTo>
                  <a:pt x="3787405" y="3438354"/>
                </a:lnTo>
                <a:lnTo>
                  <a:pt x="3790719" y="3460532"/>
                </a:lnTo>
                <a:cubicBezTo>
                  <a:pt x="3797323" y="3541872"/>
                  <a:pt x="3789007" y="3624193"/>
                  <a:pt x="3780361" y="3709762"/>
                </a:cubicBezTo>
                <a:lnTo>
                  <a:pt x="3780169" y="3712283"/>
                </a:lnTo>
                <a:lnTo>
                  <a:pt x="3781239" y="3768266"/>
                </a:lnTo>
                <a:cubicBezTo>
                  <a:pt x="3780994" y="3815588"/>
                  <a:pt x="3779902" y="3863939"/>
                  <a:pt x="3778794" y="3912511"/>
                </a:cubicBezTo>
                <a:lnTo>
                  <a:pt x="3776324" y="4054010"/>
                </a:lnTo>
                <a:lnTo>
                  <a:pt x="3778601" y="4074733"/>
                </a:lnTo>
                <a:cubicBezTo>
                  <a:pt x="3822365" y="4336760"/>
                  <a:pt x="3765189" y="4482586"/>
                  <a:pt x="3778601" y="4644650"/>
                </a:cubicBezTo>
                <a:cubicBezTo>
                  <a:pt x="3781954" y="4685166"/>
                  <a:pt x="3782850" y="4718916"/>
                  <a:pt x="3782504" y="4749344"/>
                </a:cubicBezTo>
                <a:lnTo>
                  <a:pt x="3780512" y="4796832"/>
                </a:lnTo>
                <a:lnTo>
                  <a:pt x="3786260" y="4877451"/>
                </a:lnTo>
                <a:cubicBezTo>
                  <a:pt x="3786165" y="4918212"/>
                  <a:pt x="3784020" y="4964155"/>
                  <a:pt x="3781623" y="5015963"/>
                </a:cubicBezTo>
                <a:lnTo>
                  <a:pt x="3779076" y="5087925"/>
                </a:lnTo>
                <a:lnTo>
                  <a:pt x="3779599" y="5155456"/>
                </a:lnTo>
                <a:lnTo>
                  <a:pt x="3775907" y="5219073"/>
                </a:lnTo>
                <a:lnTo>
                  <a:pt x="3778601" y="5402640"/>
                </a:lnTo>
                <a:cubicBezTo>
                  <a:pt x="3780494" y="5441637"/>
                  <a:pt x="3781680" y="5475146"/>
                  <a:pt x="3782335" y="5504141"/>
                </a:cubicBezTo>
                <a:lnTo>
                  <a:pt x="3782798" y="5566951"/>
                </a:lnTo>
                <a:lnTo>
                  <a:pt x="3786885" y="5599303"/>
                </a:lnTo>
                <a:cubicBezTo>
                  <a:pt x="3799534" y="5776838"/>
                  <a:pt x="3769350" y="6111156"/>
                  <a:pt x="3778601" y="6291711"/>
                </a:cubicBezTo>
                <a:cubicBezTo>
                  <a:pt x="3687392" y="6306733"/>
                  <a:pt x="3632350" y="6304889"/>
                  <a:pt x="3574752" y="6300212"/>
                </a:cubicBezTo>
                <a:lnTo>
                  <a:pt x="3545837" y="6297718"/>
                </a:lnTo>
                <a:lnTo>
                  <a:pt x="3527963" y="6296834"/>
                </a:lnTo>
                <a:cubicBezTo>
                  <a:pt x="3482151" y="6294419"/>
                  <a:pt x="3430025" y="6291672"/>
                  <a:pt x="3355561" y="6291711"/>
                </a:cubicBezTo>
                <a:cubicBezTo>
                  <a:pt x="3304843" y="6293555"/>
                  <a:pt x="3262749" y="6292377"/>
                  <a:pt x="3225711" y="6290098"/>
                </a:cubicBezTo>
                <a:lnTo>
                  <a:pt x="3218247" y="6289525"/>
                </a:lnTo>
                <a:lnTo>
                  <a:pt x="3198550" y="6289212"/>
                </a:lnTo>
                <a:cubicBezTo>
                  <a:pt x="3144315" y="6287803"/>
                  <a:pt x="3088976" y="6286105"/>
                  <a:pt x="3034921" y="6284968"/>
                </a:cubicBezTo>
                <a:lnTo>
                  <a:pt x="2973802" y="6284626"/>
                </a:lnTo>
                <a:lnTo>
                  <a:pt x="2932520" y="6291711"/>
                </a:lnTo>
                <a:cubicBezTo>
                  <a:pt x="2893699" y="6300111"/>
                  <a:pt x="2847670" y="6301992"/>
                  <a:pt x="2797581" y="6300669"/>
                </a:cubicBezTo>
                <a:lnTo>
                  <a:pt x="2672392" y="6292599"/>
                </a:lnTo>
                <a:lnTo>
                  <a:pt x="2629726" y="6293120"/>
                </a:lnTo>
                <a:lnTo>
                  <a:pt x="2540544" y="6284698"/>
                </a:lnTo>
                <a:lnTo>
                  <a:pt x="2473475" y="6280786"/>
                </a:lnTo>
                <a:cubicBezTo>
                  <a:pt x="2419724" y="6279900"/>
                  <a:pt x="2368202" y="6282437"/>
                  <a:pt x="2322057" y="6291711"/>
                </a:cubicBezTo>
                <a:cubicBezTo>
                  <a:pt x="2275912" y="6300985"/>
                  <a:pt x="2236301" y="6305003"/>
                  <a:pt x="2199195" y="6305968"/>
                </a:cubicBezTo>
                <a:lnTo>
                  <a:pt x="2094190" y="6302012"/>
                </a:lnTo>
                <a:lnTo>
                  <a:pt x="2029724" y="6307766"/>
                </a:lnTo>
                <a:cubicBezTo>
                  <a:pt x="1971866" y="6308389"/>
                  <a:pt x="1916420" y="6305265"/>
                  <a:pt x="1864312" y="6301339"/>
                </a:cubicBezTo>
                <a:lnTo>
                  <a:pt x="1761307" y="6293375"/>
                </a:lnTo>
                <a:lnTo>
                  <a:pt x="1745972" y="6293782"/>
                </a:lnTo>
                <a:cubicBezTo>
                  <a:pt x="1699734" y="6294177"/>
                  <a:pt x="1664143" y="6292827"/>
                  <a:pt x="1633352" y="6291083"/>
                </a:cubicBezTo>
                <a:lnTo>
                  <a:pt x="1621369" y="6290324"/>
                </a:lnTo>
                <a:lnTo>
                  <a:pt x="1599140" y="6291711"/>
                </a:lnTo>
                <a:cubicBezTo>
                  <a:pt x="1564093" y="6296354"/>
                  <a:pt x="1527169" y="6296254"/>
                  <a:pt x="1488567" y="6294097"/>
                </a:cubicBezTo>
                <a:lnTo>
                  <a:pt x="1429716" y="6289243"/>
                </a:lnTo>
                <a:lnTo>
                  <a:pt x="1401008" y="6291711"/>
                </a:lnTo>
                <a:cubicBezTo>
                  <a:pt x="1314301" y="6301163"/>
                  <a:pt x="1222976" y="6299856"/>
                  <a:pt x="1127367" y="6296839"/>
                </a:cubicBezTo>
                <a:lnTo>
                  <a:pt x="1062601" y="6295730"/>
                </a:lnTo>
                <a:lnTo>
                  <a:pt x="964991" y="6305909"/>
                </a:lnTo>
                <a:cubicBezTo>
                  <a:pt x="833250" y="6307778"/>
                  <a:pt x="714190" y="6280255"/>
                  <a:pt x="603122" y="6291711"/>
                </a:cubicBezTo>
                <a:cubicBezTo>
                  <a:pt x="455032" y="6306986"/>
                  <a:pt x="261206" y="6260346"/>
                  <a:pt x="30143" y="6291711"/>
                </a:cubicBezTo>
                <a:cubicBezTo>
                  <a:pt x="-1198" y="6167281"/>
                  <a:pt x="7291" y="6044138"/>
                  <a:pt x="19371" y="5934598"/>
                </a:cubicBezTo>
                <a:lnTo>
                  <a:pt x="33559" y="5801663"/>
                </a:lnTo>
                <a:lnTo>
                  <a:pt x="30143" y="5784485"/>
                </a:lnTo>
                <a:cubicBezTo>
                  <a:pt x="7257" y="5691455"/>
                  <a:pt x="7506" y="5585492"/>
                  <a:pt x="13352" y="5476692"/>
                </a:cubicBezTo>
                <a:lnTo>
                  <a:pt x="21882" y="5346809"/>
                </a:lnTo>
                <a:lnTo>
                  <a:pt x="22064" y="5339439"/>
                </a:lnTo>
                <a:lnTo>
                  <a:pt x="29601" y="5166357"/>
                </a:lnTo>
                <a:lnTo>
                  <a:pt x="30143" y="5151877"/>
                </a:lnTo>
                <a:cubicBezTo>
                  <a:pt x="30018" y="5125783"/>
                  <a:pt x="30111" y="5102484"/>
                  <a:pt x="30346" y="5081409"/>
                </a:cubicBezTo>
                <a:lnTo>
                  <a:pt x="30433" y="5076663"/>
                </a:lnTo>
                <a:lnTo>
                  <a:pt x="30143" y="4963804"/>
                </a:lnTo>
                <a:cubicBezTo>
                  <a:pt x="27040" y="4910138"/>
                  <a:pt x="27067" y="4856021"/>
                  <a:pt x="28459" y="4800989"/>
                </a:cubicBezTo>
                <a:lnTo>
                  <a:pt x="30399" y="4750796"/>
                </a:lnTo>
                <a:lnTo>
                  <a:pt x="31514" y="4666872"/>
                </a:lnTo>
                <a:lnTo>
                  <a:pt x="34697" y="4639551"/>
                </a:lnTo>
                <a:lnTo>
                  <a:pt x="34963" y="4632686"/>
                </a:lnTo>
                <a:cubicBezTo>
                  <a:pt x="37318" y="4575362"/>
                  <a:pt x="39271" y="4516661"/>
                  <a:pt x="39056" y="4456118"/>
                </a:cubicBezTo>
                <a:lnTo>
                  <a:pt x="36996" y="4412759"/>
                </a:lnTo>
                <a:lnTo>
                  <a:pt x="30143" y="4388188"/>
                </a:lnTo>
                <a:cubicBezTo>
                  <a:pt x="7389" y="4328002"/>
                  <a:pt x="11492" y="4256950"/>
                  <a:pt x="19232" y="4188739"/>
                </a:cubicBezTo>
                <a:lnTo>
                  <a:pt x="23985" y="4147809"/>
                </a:lnTo>
                <a:lnTo>
                  <a:pt x="23690" y="4087290"/>
                </a:lnTo>
                <a:lnTo>
                  <a:pt x="29097" y="3984687"/>
                </a:lnTo>
                <a:lnTo>
                  <a:pt x="28035" y="3962690"/>
                </a:lnTo>
                <a:cubicBezTo>
                  <a:pt x="28525" y="3945828"/>
                  <a:pt x="30052" y="3926691"/>
                  <a:pt x="32148" y="3905387"/>
                </a:cubicBezTo>
                <a:lnTo>
                  <a:pt x="34754" y="3881032"/>
                </a:lnTo>
                <a:lnTo>
                  <a:pt x="39206" y="3802233"/>
                </a:lnTo>
                <a:cubicBezTo>
                  <a:pt x="39778" y="3763353"/>
                  <a:pt x="37619" y="3728800"/>
                  <a:pt x="30143" y="3698588"/>
                </a:cubicBezTo>
                <a:cubicBezTo>
                  <a:pt x="7714" y="3607954"/>
                  <a:pt x="33117" y="3482508"/>
                  <a:pt x="36579" y="3365983"/>
                </a:cubicBezTo>
                <a:lnTo>
                  <a:pt x="36510" y="3356621"/>
                </a:lnTo>
                <a:lnTo>
                  <a:pt x="30143" y="3311044"/>
                </a:lnTo>
                <a:cubicBezTo>
                  <a:pt x="14271" y="3224157"/>
                  <a:pt x="11445" y="3149243"/>
                  <a:pt x="14856" y="3082749"/>
                </a:cubicBezTo>
                <a:lnTo>
                  <a:pt x="22229" y="3005366"/>
                </a:lnTo>
                <a:lnTo>
                  <a:pt x="27244" y="2895198"/>
                </a:lnTo>
                <a:cubicBezTo>
                  <a:pt x="29143" y="2848776"/>
                  <a:pt x="30527" y="2799531"/>
                  <a:pt x="30143" y="2746826"/>
                </a:cubicBezTo>
                <a:lnTo>
                  <a:pt x="36784" y="2638240"/>
                </a:lnTo>
                <a:lnTo>
                  <a:pt x="30143" y="2615745"/>
                </a:lnTo>
                <a:cubicBezTo>
                  <a:pt x="-20952" y="2495890"/>
                  <a:pt x="17898" y="2340273"/>
                  <a:pt x="37923" y="2201958"/>
                </a:cubicBezTo>
                <a:lnTo>
                  <a:pt x="42734" y="2158379"/>
                </a:lnTo>
                <a:lnTo>
                  <a:pt x="30143" y="2114218"/>
                </a:lnTo>
                <a:cubicBezTo>
                  <a:pt x="2269" y="2040950"/>
                  <a:pt x="-2735" y="1972014"/>
                  <a:pt x="1162" y="1906697"/>
                </a:cubicBezTo>
                <a:lnTo>
                  <a:pt x="6289" y="1854885"/>
                </a:lnTo>
                <a:lnTo>
                  <a:pt x="8053" y="1809168"/>
                </a:lnTo>
                <a:cubicBezTo>
                  <a:pt x="9832" y="1790244"/>
                  <a:pt x="12470" y="1771472"/>
                  <a:pt x="15415" y="1752867"/>
                </a:cubicBezTo>
                <a:lnTo>
                  <a:pt x="30925" y="1652561"/>
                </a:lnTo>
                <a:lnTo>
                  <a:pt x="30143" y="1606992"/>
                </a:lnTo>
                <a:cubicBezTo>
                  <a:pt x="28397" y="1588584"/>
                  <a:pt x="27931" y="1568665"/>
                  <a:pt x="28348" y="1547550"/>
                </a:cubicBezTo>
                <a:lnTo>
                  <a:pt x="29206" y="1531212"/>
                </a:lnTo>
                <a:lnTo>
                  <a:pt x="23637" y="1487282"/>
                </a:lnTo>
                <a:cubicBezTo>
                  <a:pt x="16479" y="1367166"/>
                  <a:pt x="59638" y="1246041"/>
                  <a:pt x="30143" y="1156757"/>
                </a:cubicBezTo>
                <a:cubicBezTo>
                  <a:pt x="21716" y="1131248"/>
                  <a:pt x="18318" y="1090735"/>
                  <a:pt x="17757" y="1041370"/>
                </a:cubicBezTo>
                <a:lnTo>
                  <a:pt x="18463" y="985697"/>
                </a:lnTo>
                <a:lnTo>
                  <a:pt x="16239" y="975915"/>
                </a:lnTo>
                <a:cubicBezTo>
                  <a:pt x="13541" y="957312"/>
                  <a:pt x="12597" y="940330"/>
                  <a:pt x="12862" y="924477"/>
                </a:cubicBezTo>
                <a:lnTo>
                  <a:pt x="23640" y="845857"/>
                </a:lnTo>
                <a:lnTo>
                  <a:pt x="30907" y="688163"/>
                </a:lnTo>
                <a:lnTo>
                  <a:pt x="31375" y="662715"/>
                </a:lnTo>
                <a:lnTo>
                  <a:pt x="30143" y="655230"/>
                </a:lnTo>
                <a:cubicBezTo>
                  <a:pt x="20345" y="615334"/>
                  <a:pt x="17924" y="569960"/>
                  <a:pt x="19185" y="520814"/>
                </a:cubicBezTo>
                <a:lnTo>
                  <a:pt x="26662" y="415314"/>
                </a:lnTo>
                <a:lnTo>
                  <a:pt x="25635" y="383217"/>
                </a:lnTo>
                <a:cubicBezTo>
                  <a:pt x="25461" y="243905"/>
                  <a:pt x="35455" y="113017"/>
                  <a:pt x="30143" y="22622"/>
                </a:cubicBezTo>
                <a:cubicBezTo>
                  <a:pt x="90096" y="13526"/>
                  <a:pt x="146841" y="12585"/>
                  <a:pt x="200495" y="15390"/>
                </a:cubicBezTo>
                <a:lnTo>
                  <a:pt x="324102" y="27794"/>
                </a:lnTo>
                <a:lnTo>
                  <a:pt x="329634" y="27979"/>
                </a:lnTo>
                <a:cubicBezTo>
                  <a:pt x="398332" y="30204"/>
                  <a:pt x="468106" y="31425"/>
                  <a:pt x="551798" y="27886"/>
                </a:cubicBezTo>
                <a:lnTo>
                  <a:pt x="592464" y="25476"/>
                </a:lnTo>
                <a:lnTo>
                  <a:pt x="603122" y="22622"/>
                </a:lnTo>
                <a:cubicBezTo>
                  <a:pt x="639294" y="8191"/>
                  <a:pt x="679641" y="1916"/>
                  <a:pt x="723201" y="386"/>
                </a:cubicBezTo>
                <a:close/>
              </a:path>
            </a:pathLst>
          </a:custGeom>
        </p:spPr>
      </p:pic>
      <p:sp>
        <p:nvSpPr>
          <p:cNvPr id="3" name="Content Placeholder 2"/>
          <p:cNvSpPr>
            <a:spLocks noGrp="1"/>
          </p:cNvSpPr>
          <p:nvPr>
            <p:ph idx="1"/>
          </p:nvPr>
        </p:nvSpPr>
        <p:spPr>
          <a:xfrm>
            <a:off x="4905955" y="2071316"/>
            <a:ext cx="6713552" cy="4114800"/>
          </a:xfrm>
        </p:spPr>
        <p:txBody>
          <a:bodyPr anchor="t">
            <a:normAutofit/>
          </a:bodyPr>
          <a:lstStyle/>
          <a:p>
            <a:r>
              <a:rPr lang="en-US" sz="3000" dirty="0"/>
              <a:t>The Central Intelligence Agency (CIA) is a US civilian intelligence organization</a:t>
            </a:r>
          </a:p>
          <a:p>
            <a:r>
              <a:rPr lang="en-US" sz="3000" dirty="0"/>
              <a:t>Primary purpose is to collect information about foreign governments, corporations, and individuals</a:t>
            </a:r>
          </a:p>
          <a:p>
            <a:r>
              <a:rPr lang="en-US" sz="3000" dirty="0"/>
              <a:t>It uses this information to influence public policymakers</a:t>
            </a:r>
          </a:p>
          <a:p>
            <a:pPr lvl="1"/>
            <a:r>
              <a:rPr lang="en-US" sz="3000" dirty="0"/>
              <a:t>It does at times engage in tactical operations as well</a:t>
            </a:r>
          </a:p>
          <a:p>
            <a:pPr lvl="1"/>
            <a:endParaRPr lang="en-US" sz="2200" dirty="0"/>
          </a:p>
        </p:txBody>
      </p:sp>
      <p:sp>
        <p:nvSpPr>
          <p:cNvPr id="4" name="Slide Number Placeholder 3">
            <a:extLst>
              <a:ext uri="{FF2B5EF4-FFF2-40B4-BE49-F238E27FC236}">
                <a16:creationId xmlns:a16="http://schemas.microsoft.com/office/drawing/2014/main" id="{711257C0-9244-3366-A739-3A6B616018E5}"/>
              </a:ext>
            </a:extLst>
          </p:cNvPr>
          <p:cNvSpPr>
            <a:spLocks noGrp="1"/>
          </p:cNvSpPr>
          <p:nvPr>
            <p:ph type="sldNum" sz="quarter" idx="12"/>
          </p:nvPr>
        </p:nvSpPr>
        <p:spPr/>
        <p:txBody>
          <a:bodyPr/>
          <a:lstStyle/>
          <a:p>
            <a:fld id="{7DF6DEEC-D04A-4FF0-9A08-7D39859C24F4}" type="slidenum">
              <a:rPr lang="en-US" smtClean="0"/>
              <a:t>23</a:t>
            </a:fld>
            <a:endParaRPr lang="en-US"/>
          </a:p>
        </p:txBody>
      </p:sp>
    </p:spTree>
    <p:extLst>
      <p:ext uri="{BB962C8B-B14F-4D97-AF65-F5344CB8AC3E}">
        <p14:creationId xmlns:p14="http://schemas.microsoft.com/office/powerpoint/2010/main" val="2706794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6D37EE4-EA1B-46EE-A54B-5233C63C96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72493" y="238539"/>
            <a:ext cx="11047013" cy="1434415"/>
          </a:xfrm>
        </p:spPr>
        <p:txBody>
          <a:bodyPr anchor="b">
            <a:normAutofit/>
          </a:bodyPr>
          <a:lstStyle/>
          <a:p>
            <a:r>
              <a:rPr lang="en-US" sz="5400" dirty="0"/>
              <a:t>Security</a:t>
            </a:r>
          </a:p>
        </p:txBody>
      </p:sp>
      <p:sp>
        <p:nvSpPr>
          <p:cNvPr id="19" name="sketch line">
            <a:extLst>
              <a:ext uri="{FF2B5EF4-FFF2-40B4-BE49-F238E27FC236}">
                <a16:creationId xmlns:a16="http://schemas.microsoft.com/office/drawing/2014/main" id="{927D5270-6648-4CC1-8F78-48BE299CA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767709"/>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p:cNvPicPr>
            <a:picLocks noChangeAspect="1"/>
          </p:cNvPicPr>
          <p:nvPr/>
        </p:nvPicPr>
        <p:blipFill rotWithShape="1">
          <a:blip r:embed="rId2"/>
          <a:srcRect l="4045" r="1698" b="3"/>
          <a:stretch/>
        </p:blipFill>
        <p:spPr>
          <a:xfrm>
            <a:off x="572492" y="2002056"/>
            <a:ext cx="3943849" cy="4184060"/>
          </a:xfrm>
          <a:custGeom>
            <a:avLst/>
            <a:gdLst/>
            <a:ahLst/>
            <a:cxnLst/>
            <a:rect l="l" t="t" r="r" b="b"/>
            <a:pathLst>
              <a:path w="3807743" h="6307845">
                <a:moveTo>
                  <a:pt x="723201" y="386"/>
                </a:moveTo>
                <a:cubicBezTo>
                  <a:pt x="853884" y="-4204"/>
                  <a:pt x="1013493" y="33912"/>
                  <a:pt x="1176100" y="22622"/>
                </a:cubicBezTo>
                <a:cubicBezTo>
                  <a:pt x="1230302" y="18859"/>
                  <a:pt x="1281736" y="20622"/>
                  <a:pt x="1331852" y="24473"/>
                </a:cubicBezTo>
                <a:lnTo>
                  <a:pt x="1439547" y="34944"/>
                </a:lnTo>
                <a:lnTo>
                  <a:pt x="1484197" y="36226"/>
                </a:lnTo>
                <a:cubicBezTo>
                  <a:pt x="1535166" y="35421"/>
                  <a:pt x="1586369" y="31625"/>
                  <a:pt x="1636625" y="22622"/>
                </a:cubicBezTo>
                <a:cubicBezTo>
                  <a:pt x="1686882" y="13619"/>
                  <a:pt x="1729837" y="10653"/>
                  <a:pt x="1768740" y="10885"/>
                </a:cubicBezTo>
                <a:lnTo>
                  <a:pt x="1829538" y="15086"/>
                </a:lnTo>
                <a:lnTo>
                  <a:pt x="1869968" y="7996"/>
                </a:lnTo>
                <a:cubicBezTo>
                  <a:pt x="1953577" y="-31"/>
                  <a:pt x="2036989" y="9808"/>
                  <a:pt x="2112925" y="20118"/>
                </a:cubicBezTo>
                <a:lnTo>
                  <a:pt x="2119331" y="20977"/>
                </a:lnTo>
                <a:lnTo>
                  <a:pt x="2221855" y="13374"/>
                </a:lnTo>
                <a:cubicBezTo>
                  <a:pt x="2261207" y="12845"/>
                  <a:pt x="2298379" y="14359"/>
                  <a:pt x="2333484" y="16393"/>
                </a:cubicBezTo>
                <a:lnTo>
                  <a:pt x="2372613" y="18812"/>
                </a:lnTo>
                <a:lnTo>
                  <a:pt x="2404945" y="9387"/>
                </a:lnTo>
                <a:cubicBezTo>
                  <a:pt x="2452532" y="1754"/>
                  <a:pt x="2506192" y="9333"/>
                  <a:pt x="2561622" y="17814"/>
                </a:cubicBezTo>
                <a:lnTo>
                  <a:pt x="2583950" y="20591"/>
                </a:lnTo>
                <a:lnTo>
                  <a:pt x="2643527" y="20319"/>
                </a:lnTo>
                <a:cubicBezTo>
                  <a:pt x="2669677" y="20426"/>
                  <a:pt x="2697963" y="20717"/>
                  <a:pt x="2727392" y="21103"/>
                </a:cubicBezTo>
                <a:lnTo>
                  <a:pt x="2786908" y="21989"/>
                </a:lnTo>
                <a:lnTo>
                  <a:pt x="2846459" y="13267"/>
                </a:lnTo>
                <a:cubicBezTo>
                  <a:pt x="2896401" y="10176"/>
                  <a:pt x="2960607" y="12733"/>
                  <a:pt x="3036361" y="17072"/>
                </a:cubicBezTo>
                <a:lnTo>
                  <a:pt x="3129100" y="22671"/>
                </a:lnTo>
                <a:lnTo>
                  <a:pt x="3130653" y="22622"/>
                </a:lnTo>
                <a:cubicBezTo>
                  <a:pt x="3178874" y="19804"/>
                  <a:pt x="3260845" y="26231"/>
                  <a:pt x="3352422" y="32691"/>
                </a:cubicBezTo>
                <a:lnTo>
                  <a:pt x="3362608" y="33356"/>
                </a:lnTo>
                <a:lnTo>
                  <a:pt x="3446036" y="35579"/>
                </a:lnTo>
                <a:cubicBezTo>
                  <a:pt x="3550323" y="36566"/>
                  <a:pt x="3662083" y="33535"/>
                  <a:pt x="3778601" y="22622"/>
                </a:cubicBezTo>
                <a:cubicBezTo>
                  <a:pt x="3793981" y="243672"/>
                  <a:pt x="3764152" y="318695"/>
                  <a:pt x="3778601" y="467157"/>
                </a:cubicBezTo>
                <a:cubicBezTo>
                  <a:pt x="3790077" y="557563"/>
                  <a:pt x="3783697" y="684218"/>
                  <a:pt x="3777639" y="811856"/>
                </a:cubicBezTo>
                <a:lnTo>
                  <a:pt x="3773760" y="922625"/>
                </a:lnTo>
                <a:lnTo>
                  <a:pt x="3778601" y="974384"/>
                </a:lnTo>
                <a:cubicBezTo>
                  <a:pt x="3785784" y="1003717"/>
                  <a:pt x="3785160" y="1041120"/>
                  <a:pt x="3781239" y="1085904"/>
                </a:cubicBezTo>
                <a:lnTo>
                  <a:pt x="3776107" y="1132519"/>
                </a:lnTo>
                <a:lnTo>
                  <a:pt x="3778601" y="1162456"/>
                </a:lnTo>
                <a:cubicBezTo>
                  <a:pt x="3791360" y="1256797"/>
                  <a:pt x="3774958" y="1367020"/>
                  <a:pt x="3763568" y="1469787"/>
                </a:cubicBezTo>
                <a:lnTo>
                  <a:pt x="3758806" y="1520515"/>
                </a:lnTo>
                <a:lnTo>
                  <a:pt x="3760417" y="1549437"/>
                </a:lnTo>
                <a:cubicBezTo>
                  <a:pt x="3764298" y="1588133"/>
                  <a:pt x="3770171" y="1628243"/>
                  <a:pt x="3778601" y="1669683"/>
                </a:cubicBezTo>
                <a:cubicBezTo>
                  <a:pt x="3846039" y="2001203"/>
                  <a:pt x="3774784" y="2142285"/>
                  <a:pt x="3778601" y="2364982"/>
                </a:cubicBezTo>
                <a:lnTo>
                  <a:pt x="3776565" y="2406088"/>
                </a:lnTo>
                <a:lnTo>
                  <a:pt x="3778601" y="2427673"/>
                </a:lnTo>
                <a:cubicBezTo>
                  <a:pt x="3821357" y="2695960"/>
                  <a:pt x="3735684" y="2699438"/>
                  <a:pt x="3778601" y="2809517"/>
                </a:cubicBezTo>
                <a:cubicBezTo>
                  <a:pt x="3789330" y="2837037"/>
                  <a:pt x="3791666" y="2872927"/>
                  <a:pt x="3789892" y="2914654"/>
                </a:cubicBezTo>
                <a:lnTo>
                  <a:pt x="3784971" y="2966248"/>
                </a:lnTo>
                <a:lnTo>
                  <a:pt x="3796722" y="3024078"/>
                </a:lnTo>
                <a:cubicBezTo>
                  <a:pt x="3809238" y="3115139"/>
                  <a:pt x="3806232" y="3210898"/>
                  <a:pt x="3799338" y="3302850"/>
                </a:cubicBezTo>
                <a:lnTo>
                  <a:pt x="3787405" y="3438354"/>
                </a:lnTo>
                <a:lnTo>
                  <a:pt x="3790719" y="3460532"/>
                </a:lnTo>
                <a:cubicBezTo>
                  <a:pt x="3797323" y="3541872"/>
                  <a:pt x="3789007" y="3624193"/>
                  <a:pt x="3780361" y="3709762"/>
                </a:cubicBezTo>
                <a:lnTo>
                  <a:pt x="3780169" y="3712283"/>
                </a:lnTo>
                <a:lnTo>
                  <a:pt x="3781239" y="3768266"/>
                </a:lnTo>
                <a:cubicBezTo>
                  <a:pt x="3780994" y="3815588"/>
                  <a:pt x="3779902" y="3863939"/>
                  <a:pt x="3778794" y="3912511"/>
                </a:cubicBezTo>
                <a:lnTo>
                  <a:pt x="3776324" y="4054010"/>
                </a:lnTo>
                <a:lnTo>
                  <a:pt x="3778601" y="4074733"/>
                </a:lnTo>
                <a:cubicBezTo>
                  <a:pt x="3822365" y="4336760"/>
                  <a:pt x="3765189" y="4482586"/>
                  <a:pt x="3778601" y="4644650"/>
                </a:cubicBezTo>
                <a:cubicBezTo>
                  <a:pt x="3781954" y="4685166"/>
                  <a:pt x="3782850" y="4718916"/>
                  <a:pt x="3782504" y="4749344"/>
                </a:cubicBezTo>
                <a:lnTo>
                  <a:pt x="3780512" y="4796832"/>
                </a:lnTo>
                <a:lnTo>
                  <a:pt x="3786260" y="4877451"/>
                </a:lnTo>
                <a:cubicBezTo>
                  <a:pt x="3786165" y="4918212"/>
                  <a:pt x="3784020" y="4964155"/>
                  <a:pt x="3781623" y="5015963"/>
                </a:cubicBezTo>
                <a:lnTo>
                  <a:pt x="3779076" y="5087925"/>
                </a:lnTo>
                <a:lnTo>
                  <a:pt x="3779599" y="5155456"/>
                </a:lnTo>
                <a:lnTo>
                  <a:pt x="3775907" y="5219073"/>
                </a:lnTo>
                <a:lnTo>
                  <a:pt x="3778601" y="5402640"/>
                </a:lnTo>
                <a:cubicBezTo>
                  <a:pt x="3780494" y="5441637"/>
                  <a:pt x="3781680" y="5475146"/>
                  <a:pt x="3782335" y="5504141"/>
                </a:cubicBezTo>
                <a:lnTo>
                  <a:pt x="3782798" y="5566951"/>
                </a:lnTo>
                <a:lnTo>
                  <a:pt x="3786885" y="5599303"/>
                </a:lnTo>
                <a:cubicBezTo>
                  <a:pt x="3799534" y="5776838"/>
                  <a:pt x="3769350" y="6111156"/>
                  <a:pt x="3778601" y="6291711"/>
                </a:cubicBezTo>
                <a:cubicBezTo>
                  <a:pt x="3687392" y="6306733"/>
                  <a:pt x="3632350" y="6304889"/>
                  <a:pt x="3574752" y="6300212"/>
                </a:cubicBezTo>
                <a:lnTo>
                  <a:pt x="3545837" y="6297718"/>
                </a:lnTo>
                <a:lnTo>
                  <a:pt x="3527963" y="6296834"/>
                </a:lnTo>
                <a:cubicBezTo>
                  <a:pt x="3482151" y="6294419"/>
                  <a:pt x="3430025" y="6291672"/>
                  <a:pt x="3355561" y="6291711"/>
                </a:cubicBezTo>
                <a:cubicBezTo>
                  <a:pt x="3304843" y="6293555"/>
                  <a:pt x="3262749" y="6292377"/>
                  <a:pt x="3225711" y="6290098"/>
                </a:cubicBezTo>
                <a:lnTo>
                  <a:pt x="3218247" y="6289525"/>
                </a:lnTo>
                <a:lnTo>
                  <a:pt x="3198550" y="6289212"/>
                </a:lnTo>
                <a:cubicBezTo>
                  <a:pt x="3144315" y="6287803"/>
                  <a:pt x="3088976" y="6286105"/>
                  <a:pt x="3034921" y="6284968"/>
                </a:cubicBezTo>
                <a:lnTo>
                  <a:pt x="2973802" y="6284626"/>
                </a:lnTo>
                <a:lnTo>
                  <a:pt x="2932520" y="6291711"/>
                </a:lnTo>
                <a:cubicBezTo>
                  <a:pt x="2893699" y="6300111"/>
                  <a:pt x="2847670" y="6301992"/>
                  <a:pt x="2797581" y="6300669"/>
                </a:cubicBezTo>
                <a:lnTo>
                  <a:pt x="2672392" y="6292599"/>
                </a:lnTo>
                <a:lnTo>
                  <a:pt x="2629726" y="6293120"/>
                </a:lnTo>
                <a:lnTo>
                  <a:pt x="2540544" y="6284698"/>
                </a:lnTo>
                <a:lnTo>
                  <a:pt x="2473475" y="6280786"/>
                </a:lnTo>
                <a:cubicBezTo>
                  <a:pt x="2419724" y="6279900"/>
                  <a:pt x="2368202" y="6282437"/>
                  <a:pt x="2322057" y="6291711"/>
                </a:cubicBezTo>
                <a:cubicBezTo>
                  <a:pt x="2275912" y="6300985"/>
                  <a:pt x="2236301" y="6305003"/>
                  <a:pt x="2199195" y="6305968"/>
                </a:cubicBezTo>
                <a:lnTo>
                  <a:pt x="2094190" y="6302012"/>
                </a:lnTo>
                <a:lnTo>
                  <a:pt x="2029724" y="6307766"/>
                </a:lnTo>
                <a:cubicBezTo>
                  <a:pt x="1971866" y="6308389"/>
                  <a:pt x="1916420" y="6305265"/>
                  <a:pt x="1864312" y="6301339"/>
                </a:cubicBezTo>
                <a:lnTo>
                  <a:pt x="1761307" y="6293375"/>
                </a:lnTo>
                <a:lnTo>
                  <a:pt x="1745972" y="6293782"/>
                </a:lnTo>
                <a:cubicBezTo>
                  <a:pt x="1699734" y="6294177"/>
                  <a:pt x="1664143" y="6292827"/>
                  <a:pt x="1633352" y="6291083"/>
                </a:cubicBezTo>
                <a:lnTo>
                  <a:pt x="1621369" y="6290324"/>
                </a:lnTo>
                <a:lnTo>
                  <a:pt x="1599140" y="6291711"/>
                </a:lnTo>
                <a:cubicBezTo>
                  <a:pt x="1564093" y="6296354"/>
                  <a:pt x="1527169" y="6296254"/>
                  <a:pt x="1488567" y="6294097"/>
                </a:cubicBezTo>
                <a:lnTo>
                  <a:pt x="1429716" y="6289243"/>
                </a:lnTo>
                <a:lnTo>
                  <a:pt x="1401008" y="6291711"/>
                </a:lnTo>
                <a:cubicBezTo>
                  <a:pt x="1314301" y="6301163"/>
                  <a:pt x="1222976" y="6299856"/>
                  <a:pt x="1127367" y="6296839"/>
                </a:cubicBezTo>
                <a:lnTo>
                  <a:pt x="1062601" y="6295730"/>
                </a:lnTo>
                <a:lnTo>
                  <a:pt x="964991" y="6305909"/>
                </a:lnTo>
                <a:cubicBezTo>
                  <a:pt x="833250" y="6307778"/>
                  <a:pt x="714190" y="6280255"/>
                  <a:pt x="603122" y="6291711"/>
                </a:cubicBezTo>
                <a:cubicBezTo>
                  <a:pt x="455032" y="6306986"/>
                  <a:pt x="261206" y="6260346"/>
                  <a:pt x="30143" y="6291711"/>
                </a:cubicBezTo>
                <a:cubicBezTo>
                  <a:pt x="-1198" y="6167281"/>
                  <a:pt x="7291" y="6044138"/>
                  <a:pt x="19371" y="5934598"/>
                </a:cubicBezTo>
                <a:lnTo>
                  <a:pt x="33559" y="5801663"/>
                </a:lnTo>
                <a:lnTo>
                  <a:pt x="30143" y="5784485"/>
                </a:lnTo>
                <a:cubicBezTo>
                  <a:pt x="7257" y="5691455"/>
                  <a:pt x="7506" y="5585492"/>
                  <a:pt x="13352" y="5476692"/>
                </a:cubicBezTo>
                <a:lnTo>
                  <a:pt x="21882" y="5346809"/>
                </a:lnTo>
                <a:lnTo>
                  <a:pt x="22064" y="5339439"/>
                </a:lnTo>
                <a:lnTo>
                  <a:pt x="29601" y="5166357"/>
                </a:lnTo>
                <a:lnTo>
                  <a:pt x="30143" y="5151877"/>
                </a:lnTo>
                <a:cubicBezTo>
                  <a:pt x="30018" y="5125783"/>
                  <a:pt x="30111" y="5102484"/>
                  <a:pt x="30346" y="5081409"/>
                </a:cubicBezTo>
                <a:lnTo>
                  <a:pt x="30433" y="5076663"/>
                </a:lnTo>
                <a:lnTo>
                  <a:pt x="30143" y="4963804"/>
                </a:lnTo>
                <a:cubicBezTo>
                  <a:pt x="27040" y="4910138"/>
                  <a:pt x="27067" y="4856021"/>
                  <a:pt x="28459" y="4800989"/>
                </a:cubicBezTo>
                <a:lnTo>
                  <a:pt x="30399" y="4750796"/>
                </a:lnTo>
                <a:lnTo>
                  <a:pt x="31514" y="4666872"/>
                </a:lnTo>
                <a:lnTo>
                  <a:pt x="34697" y="4639551"/>
                </a:lnTo>
                <a:lnTo>
                  <a:pt x="34963" y="4632686"/>
                </a:lnTo>
                <a:cubicBezTo>
                  <a:pt x="37318" y="4575362"/>
                  <a:pt x="39271" y="4516661"/>
                  <a:pt x="39056" y="4456118"/>
                </a:cubicBezTo>
                <a:lnTo>
                  <a:pt x="36996" y="4412759"/>
                </a:lnTo>
                <a:lnTo>
                  <a:pt x="30143" y="4388188"/>
                </a:lnTo>
                <a:cubicBezTo>
                  <a:pt x="7389" y="4328002"/>
                  <a:pt x="11492" y="4256950"/>
                  <a:pt x="19232" y="4188739"/>
                </a:cubicBezTo>
                <a:lnTo>
                  <a:pt x="23985" y="4147809"/>
                </a:lnTo>
                <a:lnTo>
                  <a:pt x="23690" y="4087290"/>
                </a:lnTo>
                <a:lnTo>
                  <a:pt x="29097" y="3984687"/>
                </a:lnTo>
                <a:lnTo>
                  <a:pt x="28035" y="3962690"/>
                </a:lnTo>
                <a:cubicBezTo>
                  <a:pt x="28525" y="3945828"/>
                  <a:pt x="30052" y="3926691"/>
                  <a:pt x="32148" y="3905387"/>
                </a:cubicBezTo>
                <a:lnTo>
                  <a:pt x="34754" y="3881032"/>
                </a:lnTo>
                <a:lnTo>
                  <a:pt x="39206" y="3802233"/>
                </a:lnTo>
                <a:cubicBezTo>
                  <a:pt x="39778" y="3763353"/>
                  <a:pt x="37619" y="3728800"/>
                  <a:pt x="30143" y="3698588"/>
                </a:cubicBezTo>
                <a:cubicBezTo>
                  <a:pt x="7714" y="3607954"/>
                  <a:pt x="33117" y="3482508"/>
                  <a:pt x="36579" y="3365983"/>
                </a:cubicBezTo>
                <a:lnTo>
                  <a:pt x="36510" y="3356621"/>
                </a:lnTo>
                <a:lnTo>
                  <a:pt x="30143" y="3311044"/>
                </a:lnTo>
                <a:cubicBezTo>
                  <a:pt x="14271" y="3224157"/>
                  <a:pt x="11445" y="3149243"/>
                  <a:pt x="14856" y="3082749"/>
                </a:cubicBezTo>
                <a:lnTo>
                  <a:pt x="22229" y="3005366"/>
                </a:lnTo>
                <a:lnTo>
                  <a:pt x="27244" y="2895198"/>
                </a:lnTo>
                <a:cubicBezTo>
                  <a:pt x="29143" y="2848776"/>
                  <a:pt x="30527" y="2799531"/>
                  <a:pt x="30143" y="2746826"/>
                </a:cubicBezTo>
                <a:lnTo>
                  <a:pt x="36784" y="2638240"/>
                </a:lnTo>
                <a:lnTo>
                  <a:pt x="30143" y="2615745"/>
                </a:lnTo>
                <a:cubicBezTo>
                  <a:pt x="-20952" y="2495890"/>
                  <a:pt x="17898" y="2340273"/>
                  <a:pt x="37923" y="2201958"/>
                </a:cubicBezTo>
                <a:lnTo>
                  <a:pt x="42734" y="2158379"/>
                </a:lnTo>
                <a:lnTo>
                  <a:pt x="30143" y="2114218"/>
                </a:lnTo>
                <a:cubicBezTo>
                  <a:pt x="2269" y="2040950"/>
                  <a:pt x="-2735" y="1972014"/>
                  <a:pt x="1162" y="1906697"/>
                </a:cubicBezTo>
                <a:lnTo>
                  <a:pt x="6289" y="1854885"/>
                </a:lnTo>
                <a:lnTo>
                  <a:pt x="8053" y="1809168"/>
                </a:lnTo>
                <a:cubicBezTo>
                  <a:pt x="9832" y="1790244"/>
                  <a:pt x="12470" y="1771472"/>
                  <a:pt x="15415" y="1752867"/>
                </a:cubicBezTo>
                <a:lnTo>
                  <a:pt x="30925" y="1652561"/>
                </a:lnTo>
                <a:lnTo>
                  <a:pt x="30143" y="1606992"/>
                </a:lnTo>
                <a:cubicBezTo>
                  <a:pt x="28397" y="1588584"/>
                  <a:pt x="27931" y="1568665"/>
                  <a:pt x="28348" y="1547550"/>
                </a:cubicBezTo>
                <a:lnTo>
                  <a:pt x="29206" y="1531212"/>
                </a:lnTo>
                <a:lnTo>
                  <a:pt x="23637" y="1487282"/>
                </a:lnTo>
                <a:cubicBezTo>
                  <a:pt x="16479" y="1367166"/>
                  <a:pt x="59638" y="1246041"/>
                  <a:pt x="30143" y="1156757"/>
                </a:cubicBezTo>
                <a:cubicBezTo>
                  <a:pt x="21716" y="1131248"/>
                  <a:pt x="18318" y="1090735"/>
                  <a:pt x="17757" y="1041370"/>
                </a:cubicBezTo>
                <a:lnTo>
                  <a:pt x="18463" y="985697"/>
                </a:lnTo>
                <a:lnTo>
                  <a:pt x="16239" y="975915"/>
                </a:lnTo>
                <a:cubicBezTo>
                  <a:pt x="13541" y="957312"/>
                  <a:pt x="12597" y="940330"/>
                  <a:pt x="12862" y="924477"/>
                </a:cubicBezTo>
                <a:lnTo>
                  <a:pt x="23640" y="845857"/>
                </a:lnTo>
                <a:lnTo>
                  <a:pt x="30907" y="688163"/>
                </a:lnTo>
                <a:lnTo>
                  <a:pt x="31375" y="662715"/>
                </a:lnTo>
                <a:lnTo>
                  <a:pt x="30143" y="655230"/>
                </a:lnTo>
                <a:cubicBezTo>
                  <a:pt x="20345" y="615334"/>
                  <a:pt x="17924" y="569960"/>
                  <a:pt x="19185" y="520814"/>
                </a:cubicBezTo>
                <a:lnTo>
                  <a:pt x="26662" y="415314"/>
                </a:lnTo>
                <a:lnTo>
                  <a:pt x="25635" y="383217"/>
                </a:lnTo>
                <a:cubicBezTo>
                  <a:pt x="25461" y="243905"/>
                  <a:pt x="35455" y="113017"/>
                  <a:pt x="30143" y="22622"/>
                </a:cubicBezTo>
                <a:cubicBezTo>
                  <a:pt x="90096" y="13526"/>
                  <a:pt x="146841" y="12585"/>
                  <a:pt x="200495" y="15390"/>
                </a:cubicBezTo>
                <a:lnTo>
                  <a:pt x="324102" y="27794"/>
                </a:lnTo>
                <a:lnTo>
                  <a:pt x="329634" y="27979"/>
                </a:lnTo>
                <a:cubicBezTo>
                  <a:pt x="398332" y="30204"/>
                  <a:pt x="468106" y="31425"/>
                  <a:pt x="551798" y="27886"/>
                </a:cubicBezTo>
                <a:lnTo>
                  <a:pt x="592464" y="25476"/>
                </a:lnTo>
                <a:lnTo>
                  <a:pt x="603122" y="22622"/>
                </a:lnTo>
                <a:cubicBezTo>
                  <a:pt x="639294" y="8191"/>
                  <a:pt x="679641" y="1916"/>
                  <a:pt x="723201" y="386"/>
                </a:cubicBezTo>
                <a:close/>
              </a:path>
            </a:pathLst>
          </a:custGeom>
        </p:spPr>
      </p:pic>
      <p:sp>
        <p:nvSpPr>
          <p:cNvPr id="3" name="Content Placeholder 2"/>
          <p:cNvSpPr>
            <a:spLocks noGrp="1"/>
          </p:cNvSpPr>
          <p:nvPr>
            <p:ph idx="1"/>
          </p:nvPr>
        </p:nvSpPr>
        <p:spPr>
          <a:xfrm>
            <a:off x="4905955" y="2071316"/>
            <a:ext cx="6713552" cy="4114800"/>
          </a:xfrm>
        </p:spPr>
        <p:txBody>
          <a:bodyPr anchor="t">
            <a:noAutofit/>
          </a:bodyPr>
          <a:lstStyle/>
          <a:p>
            <a:r>
              <a:rPr lang="en-US" sz="4000" dirty="0"/>
              <a:t>What is the business asset that needs protection?</a:t>
            </a:r>
          </a:p>
          <a:p>
            <a:pPr marL="0" indent="0">
              <a:buNone/>
            </a:pPr>
            <a:endParaRPr lang="en-US" sz="4000" dirty="0"/>
          </a:p>
          <a:p>
            <a:pPr marL="0" indent="0">
              <a:buNone/>
            </a:pPr>
            <a:endParaRPr lang="en-US" sz="4000" dirty="0"/>
          </a:p>
          <a:p>
            <a:r>
              <a:rPr lang="en-US" sz="4000" dirty="0"/>
              <a:t>What</a:t>
            </a:r>
            <a:r>
              <a:rPr lang="en-US" sz="4000" baseline="0" dirty="0"/>
              <a:t> does protect mean in this case?</a:t>
            </a:r>
          </a:p>
        </p:txBody>
      </p:sp>
      <p:sp>
        <p:nvSpPr>
          <p:cNvPr id="5" name="Slide Number Placeholder 4">
            <a:extLst>
              <a:ext uri="{FF2B5EF4-FFF2-40B4-BE49-F238E27FC236}">
                <a16:creationId xmlns:a16="http://schemas.microsoft.com/office/drawing/2014/main" id="{09AB8CD6-635F-C130-61DD-8C35978E72DF}"/>
              </a:ext>
            </a:extLst>
          </p:cNvPr>
          <p:cNvSpPr>
            <a:spLocks noGrp="1"/>
          </p:cNvSpPr>
          <p:nvPr>
            <p:ph type="sldNum" sz="quarter" idx="12"/>
          </p:nvPr>
        </p:nvSpPr>
        <p:spPr/>
        <p:txBody>
          <a:bodyPr/>
          <a:lstStyle/>
          <a:p>
            <a:fld id="{7DF6DEEC-D04A-4FF0-9A08-7D39859C24F4}" type="slidenum">
              <a:rPr lang="en-US" smtClean="0"/>
              <a:t>24</a:t>
            </a:fld>
            <a:endParaRPr lang="en-US"/>
          </a:p>
        </p:txBody>
      </p:sp>
    </p:spTree>
    <p:extLst>
      <p:ext uri="{BB962C8B-B14F-4D97-AF65-F5344CB8AC3E}">
        <p14:creationId xmlns:p14="http://schemas.microsoft.com/office/powerpoint/2010/main" val="18102355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0E91F5CA-B392-444C-88E3-BF5BAAEBDE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0459807F-B6FA-44D3-9A53-C55B6B5688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080681"/>
            <a:ext cx="12192000" cy="2777318"/>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243105" y="4843142"/>
            <a:ext cx="9681882" cy="739880"/>
          </a:xfrm>
        </p:spPr>
        <p:txBody>
          <a:bodyPr vert="horz" lIns="91440" tIns="45720" rIns="91440" bIns="45720" rtlCol="0" anchor="b">
            <a:normAutofit/>
          </a:bodyPr>
          <a:lstStyle/>
          <a:p>
            <a:pPr algn="ctr"/>
            <a:r>
              <a:rPr lang="en-US" sz="3600" b="1" dirty="0">
                <a:solidFill>
                  <a:schemeClr val="tx1">
                    <a:lumMod val="85000"/>
                    <a:lumOff val="15000"/>
                  </a:schemeClr>
                </a:solidFill>
              </a:rPr>
              <a:t>Power Distribution</a:t>
            </a:r>
          </a:p>
        </p:txBody>
      </p:sp>
      <p:sp>
        <p:nvSpPr>
          <p:cNvPr id="3" name="Content Placeholder 2"/>
          <p:cNvSpPr>
            <a:spLocks noGrp="1"/>
          </p:cNvSpPr>
          <p:nvPr>
            <p:ph idx="1"/>
          </p:nvPr>
        </p:nvSpPr>
        <p:spPr>
          <a:xfrm>
            <a:off x="2426446" y="5759884"/>
            <a:ext cx="7315199" cy="365125"/>
          </a:xfrm>
        </p:spPr>
        <p:txBody>
          <a:bodyPr vert="horz" lIns="91440" tIns="45720" rIns="91440" bIns="45720" rtlCol="0" anchor="t">
            <a:noAutofit/>
          </a:bodyPr>
          <a:lstStyle/>
          <a:p>
            <a:pPr marL="0" indent="0" algn="ctr">
              <a:buNone/>
            </a:pPr>
            <a:r>
              <a:rPr lang="en-US" sz="3000" dirty="0">
                <a:solidFill>
                  <a:schemeClr val="tx1">
                    <a:lumMod val="85000"/>
                    <a:lumOff val="15000"/>
                  </a:schemeClr>
                </a:solidFill>
              </a:rPr>
              <a:t>What would security mean if you have a system that manages</a:t>
            </a:r>
            <a:r>
              <a:rPr lang="en-US" sz="3000" baseline="0" dirty="0">
                <a:solidFill>
                  <a:schemeClr val="tx1">
                    <a:lumMod val="85000"/>
                    <a:lumOff val="15000"/>
                  </a:schemeClr>
                </a:solidFill>
              </a:rPr>
              <a:t> the power grid?</a:t>
            </a:r>
          </a:p>
        </p:txBody>
      </p:sp>
      <p:pic>
        <p:nvPicPr>
          <p:cNvPr id="4" name="Picture 3"/>
          <p:cNvPicPr>
            <a:picLocks noChangeAspect="1"/>
          </p:cNvPicPr>
          <p:nvPr/>
        </p:nvPicPr>
        <p:blipFill rotWithShape="1">
          <a:blip r:embed="rId2"/>
          <a:srcRect t="21040" b="4680"/>
          <a:stretch/>
        </p:blipFill>
        <p:spPr>
          <a:xfrm>
            <a:off x="20" y="10"/>
            <a:ext cx="12191979" cy="5886523"/>
          </a:xfrm>
          <a:custGeom>
            <a:avLst/>
            <a:gdLst/>
            <a:ahLst/>
            <a:cxnLst/>
            <a:rect l="l" t="t" r="r" b="b"/>
            <a:pathLst>
              <a:path w="12191999" h="5886533">
                <a:moveTo>
                  <a:pt x="4721173" y="4907914"/>
                </a:moveTo>
                <a:lnTo>
                  <a:pt x="4722109" y="4908125"/>
                </a:lnTo>
                <a:cubicBezTo>
                  <a:pt x="4721143" y="4908767"/>
                  <a:pt x="4718263" y="4909373"/>
                  <a:pt x="4717199" y="4909396"/>
                </a:cubicBezTo>
                <a:close/>
                <a:moveTo>
                  <a:pt x="0" y="0"/>
                </a:moveTo>
                <a:lnTo>
                  <a:pt x="12191999" y="0"/>
                </a:lnTo>
                <a:lnTo>
                  <a:pt x="12191999" y="5751311"/>
                </a:lnTo>
                <a:lnTo>
                  <a:pt x="12140860" y="5770509"/>
                </a:lnTo>
                <a:cubicBezTo>
                  <a:pt x="12126656" y="5772723"/>
                  <a:pt x="12093589" y="5827925"/>
                  <a:pt x="12080161" y="5826358"/>
                </a:cubicBezTo>
                <a:cubicBezTo>
                  <a:pt x="11978188" y="5850511"/>
                  <a:pt x="11967361" y="5873564"/>
                  <a:pt x="11917885" y="5861578"/>
                </a:cubicBezTo>
                <a:cubicBezTo>
                  <a:pt x="11872779" y="5859863"/>
                  <a:pt x="11928861" y="5896778"/>
                  <a:pt x="11894610" y="5883738"/>
                </a:cubicBezTo>
                <a:cubicBezTo>
                  <a:pt x="11860359" y="5870698"/>
                  <a:pt x="11736091" y="5807232"/>
                  <a:pt x="11712379" y="5783337"/>
                </a:cubicBezTo>
                <a:cubicBezTo>
                  <a:pt x="11688667" y="5759442"/>
                  <a:pt x="11627912" y="5782933"/>
                  <a:pt x="11585366" y="5740371"/>
                </a:cubicBezTo>
                <a:lnTo>
                  <a:pt x="11516470" y="5663679"/>
                </a:lnTo>
                <a:cubicBezTo>
                  <a:pt x="11468274" y="5661847"/>
                  <a:pt x="11507335" y="5626593"/>
                  <a:pt x="11462692" y="5610127"/>
                </a:cubicBezTo>
                <a:cubicBezTo>
                  <a:pt x="11417567" y="5608500"/>
                  <a:pt x="11408021" y="5556613"/>
                  <a:pt x="11369712" y="5548654"/>
                </a:cubicBezTo>
                <a:cubicBezTo>
                  <a:pt x="11354317" y="5554704"/>
                  <a:pt x="11288328" y="5499810"/>
                  <a:pt x="11273969" y="5488986"/>
                </a:cubicBezTo>
                <a:cubicBezTo>
                  <a:pt x="11231913" y="5490378"/>
                  <a:pt x="11221973" y="5480544"/>
                  <a:pt x="11195084" y="5467967"/>
                </a:cubicBezTo>
                <a:cubicBezTo>
                  <a:pt x="11164086" y="5497749"/>
                  <a:pt x="11171649" y="5471790"/>
                  <a:pt x="11143408" y="5468614"/>
                </a:cubicBezTo>
                <a:cubicBezTo>
                  <a:pt x="11125906" y="5464975"/>
                  <a:pt x="11102603" y="5460835"/>
                  <a:pt x="11085935" y="5459365"/>
                </a:cubicBezTo>
                <a:cubicBezTo>
                  <a:pt x="11057493" y="5459661"/>
                  <a:pt x="11029906" y="5441496"/>
                  <a:pt x="11030953" y="5456484"/>
                </a:cubicBezTo>
                <a:cubicBezTo>
                  <a:pt x="11007784" y="5459001"/>
                  <a:pt x="10982005" y="5463178"/>
                  <a:pt x="10951060" y="5461240"/>
                </a:cubicBezTo>
                <a:cubicBezTo>
                  <a:pt x="10885365" y="5424406"/>
                  <a:pt x="10915288" y="5460968"/>
                  <a:pt x="10857721" y="5448157"/>
                </a:cubicBezTo>
                <a:cubicBezTo>
                  <a:pt x="10806646" y="5435790"/>
                  <a:pt x="10707075" y="5402712"/>
                  <a:pt x="10644616" y="5387039"/>
                </a:cubicBezTo>
                <a:cubicBezTo>
                  <a:pt x="10616446" y="5382224"/>
                  <a:pt x="10558603" y="5371613"/>
                  <a:pt x="10519277" y="5366793"/>
                </a:cubicBezTo>
                <a:cubicBezTo>
                  <a:pt x="10495461" y="5368312"/>
                  <a:pt x="10473830" y="5354868"/>
                  <a:pt x="10445981" y="5364735"/>
                </a:cubicBezTo>
                <a:cubicBezTo>
                  <a:pt x="10436536" y="5368773"/>
                  <a:pt x="10409281" y="5367966"/>
                  <a:pt x="10383865" y="5360888"/>
                </a:cubicBezTo>
                <a:cubicBezTo>
                  <a:pt x="10374827" y="5369095"/>
                  <a:pt x="10347864" y="5360432"/>
                  <a:pt x="10336852" y="5360277"/>
                </a:cubicBezTo>
                <a:cubicBezTo>
                  <a:pt x="10323586" y="5366987"/>
                  <a:pt x="10274741" y="5357921"/>
                  <a:pt x="10261098" y="5350526"/>
                </a:cubicBezTo>
                <a:lnTo>
                  <a:pt x="10126497" y="5339011"/>
                </a:lnTo>
                <a:lnTo>
                  <a:pt x="10082166" y="5336916"/>
                </a:lnTo>
                <a:cubicBezTo>
                  <a:pt x="10074567" y="5338985"/>
                  <a:pt x="10046860" y="5337657"/>
                  <a:pt x="10039237" y="5338580"/>
                </a:cubicBezTo>
                <a:cubicBezTo>
                  <a:pt x="9998458" y="5328479"/>
                  <a:pt x="9984394" y="5327989"/>
                  <a:pt x="9960016" y="5323065"/>
                </a:cubicBezTo>
                <a:cubicBezTo>
                  <a:pt x="9918980" y="5322923"/>
                  <a:pt x="9888741" y="5326122"/>
                  <a:pt x="9847789" y="5316297"/>
                </a:cubicBezTo>
                <a:lnTo>
                  <a:pt x="9728306" y="5296090"/>
                </a:lnTo>
                <a:cubicBezTo>
                  <a:pt x="9675056" y="5305676"/>
                  <a:pt x="9602035" y="5297282"/>
                  <a:pt x="9584504" y="5284670"/>
                </a:cubicBezTo>
                <a:cubicBezTo>
                  <a:pt x="9518952" y="5270394"/>
                  <a:pt x="9415429" y="5244268"/>
                  <a:pt x="9343049" y="5238968"/>
                </a:cubicBezTo>
                <a:lnTo>
                  <a:pt x="9231367" y="5187063"/>
                </a:lnTo>
                <a:lnTo>
                  <a:pt x="9194807" y="5176984"/>
                </a:lnTo>
                <a:lnTo>
                  <a:pt x="9189243" y="5167745"/>
                </a:lnTo>
                <a:lnTo>
                  <a:pt x="9151229" y="5156543"/>
                </a:lnTo>
                <a:lnTo>
                  <a:pt x="9150207" y="5157608"/>
                </a:lnTo>
                <a:cubicBezTo>
                  <a:pt x="9147045" y="5159739"/>
                  <a:pt x="9143081" y="5160831"/>
                  <a:pt x="9137315" y="5159777"/>
                </a:cubicBezTo>
                <a:cubicBezTo>
                  <a:pt x="9138862" y="5179261"/>
                  <a:pt x="9130952" y="5165972"/>
                  <a:pt x="9113809" y="5161143"/>
                </a:cubicBezTo>
                <a:cubicBezTo>
                  <a:pt x="9112388" y="5190326"/>
                  <a:pt x="9068114" y="5155892"/>
                  <a:pt x="9053450" y="5169457"/>
                </a:cubicBezTo>
                <a:lnTo>
                  <a:pt x="9005483" y="5166172"/>
                </a:lnTo>
                <a:lnTo>
                  <a:pt x="9005198" y="5166412"/>
                </a:lnTo>
                <a:cubicBezTo>
                  <a:pt x="9003143" y="5166632"/>
                  <a:pt x="9000324" y="5166304"/>
                  <a:pt x="8996229" y="5165201"/>
                </a:cubicBezTo>
                <a:lnTo>
                  <a:pt x="8990391" y="5163140"/>
                </a:lnTo>
                <a:lnTo>
                  <a:pt x="8974334" y="5159914"/>
                </a:lnTo>
                <a:lnTo>
                  <a:pt x="8968008" y="5160614"/>
                </a:lnTo>
                <a:lnTo>
                  <a:pt x="8963045" y="5162839"/>
                </a:lnTo>
                <a:cubicBezTo>
                  <a:pt x="8954690" y="5154888"/>
                  <a:pt x="8955517" y="5145940"/>
                  <a:pt x="8928985" y="5166027"/>
                </a:cubicBezTo>
                <a:cubicBezTo>
                  <a:pt x="8898031" y="5165007"/>
                  <a:pt x="8789300" y="5150352"/>
                  <a:pt x="8752441" y="5146795"/>
                </a:cubicBezTo>
                <a:cubicBezTo>
                  <a:pt x="8719819" y="5136075"/>
                  <a:pt x="8748194" y="5149736"/>
                  <a:pt x="8707844" y="5144694"/>
                </a:cubicBezTo>
                <a:cubicBezTo>
                  <a:pt x="8671606" y="5125159"/>
                  <a:pt x="8639142" y="5141599"/>
                  <a:pt x="8596068" y="5136122"/>
                </a:cubicBezTo>
                <a:lnTo>
                  <a:pt x="8525227" y="5150964"/>
                </a:lnTo>
                <a:lnTo>
                  <a:pt x="8510980" y="5145049"/>
                </a:lnTo>
                <a:lnTo>
                  <a:pt x="8506164" y="5142048"/>
                </a:lnTo>
                <a:cubicBezTo>
                  <a:pt x="8502646" y="5140271"/>
                  <a:pt x="8500045" y="5139460"/>
                  <a:pt x="8497965" y="5139310"/>
                </a:cubicBezTo>
                <a:lnTo>
                  <a:pt x="8497591" y="5139489"/>
                </a:lnTo>
                <a:lnTo>
                  <a:pt x="8490246" y="5136439"/>
                </a:lnTo>
                <a:lnTo>
                  <a:pt x="8367179" y="5122397"/>
                </a:lnTo>
                <a:cubicBezTo>
                  <a:pt x="8362021" y="5120372"/>
                  <a:pt x="8357730" y="5120720"/>
                  <a:pt x="8353796" y="5122203"/>
                </a:cubicBezTo>
                <a:lnTo>
                  <a:pt x="8352369" y="5123043"/>
                </a:lnTo>
                <a:lnTo>
                  <a:pt x="8320101" y="5105625"/>
                </a:lnTo>
                <a:lnTo>
                  <a:pt x="8314429" y="5105299"/>
                </a:lnTo>
                <a:lnTo>
                  <a:pt x="8295170" y="5091404"/>
                </a:lnTo>
                <a:lnTo>
                  <a:pt x="8284273" y="5085581"/>
                </a:lnTo>
                <a:lnTo>
                  <a:pt x="8283146" y="5081138"/>
                </a:lnTo>
                <a:cubicBezTo>
                  <a:pt x="8280842" y="5077893"/>
                  <a:pt x="8276148" y="5075245"/>
                  <a:pt x="8266072" y="5073963"/>
                </a:cubicBezTo>
                <a:lnTo>
                  <a:pt x="8263373" y="5074193"/>
                </a:lnTo>
                <a:lnTo>
                  <a:pt x="8252030" y="5064350"/>
                </a:lnTo>
                <a:cubicBezTo>
                  <a:pt x="8248856" y="5060500"/>
                  <a:pt x="8246644" y="5056218"/>
                  <a:pt x="8245831" y="5051358"/>
                </a:cubicBezTo>
                <a:cubicBezTo>
                  <a:pt x="8181824" y="5054265"/>
                  <a:pt x="8147127" y="5020143"/>
                  <a:pt x="8090268" y="5005197"/>
                </a:cubicBezTo>
                <a:cubicBezTo>
                  <a:pt x="8025464" y="4982055"/>
                  <a:pt x="7967067" y="4960819"/>
                  <a:pt x="7905404" y="4963224"/>
                </a:cubicBezTo>
                <a:cubicBezTo>
                  <a:pt x="7835116" y="4948312"/>
                  <a:pt x="7780962" y="4946081"/>
                  <a:pt x="7718741" y="4937509"/>
                </a:cubicBezTo>
                <a:lnTo>
                  <a:pt x="7614343" y="4940980"/>
                </a:lnTo>
                <a:lnTo>
                  <a:pt x="7527539" y="4935152"/>
                </a:lnTo>
                <a:lnTo>
                  <a:pt x="7519567" y="4932599"/>
                </a:lnTo>
                <a:cubicBezTo>
                  <a:pt x="7513989" y="4931260"/>
                  <a:pt x="7510169" y="4930910"/>
                  <a:pt x="7507408" y="4931264"/>
                </a:cubicBezTo>
                <a:lnTo>
                  <a:pt x="7507036" y="4931591"/>
                </a:lnTo>
                <a:lnTo>
                  <a:pt x="7495791" y="4929639"/>
                </a:lnTo>
                <a:cubicBezTo>
                  <a:pt x="7476982" y="4925521"/>
                  <a:pt x="7422524" y="4942937"/>
                  <a:pt x="7405387" y="4937744"/>
                </a:cubicBezTo>
                <a:cubicBezTo>
                  <a:pt x="7374785" y="4940694"/>
                  <a:pt x="7333986" y="4941799"/>
                  <a:pt x="7312176" y="4947339"/>
                </a:cubicBezTo>
                <a:lnTo>
                  <a:pt x="7310849" y="4948781"/>
                </a:lnTo>
                <a:lnTo>
                  <a:pt x="7218556" y="4923532"/>
                </a:lnTo>
                <a:lnTo>
                  <a:pt x="7201098" y="4918982"/>
                </a:lnTo>
                <a:lnTo>
                  <a:pt x="7197000" y="4913624"/>
                </a:lnTo>
                <a:cubicBezTo>
                  <a:pt x="7192108" y="4910101"/>
                  <a:pt x="7184502" y="4907962"/>
                  <a:pt x="7170804" y="4908976"/>
                </a:cubicBezTo>
                <a:lnTo>
                  <a:pt x="7096984" y="4896748"/>
                </a:lnTo>
                <a:cubicBezTo>
                  <a:pt x="7061144" y="4895770"/>
                  <a:pt x="7050185" y="4894793"/>
                  <a:pt x="7018492" y="4897122"/>
                </a:cubicBezTo>
                <a:cubicBezTo>
                  <a:pt x="6937524" y="4886184"/>
                  <a:pt x="6943641" y="4862018"/>
                  <a:pt x="6904142" y="4867616"/>
                </a:cubicBezTo>
                <a:cubicBezTo>
                  <a:pt x="6871918" y="4872824"/>
                  <a:pt x="6787985" y="4853750"/>
                  <a:pt x="6708218" y="4839661"/>
                </a:cubicBezTo>
                <a:cubicBezTo>
                  <a:pt x="6649102" y="4830206"/>
                  <a:pt x="6628102" y="4816105"/>
                  <a:pt x="6549451" y="4810885"/>
                </a:cubicBezTo>
                <a:cubicBezTo>
                  <a:pt x="6472150" y="4766795"/>
                  <a:pt x="6409692" y="4790518"/>
                  <a:pt x="6317556" y="4764085"/>
                </a:cubicBezTo>
                <a:cubicBezTo>
                  <a:pt x="6297547" y="4748563"/>
                  <a:pt x="6209288" y="4765756"/>
                  <a:pt x="6168670" y="4761998"/>
                </a:cubicBezTo>
                <a:cubicBezTo>
                  <a:pt x="6128052" y="4758240"/>
                  <a:pt x="6090536" y="4744692"/>
                  <a:pt x="6073844" y="4741536"/>
                </a:cubicBezTo>
                <a:lnTo>
                  <a:pt x="6068526" y="4743073"/>
                </a:lnTo>
                <a:lnTo>
                  <a:pt x="6048634" y="4742390"/>
                </a:lnTo>
                <a:lnTo>
                  <a:pt x="6041279" y="4750739"/>
                </a:lnTo>
                <a:lnTo>
                  <a:pt x="6010088" y="4755832"/>
                </a:lnTo>
                <a:cubicBezTo>
                  <a:pt x="5998677" y="4756419"/>
                  <a:pt x="5970124" y="4755506"/>
                  <a:pt x="5957373" y="4752188"/>
                </a:cubicBezTo>
                <a:lnTo>
                  <a:pt x="5758915" y="4736496"/>
                </a:lnTo>
                <a:lnTo>
                  <a:pt x="5626957" y="4735473"/>
                </a:lnTo>
                <a:lnTo>
                  <a:pt x="5470902" y="4749493"/>
                </a:lnTo>
                <a:cubicBezTo>
                  <a:pt x="5478131" y="4762521"/>
                  <a:pt x="5439006" y="4748455"/>
                  <a:pt x="5432757" y="4760746"/>
                </a:cubicBezTo>
                <a:cubicBezTo>
                  <a:pt x="5429365" y="4770778"/>
                  <a:pt x="5391824" y="4775462"/>
                  <a:pt x="5381664" y="4778448"/>
                </a:cubicBezTo>
                <a:lnTo>
                  <a:pt x="5261760" y="4798865"/>
                </a:lnTo>
                <a:cubicBezTo>
                  <a:pt x="5251595" y="4799049"/>
                  <a:pt x="5230547" y="4807359"/>
                  <a:pt x="5222959" y="4809989"/>
                </a:cubicBezTo>
                <a:lnTo>
                  <a:pt x="5174657" y="4812979"/>
                </a:lnTo>
                <a:lnTo>
                  <a:pt x="5156551" y="4820202"/>
                </a:lnTo>
                <a:lnTo>
                  <a:pt x="5142595" y="4823602"/>
                </a:lnTo>
                <a:lnTo>
                  <a:pt x="5139593" y="4825703"/>
                </a:lnTo>
                <a:cubicBezTo>
                  <a:pt x="5133873" y="4829743"/>
                  <a:pt x="5128076" y="4833554"/>
                  <a:pt x="5121656" y="4836556"/>
                </a:cubicBezTo>
                <a:cubicBezTo>
                  <a:pt x="5108317" y="4807937"/>
                  <a:pt x="5064853" y="4857373"/>
                  <a:pt x="5065787" y="4829985"/>
                </a:cubicBezTo>
                <a:cubicBezTo>
                  <a:pt x="5028193" y="4841501"/>
                  <a:pt x="5038944" y="4812412"/>
                  <a:pt x="5011510" y="4846366"/>
                </a:cubicBezTo>
                <a:cubicBezTo>
                  <a:pt x="4937023" y="4845983"/>
                  <a:pt x="4916353" y="4832976"/>
                  <a:pt x="4840437" y="4870383"/>
                </a:cubicBezTo>
                <a:cubicBezTo>
                  <a:pt x="4806739" y="4887025"/>
                  <a:pt x="4784106" y="4898171"/>
                  <a:pt x="4762444" y="4898151"/>
                </a:cubicBezTo>
                <a:cubicBezTo>
                  <a:pt x="4741323" y="4902652"/>
                  <a:pt x="4729481" y="4905474"/>
                  <a:pt x="4723182" y="4907166"/>
                </a:cubicBezTo>
                <a:lnTo>
                  <a:pt x="4721173" y="4907914"/>
                </a:lnTo>
                <a:lnTo>
                  <a:pt x="4715524" y="4906639"/>
                </a:lnTo>
                <a:cubicBezTo>
                  <a:pt x="4680148" y="4913595"/>
                  <a:pt x="4524744" y="4914403"/>
                  <a:pt x="4515810" y="4916541"/>
                </a:cubicBezTo>
                <a:cubicBezTo>
                  <a:pt x="4457819" y="4929653"/>
                  <a:pt x="4462659" y="4930394"/>
                  <a:pt x="4428539" y="4927192"/>
                </a:cubicBezTo>
                <a:cubicBezTo>
                  <a:pt x="4423303" y="4923821"/>
                  <a:pt x="4368974" y="4930115"/>
                  <a:pt x="4362872" y="4928538"/>
                </a:cubicBezTo>
                <a:lnTo>
                  <a:pt x="4316962" y="4921923"/>
                </a:lnTo>
                <a:lnTo>
                  <a:pt x="4315106" y="4923264"/>
                </a:lnTo>
                <a:cubicBezTo>
                  <a:pt x="4306123" y="4926635"/>
                  <a:pt x="4299993" y="4926634"/>
                  <a:pt x="4295140" y="4925143"/>
                </a:cubicBezTo>
                <a:lnTo>
                  <a:pt x="4290059" y="4922226"/>
                </a:lnTo>
                <a:lnTo>
                  <a:pt x="4276138" y="4922472"/>
                </a:lnTo>
                <a:lnTo>
                  <a:pt x="4248113" y="4920148"/>
                </a:lnTo>
                <a:lnTo>
                  <a:pt x="4202046" y="4922943"/>
                </a:lnTo>
                <a:cubicBezTo>
                  <a:pt x="4201945" y="4923363"/>
                  <a:pt x="4201842" y="4923782"/>
                  <a:pt x="4201741" y="4924202"/>
                </a:cubicBezTo>
                <a:cubicBezTo>
                  <a:pt x="4200116" y="4927039"/>
                  <a:pt x="4197140" y="4929158"/>
                  <a:pt x="4191245" y="4929836"/>
                </a:cubicBezTo>
                <a:cubicBezTo>
                  <a:pt x="4204212" y="4947125"/>
                  <a:pt x="4161274" y="4945230"/>
                  <a:pt x="4142742" y="4945701"/>
                </a:cubicBezTo>
                <a:cubicBezTo>
                  <a:pt x="4124717" y="4952767"/>
                  <a:pt x="4099099" y="4966347"/>
                  <a:pt x="4083094" y="4972234"/>
                </a:cubicBezTo>
                <a:lnTo>
                  <a:pt x="4074543" y="4973069"/>
                </a:lnTo>
                <a:cubicBezTo>
                  <a:pt x="4074504" y="4973170"/>
                  <a:pt x="4074463" y="4973269"/>
                  <a:pt x="4074424" y="4973368"/>
                </a:cubicBezTo>
                <a:cubicBezTo>
                  <a:pt x="4072678" y="4974152"/>
                  <a:pt x="4069906" y="4974653"/>
                  <a:pt x="4065507" y="4974812"/>
                </a:cubicBezTo>
                <a:lnTo>
                  <a:pt x="4058951" y="4974594"/>
                </a:lnTo>
                <a:lnTo>
                  <a:pt x="4042361" y="4976215"/>
                </a:lnTo>
                <a:lnTo>
                  <a:pt x="4036993" y="4978649"/>
                </a:lnTo>
                <a:lnTo>
                  <a:pt x="4035360" y="4982316"/>
                </a:lnTo>
                <a:lnTo>
                  <a:pt x="4033775" y="4982081"/>
                </a:lnTo>
                <a:cubicBezTo>
                  <a:pt x="4021424" y="4977217"/>
                  <a:pt x="4016874" y="4968841"/>
                  <a:pt x="4004535" y="4994649"/>
                </a:cubicBezTo>
                <a:cubicBezTo>
                  <a:pt x="3976667" y="4987584"/>
                  <a:pt x="3972977" y="5002913"/>
                  <a:pt x="3936843" y="5012106"/>
                </a:cubicBezTo>
                <a:cubicBezTo>
                  <a:pt x="3920506" y="5004382"/>
                  <a:pt x="3908535" y="5009071"/>
                  <a:pt x="3897272" y="5017761"/>
                </a:cubicBezTo>
                <a:cubicBezTo>
                  <a:pt x="3861092" y="5017265"/>
                  <a:pt x="3829628" y="5031135"/>
                  <a:pt x="3789757" y="5037999"/>
                </a:cubicBezTo>
                <a:cubicBezTo>
                  <a:pt x="3741007" y="5052705"/>
                  <a:pt x="3725129" y="5054682"/>
                  <a:pt x="3682510" y="5061922"/>
                </a:cubicBezTo>
                <a:lnTo>
                  <a:pt x="3610032" y="5094193"/>
                </a:lnTo>
                <a:lnTo>
                  <a:pt x="3603852" y="5092831"/>
                </a:lnTo>
                <a:cubicBezTo>
                  <a:pt x="3599580" y="5092212"/>
                  <a:pt x="3596726" y="5092212"/>
                  <a:pt x="3594733" y="5092667"/>
                </a:cubicBezTo>
                <a:lnTo>
                  <a:pt x="3594498" y="5092936"/>
                </a:lnTo>
                <a:lnTo>
                  <a:pt x="3585975" y="5092246"/>
                </a:lnTo>
                <a:cubicBezTo>
                  <a:pt x="3571623" y="5090455"/>
                  <a:pt x="3549389" y="5104654"/>
                  <a:pt x="3536132" y="5101945"/>
                </a:cubicBezTo>
                <a:cubicBezTo>
                  <a:pt x="3513940" y="5106241"/>
                  <a:pt x="3488622" y="5099976"/>
                  <a:pt x="3473220" y="5105606"/>
                </a:cubicBezTo>
                <a:lnTo>
                  <a:pt x="3400725" y="5117654"/>
                </a:lnTo>
                <a:lnTo>
                  <a:pt x="3375935" y="5106247"/>
                </a:lnTo>
                <a:lnTo>
                  <a:pt x="3348219" y="5109860"/>
                </a:lnTo>
                <a:cubicBezTo>
                  <a:pt x="3337206" y="5110533"/>
                  <a:pt x="3327054" y="5111295"/>
                  <a:pt x="3319639" y="5114795"/>
                </a:cubicBezTo>
                <a:lnTo>
                  <a:pt x="3248529" y="5133347"/>
                </a:lnTo>
                <a:lnTo>
                  <a:pt x="3210308" y="5119794"/>
                </a:lnTo>
                <a:cubicBezTo>
                  <a:pt x="3206088" y="5117870"/>
                  <a:pt x="3200152" y="5117326"/>
                  <a:pt x="3190375" y="5119915"/>
                </a:cubicBezTo>
                <a:lnTo>
                  <a:pt x="3188145" y="5121096"/>
                </a:lnTo>
                <a:cubicBezTo>
                  <a:pt x="3182625" y="5119116"/>
                  <a:pt x="3141856" y="5121682"/>
                  <a:pt x="3108596" y="5122416"/>
                </a:cubicBezTo>
                <a:cubicBezTo>
                  <a:pt x="3055968" y="5124842"/>
                  <a:pt x="3048940" y="5117475"/>
                  <a:pt x="2988584" y="5125502"/>
                </a:cubicBezTo>
                <a:cubicBezTo>
                  <a:pt x="2928853" y="5129690"/>
                  <a:pt x="2917951" y="5124649"/>
                  <a:pt x="2876540" y="5133019"/>
                </a:cubicBezTo>
                <a:lnTo>
                  <a:pt x="2626864" y="5133771"/>
                </a:lnTo>
                <a:cubicBezTo>
                  <a:pt x="2562348" y="5111858"/>
                  <a:pt x="2563422" y="5142456"/>
                  <a:pt x="2491422" y="5135486"/>
                </a:cubicBezTo>
                <a:cubicBezTo>
                  <a:pt x="2433091" y="5200962"/>
                  <a:pt x="2455709" y="5160483"/>
                  <a:pt x="2415617" y="5168715"/>
                </a:cubicBezTo>
                <a:lnTo>
                  <a:pt x="2290098" y="5166151"/>
                </a:lnTo>
                <a:cubicBezTo>
                  <a:pt x="2257057" y="5152522"/>
                  <a:pt x="2202458" y="5187690"/>
                  <a:pt x="2161714" y="5169302"/>
                </a:cubicBezTo>
                <a:cubicBezTo>
                  <a:pt x="2122714" y="5172302"/>
                  <a:pt x="2080450" y="5180350"/>
                  <a:pt x="2056089" y="5184144"/>
                </a:cubicBezTo>
                <a:cubicBezTo>
                  <a:pt x="2019828" y="5191108"/>
                  <a:pt x="1978839" y="5203797"/>
                  <a:pt x="1944153" y="5211084"/>
                </a:cubicBezTo>
                <a:cubicBezTo>
                  <a:pt x="1925867" y="5199079"/>
                  <a:pt x="1896027" y="5224183"/>
                  <a:pt x="1847968" y="5227868"/>
                </a:cubicBezTo>
                <a:cubicBezTo>
                  <a:pt x="1827977" y="5213971"/>
                  <a:pt x="1815570" y="5230544"/>
                  <a:pt x="1777083" y="5212267"/>
                </a:cubicBezTo>
                <a:cubicBezTo>
                  <a:pt x="1775439" y="5214216"/>
                  <a:pt x="1773397" y="5216035"/>
                  <a:pt x="1771025" y="5217668"/>
                </a:cubicBezTo>
                <a:cubicBezTo>
                  <a:pt x="1757251" y="5227146"/>
                  <a:pt x="1735528" y="5228402"/>
                  <a:pt x="1722509" y="5220470"/>
                </a:cubicBezTo>
                <a:cubicBezTo>
                  <a:pt x="1691779" y="5208440"/>
                  <a:pt x="1662321" y="5203305"/>
                  <a:pt x="1633941" y="5200774"/>
                </a:cubicBezTo>
                <a:lnTo>
                  <a:pt x="1586145" y="5210184"/>
                </a:lnTo>
                <a:cubicBezTo>
                  <a:pt x="1567948" y="5215416"/>
                  <a:pt x="1545900" y="5226363"/>
                  <a:pt x="1524748" y="5232173"/>
                </a:cubicBezTo>
                <a:cubicBezTo>
                  <a:pt x="1502586" y="5235395"/>
                  <a:pt x="1478013" y="5230993"/>
                  <a:pt x="1459242" y="5245044"/>
                </a:cubicBezTo>
                <a:cubicBezTo>
                  <a:pt x="1421474" y="5260197"/>
                  <a:pt x="1374524" y="5244220"/>
                  <a:pt x="1349457" y="5280705"/>
                </a:cubicBezTo>
                <a:cubicBezTo>
                  <a:pt x="1273276" y="5302389"/>
                  <a:pt x="1121512" y="5336260"/>
                  <a:pt x="1009212" y="5361227"/>
                </a:cubicBezTo>
                <a:cubicBezTo>
                  <a:pt x="939016" y="5373529"/>
                  <a:pt x="866895" y="5370149"/>
                  <a:pt x="808572" y="5377024"/>
                </a:cubicBezTo>
                <a:cubicBezTo>
                  <a:pt x="802823" y="5374184"/>
                  <a:pt x="726016" y="5397963"/>
                  <a:pt x="719549" y="5396991"/>
                </a:cubicBezTo>
                <a:lnTo>
                  <a:pt x="698795" y="5397657"/>
                </a:lnTo>
                <a:cubicBezTo>
                  <a:pt x="689833" y="5401894"/>
                  <a:pt x="683492" y="5402495"/>
                  <a:pt x="678327" y="5401487"/>
                </a:cubicBezTo>
                <a:lnTo>
                  <a:pt x="672784" y="5399085"/>
                </a:lnTo>
                <a:lnTo>
                  <a:pt x="658406" y="5400696"/>
                </a:lnTo>
                <a:lnTo>
                  <a:pt x="629185" y="5401132"/>
                </a:lnTo>
                <a:lnTo>
                  <a:pt x="624558" y="5403782"/>
                </a:lnTo>
                <a:lnTo>
                  <a:pt x="581798" y="5408438"/>
                </a:lnTo>
                <a:cubicBezTo>
                  <a:pt x="581736" y="5408865"/>
                  <a:pt x="581671" y="5409294"/>
                  <a:pt x="581608" y="5409722"/>
                </a:cubicBezTo>
                <a:cubicBezTo>
                  <a:pt x="580204" y="5412704"/>
                  <a:pt x="577331" y="5415106"/>
                  <a:pt x="571299" y="5416358"/>
                </a:cubicBezTo>
                <a:cubicBezTo>
                  <a:pt x="551623" y="5426267"/>
                  <a:pt x="484499" y="5459654"/>
                  <a:pt x="463549" y="5469173"/>
                </a:cubicBezTo>
                <a:cubicBezTo>
                  <a:pt x="453136" y="5470720"/>
                  <a:pt x="449731" y="5472678"/>
                  <a:pt x="445606" y="5473465"/>
                </a:cubicBezTo>
                <a:lnTo>
                  <a:pt x="438799" y="5473893"/>
                </a:lnTo>
                <a:cubicBezTo>
                  <a:pt x="417222" y="5482183"/>
                  <a:pt x="343312" y="5513407"/>
                  <a:pt x="316138" y="5523213"/>
                </a:cubicBezTo>
                <a:cubicBezTo>
                  <a:pt x="298481" y="5517132"/>
                  <a:pt x="286556" y="5522972"/>
                  <a:pt x="275748" y="5532726"/>
                </a:cubicBezTo>
                <a:cubicBezTo>
                  <a:pt x="238274" y="5535784"/>
                  <a:pt x="207076" y="5552679"/>
                  <a:pt x="166496" y="5563424"/>
                </a:cubicBezTo>
                <a:lnTo>
                  <a:pt x="0" y="5629888"/>
                </a:lnTo>
                <a:close/>
              </a:path>
            </a:pathLst>
          </a:custGeom>
        </p:spPr>
      </p:pic>
      <p:sp>
        <p:nvSpPr>
          <p:cNvPr id="5" name="Slide Number Placeholder 4">
            <a:extLst>
              <a:ext uri="{FF2B5EF4-FFF2-40B4-BE49-F238E27FC236}">
                <a16:creationId xmlns:a16="http://schemas.microsoft.com/office/drawing/2014/main" id="{90CDA12A-45AF-BC13-C7C8-4E0DFE81343F}"/>
              </a:ext>
            </a:extLst>
          </p:cNvPr>
          <p:cNvSpPr>
            <a:spLocks noGrp="1"/>
          </p:cNvSpPr>
          <p:nvPr>
            <p:ph type="sldNum" sz="quarter" idx="12"/>
          </p:nvPr>
        </p:nvSpPr>
        <p:spPr/>
        <p:txBody>
          <a:bodyPr/>
          <a:lstStyle/>
          <a:p>
            <a:fld id="{7DF6DEEC-D04A-4FF0-9A08-7D39859C24F4}" type="slidenum">
              <a:rPr lang="en-US" smtClean="0"/>
              <a:t>25</a:t>
            </a:fld>
            <a:endParaRPr lang="en-US"/>
          </a:p>
        </p:txBody>
      </p:sp>
    </p:spTree>
    <p:extLst>
      <p:ext uri="{BB962C8B-B14F-4D97-AF65-F5344CB8AC3E}">
        <p14:creationId xmlns:p14="http://schemas.microsoft.com/office/powerpoint/2010/main" val="775320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lang="en-US" sz="5400"/>
              <a:t>In the News</a:t>
            </a:r>
          </a:p>
        </p:txBody>
      </p:sp>
      <p:sp>
        <p:nvSpPr>
          <p:cNvPr id="2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838200" y="1929384"/>
            <a:ext cx="10515600" cy="4251960"/>
          </a:xfrm>
        </p:spPr>
        <p:txBody>
          <a:bodyPr>
            <a:normAutofit/>
          </a:bodyPr>
          <a:lstStyle/>
          <a:p>
            <a:r>
              <a:rPr lang="en-US" sz="2500" b="1" dirty="0">
                <a:solidFill>
                  <a:schemeClr val="accent2"/>
                </a:solidFill>
              </a:rPr>
              <a:t>Target’s systems are comprised 2013</a:t>
            </a:r>
          </a:p>
          <a:p>
            <a:pPr lvl="1"/>
            <a:r>
              <a:rPr lang="en-US" sz="2500" dirty="0"/>
              <a:t>40 million credit cards exposed</a:t>
            </a:r>
          </a:p>
          <a:p>
            <a:r>
              <a:rPr lang="en-US" sz="2500" b="1" dirty="0">
                <a:solidFill>
                  <a:schemeClr val="accent2"/>
                </a:solidFill>
              </a:rPr>
              <a:t>Niemen Marcus: credit card information for 350,000 customers exposed</a:t>
            </a:r>
          </a:p>
          <a:p>
            <a:r>
              <a:rPr lang="en-US" sz="2500" dirty="0"/>
              <a:t>And many more</a:t>
            </a:r>
          </a:p>
          <a:p>
            <a:pPr lvl="1"/>
            <a:r>
              <a:rPr lang="en-US" sz="2500" dirty="0"/>
              <a:t>Home Depot</a:t>
            </a:r>
          </a:p>
          <a:p>
            <a:pPr lvl="1"/>
            <a:r>
              <a:rPr lang="en-US" sz="2500" dirty="0"/>
              <a:t>JP Morgan Chase</a:t>
            </a:r>
          </a:p>
          <a:p>
            <a:pPr lvl="1"/>
            <a:r>
              <a:rPr lang="en-US" sz="2500" dirty="0"/>
              <a:t>Jimmy Johns</a:t>
            </a:r>
          </a:p>
          <a:p>
            <a:pPr lvl="1"/>
            <a:r>
              <a:rPr lang="en-US" sz="2500" dirty="0"/>
              <a:t>…</a:t>
            </a:r>
          </a:p>
          <a:p>
            <a:r>
              <a:rPr lang="en-US" sz="2500" b="1" dirty="0">
                <a:solidFill>
                  <a:schemeClr val="accent2"/>
                </a:solidFill>
              </a:rPr>
              <a:t>US Public Utilities</a:t>
            </a:r>
            <a:r>
              <a:rPr lang="en-US" sz="2500" dirty="0"/>
              <a:t>: Homeland Security confirmed the control systems for several public securities were hacked in 2014</a:t>
            </a:r>
          </a:p>
          <a:p>
            <a:pPr marL="0" indent="0">
              <a:buNone/>
            </a:pPr>
            <a:endParaRPr lang="en-US" sz="1500" dirty="0"/>
          </a:p>
        </p:txBody>
      </p:sp>
      <p:sp>
        <p:nvSpPr>
          <p:cNvPr id="4" name="Slide Number Placeholder 3">
            <a:extLst>
              <a:ext uri="{FF2B5EF4-FFF2-40B4-BE49-F238E27FC236}">
                <a16:creationId xmlns:a16="http://schemas.microsoft.com/office/drawing/2014/main" id="{F330DE11-E87F-5F83-3439-C97DB18EEE5D}"/>
              </a:ext>
            </a:extLst>
          </p:cNvPr>
          <p:cNvSpPr>
            <a:spLocks noGrp="1"/>
          </p:cNvSpPr>
          <p:nvPr>
            <p:ph type="sldNum" sz="quarter" idx="12"/>
          </p:nvPr>
        </p:nvSpPr>
        <p:spPr>
          <a:xfrm>
            <a:off x="8610600" y="6356350"/>
            <a:ext cx="2743200" cy="365125"/>
          </a:xfrm>
        </p:spPr>
        <p:txBody>
          <a:bodyPr>
            <a:normAutofit/>
          </a:bodyPr>
          <a:lstStyle/>
          <a:p>
            <a:pPr>
              <a:spcAft>
                <a:spcPts val="600"/>
              </a:spcAft>
            </a:pPr>
            <a:fld id="{7DF6DEEC-D04A-4FF0-9A08-7D39859C24F4}" type="slidenum">
              <a:rPr lang="en-US" smtClean="0"/>
              <a:pPr>
                <a:spcAft>
                  <a:spcPts val="600"/>
                </a:spcAft>
              </a:pPr>
              <a:t>26</a:t>
            </a:fld>
            <a:endParaRPr lang="en-US"/>
          </a:p>
        </p:txBody>
      </p:sp>
    </p:spTree>
    <p:extLst>
      <p:ext uri="{BB962C8B-B14F-4D97-AF65-F5344CB8AC3E}">
        <p14:creationId xmlns:p14="http://schemas.microsoft.com/office/powerpoint/2010/main" val="7729258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72493" y="238539"/>
            <a:ext cx="11018520" cy="1434415"/>
          </a:xfrm>
        </p:spPr>
        <p:txBody>
          <a:bodyPr anchor="b">
            <a:normAutofit/>
          </a:bodyPr>
          <a:lstStyle/>
          <a:p>
            <a:r>
              <a:rPr lang="en-US" sz="5400" dirty="0"/>
              <a:t>More Detail on Target’s System Breach</a:t>
            </a:r>
          </a:p>
        </p:txBody>
      </p:sp>
      <p:sp>
        <p:nvSpPr>
          <p:cNvPr id="13"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572493" y="2071316"/>
            <a:ext cx="6713552" cy="4119172"/>
          </a:xfrm>
        </p:spPr>
        <p:txBody>
          <a:bodyPr anchor="t">
            <a:normAutofit/>
          </a:bodyPr>
          <a:lstStyle/>
          <a:p>
            <a:pPr algn="just"/>
            <a:r>
              <a:rPr lang="en-US" sz="2200" dirty="0"/>
              <a:t>Target’s systems were compromised by a stolen password</a:t>
            </a:r>
          </a:p>
          <a:p>
            <a:pPr lvl="1" algn="just"/>
            <a:r>
              <a:rPr lang="en-US" sz="2200" dirty="0"/>
              <a:t>An HVAC company had access to their networks in order to monitor the systems</a:t>
            </a:r>
          </a:p>
          <a:p>
            <a:pPr lvl="1" algn="just"/>
            <a:r>
              <a:rPr lang="en-US" sz="2200" dirty="0"/>
              <a:t>This company was actually a Pittsburgh company …</a:t>
            </a:r>
          </a:p>
          <a:p>
            <a:pPr algn="just"/>
            <a:r>
              <a:rPr lang="en-US" sz="2200" dirty="0"/>
              <a:t>The perpetrators were then able to legitimately gain access to the systems</a:t>
            </a:r>
          </a:p>
          <a:p>
            <a:pPr algn="just"/>
            <a:r>
              <a:rPr lang="en-US" sz="2200" dirty="0"/>
              <a:t>They installed malware on the Point of Sale (POS) systems</a:t>
            </a:r>
          </a:p>
          <a:p>
            <a:pPr algn="just"/>
            <a:r>
              <a:rPr lang="en-US" sz="2200" dirty="0"/>
              <a:t>The malware was able to steal 40 million credit cards in 2 ½ weeks</a:t>
            </a:r>
          </a:p>
        </p:txBody>
      </p:sp>
      <p:pic>
        <p:nvPicPr>
          <p:cNvPr id="6" name="Picture 5">
            <a:extLst>
              <a:ext uri="{FF2B5EF4-FFF2-40B4-BE49-F238E27FC236}">
                <a16:creationId xmlns:a16="http://schemas.microsoft.com/office/drawing/2014/main" id="{351DE922-40D6-5FAB-CAA0-DA289F627547}"/>
              </a:ext>
            </a:extLst>
          </p:cNvPr>
          <p:cNvPicPr>
            <a:picLocks noChangeAspect="1"/>
          </p:cNvPicPr>
          <p:nvPr/>
        </p:nvPicPr>
        <p:blipFill rotWithShape="1">
          <a:blip r:embed="rId2"/>
          <a:srcRect l="4850" r="7252" b="-3"/>
          <a:stretch/>
        </p:blipFill>
        <p:spPr>
          <a:xfrm>
            <a:off x="7675658" y="2093976"/>
            <a:ext cx="3941064" cy="4096512"/>
          </a:xfrm>
          <a:prstGeom prst="rect">
            <a:avLst/>
          </a:prstGeom>
        </p:spPr>
      </p:pic>
      <p:sp>
        <p:nvSpPr>
          <p:cNvPr id="5" name="Slide Number Placeholder 4">
            <a:extLst>
              <a:ext uri="{FF2B5EF4-FFF2-40B4-BE49-F238E27FC236}">
                <a16:creationId xmlns:a16="http://schemas.microsoft.com/office/drawing/2014/main" id="{D28CC9C5-0817-FECE-7244-749D1C63CA89}"/>
              </a:ext>
            </a:extLst>
          </p:cNvPr>
          <p:cNvSpPr>
            <a:spLocks noGrp="1"/>
          </p:cNvSpPr>
          <p:nvPr>
            <p:ph type="sldNum" sz="quarter" idx="12"/>
          </p:nvPr>
        </p:nvSpPr>
        <p:spPr/>
        <p:txBody>
          <a:bodyPr/>
          <a:lstStyle/>
          <a:p>
            <a:fld id="{7DF6DEEC-D04A-4FF0-9A08-7D39859C24F4}" type="slidenum">
              <a:rPr lang="en-US" smtClean="0"/>
              <a:t>27</a:t>
            </a:fld>
            <a:endParaRPr lang="en-US"/>
          </a:p>
        </p:txBody>
      </p:sp>
    </p:spTree>
    <p:extLst>
      <p:ext uri="{BB962C8B-B14F-4D97-AF65-F5344CB8AC3E}">
        <p14:creationId xmlns:p14="http://schemas.microsoft.com/office/powerpoint/2010/main" val="40698398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lang="en-US" sz="5400" dirty="0"/>
              <a:t>Understanding the Need</a:t>
            </a:r>
          </a:p>
        </p:txBody>
      </p:sp>
      <p:sp>
        <p:nvSpPr>
          <p:cNvPr id="1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838200" y="1929384"/>
            <a:ext cx="10515600" cy="4251960"/>
          </a:xfrm>
        </p:spPr>
        <p:txBody>
          <a:bodyPr>
            <a:normAutofit/>
          </a:bodyPr>
          <a:lstStyle/>
          <a:p>
            <a:r>
              <a:rPr lang="en-US" sz="3000" dirty="0"/>
              <a:t>We need to understand the business asset that requires protection</a:t>
            </a:r>
          </a:p>
          <a:p>
            <a:r>
              <a:rPr lang="en-US" sz="3000" dirty="0"/>
              <a:t>We then want to ensure the system protects that business asset</a:t>
            </a:r>
          </a:p>
          <a:p>
            <a:r>
              <a:rPr lang="en-US" sz="3000" dirty="0"/>
              <a:t>We do this by imagining the ways in which the business asset is at risk</a:t>
            </a:r>
          </a:p>
          <a:p>
            <a:pPr lvl="1"/>
            <a:r>
              <a:rPr lang="en-US" sz="3000" dirty="0"/>
              <a:t>We then articulate the desired response to that risk</a:t>
            </a:r>
          </a:p>
          <a:p>
            <a:pPr marL="457200" lvl="1" indent="0">
              <a:buNone/>
            </a:pPr>
            <a:endParaRPr lang="en-US" sz="3000" dirty="0"/>
          </a:p>
        </p:txBody>
      </p:sp>
      <p:sp>
        <p:nvSpPr>
          <p:cNvPr id="4" name="Slide Number Placeholder 3">
            <a:extLst>
              <a:ext uri="{FF2B5EF4-FFF2-40B4-BE49-F238E27FC236}">
                <a16:creationId xmlns:a16="http://schemas.microsoft.com/office/drawing/2014/main" id="{4BA2F0DA-0EEC-F8A5-D63E-EE68ABB198E4}"/>
              </a:ext>
            </a:extLst>
          </p:cNvPr>
          <p:cNvSpPr>
            <a:spLocks noGrp="1"/>
          </p:cNvSpPr>
          <p:nvPr>
            <p:ph type="sldNum" sz="quarter" idx="12"/>
          </p:nvPr>
        </p:nvSpPr>
        <p:spPr>
          <a:xfrm>
            <a:off x="8610600" y="6356350"/>
            <a:ext cx="2743200" cy="365125"/>
          </a:xfrm>
        </p:spPr>
        <p:txBody>
          <a:bodyPr>
            <a:normAutofit/>
          </a:bodyPr>
          <a:lstStyle/>
          <a:p>
            <a:pPr>
              <a:spcAft>
                <a:spcPts val="600"/>
              </a:spcAft>
            </a:pPr>
            <a:fld id="{7DF6DEEC-D04A-4FF0-9A08-7D39859C24F4}" type="slidenum">
              <a:rPr lang="en-US" smtClean="0"/>
              <a:pPr>
                <a:spcAft>
                  <a:spcPts val="600"/>
                </a:spcAft>
              </a:pPr>
              <a:t>28</a:t>
            </a:fld>
            <a:endParaRPr lang="en-US"/>
          </a:p>
        </p:txBody>
      </p:sp>
    </p:spTree>
    <p:extLst>
      <p:ext uri="{BB962C8B-B14F-4D97-AF65-F5344CB8AC3E}">
        <p14:creationId xmlns:p14="http://schemas.microsoft.com/office/powerpoint/2010/main" val="29829364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371597" y="348865"/>
            <a:ext cx="10044023" cy="877729"/>
          </a:xfrm>
        </p:spPr>
        <p:txBody>
          <a:bodyPr anchor="ctr">
            <a:normAutofit/>
          </a:bodyPr>
          <a:lstStyle/>
          <a:p>
            <a:r>
              <a:rPr lang="en-US" sz="4000">
                <a:solidFill>
                  <a:srgbClr val="FFFFFF"/>
                </a:solidFill>
              </a:rPr>
              <a:t>Business Context</a:t>
            </a:r>
          </a:p>
        </p:txBody>
      </p:sp>
      <p:graphicFrame>
        <p:nvGraphicFramePr>
          <p:cNvPr id="5" name="Content Placeholder 2">
            <a:extLst>
              <a:ext uri="{FF2B5EF4-FFF2-40B4-BE49-F238E27FC236}">
                <a16:creationId xmlns:a16="http://schemas.microsoft.com/office/drawing/2014/main" id="{A6EE2BEC-DFA9-ECFC-EC44-80CF70CC94E9}"/>
              </a:ext>
            </a:extLst>
          </p:cNvPr>
          <p:cNvGraphicFramePr>
            <a:graphicFrameLocks noGrp="1"/>
          </p:cNvGraphicFramePr>
          <p:nvPr>
            <p:ph idx="1"/>
            <p:extLst>
              <p:ext uri="{D42A27DB-BD31-4B8C-83A1-F6EECF244321}">
                <p14:modId xmlns:p14="http://schemas.microsoft.com/office/powerpoint/2010/main" val="2523808103"/>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Slide Number Placeholder 2">
            <a:extLst>
              <a:ext uri="{FF2B5EF4-FFF2-40B4-BE49-F238E27FC236}">
                <a16:creationId xmlns:a16="http://schemas.microsoft.com/office/drawing/2014/main" id="{E98052AC-B11A-BBFF-4599-A0E8F7E4E8C8}"/>
              </a:ext>
            </a:extLst>
          </p:cNvPr>
          <p:cNvSpPr>
            <a:spLocks noGrp="1"/>
          </p:cNvSpPr>
          <p:nvPr>
            <p:ph type="sldNum" sz="quarter" idx="12"/>
          </p:nvPr>
        </p:nvSpPr>
        <p:spPr/>
        <p:txBody>
          <a:bodyPr/>
          <a:lstStyle/>
          <a:p>
            <a:fld id="{7DF6DEEC-D04A-4FF0-9A08-7D39859C24F4}" type="slidenum">
              <a:rPr lang="en-US" smtClean="0"/>
              <a:t>29</a:t>
            </a:fld>
            <a:endParaRPr lang="en-US"/>
          </a:p>
        </p:txBody>
      </p:sp>
    </p:spTree>
    <p:extLst>
      <p:ext uri="{BB962C8B-B14F-4D97-AF65-F5344CB8AC3E}">
        <p14:creationId xmlns:p14="http://schemas.microsoft.com/office/powerpoint/2010/main" val="12106425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235249" y="-319465"/>
            <a:ext cx="5323715" cy="1642970"/>
          </a:xfrm>
        </p:spPr>
        <p:txBody>
          <a:bodyPr anchor="b">
            <a:normAutofit/>
          </a:bodyPr>
          <a:lstStyle/>
          <a:p>
            <a:r>
              <a:rPr lang="en-US" sz="4000" dirty="0"/>
              <a:t>What is Security?</a:t>
            </a:r>
          </a:p>
        </p:txBody>
      </p:sp>
      <p:sp>
        <p:nvSpPr>
          <p:cNvPr id="3" name="Content Placeholder 2"/>
          <p:cNvSpPr>
            <a:spLocks noGrp="1"/>
          </p:cNvSpPr>
          <p:nvPr>
            <p:ph idx="1"/>
          </p:nvPr>
        </p:nvSpPr>
        <p:spPr>
          <a:xfrm>
            <a:off x="235249" y="1642970"/>
            <a:ext cx="6224863" cy="4863847"/>
          </a:xfrm>
        </p:spPr>
        <p:txBody>
          <a:bodyPr anchor="t">
            <a:normAutofit fontScale="77500" lnSpcReduction="20000"/>
          </a:bodyPr>
          <a:lstStyle/>
          <a:p>
            <a:r>
              <a:rPr lang="en-US" sz="3000" dirty="0"/>
              <a:t>Based on this discussion, how do you define security?</a:t>
            </a:r>
          </a:p>
          <a:p>
            <a:endParaRPr lang="en-US" sz="3000" dirty="0"/>
          </a:p>
          <a:p>
            <a:r>
              <a:rPr lang="x-none" sz="3000" dirty="0"/>
              <a:t>Security is a measure of the system’s ability to </a:t>
            </a:r>
            <a:r>
              <a:rPr lang="en-US" sz="3000" dirty="0"/>
              <a:t>protect data and information from unauthorized access while still providing access to people and systems that are authorized. </a:t>
            </a:r>
            <a:r>
              <a:rPr lang="x-none" sz="3000" dirty="0"/>
              <a:t> </a:t>
            </a:r>
            <a:endParaRPr lang="en-US" sz="3000" dirty="0"/>
          </a:p>
          <a:p>
            <a:endParaRPr lang="en-US" sz="3000" dirty="0"/>
          </a:p>
          <a:p>
            <a:r>
              <a:rPr lang="x-none" sz="3000" dirty="0"/>
              <a:t>An action taken against a computer system with the intention of doing harm is called an </a:t>
            </a:r>
            <a:r>
              <a:rPr lang="x-none" sz="3000" i="1" dirty="0"/>
              <a:t>attack</a:t>
            </a:r>
            <a:r>
              <a:rPr lang="x-none" sz="3000" dirty="0"/>
              <a:t> and can take a number of forms. </a:t>
            </a:r>
            <a:endParaRPr lang="en-US" sz="3000" dirty="0"/>
          </a:p>
          <a:p>
            <a:endParaRPr lang="en-US" sz="3000" dirty="0"/>
          </a:p>
          <a:p>
            <a:r>
              <a:rPr lang="x-none" sz="3000" dirty="0"/>
              <a:t>It may be an unauthorized attempt to access data or services or to modify data, or it may be intended to deny services to legitimate users.</a:t>
            </a:r>
            <a:endParaRPr lang="en-US" sz="3000" dirty="0"/>
          </a:p>
          <a:p>
            <a:endParaRPr lang="en-US" sz="2000" dirty="0"/>
          </a:p>
          <a:p>
            <a:endParaRPr lang="en-US" sz="2000" dirty="0"/>
          </a:p>
        </p:txBody>
      </p:sp>
      <p:sp>
        <p:nvSpPr>
          <p:cNvPr id="13" name="Rectangle 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 name="Rectangle 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7BE2AECC-2758-6B1C-7E2F-1BFBBD0E9F53}"/>
              </a:ext>
            </a:extLst>
          </p:cNvPr>
          <p:cNvPicPr>
            <a:picLocks noChangeAspect="1"/>
          </p:cNvPicPr>
          <p:nvPr/>
        </p:nvPicPr>
        <p:blipFill>
          <a:blip r:embed="rId2"/>
          <a:stretch>
            <a:fillRect/>
          </a:stretch>
        </p:blipFill>
        <p:spPr>
          <a:xfrm>
            <a:off x="7075967" y="1852213"/>
            <a:ext cx="4170530" cy="3185466"/>
          </a:xfrm>
          <a:prstGeom prst="rect">
            <a:avLst/>
          </a:prstGeom>
        </p:spPr>
      </p:pic>
      <p:sp>
        <p:nvSpPr>
          <p:cNvPr id="4" name="Slide Number Placeholder 3">
            <a:extLst>
              <a:ext uri="{FF2B5EF4-FFF2-40B4-BE49-F238E27FC236}">
                <a16:creationId xmlns:a16="http://schemas.microsoft.com/office/drawing/2014/main" id="{9DAA6DA8-B899-3159-5864-A6AA5CAA4A81}"/>
              </a:ext>
            </a:extLst>
          </p:cNvPr>
          <p:cNvSpPr>
            <a:spLocks noGrp="1"/>
          </p:cNvSpPr>
          <p:nvPr>
            <p:ph type="sldNum" sz="quarter" idx="12"/>
          </p:nvPr>
        </p:nvSpPr>
        <p:spPr/>
        <p:txBody>
          <a:bodyPr/>
          <a:lstStyle/>
          <a:p>
            <a:fld id="{7DF6DEEC-D04A-4FF0-9A08-7D39859C24F4}" type="slidenum">
              <a:rPr lang="en-US" smtClean="0"/>
              <a:t>30</a:t>
            </a:fld>
            <a:endParaRPr lang="en-US"/>
          </a:p>
        </p:txBody>
      </p:sp>
    </p:spTree>
    <p:extLst>
      <p:ext uri="{BB962C8B-B14F-4D97-AF65-F5344CB8AC3E}">
        <p14:creationId xmlns:p14="http://schemas.microsoft.com/office/powerpoint/2010/main" val="3204334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22456" y="0"/>
            <a:ext cx="6652277" cy="1488871"/>
          </a:xfrm>
        </p:spPr>
        <p:txBody>
          <a:bodyPr anchor="b">
            <a:normAutofit/>
          </a:bodyPr>
          <a:lstStyle/>
          <a:p>
            <a:r>
              <a:rPr lang="en-US" sz="4000" dirty="0"/>
              <a:t>Security – A Set of Concerns</a:t>
            </a:r>
          </a:p>
        </p:txBody>
      </p:sp>
      <p:sp>
        <p:nvSpPr>
          <p:cNvPr id="3" name="Content Placeholder 2"/>
          <p:cNvSpPr>
            <a:spLocks noGrp="1"/>
          </p:cNvSpPr>
          <p:nvPr>
            <p:ph idx="1"/>
          </p:nvPr>
        </p:nvSpPr>
        <p:spPr>
          <a:xfrm>
            <a:off x="1" y="1852214"/>
            <a:ext cx="6897188" cy="4396186"/>
          </a:xfrm>
        </p:spPr>
        <p:txBody>
          <a:bodyPr anchor="t">
            <a:noAutofit/>
          </a:bodyPr>
          <a:lstStyle/>
          <a:p>
            <a:r>
              <a:rPr lang="en-US" sz="3000" dirty="0"/>
              <a:t>The</a:t>
            </a:r>
            <a:r>
              <a:rPr lang="en-US" sz="3000" baseline="0" dirty="0"/>
              <a:t> related concerns are typically classified as “security” concerns</a:t>
            </a:r>
          </a:p>
          <a:p>
            <a:r>
              <a:rPr lang="en-US" sz="3000" baseline="0" dirty="0"/>
              <a:t>In software these concerns are typically other quality attributes that are related to security, in particular:</a:t>
            </a:r>
          </a:p>
          <a:p>
            <a:pPr lvl="1"/>
            <a:r>
              <a:rPr lang="en-US" sz="3000" dirty="0">
                <a:solidFill>
                  <a:schemeClr val="accent2"/>
                </a:solidFill>
              </a:rPr>
              <a:t>Confidentiality</a:t>
            </a:r>
          </a:p>
          <a:p>
            <a:pPr lvl="1"/>
            <a:r>
              <a:rPr lang="en-US" sz="3000" dirty="0">
                <a:solidFill>
                  <a:schemeClr val="accent2"/>
                </a:solidFill>
              </a:rPr>
              <a:t>Data integrity</a:t>
            </a:r>
          </a:p>
          <a:p>
            <a:pPr lvl="1"/>
            <a:r>
              <a:rPr lang="en-US" sz="3000" dirty="0">
                <a:solidFill>
                  <a:schemeClr val="accent2"/>
                </a:solidFill>
              </a:rPr>
              <a:t>Non repudiation</a:t>
            </a:r>
          </a:p>
          <a:p>
            <a:pPr lvl="1"/>
            <a:r>
              <a:rPr lang="en-US" sz="3000" dirty="0">
                <a:solidFill>
                  <a:schemeClr val="accent2"/>
                </a:solidFill>
              </a:rPr>
              <a:t>Availability</a:t>
            </a:r>
          </a:p>
        </p:txBody>
      </p:sp>
      <p:sp>
        <p:nvSpPr>
          <p:cNvPr id="13" name="Rectangle 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1308D723-0135-BF78-9E8C-A936978158DE}"/>
              </a:ext>
            </a:extLst>
          </p:cNvPr>
          <p:cNvPicPr>
            <a:picLocks noChangeAspect="1"/>
          </p:cNvPicPr>
          <p:nvPr/>
        </p:nvPicPr>
        <p:blipFill>
          <a:blip r:embed="rId2"/>
          <a:stretch>
            <a:fillRect/>
          </a:stretch>
        </p:blipFill>
        <p:spPr>
          <a:xfrm>
            <a:off x="7075967" y="1852213"/>
            <a:ext cx="4170530" cy="3185466"/>
          </a:xfrm>
          <a:prstGeom prst="rect">
            <a:avLst/>
          </a:prstGeom>
        </p:spPr>
      </p:pic>
      <p:sp>
        <p:nvSpPr>
          <p:cNvPr id="4" name="Slide Number Placeholder 3">
            <a:extLst>
              <a:ext uri="{FF2B5EF4-FFF2-40B4-BE49-F238E27FC236}">
                <a16:creationId xmlns:a16="http://schemas.microsoft.com/office/drawing/2014/main" id="{BEDAA3FC-6E8A-7BA0-7C04-F95EFE84878A}"/>
              </a:ext>
            </a:extLst>
          </p:cNvPr>
          <p:cNvSpPr>
            <a:spLocks noGrp="1"/>
          </p:cNvSpPr>
          <p:nvPr>
            <p:ph type="sldNum" sz="quarter" idx="12"/>
          </p:nvPr>
        </p:nvSpPr>
        <p:spPr/>
        <p:txBody>
          <a:bodyPr/>
          <a:lstStyle/>
          <a:p>
            <a:fld id="{7DF6DEEC-D04A-4FF0-9A08-7D39859C24F4}" type="slidenum">
              <a:rPr lang="en-US" smtClean="0"/>
              <a:t>31</a:t>
            </a:fld>
            <a:endParaRPr lang="en-US"/>
          </a:p>
        </p:txBody>
      </p:sp>
    </p:spTree>
    <p:extLst>
      <p:ext uri="{BB962C8B-B14F-4D97-AF65-F5344CB8AC3E}">
        <p14:creationId xmlns:p14="http://schemas.microsoft.com/office/powerpoint/2010/main" val="24390705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98121" y="502020"/>
            <a:ext cx="7468012" cy="839100"/>
          </a:xfrm>
        </p:spPr>
        <p:txBody>
          <a:bodyPr anchor="b">
            <a:normAutofit/>
          </a:bodyPr>
          <a:lstStyle/>
          <a:p>
            <a:r>
              <a:rPr lang="en-US" sz="4000" b="1" dirty="0">
                <a:solidFill>
                  <a:schemeClr val="accent2"/>
                </a:solidFill>
              </a:rPr>
              <a:t>Confidentiality</a:t>
            </a:r>
            <a:r>
              <a:rPr lang="en-US" sz="4000" b="1" dirty="0"/>
              <a:t> as a part of security</a:t>
            </a:r>
          </a:p>
        </p:txBody>
      </p:sp>
      <p:sp>
        <p:nvSpPr>
          <p:cNvPr id="3" name="Content Placeholder 2"/>
          <p:cNvSpPr>
            <a:spLocks noGrp="1"/>
          </p:cNvSpPr>
          <p:nvPr>
            <p:ph idx="1"/>
          </p:nvPr>
        </p:nvSpPr>
        <p:spPr>
          <a:xfrm>
            <a:off x="365761" y="2420182"/>
            <a:ext cx="6094352" cy="3535083"/>
          </a:xfrm>
        </p:spPr>
        <p:txBody>
          <a:bodyPr anchor="t">
            <a:normAutofit/>
          </a:bodyPr>
          <a:lstStyle/>
          <a:p>
            <a:r>
              <a:rPr lang="en-US" sz="2400" dirty="0"/>
              <a:t>The property that reflects the extent to which:</a:t>
            </a:r>
          </a:p>
          <a:p>
            <a:endParaRPr lang="en-US" sz="2400" dirty="0"/>
          </a:p>
          <a:p>
            <a:pPr lvl="1"/>
            <a:r>
              <a:rPr lang="en-US" dirty="0"/>
              <a:t>Data and services are only available to those that are authorized to access them</a:t>
            </a:r>
          </a:p>
          <a:p>
            <a:endParaRPr lang="en-US" sz="2400" dirty="0"/>
          </a:p>
          <a:p>
            <a:r>
              <a:rPr lang="en-US" sz="2400" dirty="0"/>
              <a:t>Is this a concern for a Museum?  How about a Financial Institution?</a:t>
            </a:r>
          </a:p>
        </p:txBody>
      </p:sp>
      <p:sp>
        <p:nvSpPr>
          <p:cNvPr id="13" name="Rectangle 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3ADF48C3-8564-A655-576E-9766934BFB28}"/>
              </a:ext>
            </a:extLst>
          </p:cNvPr>
          <p:cNvPicPr>
            <a:picLocks noChangeAspect="1"/>
          </p:cNvPicPr>
          <p:nvPr/>
        </p:nvPicPr>
        <p:blipFill>
          <a:blip r:embed="rId2"/>
          <a:stretch>
            <a:fillRect/>
          </a:stretch>
        </p:blipFill>
        <p:spPr>
          <a:xfrm>
            <a:off x="7075967" y="1852213"/>
            <a:ext cx="4170530" cy="3185466"/>
          </a:xfrm>
          <a:prstGeom prst="rect">
            <a:avLst/>
          </a:prstGeom>
        </p:spPr>
      </p:pic>
      <p:sp>
        <p:nvSpPr>
          <p:cNvPr id="4" name="Slide Number Placeholder 3">
            <a:extLst>
              <a:ext uri="{FF2B5EF4-FFF2-40B4-BE49-F238E27FC236}">
                <a16:creationId xmlns:a16="http://schemas.microsoft.com/office/drawing/2014/main" id="{FF71D4C7-0915-F188-4914-5FD139C3D25F}"/>
              </a:ext>
            </a:extLst>
          </p:cNvPr>
          <p:cNvSpPr>
            <a:spLocks noGrp="1"/>
          </p:cNvSpPr>
          <p:nvPr>
            <p:ph type="sldNum" sz="quarter" idx="12"/>
          </p:nvPr>
        </p:nvSpPr>
        <p:spPr/>
        <p:txBody>
          <a:bodyPr/>
          <a:lstStyle/>
          <a:p>
            <a:fld id="{7DF6DEEC-D04A-4FF0-9A08-7D39859C24F4}" type="slidenum">
              <a:rPr lang="en-US" smtClean="0"/>
              <a:t>32</a:t>
            </a:fld>
            <a:endParaRPr lang="en-US"/>
          </a:p>
        </p:txBody>
      </p:sp>
    </p:spTree>
    <p:extLst>
      <p:ext uri="{BB962C8B-B14F-4D97-AF65-F5344CB8AC3E}">
        <p14:creationId xmlns:p14="http://schemas.microsoft.com/office/powerpoint/2010/main" val="2672496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57200" y="-39234"/>
            <a:ext cx="6462173" cy="1642970"/>
          </a:xfrm>
        </p:spPr>
        <p:txBody>
          <a:bodyPr anchor="b">
            <a:normAutofit/>
          </a:bodyPr>
          <a:lstStyle/>
          <a:p>
            <a:r>
              <a:rPr lang="en-US" sz="4000" b="1" dirty="0">
                <a:solidFill>
                  <a:schemeClr val="accent2"/>
                </a:solidFill>
              </a:rPr>
              <a:t>Integrity</a:t>
            </a:r>
            <a:r>
              <a:rPr lang="en-US" sz="4000" b="1" dirty="0"/>
              <a:t> as a part of security</a:t>
            </a:r>
          </a:p>
        </p:txBody>
      </p:sp>
      <p:sp>
        <p:nvSpPr>
          <p:cNvPr id="3" name="Content Placeholder 2"/>
          <p:cNvSpPr>
            <a:spLocks noGrp="1"/>
          </p:cNvSpPr>
          <p:nvPr>
            <p:ph idx="1"/>
          </p:nvPr>
        </p:nvSpPr>
        <p:spPr>
          <a:xfrm>
            <a:off x="326571" y="2405894"/>
            <a:ext cx="6725542" cy="3535083"/>
          </a:xfrm>
        </p:spPr>
        <p:txBody>
          <a:bodyPr anchor="t">
            <a:noAutofit/>
          </a:bodyPr>
          <a:lstStyle/>
          <a:p>
            <a:r>
              <a:rPr lang="en-US" sz="3000" dirty="0"/>
              <a:t>This property can also refer to data or services</a:t>
            </a:r>
          </a:p>
          <a:p>
            <a:r>
              <a:rPr lang="en-US" sz="3000" dirty="0"/>
              <a:t>It reflects the extent to which data or services can be delivered as intended</a:t>
            </a:r>
          </a:p>
          <a:p>
            <a:endParaRPr lang="en-US" sz="3000" dirty="0"/>
          </a:p>
          <a:p>
            <a:r>
              <a:rPr lang="en-US" sz="3000" dirty="0"/>
              <a:t>e.g., hopefully the grade that we have recorded for you in this course is correct …</a:t>
            </a:r>
          </a:p>
        </p:txBody>
      </p:sp>
      <p:sp>
        <p:nvSpPr>
          <p:cNvPr id="13" name="Rectangle 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CD392AB0-552E-8785-276D-06A3ABDB60B0}"/>
              </a:ext>
            </a:extLst>
          </p:cNvPr>
          <p:cNvPicPr>
            <a:picLocks noChangeAspect="1"/>
          </p:cNvPicPr>
          <p:nvPr/>
        </p:nvPicPr>
        <p:blipFill>
          <a:blip r:embed="rId2"/>
          <a:stretch>
            <a:fillRect/>
          </a:stretch>
        </p:blipFill>
        <p:spPr>
          <a:xfrm>
            <a:off x="7075967" y="1852213"/>
            <a:ext cx="4170530" cy="3185466"/>
          </a:xfrm>
          <a:prstGeom prst="rect">
            <a:avLst/>
          </a:prstGeom>
        </p:spPr>
      </p:pic>
      <p:sp>
        <p:nvSpPr>
          <p:cNvPr id="4" name="Slide Number Placeholder 3">
            <a:extLst>
              <a:ext uri="{FF2B5EF4-FFF2-40B4-BE49-F238E27FC236}">
                <a16:creationId xmlns:a16="http://schemas.microsoft.com/office/drawing/2014/main" id="{61BC9AFA-D1A6-E38D-1505-30B6A2217D38}"/>
              </a:ext>
            </a:extLst>
          </p:cNvPr>
          <p:cNvSpPr>
            <a:spLocks noGrp="1"/>
          </p:cNvSpPr>
          <p:nvPr>
            <p:ph type="sldNum" sz="quarter" idx="12"/>
          </p:nvPr>
        </p:nvSpPr>
        <p:spPr/>
        <p:txBody>
          <a:bodyPr/>
          <a:lstStyle/>
          <a:p>
            <a:fld id="{7DF6DEEC-D04A-4FF0-9A08-7D39859C24F4}" type="slidenum">
              <a:rPr lang="en-US" smtClean="0"/>
              <a:t>33</a:t>
            </a:fld>
            <a:endParaRPr lang="en-US"/>
          </a:p>
        </p:txBody>
      </p:sp>
    </p:spTree>
    <p:extLst>
      <p:ext uri="{BB962C8B-B14F-4D97-AF65-F5344CB8AC3E}">
        <p14:creationId xmlns:p14="http://schemas.microsoft.com/office/powerpoint/2010/main" val="25178134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352626" y="95538"/>
            <a:ext cx="7983654" cy="1642970"/>
          </a:xfrm>
        </p:spPr>
        <p:txBody>
          <a:bodyPr anchor="b">
            <a:normAutofit/>
          </a:bodyPr>
          <a:lstStyle/>
          <a:p>
            <a:r>
              <a:rPr lang="en-US" sz="4000" b="1" dirty="0">
                <a:solidFill>
                  <a:schemeClr val="accent2"/>
                </a:solidFill>
              </a:rPr>
              <a:t>Non Repudiation </a:t>
            </a:r>
            <a:r>
              <a:rPr lang="en-US" sz="4000" b="1" dirty="0"/>
              <a:t>as a part of security</a:t>
            </a:r>
          </a:p>
        </p:txBody>
      </p:sp>
      <p:sp>
        <p:nvSpPr>
          <p:cNvPr id="3" name="Content Placeholder 2"/>
          <p:cNvSpPr>
            <a:spLocks noGrp="1"/>
          </p:cNvSpPr>
          <p:nvPr>
            <p:ph idx="1"/>
          </p:nvPr>
        </p:nvSpPr>
        <p:spPr>
          <a:xfrm>
            <a:off x="172279" y="2405894"/>
            <a:ext cx="6287834" cy="3535083"/>
          </a:xfrm>
        </p:spPr>
        <p:txBody>
          <a:bodyPr anchor="t">
            <a:noAutofit/>
          </a:bodyPr>
          <a:lstStyle/>
          <a:p>
            <a:r>
              <a:rPr lang="en-US" sz="3000" dirty="0"/>
              <a:t>Nonrepudiation is refers to the ability to guarantee that the sender can not later repudiate or deny having sent the message</a:t>
            </a:r>
          </a:p>
          <a:p>
            <a:r>
              <a:rPr lang="en-US" sz="3000" dirty="0"/>
              <a:t>It can also refer to the guarantee that the recipient cannot later deny having received the message</a:t>
            </a:r>
          </a:p>
          <a:p>
            <a:endParaRPr lang="en-US" sz="3000" dirty="0"/>
          </a:p>
          <a:p>
            <a:r>
              <a:rPr lang="en-US" sz="3000" dirty="0"/>
              <a:t>When might this be important? </a:t>
            </a:r>
          </a:p>
        </p:txBody>
      </p:sp>
      <p:sp>
        <p:nvSpPr>
          <p:cNvPr id="13" name="Rectangle 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90D9CAC7-EC94-0956-7EDE-4C0D01C86DA5}"/>
              </a:ext>
            </a:extLst>
          </p:cNvPr>
          <p:cNvPicPr>
            <a:picLocks noChangeAspect="1"/>
          </p:cNvPicPr>
          <p:nvPr/>
        </p:nvPicPr>
        <p:blipFill>
          <a:blip r:embed="rId2"/>
          <a:stretch>
            <a:fillRect/>
          </a:stretch>
        </p:blipFill>
        <p:spPr>
          <a:xfrm>
            <a:off x="7075967" y="1852213"/>
            <a:ext cx="4170530" cy="3185466"/>
          </a:xfrm>
          <a:prstGeom prst="rect">
            <a:avLst/>
          </a:prstGeom>
        </p:spPr>
      </p:pic>
      <p:sp>
        <p:nvSpPr>
          <p:cNvPr id="4" name="Slide Number Placeholder 3">
            <a:extLst>
              <a:ext uri="{FF2B5EF4-FFF2-40B4-BE49-F238E27FC236}">
                <a16:creationId xmlns:a16="http://schemas.microsoft.com/office/drawing/2014/main" id="{72793DA6-6BBD-8829-13BC-E6DEC6E1FAFB}"/>
              </a:ext>
            </a:extLst>
          </p:cNvPr>
          <p:cNvSpPr>
            <a:spLocks noGrp="1"/>
          </p:cNvSpPr>
          <p:nvPr>
            <p:ph type="sldNum" sz="quarter" idx="12"/>
          </p:nvPr>
        </p:nvSpPr>
        <p:spPr/>
        <p:txBody>
          <a:bodyPr/>
          <a:lstStyle/>
          <a:p>
            <a:fld id="{7DF6DEEC-D04A-4FF0-9A08-7D39859C24F4}" type="slidenum">
              <a:rPr lang="en-US" smtClean="0"/>
              <a:t>34</a:t>
            </a:fld>
            <a:endParaRPr lang="en-US"/>
          </a:p>
        </p:txBody>
      </p:sp>
    </p:spTree>
    <p:extLst>
      <p:ext uri="{BB962C8B-B14F-4D97-AF65-F5344CB8AC3E}">
        <p14:creationId xmlns:p14="http://schemas.microsoft.com/office/powerpoint/2010/main" val="3560772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640080" y="-37701"/>
            <a:ext cx="7162800" cy="1642970"/>
          </a:xfrm>
        </p:spPr>
        <p:txBody>
          <a:bodyPr anchor="b">
            <a:normAutofit/>
          </a:bodyPr>
          <a:lstStyle/>
          <a:p>
            <a:r>
              <a:rPr lang="en-US" sz="4000" b="1" dirty="0">
                <a:solidFill>
                  <a:schemeClr val="accent2"/>
                </a:solidFill>
              </a:rPr>
              <a:t>Availability</a:t>
            </a:r>
            <a:r>
              <a:rPr lang="en-US" sz="4000" b="1" dirty="0"/>
              <a:t> as a part of security</a:t>
            </a:r>
          </a:p>
        </p:txBody>
      </p:sp>
      <p:sp>
        <p:nvSpPr>
          <p:cNvPr id="3" name="Content Placeholder 2"/>
          <p:cNvSpPr>
            <a:spLocks noGrp="1"/>
          </p:cNvSpPr>
          <p:nvPr>
            <p:ph idx="1"/>
          </p:nvPr>
        </p:nvSpPr>
        <p:spPr>
          <a:xfrm>
            <a:off x="195872" y="2405894"/>
            <a:ext cx="6662127" cy="3535083"/>
          </a:xfrm>
        </p:spPr>
        <p:txBody>
          <a:bodyPr anchor="t">
            <a:noAutofit/>
          </a:bodyPr>
          <a:lstStyle/>
          <a:p>
            <a:r>
              <a:rPr lang="en-US" sz="3000" dirty="0"/>
              <a:t>This is the property that reflects the extent to which the system will be available for legitimate use</a:t>
            </a:r>
          </a:p>
          <a:p>
            <a:endParaRPr lang="en-US" sz="3000" dirty="0"/>
          </a:p>
          <a:p>
            <a:r>
              <a:rPr lang="en-US" sz="3000" dirty="0"/>
              <a:t>A denial of service attack is meant to disrupt the availability of a system</a:t>
            </a:r>
          </a:p>
          <a:p>
            <a:endParaRPr lang="en-US" sz="3000" dirty="0"/>
          </a:p>
          <a:p>
            <a:r>
              <a:rPr lang="en-US" sz="3000" dirty="0"/>
              <a:t>We will discuss Availability with more details in few slides.</a:t>
            </a:r>
          </a:p>
        </p:txBody>
      </p:sp>
      <p:sp>
        <p:nvSpPr>
          <p:cNvPr id="13" name="Rectangle 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DDE22BC4-CAA0-D615-182A-4403BB9DF4CC}"/>
              </a:ext>
            </a:extLst>
          </p:cNvPr>
          <p:cNvPicPr>
            <a:picLocks noChangeAspect="1"/>
          </p:cNvPicPr>
          <p:nvPr/>
        </p:nvPicPr>
        <p:blipFill>
          <a:blip r:embed="rId2"/>
          <a:stretch>
            <a:fillRect/>
          </a:stretch>
        </p:blipFill>
        <p:spPr>
          <a:xfrm>
            <a:off x="7075967" y="1852213"/>
            <a:ext cx="4170530" cy="3185466"/>
          </a:xfrm>
          <a:prstGeom prst="rect">
            <a:avLst/>
          </a:prstGeom>
        </p:spPr>
      </p:pic>
      <p:sp>
        <p:nvSpPr>
          <p:cNvPr id="4" name="Slide Number Placeholder 3">
            <a:extLst>
              <a:ext uri="{FF2B5EF4-FFF2-40B4-BE49-F238E27FC236}">
                <a16:creationId xmlns:a16="http://schemas.microsoft.com/office/drawing/2014/main" id="{517B9A9B-B20C-3F3B-37CD-B7669C1D412A}"/>
              </a:ext>
            </a:extLst>
          </p:cNvPr>
          <p:cNvSpPr>
            <a:spLocks noGrp="1"/>
          </p:cNvSpPr>
          <p:nvPr>
            <p:ph type="sldNum" sz="quarter" idx="12"/>
          </p:nvPr>
        </p:nvSpPr>
        <p:spPr/>
        <p:txBody>
          <a:bodyPr/>
          <a:lstStyle/>
          <a:p>
            <a:fld id="{7DF6DEEC-D04A-4FF0-9A08-7D39859C24F4}" type="slidenum">
              <a:rPr lang="en-US" smtClean="0"/>
              <a:t>35</a:t>
            </a:fld>
            <a:endParaRPr lang="en-US"/>
          </a:p>
        </p:txBody>
      </p:sp>
    </p:spTree>
    <p:extLst>
      <p:ext uri="{BB962C8B-B14F-4D97-AF65-F5344CB8AC3E}">
        <p14:creationId xmlns:p14="http://schemas.microsoft.com/office/powerpoint/2010/main" val="38460948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57200" y="290763"/>
            <a:ext cx="7666133" cy="912184"/>
          </a:xfrm>
        </p:spPr>
        <p:txBody>
          <a:bodyPr anchor="b">
            <a:normAutofit fontScale="90000"/>
          </a:bodyPr>
          <a:lstStyle/>
          <a:p>
            <a:r>
              <a:rPr lang="en-US" sz="4000" dirty="0"/>
              <a:t>How to specify security in terms of Quality Scenarios</a:t>
            </a:r>
          </a:p>
        </p:txBody>
      </p:sp>
      <p:sp>
        <p:nvSpPr>
          <p:cNvPr id="3" name="Content Placeholder 2"/>
          <p:cNvSpPr>
            <a:spLocks noGrp="1"/>
          </p:cNvSpPr>
          <p:nvPr>
            <p:ph idx="1"/>
          </p:nvPr>
        </p:nvSpPr>
        <p:spPr>
          <a:xfrm>
            <a:off x="354149" y="1653451"/>
            <a:ext cx="6367670" cy="4813310"/>
          </a:xfrm>
        </p:spPr>
        <p:txBody>
          <a:bodyPr anchor="t">
            <a:noAutofit/>
          </a:bodyPr>
          <a:lstStyle/>
          <a:p>
            <a:r>
              <a:rPr lang="en-US" sz="3000" dirty="0"/>
              <a:t>People often have trouble articulating the security concern</a:t>
            </a:r>
          </a:p>
          <a:p>
            <a:r>
              <a:rPr lang="en-US" sz="3000" dirty="0"/>
              <a:t>In this area it’s common to articulate the solution</a:t>
            </a:r>
          </a:p>
          <a:p>
            <a:pPr lvl="1"/>
            <a:r>
              <a:rPr lang="en-US" sz="3000" dirty="0"/>
              <a:t>e.g., “</a:t>
            </a:r>
            <a:r>
              <a:rPr lang="en-US" sz="3000" dirty="0">
                <a:solidFill>
                  <a:schemeClr val="accent2"/>
                </a:solidFill>
              </a:rPr>
              <a:t>System must support login</a:t>
            </a:r>
            <a:r>
              <a:rPr lang="en-US" sz="3000" dirty="0"/>
              <a:t>”</a:t>
            </a:r>
          </a:p>
          <a:p>
            <a:pPr lvl="0"/>
            <a:r>
              <a:rPr lang="en-US" sz="3000" dirty="0"/>
              <a:t>This makes it difficult to evaluate the security of the system</a:t>
            </a:r>
          </a:p>
          <a:p>
            <a:pPr lvl="1"/>
            <a:r>
              <a:rPr lang="en-US" sz="3000" dirty="0"/>
              <a:t>Rather than the support for the required mechanism</a:t>
            </a:r>
          </a:p>
        </p:txBody>
      </p:sp>
      <p:sp>
        <p:nvSpPr>
          <p:cNvPr id="13" name="Rectangle 1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Rectangle 1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C13744ED-B9ED-7D0A-B443-D9D1220F2192}"/>
              </a:ext>
            </a:extLst>
          </p:cNvPr>
          <p:cNvPicPr>
            <a:picLocks noChangeAspect="1"/>
          </p:cNvPicPr>
          <p:nvPr/>
        </p:nvPicPr>
        <p:blipFill>
          <a:blip r:embed="rId2"/>
          <a:stretch>
            <a:fillRect/>
          </a:stretch>
        </p:blipFill>
        <p:spPr>
          <a:xfrm>
            <a:off x="7075967" y="1852213"/>
            <a:ext cx="4170530" cy="3185466"/>
          </a:xfrm>
          <a:prstGeom prst="rect">
            <a:avLst/>
          </a:prstGeom>
        </p:spPr>
      </p:pic>
      <p:sp>
        <p:nvSpPr>
          <p:cNvPr id="4" name="Slide Number Placeholder 3">
            <a:extLst>
              <a:ext uri="{FF2B5EF4-FFF2-40B4-BE49-F238E27FC236}">
                <a16:creationId xmlns:a16="http://schemas.microsoft.com/office/drawing/2014/main" id="{F22AABF1-E1AD-97F8-6E06-156A57D30BF1}"/>
              </a:ext>
            </a:extLst>
          </p:cNvPr>
          <p:cNvSpPr>
            <a:spLocks noGrp="1"/>
          </p:cNvSpPr>
          <p:nvPr>
            <p:ph type="sldNum" sz="quarter" idx="12"/>
          </p:nvPr>
        </p:nvSpPr>
        <p:spPr/>
        <p:txBody>
          <a:bodyPr/>
          <a:lstStyle/>
          <a:p>
            <a:fld id="{7DF6DEEC-D04A-4FF0-9A08-7D39859C24F4}" type="slidenum">
              <a:rPr lang="en-US" smtClean="0"/>
              <a:t>36</a:t>
            </a:fld>
            <a:endParaRPr lang="en-US"/>
          </a:p>
        </p:txBody>
      </p:sp>
    </p:spTree>
    <p:extLst>
      <p:ext uri="{BB962C8B-B14F-4D97-AF65-F5344CB8AC3E}">
        <p14:creationId xmlns:p14="http://schemas.microsoft.com/office/powerpoint/2010/main" val="28175675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Flowchart: Document 21">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dirty="0">
                <a:solidFill>
                  <a:srgbClr val="FFFFFF"/>
                </a:solidFill>
                <a:latin typeface="+mj-lt"/>
                <a:ea typeface="+mj-ea"/>
                <a:cs typeface="+mj-cs"/>
              </a:rPr>
              <a:t>Security General Scenario</a:t>
            </a:r>
          </a:p>
        </p:txBody>
      </p:sp>
      <p:sp>
        <p:nvSpPr>
          <p:cNvPr id="4" name="Slide Number Placeholder 3">
            <a:extLst>
              <a:ext uri="{FF2B5EF4-FFF2-40B4-BE49-F238E27FC236}">
                <a16:creationId xmlns:a16="http://schemas.microsoft.com/office/drawing/2014/main" id="{4B15464D-D17E-A89B-CBBF-40BA215F8E0E}"/>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7DF6DEEC-D04A-4FF0-9A08-7D39859C24F4}" type="slidenum">
              <a:rPr lang="en-US" smtClean="0"/>
              <a:pPr algn="l">
                <a:spcAft>
                  <a:spcPts val="600"/>
                </a:spcAft>
              </a:pPr>
              <a:t>37</a:t>
            </a:fld>
            <a:endParaRPr lang="en-US"/>
          </a:p>
        </p:txBody>
      </p:sp>
      <p:graphicFrame>
        <p:nvGraphicFramePr>
          <p:cNvPr id="3" name="Table 2"/>
          <p:cNvGraphicFramePr>
            <a:graphicFrameLocks noGrp="1"/>
          </p:cNvGraphicFramePr>
          <p:nvPr>
            <p:extLst>
              <p:ext uri="{D42A27DB-BD31-4B8C-83A1-F6EECF244321}">
                <p14:modId xmlns:p14="http://schemas.microsoft.com/office/powerpoint/2010/main" val="2324832534"/>
              </p:ext>
            </p:extLst>
          </p:nvPr>
        </p:nvGraphicFramePr>
        <p:xfrm>
          <a:off x="4325994" y="640080"/>
          <a:ext cx="7111417" cy="5836672"/>
        </p:xfrm>
        <a:graphic>
          <a:graphicData uri="http://schemas.openxmlformats.org/drawingml/2006/table">
            <a:tbl>
              <a:tblPr firstRow="1" bandRow="1">
                <a:noFill/>
                <a:tableStyleId>{5C22544A-7EE6-4342-B048-85BDC9FD1C3A}</a:tableStyleId>
              </a:tblPr>
              <a:tblGrid>
                <a:gridCol w="1077289">
                  <a:extLst>
                    <a:ext uri="{9D8B030D-6E8A-4147-A177-3AD203B41FA5}">
                      <a16:colId xmlns:a16="http://schemas.microsoft.com/office/drawing/2014/main" val="20000"/>
                    </a:ext>
                  </a:extLst>
                </a:gridCol>
                <a:gridCol w="6034128">
                  <a:extLst>
                    <a:ext uri="{9D8B030D-6E8A-4147-A177-3AD203B41FA5}">
                      <a16:colId xmlns:a16="http://schemas.microsoft.com/office/drawing/2014/main" val="20001"/>
                    </a:ext>
                  </a:extLst>
                </a:gridCol>
              </a:tblGrid>
              <a:tr h="465930">
                <a:tc>
                  <a:txBody>
                    <a:bodyPr/>
                    <a:lstStyle/>
                    <a:p>
                      <a:pPr marL="0" marR="0">
                        <a:lnSpc>
                          <a:spcPts val="1450"/>
                        </a:lnSpc>
                        <a:spcBef>
                          <a:spcPts val="400"/>
                        </a:spcBef>
                        <a:spcAft>
                          <a:spcPts val="400"/>
                        </a:spcAft>
                      </a:pPr>
                      <a:r>
                        <a:rPr lang="en-US" sz="1400" b="0" cap="none" spc="0">
                          <a:solidFill>
                            <a:schemeClr val="tx1"/>
                          </a:solidFill>
                          <a:effectLst/>
                        </a:rPr>
                        <a:t>Portion of </a:t>
                      </a:r>
                      <a:br>
                        <a:rPr lang="en-US" sz="1400" b="0" cap="none" spc="0">
                          <a:solidFill>
                            <a:schemeClr val="tx1"/>
                          </a:solidFill>
                          <a:effectLst/>
                        </a:rPr>
                      </a:br>
                      <a:r>
                        <a:rPr lang="en-US" sz="1400" b="0" cap="none" spc="0">
                          <a:solidFill>
                            <a:schemeClr val="tx1"/>
                          </a:solidFill>
                          <a:effectLst/>
                        </a:rPr>
                        <a:t>Scenario</a:t>
                      </a:r>
                      <a:endParaRPr lang="en-US" sz="1400" b="0" cap="none" spc="0">
                        <a:solidFill>
                          <a:schemeClr val="tx1"/>
                        </a:solidFill>
                        <a:effectLst/>
                        <a:latin typeface="Times"/>
                        <a:ea typeface="Times New Roman"/>
                        <a:cs typeface="Times New Roman"/>
                      </a:endParaRPr>
                    </a:p>
                  </a:txBody>
                  <a:tcPr marL="0" marR="101222" marT="16159" marB="80797" anchor="b">
                    <a:lnL w="12700" cmpd="sng">
                      <a:noFill/>
                      <a:prstDash val="solid"/>
                    </a:lnL>
                    <a:lnR w="12700" cmpd="sng">
                      <a:noFill/>
                      <a:prstDash val="solid"/>
                    </a:lnR>
                    <a:lnT w="9525" cap="flat" cmpd="sng" algn="ctr">
                      <a:noFill/>
                      <a:prstDash val="solid"/>
                    </a:lnT>
                    <a:lnB w="12700" cmpd="sng">
                      <a:noFill/>
                      <a:prstDash val="solid"/>
                    </a:lnB>
                    <a:noFill/>
                  </a:tcPr>
                </a:tc>
                <a:tc>
                  <a:txBody>
                    <a:bodyPr/>
                    <a:lstStyle/>
                    <a:p>
                      <a:pPr marL="0" marR="0">
                        <a:lnSpc>
                          <a:spcPts val="1450"/>
                        </a:lnSpc>
                        <a:spcBef>
                          <a:spcPts val="400"/>
                        </a:spcBef>
                        <a:spcAft>
                          <a:spcPts val="400"/>
                        </a:spcAft>
                      </a:pPr>
                      <a:r>
                        <a:rPr lang="en-US" sz="1400" b="0" cap="none" spc="0">
                          <a:solidFill>
                            <a:schemeClr val="tx1"/>
                          </a:solidFill>
                          <a:effectLst/>
                        </a:rPr>
                        <a:t>Possible Values</a:t>
                      </a:r>
                      <a:endParaRPr lang="en-US" sz="1400" b="0" cap="none" spc="0">
                        <a:solidFill>
                          <a:schemeClr val="tx1"/>
                        </a:solidFill>
                        <a:effectLst/>
                        <a:latin typeface="Times"/>
                        <a:ea typeface="Times New Roman"/>
                        <a:cs typeface="Times New Roman"/>
                      </a:endParaRPr>
                    </a:p>
                  </a:txBody>
                  <a:tcPr marL="0" marR="101222" marT="16159" marB="80797" anchor="b">
                    <a:lnL w="12700" cmpd="sng">
                      <a:noFill/>
                      <a:prstDash val="solid"/>
                    </a:lnL>
                    <a:lnR w="12700" cmpd="sng">
                      <a:noFill/>
                      <a:prstDash val="solid"/>
                    </a:lnR>
                    <a:lnT w="9525" cap="flat" cmpd="sng" algn="ctr">
                      <a:noFill/>
                      <a:prstDash val="solid"/>
                    </a:lnT>
                    <a:lnB w="12700" cmpd="sng">
                      <a:noFill/>
                      <a:prstDash val="solid"/>
                    </a:lnB>
                    <a:noFill/>
                  </a:tcPr>
                </a:tc>
                <a:extLst>
                  <a:ext uri="{0D108BD9-81ED-4DB2-BD59-A6C34878D82A}">
                    <a16:rowId xmlns:a16="http://schemas.microsoft.com/office/drawing/2014/main" val="10000"/>
                  </a:ext>
                </a:extLst>
              </a:tr>
              <a:tr h="631621">
                <a:tc>
                  <a:txBody>
                    <a:bodyPr/>
                    <a:lstStyle/>
                    <a:p>
                      <a:pPr marL="0" marR="0">
                        <a:lnSpc>
                          <a:spcPts val="1450"/>
                        </a:lnSpc>
                        <a:spcBef>
                          <a:spcPts val="400"/>
                        </a:spcBef>
                        <a:spcAft>
                          <a:spcPts val="400"/>
                        </a:spcAft>
                      </a:pPr>
                      <a:r>
                        <a:rPr lang="en-US" sz="1100" cap="none" spc="0">
                          <a:solidFill>
                            <a:schemeClr val="tx1"/>
                          </a:solidFill>
                          <a:effectLst/>
                        </a:rPr>
                        <a:t>Source</a:t>
                      </a:r>
                      <a:endParaRPr lang="en-US" sz="1100" cap="none" spc="0">
                        <a:solidFill>
                          <a:schemeClr val="tx1"/>
                        </a:solidFill>
                        <a:effectLst/>
                        <a:latin typeface="Times"/>
                        <a:ea typeface="Times New Roman"/>
                        <a:cs typeface="Times New Roman"/>
                      </a:endParaRPr>
                    </a:p>
                  </a:txBody>
                  <a:tcPr marL="0" marR="35134" marT="24239" marB="80797">
                    <a:lnL w="12700" cmpd="sng">
                      <a:noFill/>
                      <a:prstDash val="solid"/>
                    </a:lnL>
                    <a:lnR w="12700" cmpd="sng">
                      <a:noFill/>
                      <a:prstDash val="solid"/>
                    </a:lnR>
                    <a:lnT w="12700" cmpd="sng">
                      <a:noFill/>
                      <a:prstDash val="solid"/>
                    </a:lnT>
                    <a:lnB w="9525" cap="flat" cmpd="sng" algn="ctr">
                      <a:solidFill>
                        <a:schemeClr val="tx1"/>
                      </a:solidFill>
                      <a:prstDash val="solid"/>
                    </a:lnB>
                    <a:noFill/>
                  </a:tcPr>
                </a:tc>
                <a:tc>
                  <a:txBody>
                    <a:bodyPr/>
                    <a:lstStyle/>
                    <a:p>
                      <a:pPr marL="0" marR="0" indent="0">
                        <a:lnSpc>
                          <a:spcPts val="1450"/>
                        </a:lnSpc>
                        <a:spcBef>
                          <a:spcPts val="100"/>
                        </a:spcBef>
                        <a:spcAft>
                          <a:spcPts val="300"/>
                        </a:spcAft>
                        <a:tabLst>
                          <a:tab pos="228600" algn="l"/>
                          <a:tab pos="274320" algn="l"/>
                          <a:tab pos="274320" algn="l"/>
                        </a:tabLst>
                      </a:pPr>
                      <a:r>
                        <a:rPr lang="en-US" sz="1100" kern="1100" cap="none" spc="0">
                          <a:solidFill>
                            <a:schemeClr val="tx1"/>
                          </a:solidFill>
                          <a:effectLst/>
                        </a:rPr>
                        <a:t>Human or another system which may have been previously identified (either correctly or incorrectly) or may be currently unknown. A human attacker may be from outside the organization or from inside the organization.</a:t>
                      </a:r>
                      <a:endParaRPr lang="en-US" sz="1100" kern="1100" cap="none" spc="0">
                        <a:solidFill>
                          <a:schemeClr val="tx1"/>
                        </a:solidFill>
                        <a:effectLst/>
                        <a:latin typeface="Times New Roman"/>
                        <a:ea typeface="Times New Roman"/>
                      </a:endParaRPr>
                    </a:p>
                  </a:txBody>
                  <a:tcPr marL="0" marR="35134" marT="24239" marB="80797">
                    <a:lnL w="12700" cmpd="sng">
                      <a:noFill/>
                      <a:prstDash val="solid"/>
                    </a:lnL>
                    <a:lnR w="12700" cmpd="sng">
                      <a:noFill/>
                      <a:prstDash val="solid"/>
                    </a:lnR>
                    <a:lnT w="12700" cmpd="sng">
                      <a:noFill/>
                      <a:prstDash val="solid"/>
                    </a:lnT>
                    <a:lnB w="9525" cap="flat" cmpd="sng" algn="ctr">
                      <a:solidFill>
                        <a:schemeClr val="tx1"/>
                      </a:solidFill>
                      <a:prstDash val="solid"/>
                    </a:lnB>
                    <a:noFill/>
                  </a:tcPr>
                </a:tc>
                <a:extLst>
                  <a:ext uri="{0D108BD9-81ED-4DB2-BD59-A6C34878D82A}">
                    <a16:rowId xmlns:a16="http://schemas.microsoft.com/office/drawing/2014/main" val="10001"/>
                  </a:ext>
                </a:extLst>
              </a:tr>
              <a:tr h="463294">
                <a:tc>
                  <a:txBody>
                    <a:bodyPr/>
                    <a:lstStyle/>
                    <a:p>
                      <a:pPr marL="0" marR="0">
                        <a:lnSpc>
                          <a:spcPts val="1450"/>
                        </a:lnSpc>
                        <a:spcBef>
                          <a:spcPts val="400"/>
                        </a:spcBef>
                        <a:spcAft>
                          <a:spcPts val="400"/>
                        </a:spcAft>
                      </a:pPr>
                      <a:r>
                        <a:rPr lang="en-US" sz="1100" cap="none" spc="0">
                          <a:solidFill>
                            <a:schemeClr val="tx1"/>
                          </a:solidFill>
                          <a:effectLst/>
                        </a:rPr>
                        <a:t>Stimulus</a:t>
                      </a:r>
                      <a:endParaRPr lang="en-US" sz="1100" cap="none" spc="0">
                        <a:solidFill>
                          <a:schemeClr val="tx1"/>
                        </a:solidFill>
                        <a:effectLst/>
                        <a:latin typeface="Times"/>
                        <a:ea typeface="Times New Roman"/>
                        <a:cs typeface="Times New Roman"/>
                      </a:endParaRPr>
                    </a:p>
                  </a:txBody>
                  <a:tcPr marL="0" marR="35134" marT="24239" marB="80797">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tc>
                  <a:txBody>
                    <a:bodyPr/>
                    <a:lstStyle/>
                    <a:p>
                      <a:pPr marL="0" marR="0" indent="0">
                        <a:lnSpc>
                          <a:spcPts val="1450"/>
                        </a:lnSpc>
                        <a:spcBef>
                          <a:spcPts val="100"/>
                        </a:spcBef>
                        <a:spcAft>
                          <a:spcPts val="300"/>
                        </a:spcAft>
                        <a:tabLst>
                          <a:tab pos="228600" algn="l"/>
                          <a:tab pos="274320" algn="l"/>
                          <a:tab pos="274320" algn="l"/>
                        </a:tabLst>
                      </a:pPr>
                      <a:r>
                        <a:rPr lang="en-US" sz="1100" kern="1100" cap="none" spc="0">
                          <a:solidFill>
                            <a:schemeClr val="tx1"/>
                          </a:solidFill>
                          <a:effectLst/>
                        </a:rPr>
                        <a:t>Unauthorized attempt is made to display data, change or delete data, access system services, change the system’s behavior, or reduce availability.</a:t>
                      </a:r>
                      <a:endParaRPr lang="en-US" sz="1100" kern="1100" cap="none" spc="0">
                        <a:solidFill>
                          <a:schemeClr val="tx1"/>
                        </a:solidFill>
                        <a:effectLst/>
                        <a:latin typeface="Times New Roman"/>
                        <a:ea typeface="Times New Roman"/>
                      </a:endParaRPr>
                    </a:p>
                  </a:txBody>
                  <a:tcPr marL="0" marR="35134" marT="24239" marB="80797">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02"/>
                  </a:ext>
                </a:extLst>
              </a:tr>
              <a:tr h="463294">
                <a:tc>
                  <a:txBody>
                    <a:bodyPr/>
                    <a:lstStyle/>
                    <a:p>
                      <a:pPr marL="0" marR="0">
                        <a:lnSpc>
                          <a:spcPts val="1450"/>
                        </a:lnSpc>
                        <a:spcBef>
                          <a:spcPts val="400"/>
                        </a:spcBef>
                        <a:spcAft>
                          <a:spcPts val="400"/>
                        </a:spcAft>
                      </a:pPr>
                      <a:r>
                        <a:rPr lang="en-US" sz="1100" cap="none" spc="0">
                          <a:solidFill>
                            <a:schemeClr val="tx1"/>
                          </a:solidFill>
                          <a:effectLst/>
                        </a:rPr>
                        <a:t>Artifact</a:t>
                      </a:r>
                      <a:endParaRPr lang="en-US" sz="1100" cap="none" spc="0">
                        <a:solidFill>
                          <a:schemeClr val="tx1"/>
                        </a:solidFill>
                        <a:effectLst/>
                        <a:latin typeface="Times"/>
                        <a:ea typeface="Times New Roman"/>
                        <a:cs typeface="Times New Roman"/>
                      </a:endParaRPr>
                    </a:p>
                  </a:txBody>
                  <a:tcPr marL="0" marR="35134" marT="24239" marB="80797">
                    <a:lnL w="12700" cmpd="sng">
                      <a:noFill/>
                      <a:prstDash val="solid"/>
                    </a:lnL>
                    <a:lnR w="12700" cmpd="sng">
                      <a:noFill/>
                      <a:prstDash val="solid"/>
                    </a:lnR>
                    <a:lnT w="12700" cmpd="sng">
                      <a:noFill/>
                      <a:prstDash val="solid"/>
                    </a:lnT>
                    <a:lnB w="9525" cap="flat" cmpd="sng" algn="ctr">
                      <a:solidFill>
                        <a:schemeClr val="tx1"/>
                      </a:solidFill>
                      <a:prstDash val="solid"/>
                    </a:lnB>
                    <a:noFill/>
                  </a:tcPr>
                </a:tc>
                <a:tc>
                  <a:txBody>
                    <a:bodyPr/>
                    <a:lstStyle/>
                    <a:p>
                      <a:pPr marL="0" marR="0">
                        <a:lnSpc>
                          <a:spcPts val="1450"/>
                        </a:lnSpc>
                        <a:spcBef>
                          <a:spcPts val="400"/>
                        </a:spcBef>
                        <a:spcAft>
                          <a:spcPts val="400"/>
                        </a:spcAft>
                      </a:pPr>
                      <a:r>
                        <a:rPr lang="en-US" sz="1100" cap="none" spc="0">
                          <a:solidFill>
                            <a:schemeClr val="tx1"/>
                          </a:solidFill>
                          <a:effectLst/>
                        </a:rPr>
                        <a:t>System services; data within the system; a component or resources of the system; data produced or consumed by the system</a:t>
                      </a:r>
                      <a:endParaRPr lang="en-US" sz="1100" cap="none" spc="0">
                        <a:solidFill>
                          <a:schemeClr val="tx1"/>
                        </a:solidFill>
                        <a:effectLst/>
                        <a:latin typeface="Times"/>
                        <a:ea typeface="Times New Roman"/>
                        <a:cs typeface="Times New Roman"/>
                      </a:endParaRPr>
                    </a:p>
                  </a:txBody>
                  <a:tcPr marL="0" marR="35134" marT="24239" marB="80797">
                    <a:lnL w="12700" cmpd="sng">
                      <a:noFill/>
                      <a:prstDash val="solid"/>
                    </a:lnL>
                    <a:lnR w="12700" cmpd="sng">
                      <a:noFill/>
                      <a:prstDash val="solid"/>
                    </a:lnR>
                    <a:lnT w="12700" cmpd="sng">
                      <a:noFill/>
                      <a:prstDash val="solid"/>
                    </a:lnT>
                    <a:lnB w="9525" cap="flat" cmpd="sng" algn="ctr">
                      <a:solidFill>
                        <a:schemeClr val="tx1"/>
                      </a:solidFill>
                      <a:prstDash val="solid"/>
                    </a:lnB>
                    <a:noFill/>
                  </a:tcPr>
                </a:tc>
                <a:extLst>
                  <a:ext uri="{0D108BD9-81ED-4DB2-BD59-A6C34878D82A}">
                    <a16:rowId xmlns:a16="http://schemas.microsoft.com/office/drawing/2014/main" val="10003"/>
                  </a:ext>
                </a:extLst>
              </a:tr>
              <a:tr h="463294">
                <a:tc>
                  <a:txBody>
                    <a:bodyPr/>
                    <a:lstStyle/>
                    <a:p>
                      <a:pPr marL="0" marR="0">
                        <a:lnSpc>
                          <a:spcPts val="1450"/>
                        </a:lnSpc>
                        <a:spcBef>
                          <a:spcPts val="400"/>
                        </a:spcBef>
                        <a:spcAft>
                          <a:spcPts val="400"/>
                        </a:spcAft>
                      </a:pPr>
                      <a:r>
                        <a:rPr lang="en-US" sz="1100" cap="none" spc="0">
                          <a:solidFill>
                            <a:schemeClr val="tx1"/>
                          </a:solidFill>
                          <a:effectLst/>
                        </a:rPr>
                        <a:t>Environment</a:t>
                      </a:r>
                      <a:endParaRPr lang="en-US" sz="1100" cap="none" spc="0">
                        <a:solidFill>
                          <a:schemeClr val="tx1"/>
                        </a:solidFill>
                        <a:effectLst/>
                        <a:latin typeface="Times"/>
                        <a:ea typeface="Times New Roman"/>
                        <a:cs typeface="Times New Roman"/>
                      </a:endParaRPr>
                    </a:p>
                  </a:txBody>
                  <a:tcPr marL="0" marR="35134" marT="24239" marB="80797">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tc>
                  <a:txBody>
                    <a:bodyPr/>
                    <a:lstStyle/>
                    <a:p>
                      <a:pPr marL="0" marR="0">
                        <a:lnSpc>
                          <a:spcPts val="1450"/>
                        </a:lnSpc>
                        <a:spcBef>
                          <a:spcPts val="400"/>
                        </a:spcBef>
                        <a:spcAft>
                          <a:spcPts val="400"/>
                        </a:spcAft>
                        <a:tabLst>
                          <a:tab pos="1969135" algn="ctr"/>
                        </a:tabLst>
                      </a:pPr>
                      <a:r>
                        <a:rPr lang="en-US" sz="1100" cap="none" spc="0">
                          <a:solidFill>
                            <a:schemeClr val="tx1"/>
                          </a:solidFill>
                          <a:effectLst/>
                        </a:rPr>
                        <a:t>The system is either online or offline, connected to or disconnected from a network, behind a firewall or open to a network, fully operational, partially operational, or not operational</a:t>
                      </a:r>
                      <a:endParaRPr lang="en-US" sz="1100" cap="none" spc="0">
                        <a:solidFill>
                          <a:schemeClr val="tx1"/>
                        </a:solidFill>
                        <a:effectLst/>
                        <a:latin typeface="Times"/>
                        <a:ea typeface="Times New Roman"/>
                        <a:cs typeface="Times New Roman"/>
                      </a:endParaRPr>
                    </a:p>
                  </a:txBody>
                  <a:tcPr marL="0" marR="35134" marT="24239" marB="80797">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04"/>
                  </a:ext>
                </a:extLst>
              </a:tr>
              <a:tr h="1809406">
                <a:tc>
                  <a:txBody>
                    <a:bodyPr/>
                    <a:lstStyle/>
                    <a:p>
                      <a:pPr marL="0" marR="0">
                        <a:lnSpc>
                          <a:spcPts val="1450"/>
                        </a:lnSpc>
                        <a:spcBef>
                          <a:spcPts val="400"/>
                        </a:spcBef>
                        <a:spcAft>
                          <a:spcPts val="400"/>
                        </a:spcAft>
                      </a:pPr>
                      <a:r>
                        <a:rPr lang="en-US" sz="1100" cap="none" spc="0">
                          <a:solidFill>
                            <a:schemeClr val="tx1"/>
                          </a:solidFill>
                          <a:effectLst/>
                        </a:rPr>
                        <a:t>Response</a:t>
                      </a:r>
                      <a:endParaRPr lang="en-US" sz="1100" cap="none" spc="0">
                        <a:solidFill>
                          <a:schemeClr val="tx1"/>
                        </a:solidFill>
                        <a:effectLst/>
                        <a:latin typeface="Times"/>
                        <a:ea typeface="Times New Roman"/>
                        <a:cs typeface="Times New Roman"/>
                      </a:endParaRPr>
                    </a:p>
                  </a:txBody>
                  <a:tcPr marL="0" marR="35134" marT="24239" marB="80797">
                    <a:lnL w="12700" cmpd="sng">
                      <a:noFill/>
                      <a:prstDash val="solid"/>
                    </a:lnL>
                    <a:lnR w="12700" cmpd="sng">
                      <a:noFill/>
                      <a:prstDash val="solid"/>
                    </a:lnR>
                    <a:lnT w="12700" cmpd="sng">
                      <a:noFill/>
                      <a:prstDash val="solid"/>
                    </a:lnT>
                    <a:lnB w="9525" cap="flat" cmpd="sng" algn="ctr">
                      <a:solidFill>
                        <a:schemeClr val="tx1"/>
                      </a:solidFill>
                      <a:prstDash val="solid"/>
                    </a:lnB>
                    <a:noFill/>
                  </a:tcPr>
                </a:tc>
                <a:tc>
                  <a:txBody>
                    <a:bodyPr/>
                    <a:lstStyle/>
                    <a:p>
                      <a:pPr marL="0" marR="0" indent="0">
                        <a:lnSpc>
                          <a:spcPts val="1450"/>
                        </a:lnSpc>
                        <a:spcBef>
                          <a:spcPts val="100"/>
                        </a:spcBef>
                        <a:spcAft>
                          <a:spcPts val="300"/>
                        </a:spcAft>
                        <a:tabLst>
                          <a:tab pos="228600" algn="l"/>
                          <a:tab pos="274320" algn="l"/>
                          <a:tab pos="274320" algn="l"/>
                        </a:tabLst>
                      </a:pPr>
                      <a:r>
                        <a:rPr lang="en-US" sz="1100" kern="1100" cap="none" spc="0">
                          <a:solidFill>
                            <a:schemeClr val="tx1"/>
                          </a:solidFill>
                          <a:effectLst/>
                        </a:rPr>
                        <a:t>Transactions are carried out in a fashion such that </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data or services are protected from unauthorized access; </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data or services are not being manipulated without authorization;</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parties to a transaction are identified with assurance; </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the parties to the transaction cannot repudiate their involvements; </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the data, resources, and system services will be available for legitimate use. </a:t>
                      </a:r>
                    </a:p>
                    <a:p>
                      <a:pPr marL="0" marR="0" indent="0">
                        <a:lnSpc>
                          <a:spcPts val="1450"/>
                        </a:lnSpc>
                        <a:spcBef>
                          <a:spcPts val="100"/>
                        </a:spcBef>
                        <a:spcAft>
                          <a:spcPts val="300"/>
                        </a:spcAft>
                        <a:tabLst>
                          <a:tab pos="228600" algn="l"/>
                          <a:tab pos="274320" algn="l"/>
                          <a:tab pos="274320" algn="l"/>
                        </a:tabLst>
                      </a:pPr>
                      <a:r>
                        <a:rPr lang="en-US" sz="1100" kern="1100" cap="none" spc="0">
                          <a:solidFill>
                            <a:schemeClr val="tx1"/>
                          </a:solidFill>
                          <a:effectLst/>
                        </a:rPr>
                        <a:t>The system tracks activities within it by</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recording access or modification, </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recording attempts to access data, resources or services, </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notifying appropriate entities (people or systems) when an apparent attack is occurring.</a:t>
                      </a:r>
                      <a:endParaRPr lang="en-US" sz="1100" kern="1100" cap="none" spc="0">
                        <a:solidFill>
                          <a:schemeClr val="tx1"/>
                        </a:solidFill>
                        <a:effectLst/>
                        <a:latin typeface="Times New Roman"/>
                        <a:ea typeface="Times New Roman"/>
                      </a:endParaRPr>
                    </a:p>
                  </a:txBody>
                  <a:tcPr marL="0" marR="35134" marT="24239" marB="80797">
                    <a:lnL w="12700" cmpd="sng">
                      <a:noFill/>
                      <a:prstDash val="solid"/>
                    </a:lnL>
                    <a:lnR w="12700" cmpd="sng">
                      <a:noFill/>
                      <a:prstDash val="solid"/>
                    </a:lnR>
                    <a:lnT w="12700" cmpd="sng">
                      <a:noFill/>
                      <a:prstDash val="solid"/>
                    </a:lnT>
                    <a:lnB w="9525" cap="flat" cmpd="sng" algn="ctr">
                      <a:solidFill>
                        <a:schemeClr val="tx1"/>
                      </a:solidFill>
                      <a:prstDash val="solid"/>
                    </a:lnB>
                    <a:noFill/>
                  </a:tcPr>
                </a:tc>
                <a:extLst>
                  <a:ext uri="{0D108BD9-81ED-4DB2-BD59-A6C34878D82A}">
                    <a16:rowId xmlns:a16="http://schemas.microsoft.com/office/drawing/2014/main" val="10005"/>
                  </a:ext>
                </a:extLst>
              </a:tr>
              <a:tr h="1281981">
                <a:tc>
                  <a:txBody>
                    <a:bodyPr/>
                    <a:lstStyle/>
                    <a:p>
                      <a:pPr marL="0" marR="0">
                        <a:lnSpc>
                          <a:spcPts val="1450"/>
                        </a:lnSpc>
                        <a:spcBef>
                          <a:spcPts val="400"/>
                        </a:spcBef>
                        <a:spcAft>
                          <a:spcPts val="400"/>
                        </a:spcAft>
                      </a:pPr>
                      <a:r>
                        <a:rPr lang="en-US" sz="1100" cap="none" spc="0">
                          <a:solidFill>
                            <a:schemeClr val="tx1"/>
                          </a:solidFill>
                          <a:effectLst/>
                        </a:rPr>
                        <a:t>Response </a:t>
                      </a:r>
                      <a:br>
                        <a:rPr lang="en-US" sz="1100" cap="none" spc="0">
                          <a:solidFill>
                            <a:schemeClr val="tx1"/>
                          </a:solidFill>
                          <a:effectLst/>
                        </a:rPr>
                      </a:br>
                      <a:r>
                        <a:rPr lang="en-US" sz="1100" cap="none" spc="0">
                          <a:solidFill>
                            <a:schemeClr val="tx1"/>
                          </a:solidFill>
                          <a:effectLst/>
                        </a:rPr>
                        <a:t>Measure</a:t>
                      </a:r>
                      <a:endParaRPr lang="en-US" sz="1100" cap="none" spc="0">
                        <a:solidFill>
                          <a:schemeClr val="tx1"/>
                        </a:solidFill>
                        <a:effectLst/>
                        <a:latin typeface="Times"/>
                        <a:ea typeface="Times New Roman"/>
                        <a:cs typeface="Times New Roman"/>
                      </a:endParaRPr>
                    </a:p>
                  </a:txBody>
                  <a:tcPr marL="0" marR="35134" marT="24239" marB="80797">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tc>
                  <a:txBody>
                    <a:bodyPr/>
                    <a:lstStyle/>
                    <a:p>
                      <a:pPr marL="0" marR="0" indent="0">
                        <a:lnSpc>
                          <a:spcPts val="1450"/>
                        </a:lnSpc>
                        <a:spcBef>
                          <a:spcPts val="100"/>
                        </a:spcBef>
                        <a:spcAft>
                          <a:spcPts val="300"/>
                        </a:spcAft>
                        <a:tabLst>
                          <a:tab pos="228600" algn="l"/>
                          <a:tab pos="274320" algn="l"/>
                          <a:tab pos="274320" algn="l"/>
                        </a:tabLst>
                      </a:pPr>
                      <a:r>
                        <a:rPr lang="en-US" sz="1100" kern="1100" cap="none" spc="0">
                          <a:solidFill>
                            <a:schemeClr val="tx1"/>
                          </a:solidFill>
                          <a:effectLst/>
                        </a:rPr>
                        <a:t>One or more of the following</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how much of a system is compromised when a particular component or data value is compromised,</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how much time passed before an attack was detected, </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how many attacks were resisted, </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how long does it take to recover from a successful attack, </a:t>
                      </a:r>
                    </a:p>
                    <a:p>
                      <a:pPr marL="342900" marR="0" lvl="0" indent="-342900">
                        <a:lnSpc>
                          <a:spcPts val="1400"/>
                        </a:lnSpc>
                        <a:spcBef>
                          <a:spcPts val="0"/>
                        </a:spcBef>
                        <a:spcAft>
                          <a:spcPts val="0"/>
                        </a:spcAft>
                        <a:buFont typeface="Symbol"/>
                        <a:buChar char=""/>
                        <a:tabLst>
                          <a:tab pos="228600" algn="l"/>
                          <a:tab pos="274320" algn="l"/>
                          <a:tab pos="274320" algn="l"/>
                        </a:tabLst>
                      </a:pPr>
                      <a:r>
                        <a:rPr lang="en-US" sz="1100" kern="1100" cap="none" spc="0">
                          <a:solidFill>
                            <a:schemeClr val="tx1"/>
                          </a:solidFill>
                          <a:effectLst/>
                        </a:rPr>
                        <a:t>how much data is vulnerable to a particular attack</a:t>
                      </a:r>
                      <a:endParaRPr lang="en-US" sz="1100" kern="1100" cap="none" spc="0">
                        <a:solidFill>
                          <a:schemeClr val="tx1"/>
                        </a:solidFill>
                        <a:effectLst/>
                        <a:latin typeface="Times New Roman"/>
                        <a:ea typeface="Times New Roman"/>
                      </a:endParaRPr>
                    </a:p>
                  </a:txBody>
                  <a:tcPr marL="0" marR="35134" marT="24239" marB="80797">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2868081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Person opening laptop">
            <a:extLst>
              <a:ext uri="{FF2B5EF4-FFF2-40B4-BE49-F238E27FC236}">
                <a16:creationId xmlns:a16="http://schemas.microsoft.com/office/drawing/2014/main" id="{B3BD253D-38A6-C6DB-29B0-E57C882E028C}"/>
              </a:ext>
            </a:extLst>
          </p:cNvPr>
          <p:cNvPicPr>
            <a:picLocks noChangeAspect="1"/>
          </p:cNvPicPr>
          <p:nvPr/>
        </p:nvPicPr>
        <p:blipFill rotWithShape="1">
          <a:blip r:embed="rId2"/>
          <a:srcRect t="15730"/>
          <a:stretch/>
        </p:blipFill>
        <p:spPr>
          <a:xfrm>
            <a:off x="0" y="10"/>
            <a:ext cx="12191980" cy="6857990"/>
          </a:xfrm>
          <a:prstGeom prst="rect">
            <a:avLst/>
          </a:prstGeom>
        </p:spPr>
      </p:pic>
      <p:sp>
        <p:nvSpPr>
          <p:cNvPr id="9" name="Rectangle 8">
            <a:extLst>
              <a:ext uri="{FF2B5EF4-FFF2-40B4-BE49-F238E27FC236}">
                <a16:creationId xmlns:a16="http://schemas.microsoft.com/office/drawing/2014/main" id="{2B1D4F77-A17C-43D7-B7FA-545148E4E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6"/>
            <a:ext cx="4332307" cy="5896743"/>
          </a:xfrm>
          <a:prstGeom prst="rect">
            <a:avLst/>
          </a:prstGeom>
          <a:solidFill>
            <a:schemeClr val="bg1">
              <a:alpha val="90000"/>
            </a:schemeClr>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94805" y="640263"/>
            <a:ext cx="3759240" cy="1344975"/>
          </a:xfrm>
        </p:spPr>
        <p:txBody>
          <a:bodyPr>
            <a:normAutofit/>
          </a:bodyPr>
          <a:lstStyle/>
          <a:p>
            <a:r>
              <a:rPr lang="en-US" sz="4000"/>
              <a:t>Sample Concrete Security Scenario</a:t>
            </a:r>
          </a:p>
        </p:txBody>
      </p:sp>
      <p:sp>
        <p:nvSpPr>
          <p:cNvPr id="3" name="Content Placeholder 2"/>
          <p:cNvSpPr>
            <a:spLocks noGrp="1"/>
          </p:cNvSpPr>
          <p:nvPr>
            <p:ph idx="1"/>
          </p:nvPr>
        </p:nvSpPr>
        <p:spPr>
          <a:xfrm>
            <a:off x="594110" y="2121763"/>
            <a:ext cx="3764826" cy="3773010"/>
          </a:xfrm>
        </p:spPr>
        <p:txBody>
          <a:bodyPr>
            <a:normAutofit/>
          </a:bodyPr>
          <a:lstStyle/>
          <a:p>
            <a:pPr marL="0" indent="0">
              <a:buNone/>
            </a:pPr>
            <a:r>
              <a:rPr lang="en-AU" dirty="0"/>
              <a:t>A disgruntled employee from a remote location attempts to modify the pay rate table during normal operations. The system maintains an audit trail and the correct data is restored within a day.</a:t>
            </a:r>
            <a:endParaRPr lang="en-US" dirty="0"/>
          </a:p>
        </p:txBody>
      </p:sp>
      <p:sp>
        <p:nvSpPr>
          <p:cNvPr id="4" name="Slide Number Placeholder 3">
            <a:extLst>
              <a:ext uri="{FF2B5EF4-FFF2-40B4-BE49-F238E27FC236}">
                <a16:creationId xmlns:a16="http://schemas.microsoft.com/office/drawing/2014/main" id="{3B87CA02-0F8F-3924-5BD6-1F9A8E9B490E}"/>
              </a:ext>
            </a:extLst>
          </p:cNvPr>
          <p:cNvSpPr>
            <a:spLocks noGrp="1"/>
          </p:cNvSpPr>
          <p:nvPr>
            <p:ph type="sldNum" sz="quarter" idx="12"/>
          </p:nvPr>
        </p:nvSpPr>
        <p:spPr/>
        <p:txBody>
          <a:bodyPr/>
          <a:lstStyle/>
          <a:p>
            <a:fld id="{7DF6DEEC-D04A-4FF0-9A08-7D39859C24F4}" type="slidenum">
              <a:rPr lang="en-US" smtClean="0"/>
              <a:t>38</a:t>
            </a:fld>
            <a:endParaRPr lang="en-US"/>
          </a:p>
        </p:txBody>
      </p:sp>
    </p:spTree>
    <p:extLst>
      <p:ext uri="{BB962C8B-B14F-4D97-AF65-F5344CB8AC3E}">
        <p14:creationId xmlns:p14="http://schemas.microsoft.com/office/powerpoint/2010/main" val="36628516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86F7F7-34A8-2BDC-E6B1-504E521F1BBB}"/>
            </a:ext>
          </a:extLst>
        </p:cNvPr>
        <p:cNvGrpSpPr/>
        <p:nvPr/>
      </p:nvGrpSpPr>
      <p:grpSpPr>
        <a:xfrm>
          <a:off x="0" y="0"/>
          <a:ext cx="0" cy="0"/>
          <a:chOff x="0" y="0"/>
          <a:chExt cx="0" cy="0"/>
        </a:xfrm>
      </p:grpSpPr>
      <p:sp>
        <p:nvSpPr>
          <p:cNvPr id="22" name="Flowchart: Document 21">
            <a:extLst>
              <a:ext uri="{FF2B5EF4-FFF2-40B4-BE49-F238E27FC236}">
                <a16:creationId xmlns:a16="http://schemas.microsoft.com/office/drawing/2014/main" id="{741AAB23-F3A4-7392-FDC1-6033E2515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58B9A2-0DCD-41AE-245E-577865E65CAF}"/>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dirty="0">
                <a:solidFill>
                  <a:srgbClr val="FFFFFF"/>
                </a:solidFill>
                <a:latin typeface="+mj-lt"/>
                <a:ea typeface="+mj-ea"/>
                <a:cs typeface="+mj-cs"/>
              </a:rPr>
              <a:t>Security and SSL</a:t>
            </a:r>
          </a:p>
        </p:txBody>
      </p:sp>
      <p:sp>
        <p:nvSpPr>
          <p:cNvPr id="4" name="Slide Number Placeholder 3">
            <a:extLst>
              <a:ext uri="{FF2B5EF4-FFF2-40B4-BE49-F238E27FC236}">
                <a16:creationId xmlns:a16="http://schemas.microsoft.com/office/drawing/2014/main" id="{3B53475A-D129-5593-E511-B2F97FD35F8E}"/>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7DF6DEEC-D04A-4FF0-9A08-7D39859C24F4}" type="slidenum">
              <a:rPr lang="en-US" smtClean="0"/>
              <a:pPr algn="l">
                <a:spcAft>
                  <a:spcPts val="600"/>
                </a:spcAft>
              </a:pPr>
              <a:t>39</a:t>
            </a:fld>
            <a:endParaRPr lang="en-US"/>
          </a:p>
        </p:txBody>
      </p:sp>
      <p:sp>
        <p:nvSpPr>
          <p:cNvPr id="6" name="TextBox 5">
            <a:extLst>
              <a:ext uri="{FF2B5EF4-FFF2-40B4-BE49-F238E27FC236}">
                <a16:creationId xmlns:a16="http://schemas.microsoft.com/office/drawing/2014/main" id="{CE40FFCA-EA0D-90D0-F233-7598CBB813EE}"/>
              </a:ext>
            </a:extLst>
          </p:cNvPr>
          <p:cNvSpPr txBox="1"/>
          <p:nvPr/>
        </p:nvSpPr>
        <p:spPr>
          <a:xfrm>
            <a:off x="4543426" y="592217"/>
            <a:ext cx="6097464" cy="6555641"/>
          </a:xfrm>
          <a:prstGeom prst="rect">
            <a:avLst/>
          </a:prstGeom>
          <a:noFill/>
        </p:spPr>
        <p:txBody>
          <a:bodyPr wrap="square">
            <a:spAutoFit/>
          </a:bodyPr>
          <a:lstStyle/>
          <a:p>
            <a:pPr rtl="0" fontAlgn="base">
              <a:buFont typeface="Arial" panose="020B0604020202020204" pitchFamily="34" charset="0"/>
              <a:buChar char="•"/>
            </a:pPr>
            <a:r>
              <a:rPr lang="en-US" sz="2400" b="0" i="0" u="none" strike="noStrike" dirty="0">
                <a:effectLst/>
                <a:latin typeface="Lato" panose="020F0502020204030203" pitchFamily="34" charset="0"/>
              </a:rPr>
              <a:t>The golden standard for encrypting public communications.  Must provide</a:t>
            </a:r>
          </a:p>
          <a:p>
            <a:pPr marL="742950" lvl="1" indent="-285750" rtl="0" fontAlgn="base">
              <a:buFont typeface="Arial" panose="020B0604020202020204" pitchFamily="34" charset="0"/>
              <a:buChar char="•"/>
            </a:pPr>
            <a:r>
              <a:rPr lang="en-US" sz="1800" b="0" i="0" u="none" strike="noStrike" dirty="0">
                <a:effectLst/>
                <a:latin typeface="Lato" panose="020F0502020204030203" pitchFamily="34" charset="0"/>
              </a:rPr>
              <a:t>Integrity: Make sure no-one can tamper with message</a:t>
            </a:r>
          </a:p>
          <a:p>
            <a:pPr marL="1200150" lvl="2" indent="-285750" fontAlgn="base">
              <a:buFont typeface="Arial" panose="020B0604020202020204" pitchFamily="34" charset="0"/>
              <a:buChar char="•"/>
            </a:pPr>
            <a:r>
              <a:rPr lang="en-US" dirty="0">
                <a:latin typeface="Lato" panose="020F0502020204030203" pitchFamily="34" charset="0"/>
              </a:rPr>
              <a:t>Easy: Checksum or other signature embedded in the content before encryption.  CRC32 quite common</a:t>
            </a:r>
          </a:p>
          <a:p>
            <a:pPr marL="742950" lvl="1" indent="-285750" fontAlgn="base">
              <a:buFont typeface="Arial" panose="020B0604020202020204" pitchFamily="34" charset="0"/>
              <a:buChar char="•"/>
            </a:pPr>
            <a:r>
              <a:rPr lang="en-US" dirty="0">
                <a:latin typeface="Lato" panose="020F0502020204030203" pitchFamily="34" charset="0"/>
              </a:rPr>
              <a:t>Encryption/Confidentiality: Hide the content of messages</a:t>
            </a:r>
            <a:endParaRPr lang="en-US" b="0" i="0" u="none" strike="noStrike" dirty="0">
              <a:effectLst/>
              <a:latin typeface="Lato" panose="020F0502020204030203" pitchFamily="34" charset="0"/>
            </a:endParaRPr>
          </a:p>
          <a:p>
            <a:pPr marL="742950" lvl="1" indent="-285750" rtl="0" fontAlgn="base">
              <a:spcAft>
                <a:spcPts val="1200"/>
              </a:spcAft>
              <a:buFont typeface="Arial" panose="020B0604020202020204" pitchFamily="34" charset="0"/>
              <a:buChar char="•"/>
            </a:pPr>
            <a:r>
              <a:rPr lang="en-US" sz="1800" b="0" i="0" u="none" strike="noStrike" dirty="0">
                <a:effectLst/>
                <a:latin typeface="Lato" panose="020F0502020204030203" pitchFamily="34" charset="0"/>
              </a:rPr>
              <a:t>Authentication/Non-repudiation: ensure the participants are who they say they are</a:t>
            </a:r>
          </a:p>
          <a:p>
            <a:pPr lvl="1" fontAlgn="base">
              <a:spcAft>
                <a:spcPts val="1200"/>
              </a:spcAft>
            </a:pPr>
            <a:r>
              <a:rPr lang="en-US" dirty="0">
                <a:latin typeface="Lato" panose="020F0502020204030203" pitchFamily="34" charset="0"/>
              </a:rPr>
              <a:t>def crc32_bitwise(data: bytes) -&gt; int:</a:t>
            </a:r>
            <a:br>
              <a:rPr lang="en-US" dirty="0">
                <a:latin typeface="Lato" panose="020F0502020204030203" pitchFamily="34" charset="0"/>
              </a:rPr>
            </a:br>
            <a:r>
              <a:rPr lang="en-US" dirty="0">
                <a:latin typeface="Lato" panose="020F0502020204030203" pitchFamily="34" charset="0"/>
              </a:rPr>
              <a:t>    poly = 0xEDB88320</a:t>
            </a:r>
            <a:br>
              <a:rPr lang="en-US" dirty="0">
                <a:latin typeface="Lato" panose="020F0502020204030203" pitchFamily="34" charset="0"/>
              </a:rPr>
            </a:br>
            <a:r>
              <a:rPr lang="en-US" dirty="0">
                <a:latin typeface="Lato" panose="020F0502020204030203" pitchFamily="34" charset="0"/>
              </a:rPr>
              <a:t>    </a:t>
            </a:r>
            <a:r>
              <a:rPr lang="en-US" dirty="0" err="1">
                <a:latin typeface="Lato" panose="020F0502020204030203" pitchFamily="34" charset="0"/>
              </a:rPr>
              <a:t>crc</a:t>
            </a:r>
            <a:r>
              <a:rPr lang="en-US" dirty="0">
                <a:latin typeface="Lato" panose="020F0502020204030203" pitchFamily="34" charset="0"/>
              </a:rPr>
              <a:t> = 0xFFFFFFFF</a:t>
            </a:r>
            <a:br>
              <a:rPr lang="en-US" dirty="0">
                <a:latin typeface="Lato" panose="020F0502020204030203" pitchFamily="34" charset="0"/>
              </a:rPr>
            </a:br>
            <a:r>
              <a:rPr lang="en-US" dirty="0">
                <a:latin typeface="Lato" panose="020F0502020204030203" pitchFamily="34" charset="0"/>
              </a:rPr>
              <a:t>    for b in data:</a:t>
            </a:r>
            <a:br>
              <a:rPr lang="en-US" dirty="0">
                <a:latin typeface="Lato" panose="020F0502020204030203" pitchFamily="34" charset="0"/>
              </a:rPr>
            </a:br>
            <a:r>
              <a:rPr lang="en-US" dirty="0">
                <a:latin typeface="Lato" panose="020F0502020204030203" pitchFamily="34" charset="0"/>
              </a:rPr>
              <a:t>        </a:t>
            </a:r>
            <a:r>
              <a:rPr lang="en-US" dirty="0" err="1">
                <a:latin typeface="Lato" panose="020F0502020204030203" pitchFamily="34" charset="0"/>
              </a:rPr>
              <a:t>crc</a:t>
            </a:r>
            <a:r>
              <a:rPr lang="en-US" dirty="0">
                <a:latin typeface="Lato" panose="020F0502020204030203" pitchFamily="34" charset="0"/>
              </a:rPr>
              <a:t> ^= b</a:t>
            </a:r>
            <a:br>
              <a:rPr lang="en-US" dirty="0">
                <a:latin typeface="Lato" panose="020F0502020204030203" pitchFamily="34" charset="0"/>
              </a:rPr>
            </a:br>
            <a:r>
              <a:rPr lang="en-US" dirty="0">
                <a:latin typeface="Lato" panose="020F0502020204030203" pitchFamily="34" charset="0"/>
              </a:rPr>
              <a:t>        for _ in range(8):</a:t>
            </a:r>
            <a:br>
              <a:rPr lang="en-US" dirty="0">
                <a:latin typeface="Lato" panose="020F0502020204030203" pitchFamily="34" charset="0"/>
              </a:rPr>
            </a:br>
            <a:r>
              <a:rPr lang="en-US" dirty="0">
                <a:latin typeface="Lato" panose="020F0502020204030203" pitchFamily="34" charset="0"/>
              </a:rPr>
              <a:t>            </a:t>
            </a:r>
            <a:r>
              <a:rPr lang="en-US" dirty="0" err="1">
                <a:latin typeface="Lato" panose="020F0502020204030203" pitchFamily="34" charset="0"/>
              </a:rPr>
              <a:t>crc</a:t>
            </a:r>
            <a:r>
              <a:rPr lang="en-US" dirty="0">
                <a:latin typeface="Lato" panose="020F0502020204030203" pitchFamily="34" charset="0"/>
              </a:rPr>
              <a:t> = (</a:t>
            </a:r>
            <a:r>
              <a:rPr lang="en-US" dirty="0" err="1">
                <a:latin typeface="Lato" panose="020F0502020204030203" pitchFamily="34" charset="0"/>
              </a:rPr>
              <a:t>crc</a:t>
            </a:r>
            <a:r>
              <a:rPr lang="en-US" dirty="0">
                <a:latin typeface="Lato" panose="020F0502020204030203" pitchFamily="34" charset="0"/>
              </a:rPr>
              <a:t> &gt;&gt; 1) ^ poly if (</a:t>
            </a:r>
            <a:r>
              <a:rPr lang="en-US" dirty="0" err="1">
                <a:latin typeface="Lato" panose="020F0502020204030203" pitchFamily="34" charset="0"/>
              </a:rPr>
              <a:t>crc</a:t>
            </a:r>
            <a:r>
              <a:rPr lang="en-US" dirty="0">
                <a:latin typeface="Lato" panose="020F0502020204030203" pitchFamily="34" charset="0"/>
              </a:rPr>
              <a:t> &amp; 1) else (</a:t>
            </a:r>
            <a:r>
              <a:rPr lang="en-US" dirty="0" err="1">
                <a:latin typeface="Lato" panose="020F0502020204030203" pitchFamily="34" charset="0"/>
              </a:rPr>
              <a:t>crc</a:t>
            </a:r>
            <a:r>
              <a:rPr lang="en-US" dirty="0">
                <a:latin typeface="Lato" panose="020F0502020204030203" pitchFamily="34" charset="0"/>
              </a:rPr>
              <a:t> &gt;&gt; 1)</a:t>
            </a:r>
            <a:br>
              <a:rPr lang="en-US" dirty="0">
                <a:latin typeface="Lato" panose="020F0502020204030203" pitchFamily="34" charset="0"/>
              </a:rPr>
            </a:br>
            <a:r>
              <a:rPr lang="en-US" dirty="0">
                <a:latin typeface="Lato" panose="020F0502020204030203" pitchFamily="34" charset="0"/>
              </a:rPr>
              <a:t>    return (~</a:t>
            </a:r>
            <a:r>
              <a:rPr lang="en-US" dirty="0" err="1">
                <a:latin typeface="Lato" panose="020F0502020204030203" pitchFamily="34" charset="0"/>
              </a:rPr>
              <a:t>crc</a:t>
            </a:r>
            <a:r>
              <a:rPr lang="en-US" dirty="0">
                <a:latin typeface="Lato" panose="020F0502020204030203" pitchFamily="34" charset="0"/>
              </a:rPr>
              <a:t>) &amp; 0xFFFFFFFF</a:t>
            </a:r>
          </a:p>
          <a:p>
            <a:pPr lvl="1" fontAlgn="base">
              <a:spcAft>
                <a:spcPts val="1200"/>
              </a:spcAft>
            </a:pPr>
            <a:endParaRPr lang="en-US" dirty="0">
              <a:latin typeface="Lato" panose="020F0502020204030203" pitchFamily="34" charset="0"/>
            </a:endParaRPr>
          </a:p>
          <a:p>
            <a:pPr lvl="1" rtl="0" fontAlgn="base">
              <a:spcAft>
                <a:spcPts val="1200"/>
              </a:spcAft>
            </a:pPr>
            <a:endParaRPr lang="en-US" dirty="0">
              <a:latin typeface="Lato" panose="020F0502020204030203" pitchFamily="34" charset="0"/>
            </a:endParaRPr>
          </a:p>
        </p:txBody>
      </p:sp>
      <p:graphicFrame>
        <p:nvGraphicFramePr>
          <p:cNvPr id="7" name="Table 6">
            <a:extLst>
              <a:ext uri="{FF2B5EF4-FFF2-40B4-BE49-F238E27FC236}">
                <a16:creationId xmlns:a16="http://schemas.microsoft.com/office/drawing/2014/main" id="{1D3B631F-D880-808F-BCE5-328E405EB231}"/>
              </a:ext>
            </a:extLst>
          </p:cNvPr>
          <p:cNvGraphicFramePr>
            <a:graphicFrameLocks noGrp="1"/>
          </p:cNvGraphicFramePr>
          <p:nvPr>
            <p:extLst>
              <p:ext uri="{D42A27DB-BD31-4B8C-83A1-F6EECF244321}">
                <p14:modId xmlns:p14="http://schemas.microsoft.com/office/powerpoint/2010/main" val="271597471"/>
              </p:ext>
            </p:extLst>
          </p:nvPr>
        </p:nvGraphicFramePr>
        <p:xfrm>
          <a:off x="365992" y="3571588"/>
          <a:ext cx="4177434" cy="2656490"/>
        </p:xfrm>
        <a:graphic>
          <a:graphicData uri="http://schemas.openxmlformats.org/drawingml/2006/table">
            <a:tbl>
              <a:tblPr/>
              <a:tblGrid>
                <a:gridCol w="2088717">
                  <a:extLst>
                    <a:ext uri="{9D8B030D-6E8A-4147-A177-3AD203B41FA5}">
                      <a16:colId xmlns:a16="http://schemas.microsoft.com/office/drawing/2014/main" val="3590613727"/>
                    </a:ext>
                  </a:extLst>
                </a:gridCol>
                <a:gridCol w="2088717">
                  <a:extLst>
                    <a:ext uri="{9D8B030D-6E8A-4147-A177-3AD203B41FA5}">
                      <a16:colId xmlns:a16="http://schemas.microsoft.com/office/drawing/2014/main" val="349205631"/>
                    </a:ext>
                  </a:extLst>
                </a:gridCol>
              </a:tblGrid>
              <a:tr h="215904">
                <a:tc>
                  <a:txBody>
                    <a:bodyPr/>
                    <a:lstStyle/>
                    <a:p>
                      <a:pPr>
                        <a:buNone/>
                      </a:pPr>
                      <a:r>
                        <a:rPr lang="en-US" sz="1700"/>
                        <a:t>Error Type</a:t>
                      </a:r>
                    </a:p>
                  </a:txBody>
                  <a:tcPr marL="85320" marR="85320" marT="42660" marB="42660" anchor="ctr">
                    <a:lnL>
                      <a:noFill/>
                    </a:lnL>
                    <a:lnR>
                      <a:noFill/>
                    </a:lnR>
                    <a:lnT>
                      <a:noFill/>
                    </a:lnT>
                    <a:lnB>
                      <a:noFill/>
                    </a:lnB>
                    <a:noFill/>
                  </a:tcPr>
                </a:tc>
                <a:tc>
                  <a:txBody>
                    <a:bodyPr/>
                    <a:lstStyle/>
                    <a:p>
                      <a:pPr>
                        <a:buNone/>
                      </a:pPr>
                      <a:r>
                        <a:rPr lang="en-US" sz="1700" dirty="0"/>
                        <a:t>Detection</a:t>
                      </a:r>
                    </a:p>
                  </a:txBody>
                  <a:tcPr marL="85320" marR="85320" marT="42660" marB="42660" anchor="ctr">
                    <a:lnL>
                      <a:noFill/>
                    </a:lnL>
                    <a:lnR>
                      <a:noFill/>
                    </a:lnR>
                    <a:lnT>
                      <a:noFill/>
                    </a:lnT>
                    <a:lnB>
                      <a:noFill/>
                    </a:lnB>
                    <a:noFill/>
                  </a:tcPr>
                </a:tc>
                <a:extLst>
                  <a:ext uri="{0D108BD9-81ED-4DB2-BD59-A6C34878D82A}">
                    <a16:rowId xmlns:a16="http://schemas.microsoft.com/office/drawing/2014/main" val="471578719"/>
                  </a:ext>
                </a:extLst>
              </a:tr>
              <a:tr h="308594">
                <a:tc>
                  <a:txBody>
                    <a:bodyPr/>
                    <a:lstStyle/>
                    <a:p>
                      <a:pPr>
                        <a:buNone/>
                      </a:pPr>
                      <a:r>
                        <a:rPr lang="en-US" sz="1700" b="1"/>
                        <a:t>1-bit error</a:t>
                      </a:r>
                      <a:endParaRPr lang="en-US" sz="1700"/>
                    </a:p>
                  </a:txBody>
                  <a:tcPr marL="85320" marR="85320" marT="42660" marB="42660" anchor="ctr">
                    <a:lnL>
                      <a:noFill/>
                    </a:lnL>
                    <a:lnR>
                      <a:noFill/>
                    </a:lnR>
                    <a:lnT>
                      <a:noFill/>
                    </a:lnT>
                    <a:lnB>
                      <a:noFill/>
                    </a:lnB>
                    <a:noFill/>
                  </a:tcPr>
                </a:tc>
                <a:tc>
                  <a:txBody>
                    <a:bodyPr/>
                    <a:lstStyle/>
                    <a:p>
                      <a:pPr>
                        <a:buNone/>
                      </a:pPr>
                      <a:r>
                        <a:rPr lang="en-US" sz="1700" dirty="0"/>
                        <a:t>Always detected</a:t>
                      </a:r>
                    </a:p>
                  </a:txBody>
                  <a:tcPr marL="85320" marR="85320" marT="42660" marB="42660" anchor="ctr">
                    <a:lnL>
                      <a:noFill/>
                    </a:lnL>
                    <a:lnR>
                      <a:noFill/>
                    </a:lnR>
                    <a:lnT>
                      <a:noFill/>
                    </a:lnT>
                    <a:lnB>
                      <a:noFill/>
                    </a:lnB>
                    <a:noFill/>
                  </a:tcPr>
                </a:tc>
                <a:extLst>
                  <a:ext uri="{0D108BD9-81ED-4DB2-BD59-A6C34878D82A}">
                    <a16:rowId xmlns:a16="http://schemas.microsoft.com/office/drawing/2014/main" val="4063514895"/>
                  </a:ext>
                </a:extLst>
              </a:tr>
              <a:tr h="416330">
                <a:tc>
                  <a:txBody>
                    <a:bodyPr/>
                    <a:lstStyle/>
                    <a:p>
                      <a:pPr>
                        <a:buNone/>
                      </a:pPr>
                      <a:r>
                        <a:rPr lang="en-US" sz="1700" b="1"/>
                        <a:t>2-bit error</a:t>
                      </a:r>
                      <a:endParaRPr lang="en-US" sz="1700"/>
                    </a:p>
                  </a:txBody>
                  <a:tcPr marL="85320" marR="85320" marT="42660" marB="42660" anchor="ctr">
                    <a:lnL>
                      <a:noFill/>
                    </a:lnL>
                    <a:lnR>
                      <a:noFill/>
                    </a:lnR>
                    <a:lnT>
                      <a:noFill/>
                    </a:lnT>
                    <a:lnB>
                      <a:noFill/>
                    </a:lnB>
                    <a:noFill/>
                  </a:tcPr>
                </a:tc>
                <a:tc>
                  <a:txBody>
                    <a:bodyPr/>
                    <a:lstStyle/>
                    <a:p>
                      <a:pPr>
                        <a:buNone/>
                      </a:pPr>
                      <a:r>
                        <a:rPr lang="en-US" sz="1700" dirty="0"/>
                        <a:t>Always detected</a:t>
                      </a:r>
                    </a:p>
                  </a:txBody>
                  <a:tcPr marL="85320" marR="85320" marT="42660" marB="42660" anchor="ctr">
                    <a:lnL>
                      <a:noFill/>
                    </a:lnL>
                    <a:lnR>
                      <a:noFill/>
                    </a:lnR>
                    <a:lnT>
                      <a:noFill/>
                    </a:lnT>
                    <a:lnB>
                      <a:noFill/>
                    </a:lnB>
                    <a:noFill/>
                  </a:tcPr>
                </a:tc>
                <a:extLst>
                  <a:ext uri="{0D108BD9-81ED-4DB2-BD59-A6C34878D82A}">
                    <a16:rowId xmlns:a16="http://schemas.microsoft.com/office/drawing/2014/main" val="1614115035"/>
                  </a:ext>
                </a:extLst>
              </a:tr>
              <a:tr h="281354">
                <a:tc>
                  <a:txBody>
                    <a:bodyPr/>
                    <a:lstStyle/>
                    <a:p>
                      <a:pPr>
                        <a:buNone/>
                      </a:pPr>
                      <a:r>
                        <a:rPr lang="en-US" sz="1700" b="1" dirty="0"/>
                        <a:t>Odd number errors</a:t>
                      </a:r>
                      <a:endParaRPr lang="en-US" sz="1700" dirty="0"/>
                    </a:p>
                  </a:txBody>
                  <a:tcPr marL="85320" marR="85320" marT="42660" marB="42660" anchor="ctr">
                    <a:lnL>
                      <a:noFill/>
                    </a:lnL>
                    <a:lnR>
                      <a:noFill/>
                    </a:lnR>
                    <a:lnT>
                      <a:noFill/>
                    </a:lnT>
                    <a:lnB>
                      <a:noFill/>
                    </a:lnB>
                    <a:noFill/>
                  </a:tcPr>
                </a:tc>
                <a:tc>
                  <a:txBody>
                    <a:bodyPr/>
                    <a:lstStyle/>
                    <a:p>
                      <a:pPr>
                        <a:buNone/>
                      </a:pPr>
                      <a:r>
                        <a:rPr lang="en-US" sz="1700" dirty="0"/>
                        <a:t>Always detected</a:t>
                      </a:r>
                    </a:p>
                  </a:txBody>
                  <a:tcPr marL="85320" marR="85320" marT="42660" marB="42660" anchor="ctr">
                    <a:lnL>
                      <a:noFill/>
                    </a:lnL>
                    <a:lnR>
                      <a:noFill/>
                    </a:lnR>
                    <a:lnT>
                      <a:noFill/>
                    </a:lnT>
                    <a:lnB>
                      <a:noFill/>
                    </a:lnB>
                    <a:noFill/>
                  </a:tcPr>
                </a:tc>
                <a:extLst>
                  <a:ext uri="{0D108BD9-81ED-4DB2-BD59-A6C34878D82A}">
                    <a16:rowId xmlns:a16="http://schemas.microsoft.com/office/drawing/2014/main" val="1864606279"/>
                  </a:ext>
                </a:extLst>
              </a:tr>
              <a:tr h="341400">
                <a:tc>
                  <a:txBody>
                    <a:bodyPr/>
                    <a:lstStyle/>
                    <a:p>
                      <a:pPr>
                        <a:buNone/>
                      </a:pPr>
                      <a:r>
                        <a:rPr lang="en-US" sz="1700" b="1"/>
                        <a:t>Burst errors ≤ 32 bits</a:t>
                      </a:r>
                      <a:endParaRPr lang="en-US" sz="1700"/>
                    </a:p>
                  </a:txBody>
                  <a:tcPr marL="85320" marR="85320" marT="42660" marB="42660" anchor="ctr">
                    <a:lnL>
                      <a:noFill/>
                    </a:lnL>
                    <a:lnR>
                      <a:noFill/>
                    </a:lnR>
                    <a:lnT>
                      <a:noFill/>
                    </a:lnT>
                    <a:lnB>
                      <a:noFill/>
                    </a:lnB>
                    <a:noFill/>
                  </a:tcPr>
                </a:tc>
                <a:tc>
                  <a:txBody>
                    <a:bodyPr/>
                    <a:lstStyle/>
                    <a:p>
                      <a:pPr>
                        <a:buNone/>
                      </a:pPr>
                      <a:r>
                        <a:rPr lang="en-US" sz="1700" dirty="0"/>
                        <a:t>Always detected</a:t>
                      </a:r>
                    </a:p>
                  </a:txBody>
                  <a:tcPr marL="85320" marR="85320" marT="42660" marB="42660" anchor="ctr">
                    <a:lnL>
                      <a:noFill/>
                    </a:lnL>
                    <a:lnR>
                      <a:noFill/>
                    </a:lnR>
                    <a:lnT>
                      <a:noFill/>
                    </a:lnT>
                    <a:lnB>
                      <a:noFill/>
                    </a:lnB>
                    <a:noFill/>
                  </a:tcPr>
                </a:tc>
                <a:extLst>
                  <a:ext uri="{0D108BD9-81ED-4DB2-BD59-A6C34878D82A}">
                    <a16:rowId xmlns:a16="http://schemas.microsoft.com/office/drawing/2014/main" val="3926450408"/>
                  </a:ext>
                </a:extLst>
              </a:tr>
              <a:tr h="401284">
                <a:tc>
                  <a:txBody>
                    <a:bodyPr/>
                    <a:lstStyle/>
                    <a:p>
                      <a:pPr>
                        <a:buNone/>
                      </a:pPr>
                      <a:r>
                        <a:rPr lang="en-US" sz="1700" b="1"/>
                        <a:t>Burst errors &gt; 32 bits</a:t>
                      </a:r>
                      <a:endParaRPr lang="en-US" sz="1700"/>
                    </a:p>
                  </a:txBody>
                  <a:tcPr marL="85320" marR="85320" marT="42660" marB="42660" anchor="ctr">
                    <a:lnL>
                      <a:noFill/>
                    </a:lnL>
                    <a:lnR>
                      <a:noFill/>
                    </a:lnR>
                    <a:lnT>
                      <a:noFill/>
                    </a:lnT>
                    <a:lnB>
                      <a:noFill/>
                    </a:lnB>
                    <a:noFill/>
                  </a:tcPr>
                </a:tc>
                <a:tc>
                  <a:txBody>
                    <a:bodyPr/>
                    <a:lstStyle/>
                    <a:p>
                      <a:pPr>
                        <a:buNone/>
                      </a:pPr>
                      <a:r>
                        <a:rPr lang="en-US" sz="1700" dirty="0"/>
                        <a:t>Detected with probability 99.99999998 %</a:t>
                      </a:r>
                    </a:p>
                  </a:txBody>
                  <a:tcPr marL="85320" marR="85320" marT="42660" marB="42660" anchor="ctr">
                    <a:lnL>
                      <a:noFill/>
                    </a:lnL>
                    <a:lnR>
                      <a:noFill/>
                    </a:lnR>
                    <a:lnT>
                      <a:noFill/>
                    </a:lnT>
                    <a:lnB>
                      <a:noFill/>
                    </a:lnB>
                    <a:noFill/>
                  </a:tcPr>
                </a:tc>
                <a:extLst>
                  <a:ext uri="{0D108BD9-81ED-4DB2-BD59-A6C34878D82A}">
                    <a16:rowId xmlns:a16="http://schemas.microsoft.com/office/drawing/2014/main" val="3352844668"/>
                  </a:ext>
                </a:extLst>
              </a:tr>
            </a:tbl>
          </a:graphicData>
        </a:graphic>
      </p:graphicFrame>
    </p:spTree>
    <p:extLst>
      <p:ext uri="{BB962C8B-B14F-4D97-AF65-F5344CB8AC3E}">
        <p14:creationId xmlns:p14="http://schemas.microsoft.com/office/powerpoint/2010/main" val="20639463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5F39F0-167A-A89D-CB80-6ACF87BD0940}"/>
            </a:ext>
          </a:extLst>
        </p:cNvPr>
        <p:cNvGrpSpPr/>
        <p:nvPr/>
      </p:nvGrpSpPr>
      <p:grpSpPr>
        <a:xfrm>
          <a:off x="0" y="0"/>
          <a:ext cx="0" cy="0"/>
          <a:chOff x="0" y="0"/>
          <a:chExt cx="0" cy="0"/>
        </a:xfrm>
      </p:grpSpPr>
      <p:sp>
        <p:nvSpPr>
          <p:cNvPr id="22" name="Flowchart: Document 21">
            <a:extLst>
              <a:ext uri="{FF2B5EF4-FFF2-40B4-BE49-F238E27FC236}">
                <a16:creationId xmlns:a16="http://schemas.microsoft.com/office/drawing/2014/main" id="{97781C84-8F08-71F1-9D5D-B881BC4895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F81B55-C248-6AED-1D66-8F1AED8AD894}"/>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dirty="0">
                <a:solidFill>
                  <a:srgbClr val="FFFFFF"/>
                </a:solidFill>
                <a:latin typeface="+mj-lt"/>
                <a:ea typeface="+mj-ea"/>
                <a:cs typeface="+mj-cs"/>
              </a:rPr>
              <a:t>Security and SSL</a:t>
            </a:r>
          </a:p>
        </p:txBody>
      </p:sp>
      <p:sp>
        <p:nvSpPr>
          <p:cNvPr id="4" name="Slide Number Placeholder 3">
            <a:extLst>
              <a:ext uri="{FF2B5EF4-FFF2-40B4-BE49-F238E27FC236}">
                <a16:creationId xmlns:a16="http://schemas.microsoft.com/office/drawing/2014/main" id="{87ECA22C-2178-E5B1-07E3-056802A45C99}"/>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7DF6DEEC-D04A-4FF0-9A08-7D39859C24F4}" type="slidenum">
              <a:rPr lang="en-US" smtClean="0"/>
              <a:pPr algn="l">
                <a:spcAft>
                  <a:spcPts val="600"/>
                </a:spcAft>
              </a:pPr>
              <a:t>40</a:t>
            </a:fld>
            <a:endParaRPr lang="en-US"/>
          </a:p>
        </p:txBody>
      </p:sp>
      <p:sp>
        <p:nvSpPr>
          <p:cNvPr id="6" name="TextBox 5">
            <a:extLst>
              <a:ext uri="{FF2B5EF4-FFF2-40B4-BE49-F238E27FC236}">
                <a16:creationId xmlns:a16="http://schemas.microsoft.com/office/drawing/2014/main" id="{C11742C3-034E-787C-F2C7-03E40C566B79}"/>
              </a:ext>
            </a:extLst>
          </p:cNvPr>
          <p:cNvSpPr txBox="1"/>
          <p:nvPr/>
        </p:nvSpPr>
        <p:spPr>
          <a:xfrm>
            <a:off x="3376245" y="0"/>
            <a:ext cx="8607669" cy="6555641"/>
          </a:xfrm>
          <a:prstGeom prst="rect">
            <a:avLst/>
          </a:prstGeom>
          <a:noFill/>
        </p:spPr>
        <p:txBody>
          <a:bodyPr wrap="square">
            <a:spAutoFit/>
          </a:bodyPr>
          <a:lstStyle/>
          <a:p>
            <a:pPr lvl="1" fontAlgn="base"/>
            <a:r>
              <a:rPr lang="en-US" b="1" dirty="0">
                <a:latin typeface="Lato" panose="020F0502020204030203" pitchFamily="34" charset="0"/>
              </a:rPr>
              <a:t>Encryption/Confidentiality: Hide the content of messages.  Use AES</a:t>
            </a:r>
          </a:p>
          <a:p>
            <a:pPr lvl="1" fontAlgn="base"/>
            <a:endParaRPr lang="en-US" sz="1400" b="0" i="0" u="none" strike="noStrike" dirty="0">
              <a:effectLst/>
              <a:latin typeface="Lato" panose="020F0502020204030203" pitchFamily="34" charset="0"/>
            </a:endParaRPr>
          </a:p>
          <a:p>
            <a:pPr lvl="1" fontAlgn="base"/>
            <a:r>
              <a:rPr lang="en-US" sz="1400" dirty="0">
                <a:latin typeface="Lato" panose="020F0502020204030203" pitchFamily="34" charset="0"/>
              </a:rPr>
              <a:t>Input:</a:t>
            </a:r>
          </a:p>
          <a:p>
            <a:pPr lvl="1" fontAlgn="base"/>
            <a:r>
              <a:rPr lang="en-US" sz="1400" dirty="0">
                <a:latin typeface="Lato" panose="020F0502020204030203" pitchFamily="34" charset="0"/>
              </a:rPr>
              <a:t>    Plaintext block P[4x4]      // 16 bytes = 128 bits</a:t>
            </a:r>
          </a:p>
          <a:p>
            <a:pPr lvl="1" fontAlgn="base"/>
            <a:r>
              <a:rPr lang="en-US" sz="1400" dirty="0">
                <a:latin typeface="Lato" panose="020F0502020204030203" pitchFamily="34" charset="0"/>
              </a:rPr>
              <a:t>    Cipher key K[4xNk]          // 4x4 (AES-128), 4x6 (AES-192), 4x8 (AES-256)</a:t>
            </a:r>
          </a:p>
          <a:p>
            <a:pPr lvl="1" fontAlgn="base"/>
            <a:endParaRPr lang="en-US" sz="1400" dirty="0">
              <a:latin typeface="Lato" panose="020F0502020204030203" pitchFamily="34" charset="0"/>
            </a:endParaRPr>
          </a:p>
          <a:p>
            <a:pPr lvl="1" fontAlgn="base"/>
            <a:r>
              <a:rPr lang="en-US" sz="1400" dirty="0">
                <a:latin typeface="Lato" panose="020F0502020204030203" pitchFamily="34" charset="0"/>
              </a:rPr>
              <a:t>Output:</a:t>
            </a:r>
          </a:p>
          <a:p>
            <a:pPr lvl="1" fontAlgn="base"/>
            <a:r>
              <a:rPr lang="en-US" sz="1400" dirty="0">
                <a:latin typeface="Lato" panose="020F0502020204030203" pitchFamily="34" charset="0"/>
              </a:rPr>
              <a:t>    Ciphertext block C[4x4]</a:t>
            </a:r>
          </a:p>
          <a:p>
            <a:pPr lvl="1" fontAlgn="base"/>
            <a:endParaRPr lang="en-US" sz="1400" dirty="0">
              <a:latin typeface="Lato" panose="020F0502020204030203" pitchFamily="34" charset="0"/>
            </a:endParaRPr>
          </a:p>
          <a:p>
            <a:pPr lvl="1" fontAlgn="base"/>
            <a:r>
              <a:rPr lang="en-US" sz="1400" dirty="0">
                <a:latin typeface="Lato" panose="020F0502020204030203" pitchFamily="34" charset="0"/>
              </a:rPr>
              <a:t>Procedure </a:t>
            </a:r>
            <a:r>
              <a:rPr lang="en-US" sz="1400" dirty="0" err="1">
                <a:latin typeface="Lato" panose="020F0502020204030203" pitchFamily="34" charset="0"/>
              </a:rPr>
              <a:t>AES_Encrypt</a:t>
            </a:r>
            <a:r>
              <a:rPr lang="en-US" sz="1400" dirty="0">
                <a:latin typeface="Lato" panose="020F0502020204030203" pitchFamily="34" charset="0"/>
              </a:rPr>
              <a:t>(P, K):</a:t>
            </a:r>
          </a:p>
          <a:p>
            <a:pPr lvl="1" fontAlgn="base"/>
            <a:r>
              <a:rPr lang="en-US" sz="1400" dirty="0">
                <a:latin typeface="Lato" panose="020F0502020204030203" pitchFamily="34" charset="0"/>
              </a:rPr>
              <a:t>    // 1. Initialize state</a:t>
            </a:r>
          </a:p>
          <a:p>
            <a:pPr lvl="1" fontAlgn="base"/>
            <a:r>
              <a:rPr lang="en-US" sz="1400" dirty="0">
                <a:latin typeface="Lato" panose="020F0502020204030203" pitchFamily="34" charset="0"/>
              </a:rPr>
              <a:t>    state = P</a:t>
            </a:r>
          </a:p>
          <a:p>
            <a:pPr lvl="1" fontAlgn="base"/>
            <a:endParaRPr lang="en-US" sz="1400" dirty="0">
              <a:latin typeface="Lato" panose="020F0502020204030203" pitchFamily="34" charset="0"/>
            </a:endParaRPr>
          </a:p>
          <a:p>
            <a:pPr lvl="1" fontAlgn="base"/>
            <a:r>
              <a:rPr lang="en-US" sz="1400" dirty="0">
                <a:latin typeface="Lato" panose="020F0502020204030203" pitchFamily="34" charset="0"/>
              </a:rPr>
              <a:t>    // 2. Initial </a:t>
            </a:r>
            <a:r>
              <a:rPr lang="en-US" sz="1400" dirty="0" err="1">
                <a:latin typeface="Lato" panose="020F0502020204030203" pitchFamily="34" charset="0"/>
              </a:rPr>
              <a:t>AddRoundKey</a:t>
            </a:r>
            <a:endParaRPr lang="en-US" sz="1400" dirty="0">
              <a:latin typeface="Lato" panose="020F0502020204030203" pitchFamily="34" charset="0"/>
            </a:endParaRPr>
          </a:p>
          <a:p>
            <a:pPr lvl="1" fontAlgn="base"/>
            <a:r>
              <a:rPr lang="en-US" sz="1400" dirty="0">
                <a:latin typeface="Lato" panose="020F0502020204030203" pitchFamily="34" charset="0"/>
              </a:rPr>
              <a:t>    state = state XOR </a:t>
            </a:r>
            <a:r>
              <a:rPr lang="en-US" sz="1400" dirty="0" err="1">
                <a:latin typeface="Lato" panose="020F0502020204030203" pitchFamily="34" charset="0"/>
              </a:rPr>
              <a:t>CipherKey</a:t>
            </a:r>
            <a:endParaRPr lang="en-US" sz="1400" dirty="0">
              <a:latin typeface="Lato" panose="020F0502020204030203" pitchFamily="34" charset="0"/>
            </a:endParaRPr>
          </a:p>
          <a:p>
            <a:pPr lvl="1" fontAlgn="base"/>
            <a:endParaRPr lang="en-US" sz="1400" dirty="0">
              <a:latin typeface="Lato" panose="020F0502020204030203" pitchFamily="34" charset="0"/>
            </a:endParaRPr>
          </a:p>
          <a:p>
            <a:pPr lvl="1" fontAlgn="base"/>
            <a:r>
              <a:rPr lang="en-US" sz="1400" dirty="0">
                <a:latin typeface="Lato" panose="020F0502020204030203" pitchFamily="34" charset="0"/>
              </a:rPr>
              <a:t>    // 4. Perform Nr-1 rounds</a:t>
            </a:r>
          </a:p>
          <a:p>
            <a:pPr lvl="1" fontAlgn="base"/>
            <a:r>
              <a:rPr lang="en-US" sz="1400" dirty="0">
                <a:latin typeface="Lato" panose="020F0502020204030203" pitchFamily="34" charset="0"/>
              </a:rPr>
              <a:t>    for round = 1 to Nr-1:</a:t>
            </a:r>
          </a:p>
          <a:p>
            <a:pPr lvl="1" fontAlgn="base"/>
            <a:r>
              <a:rPr lang="en-US" sz="1400" dirty="0">
                <a:latin typeface="Lato" panose="020F0502020204030203" pitchFamily="34" charset="0"/>
              </a:rPr>
              <a:t>        state = </a:t>
            </a:r>
            <a:r>
              <a:rPr lang="en-US" sz="1400" dirty="0" err="1">
                <a:latin typeface="Lato" panose="020F0502020204030203" pitchFamily="34" charset="0"/>
              </a:rPr>
              <a:t>SubBytes</a:t>
            </a:r>
            <a:r>
              <a:rPr lang="en-US" sz="1400" dirty="0">
                <a:latin typeface="Lato" panose="020F0502020204030203" pitchFamily="34" charset="0"/>
              </a:rPr>
              <a:t>(state)</a:t>
            </a:r>
          </a:p>
          <a:p>
            <a:pPr lvl="1" fontAlgn="base"/>
            <a:r>
              <a:rPr lang="en-US" sz="1400" dirty="0">
                <a:latin typeface="Lato" panose="020F0502020204030203" pitchFamily="34" charset="0"/>
              </a:rPr>
              <a:t>        state = </a:t>
            </a:r>
            <a:r>
              <a:rPr lang="en-US" sz="1400" dirty="0" err="1">
                <a:latin typeface="Lato" panose="020F0502020204030203" pitchFamily="34" charset="0"/>
              </a:rPr>
              <a:t>ShiftRows</a:t>
            </a:r>
            <a:r>
              <a:rPr lang="en-US" sz="1400" dirty="0">
                <a:latin typeface="Lato" panose="020F0502020204030203" pitchFamily="34" charset="0"/>
              </a:rPr>
              <a:t>(state)</a:t>
            </a:r>
          </a:p>
          <a:p>
            <a:pPr lvl="1" fontAlgn="base"/>
            <a:r>
              <a:rPr lang="en-US" sz="1400" dirty="0">
                <a:latin typeface="Lato" panose="020F0502020204030203" pitchFamily="34" charset="0"/>
              </a:rPr>
              <a:t>        state = </a:t>
            </a:r>
            <a:r>
              <a:rPr lang="en-US" sz="1400" dirty="0" err="1">
                <a:latin typeface="Lato" panose="020F0502020204030203" pitchFamily="34" charset="0"/>
              </a:rPr>
              <a:t>MixColumns</a:t>
            </a:r>
            <a:r>
              <a:rPr lang="en-US" sz="1400" dirty="0">
                <a:latin typeface="Lato" panose="020F0502020204030203" pitchFamily="34" charset="0"/>
              </a:rPr>
              <a:t>(state)</a:t>
            </a:r>
          </a:p>
          <a:p>
            <a:pPr lvl="1" fontAlgn="base"/>
            <a:r>
              <a:rPr lang="en-US" sz="1400" dirty="0">
                <a:latin typeface="Lato" panose="020F0502020204030203" pitchFamily="34" charset="0"/>
              </a:rPr>
              <a:t>        state = state XOR </a:t>
            </a:r>
            <a:r>
              <a:rPr lang="en-US" sz="1400" dirty="0" err="1">
                <a:latin typeface="Lato" panose="020F0502020204030203" pitchFamily="34" charset="0"/>
              </a:rPr>
              <a:t>CipherKey</a:t>
            </a:r>
            <a:endParaRPr lang="en-US" sz="1400" dirty="0">
              <a:latin typeface="Lato" panose="020F0502020204030203" pitchFamily="34" charset="0"/>
            </a:endParaRPr>
          </a:p>
          <a:p>
            <a:pPr lvl="1" fontAlgn="base"/>
            <a:endParaRPr lang="en-US" sz="1400" dirty="0">
              <a:latin typeface="Lato" panose="020F0502020204030203" pitchFamily="34" charset="0"/>
            </a:endParaRPr>
          </a:p>
          <a:p>
            <a:pPr lvl="1" fontAlgn="base"/>
            <a:r>
              <a:rPr lang="en-US" sz="1400" dirty="0">
                <a:latin typeface="Lato" panose="020F0502020204030203" pitchFamily="34" charset="0"/>
              </a:rPr>
              <a:t>    // 5. Final round (no </a:t>
            </a:r>
            <a:r>
              <a:rPr lang="en-US" sz="1400" dirty="0" err="1">
                <a:latin typeface="Lato" panose="020F0502020204030203" pitchFamily="34" charset="0"/>
              </a:rPr>
              <a:t>MixColumns</a:t>
            </a:r>
            <a:r>
              <a:rPr lang="en-US" sz="1400" dirty="0">
                <a:latin typeface="Lato" panose="020F0502020204030203" pitchFamily="34" charset="0"/>
              </a:rPr>
              <a:t>)</a:t>
            </a:r>
          </a:p>
          <a:p>
            <a:pPr lvl="1" fontAlgn="base"/>
            <a:r>
              <a:rPr lang="en-US" sz="1400" dirty="0">
                <a:latin typeface="Lato" panose="020F0502020204030203" pitchFamily="34" charset="0"/>
              </a:rPr>
              <a:t>    state = </a:t>
            </a:r>
            <a:r>
              <a:rPr lang="en-US" sz="1400" dirty="0" err="1">
                <a:latin typeface="Lato" panose="020F0502020204030203" pitchFamily="34" charset="0"/>
              </a:rPr>
              <a:t>SubBytes</a:t>
            </a:r>
            <a:r>
              <a:rPr lang="en-US" sz="1400" dirty="0">
                <a:latin typeface="Lato" panose="020F0502020204030203" pitchFamily="34" charset="0"/>
              </a:rPr>
              <a:t>(state)</a:t>
            </a:r>
          </a:p>
          <a:p>
            <a:pPr lvl="1" fontAlgn="base"/>
            <a:r>
              <a:rPr lang="en-US" sz="1400" dirty="0">
                <a:latin typeface="Lato" panose="020F0502020204030203" pitchFamily="34" charset="0"/>
              </a:rPr>
              <a:t>    state = </a:t>
            </a:r>
            <a:r>
              <a:rPr lang="en-US" sz="1400" dirty="0" err="1">
                <a:latin typeface="Lato" panose="020F0502020204030203" pitchFamily="34" charset="0"/>
              </a:rPr>
              <a:t>ShiftRows</a:t>
            </a:r>
            <a:r>
              <a:rPr lang="en-US" sz="1400" dirty="0">
                <a:latin typeface="Lato" panose="020F0502020204030203" pitchFamily="34" charset="0"/>
              </a:rPr>
              <a:t>(state)</a:t>
            </a:r>
          </a:p>
          <a:p>
            <a:pPr lvl="1" fontAlgn="base"/>
            <a:r>
              <a:rPr lang="en-US" sz="1400" dirty="0">
                <a:latin typeface="Lato" panose="020F0502020204030203" pitchFamily="34" charset="0"/>
              </a:rPr>
              <a:t>    state = state XOR </a:t>
            </a:r>
            <a:r>
              <a:rPr lang="en-US" sz="1400" dirty="0" err="1">
                <a:latin typeface="Lato" panose="020F0502020204030203" pitchFamily="34" charset="0"/>
              </a:rPr>
              <a:t>CipherKey</a:t>
            </a:r>
            <a:endParaRPr lang="en-US" sz="1400" dirty="0">
              <a:latin typeface="Lato" panose="020F0502020204030203" pitchFamily="34" charset="0"/>
            </a:endParaRPr>
          </a:p>
          <a:p>
            <a:pPr lvl="1" fontAlgn="base"/>
            <a:endParaRPr lang="en-US" sz="1400" dirty="0">
              <a:latin typeface="Lato" panose="020F0502020204030203" pitchFamily="34" charset="0"/>
            </a:endParaRPr>
          </a:p>
          <a:p>
            <a:pPr lvl="1" fontAlgn="base"/>
            <a:r>
              <a:rPr lang="en-US" sz="1400" dirty="0">
                <a:latin typeface="Lato" panose="020F0502020204030203" pitchFamily="34" charset="0"/>
              </a:rPr>
              <a:t>    // 6. Output ciphertext</a:t>
            </a:r>
          </a:p>
          <a:p>
            <a:pPr lvl="1" fontAlgn="base"/>
            <a:r>
              <a:rPr lang="en-US" sz="1400" dirty="0">
                <a:latin typeface="Lato" panose="020F0502020204030203" pitchFamily="34" charset="0"/>
              </a:rPr>
              <a:t>    return state</a:t>
            </a:r>
          </a:p>
        </p:txBody>
      </p:sp>
    </p:spTree>
    <p:extLst>
      <p:ext uri="{BB962C8B-B14F-4D97-AF65-F5344CB8AC3E}">
        <p14:creationId xmlns:p14="http://schemas.microsoft.com/office/powerpoint/2010/main" val="26882452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3F20F4-DAED-23EC-5B3A-EA720CEE7B03}"/>
            </a:ext>
          </a:extLst>
        </p:cNvPr>
        <p:cNvGrpSpPr/>
        <p:nvPr/>
      </p:nvGrpSpPr>
      <p:grpSpPr>
        <a:xfrm>
          <a:off x="0" y="0"/>
          <a:ext cx="0" cy="0"/>
          <a:chOff x="0" y="0"/>
          <a:chExt cx="0" cy="0"/>
        </a:xfrm>
      </p:grpSpPr>
      <p:sp>
        <p:nvSpPr>
          <p:cNvPr id="22" name="Flowchart: Document 21">
            <a:extLst>
              <a:ext uri="{FF2B5EF4-FFF2-40B4-BE49-F238E27FC236}">
                <a16:creationId xmlns:a16="http://schemas.microsoft.com/office/drawing/2014/main" id="{C33ACE94-0D62-1CC7-C099-701DBC8024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71FEEF-965E-FAB5-8F88-F8DE58767576}"/>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dirty="0">
                <a:solidFill>
                  <a:srgbClr val="FFFFFF"/>
                </a:solidFill>
                <a:latin typeface="+mj-lt"/>
                <a:ea typeface="+mj-ea"/>
                <a:cs typeface="+mj-cs"/>
              </a:rPr>
              <a:t>Security and SSL</a:t>
            </a:r>
          </a:p>
        </p:txBody>
      </p:sp>
      <p:sp>
        <p:nvSpPr>
          <p:cNvPr id="4" name="Slide Number Placeholder 3">
            <a:extLst>
              <a:ext uri="{FF2B5EF4-FFF2-40B4-BE49-F238E27FC236}">
                <a16:creationId xmlns:a16="http://schemas.microsoft.com/office/drawing/2014/main" id="{65D22E95-9867-DBBC-101D-13B6E23C055D}"/>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7DF6DEEC-D04A-4FF0-9A08-7D39859C24F4}" type="slidenum">
              <a:rPr lang="en-US" smtClean="0"/>
              <a:pPr algn="l">
                <a:spcAft>
                  <a:spcPts val="600"/>
                </a:spcAft>
              </a:pPr>
              <a:t>41</a:t>
            </a:fld>
            <a:endParaRPr lang="en-US"/>
          </a:p>
        </p:txBody>
      </p:sp>
      <p:sp>
        <p:nvSpPr>
          <p:cNvPr id="6" name="TextBox 5">
            <a:extLst>
              <a:ext uri="{FF2B5EF4-FFF2-40B4-BE49-F238E27FC236}">
                <a16:creationId xmlns:a16="http://schemas.microsoft.com/office/drawing/2014/main" id="{0E6CFAB8-67AC-CABB-3A39-01DB3EF83946}"/>
              </a:ext>
            </a:extLst>
          </p:cNvPr>
          <p:cNvSpPr txBox="1"/>
          <p:nvPr/>
        </p:nvSpPr>
        <p:spPr>
          <a:xfrm>
            <a:off x="3791624" y="0"/>
            <a:ext cx="3248026" cy="6463308"/>
          </a:xfrm>
          <a:prstGeom prst="rect">
            <a:avLst/>
          </a:prstGeom>
          <a:noFill/>
        </p:spPr>
        <p:txBody>
          <a:bodyPr wrap="square">
            <a:spAutoFit/>
          </a:bodyPr>
          <a:lstStyle/>
          <a:p>
            <a:pPr fontAlgn="base"/>
            <a:r>
              <a:rPr lang="en-US" u="sng" dirty="0">
                <a:hlinkClick r:id="rId2"/>
              </a:rPr>
              <a:t>Diffie Hellman Key Exchange</a:t>
            </a:r>
            <a:endParaRPr lang="en-US" u="sng" dirty="0"/>
          </a:p>
          <a:p>
            <a:pPr fontAlgn="base"/>
            <a:r>
              <a:rPr lang="en-US" dirty="0"/>
              <a:t>Alice and Bob have secret numbers a, b known only to themselves</a:t>
            </a:r>
          </a:p>
          <a:p>
            <a:pPr fontAlgn="base"/>
            <a:endParaRPr lang="en-US" dirty="0"/>
          </a:p>
          <a:p>
            <a:pPr fontAlgn="base"/>
            <a:r>
              <a:rPr lang="en-US" dirty="0"/>
              <a:t>Pick p and g commonly known to both and must be relative primes</a:t>
            </a:r>
          </a:p>
          <a:p>
            <a:pPr fontAlgn="base"/>
            <a:endParaRPr lang="en-US" dirty="0"/>
          </a:p>
          <a:p>
            <a:pPr fontAlgn="base"/>
            <a:r>
              <a:rPr lang="en-US" dirty="0"/>
              <a:t>Alice use secret a and send A = </a:t>
            </a:r>
            <a:r>
              <a:rPr lang="en-US" dirty="0" err="1"/>
              <a:t>g^a</a:t>
            </a:r>
            <a:r>
              <a:rPr lang="en-US" dirty="0"/>
              <a:t> mod p</a:t>
            </a:r>
          </a:p>
          <a:p>
            <a:pPr fontAlgn="base"/>
            <a:endParaRPr lang="en-US" dirty="0"/>
          </a:p>
          <a:p>
            <a:pPr fontAlgn="base"/>
            <a:r>
              <a:rPr lang="en-US" dirty="0"/>
              <a:t>Bob use secret b and send B = </a:t>
            </a:r>
            <a:r>
              <a:rPr lang="en-US" dirty="0" err="1"/>
              <a:t>g^b</a:t>
            </a:r>
            <a:r>
              <a:rPr lang="en-US" dirty="0"/>
              <a:t> mod p</a:t>
            </a:r>
          </a:p>
          <a:p>
            <a:pPr fontAlgn="base"/>
            <a:endParaRPr lang="en-US" dirty="0"/>
          </a:p>
          <a:p>
            <a:pPr fontAlgn="base"/>
            <a:r>
              <a:rPr lang="en-US" dirty="0"/>
              <a:t>Alice compute s1 = </a:t>
            </a:r>
            <a:r>
              <a:rPr lang="en-US" dirty="0" err="1"/>
              <a:t>B^a</a:t>
            </a:r>
            <a:r>
              <a:rPr lang="en-US" dirty="0"/>
              <a:t> mod p</a:t>
            </a:r>
          </a:p>
          <a:p>
            <a:pPr fontAlgn="base"/>
            <a:endParaRPr lang="en-US" dirty="0"/>
          </a:p>
          <a:p>
            <a:pPr fontAlgn="base"/>
            <a:r>
              <a:rPr lang="en-US" dirty="0"/>
              <a:t>Bob compute s2 = </a:t>
            </a:r>
            <a:r>
              <a:rPr lang="en-US" dirty="0" err="1"/>
              <a:t>A^b</a:t>
            </a:r>
            <a:r>
              <a:rPr lang="en-US" dirty="0"/>
              <a:t> mod p</a:t>
            </a:r>
          </a:p>
          <a:p>
            <a:pPr fontAlgn="base"/>
            <a:endParaRPr lang="en-US" dirty="0"/>
          </a:p>
          <a:p>
            <a:pPr fontAlgn="base"/>
            <a:r>
              <a:rPr lang="en-US" dirty="0"/>
              <a:t>By the properties of primes and modulo arithmetic s1==s2 and we have established a shared key.</a:t>
            </a:r>
          </a:p>
        </p:txBody>
      </p:sp>
      <p:pic>
        <p:nvPicPr>
          <p:cNvPr id="3074" name="Picture 2">
            <a:extLst>
              <a:ext uri="{FF2B5EF4-FFF2-40B4-BE49-F238E27FC236}">
                <a16:creationId xmlns:a16="http://schemas.microsoft.com/office/drawing/2014/main" id="{19DB09B1-087D-BB62-B32F-C3B5A9C38F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47468" y="277810"/>
            <a:ext cx="4304452" cy="64656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11052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8EDC4-3DA7-6DEF-BC50-F7D648CD15AF}"/>
            </a:ext>
          </a:extLst>
        </p:cNvPr>
        <p:cNvGrpSpPr/>
        <p:nvPr/>
      </p:nvGrpSpPr>
      <p:grpSpPr>
        <a:xfrm>
          <a:off x="0" y="0"/>
          <a:ext cx="0" cy="0"/>
          <a:chOff x="0" y="0"/>
          <a:chExt cx="0" cy="0"/>
        </a:xfrm>
      </p:grpSpPr>
      <p:sp>
        <p:nvSpPr>
          <p:cNvPr id="22" name="Flowchart: Document 21">
            <a:extLst>
              <a:ext uri="{FF2B5EF4-FFF2-40B4-BE49-F238E27FC236}">
                <a16:creationId xmlns:a16="http://schemas.microsoft.com/office/drawing/2014/main" id="{5C51BBA4-BD1B-EAA0-BF02-9062BB8876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701D79-7E73-68A4-FBEB-2E91C910F7BA}"/>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dirty="0">
                <a:solidFill>
                  <a:srgbClr val="FFFFFF"/>
                </a:solidFill>
                <a:latin typeface="+mj-lt"/>
                <a:ea typeface="+mj-ea"/>
                <a:cs typeface="+mj-cs"/>
              </a:rPr>
              <a:t>Security and SSL</a:t>
            </a:r>
          </a:p>
        </p:txBody>
      </p:sp>
      <p:sp>
        <p:nvSpPr>
          <p:cNvPr id="4" name="Slide Number Placeholder 3">
            <a:extLst>
              <a:ext uri="{FF2B5EF4-FFF2-40B4-BE49-F238E27FC236}">
                <a16:creationId xmlns:a16="http://schemas.microsoft.com/office/drawing/2014/main" id="{46D2DC40-AB66-5EA5-7293-DBF51E94336E}"/>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7DF6DEEC-D04A-4FF0-9A08-7D39859C24F4}" type="slidenum">
              <a:rPr lang="en-US" smtClean="0"/>
              <a:pPr algn="l">
                <a:spcAft>
                  <a:spcPts val="600"/>
                </a:spcAft>
              </a:pPr>
              <a:t>42</a:t>
            </a:fld>
            <a:endParaRPr lang="en-US"/>
          </a:p>
        </p:txBody>
      </p:sp>
      <p:sp>
        <p:nvSpPr>
          <p:cNvPr id="3" name="TextBox 2">
            <a:extLst>
              <a:ext uri="{FF2B5EF4-FFF2-40B4-BE49-F238E27FC236}">
                <a16:creationId xmlns:a16="http://schemas.microsoft.com/office/drawing/2014/main" id="{922D3C3D-00E2-B827-6207-997185FEFC1A}"/>
              </a:ext>
            </a:extLst>
          </p:cNvPr>
          <p:cNvSpPr txBox="1"/>
          <p:nvPr/>
        </p:nvSpPr>
        <p:spPr>
          <a:xfrm>
            <a:off x="3886200" y="0"/>
            <a:ext cx="8097714" cy="6432530"/>
          </a:xfrm>
          <a:prstGeom prst="rect">
            <a:avLst/>
          </a:prstGeom>
          <a:noFill/>
        </p:spPr>
        <p:txBody>
          <a:bodyPr wrap="square">
            <a:spAutoFit/>
          </a:bodyPr>
          <a:lstStyle/>
          <a:p>
            <a:pPr lvl="1" fontAlgn="base"/>
            <a:r>
              <a:rPr lang="en-US" sz="2400" dirty="0">
                <a:latin typeface="Lato" panose="020F0502020204030203" pitchFamily="34" charset="0"/>
              </a:rPr>
              <a:t>Authentication/Non-repudiation</a:t>
            </a:r>
          </a:p>
          <a:p>
            <a:pPr lvl="1" fontAlgn="base"/>
            <a:endParaRPr lang="en-US" sz="1400" b="0" i="0" u="none" strike="noStrike" dirty="0">
              <a:effectLst/>
              <a:latin typeface="Lato" panose="020F0502020204030203" pitchFamily="34" charset="0"/>
            </a:endParaRPr>
          </a:p>
          <a:p>
            <a:pPr fontAlgn="base"/>
            <a:r>
              <a:rPr lang="en-US" dirty="0"/>
              <a:t>TLS certs</a:t>
            </a:r>
          </a:p>
          <a:p>
            <a:pPr lvl="1" fontAlgn="base"/>
            <a:r>
              <a:rPr lang="en-US" dirty="0"/>
              <a:t>Server has both a Pub and Priv key</a:t>
            </a:r>
          </a:p>
          <a:p>
            <a:pPr lvl="1" fontAlgn="base"/>
            <a:endParaRPr lang="en-US" dirty="0"/>
          </a:p>
          <a:p>
            <a:pPr lvl="1" fontAlgn="base"/>
            <a:r>
              <a:rPr lang="en-US" dirty="0"/>
              <a:t>Something encrypted with the Priv key can be decrypted by the Pub key</a:t>
            </a:r>
          </a:p>
          <a:p>
            <a:pPr lvl="1" fontAlgn="base"/>
            <a:endParaRPr lang="en-US" dirty="0"/>
          </a:p>
          <a:p>
            <a:pPr lvl="1" fontAlgn="base"/>
            <a:r>
              <a:rPr lang="en-US" dirty="0"/>
              <a:t>Something encrypted with the Pub key can be decrypted only by the Priv key</a:t>
            </a:r>
          </a:p>
          <a:p>
            <a:pPr lvl="1" fontAlgn="base"/>
            <a:endParaRPr lang="en-US" dirty="0"/>
          </a:p>
          <a:p>
            <a:pPr lvl="1" fontAlgn="base"/>
            <a:r>
              <a:rPr lang="en-US" dirty="0"/>
              <a:t>Server send a hash of its certificate encrypted with the private key to client</a:t>
            </a:r>
          </a:p>
          <a:p>
            <a:pPr lvl="1" fontAlgn="base"/>
            <a:endParaRPr lang="en-US" dirty="0"/>
          </a:p>
          <a:p>
            <a:pPr lvl="1" fontAlgn="base"/>
            <a:r>
              <a:rPr lang="en-US" dirty="0"/>
              <a:t>Client decrypts the hash using the public key, calculates the hash independently and compares the decrypted with its own</a:t>
            </a:r>
          </a:p>
          <a:p>
            <a:pPr lvl="1" fontAlgn="base"/>
            <a:endParaRPr lang="en-US" dirty="0"/>
          </a:p>
          <a:p>
            <a:pPr lvl="1" fontAlgn="base"/>
            <a:r>
              <a:rPr lang="en-US" dirty="0"/>
              <a:t>Client send a random message to server encrypted with the public key and waits for the server to send the original message back.</a:t>
            </a:r>
          </a:p>
          <a:p>
            <a:pPr lvl="1" fontAlgn="base"/>
            <a:endParaRPr lang="en-US" dirty="0"/>
          </a:p>
          <a:p>
            <a:pPr lvl="1" fontAlgn="base"/>
            <a:r>
              <a:rPr lang="en-US" dirty="0"/>
              <a:t>Authentication completed! </a:t>
            </a:r>
          </a:p>
          <a:p>
            <a:pPr lvl="1" fontAlgn="base"/>
            <a:endParaRPr lang="en-US" dirty="0"/>
          </a:p>
          <a:p>
            <a:pPr lvl="1" fontAlgn="base"/>
            <a:r>
              <a:rPr lang="en-US" dirty="0"/>
              <a:t>For non-repudiation: Require the client to also provide a small piece of data signed with their private key in the middle of the communication and you get non-repudiation!</a:t>
            </a:r>
          </a:p>
          <a:p>
            <a:pPr lvl="1" fontAlgn="base"/>
            <a:endParaRPr lang="en-US" sz="1400" dirty="0">
              <a:latin typeface="Lato" panose="020F0502020204030203" pitchFamily="34" charset="0"/>
            </a:endParaRPr>
          </a:p>
        </p:txBody>
      </p:sp>
    </p:spTree>
    <p:extLst>
      <p:ext uri="{BB962C8B-B14F-4D97-AF65-F5344CB8AC3E}">
        <p14:creationId xmlns:p14="http://schemas.microsoft.com/office/powerpoint/2010/main" val="23849961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Picture 3" descr="Blue arrow amid grey arrows">
            <a:extLst>
              <a:ext uri="{FF2B5EF4-FFF2-40B4-BE49-F238E27FC236}">
                <a16:creationId xmlns:a16="http://schemas.microsoft.com/office/drawing/2014/main" id="{572CEF9F-3653-6D79-CEFE-7690EB97894F}"/>
              </a:ext>
            </a:extLst>
          </p:cNvPr>
          <p:cNvPicPr>
            <a:picLocks noChangeAspect="1"/>
          </p:cNvPicPr>
          <p:nvPr/>
        </p:nvPicPr>
        <p:blipFill rotWithShape="1">
          <a:blip r:embed="rId2">
            <a:alphaModFix amt="50000"/>
          </a:blip>
          <a:srcRect t="10258" b="14742"/>
          <a:stretch/>
        </p:blipFill>
        <p:spPr>
          <a:xfrm>
            <a:off x="20" y="1"/>
            <a:ext cx="12191980" cy="6857999"/>
          </a:xfrm>
          <a:prstGeom prst="rect">
            <a:avLst/>
          </a:prstGeom>
        </p:spPr>
      </p:pic>
      <p:sp>
        <p:nvSpPr>
          <p:cNvPr id="2" name="Title 1"/>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Availability</a:t>
            </a:r>
          </a:p>
        </p:txBody>
      </p:sp>
      <p:sp>
        <p:nvSpPr>
          <p:cNvPr id="3" name="Slide Number Placeholder 2">
            <a:extLst>
              <a:ext uri="{FF2B5EF4-FFF2-40B4-BE49-F238E27FC236}">
                <a16:creationId xmlns:a16="http://schemas.microsoft.com/office/drawing/2014/main" id="{5E1142F0-4FA2-227C-BBFF-255C29659691}"/>
              </a:ext>
            </a:extLst>
          </p:cNvPr>
          <p:cNvSpPr>
            <a:spLocks noGrp="1"/>
          </p:cNvSpPr>
          <p:nvPr>
            <p:ph type="sldNum" sz="quarter" idx="12"/>
          </p:nvPr>
        </p:nvSpPr>
        <p:spPr/>
        <p:txBody>
          <a:bodyPr/>
          <a:lstStyle/>
          <a:p>
            <a:fld id="{7DF6DEEC-D04A-4FF0-9A08-7D39859C24F4}" type="slidenum">
              <a:rPr lang="en-US" smtClean="0"/>
              <a:t>43</a:t>
            </a:fld>
            <a:endParaRPr lang="en-US"/>
          </a:p>
        </p:txBody>
      </p:sp>
    </p:spTree>
    <p:extLst>
      <p:ext uri="{BB962C8B-B14F-4D97-AF65-F5344CB8AC3E}">
        <p14:creationId xmlns:p14="http://schemas.microsoft.com/office/powerpoint/2010/main" val="1348949285"/>
      </p:ext>
    </p:extLst>
  </p:cSld>
  <p:clrMapOvr>
    <a:overrideClrMapping bg1="dk1" tx1="lt1" bg2="dk2" tx2="lt2" accent1="accent1" accent2="accent2" accent3="accent3" accent4="accent4" accent5="accent5" accent6="accent6" hlink="hlink" folHlink="folHlink"/>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8">
            <a:extLst>
              <a:ext uri="{FF2B5EF4-FFF2-40B4-BE49-F238E27FC236}">
                <a16:creationId xmlns:a16="http://schemas.microsoft.com/office/drawing/2014/main" id="{9228552E-C8B1-4A80-8448-0787CE0FC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2" name="Picture 4" descr="Illuminated server room panel">
            <a:extLst>
              <a:ext uri="{FF2B5EF4-FFF2-40B4-BE49-F238E27FC236}">
                <a16:creationId xmlns:a16="http://schemas.microsoft.com/office/drawing/2014/main" id="{9CC394A0-A4A5-A88B-BF40-F937E7C97737}"/>
              </a:ext>
            </a:extLst>
          </p:cNvPr>
          <p:cNvPicPr>
            <a:picLocks noChangeAspect="1"/>
          </p:cNvPicPr>
          <p:nvPr/>
        </p:nvPicPr>
        <p:blipFill rotWithShape="1">
          <a:blip r:embed="rId2">
            <a:alphaModFix amt="35000"/>
          </a:blip>
          <a:srcRect t="15730"/>
          <a:stretch/>
        </p:blipFill>
        <p:spPr>
          <a:xfrm>
            <a:off x="20" y="10"/>
            <a:ext cx="12191980" cy="6857990"/>
          </a:xfrm>
          <a:prstGeom prst="rect">
            <a:avLst/>
          </a:prstGeom>
        </p:spPr>
      </p:pic>
      <p:sp>
        <p:nvSpPr>
          <p:cNvPr id="2" name="Title 1"/>
          <p:cNvSpPr>
            <a:spLocks noGrp="1"/>
          </p:cNvSpPr>
          <p:nvPr>
            <p:ph type="title"/>
          </p:nvPr>
        </p:nvSpPr>
        <p:spPr>
          <a:xfrm>
            <a:off x="838200" y="365125"/>
            <a:ext cx="10515600" cy="1325563"/>
          </a:xfrm>
        </p:spPr>
        <p:txBody>
          <a:bodyPr>
            <a:normAutofit/>
          </a:bodyPr>
          <a:lstStyle/>
          <a:p>
            <a:r>
              <a:rPr lang="en-US">
                <a:solidFill>
                  <a:srgbClr val="FFFFFF"/>
                </a:solidFill>
              </a:rPr>
              <a:t>What is Availability?</a:t>
            </a:r>
          </a:p>
        </p:txBody>
      </p:sp>
      <p:sp>
        <p:nvSpPr>
          <p:cNvPr id="3" name="Content Placeholder 2"/>
          <p:cNvSpPr>
            <a:spLocks noGrp="1"/>
          </p:cNvSpPr>
          <p:nvPr>
            <p:ph idx="1"/>
          </p:nvPr>
        </p:nvSpPr>
        <p:spPr>
          <a:xfrm>
            <a:off x="838200" y="1825625"/>
            <a:ext cx="10515600" cy="4351338"/>
          </a:xfrm>
        </p:spPr>
        <p:txBody>
          <a:bodyPr>
            <a:normAutofit/>
          </a:bodyPr>
          <a:lstStyle/>
          <a:p>
            <a:r>
              <a:rPr lang="en-US" sz="3000" dirty="0">
                <a:solidFill>
                  <a:srgbClr val="FFFFFF"/>
                </a:solidFill>
              </a:rPr>
              <a:t>Availability refers to a property of software that it is there and ready to carry out its task when you need it to be. </a:t>
            </a:r>
          </a:p>
          <a:p>
            <a:r>
              <a:rPr lang="en-US" sz="3000" dirty="0">
                <a:solidFill>
                  <a:srgbClr val="FFFFFF"/>
                </a:solidFill>
              </a:rPr>
              <a:t>This is a broad perspective and encompasses what is normally called reliability.</a:t>
            </a:r>
          </a:p>
          <a:p>
            <a:r>
              <a:rPr lang="en-US" sz="3000" dirty="0">
                <a:solidFill>
                  <a:srgbClr val="FFFFFF"/>
                </a:solidFill>
              </a:rPr>
              <a:t>Availability builds on reliability by adding the notion of recovery (repair).</a:t>
            </a:r>
          </a:p>
          <a:p>
            <a:r>
              <a:rPr lang="en-US" sz="3000" dirty="0">
                <a:solidFill>
                  <a:srgbClr val="FFFFFF"/>
                </a:solidFill>
              </a:rPr>
              <a:t>Fundamentally, availability is about minimizing service outage time by mitigating faults. </a:t>
            </a:r>
          </a:p>
          <a:p>
            <a:endParaRPr lang="en-US" dirty="0">
              <a:solidFill>
                <a:srgbClr val="FFFFFF"/>
              </a:solidFill>
            </a:endParaRPr>
          </a:p>
          <a:p>
            <a:endParaRPr lang="en-US" dirty="0">
              <a:solidFill>
                <a:srgbClr val="FFFFFF"/>
              </a:solidFill>
            </a:endParaRPr>
          </a:p>
        </p:txBody>
      </p:sp>
      <p:sp>
        <p:nvSpPr>
          <p:cNvPr id="4" name="Slide Number Placeholder 3">
            <a:extLst>
              <a:ext uri="{FF2B5EF4-FFF2-40B4-BE49-F238E27FC236}">
                <a16:creationId xmlns:a16="http://schemas.microsoft.com/office/drawing/2014/main" id="{AFFC84D4-9D99-68A6-6E49-26B95909B65F}"/>
              </a:ext>
            </a:extLst>
          </p:cNvPr>
          <p:cNvSpPr>
            <a:spLocks noGrp="1"/>
          </p:cNvSpPr>
          <p:nvPr>
            <p:ph type="sldNum" sz="quarter" idx="12"/>
          </p:nvPr>
        </p:nvSpPr>
        <p:spPr/>
        <p:txBody>
          <a:bodyPr/>
          <a:lstStyle/>
          <a:p>
            <a:fld id="{7DF6DEEC-D04A-4FF0-9A08-7D39859C24F4}" type="slidenum">
              <a:rPr lang="en-US" smtClean="0"/>
              <a:t>44</a:t>
            </a:fld>
            <a:endParaRPr lang="en-US"/>
          </a:p>
        </p:txBody>
      </p:sp>
    </p:spTree>
    <p:extLst>
      <p:ext uri="{BB962C8B-B14F-4D97-AF65-F5344CB8AC3E}">
        <p14:creationId xmlns:p14="http://schemas.microsoft.com/office/powerpoint/2010/main" val="231368281"/>
      </p:ext>
    </p:extLst>
  </p:cSld>
  <p:clrMapOvr>
    <a:overrideClrMapping bg1="dk1" tx1="lt1" bg2="dk2" tx2="lt2" accent1="accent1" accent2="accent2" accent3="accent3" accent4="accent4" accent5="accent5" accent6="accent6" hlink="hlink" folHlink="folHlink"/>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2" name="Flowchart: Document 41">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Availability General Scenario</a:t>
            </a:r>
          </a:p>
        </p:txBody>
      </p:sp>
      <p:sp>
        <p:nvSpPr>
          <p:cNvPr id="4" name="Slide Number Placeholder 3">
            <a:extLst>
              <a:ext uri="{FF2B5EF4-FFF2-40B4-BE49-F238E27FC236}">
                <a16:creationId xmlns:a16="http://schemas.microsoft.com/office/drawing/2014/main" id="{1455193B-6E48-09BB-1B28-8EE18489E582}"/>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7DF6DEEC-D04A-4FF0-9A08-7D39859C24F4}" type="slidenum">
              <a:rPr lang="en-US" smtClean="0"/>
              <a:pPr algn="l">
                <a:spcAft>
                  <a:spcPts val="600"/>
                </a:spcAft>
              </a:pPr>
              <a:t>45</a:t>
            </a:fld>
            <a:endParaRPr lang="en-US"/>
          </a:p>
        </p:txBody>
      </p:sp>
      <p:graphicFrame>
        <p:nvGraphicFramePr>
          <p:cNvPr id="3" name="Table 2"/>
          <p:cNvGraphicFramePr>
            <a:graphicFrameLocks noGrp="1"/>
          </p:cNvGraphicFramePr>
          <p:nvPr>
            <p:extLst>
              <p:ext uri="{D42A27DB-BD31-4B8C-83A1-F6EECF244321}">
                <p14:modId xmlns:p14="http://schemas.microsoft.com/office/powerpoint/2010/main" val="657787448"/>
              </p:ext>
            </p:extLst>
          </p:nvPr>
        </p:nvGraphicFramePr>
        <p:xfrm>
          <a:off x="4086224" y="362538"/>
          <a:ext cx="7861935" cy="6373836"/>
        </p:xfrm>
        <a:graphic>
          <a:graphicData uri="http://schemas.openxmlformats.org/drawingml/2006/table">
            <a:tbl>
              <a:tblPr>
                <a:noFill/>
                <a:tableStyleId>{5C22544A-7EE6-4342-B048-85BDC9FD1C3A}</a:tableStyleId>
              </a:tblPr>
              <a:tblGrid>
                <a:gridCol w="1186816">
                  <a:extLst>
                    <a:ext uri="{9D8B030D-6E8A-4147-A177-3AD203B41FA5}">
                      <a16:colId xmlns:a16="http://schemas.microsoft.com/office/drawing/2014/main" val="20000"/>
                    </a:ext>
                  </a:extLst>
                </a:gridCol>
                <a:gridCol w="6675119">
                  <a:extLst>
                    <a:ext uri="{9D8B030D-6E8A-4147-A177-3AD203B41FA5}">
                      <a16:colId xmlns:a16="http://schemas.microsoft.com/office/drawing/2014/main" val="20001"/>
                    </a:ext>
                  </a:extLst>
                </a:gridCol>
              </a:tblGrid>
              <a:tr h="489319">
                <a:tc>
                  <a:txBody>
                    <a:bodyPr/>
                    <a:lstStyle/>
                    <a:p>
                      <a:pPr marL="0" marR="0" algn="ctr">
                        <a:lnSpc>
                          <a:spcPts val="1450"/>
                        </a:lnSpc>
                        <a:spcBef>
                          <a:spcPts val="400"/>
                        </a:spcBef>
                        <a:spcAft>
                          <a:spcPts val="400"/>
                        </a:spcAft>
                      </a:pPr>
                      <a:r>
                        <a:rPr lang="en-US" sz="1100" b="1" cap="none" spc="0">
                          <a:solidFill>
                            <a:schemeClr val="tx1">
                              <a:lumMod val="85000"/>
                              <a:lumOff val="15000"/>
                            </a:schemeClr>
                          </a:solidFill>
                          <a:effectLst/>
                        </a:rPr>
                        <a:t>Portion of </a:t>
                      </a:r>
                      <a:br>
                        <a:rPr lang="en-US" sz="1100" b="1" cap="none" spc="0">
                          <a:solidFill>
                            <a:schemeClr val="tx1">
                              <a:lumMod val="85000"/>
                              <a:lumOff val="15000"/>
                            </a:schemeClr>
                          </a:solidFill>
                          <a:effectLst/>
                        </a:rPr>
                      </a:br>
                      <a:r>
                        <a:rPr lang="en-US" sz="1100" b="1" cap="none" spc="0">
                          <a:solidFill>
                            <a:schemeClr val="tx1">
                              <a:lumMod val="85000"/>
                              <a:lumOff val="15000"/>
                            </a:schemeClr>
                          </a:solidFill>
                          <a:effectLst/>
                        </a:rPr>
                        <a:t>Scenario</a:t>
                      </a:r>
                      <a:endParaRPr lang="en-US" sz="1100" b="1" cap="none" spc="0">
                        <a:solidFill>
                          <a:schemeClr val="tx1">
                            <a:lumMod val="85000"/>
                            <a:lumOff val="15000"/>
                          </a:schemeClr>
                        </a:solidFill>
                        <a:effectLst/>
                        <a:latin typeface="Times"/>
                        <a:ea typeface="Times New Roman"/>
                        <a:cs typeface="Times New Roman"/>
                      </a:endParaRPr>
                    </a:p>
                  </a:txBody>
                  <a:tcPr marL="161669" marR="97001" marT="97001" marB="97001">
                    <a:lnL w="12700" cmpd="sng">
                      <a:noFill/>
                      <a:prstDash val="solid"/>
                    </a:lnL>
                    <a:lnR w="38100" cap="flat" cmpd="sng" algn="ctr">
                      <a:solidFill>
                        <a:srgbClr val="FFFFFF"/>
                      </a:solidFill>
                      <a:prstDash val="solid"/>
                    </a:lnR>
                    <a:lnT w="12700" cmpd="sng">
                      <a:noFill/>
                      <a:prstDash val="solid"/>
                    </a:lnT>
                    <a:lnB w="38100" cap="flat" cmpd="sng" algn="ctr">
                      <a:solidFill>
                        <a:srgbClr val="FFFFFF"/>
                      </a:solidFill>
                      <a:prstDash val="solid"/>
                    </a:lnB>
                    <a:solidFill>
                      <a:srgbClr val="878E8B">
                        <a:alpha val="30196"/>
                      </a:srgbClr>
                    </a:solidFill>
                  </a:tcPr>
                </a:tc>
                <a:tc>
                  <a:txBody>
                    <a:bodyPr/>
                    <a:lstStyle/>
                    <a:p>
                      <a:pPr marL="0" marR="0" algn="ctr">
                        <a:lnSpc>
                          <a:spcPts val="1450"/>
                        </a:lnSpc>
                        <a:spcBef>
                          <a:spcPts val="400"/>
                        </a:spcBef>
                        <a:spcAft>
                          <a:spcPts val="400"/>
                        </a:spcAft>
                      </a:pPr>
                      <a:r>
                        <a:rPr lang="en-US" sz="1100" b="1" cap="none" spc="0" dirty="0">
                          <a:solidFill>
                            <a:schemeClr val="tx1">
                              <a:lumMod val="85000"/>
                              <a:lumOff val="15000"/>
                            </a:schemeClr>
                          </a:solidFill>
                          <a:effectLst/>
                        </a:rPr>
                        <a:t>Possible Values	</a:t>
                      </a:r>
                      <a:endParaRPr lang="en-US" sz="1100" b="1" cap="none" spc="0" dirty="0">
                        <a:solidFill>
                          <a:schemeClr val="tx1">
                            <a:lumMod val="85000"/>
                            <a:lumOff val="15000"/>
                          </a:schemeClr>
                        </a:solidFill>
                        <a:effectLst/>
                        <a:latin typeface="Times"/>
                        <a:ea typeface="Times New Roman"/>
                        <a:cs typeface="Times New Roman"/>
                      </a:endParaRPr>
                    </a:p>
                  </a:txBody>
                  <a:tcPr marL="161669" marR="97001" marT="97001" marB="97001">
                    <a:lnL w="38100" cap="flat" cmpd="sng" algn="ctr">
                      <a:solidFill>
                        <a:srgbClr val="FFFFFF"/>
                      </a:solidFill>
                      <a:prstDash val="solid"/>
                    </a:lnL>
                    <a:lnR w="12700" cmpd="sng">
                      <a:noFill/>
                      <a:prstDash val="solid"/>
                    </a:lnR>
                    <a:lnT w="12700" cmpd="sng">
                      <a:noFill/>
                      <a:prstDash val="solid"/>
                    </a:lnT>
                    <a:lnB w="38100" cap="flat" cmpd="sng" algn="ctr">
                      <a:solidFill>
                        <a:srgbClr val="FFFFFF"/>
                      </a:solidFill>
                      <a:prstDash val="solid"/>
                    </a:lnB>
                    <a:solidFill>
                      <a:srgbClr val="878E8B">
                        <a:alpha val="30196"/>
                      </a:srgbClr>
                    </a:solidFill>
                  </a:tcPr>
                </a:tc>
                <a:extLst>
                  <a:ext uri="{0D108BD9-81ED-4DB2-BD59-A6C34878D82A}">
                    <a16:rowId xmlns:a16="http://schemas.microsoft.com/office/drawing/2014/main" val="10000"/>
                  </a:ext>
                </a:extLst>
              </a:tr>
              <a:tr h="489319">
                <a:tc>
                  <a:txBody>
                    <a:bodyPr/>
                    <a:lstStyle/>
                    <a:p>
                      <a:pPr marL="0" marR="0">
                        <a:lnSpc>
                          <a:spcPts val="1450"/>
                        </a:lnSpc>
                        <a:spcBef>
                          <a:spcPts val="400"/>
                        </a:spcBef>
                        <a:spcAft>
                          <a:spcPts val="400"/>
                        </a:spcAft>
                      </a:pPr>
                      <a:r>
                        <a:rPr lang="en-US" sz="1200" cap="none" spc="0">
                          <a:solidFill>
                            <a:schemeClr val="tx1">
                              <a:lumMod val="85000"/>
                              <a:lumOff val="15000"/>
                            </a:schemeClr>
                          </a:solidFill>
                          <a:effectLst/>
                        </a:rPr>
                        <a:t>Source</a:t>
                      </a:r>
                      <a:endParaRPr lang="en-US" sz="1200" cap="none" spc="0">
                        <a:solidFill>
                          <a:schemeClr val="tx1">
                            <a:lumMod val="85000"/>
                            <a:lumOff val="15000"/>
                          </a:schemeClr>
                        </a:solidFill>
                        <a:effectLst/>
                        <a:latin typeface="Times"/>
                        <a:ea typeface="Times New Roman"/>
                        <a:cs typeface="Times New Roman"/>
                      </a:endParaRPr>
                    </a:p>
                  </a:txBody>
                  <a:tcPr marL="161669" marR="97001" marT="97001" marB="97001">
                    <a:lnL w="12700" cmpd="sng">
                      <a:no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tc>
                  <a:txBody>
                    <a:bodyPr/>
                    <a:lstStyle/>
                    <a:p>
                      <a:pPr marL="0" marR="0">
                        <a:lnSpc>
                          <a:spcPts val="1450"/>
                        </a:lnSpc>
                        <a:spcBef>
                          <a:spcPts val="400"/>
                        </a:spcBef>
                        <a:spcAft>
                          <a:spcPts val="400"/>
                        </a:spcAft>
                      </a:pPr>
                      <a:r>
                        <a:rPr lang="en-US" sz="1200" cap="none" spc="0" dirty="0">
                          <a:solidFill>
                            <a:schemeClr val="tx1">
                              <a:lumMod val="85000"/>
                              <a:lumOff val="15000"/>
                            </a:schemeClr>
                          </a:solidFill>
                          <a:effectLst/>
                        </a:rPr>
                        <a:t>Internal/external: people, hardware, software, physical infrastructure, physical environment</a:t>
                      </a:r>
                      <a:endParaRPr lang="en-US" sz="1200" cap="none" spc="0" dirty="0">
                        <a:solidFill>
                          <a:schemeClr val="tx1">
                            <a:lumMod val="85000"/>
                            <a:lumOff val="15000"/>
                          </a:schemeClr>
                        </a:solidFill>
                        <a:effectLst/>
                        <a:latin typeface="Times"/>
                        <a:ea typeface="Times New Roman"/>
                        <a:cs typeface="Times New Roman"/>
                      </a:endParaRPr>
                    </a:p>
                  </a:txBody>
                  <a:tcPr marL="161669" marR="97001" marT="97001" marB="97001">
                    <a:lnL w="38100" cap="flat" cmpd="sng" algn="ctr">
                      <a:solidFill>
                        <a:srgbClr val="FFFFFF"/>
                      </a:solidFill>
                      <a:prstDash val="solid"/>
                    </a:lnL>
                    <a:lnR w="12700" cmpd="sng">
                      <a:no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extLst>
                  <a:ext uri="{0D108BD9-81ED-4DB2-BD59-A6C34878D82A}">
                    <a16:rowId xmlns:a16="http://schemas.microsoft.com/office/drawing/2014/main" val="10001"/>
                  </a:ext>
                </a:extLst>
              </a:tr>
              <a:tr h="354595">
                <a:tc>
                  <a:txBody>
                    <a:bodyPr/>
                    <a:lstStyle/>
                    <a:p>
                      <a:pPr marL="0" marR="0">
                        <a:lnSpc>
                          <a:spcPts val="1450"/>
                        </a:lnSpc>
                        <a:spcBef>
                          <a:spcPts val="400"/>
                        </a:spcBef>
                        <a:spcAft>
                          <a:spcPts val="400"/>
                        </a:spcAft>
                      </a:pPr>
                      <a:r>
                        <a:rPr lang="en-US" sz="1200" cap="none" spc="0">
                          <a:solidFill>
                            <a:schemeClr val="tx1">
                              <a:lumMod val="85000"/>
                              <a:lumOff val="15000"/>
                            </a:schemeClr>
                          </a:solidFill>
                          <a:effectLst/>
                        </a:rPr>
                        <a:t>Stimulus</a:t>
                      </a:r>
                      <a:endParaRPr lang="en-US" sz="1200" cap="none" spc="0">
                        <a:solidFill>
                          <a:schemeClr val="tx1">
                            <a:lumMod val="85000"/>
                            <a:lumOff val="15000"/>
                          </a:schemeClr>
                        </a:solidFill>
                        <a:effectLst/>
                        <a:latin typeface="Times"/>
                        <a:ea typeface="Times New Roman"/>
                        <a:cs typeface="Times New Roman"/>
                      </a:endParaRPr>
                    </a:p>
                  </a:txBody>
                  <a:tcPr marL="161669" marR="97001" marT="97001" marB="97001">
                    <a:lnL w="12700" cmpd="sng">
                      <a:no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tc>
                  <a:txBody>
                    <a:bodyPr/>
                    <a:lstStyle/>
                    <a:p>
                      <a:pPr marL="0" marR="0">
                        <a:lnSpc>
                          <a:spcPts val="1450"/>
                        </a:lnSpc>
                        <a:spcBef>
                          <a:spcPts val="400"/>
                        </a:spcBef>
                        <a:spcAft>
                          <a:spcPts val="400"/>
                        </a:spcAft>
                      </a:pPr>
                      <a:r>
                        <a:rPr lang="en-US" sz="1200" cap="none" spc="0">
                          <a:solidFill>
                            <a:schemeClr val="tx1">
                              <a:lumMod val="85000"/>
                              <a:lumOff val="15000"/>
                            </a:schemeClr>
                          </a:solidFill>
                          <a:effectLst/>
                        </a:rPr>
                        <a:t>Fault: omission, crash, incorrect timing, incorrect response</a:t>
                      </a:r>
                      <a:endParaRPr lang="en-US" sz="1200" cap="none" spc="0">
                        <a:solidFill>
                          <a:schemeClr val="tx1">
                            <a:lumMod val="85000"/>
                            <a:lumOff val="15000"/>
                          </a:schemeClr>
                        </a:solidFill>
                        <a:effectLst/>
                        <a:latin typeface="Times"/>
                        <a:ea typeface="Times New Roman"/>
                        <a:cs typeface="Times New Roman"/>
                      </a:endParaRPr>
                    </a:p>
                  </a:txBody>
                  <a:tcPr marL="161669" marR="97001" marT="97001" marB="97001">
                    <a:lnL w="38100" cap="flat" cmpd="sng" algn="ctr">
                      <a:solidFill>
                        <a:srgbClr val="FFFFFF"/>
                      </a:solidFill>
                      <a:prstDash val="solid"/>
                    </a:lnL>
                    <a:lnR w="12700" cmpd="sng">
                      <a:no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extLst>
                  <a:ext uri="{0D108BD9-81ED-4DB2-BD59-A6C34878D82A}">
                    <a16:rowId xmlns:a16="http://schemas.microsoft.com/office/drawing/2014/main" val="10002"/>
                  </a:ext>
                </a:extLst>
              </a:tr>
              <a:tr h="354595">
                <a:tc>
                  <a:txBody>
                    <a:bodyPr/>
                    <a:lstStyle/>
                    <a:p>
                      <a:pPr marL="0" marR="0">
                        <a:lnSpc>
                          <a:spcPts val="1450"/>
                        </a:lnSpc>
                        <a:spcBef>
                          <a:spcPts val="400"/>
                        </a:spcBef>
                        <a:spcAft>
                          <a:spcPts val="400"/>
                        </a:spcAft>
                      </a:pPr>
                      <a:r>
                        <a:rPr lang="en-US" sz="1200" cap="none" spc="0">
                          <a:solidFill>
                            <a:schemeClr val="tx1">
                              <a:lumMod val="85000"/>
                              <a:lumOff val="15000"/>
                            </a:schemeClr>
                          </a:solidFill>
                          <a:effectLst/>
                        </a:rPr>
                        <a:t>Artifact</a:t>
                      </a:r>
                      <a:endParaRPr lang="en-US" sz="1200" cap="none" spc="0">
                        <a:solidFill>
                          <a:schemeClr val="tx1">
                            <a:lumMod val="85000"/>
                            <a:lumOff val="15000"/>
                          </a:schemeClr>
                        </a:solidFill>
                        <a:effectLst/>
                        <a:latin typeface="Times"/>
                        <a:ea typeface="Times New Roman"/>
                        <a:cs typeface="Times New Roman"/>
                      </a:endParaRPr>
                    </a:p>
                  </a:txBody>
                  <a:tcPr marL="161669" marR="97001" marT="97001" marB="97001">
                    <a:lnL w="12700" cmpd="sng">
                      <a:no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tc>
                  <a:txBody>
                    <a:bodyPr/>
                    <a:lstStyle/>
                    <a:p>
                      <a:pPr marL="0" marR="0">
                        <a:lnSpc>
                          <a:spcPts val="1450"/>
                        </a:lnSpc>
                        <a:spcBef>
                          <a:spcPts val="400"/>
                        </a:spcBef>
                        <a:spcAft>
                          <a:spcPts val="400"/>
                        </a:spcAft>
                      </a:pPr>
                      <a:r>
                        <a:rPr lang="en-US" sz="1200" cap="none" spc="0">
                          <a:solidFill>
                            <a:schemeClr val="tx1">
                              <a:lumMod val="85000"/>
                              <a:lumOff val="15000"/>
                            </a:schemeClr>
                          </a:solidFill>
                          <a:effectLst/>
                        </a:rPr>
                        <a:t>System’s processors, communication channels, persistent storage, processes</a:t>
                      </a:r>
                      <a:endParaRPr lang="en-US" sz="1200" cap="none" spc="0">
                        <a:solidFill>
                          <a:schemeClr val="tx1">
                            <a:lumMod val="85000"/>
                            <a:lumOff val="15000"/>
                          </a:schemeClr>
                        </a:solidFill>
                        <a:effectLst/>
                        <a:latin typeface="Times"/>
                        <a:ea typeface="Times New Roman"/>
                        <a:cs typeface="Times New Roman"/>
                      </a:endParaRPr>
                    </a:p>
                  </a:txBody>
                  <a:tcPr marL="161669" marR="97001" marT="97001" marB="97001">
                    <a:lnL w="38100" cap="flat" cmpd="sng" algn="ctr">
                      <a:solidFill>
                        <a:srgbClr val="FFFFFF"/>
                      </a:solidFill>
                      <a:prstDash val="solid"/>
                    </a:lnL>
                    <a:lnR w="12700" cmpd="sng">
                      <a:no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extLst>
                  <a:ext uri="{0D108BD9-81ED-4DB2-BD59-A6C34878D82A}">
                    <a16:rowId xmlns:a16="http://schemas.microsoft.com/office/drawing/2014/main" val="10003"/>
                  </a:ext>
                </a:extLst>
              </a:tr>
              <a:tr h="489319">
                <a:tc>
                  <a:txBody>
                    <a:bodyPr/>
                    <a:lstStyle/>
                    <a:p>
                      <a:pPr marL="0" marR="0">
                        <a:lnSpc>
                          <a:spcPts val="1450"/>
                        </a:lnSpc>
                        <a:spcBef>
                          <a:spcPts val="400"/>
                        </a:spcBef>
                        <a:spcAft>
                          <a:spcPts val="400"/>
                        </a:spcAft>
                      </a:pPr>
                      <a:r>
                        <a:rPr lang="en-US" sz="1200" cap="none" spc="0">
                          <a:solidFill>
                            <a:schemeClr val="tx1">
                              <a:lumMod val="85000"/>
                              <a:lumOff val="15000"/>
                            </a:schemeClr>
                          </a:solidFill>
                          <a:effectLst/>
                        </a:rPr>
                        <a:t>Environment</a:t>
                      </a:r>
                      <a:endParaRPr lang="en-US" sz="1200" cap="none" spc="0">
                        <a:solidFill>
                          <a:schemeClr val="tx1">
                            <a:lumMod val="85000"/>
                            <a:lumOff val="15000"/>
                          </a:schemeClr>
                        </a:solidFill>
                        <a:effectLst/>
                        <a:latin typeface="Times"/>
                        <a:ea typeface="Times New Roman"/>
                        <a:cs typeface="Times New Roman"/>
                      </a:endParaRPr>
                    </a:p>
                  </a:txBody>
                  <a:tcPr marL="161669" marR="97001" marT="97001" marB="97001">
                    <a:lnL w="12700" cmpd="sng">
                      <a:no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tc>
                  <a:txBody>
                    <a:bodyPr/>
                    <a:lstStyle/>
                    <a:p>
                      <a:pPr marL="0" marR="0">
                        <a:lnSpc>
                          <a:spcPts val="1450"/>
                        </a:lnSpc>
                        <a:spcBef>
                          <a:spcPts val="400"/>
                        </a:spcBef>
                        <a:spcAft>
                          <a:spcPts val="400"/>
                        </a:spcAft>
                      </a:pPr>
                      <a:r>
                        <a:rPr lang="en-US" sz="1200" cap="none" spc="0">
                          <a:solidFill>
                            <a:schemeClr val="tx1">
                              <a:lumMod val="85000"/>
                              <a:lumOff val="15000"/>
                            </a:schemeClr>
                          </a:solidFill>
                          <a:effectLst/>
                        </a:rPr>
                        <a:t>Normal operation, startup, shutdown, repair mode, degraded operation, overloaded operation</a:t>
                      </a:r>
                      <a:endParaRPr lang="en-US" sz="1200" cap="none" spc="0">
                        <a:solidFill>
                          <a:schemeClr val="tx1">
                            <a:lumMod val="85000"/>
                            <a:lumOff val="15000"/>
                          </a:schemeClr>
                        </a:solidFill>
                        <a:effectLst/>
                        <a:latin typeface="Times"/>
                        <a:ea typeface="Times New Roman"/>
                        <a:cs typeface="Times New Roman"/>
                      </a:endParaRPr>
                    </a:p>
                  </a:txBody>
                  <a:tcPr marL="161669" marR="97001" marT="97001" marB="97001">
                    <a:lnL w="38100" cap="flat" cmpd="sng" algn="ctr">
                      <a:solidFill>
                        <a:srgbClr val="FFFFFF"/>
                      </a:solidFill>
                      <a:prstDash val="solid"/>
                    </a:lnL>
                    <a:lnR w="12700" cmpd="sng">
                      <a:no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extLst>
                  <a:ext uri="{0D108BD9-81ED-4DB2-BD59-A6C34878D82A}">
                    <a16:rowId xmlns:a16="http://schemas.microsoft.com/office/drawing/2014/main" val="10004"/>
                  </a:ext>
                </a:extLst>
              </a:tr>
              <a:tr h="1719800">
                <a:tc>
                  <a:txBody>
                    <a:bodyPr/>
                    <a:lstStyle/>
                    <a:p>
                      <a:pPr marL="0" marR="0">
                        <a:lnSpc>
                          <a:spcPts val="1450"/>
                        </a:lnSpc>
                        <a:spcBef>
                          <a:spcPts val="400"/>
                        </a:spcBef>
                        <a:spcAft>
                          <a:spcPts val="400"/>
                        </a:spcAft>
                      </a:pPr>
                      <a:r>
                        <a:rPr lang="en-US" sz="1200" cap="none" spc="0">
                          <a:solidFill>
                            <a:schemeClr val="tx1">
                              <a:lumMod val="85000"/>
                              <a:lumOff val="15000"/>
                            </a:schemeClr>
                          </a:solidFill>
                          <a:effectLst/>
                        </a:rPr>
                        <a:t>Response</a:t>
                      </a:r>
                      <a:endParaRPr lang="en-US" sz="1200" cap="none" spc="0">
                        <a:solidFill>
                          <a:schemeClr val="tx1">
                            <a:lumMod val="85000"/>
                            <a:lumOff val="15000"/>
                          </a:schemeClr>
                        </a:solidFill>
                        <a:effectLst/>
                        <a:latin typeface="Times"/>
                        <a:ea typeface="Times New Roman"/>
                        <a:cs typeface="Times New Roman"/>
                      </a:endParaRPr>
                    </a:p>
                  </a:txBody>
                  <a:tcPr marL="161669" marR="97001" marT="97001" marB="97001">
                    <a:lnL w="12700" cmpd="sng">
                      <a:noFill/>
                      <a:prstDash val="solid"/>
                    </a:lnL>
                    <a:lnR w="38100" cap="flat" cmpd="sng" algn="ctr">
                      <a:solidFill>
                        <a:srgbClr val="FFFFFF"/>
                      </a:solid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tc>
                  <a:txBody>
                    <a:bodyPr/>
                    <a:lstStyle/>
                    <a:p>
                      <a:pPr marL="0" marR="0" indent="0">
                        <a:lnSpc>
                          <a:spcPts val="1450"/>
                        </a:lnSpc>
                        <a:spcBef>
                          <a:spcPts val="100"/>
                        </a:spcBef>
                        <a:spcAft>
                          <a:spcPts val="300"/>
                        </a:spcAft>
                        <a:tabLst>
                          <a:tab pos="228600" algn="l"/>
                          <a:tab pos="274320" algn="l"/>
                          <a:tab pos="274320" algn="l"/>
                        </a:tabLst>
                      </a:pPr>
                      <a:r>
                        <a:rPr lang="en-US" sz="1200" kern="1100" cap="none" spc="0" dirty="0">
                          <a:solidFill>
                            <a:schemeClr val="tx1">
                              <a:lumMod val="85000"/>
                              <a:lumOff val="15000"/>
                            </a:schemeClr>
                          </a:solidFill>
                          <a:effectLst/>
                        </a:rPr>
                        <a:t>Prevent the fault from becoming a failure</a:t>
                      </a:r>
                    </a:p>
                    <a:p>
                      <a:pPr marL="0" marR="0" indent="0">
                        <a:lnSpc>
                          <a:spcPts val="1450"/>
                        </a:lnSpc>
                        <a:spcBef>
                          <a:spcPts val="100"/>
                        </a:spcBef>
                        <a:spcAft>
                          <a:spcPts val="300"/>
                        </a:spcAft>
                        <a:tabLst>
                          <a:tab pos="228600" algn="l"/>
                          <a:tab pos="274320" algn="l"/>
                          <a:tab pos="274320" algn="l"/>
                        </a:tabLst>
                      </a:pPr>
                      <a:r>
                        <a:rPr lang="en-US" sz="1200" kern="1100" cap="none" spc="0" dirty="0">
                          <a:solidFill>
                            <a:schemeClr val="tx1">
                              <a:lumMod val="85000"/>
                              <a:lumOff val="15000"/>
                            </a:schemeClr>
                          </a:solidFill>
                          <a:effectLst/>
                        </a:rPr>
                        <a:t>Detect the fault:</a:t>
                      </a:r>
                    </a:p>
                    <a:p>
                      <a:pPr marL="342900" marR="0" lvl="0" indent="-342900">
                        <a:lnSpc>
                          <a:spcPts val="1450"/>
                        </a:lnSpc>
                        <a:spcBef>
                          <a:spcPts val="100"/>
                        </a:spcBef>
                        <a:spcAft>
                          <a:spcPts val="300"/>
                        </a:spcAft>
                        <a:buSzPts val="800"/>
                        <a:buFont typeface="Symbol"/>
                        <a:buChar char=""/>
                        <a:tabLst>
                          <a:tab pos="228600" algn="l"/>
                          <a:tab pos="274320" algn="l"/>
                        </a:tabLst>
                      </a:pPr>
                      <a:r>
                        <a:rPr lang="en-US" sz="1200" kern="1100" cap="none" spc="0" dirty="0">
                          <a:solidFill>
                            <a:schemeClr val="tx1">
                              <a:lumMod val="85000"/>
                              <a:lumOff val="15000"/>
                            </a:schemeClr>
                          </a:solidFill>
                          <a:effectLst/>
                        </a:rPr>
                        <a:t> log the fault</a:t>
                      </a:r>
                    </a:p>
                    <a:p>
                      <a:pPr marL="342900" marR="0" lvl="0" indent="-342900">
                        <a:lnSpc>
                          <a:spcPts val="1450"/>
                        </a:lnSpc>
                        <a:spcBef>
                          <a:spcPts val="100"/>
                        </a:spcBef>
                        <a:spcAft>
                          <a:spcPts val="300"/>
                        </a:spcAft>
                        <a:buSzPts val="800"/>
                        <a:buFont typeface="Symbol"/>
                        <a:buChar char=""/>
                        <a:tabLst>
                          <a:tab pos="228600" algn="l"/>
                          <a:tab pos="274320" algn="l"/>
                        </a:tabLst>
                      </a:pPr>
                      <a:r>
                        <a:rPr lang="en-US" sz="1200" kern="1100" cap="none" spc="0" dirty="0">
                          <a:solidFill>
                            <a:schemeClr val="tx1">
                              <a:lumMod val="85000"/>
                              <a:lumOff val="15000"/>
                            </a:schemeClr>
                          </a:solidFill>
                          <a:effectLst/>
                        </a:rPr>
                        <a:t> notify appropriate entities (people or systems)</a:t>
                      </a:r>
                    </a:p>
                    <a:p>
                      <a:pPr marL="0" marR="0" indent="0">
                        <a:lnSpc>
                          <a:spcPts val="1450"/>
                        </a:lnSpc>
                        <a:spcBef>
                          <a:spcPts val="100"/>
                        </a:spcBef>
                        <a:spcAft>
                          <a:spcPts val="300"/>
                        </a:spcAft>
                        <a:tabLst>
                          <a:tab pos="228600" algn="l"/>
                          <a:tab pos="274320" algn="l"/>
                          <a:tab pos="274320" algn="l"/>
                        </a:tabLst>
                      </a:pPr>
                      <a:r>
                        <a:rPr lang="en-US" sz="1200" kern="1100" cap="none" spc="0" dirty="0">
                          <a:solidFill>
                            <a:schemeClr val="tx1">
                              <a:lumMod val="85000"/>
                              <a:lumOff val="15000"/>
                            </a:schemeClr>
                          </a:solidFill>
                          <a:effectLst/>
                        </a:rPr>
                        <a:t>Recover from the fault</a:t>
                      </a:r>
                    </a:p>
                    <a:p>
                      <a:pPr marL="342900" marR="0" lvl="0" indent="-342900">
                        <a:lnSpc>
                          <a:spcPts val="1450"/>
                        </a:lnSpc>
                        <a:spcBef>
                          <a:spcPts val="100"/>
                        </a:spcBef>
                        <a:spcAft>
                          <a:spcPts val="300"/>
                        </a:spcAft>
                        <a:buSzPts val="800"/>
                        <a:buFont typeface="Symbol"/>
                        <a:buChar char=""/>
                        <a:tabLst>
                          <a:tab pos="228600" algn="l"/>
                          <a:tab pos="274320" algn="l"/>
                        </a:tabLst>
                      </a:pPr>
                      <a:r>
                        <a:rPr lang="en-US" sz="1200" kern="1100" cap="none" spc="0" dirty="0">
                          <a:solidFill>
                            <a:schemeClr val="tx1">
                              <a:lumMod val="85000"/>
                              <a:lumOff val="15000"/>
                            </a:schemeClr>
                          </a:solidFill>
                          <a:effectLst/>
                        </a:rPr>
                        <a:t> disable source of events causing the fault</a:t>
                      </a:r>
                    </a:p>
                    <a:p>
                      <a:pPr marL="342900" marR="0" lvl="0" indent="-342900">
                        <a:lnSpc>
                          <a:spcPts val="1450"/>
                        </a:lnSpc>
                        <a:spcBef>
                          <a:spcPts val="100"/>
                        </a:spcBef>
                        <a:spcAft>
                          <a:spcPts val="300"/>
                        </a:spcAft>
                        <a:buSzPts val="800"/>
                        <a:buFont typeface="Symbol"/>
                        <a:buChar char=""/>
                        <a:tabLst>
                          <a:tab pos="228600" algn="l"/>
                          <a:tab pos="274320" algn="l"/>
                        </a:tabLst>
                      </a:pPr>
                      <a:r>
                        <a:rPr lang="en-US" sz="1200" kern="1100" cap="none" spc="0" dirty="0">
                          <a:solidFill>
                            <a:schemeClr val="tx1">
                              <a:lumMod val="85000"/>
                              <a:lumOff val="15000"/>
                            </a:schemeClr>
                          </a:solidFill>
                          <a:effectLst/>
                        </a:rPr>
                        <a:t> be temporarily unavailable while repair is being effected</a:t>
                      </a:r>
                    </a:p>
                    <a:p>
                      <a:pPr marL="342900" marR="0" lvl="0" indent="-342900">
                        <a:lnSpc>
                          <a:spcPts val="1450"/>
                        </a:lnSpc>
                        <a:spcBef>
                          <a:spcPts val="100"/>
                        </a:spcBef>
                        <a:spcAft>
                          <a:spcPts val="300"/>
                        </a:spcAft>
                        <a:buSzPts val="800"/>
                        <a:buFont typeface="Symbol"/>
                        <a:buChar char=""/>
                        <a:tabLst>
                          <a:tab pos="228600" algn="l"/>
                          <a:tab pos="274320" algn="l"/>
                        </a:tabLst>
                      </a:pPr>
                      <a:r>
                        <a:rPr lang="en-US" sz="1200" kern="1100" cap="none" spc="0" dirty="0">
                          <a:solidFill>
                            <a:schemeClr val="tx1">
                              <a:lumMod val="85000"/>
                              <a:lumOff val="15000"/>
                            </a:schemeClr>
                          </a:solidFill>
                          <a:effectLst/>
                        </a:rPr>
                        <a:t> fix or mask the fault/failure or contain the damage it causes</a:t>
                      </a:r>
                    </a:p>
                    <a:p>
                      <a:pPr marL="342900" marR="0" lvl="0" indent="-342900">
                        <a:lnSpc>
                          <a:spcPts val="1450"/>
                        </a:lnSpc>
                        <a:spcBef>
                          <a:spcPts val="100"/>
                        </a:spcBef>
                        <a:spcAft>
                          <a:spcPts val="300"/>
                        </a:spcAft>
                        <a:buSzPts val="800"/>
                        <a:buFont typeface="Symbol"/>
                        <a:buChar char=""/>
                        <a:tabLst>
                          <a:tab pos="228600" algn="l"/>
                          <a:tab pos="274320" algn="l"/>
                        </a:tabLst>
                      </a:pPr>
                      <a:r>
                        <a:rPr lang="en-US" sz="1200" kern="1100" cap="none" spc="0" dirty="0">
                          <a:solidFill>
                            <a:schemeClr val="tx1">
                              <a:lumMod val="85000"/>
                              <a:lumOff val="15000"/>
                            </a:schemeClr>
                          </a:solidFill>
                          <a:effectLst/>
                        </a:rPr>
                        <a:t> operate in a degraded mode while repair is being effected</a:t>
                      </a:r>
                      <a:endParaRPr lang="en-US" sz="1200" kern="1100" cap="none" spc="0" dirty="0">
                        <a:solidFill>
                          <a:schemeClr val="tx1">
                            <a:lumMod val="85000"/>
                            <a:lumOff val="15000"/>
                          </a:schemeClr>
                        </a:solidFill>
                        <a:effectLst/>
                        <a:latin typeface="Times New Roman"/>
                        <a:ea typeface="Times New Roman"/>
                      </a:endParaRPr>
                    </a:p>
                  </a:txBody>
                  <a:tcPr marL="161669" marR="97001" marT="97001" marB="97001">
                    <a:lnL w="38100" cap="flat" cmpd="sng" algn="ctr">
                      <a:solidFill>
                        <a:srgbClr val="FFFFFF"/>
                      </a:solidFill>
                      <a:prstDash val="solid"/>
                    </a:lnL>
                    <a:lnR w="12700" cmpd="sng">
                      <a:noFill/>
                      <a:prstDash val="solid"/>
                    </a:lnR>
                    <a:lnT w="38100" cap="flat" cmpd="sng" algn="ctr">
                      <a:solidFill>
                        <a:srgbClr val="FFFFFF"/>
                      </a:solidFill>
                      <a:prstDash val="solid"/>
                    </a:lnT>
                    <a:lnB w="38100" cap="flat" cmpd="sng" algn="ctr">
                      <a:solidFill>
                        <a:srgbClr val="FFFFFF"/>
                      </a:solidFill>
                      <a:prstDash val="solid"/>
                    </a:lnB>
                    <a:solidFill>
                      <a:srgbClr val="878E8B">
                        <a:alpha val="30196"/>
                      </a:srgbClr>
                    </a:solidFill>
                  </a:tcPr>
                </a:tc>
                <a:extLst>
                  <a:ext uri="{0D108BD9-81ED-4DB2-BD59-A6C34878D82A}">
                    <a16:rowId xmlns:a16="http://schemas.microsoft.com/office/drawing/2014/main" val="10005"/>
                  </a:ext>
                </a:extLst>
              </a:tr>
              <a:tr h="0">
                <a:tc>
                  <a:txBody>
                    <a:bodyPr/>
                    <a:lstStyle/>
                    <a:p>
                      <a:pPr marL="0" marR="0">
                        <a:lnSpc>
                          <a:spcPts val="1450"/>
                        </a:lnSpc>
                        <a:spcBef>
                          <a:spcPts val="400"/>
                        </a:spcBef>
                        <a:spcAft>
                          <a:spcPts val="400"/>
                        </a:spcAft>
                      </a:pPr>
                      <a:r>
                        <a:rPr lang="en-US" sz="1200" cap="none" spc="0" dirty="0">
                          <a:solidFill>
                            <a:schemeClr val="tx1">
                              <a:lumMod val="85000"/>
                              <a:lumOff val="15000"/>
                            </a:schemeClr>
                          </a:solidFill>
                          <a:effectLst/>
                        </a:rPr>
                        <a:t>Response </a:t>
                      </a:r>
                      <a:br>
                        <a:rPr lang="en-US" sz="1200" cap="none" spc="0" dirty="0">
                          <a:solidFill>
                            <a:schemeClr val="tx1">
                              <a:lumMod val="85000"/>
                              <a:lumOff val="15000"/>
                            </a:schemeClr>
                          </a:solidFill>
                          <a:effectLst/>
                        </a:rPr>
                      </a:br>
                      <a:r>
                        <a:rPr lang="en-US" sz="1200" cap="none" spc="0" dirty="0">
                          <a:solidFill>
                            <a:schemeClr val="tx1">
                              <a:lumMod val="85000"/>
                              <a:lumOff val="15000"/>
                            </a:schemeClr>
                          </a:solidFill>
                          <a:effectLst/>
                        </a:rPr>
                        <a:t>Measure</a:t>
                      </a:r>
                      <a:endParaRPr lang="en-US" sz="1200" cap="none" spc="0" dirty="0">
                        <a:solidFill>
                          <a:schemeClr val="tx1">
                            <a:lumMod val="85000"/>
                            <a:lumOff val="15000"/>
                          </a:schemeClr>
                        </a:solidFill>
                        <a:effectLst/>
                        <a:latin typeface="Times"/>
                        <a:ea typeface="Times New Roman"/>
                        <a:cs typeface="Times New Roman"/>
                      </a:endParaRPr>
                    </a:p>
                  </a:txBody>
                  <a:tcPr marL="161669" marR="97001" marT="97001" marB="97001">
                    <a:lnL w="12700" cmpd="sng">
                      <a:noFill/>
                      <a:prstDash val="solid"/>
                    </a:lnL>
                    <a:lnR w="38100" cap="flat" cmpd="sng" algn="ctr">
                      <a:solidFill>
                        <a:srgbClr val="FFFFFF"/>
                      </a:solidFill>
                      <a:prstDash val="solid"/>
                    </a:lnR>
                    <a:lnT w="38100" cap="flat" cmpd="sng" algn="ctr">
                      <a:solidFill>
                        <a:srgbClr val="FFFFFF"/>
                      </a:solidFill>
                      <a:prstDash val="solid"/>
                    </a:lnT>
                    <a:lnB w="12700" cmpd="sng">
                      <a:noFill/>
                      <a:prstDash val="solid"/>
                    </a:lnB>
                    <a:solidFill>
                      <a:srgbClr val="878E8B">
                        <a:alpha val="30196"/>
                      </a:srgbClr>
                    </a:solidFill>
                  </a:tcPr>
                </a:tc>
                <a:tc>
                  <a:txBody>
                    <a:bodyPr/>
                    <a:lstStyle/>
                    <a:p>
                      <a:pPr marL="0" marR="0">
                        <a:lnSpc>
                          <a:spcPts val="1450"/>
                        </a:lnSpc>
                        <a:spcBef>
                          <a:spcPts val="400"/>
                        </a:spcBef>
                        <a:spcAft>
                          <a:spcPts val="0"/>
                        </a:spcAft>
                      </a:pPr>
                      <a:r>
                        <a:rPr lang="en-US" sz="1200" cap="none" spc="0" dirty="0">
                          <a:solidFill>
                            <a:schemeClr val="tx1">
                              <a:lumMod val="85000"/>
                              <a:lumOff val="15000"/>
                            </a:schemeClr>
                          </a:solidFill>
                          <a:effectLst/>
                        </a:rPr>
                        <a:t>Time or time interval when the system must be available</a:t>
                      </a:r>
                    </a:p>
                    <a:p>
                      <a:pPr marL="0" marR="0">
                        <a:lnSpc>
                          <a:spcPts val="1450"/>
                        </a:lnSpc>
                        <a:spcBef>
                          <a:spcPts val="400"/>
                        </a:spcBef>
                        <a:spcAft>
                          <a:spcPts val="0"/>
                        </a:spcAft>
                      </a:pPr>
                      <a:r>
                        <a:rPr lang="en-US" sz="1200" cap="none" spc="0" dirty="0">
                          <a:solidFill>
                            <a:schemeClr val="tx1">
                              <a:lumMod val="85000"/>
                              <a:lumOff val="15000"/>
                            </a:schemeClr>
                          </a:solidFill>
                          <a:effectLst/>
                        </a:rPr>
                        <a:t>Availability percentage (e.g. 99.999%)</a:t>
                      </a:r>
                    </a:p>
                    <a:p>
                      <a:pPr marL="0" marR="0">
                        <a:lnSpc>
                          <a:spcPts val="1450"/>
                        </a:lnSpc>
                        <a:spcBef>
                          <a:spcPts val="400"/>
                        </a:spcBef>
                        <a:spcAft>
                          <a:spcPts val="0"/>
                        </a:spcAft>
                      </a:pPr>
                      <a:r>
                        <a:rPr lang="en-US" sz="1200" cap="none" spc="0" dirty="0">
                          <a:solidFill>
                            <a:schemeClr val="tx1">
                              <a:lumMod val="85000"/>
                              <a:lumOff val="15000"/>
                            </a:schemeClr>
                          </a:solidFill>
                          <a:effectLst/>
                        </a:rPr>
                        <a:t>Time to detect the fault</a:t>
                      </a:r>
                    </a:p>
                    <a:p>
                      <a:pPr marL="0" marR="0">
                        <a:lnSpc>
                          <a:spcPts val="1450"/>
                        </a:lnSpc>
                        <a:spcBef>
                          <a:spcPts val="400"/>
                        </a:spcBef>
                        <a:spcAft>
                          <a:spcPts val="0"/>
                        </a:spcAft>
                      </a:pPr>
                      <a:r>
                        <a:rPr lang="en-US" sz="1200" cap="none" spc="0" dirty="0">
                          <a:solidFill>
                            <a:schemeClr val="tx1">
                              <a:lumMod val="85000"/>
                              <a:lumOff val="15000"/>
                            </a:schemeClr>
                          </a:solidFill>
                          <a:effectLst/>
                        </a:rPr>
                        <a:t>Time to repair the fault</a:t>
                      </a:r>
                    </a:p>
                    <a:p>
                      <a:pPr marL="0" marR="0">
                        <a:lnSpc>
                          <a:spcPts val="1450"/>
                        </a:lnSpc>
                        <a:spcBef>
                          <a:spcPts val="400"/>
                        </a:spcBef>
                        <a:spcAft>
                          <a:spcPts val="0"/>
                        </a:spcAft>
                      </a:pPr>
                      <a:r>
                        <a:rPr lang="en-US" sz="1200" cap="none" spc="0" dirty="0">
                          <a:solidFill>
                            <a:schemeClr val="tx1">
                              <a:lumMod val="85000"/>
                              <a:lumOff val="15000"/>
                            </a:schemeClr>
                          </a:solidFill>
                          <a:effectLst/>
                        </a:rPr>
                        <a:t>Time or time interval in which system can be in degraded mode</a:t>
                      </a:r>
                    </a:p>
                    <a:p>
                      <a:pPr marL="0" marR="0">
                        <a:lnSpc>
                          <a:spcPts val="1450"/>
                        </a:lnSpc>
                        <a:spcBef>
                          <a:spcPts val="400"/>
                        </a:spcBef>
                        <a:spcAft>
                          <a:spcPts val="400"/>
                        </a:spcAft>
                      </a:pPr>
                      <a:r>
                        <a:rPr lang="en-US" sz="1200" cap="none" spc="0" dirty="0">
                          <a:solidFill>
                            <a:schemeClr val="tx1">
                              <a:lumMod val="85000"/>
                              <a:lumOff val="15000"/>
                            </a:schemeClr>
                          </a:solidFill>
                          <a:effectLst/>
                        </a:rPr>
                        <a:t>Proportion (e.g., 99%) or rate (e.g., up to 100 per second) of a certain class of faults that the system prevents, or handles without failing</a:t>
                      </a:r>
                      <a:endParaRPr lang="en-US" sz="1200" cap="none" spc="0" dirty="0">
                        <a:solidFill>
                          <a:schemeClr val="tx1">
                            <a:lumMod val="85000"/>
                            <a:lumOff val="15000"/>
                          </a:schemeClr>
                        </a:solidFill>
                        <a:effectLst/>
                        <a:latin typeface="Times"/>
                        <a:ea typeface="Times New Roman"/>
                        <a:cs typeface="Times New Roman"/>
                      </a:endParaRPr>
                    </a:p>
                  </a:txBody>
                  <a:tcPr marL="161669" marR="97001" marT="97001" marB="97001">
                    <a:lnL w="38100" cap="flat" cmpd="sng" algn="ctr">
                      <a:solidFill>
                        <a:srgbClr val="FFFFFF"/>
                      </a:solidFill>
                      <a:prstDash val="solid"/>
                    </a:lnL>
                    <a:lnR w="12700" cmpd="sng">
                      <a:noFill/>
                      <a:prstDash val="solid"/>
                    </a:lnR>
                    <a:lnT w="38100" cap="flat" cmpd="sng" algn="ctr">
                      <a:solidFill>
                        <a:srgbClr val="FFFFFF"/>
                      </a:solidFill>
                      <a:prstDash val="solid"/>
                    </a:lnT>
                    <a:lnB w="12700" cmpd="sng">
                      <a:noFill/>
                      <a:prstDash val="solid"/>
                    </a:lnB>
                    <a:solidFill>
                      <a:srgbClr val="878E8B">
                        <a:alpha val="30196"/>
                      </a:srgb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335215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9560" y="856180"/>
            <a:ext cx="4560584" cy="1128068"/>
          </a:xfrm>
        </p:spPr>
        <p:txBody>
          <a:bodyPr anchor="ctr">
            <a:normAutofit/>
          </a:bodyPr>
          <a:lstStyle/>
          <a:p>
            <a:r>
              <a:rPr lang="en-US" sz="3700"/>
              <a:t>Sample Concrete Availability Scenario</a:t>
            </a:r>
          </a:p>
        </p:txBody>
      </p:sp>
      <p:grpSp>
        <p:nvGrpSpPr>
          <p:cNvPr id="18" name="Group 1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9" name="Rectangle 1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1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7" name="Rectangle 2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590719" y="2330505"/>
            <a:ext cx="4559425" cy="3979585"/>
          </a:xfrm>
        </p:spPr>
        <p:txBody>
          <a:bodyPr anchor="ctr">
            <a:normAutofit/>
          </a:bodyPr>
          <a:lstStyle/>
          <a:p>
            <a:pPr marL="0" indent="0">
              <a:buNone/>
            </a:pPr>
            <a:r>
              <a:rPr lang="en-US" sz="3000" dirty="0"/>
              <a:t>The heartbeat monitor determines that the server is nonresponsive during normal operations. The system informs the operator and continues to operate with no downtime. </a:t>
            </a:r>
          </a:p>
        </p:txBody>
      </p:sp>
      <p:sp>
        <p:nvSpPr>
          <p:cNvPr id="24" name="Rectangle 2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10A63C91-C7D1-E49C-6A55-CA05E9DA2A6F}"/>
              </a:ext>
            </a:extLst>
          </p:cNvPr>
          <p:cNvPicPr>
            <a:picLocks noChangeAspect="1"/>
          </p:cNvPicPr>
          <p:nvPr/>
        </p:nvPicPr>
        <p:blipFill rotWithShape="1">
          <a:blip r:embed="rId2"/>
          <a:srcRect l="16096" r="32841"/>
          <a:stretch/>
        </p:blipFill>
        <p:spPr>
          <a:xfrm>
            <a:off x="5977788" y="799352"/>
            <a:ext cx="5425410" cy="5259296"/>
          </a:xfrm>
          <a:prstGeom prst="rect">
            <a:avLst/>
          </a:prstGeom>
        </p:spPr>
      </p:pic>
      <p:sp>
        <p:nvSpPr>
          <p:cNvPr id="4" name="Slide Number Placeholder 3">
            <a:extLst>
              <a:ext uri="{FF2B5EF4-FFF2-40B4-BE49-F238E27FC236}">
                <a16:creationId xmlns:a16="http://schemas.microsoft.com/office/drawing/2014/main" id="{F258EC04-822F-E652-FB5B-CC41BD007F74}"/>
              </a:ext>
            </a:extLst>
          </p:cNvPr>
          <p:cNvSpPr>
            <a:spLocks noGrp="1"/>
          </p:cNvSpPr>
          <p:nvPr>
            <p:ph type="sldNum" sz="quarter" idx="12"/>
          </p:nvPr>
        </p:nvSpPr>
        <p:spPr/>
        <p:txBody>
          <a:bodyPr/>
          <a:lstStyle/>
          <a:p>
            <a:fld id="{7DF6DEEC-D04A-4FF0-9A08-7D39859C24F4}" type="slidenum">
              <a:rPr lang="en-US" smtClean="0"/>
              <a:t>46</a:t>
            </a:fld>
            <a:endParaRPr lang="en-US"/>
          </a:p>
        </p:txBody>
      </p:sp>
    </p:spTree>
    <p:extLst>
      <p:ext uri="{BB962C8B-B14F-4D97-AF65-F5344CB8AC3E}">
        <p14:creationId xmlns:p14="http://schemas.microsoft.com/office/powerpoint/2010/main" val="38317028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F63B91-CA6D-21C7-AE21-3103028E7300}"/>
            </a:ext>
          </a:extLst>
        </p:cNvPr>
        <p:cNvGrpSpPr/>
        <p:nvPr/>
      </p:nvGrpSpPr>
      <p:grpSpPr>
        <a:xfrm>
          <a:off x="0" y="0"/>
          <a:ext cx="0" cy="0"/>
          <a:chOff x="0" y="0"/>
          <a:chExt cx="0" cy="0"/>
        </a:xfrm>
      </p:grpSpPr>
      <p:sp>
        <p:nvSpPr>
          <p:cNvPr id="11" name="Rectangle 8">
            <a:extLst>
              <a:ext uri="{FF2B5EF4-FFF2-40B4-BE49-F238E27FC236}">
                <a16:creationId xmlns:a16="http://schemas.microsoft.com/office/drawing/2014/main" id="{B831ECC0-BF15-105D-8E9B-91D59A6E51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2" name="Picture 4" descr="Illuminated server room panel">
            <a:extLst>
              <a:ext uri="{FF2B5EF4-FFF2-40B4-BE49-F238E27FC236}">
                <a16:creationId xmlns:a16="http://schemas.microsoft.com/office/drawing/2014/main" id="{559F0A00-6228-322C-0768-99F4490FA1BF}"/>
              </a:ext>
            </a:extLst>
          </p:cNvPr>
          <p:cNvPicPr>
            <a:picLocks noChangeAspect="1"/>
          </p:cNvPicPr>
          <p:nvPr/>
        </p:nvPicPr>
        <p:blipFill rotWithShape="1">
          <a:blip r:embed="rId2">
            <a:alphaModFix amt="35000"/>
          </a:blip>
          <a:srcRect t="15730"/>
          <a:stretch/>
        </p:blipFill>
        <p:spPr>
          <a:xfrm>
            <a:off x="20" y="10"/>
            <a:ext cx="12191980" cy="6857990"/>
          </a:xfrm>
          <a:prstGeom prst="rect">
            <a:avLst/>
          </a:prstGeom>
        </p:spPr>
      </p:pic>
      <p:sp>
        <p:nvSpPr>
          <p:cNvPr id="2" name="Title 1">
            <a:extLst>
              <a:ext uri="{FF2B5EF4-FFF2-40B4-BE49-F238E27FC236}">
                <a16:creationId xmlns:a16="http://schemas.microsoft.com/office/drawing/2014/main" id="{304EBE8D-E7A2-549E-33DC-9B5AB790CD89}"/>
              </a:ext>
            </a:extLst>
          </p:cNvPr>
          <p:cNvSpPr>
            <a:spLocks noGrp="1"/>
          </p:cNvSpPr>
          <p:nvPr>
            <p:ph type="title"/>
          </p:nvPr>
        </p:nvSpPr>
        <p:spPr>
          <a:xfrm>
            <a:off x="838200" y="365125"/>
            <a:ext cx="10515600" cy="1325563"/>
          </a:xfrm>
        </p:spPr>
        <p:txBody>
          <a:bodyPr>
            <a:normAutofit/>
          </a:bodyPr>
          <a:lstStyle/>
          <a:p>
            <a:r>
              <a:rPr lang="en-US" dirty="0">
                <a:solidFill>
                  <a:srgbClr val="FFFFFF"/>
                </a:solidFill>
              </a:rPr>
              <a:t>MTTF and MTTR</a:t>
            </a:r>
          </a:p>
        </p:txBody>
      </p:sp>
      <p:sp>
        <p:nvSpPr>
          <p:cNvPr id="3" name="Content Placeholder 2">
            <a:extLst>
              <a:ext uri="{FF2B5EF4-FFF2-40B4-BE49-F238E27FC236}">
                <a16:creationId xmlns:a16="http://schemas.microsoft.com/office/drawing/2014/main" id="{027E6771-D78C-6FF1-4EEB-32D00BD180F1}"/>
              </a:ext>
            </a:extLst>
          </p:cNvPr>
          <p:cNvSpPr>
            <a:spLocks noGrp="1"/>
          </p:cNvSpPr>
          <p:nvPr>
            <p:ph idx="1"/>
          </p:nvPr>
        </p:nvSpPr>
        <p:spPr>
          <a:xfrm>
            <a:off x="838200" y="1825625"/>
            <a:ext cx="10515600" cy="4351338"/>
          </a:xfrm>
        </p:spPr>
        <p:txBody>
          <a:bodyPr>
            <a:normAutofit/>
          </a:bodyPr>
          <a:lstStyle/>
          <a:p>
            <a:r>
              <a:rPr lang="en-US" sz="3000" dirty="0">
                <a:solidFill>
                  <a:srgbClr val="FFFFFF"/>
                </a:solidFill>
              </a:rPr>
              <a:t>Mean Time to Failure and Mean Time to Recovery</a:t>
            </a:r>
          </a:p>
          <a:p>
            <a:pPr lvl="1"/>
            <a:r>
              <a:rPr lang="en-US" dirty="0">
                <a:solidFill>
                  <a:srgbClr val="FFFFFF"/>
                </a:solidFill>
              </a:rPr>
              <a:t>How long it takes for something to fail (i.e. 1 year) and to recover from that failure (i.e. 5 seconds).  Availability = MTTF / (MTTF+MTTR)</a:t>
            </a:r>
          </a:p>
          <a:p>
            <a:r>
              <a:rPr lang="en-US" dirty="0">
                <a:solidFill>
                  <a:srgbClr val="FFFFFF"/>
                </a:solidFill>
              </a:rPr>
              <a:t>When using multiple components with independent failure properties then you need to consider the cumulative failure rate.</a:t>
            </a:r>
          </a:p>
          <a:p>
            <a:pPr lvl="1"/>
            <a:r>
              <a:rPr lang="en-US" dirty="0">
                <a:solidFill>
                  <a:srgbClr val="FFFFFF"/>
                </a:solidFill>
              </a:rPr>
              <a:t>Example: 10,000 server Hadoop computation with 8 HDDs per server.</a:t>
            </a:r>
          </a:p>
          <a:p>
            <a:pPr lvl="1"/>
            <a:r>
              <a:rPr lang="en-US" dirty="0">
                <a:solidFill>
                  <a:srgbClr val="FFFFFF"/>
                </a:solidFill>
              </a:rPr>
              <a:t>HDDs fails 1%/year.  </a:t>
            </a:r>
          </a:p>
          <a:p>
            <a:pPr lvl="1"/>
            <a:r>
              <a:rPr lang="en-US" dirty="0">
                <a:solidFill>
                  <a:srgbClr val="FFFFFF"/>
                </a:solidFill>
              </a:rPr>
              <a:t>Computation lasts 1 day.  What are odds of failure?</a:t>
            </a:r>
          </a:p>
          <a:p>
            <a:pPr lvl="1"/>
            <a:r>
              <a:rPr lang="en-US" dirty="0">
                <a:solidFill>
                  <a:srgbClr val="FFFFFF"/>
                </a:solidFill>
              </a:rPr>
              <a:t>80000 * 1% * 1/365 ~= 2.2 expected failures in a day.  Absent some mitigation this computation would never finish</a:t>
            </a:r>
          </a:p>
          <a:p>
            <a:pPr lvl="1"/>
            <a:endParaRPr lang="en-US" dirty="0">
              <a:solidFill>
                <a:srgbClr val="FFFFFF"/>
              </a:solidFill>
            </a:endParaRPr>
          </a:p>
          <a:p>
            <a:endParaRPr lang="en-US" dirty="0">
              <a:solidFill>
                <a:srgbClr val="FFFFFF"/>
              </a:solidFill>
            </a:endParaRPr>
          </a:p>
        </p:txBody>
      </p:sp>
      <p:sp>
        <p:nvSpPr>
          <p:cNvPr id="4" name="Slide Number Placeholder 3">
            <a:extLst>
              <a:ext uri="{FF2B5EF4-FFF2-40B4-BE49-F238E27FC236}">
                <a16:creationId xmlns:a16="http://schemas.microsoft.com/office/drawing/2014/main" id="{6DDC129F-FCBD-8C9E-E943-28A7B53BB969}"/>
              </a:ext>
            </a:extLst>
          </p:cNvPr>
          <p:cNvSpPr>
            <a:spLocks noGrp="1"/>
          </p:cNvSpPr>
          <p:nvPr>
            <p:ph type="sldNum" sz="quarter" idx="12"/>
          </p:nvPr>
        </p:nvSpPr>
        <p:spPr/>
        <p:txBody>
          <a:bodyPr/>
          <a:lstStyle/>
          <a:p>
            <a:fld id="{7DF6DEEC-D04A-4FF0-9A08-7D39859C24F4}" type="slidenum">
              <a:rPr lang="en-US" smtClean="0"/>
              <a:t>47</a:t>
            </a:fld>
            <a:endParaRPr lang="en-US"/>
          </a:p>
        </p:txBody>
      </p:sp>
    </p:spTree>
    <p:extLst>
      <p:ext uri="{BB962C8B-B14F-4D97-AF65-F5344CB8AC3E}">
        <p14:creationId xmlns:p14="http://schemas.microsoft.com/office/powerpoint/2010/main" val="2760720043"/>
      </p:ext>
    </p:extLst>
  </p:cSld>
  <p:clrMapOvr>
    <a:overrideClrMapping bg1="dk1" tx1="lt1" bg2="dk2" tx2="lt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5F102E-F490-477C-1720-ECDD84FEA432}"/>
            </a:ext>
          </a:extLst>
        </p:cNvPr>
        <p:cNvGrpSpPr/>
        <p:nvPr/>
      </p:nvGrpSpPr>
      <p:grpSpPr>
        <a:xfrm>
          <a:off x="0" y="0"/>
          <a:ext cx="0" cy="0"/>
          <a:chOff x="0" y="0"/>
          <a:chExt cx="0" cy="0"/>
        </a:xfrm>
      </p:grpSpPr>
      <p:sp>
        <p:nvSpPr>
          <p:cNvPr id="11" name="Rectangle 8">
            <a:extLst>
              <a:ext uri="{FF2B5EF4-FFF2-40B4-BE49-F238E27FC236}">
                <a16:creationId xmlns:a16="http://schemas.microsoft.com/office/drawing/2014/main" id="{A3C5D6D7-1E82-B427-97F4-48BB6C1293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2" name="Picture 4" descr="Illuminated server room panel">
            <a:extLst>
              <a:ext uri="{FF2B5EF4-FFF2-40B4-BE49-F238E27FC236}">
                <a16:creationId xmlns:a16="http://schemas.microsoft.com/office/drawing/2014/main" id="{8B6F2980-B074-9525-9A4A-44411F164C11}"/>
              </a:ext>
            </a:extLst>
          </p:cNvPr>
          <p:cNvPicPr>
            <a:picLocks noChangeAspect="1"/>
          </p:cNvPicPr>
          <p:nvPr/>
        </p:nvPicPr>
        <p:blipFill rotWithShape="1">
          <a:blip r:embed="rId2">
            <a:alphaModFix amt="35000"/>
          </a:blip>
          <a:srcRect t="15730"/>
          <a:stretch/>
        </p:blipFill>
        <p:spPr>
          <a:xfrm>
            <a:off x="20" y="10"/>
            <a:ext cx="12191980" cy="6857990"/>
          </a:xfrm>
          <a:prstGeom prst="rect">
            <a:avLst/>
          </a:prstGeom>
        </p:spPr>
      </p:pic>
      <p:sp>
        <p:nvSpPr>
          <p:cNvPr id="2" name="Title 1">
            <a:extLst>
              <a:ext uri="{FF2B5EF4-FFF2-40B4-BE49-F238E27FC236}">
                <a16:creationId xmlns:a16="http://schemas.microsoft.com/office/drawing/2014/main" id="{F15FB6A1-F275-C402-FE2C-FE9CD8B50567}"/>
              </a:ext>
            </a:extLst>
          </p:cNvPr>
          <p:cNvSpPr>
            <a:spLocks noGrp="1"/>
          </p:cNvSpPr>
          <p:nvPr>
            <p:ph type="title"/>
          </p:nvPr>
        </p:nvSpPr>
        <p:spPr>
          <a:xfrm>
            <a:off x="838200" y="365125"/>
            <a:ext cx="10515600" cy="1325563"/>
          </a:xfrm>
        </p:spPr>
        <p:txBody>
          <a:bodyPr>
            <a:normAutofit/>
          </a:bodyPr>
          <a:lstStyle/>
          <a:p>
            <a:r>
              <a:rPr lang="en-US" dirty="0">
                <a:solidFill>
                  <a:srgbClr val="FFFFFF"/>
                </a:solidFill>
              </a:rPr>
              <a:t>Typical HW failure rates</a:t>
            </a:r>
          </a:p>
        </p:txBody>
      </p:sp>
      <p:sp>
        <p:nvSpPr>
          <p:cNvPr id="3" name="Content Placeholder 2">
            <a:extLst>
              <a:ext uri="{FF2B5EF4-FFF2-40B4-BE49-F238E27FC236}">
                <a16:creationId xmlns:a16="http://schemas.microsoft.com/office/drawing/2014/main" id="{406C826D-3242-3B7E-F88C-56C7D7ECA4BE}"/>
              </a:ext>
            </a:extLst>
          </p:cNvPr>
          <p:cNvSpPr>
            <a:spLocks noGrp="1"/>
          </p:cNvSpPr>
          <p:nvPr>
            <p:ph idx="1"/>
          </p:nvPr>
        </p:nvSpPr>
        <p:spPr>
          <a:xfrm>
            <a:off x="838200" y="1825625"/>
            <a:ext cx="10515600" cy="4351338"/>
          </a:xfrm>
        </p:spPr>
        <p:txBody>
          <a:bodyPr>
            <a:normAutofit/>
          </a:bodyPr>
          <a:lstStyle/>
          <a:p>
            <a:r>
              <a:rPr lang="en-US" sz="3000" dirty="0">
                <a:solidFill>
                  <a:srgbClr val="FFFFFF"/>
                </a:solidFill>
              </a:rPr>
              <a:t>HDD: 1-2%/year of all HDD in a DC fail</a:t>
            </a:r>
          </a:p>
          <a:p>
            <a:r>
              <a:rPr lang="en-US" sz="3000" dirty="0">
                <a:solidFill>
                  <a:srgbClr val="FFFFFF"/>
                </a:solidFill>
              </a:rPr>
              <a:t>SSD: 0.5-1%/year of all SSD in a DC fail</a:t>
            </a:r>
          </a:p>
          <a:p>
            <a:r>
              <a:rPr lang="en-US" sz="3000" dirty="0">
                <a:solidFill>
                  <a:srgbClr val="FFFFFF"/>
                </a:solidFill>
              </a:rPr>
              <a:t>DRAM: 0.1-0.3%/year of all DRAM modules in a DC fail</a:t>
            </a:r>
          </a:p>
          <a:p>
            <a:pPr lvl="1"/>
            <a:r>
              <a:rPr lang="en-US" dirty="0">
                <a:solidFill>
                  <a:srgbClr val="FFFFFF"/>
                </a:solidFill>
              </a:rPr>
              <a:t>Recoverable memory errors (lose some DRAM capacity) are more frequent (25+% year)</a:t>
            </a:r>
          </a:p>
          <a:p>
            <a:r>
              <a:rPr lang="en-US" dirty="0">
                <a:solidFill>
                  <a:srgbClr val="FFFFFF"/>
                </a:solidFill>
              </a:rPr>
              <a:t>NIC: 0.5%/year of all NICs in a DC fail</a:t>
            </a:r>
          </a:p>
          <a:p>
            <a:r>
              <a:rPr lang="en-US" dirty="0">
                <a:solidFill>
                  <a:srgbClr val="FFFFFF"/>
                </a:solidFill>
              </a:rPr>
              <a:t>Motherboards: 0.5-1%/year of all motherboards in a DC fail</a:t>
            </a:r>
          </a:p>
          <a:p>
            <a:r>
              <a:rPr lang="en-US" dirty="0">
                <a:solidFill>
                  <a:srgbClr val="FFFFFF"/>
                </a:solidFill>
              </a:rPr>
              <a:t>CPUs: &lt;0.1%/year of all CPUs in a DC fail</a:t>
            </a:r>
          </a:p>
          <a:p>
            <a:r>
              <a:rPr lang="en-US" dirty="0">
                <a:solidFill>
                  <a:srgbClr val="FFFFFF"/>
                </a:solidFill>
              </a:rPr>
              <a:t>GPUs: 0.3-0.5%/year of all GPUs in a DC fail</a:t>
            </a:r>
          </a:p>
          <a:p>
            <a:endParaRPr lang="en-US" dirty="0">
              <a:solidFill>
                <a:srgbClr val="FFFFFF"/>
              </a:solidFill>
            </a:endParaRPr>
          </a:p>
        </p:txBody>
      </p:sp>
      <p:sp>
        <p:nvSpPr>
          <p:cNvPr id="4" name="Slide Number Placeholder 3">
            <a:extLst>
              <a:ext uri="{FF2B5EF4-FFF2-40B4-BE49-F238E27FC236}">
                <a16:creationId xmlns:a16="http://schemas.microsoft.com/office/drawing/2014/main" id="{3B70BFE3-1FA9-6BF1-0124-29F6D427474D}"/>
              </a:ext>
            </a:extLst>
          </p:cNvPr>
          <p:cNvSpPr>
            <a:spLocks noGrp="1"/>
          </p:cNvSpPr>
          <p:nvPr>
            <p:ph type="sldNum" sz="quarter" idx="12"/>
          </p:nvPr>
        </p:nvSpPr>
        <p:spPr/>
        <p:txBody>
          <a:bodyPr/>
          <a:lstStyle/>
          <a:p>
            <a:fld id="{7DF6DEEC-D04A-4FF0-9A08-7D39859C24F4}" type="slidenum">
              <a:rPr lang="en-US" smtClean="0"/>
              <a:t>48</a:t>
            </a:fld>
            <a:endParaRPr lang="en-US"/>
          </a:p>
        </p:txBody>
      </p:sp>
    </p:spTree>
    <p:extLst>
      <p:ext uri="{BB962C8B-B14F-4D97-AF65-F5344CB8AC3E}">
        <p14:creationId xmlns:p14="http://schemas.microsoft.com/office/powerpoint/2010/main" val="3604759738"/>
      </p:ext>
    </p:extLst>
  </p:cSld>
  <p:clrMapOvr>
    <a:overrideClrMapping bg1="dk1" tx1="lt1" bg2="dk2" tx2="lt2" accent1="accent1" accent2="accent2" accent3="accent3" accent4="accent4" accent5="accent5" accent6="accent6" hlink="hlink" folHlink="folHlink"/>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Picture 3" descr="Hand with red strings">
            <a:extLst>
              <a:ext uri="{FF2B5EF4-FFF2-40B4-BE49-F238E27FC236}">
                <a16:creationId xmlns:a16="http://schemas.microsoft.com/office/drawing/2014/main" id="{B5AFA2C8-FB2E-8C7B-574B-69213F3151C8}"/>
              </a:ext>
            </a:extLst>
          </p:cNvPr>
          <p:cNvPicPr>
            <a:picLocks noChangeAspect="1"/>
          </p:cNvPicPr>
          <p:nvPr/>
        </p:nvPicPr>
        <p:blipFill rotWithShape="1">
          <a:blip r:embed="rId2">
            <a:alphaModFix amt="50000"/>
          </a:blip>
          <a:srcRect t="6050" b="9681"/>
          <a:stretch/>
        </p:blipFill>
        <p:spPr>
          <a:xfrm>
            <a:off x="20" y="1"/>
            <a:ext cx="12191980" cy="6857999"/>
          </a:xfrm>
          <a:prstGeom prst="rect">
            <a:avLst/>
          </a:prstGeom>
        </p:spPr>
      </p:pic>
      <p:sp>
        <p:nvSpPr>
          <p:cNvPr id="2" name="Title 1"/>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Modifiability</a:t>
            </a:r>
          </a:p>
        </p:txBody>
      </p:sp>
      <p:sp>
        <p:nvSpPr>
          <p:cNvPr id="3" name="Slide Number Placeholder 2">
            <a:extLst>
              <a:ext uri="{FF2B5EF4-FFF2-40B4-BE49-F238E27FC236}">
                <a16:creationId xmlns:a16="http://schemas.microsoft.com/office/drawing/2014/main" id="{6BD4160F-559F-214A-5B0B-D8BAF924888A}"/>
              </a:ext>
            </a:extLst>
          </p:cNvPr>
          <p:cNvSpPr>
            <a:spLocks noGrp="1"/>
          </p:cNvSpPr>
          <p:nvPr>
            <p:ph type="sldNum" sz="quarter" idx="12"/>
          </p:nvPr>
        </p:nvSpPr>
        <p:spPr/>
        <p:txBody>
          <a:bodyPr/>
          <a:lstStyle/>
          <a:p>
            <a:fld id="{7DF6DEEC-D04A-4FF0-9A08-7D39859C24F4}" type="slidenum">
              <a:rPr lang="en-US" smtClean="0"/>
              <a:t>49</a:t>
            </a:fld>
            <a:endParaRPr lang="en-US"/>
          </a:p>
        </p:txBody>
      </p:sp>
    </p:spTree>
    <p:extLst>
      <p:ext uri="{BB962C8B-B14F-4D97-AF65-F5344CB8AC3E}">
        <p14:creationId xmlns:p14="http://schemas.microsoft.com/office/powerpoint/2010/main" val="2958577829"/>
      </p:ext>
    </p:extLst>
  </p:cSld>
  <p:clrMapOvr>
    <a:overrideClrMapping bg1="dk1" tx1="lt1" bg2="dk2" tx2="lt2" accent1="accent1" accent2="accent2" accent3="accent3" accent4="accent4" accent5="accent5" accent6="accent6" hlink="hlink" folHlink="folHlink"/>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Modifiability?</a:t>
            </a:r>
          </a:p>
        </p:txBody>
      </p:sp>
      <p:sp>
        <p:nvSpPr>
          <p:cNvPr id="3" name="Content Placeholder 2"/>
          <p:cNvSpPr>
            <a:spLocks noGrp="1"/>
          </p:cNvSpPr>
          <p:nvPr>
            <p:ph idx="1"/>
          </p:nvPr>
        </p:nvSpPr>
        <p:spPr/>
        <p:txBody>
          <a:bodyPr>
            <a:normAutofit/>
          </a:bodyPr>
          <a:lstStyle/>
          <a:p>
            <a:r>
              <a:rPr lang="en-US" sz="3000" dirty="0"/>
              <a:t>Modifiability is about change and our interest in it is in the cost and risk of making changes.  </a:t>
            </a:r>
          </a:p>
          <a:p>
            <a:r>
              <a:rPr lang="en-US" sz="3000" dirty="0"/>
              <a:t>To plan for modifiability, an architect has to consider three questions: </a:t>
            </a:r>
          </a:p>
          <a:p>
            <a:endParaRPr lang="en-US" sz="3000" dirty="0"/>
          </a:p>
          <a:p>
            <a:pPr lvl="1"/>
            <a:r>
              <a:rPr lang="en-US" sz="3000" dirty="0"/>
              <a:t>What can change? </a:t>
            </a:r>
          </a:p>
          <a:p>
            <a:pPr lvl="1"/>
            <a:r>
              <a:rPr lang="en-US" sz="3000" dirty="0"/>
              <a:t>What is the likelihood of the change? </a:t>
            </a:r>
          </a:p>
          <a:p>
            <a:pPr lvl="1"/>
            <a:r>
              <a:rPr lang="en-US" sz="3000" dirty="0"/>
              <a:t>When is the change made and who makes it?  </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A330A2F9-1912-8583-C86B-BE4B80CB334D}"/>
              </a:ext>
            </a:extLst>
          </p:cNvPr>
          <p:cNvSpPr>
            <a:spLocks noGrp="1"/>
          </p:cNvSpPr>
          <p:nvPr>
            <p:ph type="sldNum" sz="quarter" idx="12"/>
          </p:nvPr>
        </p:nvSpPr>
        <p:spPr/>
        <p:txBody>
          <a:bodyPr/>
          <a:lstStyle/>
          <a:p>
            <a:fld id="{7DF6DEEC-D04A-4FF0-9A08-7D39859C24F4}" type="slidenum">
              <a:rPr lang="en-US" smtClean="0"/>
              <a:t>50</a:t>
            </a:fld>
            <a:endParaRPr lang="en-US"/>
          </a:p>
        </p:txBody>
      </p:sp>
    </p:spTree>
    <p:extLst>
      <p:ext uri="{BB962C8B-B14F-4D97-AF65-F5344CB8AC3E}">
        <p14:creationId xmlns:p14="http://schemas.microsoft.com/office/powerpoint/2010/main" val="41113676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Flowchart: Document 21">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Modifiability General Scenario</a:t>
            </a:r>
          </a:p>
        </p:txBody>
      </p:sp>
      <p:sp>
        <p:nvSpPr>
          <p:cNvPr id="4" name="Slide Number Placeholder 3">
            <a:extLst>
              <a:ext uri="{FF2B5EF4-FFF2-40B4-BE49-F238E27FC236}">
                <a16:creationId xmlns:a16="http://schemas.microsoft.com/office/drawing/2014/main" id="{65CF7581-38D2-4642-E66B-897135197D7C}"/>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7DF6DEEC-D04A-4FF0-9A08-7D39859C24F4}" type="slidenum">
              <a:rPr lang="en-US" smtClean="0"/>
              <a:pPr algn="l">
                <a:spcAft>
                  <a:spcPts val="600"/>
                </a:spcAft>
              </a:pPr>
              <a:t>51</a:t>
            </a:fld>
            <a:endParaRPr lang="en-US"/>
          </a:p>
        </p:txBody>
      </p:sp>
      <p:graphicFrame>
        <p:nvGraphicFramePr>
          <p:cNvPr id="3" name="Table 2"/>
          <p:cNvGraphicFramePr>
            <a:graphicFrameLocks noGrp="1"/>
          </p:cNvGraphicFramePr>
          <p:nvPr>
            <p:extLst>
              <p:ext uri="{D42A27DB-BD31-4B8C-83A1-F6EECF244321}">
                <p14:modId xmlns:p14="http://schemas.microsoft.com/office/powerpoint/2010/main" val="1376420488"/>
              </p:ext>
            </p:extLst>
          </p:nvPr>
        </p:nvGraphicFramePr>
        <p:xfrm>
          <a:off x="4086225" y="267336"/>
          <a:ext cx="7999095" cy="6266180"/>
        </p:xfrm>
        <a:graphic>
          <a:graphicData uri="http://schemas.openxmlformats.org/drawingml/2006/table">
            <a:tbl>
              <a:tblPr firstRow="1" bandRow="1">
                <a:tableStyleId>{8799B23B-EC83-4686-B30A-512413B5E67A}</a:tableStyleId>
              </a:tblPr>
              <a:tblGrid>
                <a:gridCol w="1673662">
                  <a:extLst>
                    <a:ext uri="{9D8B030D-6E8A-4147-A177-3AD203B41FA5}">
                      <a16:colId xmlns:a16="http://schemas.microsoft.com/office/drawing/2014/main" val="20000"/>
                    </a:ext>
                  </a:extLst>
                </a:gridCol>
                <a:gridCol w="6325433">
                  <a:extLst>
                    <a:ext uri="{9D8B030D-6E8A-4147-A177-3AD203B41FA5}">
                      <a16:colId xmlns:a16="http://schemas.microsoft.com/office/drawing/2014/main" val="20001"/>
                    </a:ext>
                  </a:extLst>
                </a:gridCol>
              </a:tblGrid>
              <a:tr h="476319">
                <a:tc>
                  <a:txBody>
                    <a:bodyPr/>
                    <a:lstStyle/>
                    <a:p>
                      <a:pPr marL="0" marR="0" algn="ctr">
                        <a:lnSpc>
                          <a:spcPct val="90000"/>
                        </a:lnSpc>
                        <a:spcBef>
                          <a:spcPts val="400"/>
                        </a:spcBef>
                        <a:spcAft>
                          <a:spcPts val="400"/>
                        </a:spcAft>
                      </a:pPr>
                      <a:r>
                        <a:rPr lang="en-US" sz="2000" b="1">
                          <a:effectLst/>
                        </a:rPr>
                        <a:t>Portion of </a:t>
                      </a:r>
                      <a:br>
                        <a:rPr lang="en-US" sz="2000" b="1">
                          <a:effectLst/>
                        </a:rPr>
                      </a:br>
                      <a:r>
                        <a:rPr lang="en-US" sz="2000" b="1">
                          <a:effectLst/>
                        </a:rPr>
                        <a:t>Scenario</a:t>
                      </a:r>
                      <a:endParaRPr lang="en-US" sz="2000" b="1">
                        <a:effectLst/>
                        <a:latin typeface="Times"/>
                        <a:ea typeface="Times New Roman"/>
                        <a:cs typeface="Times New Roman"/>
                      </a:endParaRPr>
                    </a:p>
                  </a:txBody>
                  <a:tcPr marL="60485" marR="60485" marT="0" marB="0"/>
                </a:tc>
                <a:tc>
                  <a:txBody>
                    <a:bodyPr/>
                    <a:lstStyle/>
                    <a:p>
                      <a:pPr marL="0" marR="0" algn="ctr">
                        <a:lnSpc>
                          <a:spcPct val="90000"/>
                        </a:lnSpc>
                        <a:spcBef>
                          <a:spcPts val="400"/>
                        </a:spcBef>
                        <a:spcAft>
                          <a:spcPts val="400"/>
                        </a:spcAft>
                      </a:pPr>
                      <a:r>
                        <a:rPr lang="en-US" sz="2000" b="1" dirty="0">
                          <a:effectLst/>
                        </a:rPr>
                        <a:t>Possible Values</a:t>
                      </a:r>
                      <a:endParaRPr lang="en-US" sz="2000" b="1" dirty="0">
                        <a:effectLst/>
                        <a:latin typeface="Times"/>
                        <a:ea typeface="Times New Roman"/>
                        <a:cs typeface="Times New Roman"/>
                      </a:endParaRPr>
                    </a:p>
                  </a:txBody>
                  <a:tcPr marL="60485" marR="60485" marT="0" marB="0"/>
                </a:tc>
                <a:extLst>
                  <a:ext uri="{0D108BD9-81ED-4DB2-BD59-A6C34878D82A}">
                    <a16:rowId xmlns:a16="http://schemas.microsoft.com/office/drawing/2014/main" val="10000"/>
                  </a:ext>
                </a:extLst>
              </a:tr>
              <a:tr h="280906">
                <a:tc>
                  <a:txBody>
                    <a:bodyPr/>
                    <a:lstStyle/>
                    <a:p>
                      <a:pPr marL="0" marR="0">
                        <a:lnSpc>
                          <a:spcPct val="90000"/>
                        </a:lnSpc>
                        <a:spcBef>
                          <a:spcPts val="400"/>
                        </a:spcBef>
                        <a:spcAft>
                          <a:spcPts val="400"/>
                        </a:spcAft>
                      </a:pPr>
                      <a:r>
                        <a:rPr lang="en-US" sz="2000">
                          <a:effectLst/>
                        </a:rPr>
                        <a:t>Source</a:t>
                      </a:r>
                      <a:endParaRPr lang="en-US" sz="2000">
                        <a:effectLst/>
                        <a:latin typeface="Times"/>
                        <a:ea typeface="Times New Roman"/>
                        <a:cs typeface="Times New Roman"/>
                      </a:endParaRPr>
                    </a:p>
                  </a:txBody>
                  <a:tcPr marL="60485" marR="60485" marT="0" marB="0"/>
                </a:tc>
                <a:tc>
                  <a:txBody>
                    <a:bodyPr/>
                    <a:lstStyle/>
                    <a:p>
                      <a:pPr marL="0" marR="0">
                        <a:lnSpc>
                          <a:spcPct val="100000"/>
                        </a:lnSpc>
                        <a:spcBef>
                          <a:spcPts val="400"/>
                        </a:spcBef>
                        <a:spcAft>
                          <a:spcPts val="400"/>
                        </a:spcAft>
                      </a:pPr>
                      <a:r>
                        <a:rPr lang="en-US" sz="2000">
                          <a:effectLst/>
                        </a:rPr>
                        <a:t>End user, developer, system administrator</a:t>
                      </a:r>
                      <a:endParaRPr lang="en-US" sz="2000">
                        <a:effectLst/>
                        <a:latin typeface="Times"/>
                        <a:ea typeface="Times New Roman"/>
                        <a:cs typeface="Times New Roman"/>
                      </a:endParaRPr>
                    </a:p>
                  </a:txBody>
                  <a:tcPr marL="60485" marR="60485" marT="0" marB="0"/>
                </a:tc>
                <a:extLst>
                  <a:ext uri="{0D108BD9-81ED-4DB2-BD59-A6C34878D82A}">
                    <a16:rowId xmlns:a16="http://schemas.microsoft.com/office/drawing/2014/main" val="10001"/>
                  </a:ext>
                </a:extLst>
              </a:tr>
              <a:tr h="525172">
                <a:tc>
                  <a:txBody>
                    <a:bodyPr/>
                    <a:lstStyle/>
                    <a:p>
                      <a:pPr marL="0" marR="0">
                        <a:lnSpc>
                          <a:spcPct val="90000"/>
                        </a:lnSpc>
                        <a:spcBef>
                          <a:spcPts val="400"/>
                        </a:spcBef>
                        <a:spcAft>
                          <a:spcPts val="400"/>
                        </a:spcAft>
                      </a:pPr>
                      <a:r>
                        <a:rPr lang="en-US" sz="2000">
                          <a:effectLst/>
                        </a:rPr>
                        <a:t>Stimulus</a:t>
                      </a:r>
                      <a:endParaRPr lang="en-US" sz="2000">
                        <a:effectLst/>
                        <a:latin typeface="Times"/>
                        <a:ea typeface="Times New Roman"/>
                        <a:cs typeface="Times New Roman"/>
                      </a:endParaRPr>
                    </a:p>
                  </a:txBody>
                  <a:tcPr marL="60485" marR="60485" marT="0" marB="0"/>
                </a:tc>
                <a:tc>
                  <a:txBody>
                    <a:bodyPr/>
                    <a:lstStyle/>
                    <a:p>
                      <a:pPr marL="0" marR="0">
                        <a:lnSpc>
                          <a:spcPct val="100000"/>
                        </a:lnSpc>
                        <a:spcBef>
                          <a:spcPts val="400"/>
                        </a:spcBef>
                        <a:spcAft>
                          <a:spcPts val="400"/>
                        </a:spcAft>
                      </a:pPr>
                      <a:r>
                        <a:rPr lang="en-US" sz="2000">
                          <a:effectLst/>
                        </a:rPr>
                        <a:t>A directive to add/delete/modify functionality, or change a quality attribute, capacity, or technology</a:t>
                      </a:r>
                      <a:endParaRPr lang="en-US" sz="2000">
                        <a:effectLst/>
                        <a:latin typeface="Times"/>
                        <a:ea typeface="Times New Roman"/>
                        <a:cs typeface="Times New Roman"/>
                      </a:endParaRPr>
                    </a:p>
                  </a:txBody>
                  <a:tcPr marL="60485" marR="60485" marT="0" marB="0"/>
                </a:tc>
                <a:extLst>
                  <a:ext uri="{0D108BD9-81ED-4DB2-BD59-A6C34878D82A}">
                    <a16:rowId xmlns:a16="http://schemas.microsoft.com/office/drawing/2014/main" val="10002"/>
                  </a:ext>
                </a:extLst>
              </a:tr>
              <a:tr h="280906">
                <a:tc>
                  <a:txBody>
                    <a:bodyPr/>
                    <a:lstStyle/>
                    <a:p>
                      <a:pPr marL="0" marR="0">
                        <a:lnSpc>
                          <a:spcPct val="90000"/>
                        </a:lnSpc>
                        <a:spcBef>
                          <a:spcPts val="400"/>
                        </a:spcBef>
                        <a:spcAft>
                          <a:spcPts val="400"/>
                        </a:spcAft>
                      </a:pPr>
                      <a:r>
                        <a:rPr lang="en-US" sz="2000">
                          <a:effectLst/>
                        </a:rPr>
                        <a:t>Artifacts</a:t>
                      </a:r>
                      <a:endParaRPr lang="en-US" sz="2000">
                        <a:effectLst/>
                        <a:latin typeface="Times"/>
                        <a:ea typeface="Times New Roman"/>
                        <a:cs typeface="Times New Roman"/>
                      </a:endParaRPr>
                    </a:p>
                  </a:txBody>
                  <a:tcPr marL="60485" marR="60485" marT="0" marB="0"/>
                </a:tc>
                <a:tc>
                  <a:txBody>
                    <a:bodyPr/>
                    <a:lstStyle/>
                    <a:p>
                      <a:pPr marL="0" marR="0">
                        <a:lnSpc>
                          <a:spcPct val="100000"/>
                        </a:lnSpc>
                        <a:spcBef>
                          <a:spcPts val="400"/>
                        </a:spcBef>
                        <a:spcAft>
                          <a:spcPts val="400"/>
                        </a:spcAft>
                      </a:pPr>
                      <a:r>
                        <a:rPr lang="en-US" sz="2000">
                          <a:effectLst/>
                        </a:rPr>
                        <a:t>Code, data, interfaces, components, resources, configurations, … </a:t>
                      </a:r>
                      <a:endParaRPr lang="en-US" sz="2000">
                        <a:effectLst/>
                        <a:latin typeface="Times"/>
                        <a:ea typeface="Times New Roman"/>
                        <a:cs typeface="Times New Roman"/>
                      </a:endParaRPr>
                    </a:p>
                  </a:txBody>
                  <a:tcPr marL="60485" marR="60485" marT="0" marB="0"/>
                </a:tc>
                <a:extLst>
                  <a:ext uri="{0D108BD9-81ED-4DB2-BD59-A6C34878D82A}">
                    <a16:rowId xmlns:a16="http://schemas.microsoft.com/office/drawing/2014/main" val="10003"/>
                  </a:ext>
                </a:extLst>
              </a:tr>
              <a:tr h="280906">
                <a:tc>
                  <a:txBody>
                    <a:bodyPr/>
                    <a:lstStyle/>
                    <a:p>
                      <a:pPr marL="0" marR="0">
                        <a:lnSpc>
                          <a:spcPct val="90000"/>
                        </a:lnSpc>
                        <a:spcBef>
                          <a:spcPts val="400"/>
                        </a:spcBef>
                        <a:spcAft>
                          <a:spcPts val="400"/>
                        </a:spcAft>
                      </a:pPr>
                      <a:r>
                        <a:rPr lang="en-US" sz="2000">
                          <a:effectLst/>
                        </a:rPr>
                        <a:t>Environment</a:t>
                      </a:r>
                      <a:endParaRPr lang="en-US" sz="2000">
                        <a:effectLst/>
                        <a:latin typeface="Times"/>
                        <a:ea typeface="Times New Roman"/>
                        <a:cs typeface="Times New Roman"/>
                      </a:endParaRPr>
                    </a:p>
                  </a:txBody>
                  <a:tcPr marL="60485" marR="60485" marT="0" marB="0"/>
                </a:tc>
                <a:tc>
                  <a:txBody>
                    <a:bodyPr/>
                    <a:lstStyle/>
                    <a:p>
                      <a:pPr marL="0" marR="0">
                        <a:lnSpc>
                          <a:spcPct val="100000"/>
                        </a:lnSpc>
                        <a:spcBef>
                          <a:spcPts val="400"/>
                        </a:spcBef>
                        <a:spcAft>
                          <a:spcPts val="400"/>
                        </a:spcAft>
                      </a:pPr>
                      <a:r>
                        <a:rPr lang="en-US" sz="2000">
                          <a:effectLst/>
                        </a:rPr>
                        <a:t>Runtime, compile time, build time, initiation time, design time</a:t>
                      </a:r>
                      <a:endParaRPr lang="en-US" sz="2000">
                        <a:effectLst/>
                        <a:latin typeface="Times"/>
                        <a:ea typeface="Times New Roman"/>
                        <a:cs typeface="Times New Roman"/>
                      </a:endParaRPr>
                    </a:p>
                  </a:txBody>
                  <a:tcPr marL="60485" marR="60485" marT="0" marB="0"/>
                </a:tc>
                <a:extLst>
                  <a:ext uri="{0D108BD9-81ED-4DB2-BD59-A6C34878D82A}">
                    <a16:rowId xmlns:a16="http://schemas.microsoft.com/office/drawing/2014/main" val="10004"/>
                  </a:ext>
                </a:extLst>
              </a:tr>
              <a:tr h="1081386">
                <a:tc>
                  <a:txBody>
                    <a:bodyPr/>
                    <a:lstStyle/>
                    <a:p>
                      <a:pPr marL="0" marR="0">
                        <a:lnSpc>
                          <a:spcPct val="90000"/>
                        </a:lnSpc>
                        <a:spcBef>
                          <a:spcPts val="400"/>
                        </a:spcBef>
                        <a:spcAft>
                          <a:spcPts val="400"/>
                        </a:spcAft>
                      </a:pPr>
                      <a:r>
                        <a:rPr lang="en-US" sz="2000">
                          <a:effectLst/>
                        </a:rPr>
                        <a:t>Response</a:t>
                      </a:r>
                      <a:endParaRPr lang="en-US" sz="2000">
                        <a:effectLst/>
                        <a:latin typeface="Times"/>
                        <a:ea typeface="Times New Roman"/>
                        <a:cs typeface="Times New Roman"/>
                      </a:endParaRPr>
                    </a:p>
                  </a:txBody>
                  <a:tcPr marL="60485" marR="60485" marT="0" marB="0"/>
                </a:tc>
                <a:tc>
                  <a:txBody>
                    <a:bodyPr/>
                    <a:lstStyle/>
                    <a:p>
                      <a:pPr marL="0" marR="0">
                        <a:lnSpc>
                          <a:spcPct val="90000"/>
                        </a:lnSpc>
                        <a:spcBef>
                          <a:spcPts val="400"/>
                        </a:spcBef>
                        <a:spcAft>
                          <a:spcPts val="400"/>
                        </a:spcAft>
                      </a:pPr>
                      <a:r>
                        <a:rPr lang="en-US" sz="2000">
                          <a:effectLst/>
                        </a:rPr>
                        <a:t>One or more of the following:</a:t>
                      </a:r>
                    </a:p>
                    <a:p>
                      <a:pPr marL="342900" marR="0" lvl="0" indent="-342900">
                        <a:lnSpc>
                          <a:spcPct val="90000"/>
                        </a:lnSpc>
                        <a:spcBef>
                          <a:spcPts val="100"/>
                        </a:spcBef>
                        <a:spcAft>
                          <a:spcPts val="300"/>
                        </a:spcAft>
                        <a:buSzPts val="800"/>
                        <a:buFont typeface="Symbol"/>
                        <a:buChar char=""/>
                        <a:tabLst>
                          <a:tab pos="228600" algn="l"/>
                          <a:tab pos="274320" algn="l"/>
                        </a:tabLst>
                      </a:pPr>
                      <a:r>
                        <a:rPr lang="en-US" sz="2000" kern="1100">
                          <a:effectLst/>
                        </a:rPr>
                        <a:t>make modification </a:t>
                      </a:r>
                    </a:p>
                    <a:p>
                      <a:pPr marL="342900" marR="0" lvl="0" indent="-342900">
                        <a:lnSpc>
                          <a:spcPct val="90000"/>
                        </a:lnSpc>
                        <a:spcBef>
                          <a:spcPts val="100"/>
                        </a:spcBef>
                        <a:spcAft>
                          <a:spcPts val="300"/>
                        </a:spcAft>
                        <a:buSzPts val="800"/>
                        <a:buFont typeface="Symbol"/>
                        <a:buChar char=""/>
                        <a:tabLst>
                          <a:tab pos="228600" algn="l"/>
                          <a:tab pos="274320" algn="l"/>
                        </a:tabLst>
                      </a:pPr>
                      <a:r>
                        <a:rPr lang="en-US" sz="2000" kern="1100">
                          <a:effectLst/>
                        </a:rPr>
                        <a:t>test modification</a:t>
                      </a:r>
                    </a:p>
                    <a:p>
                      <a:pPr marL="342900" marR="0" lvl="0" indent="-342900">
                        <a:lnSpc>
                          <a:spcPct val="90000"/>
                        </a:lnSpc>
                        <a:spcBef>
                          <a:spcPts val="100"/>
                        </a:spcBef>
                        <a:spcAft>
                          <a:spcPts val="300"/>
                        </a:spcAft>
                        <a:buSzPts val="800"/>
                        <a:buFont typeface="Symbol"/>
                        <a:buChar char=""/>
                        <a:tabLst>
                          <a:tab pos="228600" algn="l"/>
                          <a:tab pos="274320" algn="l"/>
                        </a:tabLst>
                      </a:pPr>
                      <a:r>
                        <a:rPr lang="en-US" sz="2000" kern="1100">
                          <a:effectLst/>
                        </a:rPr>
                        <a:t>deploy modification</a:t>
                      </a:r>
                      <a:endParaRPr lang="en-US" sz="2000" kern="1100">
                        <a:effectLst/>
                        <a:latin typeface="Times New Roman"/>
                        <a:ea typeface="Times New Roman"/>
                      </a:endParaRPr>
                    </a:p>
                  </a:txBody>
                  <a:tcPr marL="60485" marR="60485" marT="0" marB="0"/>
                </a:tc>
                <a:extLst>
                  <a:ext uri="{0D108BD9-81ED-4DB2-BD59-A6C34878D82A}">
                    <a16:rowId xmlns:a16="http://schemas.microsoft.com/office/drawing/2014/main" val="10005"/>
                  </a:ext>
                </a:extLst>
              </a:tr>
              <a:tr h="1922577">
                <a:tc>
                  <a:txBody>
                    <a:bodyPr/>
                    <a:lstStyle/>
                    <a:p>
                      <a:pPr marL="0" marR="0">
                        <a:lnSpc>
                          <a:spcPct val="90000"/>
                        </a:lnSpc>
                        <a:spcBef>
                          <a:spcPts val="400"/>
                        </a:spcBef>
                        <a:spcAft>
                          <a:spcPts val="400"/>
                        </a:spcAft>
                      </a:pPr>
                      <a:r>
                        <a:rPr lang="en-US" sz="2000">
                          <a:effectLst/>
                        </a:rPr>
                        <a:t>Response </a:t>
                      </a:r>
                      <a:br>
                        <a:rPr lang="en-US" sz="2000">
                          <a:effectLst/>
                        </a:rPr>
                      </a:br>
                      <a:r>
                        <a:rPr lang="en-US" sz="2000">
                          <a:effectLst/>
                        </a:rPr>
                        <a:t>Measure</a:t>
                      </a:r>
                    </a:p>
                    <a:p>
                      <a:pPr marL="0" marR="0">
                        <a:lnSpc>
                          <a:spcPct val="90000"/>
                        </a:lnSpc>
                        <a:spcBef>
                          <a:spcPts val="400"/>
                        </a:spcBef>
                        <a:spcAft>
                          <a:spcPts val="400"/>
                        </a:spcAft>
                      </a:pPr>
                      <a:r>
                        <a:rPr lang="en-US" sz="2000">
                          <a:effectLst/>
                        </a:rPr>
                        <a:t> </a:t>
                      </a:r>
                      <a:endParaRPr lang="en-US" sz="2000">
                        <a:effectLst/>
                        <a:latin typeface="Times"/>
                        <a:ea typeface="Times New Roman"/>
                        <a:cs typeface="Times New Roman"/>
                      </a:endParaRPr>
                    </a:p>
                  </a:txBody>
                  <a:tcPr marL="60485" marR="60485" marT="0" marB="0"/>
                </a:tc>
                <a:tc>
                  <a:txBody>
                    <a:bodyPr/>
                    <a:lstStyle/>
                    <a:p>
                      <a:pPr marL="0" marR="0">
                        <a:lnSpc>
                          <a:spcPct val="90000"/>
                        </a:lnSpc>
                        <a:spcBef>
                          <a:spcPts val="400"/>
                        </a:spcBef>
                        <a:spcAft>
                          <a:spcPts val="400"/>
                        </a:spcAft>
                      </a:pPr>
                      <a:r>
                        <a:rPr lang="en-US" sz="2000" dirty="0">
                          <a:effectLst/>
                        </a:rPr>
                        <a:t>Cost in terms of:</a:t>
                      </a:r>
                    </a:p>
                    <a:p>
                      <a:pPr marL="342900" marR="0" lvl="0" indent="-342900">
                        <a:lnSpc>
                          <a:spcPct val="90000"/>
                        </a:lnSpc>
                        <a:spcBef>
                          <a:spcPts val="100"/>
                        </a:spcBef>
                        <a:spcAft>
                          <a:spcPts val="0"/>
                        </a:spcAft>
                        <a:buSzPts val="800"/>
                        <a:buFont typeface="Symbol"/>
                        <a:buChar char=""/>
                        <a:tabLst>
                          <a:tab pos="228600" algn="l"/>
                          <a:tab pos="274320" algn="l"/>
                        </a:tabLst>
                      </a:pPr>
                      <a:r>
                        <a:rPr lang="en-US" sz="2000" kern="1100" dirty="0">
                          <a:effectLst/>
                        </a:rPr>
                        <a:t>number, size, complexity of affected artifacts</a:t>
                      </a:r>
                    </a:p>
                    <a:p>
                      <a:pPr marL="342900" marR="0" lvl="0" indent="-342900">
                        <a:lnSpc>
                          <a:spcPct val="90000"/>
                        </a:lnSpc>
                        <a:spcBef>
                          <a:spcPts val="100"/>
                        </a:spcBef>
                        <a:spcAft>
                          <a:spcPts val="0"/>
                        </a:spcAft>
                        <a:buSzPts val="800"/>
                        <a:buFont typeface="Symbol"/>
                        <a:buChar char=""/>
                        <a:tabLst>
                          <a:tab pos="228600" algn="l"/>
                          <a:tab pos="274320" algn="l"/>
                        </a:tabLst>
                      </a:pPr>
                      <a:r>
                        <a:rPr lang="en-US" sz="2000" kern="1100" dirty="0">
                          <a:effectLst/>
                        </a:rPr>
                        <a:t>effort</a:t>
                      </a:r>
                    </a:p>
                    <a:p>
                      <a:pPr marL="342900" marR="0" lvl="0" indent="-342900">
                        <a:lnSpc>
                          <a:spcPct val="90000"/>
                        </a:lnSpc>
                        <a:spcBef>
                          <a:spcPts val="100"/>
                        </a:spcBef>
                        <a:spcAft>
                          <a:spcPts val="0"/>
                        </a:spcAft>
                        <a:buSzPts val="800"/>
                        <a:buFont typeface="Symbol"/>
                        <a:buChar char=""/>
                        <a:tabLst>
                          <a:tab pos="228600" algn="l"/>
                          <a:tab pos="274320" algn="l"/>
                        </a:tabLst>
                      </a:pPr>
                      <a:r>
                        <a:rPr lang="en-US" sz="2000" kern="1100" dirty="0">
                          <a:effectLst/>
                        </a:rPr>
                        <a:t>calendar time</a:t>
                      </a:r>
                    </a:p>
                    <a:p>
                      <a:pPr marL="342900" marR="0" lvl="0" indent="-342900">
                        <a:lnSpc>
                          <a:spcPct val="90000"/>
                        </a:lnSpc>
                        <a:spcBef>
                          <a:spcPts val="100"/>
                        </a:spcBef>
                        <a:spcAft>
                          <a:spcPts val="0"/>
                        </a:spcAft>
                        <a:buSzPts val="800"/>
                        <a:buFont typeface="Symbol"/>
                        <a:buChar char=""/>
                        <a:tabLst>
                          <a:tab pos="228600" algn="l"/>
                          <a:tab pos="274320" algn="l"/>
                        </a:tabLst>
                      </a:pPr>
                      <a:r>
                        <a:rPr lang="en-US" sz="2000" kern="1100" dirty="0">
                          <a:effectLst/>
                        </a:rPr>
                        <a:t>money (direct outlay or opportunity cost)</a:t>
                      </a:r>
                    </a:p>
                    <a:p>
                      <a:pPr marL="342900" marR="0" lvl="0" indent="-342900">
                        <a:lnSpc>
                          <a:spcPct val="90000"/>
                        </a:lnSpc>
                        <a:spcBef>
                          <a:spcPts val="100"/>
                        </a:spcBef>
                        <a:spcAft>
                          <a:spcPts val="0"/>
                        </a:spcAft>
                        <a:buSzPts val="800"/>
                        <a:buFont typeface="Symbol"/>
                        <a:buChar char=""/>
                        <a:tabLst>
                          <a:tab pos="228600" algn="l"/>
                          <a:tab pos="274320" algn="l"/>
                        </a:tabLst>
                      </a:pPr>
                      <a:r>
                        <a:rPr lang="en-US" sz="2000" kern="1100" dirty="0">
                          <a:effectLst/>
                        </a:rPr>
                        <a:t>extent to which this modification affects other functions or quality attributes</a:t>
                      </a:r>
                    </a:p>
                    <a:p>
                      <a:pPr marL="342900" marR="0" lvl="0" indent="-342900">
                        <a:lnSpc>
                          <a:spcPct val="90000"/>
                        </a:lnSpc>
                        <a:spcBef>
                          <a:spcPts val="100"/>
                        </a:spcBef>
                        <a:spcAft>
                          <a:spcPts val="0"/>
                        </a:spcAft>
                        <a:buSzPts val="800"/>
                        <a:buFont typeface="Symbol"/>
                        <a:buChar char=""/>
                        <a:tabLst>
                          <a:tab pos="228600" algn="l"/>
                          <a:tab pos="274320" algn="l"/>
                        </a:tabLst>
                      </a:pPr>
                      <a:r>
                        <a:rPr lang="en-US" sz="2000" kern="1100" dirty="0">
                          <a:effectLst/>
                        </a:rPr>
                        <a:t>new defects introduced</a:t>
                      </a:r>
                      <a:endParaRPr lang="en-US" sz="2000" kern="1100" dirty="0">
                        <a:effectLst/>
                        <a:latin typeface="Times New Roman"/>
                        <a:ea typeface="Times New Roman"/>
                      </a:endParaRPr>
                    </a:p>
                  </a:txBody>
                  <a:tcPr marL="60485" marR="60485" marT="0" marB="0"/>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9493824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0080" y="325369"/>
            <a:ext cx="4368602" cy="1956841"/>
          </a:xfrm>
        </p:spPr>
        <p:txBody>
          <a:bodyPr anchor="b">
            <a:normAutofit/>
          </a:bodyPr>
          <a:lstStyle/>
          <a:p>
            <a:r>
              <a:rPr lang="en-US" sz="4200"/>
              <a:t>Sample Concrete Modifiability Scenario</a:t>
            </a:r>
          </a:p>
        </p:txBody>
      </p:sp>
      <p:sp>
        <p:nvSpPr>
          <p:cNvPr id="35"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40080" y="2872899"/>
            <a:ext cx="4368602" cy="3320668"/>
          </a:xfrm>
        </p:spPr>
        <p:txBody>
          <a:bodyPr>
            <a:normAutofit/>
          </a:bodyPr>
          <a:lstStyle/>
          <a:p>
            <a:pPr marL="0" indent="0" algn="ctr">
              <a:buNone/>
            </a:pPr>
            <a:r>
              <a:rPr lang="en-US" sz="2700" dirty="0"/>
              <a:t>The developer wishes to change the user interface by modifying the code at design time. The modifications are made with no side effects within three hours.</a:t>
            </a:r>
          </a:p>
        </p:txBody>
      </p:sp>
      <p:pic>
        <p:nvPicPr>
          <p:cNvPr id="22" name="Picture 21" descr="Computer script on a screen">
            <a:extLst>
              <a:ext uri="{FF2B5EF4-FFF2-40B4-BE49-F238E27FC236}">
                <a16:creationId xmlns:a16="http://schemas.microsoft.com/office/drawing/2014/main" id="{C3D5F3EE-CBF0-A76E-14CF-897CFF12A7D0}"/>
              </a:ext>
            </a:extLst>
          </p:cNvPr>
          <p:cNvPicPr>
            <a:picLocks noChangeAspect="1"/>
          </p:cNvPicPr>
          <p:nvPr/>
        </p:nvPicPr>
        <p:blipFill rotWithShape="1">
          <a:blip r:embed="rId2"/>
          <a:srcRect r="33047" b="-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4" name="Slide Number Placeholder 3">
            <a:extLst>
              <a:ext uri="{FF2B5EF4-FFF2-40B4-BE49-F238E27FC236}">
                <a16:creationId xmlns:a16="http://schemas.microsoft.com/office/drawing/2014/main" id="{31822BB9-8234-E769-2DC3-BC52429372B9}"/>
              </a:ext>
            </a:extLst>
          </p:cNvPr>
          <p:cNvSpPr>
            <a:spLocks noGrp="1"/>
          </p:cNvSpPr>
          <p:nvPr>
            <p:ph type="sldNum" sz="quarter" idx="12"/>
          </p:nvPr>
        </p:nvSpPr>
        <p:spPr>
          <a:xfrm>
            <a:off x="10439400" y="6356350"/>
            <a:ext cx="914400" cy="365125"/>
          </a:xfrm>
        </p:spPr>
        <p:txBody>
          <a:bodyPr>
            <a:normAutofit/>
          </a:bodyPr>
          <a:lstStyle/>
          <a:p>
            <a:pPr>
              <a:spcAft>
                <a:spcPts val="600"/>
              </a:spcAft>
            </a:pPr>
            <a:fld id="{7DF6DEEC-D04A-4FF0-9A08-7D39859C24F4}" type="slidenum">
              <a:rPr lang="en-US">
                <a:solidFill>
                  <a:srgbClr val="FFFFFF"/>
                </a:solidFill>
              </a:rPr>
              <a:pPr>
                <a:spcAft>
                  <a:spcPts val="600"/>
                </a:spcAft>
              </a:pPr>
              <a:t>52</a:t>
            </a:fld>
            <a:endParaRPr lang="en-US">
              <a:solidFill>
                <a:srgbClr val="FFFFFF"/>
              </a:solidFill>
            </a:endParaRPr>
          </a:p>
        </p:txBody>
      </p:sp>
    </p:spTree>
    <p:extLst>
      <p:ext uri="{BB962C8B-B14F-4D97-AF65-F5344CB8AC3E}">
        <p14:creationId xmlns:p14="http://schemas.microsoft.com/office/powerpoint/2010/main" val="15964899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0" name="Rectangle 7">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1" name="Picture 3">
            <a:extLst>
              <a:ext uri="{FF2B5EF4-FFF2-40B4-BE49-F238E27FC236}">
                <a16:creationId xmlns:a16="http://schemas.microsoft.com/office/drawing/2014/main" id="{87C7A543-150B-4A4E-8131-1A7601D483CE}"/>
              </a:ext>
            </a:extLst>
          </p:cNvPr>
          <p:cNvPicPr>
            <a:picLocks noChangeAspect="1"/>
          </p:cNvPicPr>
          <p:nvPr/>
        </p:nvPicPr>
        <p:blipFill rotWithShape="1">
          <a:blip r:embed="rId2">
            <a:alphaModFix amt="50000"/>
          </a:blip>
          <a:srcRect t="28904" b="13404"/>
          <a:stretch/>
        </p:blipFill>
        <p:spPr>
          <a:xfrm>
            <a:off x="20" y="1"/>
            <a:ext cx="12191980" cy="6857999"/>
          </a:xfrm>
          <a:prstGeom prst="rect">
            <a:avLst/>
          </a:prstGeom>
        </p:spPr>
      </p:pic>
      <p:sp>
        <p:nvSpPr>
          <p:cNvPr id="2" name="Title 1"/>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Interoperability</a:t>
            </a:r>
          </a:p>
        </p:txBody>
      </p:sp>
      <p:sp>
        <p:nvSpPr>
          <p:cNvPr id="3" name="Slide Number Placeholder 2">
            <a:extLst>
              <a:ext uri="{FF2B5EF4-FFF2-40B4-BE49-F238E27FC236}">
                <a16:creationId xmlns:a16="http://schemas.microsoft.com/office/drawing/2014/main" id="{7BCB6338-1E6F-55BC-87F2-67816383C52B}"/>
              </a:ext>
            </a:extLst>
          </p:cNvPr>
          <p:cNvSpPr>
            <a:spLocks noGrp="1"/>
          </p:cNvSpPr>
          <p:nvPr>
            <p:ph type="sldNum" sz="quarter" idx="12"/>
          </p:nvPr>
        </p:nvSpPr>
        <p:spPr/>
        <p:txBody>
          <a:bodyPr/>
          <a:lstStyle/>
          <a:p>
            <a:fld id="{7DF6DEEC-D04A-4FF0-9A08-7D39859C24F4}" type="slidenum">
              <a:rPr lang="en-US" smtClean="0"/>
              <a:t>53</a:t>
            </a:fld>
            <a:endParaRPr lang="en-US"/>
          </a:p>
        </p:txBody>
      </p:sp>
    </p:spTree>
    <p:extLst>
      <p:ext uri="{BB962C8B-B14F-4D97-AF65-F5344CB8AC3E}">
        <p14:creationId xmlns:p14="http://schemas.microsoft.com/office/powerpoint/2010/main" val="2297658245"/>
      </p:ext>
    </p:extLst>
  </p:cSld>
  <p:clrMapOvr>
    <a:overrideClrMapping bg1="dk1" tx1="lt1" bg2="dk2" tx2="lt2" accent1="accent1" accent2="accent2" accent3="accent3" accent4="accent4" accent5="accent5" accent6="accent6" hlink="hlink" folHlink="folHlink"/>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228552E-C8B1-4A80-8448-0787CE0FC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descr="Complex maths formulae on a blackboard">
            <a:extLst>
              <a:ext uri="{FF2B5EF4-FFF2-40B4-BE49-F238E27FC236}">
                <a16:creationId xmlns:a16="http://schemas.microsoft.com/office/drawing/2014/main" id="{C13718D3-1FE5-51C5-C00A-DCAFBE698F5B}"/>
              </a:ext>
            </a:extLst>
          </p:cNvPr>
          <p:cNvPicPr>
            <a:picLocks noChangeAspect="1"/>
          </p:cNvPicPr>
          <p:nvPr/>
        </p:nvPicPr>
        <p:blipFill rotWithShape="1">
          <a:blip r:embed="rId2">
            <a:alphaModFix amt="35000"/>
          </a:blip>
          <a:srcRect t="18208" b="4737"/>
          <a:stretch/>
        </p:blipFill>
        <p:spPr>
          <a:xfrm>
            <a:off x="20" y="10"/>
            <a:ext cx="12191980" cy="6857990"/>
          </a:xfrm>
          <a:prstGeom prst="rect">
            <a:avLst/>
          </a:prstGeom>
        </p:spPr>
      </p:pic>
      <p:sp>
        <p:nvSpPr>
          <p:cNvPr id="2" name="Title 1"/>
          <p:cNvSpPr>
            <a:spLocks noGrp="1"/>
          </p:cNvSpPr>
          <p:nvPr>
            <p:ph type="title"/>
          </p:nvPr>
        </p:nvSpPr>
        <p:spPr>
          <a:xfrm>
            <a:off x="838200" y="365125"/>
            <a:ext cx="10515600" cy="1325563"/>
          </a:xfrm>
        </p:spPr>
        <p:txBody>
          <a:bodyPr>
            <a:normAutofit/>
          </a:bodyPr>
          <a:lstStyle/>
          <a:p>
            <a:r>
              <a:rPr lang="en-US">
                <a:solidFill>
                  <a:srgbClr val="FFFFFF"/>
                </a:solidFill>
              </a:rPr>
              <a:t>What is Interoperability?</a:t>
            </a:r>
          </a:p>
        </p:txBody>
      </p:sp>
      <p:sp>
        <p:nvSpPr>
          <p:cNvPr id="3" name="Content Placeholder 2"/>
          <p:cNvSpPr>
            <a:spLocks noGrp="1"/>
          </p:cNvSpPr>
          <p:nvPr>
            <p:ph idx="1"/>
          </p:nvPr>
        </p:nvSpPr>
        <p:spPr>
          <a:xfrm>
            <a:off x="838200" y="1825625"/>
            <a:ext cx="10515600" cy="4351338"/>
          </a:xfrm>
        </p:spPr>
        <p:txBody>
          <a:bodyPr>
            <a:normAutofit/>
          </a:bodyPr>
          <a:lstStyle/>
          <a:p>
            <a:r>
              <a:rPr lang="en-US" sz="3200" dirty="0">
                <a:solidFill>
                  <a:srgbClr val="FFFFFF"/>
                </a:solidFill>
              </a:rPr>
              <a:t>Interoperability is about the degree to which two or more systems can usefully exchange meaningful information. </a:t>
            </a:r>
          </a:p>
          <a:p>
            <a:endParaRPr lang="en-US" sz="3200" dirty="0">
              <a:solidFill>
                <a:srgbClr val="FFFFFF"/>
              </a:solidFill>
            </a:endParaRPr>
          </a:p>
          <a:p>
            <a:r>
              <a:rPr lang="en-US" sz="3200" dirty="0">
                <a:solidFill>
                  <a:srgbClr val="FFFFFF"/>
                </a:solidFill>
              </a:rPr>
              <a:t>Like all quality attributes, interoperability is not a yes-or-no proposition but has shades of meaning. </a:t>
            </a:r>
          </a:p>
          <a:p>
            <a:endParaRPr lang="en-US" dirty="0">
              <a:solidFill>
                <a:srgbClr val="FFFFFF"/>
              </a:solidFill>
            </a:endParaRPr>
          </a:p>
          <a:p>
            <a:endParaRPr lang="en-US" dirty="0">
              <a:solidFill>
                <a:srgbClr val="FFFFFF"/>
              </a:solidFill>
            </a:endParaRPr>
          </a:p>
          <a:p>
            <a:endParaRPr lang="en-US" dirty="0">
              <a:solidFill>
                <a:srgbClr val="FFFFFF"/>
              </a:solidFill>
            </a:endParaRPr>
          </a:p>
        </p:txBody>
      </p:sp>
      <p:sp>
        <p:nvSpPr>
          <p:cNvPr id="4" name="Slide Number Placeholder 3">
            <a:extLst>
              <a:ext uri="{FF2B5EF4-FFF2-40B4-BE49-F238E27FC236}">
                <a16:creationId xmlns:a16="http://schemas.microsoft.com/office/drawing/2014/main" id="{AEB74804-1742-1C84-9CBD-D57CA410D3B9}"/>
              </a:ext>
            </a:extLst>
          </p:cNvPr>
          <p:cNvSpPr>
            <a:spLocks noGrp="1"/>
          </p:cNvSpPr>
          <p:nvPr>
            <p:ph type="sldNum" sz="quarter" idx="12"/>
          </p:nvPr>
        </p:nvSpPr>
        <p:spPr/>
        <p:txBody>
          <a:bodyPr/>
          <a:lstStyle/>
          <a:p>
            <a:fld id="{7DF6DEEC-D04A-4FF0-9A08-7D39859C24F4}" type="slidenum">
              <a:rPr lang="en-US" smtClean="0"/>
              <a:t>54</a:t>
            </a:fld>
            <a:endParaRPr lang="en-US"/>
          </a:p>
        </p:txBody>
      </p:sp>
    </p:spTree>
    <p:extLst>
      <p:ext uri="{BB962C8B-B14F-4D97-AF65-F5344CB8AC3E}">
        <p14:creationId xmlns:p14="http://schemas.microsoft.com/office/powerpoint/2010/main" val="1090268044"/>
      </p:ext>
    </p:extLst>
  </p:cSld>
  <p:clrMapOvr>
    <a:overrideClrMapping bg1="dk1" tx1="lt1" bg2="dk2" tx2="lt2" accent1="accent1" accent2="accent2" accent3="accent3" accent4="accent4" accent5="accent5" accent6="accent6" hlink="hlink" folHlink="folHlink"/>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Flowchart: Document 29">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Interoperability General Scenario</a:t>
            </a:r>
          </a:p>
        </p:txBody>
      </p:sp>
      <p:sp>
        <p:nvSpPr>
          <p:cNvPr id="4" name="Slide Number Placeholder 3">
            <a:extLst>
              <a:ext uri="{FF2B5EF4-FFF2-40B4-BE49-F238E27FC236}">
                <a16:creationId xmlns:a16="http://schemas.microsoft.com/office/drawing/2014/main" id="{0F6C9010-42D2-02EA-E2D9-180D58B1D2D5}"/>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7DF6DEEC-D04A-4FF0-9A08-7D39859C24F4}" type="slidenum">
              <a:rPr lang="en-US" smtClean="0"/>
              <a:pPr algn="l">
                <a:spcAft>
                  <a:spcPts val="600"/>
                </a:spcAft>
              </a:pPr>
              <a:t>55</a:t>
            </a:fld>
            <a:endParaRPr lang="en-US"/>
          </a:p>
        </p:txBody>
      </p:sp>
      <p:graphicFrame>
        <p:nvGraphicFramePr>
          <p:cNvPr id="3" name="Table 2"/>
          <p:cNvGraphicFramePr>
            <a:graphicFrameLocks noGrp="1"/>
          </p:cNvGraphicFramePr>
          <p:nvPr>
            <p:extLst>
              <p:ext uri="{D42A27DB-BD31-4B8C-83A1-F6EECF244321}">
                <p14:modId xmlns:p14="http://schemas.microsoft.com/office/powerpoint/2010/main" val="1315972934"/>
              </p:ext>
            </p:extLst>
          </p:nvPr>
        </p:nvGraphicFramePr>
        <p:xfrm>
          <a:off x="4086224" y="98859"/>
          <a:ext cx="7861935" cy="6257490"/>
        </p:xfrm>
        <a:graphic>
          <a:graphicData uri="http://schemas.openxmlformats.org/drawingml/2006/table">
            <a:tbl>
              <a:tblPr firstRow="1" bandRow="1">
                <a:noFill/>
                <a:tableStyleId>{69012ECD-51FC-41F1-AA8D-1B2483CD663E}</a:tableStyleId>
              </a:tblPr>
              <a:tblGrid>
                <a:gridCol w="1807936">
                  <a:extLst>
                    <a:ext uri="{9D8B030D-6E8A-4147-A177-3AD203B41FA5}">
                      <a16:colId xmlns:a16="http://schemas.microsoft.com/office/drawing/2014/main" val="20000"/>
                    </a:ext>
                  </a:extLst>
                </a:gridCol>
                <a:gridCol w="6053999">
                  <a:extLst>
                    <a:ext uri="{9D8B030D-6E8A-4147-A177-3AD203B41FA5}">
                      <a16:colId xmlns:a16="http://schemas.microsoft.com/office/drawing/2014/main" val="20001"/>
                    </a:ext>
                  </a:extLst>
                </a:gridCol>
              </a:tblGrid>
              <a:tr h="886032">
                <a:tc>
                  <a:txBody>
                    <a:bodyPr/>
                    <a:lstStyle/>
                    <a:p>
                      <a:pPr marL="0" marR="0" algn="ctr">
                        <a:lnSpc>
                          <a:spcPts val="1450"/>
                        </a:lnSpc>
                        <a:spcBef>
                          <a:spcPts val="400"/>
                        </a:spcBef>
                        <a:spcAft>
                          <a:spcPts val="400"/>
                        </a:spcAft>
                      </a:pPr>
                      <a:r>
                        <a:rPr lang="en-US" sz="1800" b="0" cap="all" spc="150">
                          <a:solidFill>
                            <a:schemeClr val="lt1"/>
                          </a:solidFill>
                          <a:effectLst/>
                        </a:rPr>
                        <a:t>Portion of </a:t>
                      </a:r>
                      <a:br>
                        <a:rPr lang="en-US" sz="1800" b="0" cap="all" spc="150">
                          <a:solidFill>
                            <a:schemeClr val="lt1"/>
                          </a:solidFill>
                          <a:effectLst/>
                        </a:rPr>
                      </a:br>
                      <a:r>
                        <a:rPr lang="en-US" sz="1800" b="0" cap="all" spc="150">
                          <a:solidFill>
                            <a:schemeClr val="lt1"/>
                          </a:solidFill>
                          <a:effectLst/>
                        </a:rPr>
                        <a:t>Scenario</a:t>
                      </a:r>
                      <a:endParaRPr lang="en-US" sz="1800" b="0" cap="all" spc="150">
                        <a:solidFill>
                          <a:schemeClr val="lt1"/>
                        </a:solidFill>
                        <a:effectLst/>
                        <a:latin typeface="Times"/>
                        <a:ea typeface="Times New Roman"/>
                        <a:cs typeface="Times New Roman"/>
                      </a:endParaRPr>
                    </a:p>
                  </a:txBody>
                  <a:tcPr marL="128918" marR="128918" marT="128918" marB="128918">
                    <a:lnL w="12700" cmpd="sng">
                      <a:noFill/>
                    </a:lnL>
                    <a:lnR w="12700" cmpd="sng">
                      <a:noFill/>
                    </a:lnR>
                    <a:lnT w="12700" cmpd="sng">
                      <a:noFill/>
                    </a:lnT>
                    <a:lnB w="38100" cmpd="sng">
                      <a:noFill/>
                    </a:lnB>
                    <a:solidFill>
                      <a:srgbClr val="505356"/>
                    </a:solidFill>
                  </a:tcPr>
                </a:tc>
                <a:tc>
                  <a:txBody>
                    <a:bodyPr/>
                    <a:lstStyle/>
                    <a:p>
                      <a:pPr marL="0" marR="0" algn="ctr">
                        <a:lnSpc>
                          <a:spcPts val="1450"/>
                        </a:lnSpc>
                        <a:spcBef>
                          <a:spcPts val="400"/>
                        </a:spcBef>
                        <a:spcAft>
                          <a:spcPts val="400"/>
                        </a:spcAft>
                      </a:pPr>
                      <a:r>
                        <a:rPr lang="en-US" sz="1800" b="0" cap="all" spc="150" dirty="0">
                          <a:solidFill>
                            <a:schemeClr val="lt1"/>
                          </a:solidFill>
                          <a:effectLst/>
                        </a:rPr>
                        <a:t>Possible Values</a:t>
                      </a:r>
                      <a:endParaRPr lang="en-US" sz="1800" b="0" cap="all" spc="150" dirty="0">
                        <a:solidFill>
                          <a:schemeClr val="lt1"/>
                        </a:solidFill>
                        <a:effectLst/>
                        <a:latin typeface="Times"/>
                        <a:ea typeface="Times New Roman"/>
                        <a:cs typeface="Times New Roman"/>
                      </a:endParaRPr>
                    </a:p>
                  </a:txBody>
                  <a:tcPr marL="128918" marR="128918" marT="128918" marB="128918">
                    <a:lnL w="12700" cmpd="sng">
                      <a:noFill/>
                    </a:lnL>
                    <a:lnR w="12700" cmpd="sng">
                      <a:noFill/>
                    </a:lnR>
                    <a:lnT w="12700" cmpd="sng">
                      <a:noFill/>
                    </a:lnT>
                    <a:lnB w="38100" cmpd="sng">
                      <a:noFill/>
                    </a:lnB>
                    <a:solidFill>
                      <a:srgbClr val="505356"/>
                    </a:solidFill>
                  </a:tcPr>
                </a:tc>
                <a:extLst>
                  <a:ext uri="{0D108BD9-81ED-4DB2-BD59-A6C34878D82A}">
                    <a16:rowId xmlns:a16="http://schemas.microsoft.com/office/drawing/2014/main" val="10000"/>
                  </a:ext>
                </a:extLst>
              </a:tr>
              <a:tr h="503462">
                <a:tc>
                  <a:txBody>
                    <a:bodyPr/>
                    <a:lstStyle/>
                    <a:p>
                      <a:pPr marL="0" marR="0">
                        <a:lnSpc>
                          <a:spcPts val="1450"/>
                        </a:lnSpc>
                        <a:spcBef>
                          <a:spcPts val="400"/>
                        </a:spcBef>
                        <a:spcAft>
                          <a:spcPts val="400"/>
                        </a:spcAft>
                      </a:pPr>
                      <a:r>
                        <a:rPr lang="en-US" sz="1800" b="1" cap="none" spc="0">
                          <a:solidFill>
                            <a:schemeClr val="tx1"/>
                          </a:solidFill>
                          <a:effectLst/>
                        </a:rPr>
                        <a:t>Source</a:t>
                      </a:r>
                      <a:endParaRPr lang="en-US" sz="1800" b="1" cap="none" spc="0">
                        <a:solidFill>
                          <a:schemeClr val="tx1"/>
                        </a:solidFill>
                        <a:effectLst/>
                        <a:latin typeface="Times"/>
                        <a:ea typeface="Times New Roman"/>
                        <a:cs typeface="Times New Roman"/>
                      </a:endParaRPr>
                    </a:p>
                  </a:txBody>
                  <a:tcPr marL="128918" marR="128918" marT="128918" marB="128918">
                    <a:lnL w="12700" cmpd="sng">
                      <a:noFill/>
                      <a:prstDash val="solid"/>
                    </a:lnL>
                    <a:lnR w="12700" cmpd="sng">
                      <a:noFill/>
                      <a:prstDash val="solid"/>
                    </a:lnR>
                    <a:lnT w="38100" cmpd="sng">
                      <a:noFill/>
                    </a:lnT>
                    <a:lnB w="12700" cmpd="sng">
                      <a:noFill/>
                      <a:prstDash val="solid"/>
                    </a:lnB>
                    <a:noFill/>
                  </a:tcPr>
                </a:tc>
                <a:tc>
                  <a:txBody>
                    <a:bodyPr/>
                    <a:lstStyle/>
                    <a:p>
                      <a:pPr marL="0" marR="0" indent="0">
                        <a:lnSpc>
                          <a:spcPts val="1450"/>
                        </a:lnSpc>
                        <a:spcBef>
                          <a:spcPts val="100"/>
                        </a:spcBef>
                        <a:spcAft>
                          <a:spcPts val="300"/>
                        </a:spcAft>
                        <a:tabLst>
                          <a:tab pos="228600" algn="l"/>
                          <a:tab pos="274320" algn="l"/>
                          <a:tab pos="274320" algn="l"/>
                        </a:tabLst>
                      </a:pPr>
                      <a:r>
                        <a:rPr lang="en-US" sz="1800" kern="1100" cap="none" spc="0">
                          <a:solidFill>
                            <a:schemeClr val="tx1"/>
                          </a:solidFill>
                          <a:effectLst/>
                        </a:rPr>
                        <a:t>A system</a:t>
                      </a:r>
                      <a:endParaRPr lang="en-US" sz="1800" kern="1100" cap="none" spc="0">
                        <a:solidFill>
                          <a:schemeClr val="tx1"/>
                        </a:solidFill>
                        <a:effectLst/>
                        <a:latin typeface="Times New Roman"/>
                        <a:ea typeface="Times New Roman"/>
                      </a:endParaRPr>
                    </a:p>
                  </a:txBody>
                  <a:tcPr marL="128918" marR="128918" marT="128918" marB="128918">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10001"/>
                  </a:ext>
                </a:extLst>
              </a:tr>
              <a:tr h="503462">
                <a:tc>
                  <a:txBody>
                    <a:bodyPr/>
                    <a:lstStyle/>
                    <a:p>
                      <a:pPr marL="0" marR="0">
                        <a:lnSpc>
                          <a:spcPts val="1450"/>
                        </a:lnSpc>
                        <a:spcBef>
                          <a:spcPts val="400"/>
                        </a:spcBef>
                        <a:spcAft>
                          <a:spcPts val="400"/>
                        </a:spcAft>
                      </a:pPr>
                      <a:r>
                        <a:rPr lang="en-US" sz="1800" b="1" cap="none" spc="0">
                          <a:solidFill>
                            <a:schemeClr val="tx1"/>
                          </a:solidFill>
                          <a:effectLst/>
                        </a:rPr>
                        <a:t>Stimulus</a:t>
                      </a:r>
                      <a:endParaRPr lang="en-US" sz="1800" b="1" cap="none" spc="0">
                        <a:solidFill>
                          <a:schemeClr val="tx1"/>
                        </a:solidFill>
                        <a:effectLst/>
                        <a:latin typeface="Times"/>
                        <a:ea typeface="Times New Roman"/>
                        <a:cs typeface="Times New Roman"/>
                      </a:endParaRPr>
                    </a:p>
                  </a:txBody>
                  <a:tcPr marL="128918" marR="128918" marT="128918" marB="128918">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pPr marL="0" marR="0">
                        <a:lnSpc>
                          <a:spcPts val="1450"/>
                        </a:lnSpc>
                        <a:spcBef>
                          <a:spcPts val="400"/>
                        </a:spcBef>
                        <a:spcAft>
                          <a:spcPts val="400"/>
                        </a:spcAft>
                      </a:pPr>
                      <a:r>
                        <a:rPr lang="en-US" sz="1800" cap="none" spc="0">
                          <a:solidFill>
                            <a:schemeClr val="tx1"/>
                          </a:solidFill>
                          <a:effectLst/>
                        </a:rPr>
                        <a:t>A request to exchange information among system(s).</a:t>
                      </a:r>
                      <a:endParaRPr lang="en-US" sz="1800" cap="none" spc="0">
                        <a:solidFill>
                          <a:schemeClr val="tx1"/>
                        </a:solidFill>
                        <a:effectLst/>
                        <a:latin typeface="Times"/>
                        <a:ea typeface="Times New Roman"/>
                        <a:cs typeface="Times New Roman"/>
                      </a:endParaRPr>
                    </a:p>
                  </a:txBody>
                  <a:tcPr marL="128918" marR="128918" marT="128918" marB="128918">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10002"/>
                  </a:ext>
                </a:extLst>
              </a:tr>
              <a:tr h="503462">
                <a:tc>
                  <a:txBody>
                    <a:bodyPr/>
                    <a:lstStyle/>
                    <a:p>
                      <a:pPr marL="0" marR="0">
                        <a:lnSpc>
                          <a:spcPts val="1450"/>
                        </a:lnSpc>
                        <a:spcBef>
                          <a:spcPts val="400"/>
                        </a:spcBef>
                        <a:spcAft>
                          <a:spcPts val="400"/>
                        </a:spcAft>
                      </a:pPr>
                      <a:r>
                        <a:rPr lang="en-US" sz="1800" b="1" cap="none" spc="0">
                          <a:solidFill>
                            <a:schemeClr val="tx1"/>
                          </a:solidFill>
                          <a:effectLst/>
                        </a:rPr>
                        <a:t>Artifact</a:t>
                      </a:r>
                      <a:endParaRPr lang="en-US" sz="1800" b="1" cap="none" spc="0">
                        <a:solidFill>
                          <a:schemeClr val="tx1"/>
                        </a:solidFill>
                        <a:effectLst/>
                        <a:latin typeface="Times"/>
                        <a:ea typeface="Times New Roman"/>
                        <a:cs typeface="Times New Roman"/>
                      </a:endParaRPr>
                    </a:p>
                  </a:txBody>
                  <a:tcPr marL="128918" marR="128918" marT="128918" marB="128918">
                    <a:lnL w="12700" cmpd="sng">
                      <a:noFill/>
                      <a:prstDash val="solid"/>
                    </a:lnL>
                    <a:lnR w="12700" cmpd="sng">
                      <a:noFill/>
                      <a:prstDash val="solid"/>
                    </a:lnR>
                    <a:lnT w="12700" cmpd="sng">
                      <a:noFill/>
                      <a:prstDash val="solid"/>
                    </a:lnT>
                    <a:lnB w="12700" cmpd="sng">
                      <a:noFill/>
                      <a:prstDash val="solid"/>
                    </a:lnB>
                    <a:noFill/>
                  </a:tcPr>
                </a:tc>
                <a:tc>
                  <a:txBody>
                    <a:bodyPr/>
                    <a:lstStyle/>
                    <a:p>
                      <a:pPr marL="0" marR="0">
                        <a:lnSpc>
                          <a:spcPts val="1450"/>
                        </a:lnSpc>
                        <a:spcBef>
                          <a:spcPts val="400"/>
                        </a:spcBef>
                        <a:spcAft>
                          <a:spcPts val="400"/>
                        </a:spcAft>
                      </a:pPr>
                      <a:r>
                        <a:rPr lang="en-US" sz="1800" cap="none" spc="0">
                          <a:solidFill>
                            <a:schemeClr val="tx1"/>
                          </a:solidFill>
                          <a:effectLst/>
                        </a:rPr>
                        <a:t>The systems that wish to interoperate</a:t>
                      </a:r>
                      <a:endParaRPr lang="en-US" sz="1800" cap="none" spc="0">
                        <a:solidFill>
                          <a:schemeClr val="tx1"/>
                        </a:solidFill>
                        <a:effectLst/>
                        <a:latin typeface="Times"/>
                        <a:ea typeface="Times New Roman"/>
                        <a:cs typeface="Times New Roman"/>
                      </a:endParaRPr>
                    </a:p>
                  </a:txBody>
                  <a:tcPr marL="128918" marR="128918" marT="128918" marB="128918">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003"/>
                  </a:ext>
                </a:extLst>
              </a:tr>
              <a:tr h="694747">
                <a:tc>
                  <a:txBody>
                    <a:bodyPr/>
                    <a:lstStyle/>
                    <a:p>
                      <a:pPr marL="0" marR="0">
                        <a:lnSpc>
                          <a:spcPts val="1450"/>
                        </a:lnSpc>
                        <a:spcBef>
                          <a:spcPts val="400"/>
                        </a:spcBef>
                        <a:spcAft>
                          <a:spcPts val="400"/>
                        </a:spcAft>
                      </a:pPr>
                      <a:r>
                        <a:rPr lang="en-US" sz="1800" b="1" cap="none" spc="0">
                          <a:solidFill>
                            <a:schemeClr val="tx1"/>
                          </a:solidFill>
                          <a:effectLst/>
                        </a:rPr>
                        <a:t>Environment</a:t>
                      </a:r>
                      <a:endParaRPr lang="en-US" sz="1800" b="1" cap="none" spc="0">
                        <a:solidFill>
                          <a:schemeClr val="tx1"/>
                        </a:solidFill>
                        <a:effectLst/>
                        <a:latin typeface="Times"/>
                        <a:ea typeface="Times New Roman"/>
                        <a:cs typeface="Times New Roman"/>
                      </a:endParaRPr>
                    </a:p>
                  </a:txBody>
                  <a:tcPr marL="128918" marR="128918" marT="128918" marB="128918">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pPr marL="0" marR="0">
                        <a:lnSpc>
                          <a:spcPts val="1450"/>
                        </a:lnSpc>
                        <a:spcBef>
                          <a:spcPts val="400"/>
                        </a:spcBef>
                        <a:spcAft>
                          <a:spcPts val="400"/>
                        </a:spcAft>
                      </a:pPr>
                      <a:r>
                        <a:rPr lang="en-US" sz="1800" cap="none" spc="0">
                          <a:solidFill>
                            <a:schemeClr val="tx1"/>
                          </a:solidFill>
                          <a:effectLst/>
                        </a:rPr>
                        <a:t>System(s) wishing to interoperate are discovered at run time or known prior to run time.</a:t>
                      </a:r>
                      <a:endParaRPr lang="en-US" sz="1800" cap="none" spc="0">
                        <a:solidFill>
                          <a:schemeClr val="tx1"/>
                        </a:solidFill>
                        <a:effectLst/>
                        <a:latin typeface="Times"/>
                        <a:ea typeface="Times New Roman"/>
                        <a:cs typeface="Times New Roman"/>
                      </a:endParaRPr>
                    </a:p>
                  </a:txBody>
                  <a:tcPr marL="128918" marR="128918" marT="128918" marB="128918">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10004"/>
                  </a:ext>
                </a:extLst>
              </a:tr>
              <a:tr h="1888433">
                <a:tc>
                  <a:txBody>
                    <a:bodyPr/>
                    <a:lstStyle/>
                    <a:p>
                      <a:pPr marL="0" marR="0">
                        <a:lnSpc>
                          <a:spcPts val="1450"/>
                        </a:lnSpc>
                        <a:spcBef>
                          <a:spcPts val="400"/>
                        </a:spcBef>
                        <a:spcAft>
                          <a:spcPts val="400"/>
                        </a:spcAft>
                      </a:pPr>
                      <a:r>
                        <a:rPr lang="en-US" sz="1800" b="1" cap="none" spc="0">
                          <a:solidFill>
                            <a:schemeClr val="tx1"/>
                          </a:solidFill>
                          <a:effectLst/>
                        </a:rPr>
                        <a:t>Response</a:t>
                      </a:r>
                      <a:endParaRPr lang="en-US" sz="1800" b="1" cap="none" spc="0">
                        <a:solidFill>
                          <a:schemeClr val="tx1"/>
                        </a:solidFill>
                        <a:effectLst/>
                        <a:latin typeface="Times"/>
                        <a:ea typeface="Times New Roman"/>
                        <a:cs typeface="Times New Roman"/>
                      </a:endParaRPr>
                    </a:p>
                  </a:txBody>
                  <a:tcPr marL="128918" marR="128918" marT="128918" marB="128918">
                    <a:lnL w="12700" cmpd="sng">
                      <a:noFill/>
                      <a:prstDash val="solid"/>
                    </a:lnL>
                    <a:lnR w="12700" cmpd="sng">
                      <a:noFill/>
                      <a:prstDash val="solid"/>
                    </a:lnR>
                    <a:lnT w="12700" cmpd="sng">
                      <a:noFill/>
                      <a:prstDash val="solid"/>
                    </a:lnT>
                    <a:lnB w="12700" cmpd="sng">
                      <a:noFill/>
                      <a:prstDash val="solid"/>
                    </a:lnB>
                    <a:noFill/>
                  </a:tcPr>
                </a:tc>
                <a:tc>
                  <a:txBody>
                    <a:bodyPr/>
                    <a:lstStyle/>
                    <a:p>
                      <a:pPr marL="0" marR="0">
                        <a:lnSpc>
                          <a:spcPts val="1450"/>
                        </a:lnSpc>
                        <a:spcBef>
                          <a:spcPts val="400"/>
                        </a:spcBef>
                        <a:spcAft>
                          <a:spcPts val="400"/>
                        </a:spcAft>
                      </a:pPr>
                      <a:r>
                        <a:rPr lang="en-US" sz="1800" cap="none" spc="0">
                          <a:solidFill>
                            <a:schemeClr val="tx1"/>
                          </a:solidFill>
                          <a:effectLst/>
                        </a:rPr>
                        <a:t>One or more of the following:</a:t>
                      </a:r>
                    </a:p>
                    <a:p>
                      <a:pPr marL="342900" marR="0" lvl="0" indent="-342900">
                        <a:lnSpc>
                          <a:spcPts val="1450"/>
                        </a:lnSpc>
                        <a:spcBef>
                          <a:spcPts val="100"/>
                        </a:spcBef>
                        <a:spcAft>
                          <a:spcPts val="300"/>
                        </a:spcAft>
                        <a:buSzPts val="800"/>
                        <a:buFont typeface="Symbol"/>
                        <a:buChar char=""/>
                        <a:tabLst>
                          <a:tab pos="228600" algn="l"/>
                          <a:tab pos="274320" algn="l"/>
                        </a:tabLst>
                      </a:pPr>
                      <a:r>
                        <a:rPr lang="en-US" sz="1800" kern="1100" cap="none" spc="0">
                          <a:solidFill>
                            <a:schemeClr val="tx1"/>
                          </a:solidFill>
                          <a:effectLst/>
                        </a:rPr>
                        <a:t>the request is (appropriately) rejected and appropriate entities (people or systems) are notified</a:t>
                      </a:r>
                    </a:p>
                    <a:p>
                      <a:pPr marL="342900" marR="0" lvl="0" indent="-342900">
                        <a:lnSpc>
                          <a:spcPts val="1450"/>
                        </a:lnSpc>
                        <a:spcBef>
                          <a:spcPts val="100"/>
                        </a:spcBef>
                        <a:spcAft>
                          <a:spcPts val="300"/>
                        </a:spcAft>
                        <a:buSzPts val="800"/>
                        <a:buFont typeface="Symbol"/>
                        <a:buChar char=""/>
                        <a:tabLst>
                          <a:tab pos="228600" algn="l"/>
                          <a:tab pos="274320" algn="l"/>
                        </a:tabLst>
                      </a:pPr>
                      <a:r>
                        <a:rPr lang="en-US" sz="1800" kern="1100" cap="none" spc="0">
                          <a:solidFill>
                            <a:schemeClr val="tx1"/>
                          </a:solidFill>
                          <a:effectLst/>
                        </a:rPr>
                        <a:t>the request is (appropriately) accepted and information is exchanged successfully</a:t>
                      </a:r>
                    </a:p>
                    <a:p>
                      <a:pPr marL="342900" marR="0" lvl="0" indent="-342900">
                        <a:lnSpc>
                          <a:spcPts val="1450"/>
                        </a:lnSpc>
                        <a:spcBef>
                          <a:spcPts val="100"/>
                        </a:spcBef>
                        <a:spcAft>
                          <a:spcPts val="300"/>
                        </a:spcAft>
                        <a:buSzPts val="800"/>
                        <a:buFont typeface="Symbol"/>
                        <a:buChar char=""/>
                        <a:tabLst>
                          <a:tab pos="228600" algn="l"/>
                          <a:tab pos="274320" algn="l"/>
                        </a:tabLst>
                      </a:pPr>
                      <a:r>
                        <a:rPr lang="en-US" sz="1800" kern="1100" cap="none" spc="0">
                          <a:solidFill>
                            <a:schemeClr val="tx1"/>
                          </a:solidFill>
                          <a:effectLst/>
                        </a:rPr>
                        <a:t>the request is logged by one or more of the involved systems</a:t>
                      </a:r>
                      <a:endParaRPr lang="en-US" sz="1800" kern="1100" cap="none" spc="0">
                        <a:solidFill>
                          <a:schemeClr val="tx1"/>
                        </a:solidFill>
                        <a:effectLst/>
                        <a:latin typeface="Times New Roman"/>
                        <a:ea typeface="Times New Roman"/>
                      </a:endParaRPr>
                    </a:p>
                  </a:txBody>
                  <a:tcPr marL="128918" marR="128918" marT="128918" marB="128918">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005"/>
                  </a:ext>
                </a:extLst>
              </a:tr>
              <a:tr h="1277892">
                <a:tc>
                  <a:txBody>
                    <a:bodyPr/>
                    <a:lstStyle/>
                    <a:p>
                      <a:pPr marL="0" marR="0">
                        <a:lnSpc>
                          <a:spcPts val="1450"/>
                        </a:lnSpc>
                        <a:spcBef>
                          <a:spcPts val="400"/>
                        </a:spcBef>
                        <a:spcAft>
                          <a:spcPts val="400"/>
                        </a:spcAft>
                      </a:pPr>
                      <a:r>
                        <a:rPr lang="en-US" sz="1800" b="1" cap="none" spc="0" dirty="0">
                          <a:solidFill>
                            <a:schemeClr val="tx1"/>
                          </a:solidFill>
                          <a:effectLst/>
                        </a:rPr>
                        <a:t>Response </a:t>
                      </a:r>
                      <a:br>
                        <a:rPr lang="en-US" sz="1800" b="1" cap="none" spc="0" dirty="0">
                          <a:solidFill>
                            <a:schemeClr val="tx1"/>
                          </a:solidFill>
                          <a:effectLst/>
                        </a:rPr>
                      </a:br>
                      <a:r>
                        <a:rPr lang="en-US" sz="1800" b="1" cap="none" spc="0" dirty="0">
                          <a:solidFill>
                            <a:schemeClr val="tx1"/>
                          </a:solidFill>
                          <a:effectLst/>
                        </a:rPr>
                        <a:t>Measure</a:t>
                      </a:r>
                      <a:endParaRPr lang="en-US" sz="1800" b="1" cap="none" spc="0" dirty="0">
                        <a:solidFill>
                          <a:schemeClr val="tx1"/>
                        </a:solidFill>
                        <a:effectLst/>
                        <a:latin typeface="Times"/>
                        <a:ea typeface="Times New Roman"/>
                        <a:cs typeface="Times New Roman"/>
                      </a:endParaRPr>
                    </a:p>
                  </a:txBody>
                  <a:tcPr marL="128918" marR="128918" marT="128918" marB="128918">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pPr marL="0" marR="0">
                        <a:lnSpc>
                          <a:spcPts val="1450"/>
                        </a:lnSpc>
                        <a:spcBef>
                          <a:spcPts val="400"/>
                        </a:spcBef>
                        <a:spcAft>
                          <a:spcPts val="400"/>
                        </a:spcAft>
                      </a:pPr>
                      <a:r>
                        <a:rPr lang="en-US" sz="1800" cap="none" spc="0" dirty="0">
                          <a:solidFill>
                            <a:schemeClr val="tx1"/>
                          </a:solidFill>
                          <a:effectLst/>
                        </a:rPr>
                        <a:t>One or more of the following:</a:t>
                      </a:r>
                    </a:p>
                    <a:p>
                      <a:pPr marL="342900" marR="0" lvl="0" indent="-342900">
                        <a:lnSpc>
                          <a:spcPts val="1450"/>
                        </a:lnSpc>
                        <a:spcBef>
                          <a:spcPts val="100"/>
                        </a:spcBef>
                        <a:spcAft>
                          <a:spcPts val="300"/>
                        </a:spcAft>
                        <a:buSzPts val="800"/>
                        <a:buFont typeface="Symbol"/>
                        <a:buChar char=""/>
                        <a:tabLst>
                          <a:tab pos="228600" algn="l"/>
                          <a:tab pos="274320" algn="l"/>
                        </a:tabLst>
                      </a:pPr>
                      <a:r>
                        <a:rPr lang="en-US" sz="1800" kern="1100" cap="none" spc="0" dirty="0">
                          <a:solidFill>
                            <a:schemeClr val="tx1"/>
                          </a:solidFill>
                          <a:effectLst/>
                        </a:rPr>
                        <a:t>percentage of information exchanges correctly processed </a:t>
                      </a:r>
                    </a:p>
                    <a:p>
                      <a:pPr marL="342900" marR="0" lvl="0" indent="-342900">
                        <a:lnSpc>
                          <a:spcPts val="1450"/>
                        </a:lnSpc>
                        <a:spcBef>
                          <a:spcPts val="100"/>
                        </a:spcBef>
                        <a:spcAft>
                          <a:spcPts val="300"/>
                        </a:spcAft>
                        <a:buSzPts val="800"/>
                        <a:buFont typeface="Symbol"/>
                        <a:buChar char=""/>
                        <a:tabLst>
                          <a:tab pos="228600" algn="l"/>
                          <a:tab pos="274320" algn="l"/>
                        </a:tabLst>
                      </a:pPr>
                      <a:r>
                        <a:rPr lang="en-US" sz="1800" kern="1100" cap="none" spc="0" dirty="0">
                          <a:solidFill>
                            <a:schemeClr val="tx1"/>
                          </a:solidFill>
                          <a:effectLst/>
                        </a:rPr>
                        <a:t>percentage of information exchanges correctly rejected </a:t>
                      </a:r>
                    </a:p>
                    <a:p>
                      <a:pPr marL="0" marR="0" indent="0">
                        <a:lnSpc>
                          <a:spcPts val="1450"/>
                        </a:lnSpc>
                        <a:spcBef>
                          <a:spcPts val="100"/>
                        </a:spcBef>
                        <a:spcAft>
                          <a:spcPts val="300"/>
                        </a:spcAft>
                        <a:tabLst>
                          <a:tab pos="228600" algn="l"/>
                          <a:tab pos="274320" algn="l"/>
                          <a:tab pos="274320" algn="l"/>
                        </a:tabLst>
                      </a:pPr>
                      <a:r>
                        <a:rPr lang="en-US" sz="1800" kern="1100" cap="none" spc="0" dirty="0">
                          <a:solidFill>
                            <a:schemeClr val="tx1"/>
                          </a:solidFill>
                          <a:effectLst/>
                        </a:rPr>
                        <a:t> </a:t>
                      </a:r>
                      <a:endParaRPr lang="en-US" sz="1800" kern="1100" cap="none" spc="0" dirty="0">
                        <a:solidFill>
                          <a:schemeClr val="tx1"/>
                        </a:solidFill>
                        <a:effectLst/>
                        <a:latin typeface="Times New Roman"/>
                        <a:ea typeface="Times New Roman"/>
                      </a:endParaRPr>
                    </a:p>
                  </a:txBody>
                  <a:tcPr marL="128918" marR="128918" marT="128918" marB="128918">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0883324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297762" y="329184"/>
            <a:ext cx="6251110" cy="1783080"/>
          </a:xfrm>
        </p:spPr>
        <p:txBody>
          <a:bodyPr anchor="b">
            <a:normAutofit/>
          </a:bodyPr>
          <a:lstStyle/>
          <a:p>
            <a:r>
              <a:rPr lang="en-US" sz="4600"/>
              <a:t>Sample Concrete Interoperability Scenario</a:t>
            </a:r>
          </a:p>
        </p:txBody>
      </p:sp>
      <p:pic>
        <p:nvPicPr>
          <p:cNvPr id="6" name="Picture 5">
            <a:extLst>
              <a:ext uri="{FF2B5EF4-FFF2-40B4-BE49-F238E27FC236}">
                <a16:creationId xmlns:a16="http://schemas.microsoft.com/office/drawing/2014/main" id="{EB19DF1C-1749-4CE8-B109-4AC9B3633929}"/>
              </a:ext>
            </a:extLst>
          </p:cNvPr>
          <p:cNvPicPr>
            <a:picLocks noChangeAspect="1"/>
          </p:cNvPicPr>
          <p:nvPr/>
        </p:nvPicPr>
        <p:blipFill rotWithShape="1">
          <a:blip r:embed="rId2"/>
          <a:srcRect l="29631" r="30641" b="1"/>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32"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297762" y="2706624"/>
            <a:ext cx="6574198" cy="3483864"/>
          </a:xfrm>
        </p:spPr>
        <p:txBody>
          <a:bodyPr>
            <a:normAutofit/>
          </a:bodyPr>
          <a:lstStyle/>
          <a:p>
            <a:pPr marL="0" indent="0">
              <a:buNone/>
            </a:pPr>
            <a:r>
              <a:rPr lang="en-US" sz="2500" dirty="0"/>
              <a:t>Our vehicle information system sends our current location to the traffic monitoring system. The traffic monitoring system combines our location with other information, overlays this information on a Google Map, and broadcasts it. Our location information is correctly included with a probability of 99.9%. </a:t>
            </a:r>
          </a:p>
        </p:txBody>
      </p:sp>
      <p:sp>
        <p:nvSpPr>
          <p:cNvPr id="4" name="Slide Number Placeholder 3">
            <a:extLst>
              <a:ext uri="{FF2B5EF4-FFF2-40B4-BE49-F238E27FC236}">
                <a16:creationId xmlns:a16="http://schemas.microsoft.com/office/drawing/2014/main" id="{3959BB76-D26D-7FB5-D88F-8058B09022B5}"/>
              </a:ext>
            </a:extLst>
          </p:cNvPr>
          <p:cNvSpPr>
            <a:spLocks noGrp="1"/>
          </p:cNvSpPr>
          <p:nvPr>
            <p:ph type="sldNum" sz="quarter" idx="12"/>
          </p:nvPr>
        </p:nvSpPr>
        <p:spPr>
          <a:xfrm>
            <a:off x="10052978" y="6356350"/>
            <a:ext cx="1300821" cy="365125"/>
          </a:xfrm>
        </p:spPr>
        <p:txBody>
          <a:bodyPr>
            <a:normAutofit/>
          </a:bodyPr>
          <a:lstStyle/>
          <a:p>
            <a:pPr>
              <a:spcAft>
                <a:spcPts val="600"/>
              </a:spcAft>
            </a:pPr>
            <a:fld id="{7DF6DEEC-D04A-4FF0-9A08-7D39859C24F4}" type="slidenum">
              <a:rPr lang="en-US" smtClean="0"/>
              <a:pPr>
                <a:spcAft>
                  <a:spcPts val="600"/>
                </a:spcAft>
              </a:pPr>
              <a:t>56</a:t>
            </a:fld>
            <a:endParaRPr lang="en-US"/>
          </a:p>
        </p:txBody>
      </p:sp>
    </p:spTree>
    <p:extLst>
      <p:ext uri="{BB962C8B-B14F-4D97-AF65-F5344CB8AC3E}">
        <p14:creationId xmlns:p14="http://schemas.microsoft.com/office/powerpoint/2010/main" val="2336384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6E9DAB99-D74E-9BC1-0C17-81F1E9913614}"/>
              </a:ext>
            </a:extLst>
          </p:cNvPr>
          <p:cNvPicPr>
            <a:picLocks noChangeAspect="1"/>
          </p:cNvPicPr>
          <p:nvPr/>
        </p:nvPicPr>
        <p:blipFill rotWithShape="1">
          <a:blip r:embed="rId3">
            <a:alphaModFix/>
          </a:blip>
          <a:srcRect t="39614" b="4136"/>
          <a:stretch/>
        </p:blipFill>
        <p:spPr>
          <a:xfrm>
            <a:off x="20" y="10"/>
            <a:ext cx="12191979" cy="6857990"/>
          </a:xfrm>
          <a:prstGeom prst="rect">
            <a:avLst/>
          </a:prstGeom>
        </p:spPr>
      </p:pic>
      <p:sp>
        <p:nvSpPr>
          <p:cNvPr id="16" name="Rectangle 15">
            <a:extLst>
              <a:ext uri="{FF2B5EF4-FFF2-40B4-BE49-F238E27FC236}">
                <a16:creationId xmlns:a16="http://schemas.microsoft.com/office/drawing/2014/main" id="{EB0222B5-B739-82A9-5CCC-C5585AE12A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344663" y="-4344657"/>
            <a:ext cx="3512260" cy="12201589"/>
          </a:xfrm>
          <a:prstGeom prst="rect">
            <a:avLst/>
          </a:prstGeom>
          <a:gradFill flip="none" rotWithShape="1">
            <a:gsLst>
              <a:gs pos="10000">
                <a:srgbClr val="000000">
                  <a:alpha val="0"/>
                </a:srgbClr>
              </a:gs>
              <a:gs pos="66000">
                <a:srgbClr val="000000">
                  <a:alpha val="46000"/>
                </a:srgbClr>
              </a:gs>
              <a:gs pos="100000">
                <a:srgbClr val="000000">
                  <a:alpha val="60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0" y="-62088"/>
            <a:ext cx="7800660" cy="1520987"/>
          </a:xfrm>
        </p:spPr>
        <p:txBody>
          <a:bodyPr vert="horz" lIns="91440" tIns="45720" rIns="91440" bIns="45720" rtlCol="0" anchor="t">
            <a:normAutofit/>
          </a:bodyPr>
          <a:lstStyle/>
          <a:p>
            <a:r>
              <a:rPr lang="en-US" sz="6600" b="1" dirty="0">
                <a:solidFill>
                  <a:schemeClr val="bg1">
                    <a:lumMod val="95000"/>
                  </a:schemeClr>
                </a:solidFill>
              </a:rPr>
              <a:t>Performance</a:t>
            </a:r>
          </a:p>
        </p:txBody>
      </p:sp>
      <p:sp>
        <p:nvSpPr>
          <p:cNvPr id="18" name="Rectangle 17">
            <a:extLst>
              <a:ext uri="{FF2B5EF4-FFF2-40B4-BE49-F238E27FC236}">
                <a16:creationId xmlns:a16="http://schemas.microsoft.com/office/drawing/2014/main" id="{5BE23E75-E7E9-4D9F-6D25-5512363F8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78570" y="-449383"/>
            <a:ext cx="2425271" cy="12201588"/>
          </a:xfrm>
          <a:prstGeom prst="rect">
            <a:avLst/>
          </a:prstGeom>
          <a:gradFill flip="none" rotWithShape="1">
            <a:gsLst>
              <a:gs pos="10000">
                <a:srgbClr val="000000">
                  <a:alpha val="0"/>
                </a:srgbClr>
              </a:gs>
              <a:gs pos="66000">
                <a:srgbClr val="000000">
                  <a:alpha val="35000"/>
                </a:srgbClr>
              </a:gs>
              <a:gs pos="100000">
                <a:srgbClr val="000000">
                  <a:alpha val="4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61B115DB-65EB-3FC3-7284-CFDF4ADC60B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020C4061-AE7E-52D1-FBBD-9CD4CD4043D7}"/>
              </a:ext>
            </a:extLst>
          </p:cNvPr>
          <p:cNvSpPr>
            <a:spLocks noGrp="1"/>
          </p:cNvSpPr>
          <p:nvPr>
            <p:ph type="sldNum" sz="quarter" idx="12"/>
          </p:nvPr>
        </p:nvSpPr>
        <p:spPr>
          <a:xfrm>
            <a:off x="8610600" y="6356350"/>
            <a:ext cx="2743200" cy="365125"/>
          </a:xfrm>
        </p:spPr>
        <p:txBody>
          <a:bodyPr vert="horz" lIns="91440" tIns="45720" rIns="91440" bIns="45720" rtlCol="0" anchor="ctr">
            <a:normAutofit/>
          </a:bodyPr>
          <a:lstStyle/>
          <a:p>
            <a:pPr>
              <a:spcAft>
                <a:spcPts val="600"/>
              </a:spcAft>
              <a:defRPr/>
            </a:pPr>
            <a:fld id="{7DF6DEEC-D04A-4FF0-9A08-7D39859C24F4}" type="slidenum">
              <a:rPr lang="en-US">
                <a:solidFill>
                  <a:srgbClr val="FFFFFF"/>
                </a:solidFill>
                <a:latin typeface="Calibri" panose="020F0502020204030204"/>
              </a:rPr>
              <a:pPr>
                <a:spcAft>
                  <a:spcPts val="600"/>
                </a:spcAft>
                <a:defRPr/>
              </a:pPr>
              <a:t>57</a:t>
            </a:fld>
            <a:endParaRPr lang="en-US">
              <a:solidFill>
                <a:srgbClr val="FFFFFF"/>
              </a:solidFill>
              <a:latin typeface="Calibri" panose="020F0502020204030204"/>
            </a:endParaRPr>
          </a:p>
        </p:txBody>
      </p:sp>
    </p:spTree>
    <p:extLst>
      <p:ext uri="{BB962C8B-B14F-4D97-AF65-F5344CB8AC3E}">
        <p14:creationId xmlns:p14="http://schemas.microsoft.com/office/powerpoint/2010/main" val="224807993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72493" y="238539"/>
            <a:ext cx="11018520" cy="1434415"/>
          </a:xfrm>
        </p:spPr>
        <p:txBody>
          <a:bodyPr anchor="b">
            <a:normAutofit/>
          </a:bodyPr>
          <a:lstStyle/>
          <a:p>
            <a:r>
              <a:rPr lang="en-US" sz="5400"/>
              <a:t>What is Performance?</a:t>
            </a:r>
          </a:p>
        </p:txBody>
      </p:sp>
      <p:sp>
        <p:nvSpPr>
          <p:cNvPr id="20"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572493" y="2071316"/>
            <a:ext cx="6713552" cy="4119172"/>
          </a:xfrm>
        </p:spPr>
        <p:txBody>
          <a:bodyPr anchor="t">
            <a:normAutofit/>
          </a:bodyPr>
          <a:lstStyle/>
          <a:p>
            <a:r>
              <a:rPr lang="en-US" sz="2400" dirty="0"/>
              <a:t>Performance is about time and the software system’s ability to meet timing requirements.  </a:t>
            </a:r>
          </a:p>
          <a:p>
            <a:r>
              <a:rPr lang="en-US" sz="2400" dirty="0"/>
              <a:t>When events occur – interrupts, messages, requests from users or other systems, or clock events marking the passage of time – the system, or some element of the system, must respond to them in time.   </a:t>
            </a:r>
          </a:p>
          <a:p>
            <a:r>
              <a:rPr lang="en-US" sz="2400" dirty="0"/>
              <a:t>Characterizing the events that can occur (and when they can occur) and the system or element’s time-based response to those events is the essence is discussing performance.</a:t>
            </a:r>
          </a:p>
          <a:p>
            <a:endParaRPr lang="en-US" sz="2200" dirty="0"/>
          </a:p>
          <a:p>
            <a:endParaRPr lang="en-US" sz="2200" dirty="0"/>
          </a:p>
        </p:txBody>
      </p:sp>
      <p:pic>
        <p:nvPicPr>
          <p:cNvPr id="13" name="Picture 4" descr="A blue wall clock showing the time 11:59">
            <a:extLst>
              <a:ext uri="{FF2B5EF4-FFF2-40B4-BE49-F238E27FC236}">
                <a16:creationId xmlns:a16="http://schemas.microsoft.com/office/drawing/2014/main" id="{17592F43-1490-55D9-FE99-D31462C1E664}"/>
              </a:ext>
            </a:extLst>
          </p:cNvPr>
          <p:cNvPicPr>
            <a:picLocks noChangeAspect="1"/>
          </p:cNvPicPr>
          <p:nvPr/>
        </p:nvPicPr>
        <p:blipFill rotWithShape="1">
          <a:blip r:embed="rId2"/>
          <a:srcRect r="36022" b="-3"/>
          <a:stretch/>
        </p:blipFill>
        <p:spPr>
          <a:xfrm>
            <a:off x="7675658" y="2093976"/>
            <a:ext cx="3941064" cy="4096512"/>
          </a:xfrm>
          <a:prstGeom prst="rect">
            <a:avLst/>
          </a:prstGeom>
        </p:spPr>
      </p:pic>
      <p:sp>
        <p:nvSpPr>
          <p:cNvPr id="4" name="Slide Number Placeholder 3">
            <a:extLst>
              <a:ext uri="{FF2B5EF4-FFF2-40B4-BE49-F238E27FC236}">
                <a16:creationId xmlns:a16="http://schemas.microsoft.com/office/drawing/2014/main" id="{E3347E44-7030-DEBB-149C-55D26200B240}"/>
              </a:ext>
            </a:extLst>
          </p:cNvPr>
          <p:cNvSpPr>
            <a:spLocks noGrp="1"/>
          </p:cNvSpPr>
          <p:nvPr>
            <p:ph type="sldNum" sz="quarter" idx="12"/>
          </p:nvPr>
        </p:nvSpPr>
        <p:spPr/>
        <p:txBody>
          <a:bodyPr/>
          <a:lstStyle/>
          <a:p>
            <a:fld id="{7DF6DEEC-D04A-4FF0-9A08-7D39859C24F4}" type="slidenum">
              <a:rPr lang="en-US" smtClean="0"/>
              <a:t>58</a:t>
            </a:fld>
            <a:endParaRPr lang="en-US"/>
          </a:p>
        </p:txBody>
      </p:sp>
    </p:spTree>
    <p:extLst>
      <p:ext uri="{BB962C8B-B14F-4D97-AF65-F5344CB8AC3E}">
        <p14:creationId xmlns:p14="http://schemas.microsoft.com/office/powerpoint/2010/main" val="286926319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Flowchart: Document 22">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Performance General Scenario</a:t>
            </a:r>
          </a:p>
        </p:txBody>
      </p:sp>
      <p:sp>
        <p:nvSpPr>
          <p:cNvPr id="3" name="Slide Number Placeholder 2">
            <a:extLst>
              <a:ext uri="{FF2B5EF4-FFF2-40B4-BE49-F238E27FC236}">
                <a16:creationId xmlns:a16="http://schemas.microsoft.com/office/drawing/2014/main" id="{B35E5404-60FC-248F-191E-6D93831B96BA}"/>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7DF6DEEC-D04A-4FF0-9A08-7D39859C24F4}" type="slidenum">
              <a:rPr lang="en-US" smtClean="0"/>
              <a:pPr algn="l">
                <a:spcAft>
                  <a:spcPts val="600"/>
                </a:spcAft>
              </a:pPr>
              <a:t>59</a:t>
            </a:fld>
            <a:endParaRPr lang="en-US"/>
          </a:p>
        </p:txBody>
      </p:sp>
      <p:graphicFrame>
        <p:nvGraphicFramePr>
          <p:cNvPr id="5" name="Table 4"/>
          <p:cNvGraphicFramePr>
            <a:graphicFrameLocks noGrp="1"/>
          </p:cNvGraphicFramePr>
          <p:nvPr>
            <p:extLst>
              <p:ext uri="{D42A27DB-BD31-4B8C-83A1-F6EECF244321}">
                <p14:modId xmlns:p14="http://schemas.microsoft.com/office/powerpoint/2010/main" val="1951844677"/>
              </p:ext>
            </p:extLst>
          </p:nvPr>
        </p:nvGraphicFramePr>
        <p:xfrm>
          <a:off x="4086225" y="965620"/>
          <a:ext cx="7770494" cy="5267539"/>
        </p:xfrm>
        <a:graphic>
          <a:graphicData uri="http://schemas.openxmlformats.org/drawingml/2006/table">
            <a:tbl>
              <a:tblPr firstRow="1" bandRow="1">
                <a:tableStyleId>{5C22544A-7EE6-4342-B048-85BDC9FD1C3A}</a:tableStyleId>
              </a:tblPr>
              <a:tblGrid>
                <a:gridCol w="2182426">
                  <a:extLst>
                    <a:ext uri="{9D8B030D-6E8A-4147-A177-3AD203B41FA5}">
                      <a16:colId xmlns:a16="http://schemas.microsoft.com/office/drawing/2014/main" val="20000"/>
                    </a:ext>
                  </a:extLst>
                </a:gridCol>
                <a:gridCol w="5588068">
                  <a:extLst>
                    <a:ext uri="{9D8B030D-6E8A-4147-A177-3AD203B41FA5}">
                      <a16:colId xmlns:a16="http://schemas.microsoft.com/office/drawing/2014/main" val="20001"/>
                    </a:ext>
                  </a:extLst>
                </a:gridCol>
              </a:tblGrid>
              <a:tr h="672321">
                <a:tc>
                  <a:txBody>
                    <a:bodyPr/>
                    <a:lstStyle/>
                    <a:p>
                      <a:pPr marL="0" marR="0">
                        <a:lnSpc>
                          <a:spcPct val="80000"/>
                        </a:lnSpc>
                        <a:spcBef>
                          <a:spcPts val="400"/>
                        </a:spcBef>
                        <a:spcAft>
                          <a:spcPts val="400"/>
                        </a:spcAft>
                      </a:pPr>
                      <a:r>
                        <a:rPr lang="en-US" sz="2400" b="1">
                          <a:effectLst/>
                        </a:rPr>
                        <a:t>Portion of Scenario</a:t>
                      </a:r>
                      <a:endParaRPr lang="en-US" sz="2400" b="1">
                        <a:effectLst/>
                        <a:latin typeface="Times"/>
                        <a:ea typeface="Times New Roman"/>
                        <a:cs typeface="Times New Roman"/>
                      </a:endParaRPr>
                    </a:p>
                  </a:txBody>
                  <a:tcPr marL="83504" marR="83504" marT="0" marB="0"/>
                </a:tc>
                <a:tc>
                  <a:txBody>
                    <a:bodyPr/>
                    <a:lstStyle/>
                    <a:p>
                      <a:pPr marL="0" marR="0">
                        <a:lnSpc>
                          <a:spcPct val="80000"/>
                        </a:lnSpc>
                        <a:spcBef>
                          <a:spcPts val="400"/>
                        </a:spcBef>
                        <a:spcAft>
                          <a:spcPts val="400"/>
                        </a:spcAft>
                      </a:pPr>
                      <a:r>
                        <a:rPr lang="en-US" sz="2400" b="1">
                          <a:effectLst/>
                        </a:rPr>
                        <a:t>Possible Values</a:t>
                      </a:r>
                      <a:endParaRPr lang="en-US" sz="2400" b="1">
                        <a:effectLst/>
                        <a:latin typeface="Times"/>
                        <a:ea typeface="Times New Roman"/>
                        <a:cs typeface="Times New Roman"/>
                      </a:endParaRPr>
                    </a:p>
                  </a:txBody>
                  <a:tcPr marL="83504" marR="83504" marT="0" marB="0" anchor="ctr"/>
                </a:tc>
                <a:extLst>
                  <a:ext uri="{0D108BD9-81ED-4DB2-BD59-A6C34878D82A}">
                    <a16:rowId xmlns:a16="http://schemas.microsoft.com/office/drawing/2014/main" val="10000"/>
                  </a:ext>
                </a:extLst>
              </a:tr>
              <a:tr h="442653">
                <a:tc>
                  <a:txBody>
                    <a:bodyPr/>
                    <a:lstStyle/>
                    <a:p>
                      <a:pPr marL="0" marR="0">
                        <a:lnSpc>
                          <a:spcPct val="110000"/>
                        </a:lnSpc>
                        <a:spcBef>
                          <a:spcPts val="400"/>
                        </a:spcBef>
                        <a:spcAft>
                          <a:spcPts val="400"/>
                        </a:spcAft>
                      </a:pPr>
                      <a:r>
                        <a:rPr lang="en-US" sz="2400">
                          <a:effectLst/>
                        </a:rPr>
                        <a:t>Source</a:t>
                      </a:r>
                      <a:endParaRPr lang="en-US" sz="2400">
                        <a:effectLst/>
                        <a:latin typeface="Times"/>
                        <a:ea typeface="Times New Roman"/>
                        <a:cs typeface="Times New Roman"/>
                      </a:endParaRPr>
                    </a:p>
                  </a:txBody>
                  <a:tcPr marL="83504" marR="83504" marT="0" marB="0"/>
                </a:tc>
                <a:tc>
                  <a:txBody>
                    <a:bodyPr/>
                    <a:lstStyle/>
                    <a:p>
                      <a:pPr marL="0" marR="0">
                        <a:lnSpc>
                          <a:spcPct val="100000"/>
                        </a:lnSpc>
                        <a:spcBef>
                          <a:spcPts val="400"/>
                        </a:spcBef>
                        <a:spcAft>
                          <a:spcPts val="400"/>
                        </a:spcAft>
                      </a:pPr>
                      <a:r>
                        <a:rPr lang="en-US" sz="2400">
                          <a:effectLst/>
                        </a:rPr>
                        <a:t>Internal or external to the system </a:t>
                      </a:r>
                      <a:endParaRPr lang="en-US" sz="2400">
                        <a:effectLst/>
                        <a:latin typeface="Times"/>
                        <a:ea typeface="Times New Roman"/>
                        <a:cs typeface="Times New Roman"/>
                      </a:endParaRPr>
                    </a:p>
                  </a:txBody>
                  <a:tcPr marL="83504" marR="83504" marT="0" marB="0"/>
                </a:tc>
                <a:extLst>
                  <a:ext uri="{0D108BD9-81ED-4DB2-BD59-A6C34878D82A}">
                    <a16:rowId xmlns:a16="http://schemas.microsoft.com/office/drawing/2014/main" val="10001"/>
                  </a:ext>
                </a:extLst>
              </a:tr>
              <a:tr h="830513">
                <a:tc>
                  <a:txBody>
                    <a:bodyPr/>
                    <a:lstStyle/>
                    <a:p>
                      <a:pPr marL="0" marR="0">
                        <a:lnSpc>
                          <a:spcPct val="110000"/>
                        </a:lnSpc>
                        <a:spcBef>
                          <a:spcPts val="400"/>
                        </a:spcBef>
                        <a:spcAft>
                          <a:spcPts val="400"/>
                        </a:spcAft>
                      </a:pPr>
                      <a:r>
                        <a:rPr lang="en-US" sz="2400">
                          <a:effectLst/>
                        </a:rPr>
                        <a:t>Stimulus</a:t>
                      </a:r>
                      <a:endParaRPr lang="en-US" sz="2400">
                        <a:effectLst/>
                        <a:latin typeface="Times"/>
                        <a:ea typeface="Times New Roman"/>
                        <a:cs typeface="Times New Roman"/>
                      </a:endParaRPr>
                    </a:p>
                  </a:txBody>
                  <a:tcPr marL="83504" marR="83504" marT="0" marB="0"/>
                </a:tc>
                <a:tc>
                  <a:txBody>
                    <a:bodyPr/>
                    <a:lstStyle/>
                    <a:p>
                      <a:pPr marL="0" marR="0">
                        <a:lnSpc>
                          <a:spcPct val="100000"/>
                        </a:lnSpc>
                        <a:spcBef>
                          <a:spcPts val="400"/>
                        </a:spcBef>
                        <a:spcAft>
                          <a:spcPts val="400"/>
                        </a:spcAft>
                      </a:pPr>
                      <a:r>
                        <a:rPr lang="en-US" sz="2400">
                          <a:effectLst/>
                        </a:rPr>
                        <a:t>Arrival of a periodic, sporadic, or stochastic event</a:t>
                      </a:r>
                      <a:endParaRPr lang="en-US" sz="2400">
                        <a:effectLst/>
                        <a:latin typeface="Times"/>
                        <a:ea typeface="Times New Roman"/>
                        <a:cs typeface="Times New Roman"/>
                      </a:endParaRPr>
                    </a:p>
                  </a:txBody>
                  <a:tcPr marL="83504" marR="83504" marT="0" marB="0"/>
                </a:tc>
                <a:extLst>
                  <a:ext uri="{0D108BD9-81ED-4DB2-BD59-A6C34878D82A}">
                    <a16:rowId xmlns:a16="http://schemas.microsoft.com/office/drawing/2014/main" val="10002"/>
                  </a:ext>
                </a:extLst>
              </a:tr>
              <a:tr h="830513">
                <a:tc>
                  <a:txBody>
                    <a:bodyPr/>
                    <a:lstStyle/>
                    <a:p>
                      <a:pPr marL="0" marR="0">
                        <a:lnSpc>
                          <a:spcPct val="110000"/>
                        </a:lnSpc>
                        <a:spcBef>
                          <a:spcPts val="400"/>
                        </a:spcBef>
                        <a:spcAft>
                          <a:spcPts val="400"/>
                        </a:spcAft>
                      </a:pPr>
                      <a:r>
                        <a:rPr lang="en-US" sz="2400">
                          <a:effectLst/>
                        </a:rPr>
                        <a:t>Artifact</a:t>
                      </a:r>
                      <a:endParaRPr lang="en-US" sz="2400">
                        <a:effectLst/>
                        <a:latin typeface="Times"/>
                        <a:ea typeface="Times New Roman"/>
                        <a:cs typeface="Times New Roman"/>
                      </a:endParaRPr>
                    </a:p>
                  </a:txBody>
                  <a:tcPr marL="83504" marR="83504" marT="0" marB="0"/>
                </a:tc>
                <a:tc>
                  <a:txBody>
                    <a:bodyPr/>
                    <a:lstStyle/>
                    <a:p>
                      <a:pPr marL="0" marR="0">
                        <a:lnSpc>
                          <a:spcPct val="100000"/>
                        </a:lnSpc>
                        <a:spcBef>
                          <a:spcPts val="400"/>
                        </a:spcBef>
                        <a:spcAft>
                          <a:spcPts val="400"/>
                        </a:spcAft>
                      </a:pPr>
                      <a:r>
                        <a:rPr lang="en-US" sz="2400">
                          <a:effectLst/>
                        </a:rPr>
                        <a:t>System or one or more components in the system.</a:t>
                      </a:r>
                      <a:endParaRPr lang="en-US" sz="2400">
                        <a:effectLst/>
                        <a:latin typeface="Times"/>
                        <a:ea typeface="Times New Roman"/>
                        <a:cs typeface="Times New Roman"/>
                      </a:endParaRPr>
                    </a:p>
                  </a:txBody>
                  <a:tcPr marL="83504" marR="83504" marT="0" marB="0"/>
                </a:tc>
                <a:extLst>
                  <a:ext uri="{0D108BD9-81ED-4DB2-BD59-A6C34878D82A}">
                    <a16:rowId xmlns:a16="http://schemas.microsoft.com/office/drawing/2014/main" val="10003"/>
                  </a:ext>
                </a:extLst>
              </a:tr>
              <a:tr h="830513">
                <a:tc>
                  <a:txBody>
                    <a:bodyPr/>
                    <a:lstStyle/>
                    <a:p>
                      <a:pPr marL="0" marR="0">
                        <a:lnSpc>
                          <a:spcPct val="110000"/>
                        </a:lnSpc>
                        <a:spcBef>
                          <a:spcPts val="400"/>
                        </a:spcBef>
                        <a:spcAft>
                          <a:spcPts val="400"/>
                        </a:spcAft>
                      </a:pPr>
                      <a:r>
                        <a:rPr lang="en-US" sz="2400">
                          <a:effectLst/>
                        </a:rPr>
                        <a:t>Environment</a:t>
                      </a:r>
                      <a:endParaRPr lang="en-US" sz="2400">
                        <a:effectLst/>
                        <a:latin typeface="Times"/>
                        <a:ea typeface="Times New Roman"/>
                        <a:cs typeface="Times New Roman"/>
                      </a:endParaRPr>
                    </a:p>
                  </a:txBody>
                  <a:tcPr marL="83504" marR="83504" marT="0" marB="0"/>
                </a:tc>
                <a:tc>
                  <a:txBody>
                    <a:bodyPr/>
                    <a:lstStyle/>
                    <a:p>
                      <a:pPr marL="0" marR="0">
                        <a:lnSpc>
                          <a:spcPct val="100000"/>
                        </a:lnSpc>
                        <a:spcBef>
                          <a:spcPts val="400"/>
                        </a:spcBef>
                        <a:spcAft>
                          <a:spcPts val="400"/>
                        </a:spcAft>
                      </a:pPr>
                      <a:r>
                        <a:rPr lang="en-US" sz="2400">
                          <a:effectLst/>
                        </a:rPr>
                        <a:t>Operational mode:  normal, emergency, peak load, overload.</a:t>
                      </a:r>
                      <a:endParaRPr lang="en-US" sz="2400">
                        <a:effectLst/>
                        <a:latin typeface="Times"/>
                        <a:ea typeface="Times New Roman"/>
                        <a:cs typeface="Times New Roman"/>
                      </a:endParaRPr>
                    </a:p>
                  </a:txBody>
                  <a:tcPr marL="83504" marR="83504" marT="0" marB="0"/>
                </a:tc>
                <a:extLst>
                  <a:ext uri="{0D108BD9-81ED-4DB2-BD59-A6C34878D82A}">
                    <a16:rowId xmlns:a16="http://schemas.microsoft.com/office/drawing/2014/main" val="10004"/>
                  </a:ext>
                </a:extLst>
              </a:tr>
              <a:tr h="830513">
                <a:tc>
                  <a:txBody>
                    <a:bodyPr/>
                    <a:lstStyle/>
                    <a:p>
                      <a:pPr marL="0" marR="0">
                        <a:lnSpc>
                          <a:spcPct val="110000"/>
                        </a:lnSpc>
                        <a:spcBef>
                          <a:spcPts val="400"/>
                        </a:spcBef>
                        <a:spcAft>
                          <a:spcPts val="400"/>
                        </a:spcAft>
                      </a:pPr>
                      <a:r>
                        <a:rPr lang="en-US" sz="2400">
                          <a:effectLst/>
                        </a:rPr>
                        <a:t>Response</a:t>
                      </a:r>
                      <a:endParaRPr lang="en-US" sz="2400">
                        <a:effectLst/>
                        <a:latin typeface="Times"/>
                        <a:ea typeface="Times New Roman"/>
                        <a:cs typeface="Times New Roman"/>
                      </a:endParaRPr>
                    </a:p>
                  </a:txBody>
                  <a:tcPr marL="83504" marR="83504" marT="0" marB="0"/>
                </a:tc>
                <a:tc>
                  <a:txBody>
                    <a:bodyPr/>
                    <a:lstStyle/>
                    <a:p>
                      <a:pPr marL="0" marR="0">
                        <a:lnSpc>
                          <a:spcPct val="100000"/>
                        </a:lnSpc>
                        <a:spcBef>
                          <a:spcPts val="400"/>
                        </a:spcBef>
                        <a:spcAft>
                          <a:spcPts val="400"/>
                        </a:spcAft>
                      </a:pPr>
                      <a:r>
                        <a:rPr lang="en-US" sz="2400">
                          <a:effectLst/>
                        </a:rPr>
                        <a:t>Process events, change level of service</a:t>
                      </a:r>
                      <a:endParaRPr lang="en-US" sz="2400">
                        <a:effectLst/>
                        <a:latin typeface="Times"/>
                        <a:ea typeface="Times New Roman"/>
                        <a:cs typeface="Times New Roman"/>
                      </a:endParaRPr>
                    </a:p>
                  </a:txBody>
                  <a:tcPr marL="83504" marR="83504" marT="0" marB="0"/>
                </a:tc>
                <a:extLst>
                  <a:ext uri="{0D108BD9-81ED-4DB2-BD59-A6C34878D82A}">
                    <a16:rowId xmlns:a16="http://schemas.microsoft.com/office/drawing/2014/main" val="10005"/>
                  </a:ext>
                </a:extLst>
              </a:tr>
              <a:tr h="830513">
                <a:tc>
                  <a:txBody>
                    <a:bodyPr/>
                    <a:lstStyle/>
                    <a:p>
                      <a:pPr marL="0" marR="0">
                        <a:lnSpc>
                          <a:spcPct val="80000"/>
                        </a:lnSpc>
                        <a:spcBef>
                          <a:spcPts val="400"/>
                        </a:spcBef>
                        <a:spcAft>
                          <a:spcPts val="400"/>
                        </a:spcAft>
                      </a:pPr>
                      <a:r>
                        <a:rPr lang="en-US" sz="2400">
                          <a:effectLst/>
                        </a:rPr>
                        <a:t>Response Measure</a:t>
                      </a:r>
                      <a:endParaRPr lang="en-US" sz="2400">
                        <a:effectLst/>
                        <a:latin typeface="Times"/>
                        <a:ea typeface="Times New Roman"/>
                        <a:cs typeface="Times New Roman"/>
                      </a:endParaRPr>
                    </a:p>
                  </a:txBody>
                  <a:tcPr marL="83504" marR="83504" marT="0" marB="0"/>
                </a:tc>
                <a:tc>
                  <a:txBody>
                    <a:bodyPr/>
                    <a:lstStyle/>
                    <a:p>
                      <a:pPr marL="0" marR="0">
                        <a:lnSpc>
                          <a:spcPct val="100000"/>
                        </a:lnSpc>
                        <a:spcBef>
                          <a:spcPts val="400"/>
                        </a:spcBef>
                        <a:spcAft>
                          <a:spcPts val="400"/>
                        </a:spcAft>
                      </a:pPr>
                      <a:r>
                        <a:rPr lang="en-US" sz="2400" dirty="0">
                          <a:effectLst/>
                        </a:rPr>
                        <a:t>Latency, deadline, throughput, jitter, miss rate</a:t>
                      </a:r>
                      <a:endParaRPr lang="en-US" sz="2400" dirty="0">
                        <a:effectLst/>
                        <a:latin typeface="Times"/>
                        <a:ea typeface="Times New Roman"/>
                        <a:cs typeface="Times New Roman"/>
                      </a:endParaRPr>
                    </a:p>
                  </a:txBody>
                  <a:tcPr marL="83504" marR="83504" marT="0" marB="0"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3995220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Sample Concrete Performance Scenario</a:t>
            </a:r>
          </a:p>
        </p:txBody>
      </p:sp>
      <p:sp>
        <p:nvSpPr>
          <p:cNvPr id="3" name="Content Placeholder 2"/>
          <p:cNvSpPr>
            <a:spLocks noGrp="1"/>
          </p:cNvSpPr>
          <p:nvPr>
            <p:ph idx="1"/>
          </p:nvPr>
        </p:nvSpPr>
        <p:spPr>
          <a:xfrm>
            <a:off x="4810259" y="649480"/>
            <a:ext cx="6555347" cy="5546047"/>
          </a:xfrm>
        </p:spPr>
        <p:txBody>
          <a:bodyPr anchor="ctr">
            <a:normAutofit/>
          </a:bodyPr>
          <a:lstStyle/>
          <a:p>
            <a:pPr marL="0" indent="0">
              <a:buNone/>
            </a:pPr>
            <a:r>
              <a:rPr lang="en-US" sz="3200" dirty="0"/>
              <a:t>Users initiate transactions under normal operations. The system processes the transactions with an average latency of two seconds.</a:t>
            </a:r>
          </a:p>
        </p:txBody>
      </p:sp>
      <p:sp>
        <p:nvSpPr>
          <p:cNvPr id="4" name="Slide Number Placeholder 3">
            <a:extLst>
              <a:ext uri="{FF2B5EF4-FFF2-40B4-BE49-F238E27FC236}">
                <a16:creationId xmlns:a16="http://schemas.microsoft.com/office/drawing/2014/main" id="{33C0226A-DC75-78B3-2582-A3A7A774CBB8}"/>
              </a:ext>
            </a:extLst>
          </p:cNvPr>
          <p:cNvSpPr>
            <a:spLocks noGrp="1"/>
          </p:cNvSpPr>
          <p:nvPr>
            <p:ph type="sldNum" sz="quarter" idx="12"/>
          </p:nvPr>
        </p:nvSpPr>
        <p:spPr/>
        <p:txBody>
          <a:bodyPr/>
          <a:lstStyle/>
          <a:p>
            <a:fld id="{7DF6DEEC-D04A-4FF0-9A08-7D39859C24F4}" type="slidenum">
              <a:rPr lang="en-US" smtClean="0"/>
              <a:t>60</a:t>
            </a:fld>
            <a:endParaRPr lang="en-US"/>
          </a:p>
        </p:txBody>
      </p:sp>
    </p:spTree>
    <p:extLst>
      <p:ext uri="{BB962C8B-B14F-4D97-AF65-F5344CB8AC3E}">
        <p14:creationId xmlns:p14="http://schemas.microsoft.com/office/powerpoint/2010/main" val="4390305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638882" y="639193"/>
            <a:ext cx="3571810" cy="3573516"/>
          </a:xfrm>
        </p:spPr>
        <p:txBody>
          <a:bodyPr vert="horz" lIns="91440" tIns="45720" rIns="91440" bIns="45720" rtlCol="0" anchor="b">
            <a:normAutofit/>
          </a:bodyPr>
          <a:lstStyle/>
          <a:p>
            <a:r>
              <a:rPr lang="en-US" sz="6600" kern="1200">
                <a:solidFill>
                  <a:schemeClr val="tx1"/>
                </a:solidFill>
                <a:latin typeface="+mj-lt"/>
                <a:ea typeface="+mj-ea"/>
                <a:cs typeface="+mj-cs"/>
              </a:rPr>
              <a:t>Testability</a:t>
            </a:r>
          </a:p>
        </p:txBody>
      </p:sp>
      <p:sp>
        <p:nvSpPr>
          <p:cNvPr id="12"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AF066607-8D79-19BE-EEC6-C1C22859F571}"/>
              </a:ext>
            </a:extLst>
          </p:cNvPr>
          <p:cNvPicPr>
            <a:picLocks noChangeAspect="1"/>
          </p:cNvPicPr>
          <p:nvPr/>
        </p:nvPicPr>
        <p:blipFill>
          <a:blip r:embed="rId2"/>
          <a:stretch>
            <a:fillRect/>
          </a:stretch>
        </p:blipFill>
        <p:spPr>
          <a:xfrm>
            <a:off x="4654296" y="1656721"/>
            <a:ext cx="7214616" cy="3517125"/>
          </a:xfrm>
          <a:prstGeom prst="rect">
            <a:avLst/>
          </a:prstGeom>
        </p:spPr>
      </p:pic>
      <p:sp>
        <p:nvSpPr>
          <p:cNvPr id="3" name="Slide Number Placeholder 2">
            <a:extLst>
              <a:ext uri="{FF2B5EF4-FFF2-40B4-BE49-F238E27FC236}">
                <a16:creationId xmlns:a16="http://schemas.microsoft.com/office/drawing/2014/main" id="{D85037F7-F438-A6B6-38E7-60A013FB86B8}"/>
              </a:ext>
            </a:extLst>
          </p:cNvPr>
          <p:cNvSpPr>
            <a:spLocks noGrp="1"/>
          </p:cNvSpPr>
          <p:nvPr>
            <p:ph type="sldNum" sz="quarter" idx="12"/>
          </p:nvPr>
        </p:nvSpPr>
        <p:spPr/>
        <p:txBody>
          <a:bodyPr/>
          <a:lstStyle/>
          <a:p>
            <a:fld id="{7DF6DEEC-D04A-4FF0-9A08-7D39859C24F4}" type="slidenum">
              <a:rPr lang="en-US" smtClean="0"/>
              <a:t>61</a:t>
            </a:fld>
            <a:endParaRPr lang="en-US"/>
          </a:p>
        </p:txBody>
      </p:sp>
    </p:spTree>
    <p:extLst>
      <p:ext uri="{BB962C8B-B14F-4D97-AF65-F5344CB8AC3E}">
        <p14:creationId xmlns:p14="http://schemas.microsoft.com/office/powerpoint/2010/main" val="79221549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630936" y="640080"/>
            <a:ext cx="4818888" cy="1481328"/>
          </a:xfrm>
        </p:spPr>
        <p:txBody>
          <a:bodyPr anchor="b">
            <a:normAutofit/>
          </a:bodyPr>
          <a:lstStyle/>
          <a:p>
            <a:r>
              <a:rPr lang="en-US" sz="5000"/>
              <a:t>What is Testability?</a:t>
            </a:r>
          </a:p>
        </p:txBody>
      </p:sp>
      <p:sp>
        <p:nvSpPr>
          <p:cNvPr id="20"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266700" y="2660904"/>
            <a:ext cx="5615940" cy="3695446"/>
          </a:xfrm>
        </p:spPr>
        <p:txBody>
          <a:bodyPr anchor="t">
            <a:normAutofit fontScale="92500" lnSpcReduction="10000"/>
          </a:bodyPr>
          <a:lstStyle/>
          <a:p>
            <a:pPr algn="just"/>
            <a:r>
              <a:rPr lang="en-US" sz="2600" dirty="0"/>
              <a:t>Software testability refers to the ease with which software can be made to demonstrate its faults through (typically execution-based) testing.  </a:t>
            </a:r>
          </a:p>
          <a:p>
            <a:pPr algn="just"/>
            <a:r>
              <a:rPr lang="en-US" sz="2600" dirty="0"/>
              <a:t>Specifically, testability refers to the probability, assuming that the software has at least one fault, that it will fail on its </a:t>
            </a:r>
            <a:r>
              <a:rPr lang="en-US" sz="2600" i="1" dirty="0"/>
              <a:t>next</a:t>
            </a:r>
            <a:r>
              <a:rPr lang="en-US" sz="2600" dirty="0"/>
              <a:t> test execution. </a:t>
            </a:r>
          </a:p>
          <a:p>
            <a:pPr algn="just"/>
            <a:r>
              <a:rPr lang="en-US" sz="2600" dirty="0"/>
              <a:t>If a fault is present in a system, then we want it to fail during testing as quickly as possible.</a:t>
            </a:r>
          </a:p>
          <a:p>
            <a:endParaRPr lang="en-US" sz="2000" dirty="0"/>
          </a:p>
          <a:p>
            <a:endParaRPr lang="en-US" sz="2000" dirty="0"/>
          </a:p>
        </p:txBody>
      </p:sp>
      <p:pic>
        <p:nvPicPr>
          <p:cNvPr id="6" name="Picture 5">
            <a:extLst>
              <a:ext uri="{FF2B5EF4-FFF2-40B4-BE49-F238E27FC236}">
                <a16:creationId xmlns:a16="http://schemas.microsoft.com/office/drawing/2014/main" id="{03C056EB-6CBB-1BED-4703-8C8893BB5AA0}"/>
              </a:ext>
            </a:extLst>
          </p:cNvPr>
          <p:cNvPicPr>
            <a:picLocks noChangeAspect="1"/>
          </p:cNvPicPr>
          <p:nvPr/>
        </p:nvPicPr>
        <p:blipFill>
          <a:blip r:embed="rId2"/>
          <a:stretch>
            <a:fillRect/>
          </a:stretch>
        </p:blipFill>
        <p:spPr>
          <a:xfrm>
            <a:off x="6099048" y="2098377"/>
            <a:ext cx="5458968" cy="2661246"/>
          </a:xfrm>
          <a:prstGeom prst="rect">
            <a:avLst/>
          </a:prstGeom>
        </p:spPr>
      </p:pic>
      <p:sp>
        <p:nvSpPr>
          <p:cNvPr id="4" name="Slide Number Placeholder 3">
            <a:extLst>
              <a:ext uri="{FF2B5EF4-FFF2-40B4-BE49-F238E27FC236}">
                <a16:creationId xmlns:a16="http://schemas.microsoft.com/office/drawing/2014/main" id="{0EE89605-E9C7-A811-CCD0-29F32E151076}"/>
              </a:ext>
            </a:extLst>
          </p:cNvPr>
          <p:cNvSpPr>
            <a:spLocks noGrp="1"/>
          </p:cNvSpPr>
          <p:nvPr>
            <p:ph type="sldNum" sz="quarter" idx="12"/>
          </p:nvPr>
        </p:nvSpPr>
        <p:spPr/>
        <p:txBody>
          <a:bodyPr/>
          <a:lstStyle/>
          <a:p>
            <a:fld id="{7DF6DEEC-D04A-4FF0-9A08-7D39859C24F4}" type="slidenum">
              <a:rPr lang="en-US" smtClean="0"/>
              <a:t>62</a:t>
            </a:fld>
            <a:endParaRPr lang="en-US"/>
          </a:p>
        </p:txBody>
      </p:sp>
    </p:spTree>
    <p:extLst>
      <p:ext uri="{BB962C8B-B14F-4D97-AF65-F5344CB8AC3E}">
        <p14:creationId xmlns:p14="http://schemas.microsoft.com/office/powerpoint/2010/main" val="11390127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630936" y="639520"/>
            <a:ext cx="3429000" cy="1719072"/>
          </a:xfrm>
        </p:spPr>
        <p:txBody>
          <a:bodyPr anchor="b">
            <a:normAutofit/>
          </a:bodyPr>
          <a:lstStyle/>
          <a:p>
            <a:r>
              <a:rPr lang="en-US" sz="5400"/>
              <a:t>What is Testability?</a:t>
            </a:r>
          </a:p>
        </p:txBody>
      </p:sp>
      <p:sp>
        <p:nvSpPr>
          <p:cNvPr id="13" name="sketch line">
            <a:extLst>
              <a:ext uri="{FF2B5EF4-FFF2-40B4-BE49-F238E27FC236}">
                <a16:creationId xmlns:a16="http://schemas.microsoft.com/office/drawing/2014/main" id="{6357EC4F-235E-4222-A36F-C7878ACE37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630936" y="2807208"/>
            <a:ext cx="3839464" cy="3410712"/>
          </a:xfrm>
        </p:spPr>
        <p:txBody>
          <a:bodyPr anchor="t">
            <a:normAutofit/>
          </a:bodyPr>
          <a:lstStyle/>
          <a:p>
            <a:pPr marL="0" indent="0" algn="just">
              <a:buNone/>
            </a:pPr>
            <a:r>
              <a:rPr lang="en-US" sz="2600" dirty="0"/>
              <a:t>For a system to be properly testable, it must be possible to </a:t>
            </a:r>
            <a:r>
              <a:rPr lang="en-US" sz="2600" i="1" dirty="0"/>
              <a:t>control</a:t>
            </a:r>
            <a:r>
              <a:rPr lang="en-US" sz="2600" dirty="0"/>
              <a:t> each component’s inputs (and possibly manipulate its internal state) and then to </a:t>
            </a:r>
            <a:r>
              <a:rPr lang="en-US" sz="2600" i="1" dirty="0"/>
              <a:t>observe</a:t>
            </a:r>
            <a:r>
              <a:rPr lang="en-US" sz="2600" dirty="0"/>
              <a:t> its outputs (and possibly its internal state). </a:t>
            </a:r>
          </a:p>
        </p:txBody>
      </p:sp>
      <p:pic>
        <p:nvPicPr>
          <p:cNvPr id="6" name="Picture 5">
            <a:extLst>
              <a:ext uri="{FF2B5EF4-FFF2-40B4-BE49-F238E27FC236}">
                <a16:creationId xmlns:a16="http://schemas.microsoft.com/office/drawing/2014/main" id="{F2EE476F-DE61-A579-2660-22D488893869}"/>
              </a:ext>
            </a:extLst>
          </p:cNvPr>
          <p:cNvPicPr>
            <a:picLocks noChangeAspect="1"/>
          </p:cNvPicPr>
          <p:nvPr/>
        </p:nvPicPr>
        <p:blipFill>
          <a:blip r:embed="rId2"/>
          <a:stretch>
            <a:fillRect/>
          </a:stretch>
        </p:blipFill>
        <p:spPr>
          <a:xfrm>
            <a:off x="4654296" y="1746218"/>
            <a:ext cx="6903720" cy="3365563"/>
          </a:xfrm>
          <a:prstGeom prst="rect">
            <a:avLst/>
          </a:prstGeom>
        </p:spPr>
      </p:pic>
      <p:sp>
        <p:nvSpPr>
          <p:cNvPr id="4" name="Slide Number Placeholder 3">
            <a:extLst>
              <a:ext uri="{FF2B5EF4-FFF2-40B4-BE49-F238E27FC236}">
                <a16:creationId xmlns:a16="http://schemas.microsoft.com/office/drawing/2014/main" id="{7A53C0E6-4EBD-E8C7-5763-F28EE60CA767}"/>
              </a:ext>
            </a:extLst>
          </p:cNvPr>
          <p:cNvSpPr>
            <a:spLocks noGrp="1"/>
          </p:cNvSpPr>
          <p:nvPr>
            <p:ph type="sldNum" sz="quarter" idx="12"/>
          </p:nvPr>
        </p:nvSpPr>
        <p:spPr/>
        <p:txBody>
          <a:bodyPr/>
          <a:lstStyle/>
          <a:p>
            <a:fld id="{7DF6DEEC-D04A-4FF0-9A08-7D39859C24F4}" type="slidenum">
              <a:rPr lang="en-US" smtClean="0"/>
              <a:t>63</a:t>
            </a:fld>
            <a:endParaRPr lang="en-US"/>
          </a:p>
        </p:txBody>
      </p:sp>
    </p:spTree>
    <p:extLst>
      <p:ext uri="{BB962C8B-B14F-4D97-AF65-F5344CB8AC3E}">
        <p14:creationId xmlns:p14="http://schemas.microsoft.com/office/powerpoint/2010/main" val="26233682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Flowchart: Document 18">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Testability General Scenario</a:t>
            </a:r>
          </a:p>
        </p:txBody>
      </p:sp>
      <p:sp>
        <p:nvSpPr>
          <p:cNvPr id="3" name="Slide Number Placeholder 2">
            <a:extLst>
              <a:ext uri="{FF2B5EF4-FFF2-40B4-BE49-F238E27FC236}">
                <a16:creationId xmlns:a16="http://schemas.microsoft.com/office/drawing/2014/main" id="{83B55F02-3260-B66A-27DC-BA36B3057F3B}"/>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7DF6DEEC-D04A-4FF0-9A08-7D39859C24F4}" type="slidenum">
              <a:rPr lang="en-US" smtClean="0"/>
              <a:pPr algn="l">
                <a:spcAft>
                  <a:spcPts val="600"/>
                </a:spcAft>
              </a:pPr>
              <a:t>64</a:t>
            </a:fld>
            <a:endParaRPr lang="en-US"/>
          </a:p>
        </p:txBody>
      </p:sp>
      <p:graphicFrame>
        <p:nvGraphicFramePr>
          <p:cNvPr id="5" name="Table 4"/>
          <p:cNvGraphicFramePr>
            <a:graphicFrameLocks noGrp="1"/>
          </p:cNvGraphicFramePr>
          <p:nvPr>
            <p:extLst>
              <p:ext uri="{D42A27DB-BD31-4B8C-83A1-F6EECF244321}">
                <p14:modId xmlns:p14="http://schemas.microsoft.com/office/powerpoint/2010/main" val="1754218706"/>
              </p:ext>
            </p:extLst>
          </p:nvPr>
        </p:nvGraphicFramePr>
        <p:xfrm>
          <a:off x="4086226" y="896208"/>
          <a:ext cx="7915274" cy="5460141"/>
        </p:xfrm>
        <a:graphic>
          <a:graphicData uri="http://schemas.openxmlformats.org/drawingml/2006/table">
            <a:tbl>
              <a:tblPr firstRow="1" firstCol="1" bandRow="1">
                <a:tableStyleId>{5C22544A-7EE6-4342-B048-85BDC9FD1C3A}</a:tableStyleId>
              </a:tblPr>
              <a:tblGrid>
                <a:gridCol w="1562462">
                  <a:extLst>
                    <a:ext uri="{9D8B030D-6E8A-4147-A177-3AD203B41FA5}">
                      <a16:colId xmlns:a16="http://schemas.microsoft.com/office/drawing/2014/main" val="20000"/>
                    </a:ext>
                  </a:extLst>
                </a:gridCol>
                <a:gridCol w="6352812">
                  <a:extLst>
                    <a:ext uri="{9D8B030D-6E8A-4147-A177-3AD203B41FA5}">
                      <a16:colId xmlns:a16="http://schemas.microsoft.com/office/drawing/2014/main" val="20001"/>
                    </a:ext>
                  </a:extLst>
                </a:gridCol>
              </a:tblGrid>
              <a:tr h="474756">
                <a:tc>
                  <a:txBody>
                    <a:bodyPr/>
                    <a:lstStyle/>
                    <a:p>
                      <a:pPr marL="0" marR="0" algn="ctr">
                        <a:lnSpc>
                          <a:spcPct val="80000"/>
                        </a:lnSpc>
                        <a:spcBef>
                          <a:spcPts val="400"/>
                        </a:spcBef>
                        <a:spcAft>
                          <a:spcPts val="400"/>
                        </a:spcAft>
                      </a:pPr>
                      <a:r>
                        <a:rPr lang="en-US" sz="1700" b="1">
                          <a:solidFill>
                            <a:schemeClr val="tx1"/>
                          </a:solidFill>
                          <a:effectLst/>
                        </a:rPr>
                        <a:t>Portion of</a:t>
                      </a:r>
                      <a:br>
                        <a:rPr lang="en-US" sz="1700" b="1">
                          <a:solidFill>
                            <a:schemeClr val="tx1"/>
                          </a:solidFill>
                          <a:effectLst/>
                        </a:rPr>
                      </a:br>
                      <a:r>
                        <a:rPr lang="en-US" sz="1700" b="1">
                          <a:solidFill>
                            <a:schemeClr val="tx1"/>
                          </a:solidFill>
                          <a:effectLst/>
                        </a:rPr>
                        <a:t>Scenario</a:t>
                      </a:r>
                      <a:endParaRPr lang="en-US" sz="1700" b="1">
                        <a:solidFill>
                          <a:schemeClr val="tx1"/>
                        </a:solidFill>
                        <a:effectLst/>
                        <a:latin typeface="Times"/>
                        <a:ea typeface="Times New Roman"/>
                        <a:cs typeface="Times New Roman"/>
                      </a:endParaRPr>
                    </a:p>
                  </a:txBody>
                  <a:tcPr marL="58827" marR="58827" marT="0" marB="0">
                    <a:solidFill>
                      <a:schemeClr val="accent1">
                        <a:lumMod val="20000"/>
                        <a:lumOff val="80000"/>
                      </a:schemeClr>
                    </a:solidFill>
                  </a:tcPr>
                </a:tc>
                <a:tc>
                  <a:txBody>
                    <a:bodyPr/>
                    <a:lstStyle/>
                    <a:p>
                      <a:pPr marL="0" marR="0" algn="ctr">
                        <a:lnSpc>
                          <a:spcPct val="80000"/>
                        </a:lnSpc>
                        <a:spcBef>
                          <a:spcPts val="400"/>
                        </a:spcBef>
                        <a:spcAft>
                          <a:spcPts val="400"/>
                        </a:spcAft>
                      </a:pPr>
                      <a:r>
                        <a:rPr lang="en-US" sz="1700" b="1" dirty="0">
                          <a:solidFill>
                            <a:schemeClr val="tx1"/>
                          </a:solidFill>
                          <a:effectLst/>
                        </a:rPr>
                        <a:t>Possible Values</a:t>
                      </a:r>
                      <a:endParaRPr lang="en-US" sz="1700" b="1" dirty="0">
                        <a:solidFill>
                          <a:schemeClr val="tx1"/>
                        </a:solidFill>
                        <a:effectLst/>
                        <a:latin typeface="Times"/>
                        <a:ea typeface="Times New Roman"/>
                        <a:cs typeface="Times New Roman"/>
                      </a:endParaRPr>
                    </a:p>
                  </a:txBody>
                  <a:tcPr marL="58827" marR="58827" marT="0" marB="0">
                    <a:solidFill>
                      <a:schemeClr val="accent1">
                        <a:lumMod val="20000"/>
                        <a:lumOff val="80000"/>
                      </a:schemeClr>
                    </a:solidFill>
                  </a:tcPr>
                </a:tc>
                <a:extLst>
                  <a:ext uri="{0D108BD9-81ED-4DB2-BD59-A6C34878D82A}">
                    <a16:rowId xmlns:a16="http://schemas.microsoft.com/office/drawing/2014/main" val="10000"/>
                  </a:ext>
                </a:extLst>
              </a:tr>
              <a:tr h="692888">
                <a:tc>
                  <a:txBody>
                    <a:bodyPr/>
                    <a:lstStyle/>
                    <a:p>
                      <a:pPr marL="0" marR="0">
                        <a:lnSpc>
                          <a:spcPct val="80000"/>
                        </a:lnSpc>
                        <a:spcBef>
                          <a:spcPts val="400"/>
                        </a:spcBef>
                        <a:spcAft>
                          <a:spcPts val="400"/>
                        </a:spcAft>
                      </a:pPr>
                      <a:r>
                        <a:rPr lang="en-US" sz="1700">
                          <a:solidFill>
                            <a:schemeClr val="tx1"/>
                          </a:solidFill>
                          <a:effectLst/>
                        </a:rPr>
                        <a:t>Source</a:t>
                      </a:r>
                      <a:endParaRPr lang="en-US" sz="1700">
                        <a:solidFill>
                          <a:schemeClr val="tx1"/>
                        </a:solidFill>
                        <a:effectLst/>
                        <a:latin typeface="Times"/>
                        <a:ea typeface="Times New Roman"/>
                        <a:cs typeface="Times New Roman"/>
                      </a:endParaRPr>
                    </a:p>
                  </a:txBody>
                  <a:tcPr marL="58827" marR="58827" marT="0" marB="0">
                    <a:solidFill>
                      <a:schemeClr val="accent1">
                        <a:lumMod val="20000"/>
                        <a:lumOff val="80000"/>
                      </a:schemeClr>
                    </a:solidFill>
                  </a:tcPr>
                </a:tc>
                <a:tc>
                  <a:txBody>
                    <a:bodyPr/>
                    <a:lstStyle/>
                    <a:p>
                      <a:pPr marL="0" marR="0">
                        <a:lnSpc>
                          <a:spcPct val="80000"/>
                        </a:lnSpc>
                        <a:spcBef>
                          <a:spcPts val="400"/>
                        </a:spcBef>
                        <a:spcAft>
                          <a:spcPts val="400"/>
                        </a:spcAft>
                      </a:pPr>
                      <a:r>
                        <a:rPr lang="en-US" sz="1700">
                          <a:effectLst/>
                        </a:rPr>
                        <a:t>Unit testers, integration testers, system testers, acceptance testers, end users, either running tests manually or using automated testing tools</a:t>
                      </a:r>
                      <a:endParaRPr lang="en-US" sz="1700">
                        <a:effectLst/>
                        <a:latin typeface="Times"/>
                        <a:ea typeface="Times New Roman"/>
                        <a:cs typeface="Times New Roman"/>
                      </a:endParaRPr>
                    </a:p>
                  </a:txBody>
                  <a:tcPr marL="58827" marR="58827" marT="0" marB="0">
                    <a:solidFill>
                      <a:schemeClr val="accent1">
                        <a:lumMod val="20000"/>
                        <a:lumOff val="80000"/>
                      </a:schemeClr>
                    </a:solidFill>
                  </a:tcPr>
                </a:tc>
                <a:extLst>
                  <a:ext uri="{0D108BD9-81ED-4DB2-BD59-A6C34878D82A}">
                    <a16:rowId xmlns:a16="http://schemas.microsoft.com/office/drawing/2014/main" val="10001"/>
                  </a:ext>
                </a:extLst>
              </a:tr>
              <a:tr h="1302816">
                <a:tc>
                  <a:txBody>
                    <a:bodyPr/>
                    <a:lstStyle/>
                    <a:p>
                      <a:pPr marL="0" marR="0">
                        <a:lnSpc>
                          <a:spcPct val="80000"/>
                        </a:lnSpc>
                        <a:spcBef>
                          <a:spcPts val="400"/>
                        </a:spcBef>
                        <a:spcAft>
                          <a:spcPts val="400"/>
                        </a:spcAft>
                      </a:pPr>
                      <a:r>
                        <a:rPr lang="en-US" sz="1700" dirty="0">
                          <a:solidFill>
                            <a:schemeClr val="tx1"/>
                          </a:solidFill>
                          <a:effectLst/>
                        </a:rPr>
                        <a:t>Stimulus </a:t>
                      </a:r>
                      <a:endParaRPr lang="en-US" sz="1700" dirty="0">
                        <a:solidFill>
                          <a:schemeClr val="tx1"/>
                        </a:solidFill>
                        <a:effectLst/>
                        <a:latin typeface="Times"/>
                        <a:ea typeface="Times New Roman"/>
                        <a:cs typeface="Times New Roman"/>
                      </a:endParaRPr>
                    </a:p>
                  </a:txBody>
                  <a:tcPr marL="58827" marR="58827" marT="0" marB="0">
                    <a:solidFill>
                      <a:schemeClr val="accent1">
                        <a:lumMod val="20000"/>
                        <a:lumOff val="80000"/>
                      </a:schemeClr>
                    </a:solidFill>
                  </a:tcPr>
                </a:tc>
                <a:tc>
                  <a:txBody>
                    <a:bodyPr/>
                    <a:lstStyle/>
                    <a:p>
                      <a:pPr marL="0" marR="0" indent="0">
                        <a:lnSpc>
                          <a:spcPct val="80000"/>
                        </a:lnSpc>
                        <a:spcBef>
                          <a:spcPts val="100"/>
                        </a:spcBef>
                        <a:spcAft>
                          <a:spcPts val="300"/>
                        </a:spcAft>
                        <a:tabLst>
                          <a:tab pos="228600" algn="l"/>
                          <a:tab pos="274320" algn="l"/>
                          <a:tab pos="274320" algn="l"/>
                        </a:tabLst>
                      </a:pPr>
                      <a:r>
                        <a:rPr lang="en-US" sz="1700" kern="1100">
                          <a:effectLst/>
                        </a:rPr>
                        <a:t>A set of tests are executed due to the completion of a coding increment such as a class, layer or service; the completed integration of a subsystem; the complete implementation of the system; or the delivery of the system to the customer.</a:t>
                      </a:r>
                    </a:p>
                  </a:txBody>
                  <a:tcPr marL="58827" marR="58827" marT="0" marB="0">
                    <a:solidFill>
                      <a:schemeClr val="accent1">
                        <a:lumMod val="20000"/>
                        <a:lumOff val="80000"/>
                      </a:schemeClr>
                    </a:solidFill>
                  </a:tcPr>
                </a:tc>
                <a:extLst>
                  <a:ext uri="{0D108BD9-81ED-4DB2-BD59-A6C34878D82A}">
                    <a16:rowId xmlns:a16="http://schemas.microsoft.com/office/drawing/2014/main" val="10002"/>
                  </a:ext>
                </a:extLst>
              </a:tr>
              <a:tr h="474756">
                <a:tc>
                  <a:txBody>
                    <a:bodyPr/>
                    <a:lstStyle/>
                    <a:p>
                      <a:pPr marL="0" marR="0">
                        <a:lnSpc>
                          <a:spcPct val="80000"/>
                        </a:lnSpc>
                        <a:spcBef>
                          <a:spcPts val="400"/>
                        </a:spcBef>
                        <a:spcAft>
                          <a:spcPts val="400"/>
                        </a:spcAft>
                      </a:pPr>
                      <a:r>
                        <a:rPr lang="en-US" sz="1700">
                          <a:solidFill>
                            <a:schemeClr val="tx1"/>
                          </a:solidFill>
                          <a:effectLst/>
                        </a:rPr>
                        <a:t>Environment </a:t>
                      </a:r>
                      <a:endParaRPr lang="en-US" sz="1700">
                        <a:solidFill>
                          <a:schemeClr val="tx1"/>
                        </a:solidFill>
                        <a:effectLst/>
                        <a:latin typeface="Times"/>
                        <a:ea typeface="Times New Roman"/>
                        <a:cs typeface="Times New Roman"/>
                      </a:endParaRPr>
                    </a:p>
                  </a:txBody>
                  <a:tcPr marL="58827" marR="58827" marT="0" marB="0">
                    <a:solidFill>
                      <a:schemeClr val="accent1">
                        <a:lumMod val="20000"/>
                        <a:lumOff val="80000"/>
                      </a:schemeClr>
                    </a:solidFill>
                  </a:tcPr>
                </a:tc>
                <a:tc>
                  <a:txBody>
                    <a:bodyPr/>
                    <a:lstStyle/>
                    <a:p>
                      <a:pPr marL="0" marR="0">
                        <a:lnSpc>
                          <a:spcPct val="80000"/>
                        </a:lnSpc>
                        <a:spcBef>
                          <a:spcPts val="400"/>
                        </a:spcBef>
                        <a:spcAft>
                          <a:spcPts val="400"/>
                        </a:spcAft>
                      </a:pPr>
                      <a:r>
                        <a:rPr lang="en-US" sz="1700">
                          <a:effectLst/>
                        </a:rPr>
                        <a:t>Design time, development time, compile time, integration time, deployment time, run time</a:t>
                      </a:r>
                      <a:endParaRPr lang="en-US" sz="1700">
                        <a:effectLst/>
                        <a:latin typeface="Times"/>
                        <a:ea typeface="Times New Roman"/>
                        <a:cs typeface="Times New Roman"/>
                      </a:endParaRPr>
                    </a:p>
                  </a:txBody>
                  <a:tcPr marL="58827" marR="58827" marT="0" marB="0">
                    <a:solidFill>
                      <a:schemeClr val="accent1">
                        <a:lumMod val="20000"/>
                        <a:lumOff val="80000"/>
                      </a:schemeClr>
                    </a:solidFill>
                  </a:tcPr>
                </a:tc>
                <a:extLst>
                  <a:ext uri="{0D108BD9-81ED-4DB2-BD59-A6C34878D82A}">
                    <a16:rowId xmlns:a16="http://schemas.microsoft.com/office/drawing/2014/main" val="10003"/>
                  </a:ext>
                </a:extLst>
              </a:tr>
              <a:tr h="256625">
                <a:tc>
                  <a:txBody>
                    <a:bodyPr/>
                    <a:lstStyle/>
                    <a:p>
                      <a:pPr marL="0" marR="0">
                        <a:lnSpc>
                          <a:spcPct val="80000"/>
                        </a:lnSpc>
                        <a:spcBef>
                          <a:spcPts val="400"/>
                        </a:spcBef>
                        <a:spcAft>
                          <a:spcPts val="400"/>
                        </a:spcAft>
                      </a:pPr>
                      <a:r>
                        <a:rPr lang="en-US" sz="1700">
                          <a:solidFill>
                            <a:schemeClr val="tx1"/>
                          </a:solidFill>
                          <a:effectLst/>
                        </a:rPr>
                        <a:t>Artifacts </a:t>
                      </a:r>
                      <a:endParaRPr lang="en-US" sz="1700">
                        <a:solidFill>
                          <a:schemeClr val="tx1"/>
                        </a:solidFill>
                        <a:effectLst/>
                        <a:latin typeface="Times"/>
                        <a:ea typeface="Times New Roman"/>
                        <a:cs typeface="Times New Roman"/>
                      </a:endParaRPr>
                    </a:p>
                  </a:txBody>
                  <a:tcPr marL="58827" marR="58827" marT="0" marB="0">
                    <a:solidFill>
                      <a:schemeClr val="accent1">
                        <a:lumMod val="20000"/>
                        <a:lumOff val="80000"/>
                      </a:schemeClr>
                    </a:solidFill>
                  </a:tcPr>
                </a:tc>
                <a:tc>
                  <a:txBody>
                    <a:bodyPr/>
                    <a:lstStyle/>
                    <a:p>
                      <a:pPr marL="0" marR="0">
                        <a:lnSpc>
                          <a:spcPct val="80000"/>
                        </a:lnSpc>
                        <a:spcBef>
                          <a:spcPts val="400"/>
                        </a:spcBef>
                        <a:spcAft>
                          <a:spcPts val="400"/>
                        </a:spcAft>
                      </a:pPr>
                      <a:r>
                        <a:rPr lang="en-US" sz="1700">
                          <a:effectLst/>
                        </a:rPr>
                        <a:t>The portion of the system being tested</a:t>
                      </a:r>
                      <a:endParaRPr lang="en-US" sz="1700">
                        <a:effectLst/>
                        <a:latin typeface="Times"/>
                        <a:ea typeface="Times New Roman"/>
                        <a:cs typeface="Times New Roman"/>
                      </a:endParaRPr>
                    </a:p>
                  </a:txBody>
                  <a:tcPr marL="58827" marR="58827" marT="0" marB="0">
                    <a:solidFill>
                      <a:schemeClr val="accent1">
                        <a:lumMod val="20000"/>
                        <a:lumOff val="80000"/>
                      </a:schemeClr>
                    </a:solidFill>
                  </a:tcPr>
                </a:tc>
                <a:extLst>
                  <a:ext uri="{0D108BD9-81ED-4DB2-BD59-A6C34878D82A}">
                    <a16:rowId xmlns:a16="http://schemas.microsoft.com/office/drawing/2014/main" val="10004"/>
                  </a:ext>
                </a:extLst>
              </a:tr>
              <a:tr h="692888">
                <a:tc>
                  <a:txBody>
                    <a:bodyPr/>
                    <a:lstStyle/>
                    <a:p>
                      <a:pPr marL="0" marR="0">
                        <a:lnSpc>
                          <a:spcPct val="80000"/>
                        </a:lnSpc>
                        <a:spcBef>
                          <a:spcPts val="400"/>
                        </a:spcBef>
                        <a:spcAft>
                          <a:spcPts val="400"/>
                        </a:spcAft>
                      </a:pPr>
                      <a:r>
                        <a:rPr lang="en-US" sz="1700">
                          <a:solidFill>
                            <a:schemeClr val="tx1"/>
                          </a:solidFill>
                          <a:effectLst/>
                        </a:rPr>
                        <a:t>Response </a:t>
                      </a:r>
                      <a:endParaRPr lang="en-US" sz="1700">
                        <a:solidFill>
                          <a:schemeClr val="tx1"/>
                        </a:solidFill>
                        <a:effectLst/>
                        <a:latin typeface="Times"/>
                        <a:ea typeface="Times New Roman"/>
                        <a:cs typeface="Times New Roman"/>
                      </a:endParaRPr>
                    </a:p>
                  </a:txBody>
                  <a:tcPr marL="58827" marR="58827" marT="0" marB="0">
                    <a:solidFill>
                      <a:schemeClr val="accent1">
                        <a:lumMod val="20000"/>
                        <a:lumOff val="80000"/>
                      </a:schemeClr>
                    </a:solidFill>
                  </a:tcPr>
                </a:tc>
                <a:tc>
                  <a:txBody>
                    <a:bodyPr/>
                    <a:lstStyle/>
                    <a:p>
                      <a:pPr marL="0" marR="0">
                        <a:lnSpc>
                          <a:spcPct val="80000"/>
                        </a:lnSpc>
                        <a:spcBef>
                          <a:spcPts val="400"/>
                        </a:spcBef>
                        <a:spcAft>
                          <a:spcPts val="400"/>
                        </a:spcAft>
                      </a:pPr>
                      <a:r>
                        <a:rPr lang="en-US" sz="1700">
                          <a:effectLst/>
                        </a:rPr>
                        <a:t>One or more of the following: execute test suite and capture results; capture activity that resulted in the fault; control and monitor the state of the system </a:t>
                      </a:r>
                      <a:endParaRPr lang="en-US" sz="1700">
                        <a:effectLst/>
                        <a:latin typeface="Times"/>
                        <a:ea typeface="Times New Roman"/>
                        <a:cs typeface="Times New Roman"/>
                      </a:endParaRPr>
                    </a:p>
                  </a:txBody>
                  <a:tcPr marL="58827" marR="58827" marT="0" marB="0">
                    <a:solidFill>
                      <a:schemeClr val="accent1">
                        <a:lumMod val="20000"/>
                        <a:lumOff val="80000"/>
                      </a:schemeClr>
                    </a:solidFill>
                  </a:tcPr>
                </a:tc>
                <a:extLst>
                  <a:ext uri="{0D108BD9-81ED-4DB2-BD59-A6C34878D82A}">
                    <a16:rowId xmlns:a16="http://schemas.microsoft.com/office/drawing/2014/main" val="10005"/>
                  </a:ext>
                </a:extLst>
              </a:tr>
              <a:tr h="1565412">
                <a:tc>
                  <a:txBody>
                    <a:bodyPr/>
                    <a:lstStyle/>
                    <a:p>
                      <a:pPr marL="0" marR="0">
                        <a:lnSpc>
                          <a:spcPct val="80000"/>
                        </a:lnSpc>
                        <a:spcBef>
                          <a:spcPts val="400"/>
                        </a:spcBef>
                        <a:spcAft>
                          <a:spcPts val="400"/>
                        </a:spcAft>
                      </a:pPr>
                      <a:r>
                        <a:rPr lang="en-US" sz="1700">
                          <a:solidFill>
                            <a:schemeClr val="tx1"/>
                          </a:solidFill>
                          <a:effectLst/>
                        </a:rPr>
                        <a:t>Response </a:t>
                      </a:r>
                      <a:br>
                        <a:rPr lang="en-US" sz="1700">
                          <a:solidFill>
                            <a:schemeClr val="tx1"/>
                          </a:solidFill>
                          <a:effectLst/>
                        </a:rPr>
                      </a:br>
                      <a:r>
                        <a:rPr lang="en-US" sz="1700">
                          <a:solidFill>
                            <a:schemeClr val="tx1"/>
                          </a:solidFill>
                          <a:effectLst/>
                        </a:rPr>
                        <a:t>Measure </a:t>
                      </a:r>
                      <a:endParaRPr lang="en-US" sz="1700">
                        <a:solidFill>
                          <a:schemeClr val="tx1"/>
                        </a:solidFill>
                        <a:effectLst/>
                        <a:latin typeface="Times"/>
                        <a:ea typeface="Times New Roman"/>
                        <a:cs typeface="Times New Roman"/>
                      </a:endParaRPr>
                    </a:p>
                  </a:txBody>
                  <a:tcPr marL="58827" marR="58827" marT="0" marB="0">
                    <a:solidFill>
                      <a:schemeClr val="accent1">
                        <a:lumMod val="20000"/>
                        <a:lumOff val="80000"/>
                      </a:schemeClr>
                    </a:solidFill>
                  </a:tcPr>
                </a:tc>
                <a:tc>
                  <a:txBody>
                    <a:bodyPr/>
                    <a:lstStyle/>
                    <a:p>
                      <a:pPr marL="0" marR="0">
                        <a:lnSpc>
                          <a:spcPct val="80000"/>
                        </a:lnSpc>
                        <a:spcBef>
                          <a:spcPts val="400"/>
                        </a:spcBef>
                        <a:spcAft>
                          <a:spcPts val="400"/>
                        </a:spcAft>
                      </a:pPr>
                      <a:r>
                        <a:rPr lang="en-US" sz="1700" dirty="0">
                          <a:effectLst/>
                        </a:rPr>
                        <a:t>One or more of the following:  effort to find a fault or class of faults, effort to achieve a given percentage of state space coverage; probability of fault being revealed by the next test; time to perform tests; effort to detect faults; length of longest dependency chain in test; length of time to prepare test environment; reduction in risk exposure (size(loss) * prob(loss))</a:t>
                      </a:r>
                    </a:p>
                  </a:txBody>
                  <a:tcPr marL="58827" marR="58827" marT="0" marB="0">
                    <a:solidFill>
                      <a:schemeClr val="accent1">
                        <a:lumMod val="20000"/>
                        <a:lumOff val="80000"/>
                      </a:scheme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7055895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640080" y="325369"/>
            <a:ext cx="4368602" cy="1956841"/>
          </a:xfrm>
        </p:spPr>
        <p:txBody>
          <a:bodyPr anchor="b">
            <a:normAutofit/>
          </a:bodyPr>
          <a:lstStyle/>
          <a:p>
            <a:r>
              <a:rPr lang="en-US" sz="4200"/>
              <a:t>Sample Concrete Testability Scenario</a:t>
            </a:r>
          </a:p>
        </p:txBody>
      </p:sp>
      <p:sp>
        <p:nvSpPr>
          <p:cNvPr id="11"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640080" y="2872899"/>
            <a:ext cx="4243589" cy="3320668"/>
          </a:xfrm>
        </p:spPr>
        <p:txBody>
          <a:bodyPr>
            <a:normAutofit/>
          </a:bodyPr>
          <a:lstStyle/>
          <a:p>
            <a:pPr marL="0" indent="0" algn="just">
              <a:buNone/>
            </a:pPr>
            <a:r>
              <a:rPr lang="en-US" sz="2600" dirty="0"/>
              <a:t>The unit tester completes a code unit during development and performs a test sequence whose results are captured and that gives 85% path coverage within 3 hours of testing.</a:t>
            </a:r>
          </a:p>
        </p:txBody>
      </p:sp>
      <p:pic>
        <p:nvPicPr>
          <p:cNvPr id="5" name="Picture 4" descr="Person opening laptop">
            <a:extLst>
              <a:ext uri="{FF2B5EF4-FFF2-40B4-BE49-F238E27FC236}">
                <a16:creationId xmlns:a16="http://schemas.microsoft.com/office/drawing/2014/main" id="{94D2DFF5-FBC6-6D30-4DEE-7E65A9C34AB0}"/>
              </a:ext>
            </a:extLst>
          </p:cNvPr>
          <p:cNvPicPr>
            <a:picLocks noChangeAspect="1"/>
          </p:cNvPicPr>
          <p:nvPr/>
        </p:nvPicPr>
        <p:blipFill rotWithShape="1">
          <a:blip r:embed="rId2"/>
          <a:srcRect l="23085" r="9962" b="-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4" name="Slide Number Placeholder 3">
            <a:extLst>
              <a:ext uri="{FF2B5EF4-FFF2-40B4-BE49-F238E27FC236}">
                <a16:creationId xmlns:a16="http://schemas.microsoft.com/office/drawing/2014/main" id="{C0D4BCA5-A71F-2C4A-6F84-B7B9770FB6D9}"/>
              </a:ext>
            </a:extLst>
          </p:cNvPr>
          <p:cNvSpPr>
            <a:spLocks noGrp="1"/>
          </p:cNvSpPr>
          <p:nvPr>
            <p:ph type="sldNum" sz="quarter" idx="12"/>
          </p:nvPr>
        </p:nvSpPr>
        <p:spPr/>
        <p:txBody>
          <a:bodyPr/>
          <a:lstStyle/>
          <a:p>
            <a:fld id="{7DF6DEEC-D04A-4FF0-9A08-7D39859C24F4}" type="slidenum">
              <a:rPr lang="en-US" smtClean="0"/>
              <a:t>65</a:t>
            </a:fld>
            <a:endParaRPr lang="en-US"/>
          </a:p>
        </p:txBody>
      </p:sp>
    </p:spTree>
    <p:extLst>
      <p:ext uri="{BB962C8B-B14F-4D97-AF65-F5344CB8AC3E}">
        <p14:creationId xmlns:p14="http://schemas.microsoft.com/office/powerpoint/2010/main" val="37567568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90338" y="640080"/>
            <a:ext cx="3734014" cy="3566160"/>
          </a:xfrm>
        </p:spPr>
        <p:txBody>
          <a:bodyPr vert="horz" lIns="91440" tIns="45720" rIns="91440" bIns="45720" rtlCol="0" anchor="b">
            <a:normAutofit/>
          </a:bodyPr>
          <a:lstStyle/>
          <a:p>
            <a:r>
              <a:rPr lang="en-US" sz="5400"/>
              <a:t>Usability</a:t>
            </a:r>
          </a:p>
        </p:txBody>
      </p:sp>
      <p:sp>
        <p:nvSpPr>
          <p:cNvPr id="10"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0338" y="4409267"/>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Picture 3" descr="3D Hologram from iPad">
            <a:extLst>
              <a:ext uri="{FF2B5EF4-FFF2-40B4-BE49-F238E27FC236}">
                <a16:creationId xmlns:a16="http://schemas.microsoft.com/office/drawing/2014/main" id="{A2C8B697-1EA6-55D8-5AD3-242D486A2D13}"/>
              </a:ext>
            </a:extLst>
          </p:cNvPr>
          <p:cNvPicPr>
            <a:picLocks noChangeAspect="1"/>
          </p:cNvPicPr>
          <p:nvPr/>
        </p:nvPicPr>
        <p:blipFill rotWithShape="1">
          <a:blip r:embed="rId2"/>
          <a:srcRect l="7871" r="25176" b="-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3" name="Slide Number Placeholder 2">
            <a:extLst>
              <a:ext uri="{FF2B5EF4-FFF2-40B4-BE49-F238E27FC236}">
                <a16:creationId xmlns:a16="http://schemas.microsoft.com/office/drawing/2014/main" id="{712524A4-CDF5-CA1F-1859-7A6B1F64B851}"/>
              </a:ext>
            </a:extLst>
          </p:cNvPr>
          <p:cNvSpPr>
            <a:spLocks noGrp="1"/>
          </p:cNvSpPr>
          <p:nvPr>
            <p:ph type="sldNum" sz="quarter" idx="12"/>
          </p:nvPr>
        </p:nvSpPr>
        <p:spPr/>
        <p:txBody>
          <a:bodyPr/>
          <a:lstStyle/>
          <a:p>
            <a:fld id="{7DF6DEEC-D04A-4FF0-9A08-7D39859C24F4}" type="slidenum">
              <a:rPr lang="en-US" smtClean="0"/>
              <a:t>66</a:t>
            </a:fld>
            <a:endParaRPr lang="en-US"/>
          </a:p>
        </p:txBody>
      </p:sp>
    </p:spTree>
    <p:extLst>
      <p:ext uri="{BB962C8B-B14F-4D97-AF65-F5344CB8AC3E}">
        <p14:creationId xmlns:p14="http://schemas.microsoft.com/office/powerpoint/2010/main" val="27132469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C8908E2-EE49-44D2-9428-A28D2312A8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1" name="Group 10">
            <a:extLst>
              <a:ext uri="{FF2B5EF4-FFF2-40B4-BE49-F238E27FC236}">
                <a16:creationId xmlns:a16="http://schemas.microsoft.com/office/drawing/2014/main" id="{05314994-6337-4875-8CF5-652CAFE834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
            <a:ext cx="12191999" cy="4267200"/>
            <a:chOff x="7467600" y="0"/>
            <a:chExt cx="4724400" cy="6858000"/>
          </a:xfrm>
        </p:grpSpPr>
        <p:sp>
          <p:nvSpPr>
            <p:cNvPr id="12" name="Rectangle 11">
              <a:extLst>
                <a:ext uri="{FF2B5EF4-FFF2-40B4-BE49-F238E27FC236}">
                  <a16:creationId xmlns:a16="http://schemas.microsoft.com/office/drawing/2014/main" id="{B3A2D4D6-D501-439A-9FC6-397879C465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5CD20BAA-1998-4EBB-AD61-13A92072EC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7600" y="0"/>
              <a:ext cx="4724400" cy="6858000"/>
            </a:xfrm>
            <a:prstGeom prst="rect">
              <a:avLst/>
            </a:prstGeom>
            <a:solidFill>
              <a:schemeClr val="accent6">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15" name="Freeform: Shape 14">
            <a:extLst>
              <a:ext uri="{FF2B5EF4-FFF2-40B4-BE49-F238E27FC236}">
                <a16:creationId xmlns:a16="http://schemas.microsoft.com/office/drawing/2014/main" id="{7449A6C7-D15F-4AA5-BFA5-71A404B470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267200"/>
          </a:xfrm>
          <a:custGeom>
            <a:avLst/>
            <a:gdLst>
              <a:gd name="connsiteX0" fmla="*/ 2537169 w 12192000"/>
              <a:gd name="connsiteY0" fmla="*/ 4125568 h 4267200"/>
              <a:gd name="connsiteX1" fmla="*/ 3246267 w 12192000"/>
              <a:gd name="connsiteY1" fmla="*/ 4262961 h 4267200"/>
              <a:gd name="connsiteX2" fmla="*/ 3253970 w 12192000"/>
              <a:gd name="connsiteY2" fmla="*/ 4267200 h 4267200"/>
              <a:gd name="connsiteX3" fmla="*/ 3071791 w 12192000"/>
              <a:gd name="connsiteY3" fmla="*/ 4267200 h 4267200"/>
              <a:gd name="connsiteX4" fmla="*/ 2975095 w 12192000"/>
              <a:gd name="connsiteY4" fmla="*/ 4243356 h 4267200"/>
              <a:gd name="connsiteX5" fmla="*/ 2626982 w 12192000"/>
              <a:gd name="connsiteY5" fmla="*/ 4206450 h 4267200"/>
              <a:gd name="connsiteX6" fmla="*/ 2490617 w 12192000"/>
              <a:gd name="connsiteY6" fmla="*/ 4206951 h 4267200"/>
              <a:gd name="connsiteX7" fmla="*/ 2819869 w 12192000"/>
              <a:gd name="connsiteY7" fmla="*/ 4252936 h 4267200"/>
              <a:gd name="connsiteX8" fmla="*/ 2900997 w 12192000"/>
              <a:gd name="connsiteY8" fmla="*/ 4267200 h 4267200"/>
              <a:gd name="connsiteX9" fmla="*/ 2705858 w 12192000"/>
              <a:gd name="connsiteY9" fmla="*/ 4267200 h 4267200"/>
              <a:gd name="connsiteX10" fmla="*/ 2561467 w 12192000"/>
              <a:gd name="connsiteY10" fmla="*/ 4246270 h 4267200"/>
              <a:gd name="connsiteX11" fmla="*/ 2305292 w 12192000"/>
              <a:gd name="connsiteY11" fmla="*/ 4219492 h 4267200"/>
              <a:gd name="connsiteX12" fmla="*/ 2409349 w 12192000"/>
              <a:gd name="connsiteY12" fmla="*/ 4267200 h 4267200"/>
              <a:gd name="connsiteX13" fmla="*/ 2266705 w 12192000"/>
              <a:gd name="connsiteY13" fmla="*/ 4267200 h 4267200"/>
              <a:gd name="connsiteX14" fmla="*/ 2183576 w 12192000"/>
              <a:gd name="connsiteY14" fmla="*/ 4227150 h 4267200"/>
              <a:gd name="connsiteX15" fmla="*/ 2151029 w 12192000"/>
              <a:gd name="connsiteY15" fmla="*/ 4146947 h 4267200"/>
              <a:gd name="connsiteX16" fmla="*/ 2537169 w 12192000"/>
              <a:gd name="connsiteY16" fmla="*/ 4125568 h 4267200"/>
              <a:gd name="connsiteX17" fmla="*/ 9258094 w 12192000"/>
              <a:gd name="connsiteY17" fmla="*/ 3958602 h 4267200"/>
              <a:gd name="connsiteX18" fmla="*/ 8526712 w 12192000"/>
              <a:gd name="connsiteY18" fmla="*/ 4119804 h 4267200"/>
              <a:gd name="connsiteX19" fmla="*/ 9258094 w 12192000"/>
              <a:gd name="connsiteY19" fmla="*/ 3958602 h 4267200"/>
              <a:gd name="connsiteX20" fmla="*/ 9168987 w 12192000"/>
              <a:gd name="connsiteY20" fmla="*/ 3919232 h 4267200"/>
              <a:gd name="connsiteX21" fmla="*/ 8603910 w 12192000"/>
              <a:gd name="connsiteY21" fmla="*/ 4068895 h 4267200"/>
              <a:gd name="connsiteX22" fmla="*/ 9252382 w 12192000"/>
              <a:gd name="connsiteY22" fmla="*/ 3927759 h 4267200"/>
              <a:gd name="connsiteX23" fmla="*/ 9168987 w 12192000"/>
              <a:gd name="connsiteY23" fmla="*/ 3919232 h 4267200"/>
              <a:gd name="connsiteX24" fmla="*/ 1635889 w 12192000"/>
              <a:gd name="connsiteY24" fmla="*/ 3709494 h 4267200"/>
              <a:gd name="connsiteX25" fmla="*/ 1634800 w 12192000"/>
              <a:gd name="connsiteY25" fmla="*/ 3731111 h 4267200"/>
              <a:gd name="connsiteX26" fmla="*/ 1635889 w 12192000"/>
              <a:gd name="connsiteY26" fmla="*/ 3709494 h 4267200"/>
              <a:gd name="connsiteX27" fmla="*/ 3174829 w 12192000"/>
              <a:gd name="connsiteY27" fmla="*/ 3620110 h 4267200"/>
              <a:gd name="connsiteX28" fmla="*/ 3189263 w 12192000"/>
              <a:gd name="connsiteY28" fmla="*/ 3625726 h 4267200"/>
              <a:gd name="connsiteX29" fmla="*/ 3560912 w 12192000"/>
              <a:gd name="connsiteY29" fmla="*/ 4079863 h 4267200"/>
              <a:gd name="connsiteX30" fmla="*/ 3611854 w 12192000"/>
              <a:gd name="connsiteY30" fmla="*/ 4188366 h 4267200"/>
              <a:gd name="connsiteX31" fmla="*/ 3631583 w 12192000"/>
              <a:gd name="connsiteY31" fmla="*/ 4267200 h 4267200"/>
              <a:gd name="connsiteX32" fmla="*/ 3575699 w 12192000"/>
              <a:gd name="connsiteY32" fmla="*/ 4267200 h 4267200"/>
              <a:gd name="connsiteX33" fmla="*/ 3575567 w 12192000"/>
              <a:gd name="connsiteY33" fmla="*/ 4263588 h 4267200"/>
              <a:gd name="connsiteX34" fmla="*/ 3467355 w 12192000"/>
              <a:gd name="connsiteY34" fmla="*/ 3988130 h 4267200"/>
              <a:gd name="connsiteX35" fmla="*/ 3310753 w 12192000"/>
              <a:gd name="connsiteY35" fmla="*/ 3787140 h 4267200"/>
              <a:gd name="connsiteX36" fmla="*/ 3291335 w 12192000"/>
              <a:gd name="connsiteY36" fmla="*/ 3767420 h 4267200"/>
              <a:gd name="connsiteX37" fmla="*/ 3390805 w 12192000"/>
              <a:gd name="connsiteY37" fmla="*/ 3937163 h 4267200"/>
              <a:gd name="connsiteX38" fmla="*/ 3545740 w 12192000"/>
              <a:gd name="connsiteY38" fmla="*/ 4251102 h 4267200"/>
              <a:gd name="connsiteX39" fmla="*/ 3550709 w 12192000"/>
              <a:gd name="connsiteY39" fmla="*/ 4267200 h 4267200"/>
              <a:gd name="connsiteX40" fmla="*/ 3513586 w 12192000"/>
              <a:gd name="connsiteY40" fmla="*/ 4267200 h 4267200"/>
              <a:gd name="connsiteX41" fmla="*/ 3470728 w 12192000"/>
              <a:gd name="connsiteY41" fmla="*/ 4152456 h 4267200"/>
              <a:gd name="connsiteX42" fmla="*/ 3364433 w 12192000"/>
              <a:gd name="connsiteY42" fmla="*/ 3953121 h 4267200"/>
              <a:gd name="connsiteX43" fmla="*/ 3316479 w 12192000"/>
              <a:gd name="connsiteY43" fmla="*/ 3872136 h 4267200"/>
              <a:gd name="connsiteX44" fmla="*/ 3504482 w 12192000"/>
              <a:gd name="connsiteY44" fmla="*/ 4267200 h 4267200"/>
              <a:gd name="connsiteX45" fmla="*/ 3467547 w 12192000"/>
              <a:gd name="connsiteY45" fmla="*/ 4267200 h 4267200"/>
              <a:gd name="connsiteX46" fmla="*/ 3177952 w 12192000"/>
              <a:gd name="connsiteY46" fmla="*/ 3657386 h 4267200"/>
              <a:gd name="connsiteX47" fmla="*/ 3174829 w 12192000"/>
              <a:gd name="connsiteY47" fmla="*/ 3620110 h 4267200"/>
              <a:gd name="connsiteX48" fmla="*/ 11279315 w 12192000"/>
              <a:gd name="connsiteY48" fmla="*/ 3618448 h 4267200"/>
              <a:gd name="connsiteX49" fmla="*/ 11317765 w 12192000"/>
              <a:gd name="connsiteY49" fmla="*/ 3638405 h 4267200"/>
              <a:gd name="connsiteX50" fmla="*/ 11304886 w 12192000"/>
              <a:gd name="connsiteY50" fmla="*/ 4200582 h 4267200"/>
              <a:gd name="connsiteX51" fmla="*/ 11298904 w 12192000"/>
              <a:gd name="connsiteY51" fmla="*/ 4267200 h 4267200"/>
              <a:gd name="connsiteX52" fmla="*/ 11213088 w 12192000"/>
              <a:gd name="connsiteY52" fmla="*/ 4267200 h 4267200"/>
              <a:gd name="connsiteX53" fmla="*/ 11219157 w 12192000"/>
              <a:gd name="connsiteY53" fmla="*/ 4210725 h 4267200"/>
              <a:gd name="connsiteX54" fmla="*/ 11225213 w 12192000"/>
              <a:gd name="connsiteY54" fmla="*/ 3936722 h 4267200"/>
              <a:gd name="connsiteX55" fmla="*/ 11182914 w 12192000"/>
              <a:gd name="connsiteY55" fmla="*/ 4196771 h 4267200"/>
              <a:gd name="connsiteX56" fmla="*/ 11172266 w 12192000"/>
              <a:gd name="connsiteY56" fmla="*/ 4267200 h 4267200"/>
              <a:gd name="connsiteX57" fmla="*/ 11140975 w 12192000"/>
              <a:gd name="connsiteY57" fmla="*/ 4267200 h 4267200"/>
              <a:gd name="connsiteX58" fmla="*/ 11152239 w 12192000"/>
              <a:gd name="connsiteY58" fmla="*/ 4192628 h 4267200"/>
              <a:gd name="connsiteX59" fmla="*/ 11201005 w 12192000"/>
              <a:gd name="connsiteY59" fmla="*/ 3900089 h 4267200"/>
              <a:gd name="connsiteX60" fmla="*/ 11105754 w 12192000"/>
              <a:gd name="connsiteY60" fmla="*/ 4139192 h 4267200"/>
              <a:gd name="connsiteX61" fmla="*/ 11065821 w 12192000"/>
              <a:gd name="connsiteY61" fmla="*/ 4267200 h 4267200"/>
              <a:gd name="connsiteX62" fmla="*/ 10978133 w 12192000"/>
              <a:gd name="connsiteY62" fmla="*/ 4267200 h 4267200"/>
              <a:gd name="connsiteX63" fmla="*/ 11088889 w 12192000"/>
              <a:gd name="connsiteY63" fmla="*/ 3963916 h 4267200"/>
              <a:gd name="connsiteX64" fmla="*/ 11231212 w 12192000"/>
              <a:gd name="connsiteY64" fmla="*/ 3645474 h 4267200"/>
              <a:gd name="connsiteX65" fmla="*/ 11279315 w 12192000"/>
              <a:gd name="connsiteY65" fmla="*/ 3618448 h 4267200"/>
              <a:gd name="connsiteX66" fmla="*/ 10296877 w 12192000"/>
              <a:gd name="connsiteY66" fmla="*/ 3526602 h 4267200"/>
              <a:gd name="connsiteX67" fmla="*/ 10314210 w 12192000"/>
              <a:gd name="connsiteY67" fmla="*/ 3538353 h 4267200"/>
              <a:gd name="connsiteX68" fmla="*/ 10450858 w 12192000"/>
              <a:gd name="connsiteY68" fmla="*/ 3902477 h 4267200"/>
              <a:gd name="connsiteX69" fmla="*/ 10572255 w 12192000"/>
              <a:gd name="connsiteY69" fmla="*/ 4267200 h 4267200"/>
              <a:gd name="connsiteX70" fmla="*/ 10477642 w 12192000"/>
              <a:gd name="connsiteY70" fmla="*/ 4267200 h 4267200"/>
              <a:gd name="connsiteX71" fmla="*/ 10436479 w 12192000"/>
              <a:gd name="connsiteY71" fmla="*/ 4144570 h 4267200"/>
              <a:gd name="connsiteX72" fmla="*/ 10277529 w 12192000"/>
              <a:gd name="connsiteY72" fmla="*/ 3701307 h 4267200"/>
              <a:gd name="connsiteX73" fmla="*/ 10276797 w 12192000"/>
              <a:gd name="connsiteY73" fmla="*/ 3708672 h 4267200"/>
              <a:gd name="connsiteX74" fmla="*/ 10385906 w 12192000"/>
              <a:gd name="connsiteY74" fmla="*/ 4147031 h 4267200"/>
              <a:gd name="connsiteX75" fmla="*/ 10431445 w 12192000"/>
              <a:gd name="connsiteY75" fmla="*/ 4267200 h 4267200"/>
              <a:gd name="connsiteX76" fmla="*/ 10398237 w 12192000"/>
              <a:gd name="connsiteY76" fmla="*/ 4267200 h 4267200"/>
              <a:gd name="connsiteX77" fmla="*/ 10356661 w 12192000"/>
              <a:gd name="connsiteY77" fmla="*/ 4157302 h 4267200"/>
              <a:gd name="connsiteX78" fmla="*/ 10268559 w 12192000"/>
              <a:gd name="connsiteY78" fmla="*/ 3871054 h 4267200"/>
              <a:gd name="connsiteX79" fmla="*/ 10340065 w 12192000"/>
              <a:gd name="connsiteY79" fmla="*/ 4201637 h 4267200"/>
              <a:gd name="connsiteX80" fmla="*/ 10368861 w 12192000"/>
              <a:gd name="connsiteY80" fmla="*/ 4267200 h 4267200"/>
              <a:gd name="connsiteX81" fmla="*/ 10267862 w 12192000"/>
              <a:gd name="connsiteY81" fmla="*/ 4267200 h 4267200"/>
              <a:gd name="connsiteX82" fmla="*/ 10236210 w 12192000"/>
              <a:gd name="connsiteY82" fmla="*/ 4185635 h 4267200"/>
              <a:gd name="connsiteX83" fmla="*/ 10225980 w 12192000"/>
              <a:gd name="connsiteY83" fmla="*/ 3561061 h 4267200"/>
              <a:gd name="connsiteX84" fmla="*/ 10296877 w 12192000"/>
              <a:gd name="connsiteY84" fmla="*/ 3526602 h 4267200"/>
              <a:gd name="connsiteX85" fmla="*/ 3429186 w 12192000"/>
              <a:gd name="connsiteY85" fmla="*/ 3458784 h 4267200"/>
              <a:gd name="connsiteX86" fmla="*/ 3446761 w 12192000"/>
              <a:gd name="connsiteY86" fmla="*/ 3461278 h 4267200"/>
              <a:gd name="connsiteX87" fmla="*/ 4419733 w 12192000"/>
              <a:gd name="connsiteY87" fmla="*/ 3963555 h 4267200"/>
              <a:gd name="connsiteX88" fmla="*/ 4659448 w 12192000"/>
              <a:gd name="connsiteY88" fmla="*/ 4172746 h 4267200"/>
              <a:gd name="connsiteX89" fmla="*/ 4719140 w 12192000"/>
              <a:gd name="connsiteY89" fmla="*/ 4267200 h 4267200"/>
              <a:gd name="connsiteX90" fmla="*/ 4641222 w 12192000"/>
              <a:gd name="connsiteY90" fmla="*/ 4267200 h 4267200"/>
              <a:gd name="connsiteX91" fmla="*/ 4599968 w 12192000"/>
              <a:gd name="connsiteY91" fmla="*/ 4207074 h 4267200"/>
              <a:gd name="connsiteX92" fmla="*/ 4136093 w 12192000"/>
              <a:gd name="connsiteY92" fmla="*/ 3858466 h 4267200"/>
              <a:gd name="connsiteX93" fmla="*/ 3670252 w 12192000"/>
              <a:gd name="connsiteY93" fmla="*/ 3622798 h 4267200"/>
              <a:gd name="connsiteX94" fmla="*/ 3817258 w 12192000"/>
              <a:gd name="connsiteY94" fmla="*/ 3723577 h 4267200"/>
              <a:gd name="connsiteX95" fmla="*/ 4000461 w 12192000"/>
              <a:gd name="connsiteY95" fmla="*/ 3855966 h 4267200"/>
              <a:gd name="connsiteX96" fmla="*/ 4088180 w 12192000"/>
              <a:gd name="connsiteY96" fmla="*/ 3929774 h 4267200"/>
              <a:gd name="connsiteX97" fmla="*/ 4184555 w 12192000"/>
              <a:gd name="connsiteY97" fmla="*/ 4010683 h 4267200"/>
              <a:gd name="connsiteX98" fmla="*/ 4399563 w 12192000"/>
              <a:gd name="connsiteY98" fmla="*/ 4158106 h 4267200"/>
              <a:gd name="connsiteX99" fmla="*/ 4546299 w 12192000"/>
              <a:gd name="connsiteY99" fmla="*/ 4254934 h 4267200"/>
              <a:gd name="connsiteX100" fmla="*/ 4561743 w 12192000"/>
              <a:gd name="connsiteY100" fmla="*/ 4267200 h 4267200"/>
              <a:gd name="connsiteX101" fmla="*/ 4509274 w 12192000"/>
              <a:gd name="connsiteY101" fmla="*/ 4267200 h 4267200"/>
              <a:gd name="connsiteX102" fmla="*/ 4383389 w 12192000"/>
              <a:gd name="connsiteY102" fmla="*/ 4184369 h 4267200"/>
              <a:gd name="connsiteX103" fmla="*/ 4165508 w 12192000"/>
              <a:gd name="connsiteY103" fmla="*/ 4035196 h 4267200"/>
              <a:gd name="connsiteX104" fmla="*/ 4068162 w 12192000"/>
              <a:gd name="connsiteY104" fmla="*/ 3953394 h 4267200"/>
              <a:gd name="connsiteX105" fmla="*/ 3981416 w 12192000"/>
              <a:gd name="connsiteY105" fmla="*/ 3880482 h 4267200"/>
              <a:gd name="connsiteX106" fmla="*/ 3800147 w 12192000"/>
              <a:gd name="connsiteY106" fmla="*/ 3749872 h 4267200"/>
              <a:gd name="connsiteX107" fmla="*/ 3655073 w 12192000"/>
              <a:gd name="connsiteY107" fmla="*/ 3650884 h 4267200"/>
              <a:gd name="connsiteX108" fmla="*/ 3989938 w 12192000"/>
              <a:gd name="connsiteY108" fmla="*/ 3991685 h 4267200"/>
              <a:gd name="connsiteX109" fmla="*/ 4393907 w 12192000"/>
              <a:gd name="connsiteY109" fmla="*/ 4261258 h 4267200"/>
              <a:gd name="connsiteX110" fmla="*/ 4408201 w 12192000"/>
              <a:gd name="connsiteY110" fmla="*/ 4267200 h 4267200"/>
              <a:gd name="connsiteX111" fmla="*/ 4250346 w 12192000"/>
              <a:gd name="connsiteY111" fmla="*/ 4267200 h 4267200"/>
              <a:gd name="connsiteX112" fmla="*/ 4245269 w 12192000"/>
              <a:gd name="connsiteY112" fmla="*/ 4265040 h 4267200"/>
              <a:gd name="connsiteX113" fmla="*/ 4036318 w 12192000"/>
              <a:gd name="connsiteY113" fmla="*/ 4147013 h 4267200"/>
              <a:gd name="connsiteX114" fmla="*/ 3432098 w 12192000"/>
              <a:gd name="connsiteY114" fmla="*/ 3537312 h 4267200"/>
              <a:gd name="connsiteX115" fmla="*/ 3429186 w 12192000"/>
              <a:gd name="connsiteY115" fmla="*/ 3458784 h 4267200"/>
              <a:gd name="connsiteX116" fmla="*/ 9334796 w 12192000"/>
              <a:gd name="connsiteY116" fmla="*/ 3456584 h 4267200"/>
              <a:gd name="connsiteX117" fmla="*/ 9651570 w 12192000"/>
              <a:gd name="connsiteY117" fmla="*/ 3826505 h 4267200"/>
              <a:gd name="connsiteX118" fmla="*/ 9334796 w 12192000"/>
              <a:gd name="connsiteY118" fmla="*/ 3456584 h 4267200"/>
              <a:gd name="connsiteX119" fmla="*/ 4440129 w 12192000"/>
              <a:gd name="connsiteY119" fmla="*/ 3448571 h 4267200"/>
              <a:gd name="connsiteX120" fmla="*/ 4856525 w 12192000"/>
              <a:gd name="connsiteY120" fmla="*/ 3915351 h 4267200"/>
              <a:gd name="connsiteX121" fmla="*/ 5059055 w 12192000"/>
              <a:gd name="connsiteY121" fmla="*/ 4108918 h 4267200"/>
              <a:gd name="connsiteX122" fmla="*/ 5290070 w 12192000"/>
              <a:gd name="connsiteY122" fmla="*/ 4263619 h 4267200"/>
              <a:gd name="connsiteX123" fmla="*/ 4834991 w 12192000"/>
              <a:gd name="connsiteY123" fmla="*/ 3830985 h 4267200"/>
              <a:gd name="connsiteX124" fmla="*/ 4440129 w 12192000"/>
              <a:gd name="connsiteY124" fmla="*/ 3448571 h 4267200"/>
              <a:gd name="connsiteX125" fmla="*/ 5425834 w 12192000"/>
              <a:gd name="connsiteY125" fmla="*/ 3162785 h 4267200"/>
              <a:gd name="connsiteX126" fmla="*/ 5401644 w 12192000"/>
              <a:gd name="connsiteY126" fmla="*/ 3617847 h 4267200"/>
              <a:gd name="connsiteX127" fmla="*/ 5467256 w 12192000"/>
              <a:gd name="connsiteY127" fmla="*/ 4175494 h 4267200"/>
              <a:gd name="connsiteX128" fmla="*/ 5448069 w 12192000"/>
              <a:gd name="connsiteY128" fmla="*/ 3567554 h 4267200"/>
              <a:gd name="connsiteX129" fmla="*/ 1318687 w 12192000"/>
              <a:gd name="connsiteY129" fmla="*/ 3113840 h 4267200"/>
              <a:gd name="connsiteX130" fmla="*/ 1066793 w 12192000"/>
              <a:gd name="connsiteY130" fmla="*/ 3212171 h 4267200"/>
              <a:gd name="connsiteX131" fmla="*/ 993319 w 12192000"/>
              <a:gd name="connsiteY131" fmla="*/ 3247648 h 4267200"/>
              <a:gd name="connsiteX132" fmla="*/ 853081 w 12192000"/>
              <a:gd name="connsiteY132" fmla="*/ 3312410 h 4267200"/>
              <a:gd name="connsiteX133" fmla="*/ 805957 w 12192000"/>
              <a:gd name="connsiteY133" fmla="*/ 3330443 h 4267200"/>
              <a:gd name="connsiteX134" fmla="*/ 1318687 w 12192000"/>
              <a:gd name="connsiteY134" fmla="*/ 3113840 h 4267200"/>
              <a:gd name="connsiteX135" fmla="*/ 5453702 w 12192000"/>
              <a:gd name="connsiteY135" fmla="*/ 3090882 h 4267200"/>
              <a:gd name="connsiteX136" fmla="*/ 5480135 w 12192000"/>
              <a:gd name="connsiteY136" fmla="*/ 3565802 h 4267200"/>
              <a:gd name="connsiteX137" fmla="*/ 5499023 w 12192000"/>
              <a:gd name="connsiteY137" fmla="*/ 4166310 h 4267200"/>
              <a:gd name="connsiteX138" fmla="*/ 5547022 w 12192000"/>
              <a:gd name="connsiteY138" fmla="*/ 3607838 h 4267200"/>
              <a:gd name="connsiteX139" fmla="*/ 5515964 w 12192000"/>
              <a:gd name="connsiteY139" fmla="*/ 3378541 h 4267200"/>
              <a:gd name="connsiteX140" fmla="*/ 5453702 w 12192000"/>
              <a:gd name="connsiteY140" fmla="*/ 3090882 h 4267200"/>
              <a:gd name="connsiteX141" fmla="*/ 9790480 w 12192000"/>
              <a:gd name="connsiteY141" fmla="*/ 3078533 h 4267200"/>
              <a:gd name="connsiteX142" fmla="*/ 9763295 w 12192000"/>
              <a:gd name="connsiteY142" fmla="*/ 3245370 h 4267200"/>
              <a:gd name="connsiteX143" fmla="*/ 9736458 w 12192000"/>
              <a:gd name="connsiteY143" fmla="*/ 3758413 h 4267200"/>
              <a:gd name="connsiteX144" fmla="*/ 9763499 w 12192000"/>
              <a:gd name="connsiteY144" fmla="*/ 3528057 h 4267200"/>
              <a:gd name="connsiteX145" fmla="*/ 9793906 w 12192000"/>
              <a:gd name="connsiteY145" fmla="*/ 3231157 h 4267200"/>
              <a:gd name="connsiteX146" fmla="*/ 9791874 w 12192000"/>
              <a:gd name="connsiteY146" fmla="*/ 3142788 h 4267200"/>
              <a:gd name="connsiteX147" fmla="*/ 9790480 w 12192000"/>
              <a:gd name="connsiteY147" fmla="*/ 3078533 h 4267200"/>
              <a:gd name="connsiteX148" fmla="*/ 1238695 w 12192000"/>
              <a:gd name="connsiteY148" fmla="*/ 3076820 h 4267200"/>
              <a:gd name="connsiteX149" fmla="*/ 716371 w 12192000"/>
              <a:gd name="connsiteY149" fmla="*/ 3293249 h 4267200"/>
              <a:gd name="connsiteX150" fmla="*/ 579522 w 12192000"/>
              <a:gd name="connsiteY150" fmla="*/ 3371759 h 4267200"/>
              <a:gd name="connsiteX151" fmla="*/ 600288 w 12192000"/>
              <a:gd name="connsiteY151" fmla="*/ 3365555 h 4267200"/>
              <a:gd name="connsiteX152" fmla="*/ 840692 w 12192000"/>
              <a:gd name="connsiteY152" fmla="*/ 3284921 h 4267200"/>
              <a:gd name="connsiteX153" fmla="*/ 979248 w 12192000"/>
              <a:gd name="connsiteY153" fmla="*/ 3221003 h 4267200"/>
              <a:gd name="connsiteX154" fmla="*/ 1053282 w 12192000"/>
              <a:gd name="connsiteY154" fmla="*/ 3185247 h 4267200"/>
              <a:gd name="connsiteX155" fmla="*/ 1320603 w 12192000"/>
              <a:gd name="connsiteY155" fmla="*/ 3081281 h 4267200"/>
              <a:gd name="connsiteX156" fmla="*/ 1238695 w 12192000"/>
              <a:gd name="connsiteY156" fmla="*/ 3076820 h 4267200"/>
              <a:gd name="connsiteX157" fmla="*/ 5425627 w 12192000"/>
              <a:gd name="connsiteY157" fmla="*/ 2954192 h 4267200"/>
              <a:gd name="connsiteX158" fmla="*/ 5470770 w 12192000"/>
              <a:gd name="connsiteY158" fmla="*/ 3005435 h 4267200"/>
              <a:gd name="connsiteX159" fmla="*/ 5567647 w 12192000"/>
              <a:gd name="connsiteY159" fmla="*/ 4190286 h 4267200"/>
              <a:gd name="connsiteX160" fmla="*/ 5545854 w 12192000"/>
              <a:gd name="connsiteY160" fmla="*/ 4267200 h 4267200"/>
              <a:gd name="connsiteX161" fmla="*/ 5391871 w 12192000"/>
              <a:gd name="connsiteY161" fmla="*/ 4267200 h 4267200"/>
              <a:gd name="connsiteX162" fmla="*/ 5318171 w 12192000"/>
              <a:gd name="connsiteY162" fmla="*/ 4175818 h 4267200"/>
              <a:gd name="connsiteX163" fmla="*/ 4943646 w 12192000"/>
              <a:gd name="connsiteY163" fmla="*/ 3822916 h 4267200"/>
              <a:gd name="connsiteX164" fmla="*/ 4594837 w 12192000"/>
              <a:gd name="connsiteY164" fmla="*/ 3532274 h 4267200"/>
              <a:gd name="connsiteX165" fmla="*/ 4441737 w 12192000"/>
              <a:gd name="connsiteY165" fmla="*/ 3399734 h 4267200"/>
              <a:gd name="connsiteX166" fmla="*/ 4431236 w 12192000"/>
              <a:gd name="connsiteY166" fmla="*/ 3400954 h 4267200"/>
              <a:gd name="connsiteX167" fmla="*/ 4557150 w 12192000"/>
              <a:gd name="connsiteY167" fmla="*/ 3510023 h 4267200"/>
              <a:gd name="connsiteX168" fmla="*/ 4856936 w 12192000"/>
              <a:gd name="connsiteY168" fmla="*/ 3809146 h 4267200"/>
              <a:gd name="connsiteX169" fmla="*/ 5111996 w 12192000"/>
              <a:gd name="connsiteY169" fmla="*/ 4065759 h 4267200"/>
              <a:gd name="connsiteX170" fmla="*/ 5246890 w 12192000"/>
              <a:gd name="connsiteY170" fmla="*/ 4187633 h 4267200"/>
              <a:gd name="connsiteX171" fmla="*/ 5347266 w 12192000"/>
              <a:gd name="connsiteY171" fmla="*/ 4267200 h 4267200"/>
              <a:gd name="connsiteX172" fmla="*/ 5164092 w 12192000"/>
              <a:gd name="connsiteY172" fmla="*/ 4267200 h 4267200"/>
              <a:gd name="connsiteX173" fmla="*/ 5108945 w 12192000"/>
              <a:gd name="connsiteY173" fmla="*/ 4232176 h 4267200"/>
              <a:gd name="connsiteX174" fmla="*/ 4294126 w 12192000"/>
              <a:gd name="connsiteY174" fmla="*/ 3303048 h 4267200"/>
              <a:gd name="connsiteX175" fmla="*/ 4305321 w 12192000"/>
              <a:gd name="connsiteY175" fmla="*/ 3256953 h 4267200"/>
              <a:gd name="connsiteX176" fmla="*/ 4949299 w 12192000"/>
              <a:gd name="connsiteY176" fmla="*/ 3766336 h 4267200"/>
              <a:gd name="connsiteX177" fmla="*/ 5291452 w 12192000"/>
              <a:gd name="connsiteY177" fmla="*/ 4076801 h 4267200"/>
              <a:gd name="connsiteX178" fmla="*/ 5434998 w 12192000"/>
              <a:gd name="connsiteY178" fmla="*/ 4254100 h 4267200"/>
              <a:gd name="connsiteX179" fmla="*/ 5351015 w 12192000"/>
              <a:gd name="connsiteY179" fmla="*/ 3760989 h 4267200"/>
              <a:gd name="connsiteX180" fmla="*/ 5413780 w 12192000"/>
              <a:gd name="connsiteY180" fmla="*/ 2966265 h 4267200"/>
              <a:gd name="connsiteX181" fmla="*/ 5425627 w 12192000"/>
              <a:gd name="connsiteY181" fmla="*/ 2954192 h 4267200"/>
              <a:gd name="connsiteX182" fmla="*/ 8380397 w 12192000"/>
              <a:gd name="connsiteY182" fmla="*/ 2896659 h 4267200"/>
              <a:gd name="connsiteX183" fmla="*/ 8634801 w 12192000"/>
              <a:gd name="connsiteY183" fmla="*/ 3304169 h 4267200"/>
              <a:gd name="connsiteX184" fmla="*/ 8971448 w 12192000"/>
              <a:gd name="connsiteY184" fmla="*/ 3675946 h 4267200"/>
              <a:gd name="connsiteX185" fmla="*/ 8820691 w 12192000"/>
              <a:gd name="connsiteY185" fmla="*/ 3486482 h 4267200"/>
              <a:gd name="connsiteX186" fmla="*/ 8807612 w 12192000"/>
              <a:gd name="connsiteY186" fmla="*/ 3467256 h 4267200"/>
              <a:gd name="connsiteX187" fmla="*/ 8556796 w 12192000"/>
              <a:gd name="connsiteY187" fmla="*/ 3116474 h 4267200"/>
              <a:gd name="connsiteX188" fmla="*/ 8427018 w 12192000"/>
              <a:gd name="connsiteY188" fmla="*/ 2948853 h 4267200"/>
              <a:gd name="connsiteX189" fmla="*/ 8380397 w 12192000"/>
              <a:gd name="connsiteY189" fmla="*/ 2896659 h 4267200"/>
              <a:gd name="connsiteX190" fmla="*/ 9831020 w 12192000"/>
              <a:gd name="connsiteY190" fmla="*/ 2871730 h 4267200"/>
              <a:gd name="connsiteX191" fmla="*/ 9827707 w 12192000"/>
              <a:gd name="connsiteY191" fmla="*/ 2915231 h 4267200"/>
              <a:gd name="connsiteX192" fmla="*/ 9820699 w 12192000"/>
              <a:gd name="connsiteY192" fmla="*/ 3051540 h 4267200"/>
              <a:gd name="connsiteX193" fmla="*/ 9822525 w 12192000"/>
              <a:gd name="connsiteY193" fmla="*/ 3140814 h 4267200"/>
              <a:gd name="connsiteX194" fmla="*/ 9824704 w 12192000"/>
              <a:gd name="connsiteY194" fmla="*/ 3230628 h 4267200"/>
              <a:gd name="connsiteX195" fmla="*/ 9793821 w 12192000"/>
              <a:gd name="connsiteY195" fmla="*/ 3531652 h 4267200"/>
              <a:gd name="connsiteX196" fmla="*/ 9767436 w 12192000"/>
              <a:gd name="connsiteY196" fmla="*/ 3750864 h 4267200"/>
              <a:gd name="connsiteX197" fmla="*/ 9814477 w 12192000"/>
              <a:gd name="connsiteY197" fmla="*/ 3662531 h 4267200"/>
              <a:gd name="connsiteX198" fmla="*/ 9831020 w 12192000"/>
              <a:gd name="connsiteY198" fmla="*/ 2871730 h 4267200"/>
              <a:gd name="connsiteX199" fmla="*/ 8380521 w 12192000"/>
              <a:gd name="connsiteY199" fmla="*/ 2850596 h 4267200"/>
              <a:gd name="connsiteX200" fmla="*/ 8451446 w 12192000"/>
              <a:gd name="connsiteY200" fmla="*/ 2928627 h 4267200"/>
              <a:gd name="connsiteX201" fmla="*/ 8582269 w 12192000"/>
              <a:gd name="connsiteY201" fmla="*/ 3097880 h 4267200"/>
              <a:gd name="connsiteX202" fmla="*/ 8833783 w 12192000"/>
              <a:gd name="connsiteY202" fmla="*/ 3449753 h 4267200"/>
              <a:gd name="connsiteX203" fmla="*/ 8846863 w 12192000"/>
              <a:gd name="connsiteY203" fmla="*/ 3468981 h 4267200"/>
              <a:gd name="connsiteX204" fmla="*/ 8960046 w 12192000"/>
              <a:gd name="connsiteY204" fmla="*/ 3620389 h 4267200"/>
              <a:gd name="connsiteX205" fmla="*/ 8380521 w 12192000"/>
              <a:gd name="connsiteY205" fmla="*/ 2850596 h 4267200"/>
              <a:gd name="connsiteX206" fmla="*/ 9854151 w 12192000"/>
              <a:gd name="connsiteY206" fmla="*/ 2642862 h 4267200"/>
              <a:gd name="connsiteX207" fmla="*/ 9871341 w 12192000"/>
              <a:gd name="connsiteY207" fmla="*/ 2659697 h 4267200"/>
              <a:gd name="connsiteX208" fmla="*/ 9966678 w 12192000"/>
              <a:gd name="connsiteY208" fmla="*/ 3423399 h 4267200"/>
              <a:gd name="connsiteX209" fmla="*/ 9880832 w 12192000"/>
              <a:gd name="connsiteY209" fmla="*/ 3700562 h 4267200"/>
              <a:gd name="connsiteX210" fmla="*/ 9896024 w 12192000"/>
              <a:gd name="connsiteY210" fmla="*/ 4178295 h 4267200"/>
              <a:gd name="connsiteX211" fmla="*/ 10028060 w 12192000"/>
              <a:gd name="connsiteY211" fmla="*/ 4267200 h 4267200"/>
              <a:gd name="connsiteX212" fmla="*/ 9651813 w 12192000"/>
              <a:gd name="connsiteY212" fmla="*/ 4267200 h 4267200"/>
              <a:gd name="connsiteX213" fmla="*/ 9814527 w 12192000"/>
              <a:gd name="connsiteY213" fmla="*/ 4248048 h 4267200"/>
              <a:gd name="connsiteX214" fmla="*/ 9615182 w 12192000"/>
              <a:gd name="connsiteY214" fmla="*/ 4220499 h 4267200"/>
              <a:gd name="connsiteX215" fmla="*/ 9465210 w 12192000"/>
              <a:gd name="connsiteY215" fmla="*/ 4242240 h 4267200"/>
              <a:gd name="connsiteX216" fmla="*/ 9387108 w 12192000"/>
              <a:gd name="connsiteY216" fmla="*/ 4267200 h 4267200"/>
              <a:gd name="connsiteX217" fmla="*/ 9268441 w 12192000"/>
              <a:gd name="connsiteY217" fmla="*/ 4267200 h 4267200"/>
              <a:gd name="connsiteX218" fmla="*/ 9307676 w 12192000"/>
              <a:gd name="connsiteY218" fmla="*/ 4251276 h 4267200"/>
              <a:gd name="connsiteX219" fmla="*/ 9761570 w 12192000"/>
              <a:gd name="connsiteY219" fmla="*/ 4182283 h 4267200"/>
              <a:gd name="connsiteX220" fmla="*/ 9368237 w 12192000"/>
              <a:gd name="connsiteY220" fmla="*/ 3949470 h 4267200"/>
              <a:gd name="connsiteX221" fmla="*/ 9354614 w 12192000"/>
              <a:gd name="connsiteY221" fmla="*/ 3951288 h 4267200"/>
              <a:gd name="connsiteX222" fmla="*/ 8364351 w 12192000"/>
              <a:gd name="connsiteY222" fmla="*/ 4159267 h 4267200"/>
              <a:gd name="connsiteX223" fmla="*/ 8386567 w 12192000"/>
              <a:gd name="connsiteY223" fmla="*/ 4119760 h 4267200"/>
              <a:gd name="connsiteX224" fmla="*/ 9231713 w 12192000"/>
              <a:gd name="connsiteY224" fmla="*/ 3873539 h 4267200"/>
              <a:gd name="connsiteX225" fmla="*/ 9023301 w 12192000"/>
              <a:gd name="connsiteY225" fmla="*/ 3763109 h 4267200"/>
              <a:gd name="connsiteX226" fmla="*/ 9010556 w 12192000"/>
              <a:gd name="connsiteY226" fmla="*/ 3758998 h 4267200"/>
              <a:gd name="connsiteX227" fmla="*/ 8604324 w 12192000"/>
              <a:gd name="connsiteY227" fmla="*/ 3417171 h 4267200"/>
              <a:gd name="connsiteX228" fmla="*/ 8218577 w 12192000"/>
              <a:gd name="connsiteY228" fmla="*/ 2770227 h 4267200"/>
              <a:gd name="connsiteX229" fmla="*/ 8222774 w 12192000"/>
              <a:gd name="connsiteY229" fmla="*/ 2749954 h 4267200"/>
              <a:gd name="connsiteX230" fmla="*/ 8297623 w 12192000"/>
              <a:gd name="connsiteY230" fmla="*/ 2731935 h 4267200"/>
              <a:gd name="connsiteX231" fmla="*/ 9090618 w 12192000"/>
              <a:gd name="connsiteY231" fmla="*/ 3716225 h 4267200"/>
              <a:gd name="connsiteX232" fmla="*/ 9762441 w 12192000"/>
              <a:gd name="connsiteY232" fmla="*/ 4093587 h 4267200"/>
              <a:gd name="connsiteX233" fmla="*/ 9717826 w 12192000"/>
              <a:gd name="connsiteY233" fmla="*/ 3916719 h 4267200"/>
              <a:gd name="connsiteX234" fmla="*/ 9713123 w 12192000"/>
              <a:gd name="connsiteY234" fmla="*/ 3916663 h 4267200"/>
              <a:gd name="connsiteX235" fmla="*/ 9175594 w 12192000"/>
              <a:gd name="connsiteY235" fmla="*/ 3326950 h 4267200"/>
              <a:gd name="connsiteX236" fmla="*/ 9253941 w 12192000"/>
              <a:gd name="connsiteY236" fmla="*/ 3287566 h 4267200"/>
              <a:gd name="connsiteX237" fmla="*/ 9625671 w 12192000"/>
              <a:gd name="connsiteY237" fmla="*/ 3639960 h 4267200"/>
              <a:gd name="connsiteX238" fmla="*/ 9656881 w 12192000"/>
              <a:gd name="connsiteY238" fmla="*/ 3333361 h 4267200"/>
              <a:gd name="connsiteX239" fmla="*/ 9782066 w 12192000"/>
              <a:gd name="connsiteY239" fmla="*/ 2680771 h 4267200"/>
              <a:gd name="connsiteX240" fmla="*/ 9854151 w 12192000"/>
              <a:gd name="connsiteY240" fmla="*/ 2642862 h 4267200"/>
              <a:gd name="connsiteX241" fmla="*/ 11114299 w 12192000"/>
              <a:gd name="connsiteY241" fmla="*/ 2390555 h 4267200"/>
              <a:gd name="connsiteX242" fmla="*/ 11113373 w 12192000"/>
              <a:gd name="connsiteY242" fmla="*/ 2392739 h 4267200"/>
              <a:gd name="connsiteX243" fmla="*/ 11117197 w 12192000"/>
              <a:gd name="connsiteY243" fmla="*/ 2394358 h 4267200"/>
              <a:gd name="connsiteX244" fmla="*/ 11114299 w 12192000"/>
              <a:gd name="connsiteY244" fmla="*/ 2390555 h 4267200"/>
              <a:gd name="connsiteX245" fmla="*/ 10506276 w 12192000"/>
              <a:gd name="connsiteY245" fmla="*/ 2118977 h 4267200"/>
              <a:gd name="connsiteX246" fmla="*/ 10431542 w 12192000"/>
              <a:gd name="connsiteY246" fmla="*/ 2525128 h 4267200"/>
              <a:gd name="connsiteX247" fmla="*/ 10391375 w 12192000"/>
              <a:gd name="connsiteY247" fmla="*/ 2667145 h 4267200"/>
              <a:gd name="connsiteX248" fmla="*/ 10355047 w 12192000"/>
              <a:gd name="connsiteY248" fmla="*/ 2832031 h 4267200"/>
              <a:gd name="connsiteX249" fmla="*/ 10336080 w 12192000"/>
              <a:gd name="connsiteY249" fmla="*/ 2927011 h 4267200"/>
              <a:gd name="connsiteX250" fmla="*/ 10389394 w 12192000"/>
              <a:gd name="connsiteY250" fmla="*/ 2782834 h 4267200"/>
              <a:gd name="connsiteX251" fmla="*/ 10506276 w 12192000"/>
              <a:gd name="connsiteY251" fmla="*/ 2118977 h 4267200"/>
              <a:gd name="connsiteX252" fmla="*/ 11538179 w 12192000"/>
              <a:gd name="connsiteY252" fmla="*/ 2090376 h 4267200"/>
              <a:gd name="connsiteX253" fmla="*/ 11577479 w 12192000"/>
              <a:gd name="connsiteY253" fmla="*/ 2228695 h 4267200"/>
              <a:gd name="connsiteX254" fmla="*/ 11586754 w 12192000"/>
              <a:gd name="connsiteY254" fmla="*/ 2266098 h 4267200"/>
              <a:gd name="connsiteX255" fmla="*/ 11609011 w 12192000"/>
              <a:gd name="connsiteY255" fmla="*/ 2353427 h 4267200"/>
              <a:gd name="connsiteX256" fmla="*/ 11761579 w 12192000"/>
              <a:gd name="connsiteY256" fmla="*/ 2703223 h 4267200"/>
              <a:gd name="connsiteX257" fmla="*/ 11877711 w 12192000"/>
              <a:gd name="connsiteY257" fmla="*/ 2947465 h 4267200"/>
              <a:gd name="connsiteX258" fmla="*/ 11538179 w 12192000"/>
              <a:gd name="connsiteY258" fmla="*/ 2090376 h 4267200"/>
              <a:gd name="connsiteX259" fmla="*/ 6604735 w 12192000"/>
              <a:gd name="connsiteY259" fmla="*/ 2041381 h 4267200"/>
              <a:gd name="connsiteX260" fmla="*/ 7204487 w 12192000"/>
              <a:gd name="connsiteY260" fmla="*/ 2742112 h 4267200"/>
              <a:gd name="connsiteX261" fmla="*/ 7131592 w 12192000"/>
              <a:gd name="connsiteY261" fmla="*/ 2672096 h 4267200"/>
              <a:gd name="connsiteX262" fmla="*/ 6996344 w 12192000"/>
              <a:gd name="connsiteY262" fmla="*/ 2518310 h 4267200"/>
              <a:gd name="connsiteX263" fmla="*/ 6735495 w 12192000"/>
              <a:gd name="connsiteY263" fmla="*/ 2196890 h 4267200"/>
              <a:gd name="connsiteX264" fmla="*/ 6721901 w 12192000"/>
              <a:gd name="connsiteY264" fmla="*/ 2179274 h 4267200"/>
              <a:gd name="connsiteX265" fmla="*/ 6604735 w 12192000"/>
              <a:gd name="connsiteY265" fmla="*/ 2041381 h 4267200"/>
              <a:gd name="connsiteX266" fmla="*/ 11488421 w 12192000"/>
              <a:gd name="connsiteY266" fmla="*/ 2034549 h 4267200"/>
              <a:gd name="connsiteX267" fmla="*/ 11840356 w 12192000"/>
              <a:gd name="connsiteY267" fmla="*/ 2932293 h 4267200"/>
              <a:gd name="connsiteX268" fmla="*/ 11736331 w 12192000"/>
              <a:gd name="connsiteY268" fmla="*/ 2715710 h 4267200"/>
              <a:gd name="connsiteX269" fmla="*/ 11581560 w 12192000"/>
              <a:gd name="connsiteY269" fmla="*/ 2360474 h 4267200"/>
              <a:gd name="connsiteX270" fmla="*/ 11558442 w 12192000"/>
              <a:gd name="connsiteY270" fmla="*/ 2272139 h 4267200"/>
              <a:gd name="connsiteX271" fmla="*/ 11549169 w 12192000"/>
              <a:gd name="connsiteY271" fmla="*/ 2234734 h 4267200"/>
              <a:gd name="connsiteX272" fmla="*/ 11488421 w 12192000"/>
              <a:gd name="connsiteY272" fmla="*/ 2034549 h 4267200"/>
              <a:gd name="connsiteX273" fmla="*/ 10468916 w 12192000"/>
              <a:gd name="connsiteY273" fmla="*/ 2032338 h 4267200"/>
              <a:gd name="connsiteX274" fmla="*/ 10421480 w 12192000"/>
              <a:gd name="connsiteY274" fmla="*/ 2185446 h 4267200"/>
              <a:gd name="connsiteX275" fmla="*/ 10351264 w 12192000"/>
              <a:gd name="connsiteY275" fmla="*/ 2591574 h 4267200"/>
              <a:gd name="connsiteX276" fmla="*/ 10294485 w 12192000"/>
              <a:gd name="connsiteY276" fmla="*/ 2991809 h 4267200"/>
              <a:gd name="connsiteX277" fmla="*/ 10327850 w 12192000"/>
              <a:gd name="connsiteY277" fmla="*/ 2826310 h 4267200"/>
              <a:gd name="connsiteX278" fmla="*/ 10364099 w 12192000"/>
              <a:gd name="connsiteY278" fmla="*/ 2660098 h 4267200"/>
              <a:gd name="connsiteX279" fmla="*/ 10404725 w 12192000"/>
              <a:gd name="connsiteY279" fmla="*/ 2516991 h 4267200"/>
              <a:gd name="connsiteX280" fmla="*/ 10478071 w 12192000"/>
              <a:gd name="connsiteY280" fmla="*/ 2114122 h 4267200"/>
              <a:gd name="connsiteX281" fmla="*/ 10468916 w 12192000"/>
              <a:gd name="connsiteY281" fmla="*/ 2032338 h 4267200"/>
              <a:gd name="connsiteX282" fmla="*/ 10573132 w 12192000"/>
              <a:gd name="connsiteY282" fmla="*/ 1991479 h 4267200"/>
              <a:gd name="connsiteX283" fmla="*/ 11066880 w 12192000"/>
              <a:gd name="connsiteY283" fmla="*/ 2371770 h 4267200"/>
              <a:gd name="connsiteX284" fmla="*/ 10573132 w 12192000"/>
              <a:gd name="connsiteY284" fmla="*/ 1991479 h 4267200"/>
              <a:gd name="connsiteX285" fmla="*/ 6591670 w 12192000"/>
              <a:gd name="connsiteY285" fmla="*/ 1988277 h 4267200"/>
              <a:gd name="connsiteX286" fmla="*/ 6747349 w 12192000"/>
              <a:gd name="connsiteY286" fmla="*/ 2160069 h 4267200"/>
              <a:gd name="connsiteX287" fmla="*/ 6760943 w 12192000"/>
              <a:gd name="connsiteY287" fmla="*/ 2177686 h 4267200"/>
              <a:gd name="connsiteX288" fmla="*/ 7021065 w 12192000"/>
              <a:gd name="connsiteY288" fmla="*/ 2498102 h 4267200"/>
              <a:gd name="connsiteX289" fmla="*/ 7155223 w 12192000"/>
              <a:gd name="connsiteY289" fmla="*/ 2650386 h 4267200"/>
              <a:gd name="connsiteX290" fmla="*/ 7203167 w 12192000"/>
              <a:gd name="connsiteY290" fmla="*/ 2697288 h 4267200"/>
              <a:gd name="connsiteX291" fmla="*/ 6937703 w 12192000"/>
              <a:gd name="connsiteY291" fmla="*/ 2321981 h 4267200"/>
              <a:gd name="connsiteX292" fmla="*/ 6591670 w 12192000"/>
              <a:gd name="connsiteY292" fmla="*/ 1988277 h 4267200"/>
              <a:gd name="connsiteX293" fmla="*/ 5798671 w 12192000"/>
              <a:gd name="connsiteY293" fmla="*/ 1981601 h 4267200"/>
              <a:gd name="connsiteX294" fmla="*/ 5754709 w 12192000"/>
              <a:gd name="connsiteY294" fmla="*/ 2071454 h 4267200"/>
              <a:gd name="connsiteX295" fmla="*/ 5763044 w 12192000"/>
              <a:gd name="connsiteY295" fmla="*/ 2842206 h 4267200"/>
              <a:gd name="connsiteX296" fmla="*/ 5764974 w 12192000"/>
              <a:gd name="connsiteY296" fmla="*/ 2799609 h 4267200"/>
              <a:gd name="connsiteX297" fmla="*/ 5767665 w 12192000"/>
              <a:gd name="connsiteY297" fmla="*/ 2666409 h 4267200"/>
              <a:gd name="connsiteX298" fmla="*/ 5763055 w 12192000"/>
              <a:gd name="connsiteY298" fmla="*/ 2579705 h 4267200"/>
              <a:gd name="connsiteX299" fmla="*/ 5758079 w 12192000"/>
              <a:gd name="connsiteY299" fmla="*/ 2492508 h 4267200"/>
              <a:gd name="connsiteX300" fmla="*/ 5779325 w 12192000"/>
              <a:gd name="connsiteY300" fmla="*/ 2197069 h 4267200"/>
              <a:gd name="connsiteX301" fmla="*/ 5798671 w 12192000"/>
              <a:gd name="connsiteY301" fmla="*/ 1981601 h 4267200"/>
              <a:gd name="connsiteX302" fmla="*/ 5829202 w 12192000"/>
              <a:gd name="connsiteY302" fmla="*/ 1971679 h 4267200"/>
              <a:gd name="connsiteX303" fmla="*/ 5809558 w 12192000"/>
              <a:gd name="connsiteY303" fmla="*/ 2198043 h 4267200"/>
              <a:gd name="connsiteX304" fmla="*/ 5788653 w 12192000"/>
              <a:gd name="connsiteY304" fmla="*/ 2489430 h 4267200"/>
              <a:gd name="connsiteX305" fmla="*/ 5793439 w 12192000"/>
              <a:gd name="connsiteY305" fmla="*/ 2575235 h 4267200"/>
              <a:gd name="connsiteX306" fmla="*/ 5796837 w 12192000"/>
              <a:gd name="connsiteY306" fmla="*/ 2637633 h 4267200"/>
              <a:gd name="connsiteX307" fmla="*/ 5818614 w 12192000"/>
              <a:gd name="connsiteY307" fmla="*/ 2473055 h 4267200"/>
              <a:gd name="connsiteX308" fmla="*/ 5829202 w 12192000"/>
              <a:gd name="connsiteY308" fmla="*/ 1971679 h 4267200"/>
              <a:gd name="connsiteX309" fmla="*/ 10578769 w 12192000"/>
              <a:gd name="connsiteY309" fmla="*/ 1962963 h 4267200"/>
              <a:gd name="connsiteX310" fmla="*/ 11073823 w 12192000"/>
              <a:gd name="connsiteY310" fmla="*/ 2338658 h 4267200"/>
              <a:gd name="connsiteX311" fmla="*/ 10578769 w 12192000"/>
              <a:gd name="connsiteY311" fmla="*/ 1962963 h 4267200"/>
              <a:gd name="connsiteX312" fmla="*/ 5911389 w 12192000"/>
              <a:gd name="connsiteY312" fmla="*/ 1898371 h 4267200"/>
              <a:gd name="connsiteX313" fmla="*/ 6237627 w 12192000"/>
              <a:gd name="connsiteY313" fmla="*/ 2231921 h 4267200"/>
              <a:gd name="connsiteX314" fmla="*/ 5911389 w 12192000"/>
              <a:gd name="connsiteY314" fmla="*/ 1898371 h 4267200"/>
              <a:gd name="connsiteX315" fmla="*/ 6944437 w 12192000"/>
              <a:gd name="connsiteY315" fmla="*/ 1575402 h 4267200"/>
              <a:gd name="connsiteX316" fmla="*/ 6304730 w 12192000"/>
              <a:gd name="connsiteY316" fmla="*/ 1766654 h 4267200"/>
              <a:gd name="connsiteX317" fmla="*/ 6944437 w 12192000"/>
              <a:gd name="connsiteY317" fmla="*/ 1575402 h 4267200"/>
              <a:gd name="connsiteX318" fmla="*/ 7019523 w 12192000"/>
              <a:gd name="connsiteY318" fmla="*/ 1519450 h 4267200"/>
              <a:gd name="connsiteX319" fmla="*/ 6298091 w 12192000"/>
              <a:gd name="connsiteY319" fmla="*/ 1737122 h 4267200"/>
              <a:gd name="connsiteX320" fmla="*/ 7019523 w 12192000"/>
              <a:gd name="connsiteY320" fmla="*/ 1519450 h 4267200"/>
              <a:gd name="connsiteX321" fmla="*/ 2399523 w 12192000"/>
              <a:gd name="connsiteY321" fmla="*/ 1428234 h 4267200"/>
              <a:gd name="connsiteX322" fmla="*/ 2224982 w 12192000"/>
              <a:gd name="connsiteY322" fmla="*/ 1826201 h 4267200"/>
              <a:gd name="connsiteX323" fmla="*/ 2096099 w 12192000"/>
              <a:gd name="connsiteY323" fmla="*/ 2345900 h 4267200"/>
              <a:gd name="connsiteX324" fmla="*/ 2283317 w 12192000"/>
              <a:gd name="connsiteY324" fmla="*/ 1796925 h 4267200"/>
              <a:gd name="connsiteX325" fmla="*/ 2448558 w 12192000"/>
              <a:gd name="connsiteY325" fmla="*/ 1373435 h 4267200"/>
              <a:gd name="connsiteX326" fmla="*/ 2312521 w 12192000"/>
              <a:gd name="connsiteY326" fmla="*/ 1806140 h 4267200"/>
              <a:gd name="connsiteX327" fmla="*/ 2127533 w 12192000"/>
              <a:gd name="connsiteY327" fmla="*/ 2348380 h 4267200"/>
              <a:gd name="connsiteX328" fmla="*/ 2358080 w 12192000"/>
              <a:gd name="connsiteY328" fmla="*/ 1866134 h 4267200"/>
              <a:gd name="connsiteX329" fmla="*/ 2407436 w 12192000"/>
              <a:gd name="connsiteY329" fmla="*/ 1651070 h 4267200"/>
              <a:gd name="connsiteX330" fmla="*/ 2448558 w 12192000"/>
              <a:gd name="connsiteY330" fmla="*/ 1373435 h 4267200"/>
              <a:gd name="connsiteX331" fmla="*/ 278707 w 12192000"/>
              <a:gd name="connsiteY331" fmla="*/ 1352270 h 4267200"/>
              <a:gd name="connsiteX332" fmla="*/ 321570 w 12192000"/>
              <a:gd name="connsiteY332" fmla="*/ 1861610 h 4267200"/>
              <a:gd name="connsiteX333" fmla="*/ 294281 w 12192000"/>
              <a:gd name="connsiteY333" fmla="*/ 1440658 h 4267200"/>
              <a:gd name="connsiteX334" fmla="*/ 1423821 w 12192000"/>
              <a:gd name="connsiteY334" fmla="*/ 1351958 h 4267200"/>
              <a:gd name="connsiteX335" fmla="*/ 1638521 w 12192000"/>
              <a:gd name="connsiteY335" fmla="*/ 1908470 h 4267200"/>
              <a:gd name="connsiteX336" fmla="*/ 1754199 w 12192000"/>
              <a:gd name="connsiteY336" fmla="*/ 2149284 h 4267200"/>
              <a:gd name="connsiteX337" fmla="*/ 1908359 w 12192000"/>
              <a:gd name="connsiteY337" fmla="*/ 2364988 h 4267200"/>
              <a:gd name="connsiteX338" fmla="*/ 1647661 w 12192000"/>
              <a:gd name="connsiteY338" fmla="*/ 1825945 h 4267200"/>
              <a:gd name="connsiteX339" fmla="*/ 1423821 w 12192000"/>
              <a:gd name="connsiteY339" fmla="*/ 1351958 h 4267200"/>
              <a:gd name="connsiteX340" fmla="*/ 9518298 w 12192000"/>
              <a:gd name="connsiteY340" fmla="*/ 1338235 h 4267200"/>
              <a:gd name="connsiteX341" fmla="*/ 9838009 w 12192000"/>
              <a:gd name="connsiteY341" fmla="*/ 2272553 h 4267200"/>
              <a:gd name="connsiteX342" fmla="*/ 9805906 w 12192000"/>
              <a:gd name="connsiteY342" fmla="*/ 2159819 h 4267200"/>
              <a:gd name="connsiteX343" fmla="*/ 9801623 w 12192000"/>
              <a:gd name="connsiteY343" fmla="*/ 2142555 h 4267200"/>
              <a:gd name="connsiteX344" fmla="*/ 9628671 w 12192000"/>
              <a:gd name="connsiteY344" fmla="*/ 1617375 h 4267200"/>
              <a:gd name="connsiteX345" fmla="*/ 9598299 w 12192000"/>
              <a:gd name="connsiteY345" fmla="*/ 1544643 h 4267200"/>
              <a:gd name="connsiteX346" fmla="*/ 9518298 w 12192000"/>
              <a:gd name="connsiteY346" fmla="*/ 1338235 h 4267200"/>
              <a:gd name="connsiteX347" fmla="*/ 1431890 w 12192000"/>
              <a:gd name="connsiteY347" fmla="*/ 1306475 h 4267200"/>
              <a:gd name="connsiteX348" fmla="*/ 1507597 w 12192000"/>
              <a:gd name="connsiteY348" fmla="*/ 1446132 h 4267200"/>
              <a:gd name="connsiteX349" fmla="*/ 1674586 w 12192000"/>
              <a:gd name="connsiteY349" fmla="*/ 1813832 h 4267200"/>
              <a:gd name="connsiteX350" fmla="*/ 1815950 w 12192000"/>
              <a:gd name="connsiteY350" fmla="*/ 2128564 h 4267200"/>
              <a:gd name="connsiteX351" fmla="*/ 1984242 w 12192000"/>
              <a:gd name="connsiteY351" fmla="*/ 2430829 h 4267200"/>
              <a:gd name="connsiteX352" fmla="*/ 2014023 w 12192000"/>
              <a:gd name="connsiteY352" fmla="*/ 2450995 h 4267200"/>
              <a:gd name="connsiteX353" fmla="*/ 1747337 w 12192000"/>
              <a:gd name="connsiteY353" fmla="*/ 1855264 h 4267200"/>
              <a:gd name="connsiteX354" fmla="*/ 1533749 w 12192000"/>
              <a:gd name="connsiteY354" fmla="*/ 1478656 h 4267200"/>
              <a:gd name="connsiteX355" fmla="*/ 1431890 w 12192000"/>
              <a:gd name="connsiteY355" fmla="*/ 1306475 h 4267200"/>
              <a:gd name="connsiteX356" fmla="*/ 5052692 w 12192000"/>
              <a:gd name="connsiteY356" fmla="*/ 1292994 h 4267200"/>
              <a:gd name="connsiteX357" fmla="*/ 5200661 w 12192000"/>
              <a:gd name="connsiteY357" fmla="*/ 1635186 h 4267200"/>
              <a:gd name="connsiteX358" fmla="*/ 5297138 w 12192000"/>
              <a:gd name="connsiteY358" fmla="*/ 1906351 h 4267200"/>
              <a:gd name="connsiteX359" fmla="*/ 5052692 w 12192000"/>
              <a:gd name="connsiteY359" fmla="*/ 1292994 h 4267200"/>
              <a:gd name="connsiteX360" fmla="*/ 9528078 w 12192000"/>
              <a:gd name="connsiteY360" fmla="*/ 1278636 h 4267200"/>
              <a:gd name="connsiteX361" fmla="*/ 9623946 w 12192000"/>
              <a:gd name="connsiteY361" fmla="*/ 1534260 h 4267200"/>
              <a:gd name="connsiteX362" fmla="*/ 9654858 w 12192000"/>
              <a:gd name="connsiteY362" fmla="*/ 1607218 h 4267200"/>
              <a:gd name="connsiteX363" fmla="*/ 9826304 w 12192000"/>
              <a:gd name="connsiteY363" fmla="*/ 2125320 h 4267200"/>
              <a:gd name="connsiteX364" fmla="*/ 9701198 w 12192000"/>
              <a:gd name="connsiteY364" fmla="*/ 1646797 h 4267200"/>
              <a:gd name="connsiteX365" fmla="*/ 9528078 w 12192000"/>
              <a:gd name="connsiteY365" fmla="*/ 1278636 h 4267200"/>
              <a:gd name="connsiteX366" fmla="*/ 5009948 w 12192000"/>
              <a:gd name="connsiteY366" fmla="*/ 1273619 h 4267200"/>
              <a:gd name="connsiteX367" fmla="*/ 5121777 w 12192000"/>
              <a:gd name="connsiteY367" fmla="*/ 1654213 h 4267200"/>
              <a:gd name="connsiteX368" fmla="*/ 5293545 w 12192000"/>
              <a:gd name="connsiteY368" fmla="*/ 2072247 h 4267200"/>
              <a:gd name="connsiteX369" fmla="*/ 5294042 w 12192000"/>
              <a:gd name="connsiteY369" fmla="*/ 2065019 h 4267200"/>
              <a:gd name="connsiteX370" fmla="*/ 5171936 w 12192000"/>
              <a:gd name="connsiteY370" fmla="*/ 1647613 h 4267200"/>
              <a:gd name="connsiteX371" fmla="*/ 5009948 w 12192000"/>
              <a:gd name="connsiteY371" fmla="*/ 1273619 h 4267200"/>
              <a:gd name="connsiteX372" fmla="*/ 655236 w 12192000"/>
              <a:gd name="connsiteY372" fmla="*/ 1268632 h 4267200"/>
              <a:gd name="connsiteX373" fmla="*/ 839521 w 12192000"/>
              <a:gd name="connsiteY373" fmla="*/ 1685315 h 4267200"/>
              <a:gd name="connsiteX374" fmla="*/ 1109416 w 12192000"/>
              <a:gd name="connsiteY374" fmla="*/ 2061663 h 4267200"/>
              <a:gd name="connsiteX375" fmla="*/ 1298300 w 12192000"/>
              <a:gd name="connsiteY375" fmla="*/ 2247742 h 4267200"/>
              <a:gd name="connsiteX376" fmla="*/ 1125871 w 12192000"/>
              <a:gd name="connsiteY376" fmla="*/ 1989513 h 4267200"/>
              <a:gd name="connsiteX377" fmla="*/ 981574 w 12192000"/>
              <a:gd name="connsiteY377" fmla="*/ 1783157 h 4267200"/>
              <a:gd name="connsiteX378" fmla="*/ 922198 w 12192000"/>
              <a:gd name="connsiteY378" fmla="*/ 1677437 h 4267200"/>
              <a:gd name="connsiteX379" fmla="*/ 869293 w 12192000"/>
              <a:gd name="connsiteY379" fmla="*/ 1583214 h 4267200"/>
              <a:gd name="connsiteX380" fmla="*/ 751431 w 12192000"/>
              <a:gd name="connsiteY380" fmla="*/ 1405731 h 4267200"/>
              <a:gd name="connsiteX381" fmla="*/ 6516292 w 12192000"/>
              <a:gd name="connsiteY381" fmla="*/ 1263064 h 4267200"/>
              <a:gd name="connsiteX382" fmla="*/ 5736320 w 12192000"/>
              <a:gd name="connsiteY382" fmla="*/ 1501803 h 4267200"/>
              <a:gd name="connsiteX383" fmla="*/ 6516292 w 12192000"/>
              <a:gd name="connsiteY383" fmla="*/ 1263064 h 4267200"/>
              <a:gd name="connsiteX384" fmla="*/ 291466 w 12192000"/>
              <a:gd name="connsiteY384" fmla="*/ 1250369 h 4267200"/>
              <a:gd name="connsiteX385" fmla="*/ 323180 w 12192000"/>
              <a:gd name="connsiteY385" fmla="*/ 1435283 h 4267200"/>
              <a:gd name="connsiteX386" fmla="*/ 349381 w 12192000"/>
              <a:gd name="connsiteY386" fmla="*/ 1875041 h 4267200"/>
              <a:gd name="connsiteX387" fmla="*/ 374363 w 12192000"/>
              <a:gd name="connsiteY387" fmla="*/ 1506494 h 4267200"/>
              <a:gd name="connsiteX388" fmla="*/ 302168 w 12192000"/>
              <a:gd name="connsiteY388" fmla="*/ 1274495 h 4267200"/>
              <a:gd name="connsiteX389" fmla="*/ 291466 w 12192000"/>
              <a:gd name="connsiteY389" fmla="*/ 1250369 h 4267200"/>
              <a:gd name="connsiteX390" fmla="*/ 678222 w 12192000"/>
              <a:gd name="connsiteY390" fmla="*/ 1248670 h 4267200"/>
              <a:gd name="connsiteX391" fmla="*/ 775536 w 12192000"/>
              <a:gd name="connsiteY391" fmla="*/ 1388015 h 4267200"/>
              <a:gd name="connsiteX392" fmla="*/ 894529 w 12192000"/>
              <a:gd name="connsiteY392" fmla="*/ 1567739 h 4267200"/>
              <a:gd name="connsiteX393" fmla="*/ 948000 w 12192000"/>
              <a:gd name="connsiteY393" fmla="*/ 1663088 h 4267200"/>
              <a:gd name="connsiteX394" fmla="*/ 1006812 w 12192000"/>
              <a:gd name="connsiteY394" fmla="*/ 1767683 h 4267200"/>
              <a:gd name="connsiteX395" fmla="*/ 1149133 w 12192000"/>
              <a:gd name="connsiteY395" fmla="*/ 1971513 h 4267200"/>
              <a:gd name="connsiteX396" fmla="*/ 1333952 w 12192000"/>
              <a:gd name="connsiteY396" fmla="*/ 2251620 h 4267200"/>
              <a:gd name="connsiteX397" fmla="*/ 1337329 w 12192000"/>
              <a:gd name="connsiteY397" fmla="*/ 2258350 h 4267200"/>
              <a:gd name="connsiteX398" fmla="*/ 1014726 w 12192000"/>
              <a:gd name="connsiteY398" fmla="*/ 1615556 h 4267200"/>
              <a:gd name="connsiteX399" fmla="*/ 678222 w 12192000"/>
              <a:gd name="connsiteY399" fmla="*/ 1248670 h 4267200"/>
              <a:gd name="connsiteX400" fmla="*/ 9441752 w 12192000"/>
              <a:gd name="connsiteY400" fmla="*/ 1245311 h 4267200"/>
              <a:gd name="connsiteX401" fmla="*/ 9278979 w 12192000"/>
              <a:gd name="connsiteY401" fmla="*/ 1406236 h 4267200"/>
              <a:gd name="connsiteX402" fmla="*/ 9235540 w 12192000"/>
              <a:gd name="connsiteY402" fmla="*/ 1546869 h 4267200"/>
              <a:gd name="connsiteX403" fmla="*/ 9264074 w 12192000"/>
              <a:gd name="connsiteY403" fmla="*/ 1557016 h 4267200"/>
              <a:gd name="connsiteX404" fmla="*/ 9441752 w 12192000"/>
              <a:gd name="connsiteY404" fmla="*/ 1245311 h 4267200"/>
              <a:gd name="connsiteX405" fmla="*/ 6691602 w 12192000"/>
              <a:gd name="connsiteY405" fmla="*/ 1140573 h 4267200"/>
              <a:gd name="connsiteX406" fmla="*/ 6571100 w 12192000"/>
              <a:gd name="connsiteY406" fmla="*/ 1183662 h 4267200"/>
              <a:gd name="connsiteX407" fmla="*/ 6241687 w 12192000"/>
              <a:gd name="connsiteY407" fmla="*/ 1257600 h 4267200"/>
              <a:gd name="connsiteX408" fmla="*/ 5693009 w 12192000"/>
              <a:gd name="connsiteY408" fmla="*/ 1478256 h 4267200"/>
              <a:gd name="connsiteX409" fmla="*/ 6548420 w 12192000"/>
              <a:gd name="connsiteY409" fmla="*/ 1214599 h 4267200"/>
              <a:gd name="connsiteX410" fmla="*/ 6605473 w 12192000"/>
              <a:gd name="connsiteY410" fmla="*/ 1184686 h 4267200"/>
              <a:gd name="connsiteX411" fmla="*/ 6691602 w 12192000"/>
              <a:gd name="connsiteY411" fmla="*/ 1140573 h 4267200"/>
              <a:gd name="connsiteX412" fmla="*/ 4002475 w 12192000"/>
              <a:gd name="connsiteY412" fmla="*/ 1037802 h 4267200"/>
              <a:gd name="connsiteX413" fmla="*/ 4000324 w 12192000"/>
              <a:gd name="connsiteY413" fmla="*/ 1039362 h 4267200"/>
              <a:gd name="connsiteX414" fmla="*/ 4002862 w 12192000"/>
              <a:gd name="connsiteY414" fmla="*/ 1042866 h 4267200"/>
              <a:gd name="connsiteX415" fmla="*/ 4002475 w 12192000"/>
              <a:gd name="connsiteY415" fmla="*/ 1037802 h 4267200"/>
              <a:gd name="connsiteX416" fmla="*/ 506322 w 12192000"/>
              <a:gd name="connsiteY416" fmla="*/ 1020997 h 4267200"/>
              <a:gd name="connsiteX417" fmla="*/ 533068 w 12192000"/>
              <a:gd name="connsiteY417" fmla="*/ 1029409 h 4267200"/>
              <a:gd name="connsiteX418" fmla="*/ 1232525 w 12192000"/>
              <a:gd name="connsiteY418" fmla="*/ 1804675 h 4267200"/>
              <a:gd name="connsiteX419" fmla="*/ 1388858 w 12192000"/>
              <a:gd name="connsiteY419" fmla="*/ 2368011 h 4267200"/>
              <a:gd name="connsiteX420" fmla="*/ 1384098 w 12192000"/>
              <a:gd name="connsiteY420" fmla="*/ 2378125 h 4267200"/>
              <a:gd name="connsiteX421" fmla="*/ 1425393 w 12192000"/>
              <a:gd name="connsiteY421" fmla="*/ 2589124 h 4267200"/>
              <a:gd name="connsiteX422" fmla="*/ 1424001 w 12192000"/>
              <a:gd name="connsiteY422" fmla="*/ 2597541 h 4267200"/>
              <a:gd name="connsiteX423" fmla="*/ 2152729 w 12192000"/>
              <a:gd name="connsiteY423" fmla="*/ 2864487 h 4267200"/>
              <a:gd name="connsiteX424" fmla="*/ 2020609 w 12192000"/>
              <a:gd name="connsiteY424" fmla="*/ 2539671 h 4267200"/>
              <a:gd name="connsiteX425" fmla="*/ 2018920 w 12192000"/>
              <a:gd name="connsiteY425" fmla="*/ 2536309 h 4267200"/>
              <a:gd name="connsiteX426" fmla="*/ 1342441 w 12192000"/>
              <a:gd name="connsiteY426" fmla="*/ 1173017 h 4267200"/>
              <a:gd name="connsiteX427" fmla="*/ 1367925 w 12192000"/>
              <a:gd name="connsiteY427" fmla="*/ 1135648 h 4267200"/>
              <a:gd name="connsiteX428" fmla="*/ 1771401 w 12192000"/>
              <a:gd name="connsiteY428" fmla="*/ 1806673 h 4267200"/>
              <a:gd name="connsiteX429" fmla="*/ 1972385 w 12192000"/>
              <a:gd name="connsiteY429" fmla="*/ 2198735 h 4267200"/>
              <a:gd name="connsiteX430" fmla="*/ 2040892 w 12192000"/>
              <a:gd name="connsiteY430" fmla="*/ 2405205 h 4267200"/>
              <a:gd name="connsiteX431" fmla="*/ 2131689 w 12192000"/>
              <a:gd name="connsiteY431" fmla="*/ 1936926 h 4267200"/>
              <a:gd name="connsiteX432" fmla="*/ 2454820 w 12192000"/>
              <a:gd name="connsiteY432" fmla="*/ 1248808 h 4267200"/>
              <a:gd name="connsiteX433" fmla="*/ 2492512 w 12192000"/>
              <a:gd name="connsiteY433" fmla="*/ 1302920 h 4267200"/>
              <a:gd name="connsiteX434" fmla="*/ 2081216 w 12192000"/>
              <a:gd name="connsiteY434" fmla="*/ 2527513 h 4267200"/>
              <a:gd name="connsiteX435" fmla="*/ 2081211 w 12192000"/>
              <a:gd name="connsiteY435" fmla="*/ 2528916 h 4267200"/>
              <a:gd name="connsiteX436" fmla="*/ 2199067 w 12192000"/>
              <a:gd name="connsiteY436" fmla="*/ 2884061 h 4267200"/>
              <a:gd name="connsiteX437" fmla="*/ 3192586 w 12192000"/>
              <a:gd name="connsiteY437" fmla="*/ 3411496 h 4267200"/>
              <a:gd name="connsiteX438" fmla="*/ 3182620 w 12192000"/>
              <a:gd name="connsiteY438" fmla="*/ 3483279 h 4267200"/>
              <a:gd name="connsiteX439" fmla="*/ 2435119 w 12192000"/>
              <a:gd name="connsiteY439" fmla="*/ 3080173 h 4267200"/>
              <a:gd name="connsiteX440" fmla="*/ 2410152 w 12192000"/>
              <a:gd name="connsiteY440" fmla="*/ 3063751 h 4267200"/>
              <a:gd name="connsiteX441" fmla="*/ 2408099 w 12192000"/>
              <a:gd name="connsiteY441" fmla="*/ 3064403 h 4267200"/>
              <a:gd name="connsiteX442" fmla="*/ 2407218 w 12192000"/>
              <a:gd name="connsiteY442" fmla="*/ 3070324 h 4267200"/>
              <a:gd name="connsiteX443" fmla="*/ 2380138 w 12192000"/>
              <a:gd name="connsiteY443" fmla="*/ 3099341 h 4267200"/>
              <a:gd name="connsiteX444" fmla="*/ 1765923 w 12192000"/>
              <a:gd name="connsiteY444" fmla="*/ 3581043 h 4267200"/>
              <a:gd name="connsiteX445" fmla="*/ 1702258 w 12192000"/>
              <a:gd name="connsiteY445" fmla="*/ 3612286 h 4267200"/>
              <a:gd name="connsiteX446" fmla="*/ 1538370 w 12192000"/>
              <a:gd name="connsiteY446" fmla="*/ 3811804 h 4267200"/>
              <a:gd name="connsiteX447" fmla="*/ 1325720 w 12192000"/>
              <a:gd name="connsiteY447" fmla="*/ 4125411 h 4267200"/>
              <a:gd name="connsiteX448" fmla="*/ 1206279 w 12192000"/>
              <a:gd name="connsiteY448" fmla="*/ 4267200 h 4267200"/>
              <a:gd name="connsiteX449" fmla="*/ 1115040 w 12192000"/>
              <a:gd name="connsiteY449" fmla="*/ 4267200 h 4267200"/>
              <a:gd name="connsiteX450" fmla="*/ 1258195 w 12192000"/>
              <a:gd name="connsiteY450" fmla="*/ 4099624 h 4267200"/>
              <a:gd name="connsiteX451" fmla="*/ 1423113 w 12192000"/>
              <a:gd name="connsiteY451" fmla="*/ 3874565 h 4267200"/>
              <a:gd name="connsiteX452" fmla="*/ 1260565 w 12192000"/>
              <a:gd name="connsiteY452" fmla="*/ 4031982 h 4267200"/>
              <a:gd name="connsiteX453" fmla="*/ 1073327 w 12192000"/>
              <a:gd name="connsiteY453" fmla="*/ 4218727 h 4267200"/>
              <a:gd name="connsiteX454" fmla="*/ 1032294 w 12192000"/>
              <a:gd name="connsiteY454" fmla="*/ 4267200 h 4267200"/>
              <a:gd name="connsiteX455" fmla="*/ 993830 w 12192000"/>
              <a:gd name="connsiteY455" fmla="*/ 4267200 h 4267200"/>
              <a:gd name="connsiteX456" fmla="*/ 1051860 w 12192000"/>
              <a:gd name="connsiteY456" fmla="*/ 4198693 h 4267200"/>
              <a:gd name="connsiteX457" fmla="*/ 1240607 w 12192000"/>
              <a:gd name="connsiteY457" fmla="*/ 4010401 h 4267200"/>
              <a:gd name="connsiteX458" fmla="*/ 1310106 w 12192000"/>
              <a:gd name="connsiteY458" fmla="*/ 3943217 h 4267200"/>
              <a:gd name="connsiteX459" fmla="*/ 952103 w 12192000"/>
              <a:gd name="connsiteY459" fmla="*/ 4265972 h 4267200"/>
              <a:gd name="connsiteX460" fmla="*/ 951207 w 12192000"/>
              <a:gd name="connsiteY460" fmla="*/ 4267200 h 4267200"/>
              <a:gd name="connsiteX461" fmla="*/ 862760 w 12192000"/>
              <a:gd name="connsiteY461" fmla="*/ 4267200 h 4267200"/>
              <a:gd name="connsiteX462" fmla="*/ 909145 w 12192000"/>
              <a:gd name="connsiteY462" fmla="*/ 4199225 h 4267200"/>
              <a:gd name="connsiteX463" fmla="*/ 1214067 w 12192000"/>
              <a:gd name="connsiteY463" fmla="*/ 3908561 h 4267200"/>
              <a:gd name="connsiteX464" fmla="*/ 640967 w 12192000"/>
              <a:gd name="connsiteY464" fmla="*/ 4105601 h 4267200"/>
              <a:gd name="connsiteX465" fmla="*/ 372807 w 12192000"/>
              <a:gd name="connsiteY465" fmla="*/ 4243651 h 4267200"/>
              <a:gd name="connsiteX466" fmla="*/ 332830 w 12192000"/>
              <a:gd name="connsiteY466" fmla="*/ 4267200 h 4267200"/>
              <a:gd name="connsiteX467" fmla="*/ 168301 w 12192000"/>
              <a:gd name="connsiteY467" fmla="*/ 4267200 h 4267200"/>
              <a:gd name="connsiteX468" fmla="*/ 278002 w 12192000"/>
              <a:gd name="connsiteY468" fmla="*/ 4201399 h 4267200"/>
              <a:gd name="connsiteX469" fmla="*/ 527241 w 12192000"/>
              <a:gd name="connsiteY469" fmla="*/ 4065078 h 4267200"/>
              <a:gd name="connsiteX470" fmla="*/ 1510397 w 12192000"/>
              <a:gd name="connsiteY470" fmla="*/ 3684705 h 4267200"/>
              <a:gd name="connsiteX471" fmla="*/ 1146550 w 12192000"/>
              <a:gd name="connsiteY471" fmla="*/ 3802012 h 4267200"/>
              <a:gd name="connsiteX472" fmla="*/ 698834 w 12192000"/>
              <a:gd name="connsiteY472" fmla="*/ 3952272 h 4267200"/>
              <a:gd name="connsiteX473" fmla="*/ 192528 w 12192000"/>
              <a:gd name="connsiteY473" fmla="*/ 4236299 h 4267200"/>
              <a:gd name="connsiteX474" fmla="*/ 148586 w 12192000"/>
              <a:gd name="connsiteY474" fmla="*/ 4267200 h 4267200"/>
              <a:gd name="connsiteX475" fmla="*/ 98116 w 12192000"/>
              <a:gd name="connsiteY475" fmla="*/ 4267200 h 4267200"/>
              <a:gd name="connsiteX476" fmla="*/ 169669 w 12192000"/>
              <a:gd name="connsiteY476" fmla="*/ 4216852 h 4267200"/>
              <a:gd name="connsiteX477" fmla="*/ 687572 w 12192000"/>
              <a:gd name="connsiteY477" fmla="*/ 3925629 h 4267200"/>
              <a:gd name="connsiteX478" fmla="*/ 1138365 w 12192000"/>
              <a:gd name="connsiteY478" fmla="*/ 3774515 h 4267200"/>
              <a:gd name="connsiteX479" fmla="*/ 1505579 w 12192000"/>
              <a:gd name="connsiteY479" fmla="*/ 3655526 h 4267200"/>
              <a:gd name="connsiteX480" fmla="*/ 1313114 w 12192000"/>
              <a:gd name="connsiteY480" fmla="*/ 3655216 h 4267200"/>
              <a:gd name="connsiteX481" fmla="*/ 1109304 w 12192000"/>
              <a:gd name="connsiteY481" fmla="*/ 3669030 h 4267200"/>
              <a:gd name="connsiteX482" fmla="*/ 258951 w 12192000"/>
              <a:gd name="connsiteY482" fmla="*/ 4111994 h 4267200"/>
              <a:gd name="connsiteX483" fmla="*/ 80807 w 12192000"/>
              <a:gd name="connsiteY483" fmla="*/ 4267200 h 4267200"/>
              <a:gd name="connsiteX484" fmla="*/ 0 w 12192000"/>
              <a:gd name="connsiteY484" fmla="*/ 4267200 h 4267200"/>
              <a:gd name="connsiteX485" fmla="*/ 0 w 12192000"/>
              <a:gd name="connsiteY485" fmla="*/ 4233763 h 4267200"/>
              <a:gd name="connsiteX486" fmla="*/ 36881 w 12192000"/>
              <a:gd name="connsiteY486" fmla="*/ 4200118 h 4267200"/>
              <a:gd name="connsiteX487" fmla="*/ 910534 w 12192000"/>
              <a:gd name="connsiteY487" fmla="*/ 3629753 h 4267200"/>
              <a:gd name="connsiteX488" fmla="*/ 1578717 w 12192000"/>
              <a:gd name="connsiteY488" fmla="*/ 3575982 h 4267200"/>
              <a:gd name="connsiteX489" fmla="*/ 2338780 w 12192000"/>
              <a:gd name="connsiteY489" fmla="*/ 3033725 h 4267200"/>
              <a:gd name="connsiteX490" fmla="*/ 1807991 w 12192000"/>
              <a:gd name="connsiteY490" fmla="*/ 2807184 h 4267200"/>
              <a:gd name="connsiteX491" fmla="*/ 1416358 w 12192000"/>
              <a:gd name="connsiteY491" fmla="*/ 3112571 h 4267200"/>
              <a:gd name="connsiteX492" fmla="*/ 939066 w 12192000"/>
              <a:gd name="connsiteY492" fmla="*/ 3378798 h 4267200"/>
              <a:gd name="connsiteX493" fmla="*/ 115099 w 12192000"/>
              <a:gd name="connsiteY493" fmla="*/ 3607650 h 4267200"/>
              <a:gd name="connsiteX494" fmla="*/ 97284 w 12192000"/>
              <a:gd name="connsiteY494" fmla="*/ 3520393 h 4267200"/>
              <a:gd name="connsiteX495" fmla="*/ 922050 w 12192000"/>
              <a:gd name="connsiteY495" fmla="*/ 3074867 h 4267200"/>
              <a:gd name="connsiteX496" fmla="*/ 1405265 w 12192000"/>
              <a:gd name="connsiteY496" fmla="*/ 3016319 h 4267200"/>
              <a:gd name="connsiteX497" fmla="*/ 1407512 w 12192000"/>
              <a:gd name="connsiteY497" fmla="*/ 3018001 h 4267200"/>
              <a:gd name="connsiteX498" fmla="*/ 1726266 w 12192000"/>
              <a:gd name="connsiteY498" fmla="*/ 2777274 h 4267200"/>
              <a:gd name="connsiteX499" fmla="*/ 625390 w 12192000"/>
              <a:gd name="connsiteY499" fmla="*/ 2514541 h 4267200"/>
              <a:gd name="connsiteX500" fmla="*/ 619799 w 12192000"/>
              <a:gd name="connsiteY500" fmla="*/ 2527180 h 4267200"/>
              <a:gd name="connsiteX501" fmla="*/ 310030 w 12192000"/>
              <a:gd name="connsiteY501" fmla="*/ 2771818 h 4267200"/>
              <a:gd name="connsiteX502" fmla="*/ 173877 w 12192000"/>
              <a:gd name="connsiteY502" fmla="*/ 2937056 h 4267200"/>
              <a:gd name="connsiteX503" fmla="*/ 77889 w 12192000"/>
              <a:gd name="connsiteY503" fmla="*/ 3138440 h 4267200"/>
              <a:gd name="connsiteX504" fmla="*/ 0 w 12192000"/>
              <a:gd name="connsiteY504" fmla="*/ 3271395 h 4267200"/>
              <a:gd name="connsiteX505" fmla="*/ 0 w 12192000"/>
              <a:gd name="connsiteY505" fmla="*/ 3153002 h 4267200"/>
              <a:gd name="connsiteX506" fmla="*/ 2386 w 12192000"/>
              <a:gd name="connsiteY506" fmla="*/ 3149203 h 4267200"/>
              <a:gd name="connsiteX507" fmla="*/ 89753 w 12192000"/>
              <a:gd name="connsiteY507" fmla="*/ 2987702 h 4267200"/>
              <a:gd name="connsiteX508" fmla="*/ 76869 w 12192000"/>
              <a:gd name="connsiteY508" fmla="*/ 3005404 h 4267200"/>
              <a:gd name="connsiteX509" fmla="*/ 32049 w 12192000"/>
              <a:gd name="connsiteY509" fmla="*/ 3065814 h 4267200"/>
              <a:gd name="connsiteX510" fmla="*/ 0 w 12192000"/>
              <a:gd name="connsiteY510" fmla="*/ 3108744 h 4267200"/>
              <a:gd name="connsiteX511" fmla="*/ 0 w 12192000"/>
              <a:gd name="connsiteY511" fmla="*/ 3058059 h 4267200"/>
              <a:gd name="connsiteX512" fmla="*/ 7610 w 12192000"/>
              <a:gd name="connsiteY512" fmla="*/ 3047889 h 4267200"/>
              <a:gd name="connsiteX513" fmla="*/ 52419 w 12192000"/>
              <a:gd name="connsiteY513" fmla="*/ 2987479 h 4267200"/>
              <a:gd name="connsiteX514" fmla="*/ 59142 w 12192000"/>
              <a:gd name="connsiteY514" fmla="*/ 2978488 h 4267200"/>
              <a:gd name="connsiteX515" fmla="*/ 0 w 12192000"/>
              <a:gd name="connsiteY515" fmla="*/ 3015334 h 4267200"/>
              <a:gd name="connsiteX516" fmla="*/ 0 w 12192000"/>
              <a:gd name="connsiteY516" fmla="*/ 2914286 h 4267200"/>
              <a:gd name="connsiteX517" fmla="*/ 36383 w 12192000"/>
              <a:gd name="connsiteY517" fmla="*/ 2901128 h 4267200"/>
              <a:gd name="connsiteX518" fmla="*/ 156329 w 12192000"/>
              <a:gd name="connsiteY518" fmla="*/ 2840533 h 4267200"/>
              <a:gd name="connsiteX519" fmla="*/ 358355 w 12192000"/>
              <a:gd name="connsiteY519" fmla="*/ 2620471 h 4267200"/>
              <a:gd name="connsiteX520" fmla="*/ 510577 w 12192000"/>
              <a:gd name="connsiteY520" fmla="*/ 2501244 h 4267200"/>
              <a:gd name="connsiteX521" fmla="*/ 211967 w 12192000"/>
              <a:gd name="connsiteY521" fmla="*/ 2479171 h 4267200"/>
              <a:gd name="connsiteX522" fmla="*/ 0 w 12192000"/>
              <a:gd name="connsiteY522" fmla="*/ 2476398 h 4267200"/>
              <a:gd name="connsiteX523" fmla="*/ 0 w 12192000"/>
              <a:gd name="connsiteY523" fmla="*/ 2389189 h 4267200"/>
              <a:gd name="connsiteX524" fmla="*/ 103062 w 12192000"/>
              <a:gd name="connsiteY524" fmla="*/ 2389518 h 4267200"/>
              <a:gd name="connsiteX525" fmla="*/ 510734 w 12192000"/>
              <a:gd name="connsiteY525" fmla="*/ 2416201 h 4267200"/>
              <a:gd name="connsiteX526" fmla="*/ 279257 w 12192000"/>
              <a:gd name="connsiteY526" fmla="*/ 2092102 h 4267200"/>
              <a:gd name="connsiteX527" fmla="*/ 65265 w 12192000"/>
              <a:gd name="connsiteY527" fmla="*/ 2006049 h 4267200"/>
              <a:gd name="connsiteX528" fmla="*/ 0 w 12192000"/>
              <a:gd name="connsiteY528" fmla="*/ 1982532 h 4267200"/>
              <a:gd name="connsiteX529" fmla="*/ 0 w 12192000"/>
              <a:gd name="connsiteY529" fmla="*/ 1912789 h 4267200"/>
              <a:gd name="connsiteX530" fmla="*/ 97460 w 12192000"/>
              <a:gd name="connsiteY530" fmla="*/ 1953725 h 4267200"/>
              <a:gd name="connsiteX531" fmla="*/ 221272 w 12192000"/>
              <a:gd name="connsiteY531" fmla="*/ 1980766 h 4267200"/>
              <a:gd name="connsiteX532" fmla="*/ 116765 w 12192000"/>
              <a:gd name="connsiteY532" fmla="*/ 1911033 h 4267200"/>
              <a:gd name="connsiteX533" fmla="*/ 16405 w 12192000"/>
              <a:gd name="connsiteY533" fmla="*/ 1803412 h 4267200"/>
              <a:gd name="connsiteX534" fmla="*/ 0 w 12192000"/>
              <a:gd name="connsiteY534" fmla="*/ 1784777 h 4267200"/>
              <a:gd name="connsiteX535" fmla="*/ 0 w 12192000"/>
              <a:gd name="connsiteY535" fmla="*/ 1740082 h 4267200"/>
              <a:gd name="connsiteX536" fmla="*/ 39394 w 12192000"/>
              <a:gd name="connsiteY536" fmla="*/ 1784856 h 4267200"/>
              <a:gd name="connsiteX537" fmla="*/ 135813 w 12192000"/>
              <a:gd name="connsiteY537" fmla="*/ 1888838 h 4267200"/>
              <a:gd name="connsiteX538" fmla="*/ 242575 w 12192000"/>
              <a:gd name="connsiteY538" fmla="*/ 1958841 h 4267200"/>
              <a:gd name="connsiteX539" fmla="*/ 82197 w 12192000"/>
              <a:gd name="connsiteY539" fmla="*/ 1754826 h 4267200"/>
              <a:gd name="connsiteX540" fmla="*/ 0 w 12192000"/>
              <a:gd name="connsiteY540" fmla="*/ 1679650 h 4267200"/>
              <a:gd name="connsiteX541" fmla="*/ 0 w 12192000"/>
              <a:gd name="connsiteY541" fmla="*/ 1602463 h 4267200"/>
              <a:gd name="connsiteX542" fmla="*/ 84689 w 12192000"/>
              <a:gd name="connsiteY542" fmla="*/ 1677442 h 4267200"/>
              <a:gd name="connsiteX543" fmla="*/ 298437 w 12192000"/>
              <a:gd name="connsiteY543" fmla="*/ 1968019 h 4267200"/>
              <a:gd name="connsiteX544" fmla="*/ 227269 w 12192000"/>
              <a:gd name="connsiteY544" fmla="*/ 1114064 h 4267200"/>
              <a:gd name="connsiteX545" fmla="*/ 248003 w 12192000"/>
              <a:gd name="connsiteY545" fmla="*/ 1089613 h 4267200"/>
              <a:gd name="connsiteX546" fmla="*/ 427020 w 12192000"/>
              <a:gd name="connsiteY546" fmla="*/ 1619803 h 4267200"/>
              <a:gd name="connsiteX547" fmla="*/ 340345 w 12192000"/>
              <a:gd name="connsiteY547" fmla="*/ 2027739 h 4267200"/>
              <a:gd name="connsiteX548" fmla="*/ 360865 w 12192000"/>
              <a:gd name="connsiteY548" fmla="*/ 2044827 h 4267200"/>
              <a:gd name="connsiteX549" fmla="*/ 560414 w 12192000"/>
              <a:gd name="connsiteY549" fmla="*/ 2421457 h 4267200"/>
              <a:gd name="connsiteX550" fmla="*/ 1359703 w 12192000"/>
              <a:gd name="connsiteY550" fmla="*/ 2578554 h 4267200"/>
              <a:gd name="connsiteX551" fmla="*/ 1359422 w 12192000"/>
              <a:gd name="connsiteY551" fmla="*/ 2577994 h 4267200"/>
              <a:gd name="connsiteX552" fmla="*/ 828701 w 12192000"/>
              <a:gd name="connsiteY552" fmla="*/ 1839520 h 4267200"/>
              <a:gd name="connsiteX553" fmla="*/ 494427 w 12192000"/>
              <a:gd name="connsiteY553" fmla="*/ 1092333 h 4267200"/>
              <a:gd name="connsiteX554" fmla="*/ 506322 w 12192000"/>
              <a:gd name="connsiteY554" fmla="*/ 1020997 h 4267200"/>
              <a:gd name="connsiteX555" fmla="*/ 4570198 w 12192000"/>
              <a:gd name="connsiteY555" fmla="*/ 978081 h 4267200"/>
              <a:gd name="connsiteX556" fmla="*/ 4523691 w 12192000"/>
              <a:gd name="connsiteY556" fmla="*/ 1127776 h 4267200"/>
              <a:gd name="connsiteX557" fmla="*/ 4509875 w 12192000"/>
              <a:gd name="connsiteY557" fmla="*/ 1167552 h 4267200"/>
              <a:gd name="connsiteX558" fmla="*/ 4478168 w 12192000"/>
              <a:gd name="connsiteY558" fmla="*/ 1260735 h 4267200"/>
              <a:gd name="connsiteX559" fmla="*/ 4409309 w 12192000"/>
              <a:gd name="connsiteY559" fmla="*/ 1666996 h 4267200"/>
              <a:gd name="connsiteX560" fmla="*/ 4370031 w 12192000"/>
              <a:gd name="connsiteY560" fmla="*/ 1955666 h 4267200"/>
              <a:gd name="connsiteX561" fmla="*/ 4570198 w 12192000"/>
              <a:gd name="connsiteY561" fmla="*/ 978081 h 4267200"/>
              <a:gd name="connsiteX562" fmla="*/ 12149131 w 12192000"/>
              <a:gd name="connsiteY562" fmla="*/ 959050 h 4267200"/>
              <a:gd name="connsiteX563" fmla="*/ 12105664 w 12192000"/>
              <a:gd name="connsiteY563" fmla="*/ 1006960 h 4267200"/>
              <a:gd name="connsiteX564" fmla="*/ 11883102 w 12192000"/>
              <a:gd name="connsiteY564" fmla="*/ 1184424 h 4267200"/>
              <a:gd name="connsiteX565" fmla="*/ 11665174 w 12192000"/>
              <a:gd name="connsiteY565" fmla="*/ 1317493 h 4267200"/>
              <a:gd name="connsiteX566" fmla="*/ 11590337 w 12192000"/>
              <a:gd name="connsiteY566" fmla="*/ 1348256 h 4267200"/>
              <a:gd name="connsiteX567" fmla="*/ 11492588 w 12192000"/>
              <a:gd name="connsiteY567" fmla="*/ 1390573 h 4267200"/>
              <a:gd name="connsiteX568" fmla="*/ 11888865 w 12192000"/>
              <a:gd name="connsiteY568" fmla="*/ 1220988 h 4267200"/>
              <a:gd name="connsiteX569" fmla="*/ 12149131 w 12192000"/>
              <a:gd name="connsiteY569" fmla="*/ 959050 h 4267200"/>
              <a:gd name="connsiteX570" fmla="*/ 4557898 w 12192000"/>
              <a:gd name="connsiteY570" fmla="*/ 900011 h 4267200"/>
              <a:gd name="connsiteX571" fmla="*/ 4344840 w 12192000"/>
              <a:gd name="connsiteY571" fmla="*/ 1922038 h 4267200"/>
              <a:gd name="connsiteX572" fmla="*/ 4378710 w 12192000"/>
              <a:gd name="connsiteY572" fmla="*/ 1665516 h 4267200"/>
              <a:gd name="connsiteX573" fmla="*/ 4448798 w 12192000"/>
              <a:gd name="connsiteY573" fmla="*/ 1253024 h 4267200"/>
              <a:gd name="connsiteX574" fmla="*/ 4480315 w 12192000"/>
              <a:gd name="connsiteY574" fmla="*/ 1158454 h 4267200"/>
              <a:gd name="connsiteX575" fmla="*/ 4494133 w 12192000"/>
              <a:gd name="connsiteY575" fmla="*/ 1118676 h 4267200"/>
              <a:gd name="connsiteX576" fmla="*/ 4557898 w 12192000"/>
              <a:gd name="connsiteY576" fmla="*/ 900011 h 4267200"/>
              <a:gd name="connsiteX577" fmla="*/ 5870151 w 12192000"/>
              <a:gd name="connsiteY577" fmla="*/ 898890 h 4267200"/>
              <a:gd name="connsiteX578" fmla="*/ 5861335 w 12192000"/>
              <a:gd name="connsiteY578" fmla="*/ 899177 h 4267200"/>
              <a:gd name="connsiteX579" fmla="*/ 5843702 w 12192000"/>
              <a:gd name="connsiteY579" fmla="*/ 899748 h 4267200"/>
              <a:gd name="connsiteX580" fmla="*/ 5651107 w 12192000"/>
              <a:gd name="connsiteY580" fmla="*/ 920306 h 4267200"/>
              <a:gd name="connsiteX581" fmla="*/ 5459407 w 12192000"/>
              <a:gd name="connsiteY581" fmla="*/ 940975 h 4267200"/>
              <a:gd name="connsiteX582" fmla="*/ 5374846 w 12192000"/>
              <a:gd name="connsiteY582" fmla="*/ 941988 h 4267200"/>
              <a:gd name="connsiteX583" fmla="*/ 5256105 w 12192000"/>
              <a:gd name="connsiteY583" fmla="*/ 945632 h 4267200"/>
              <a:gd name="connsiteX584" fmla="*/ 5107071 w 12192000"/>
              <a:gd name="connsiteY584" fmla="*/ 969720 h 4267200"/>
              <a:gd name="connsiteX585" fmla="*/ 4998681 w 12192000"/>
              <a:gd name="connsiteY585" fmla="*/ 988771 h 4267200"/>
              <a:gd name="connsiteX586" fmla="*/ 5870151 w 12192000"/>
              <a:gd name="connsiteY586" fmla="*/ 898890 h 4267200"/>
              <a:gd name="connsiteX587" fmla="*/ 12190084 w 12192000"/>
              <a:gd name="connsiteY587" fmla="*/ 854709 h 4267200"/>
              <a:gd name="connsiteX588" fmla="*/ 12162947 w 12192000"/>
              <a:gd name="connsiteY588" fmla="*/ 879275 h 4267200"/>
              <a:gd name="connsiteX589" fmla="*/ 11721478 w 12192000"/>
              <a:gd name="connsiteY589" fmla="*/ 1216434 h 4267200"/>
              <a:gd name="connsiteX590" fmla="*/ 11680712 w 12192000"/>
              <a:gd name="connsiteY590" fmla="*/ 1239730 h 4267200"/>
              <a:gd name="connsiteX591" fmla="*/ 11505347 w 12192000"/>
              <a:gd name="connsiteY591" fmla="*/ 1352837 h 4267200"/>
              <a:gd name="connsiteX592" fmla="*/ 11580962 w 12192000"/>
              <a:gd name="connsiteY592" fmla="*/ 1321759 h 4267200"/>
              <a:gd name="connsiteX593" fmla="*/ 11654234 w 12192000"/>
              <a:gd name="connsiteY593" fmla="*/ 1291618 h 4267200"/>
              <a:gd name="connsiteX594" fmla="*/ 11867274 w 12192000"/>
              <a:gd name="connsiteY594" fmla="*/ 1160983 h 4267200"/>
              <a:gd name="connsiteX595" fmla="*/ 12086035 w 12192000"/>
              <a:gd name="connsiteY595" fmla="*/ 986418 h 4267200"/>
              <a:gd name="connsiteX596" fmla="*/ 12190084 w 12192000"/>
              <a:gd name="connsiteY596" fmla="*/ 854709 h 4267200"/>
              <a:gd name="connsiteX597" fmla="*/ 5504425 w 12192000"/>
              <a:gd name="connsiteY597" fmla="*/ 848067 h 4267200"/>
              <a:gd name="connsiteX598" fmla="*/ 4968849 w 12192000"/>
              <a:gd name="connsiteY598" fmla="*/ 962318 h 4267200"/>
              <a:gd name="connsiteX599" fmla="*/ 5104039 w 12192000"/>
              <a:gd name="connsiteY599" fmla="*/ 940634 h 4267200"/>
              <a:gd name="connsiteX600" fmla="*/ 5256311 w 12192000"/>
              <a:gd name="connsiteY600" fmla="*/ 916490 h 4267200"/>
              <a:gd name="connsiteX601" fmla="*/ 5377381 w 12192000"/>
              <a:gd name="connsiteY601" fmla="*/ 912671 h 4267200"/>
              <a:gd name="connsiteX602" fmla="*/ 5460148 w 12192000"/>
              <a:gd name="connsiteY602" fmla="*/ 911442 h 4267200"/>
              <a:gd name="connsiteX603" fmla="*/ 5648971 w 12192000"/>
              <a:gd name="connsiteY603" fmla="*/ 891331 h 4267200"/>
              <a:gd name="connsiteX604" fmla="*/ 5844807 w 12192000"/>
              <a:gd name="connsiteY604" fmla="*/ 870718 h 4267200"/>
              <a:gd name="connsiteX605" fmla="*/ 5862975 w 12192000"/>
              <a:gd name="connsiteY605" fmla="*/ 869756 h 4267200"/>
              <a:gd name="connsiteX606" fmla="*/ 5920887 w 12192000"/>
              <a:gd name="connsiteY606" fmla="*/ 865929 h 4267200"/>
              <a:gd name="connsiteX607" fmla="*/ 5504425 w 12192000"/>
              <a:gd name="connsiteY607" fmla="*/ 848067 h 4267200"/>
              <a:gd name="connsiteX608" fmla="*/ 8924104 w 12192000"/>
              <a:gd name="connsiteY608" fmla="*/ 777000 h 4267200"/>
              <a:gd name="connsiteX609" fmla="*/ 8921999 w 12192000"/>
              <a:gd name="connsiteY609" fmla="*/ 794136 h 4267200"/>
              <a:gd name="connsiteX610" fmla="*/ 8916066 w 12192000"/>
              <a:gd name="connsiteY610" fmla="*/ 843129 h 4267200"/>
              <a:gd name="connsiteX611" fmla="*/ 8909852 w 12192000"/>
              <a:gd name="connsiteY611" fmla="*/ 1005313 h 4267200"/>
              <a:gd name="connsiteX612" fmla="*/ 8936982 w 12192000"/>
              <a:gd name="connsiteY612" fmla="*/ 1614896 h 4267200"/>
              <a:gd name="connsiteX613" fmla="*/ 8939706 w 12192000"/>
              <a:gd name="connsiteY613" fmla="*/ 1632791 h 4267200"/>
              <a:gd name="connsiteX614" fmla="*/ 8946691 w 12192000"/>
              <a:gd name="connsiteY614" fmla="*/ 1680170 h 4267200"/>
              <a:gd name="connsiteX615" fmla="*/ 8947643 w 12192000"/>
              <a:gd name="connsiteY615" fmla="*/ 1649028 h 4267200"/>
              <a:gd name="connsiteX616" fmla="*/ 8931687 w 12192000"/>
              <a:gd name="connsiteY616" fmla="*/ 871628 h 4267200"/>
              <a:gd name="connsiteX617" fmla="*/ 8929804 w 12192000"/>
              <a:gd name="connsiteY617" fmla="*/ 850229 h 4267200"/>
              <a:gd name="connsiteX618" fmla="*/ 8924104 w 12192000"/>
              <a:gd name="connsiteY618" fmla="*/ 777000 h 4267200"/>
              <a:gd name="connsiteX619" fmla="*/ 8951219 w 12192000"/>
              <a:gd name="connsiteY619" fmla="*/ 764662 h 4267200"/>
              <a:gd name="connsiteX620" fmla="*/ 8957270 w 12192000"/>
              <a:gd name="connsiteY620" fmla="*/ 847698 h 4267200"/>
              <a:gd name="connsiteX621" fmla="*/ 8959153 w 12192000"/>
              <a:gd name="connsiteY621" fmla="*/ 869097 h 4267200"/>
              <a:gd name="connsiteX622" fmla="*/ 8976081 w 12192000"/>
              <a:gd name="connsiteY622" fmla="*/ 1619865 h 4267200"/>
              <a:gd name="connsiteX623" fmla="*/ 8951219 w 12192000"/>
              <a:gd name="connsiteY623" fmla="*/ 764662 h 4267200"/>
              <a:gd name="connsiteX624" fmla="*/ 8898081 w 12192000"/>
              <a:gd name="connsiteY624" fmla="*/ 630137 h 4267200"/>
              <a:gd name="connsiteX625" fmla="*/ 8910095 w 12192000"/>
              <a:gd name="connsiteY625" fmla="*/ 1626691 h 4267200"/>
              <a:gd name="connsiteX626" fmla="*/ 8908822 w 12192000"/>
              <a:gd name="connsiteY626" fmla="*/ 1619067 h 4267200"/>
              <a:gd name="connsiteX627" fmla="*/ 8881669 w 12192000"/>
              <a:gd name="connsiteY627" fmla="*/ 1004967 h 4267200"/>
              <a:gd name="connsiteX628" fmla="*/ 8888265 w 12192000"/>
              <a:gd name="connsiteY628" fmla="*/ 840369 h 4267200"/>
              <a:gd name="connsiteX629" fmla="*/ 8894429 w 12192000"/>
              <a:gd name="connsiteY629" fmla="*/ 790831 h 4267200"/>
              <a:gd name="connsiteX630" fmla="*/ 8898081 w 12192000"/>
              <a:gd name="connsiteY630" fmla="*/ 630137 h 4267200"/>
              <a:gd name="connsiteX631" fmla="*/ 11491396 w 12192000"/>
              <a:gd name="connsiteY631" fmla="*/ 623931 h 4267200"/>
              <a:gd name="connsiteX632" fmla="*/ 11413329 w 12192000"/>
              <a:gd name="connsiteY632" fmla="*/ 662344 h 4267200"/>
              <a:gd name="connsiteX633" fmla="*/ 10966547 w 12192000"/>
              <a:gd name="connsiteY633" fmla="*/ 818916 h 4267200"/>
              <a:gd name="connsiteX634" fmla="*/ 10498883 w 12192000"/>
              <a:gd name="connsiteY634" fmla="*/ 1111507 h 4267200"/>
              <a:gd name="connsiteX635" fmla="*/ 10671292 w 12192000"/>
              <a:gd name="connsiteY635" fmla="*/ 1035777 h 4267200"/>
              <a:gd name="connsiteX636" fmla="*/ 10685894 w 12192000"/>
              <a:gd name="connsiteY636" fmla="*/ 1027151 h 4267200"/>
              <a:gd name="connsiteX637" fmla="*/ 11104337 w 12192000"/>
              <a:gd name="connsiteY637" fmla="*/ 817377 h 4267200"/>
              <a:gd name="connsiteX638" fmla="*/ 11491396 w 12192000"/>
              <a:gd name="connsiteY638" fmla="*/ 623931 h 4267200"/>
              <a:gd name="connsiteX639" fmla="*/ 10779304 w 12192000"/>
              <a:gd name="connsiteY639" fmla="*/ 584486 h 4267200"/>
              <a:gd name="connsiteX640" fmla="*/ 10658378 w 12192000"/>
              <a:gd name="connsiteY640" fmla="*/ 772788 h 4267200"/>
              <a:gd name="connsiteX641" fmla="*/ 10475581 w 12192000"/>
              <a:gd name="connsiteY641" fmla="*/ 1070739 h 4267200"/>
              <a:gd name="connsiteX642" fmla="*/ 10735178 w 12192000"/>
              <a:gd name="connsiteY642" fmla="*/ 693281 h 4267200"/>
              <a:gd name="connsiteX643" fmla="*/ 10132488 w 12192000"/>
              <a:gd name="connsiteY643" fmla="*/ 518596 h 4267200"/>
              <a:gd name="connsiteX644" fmla="*/ 9879465 w 12192000"/>
              <a:gd name="connsiteY644" fmla="*/ 567273 h 4267200"/>
              <a:gd name="connsiteX645" fmla="*/ 9364243 w 12192000"/>
              <a:gd name="connsiteY645" fmla="*/ 809468 h 4267200"/>
              <a:gd name="connsiteX646" fmla="*/ 9366655 w 12192000"/>
              <a:gd name="connsiteY646" fmla="*/ 809848 h 4267200"/>
              <a:gd name="connsiteX647" fmla="*/ 9914233 w 12192000"/>
              <a:gd name="connsiteY647" fmla="*/ 596159 h 4267200"/>
              <a:gd name="connsiteX648" fmla="*/ 10264524 w 12192000"/>
              <a:gd name="connsiteY648" fmla="*/ 501747 h 4267200"/>
              <a:gd name="connsiteX649" fmla="*/ 9922837 w 12192000"/>
              <a:gd name="connsiteY649" fmla="*/ 622979 h 4267200"/>
              <a:gd name="connsiteX650" fmla="*/ 9416908 w 12192000"/>
              <a:gd name="connsiteY650" fmla="*/ 818889 h 4267200"/>
              <a:gd name="connsiteX651" fmla="*/ 9418234 w 12192000"/>
              <a:gd name="connsiteY651" fmla="*/ 818810 h 4267200"/>
              <a:gd name="connsiteX652" fmla="*/ 10264524 w 12192000"/>
              <a:gd name="connsiteY652" fmla="*/ 501747 h 4267200"/>
              <a:gd name="connsiteX653" fmla="*/ 10802699 w 12192000"/>
              <a:gd name="connsiteY653" fmla="*/ 488163 h 4267200"/>
              <a:gd name="connsiteX654" fmla="*/ 10618739 w 12192000"/>
              <a:gd name="connsiteY654" fmla="*/ 734118 h 4267200"/>
              <a:gd name="connsiteX655" fmla="*/ 10604580 w 12192000"/>
              <a:gd name="connsiteY655" fmla="*/ 753877 h 4267200"/>
              <a:gd name="connsiteX656" fmla="*/ 10529643 w 12192000"/>
              <a:gd name="connsiteY656" fmla="*/ 867004 h 4267200"/>
              <a:gd name="connsiteX657" fmla="*/ 10462194 w 12192000"/>
              <a:gd name="connsiteY657" fmla="*/ 1035452 h 4267200"/>
              <a:gd name="connsiteX658" fmla="*/ 10635117 w 12192000"/>
              <a:gd name="connsiteY658" fmla="*/ 757788 h 4267200"/>
              <a:gd name="connsiteX659" fmla="*/ 10802699 w 12192000"/>
              <a:gd name="connsiteY659" fmla="*/ 488163 h 4267200"/>
              <a:gd name="connsiteX660" fmla="*/ 10359107 w 12192000"/>
              <a:gd name="connsiteY660" fmla="*/ 485136 h 4267200"/>
              <a:gd name="connsiteX661" fmla="*/ 9515108 w 12192000"/>
              <a:gd name="connsiteY661" fmla="*/ 825701 h 4267200"/>
              <a:gd name="connsiteX662" fmla="*/ 10359107 w 12192000"/>
              <a:gd name="connsiteY662" fmla="*/ 485136 h 4267200"/>
              <a:gd name="connsiteX663" fmla="*/ 11886089 w 12192000"/>
              <a:gd name="connsiteY663" fmla="*/ 483936 h 4267200"/>
              <a:gd name="connsiteX664" fmla="*/ 11622890 w 12192000"/>
              <a:gd name="connsiteY664" fmla="*/ 661575 h 4267200"/>
              <a:gd name="connsiteX665" fmla="*/ 11038640 w 12192000"/>
              <a:gd name="connsiteY665" fmla="*/ 996875 h 4267200"/>
              <a:gd name="connsiteX666" fmla="*/ 10561310 w 12192000"/>
              <a:gd name="connsiteY666" fmla="*/ 1145020 h 4267200"/>
              <a:gd name="connsiteX667" fmla="*/ 10675127 w 12192000"/>
              <a:gd name="connsiteY667" fmla="*/ 1163586 h 4267200"/>
              <a:gd name="connsiteX668" fmla="*/ 11120351 w 12192000"/>
              <a:gd name="connsiteY668" fmla="*/ 990907 h 4267200"/>
              <a:gd name="connsiteX669" fmla="*/ 11648506 w 12192000"/>
              <a:gd name="connsiteY669" fmla="*/ 680145 h 4267200"/>
              <a:gd name="connsiteX670" fmla="*/ 11886089 w 12192000"/>
              <a:gd name="connsiteY670" fmla="*/ 483936 h 4267200"/>
              <a:gd name="connsiteX671" fmla="*/ 3607114 w 12192000"/>
              <a:gd name="connsiteY671" fmla="*/ 467441 h 4267200"/>
              <a:gd name="connsiteX672" fmla="*/ 3296242 w 12192000"/>
              <a:gd name="connsiteY672" fmla="*/ 807991 h 4267200"/>
              <a:gd name="connsiteX673" fmla="*/ 3174674 w 12192000"/>
              <a:gd name="connsiteY673" fmla="*/ 919759 h 4267200"/>
              <a:gd name="connsiteX674" fmla="*/ 3042978 w 12192000"/>
              <a:gd name="connsiteY674" fmla="*/ 1054894 h 4267200"/>
              <a:gd name="connsiteX675" fmla="*/ 2968914 w 12192000"/>
              <a:gd name="connsiteY675" fmla="*/ 1133756 h 4267200"/>
              <a:gd name="connsiteX676" fmla="*/ 3103823 w 12192000"/>
              <a:gd name="connsiteY676" fmla="*/ 1026814 h 4267200"/>
              <a:gd name="connsiteX677" fmla="*/ 3607114 w 12192000"/>
              <a:gd name="connsiteY677" fmla="*/ 467441 h 4267200"/>
              <a:gd name="connsiteX678" fmla="*/ 10784544 w 12192000"/>
              <a:gd name="connsiteY678" fmla="*/ 465669 h 4267200"/>
              <a:gd name="connsiteX679" fmla="*/ 10426419 w 12192000"/>
              <a:gd name="connsiteY679" fmla="*/ 1062158 h 4267200"/>
              <a:gd name="connsiteX680" fmla="*/ 10471732 w 12192000"/>
              <a:gd name="connsiteY680" fmla="*/ 921679 h 4267200"/>
              <a:gd name="connsiteX681" fmla="*/ 10504824 w 12192000"/>
              <a:gd name="connsiteY681" fmla="*/ 852631 h 4267200"/>
              <a:gd name="connsiteX682" fmla="*/ 10582237 w 12192000"/>
              <a:gd name="connsiteY682" fmla="*/ 736692 h 4267200"/>
              <a:gd name="connsiteX683" fmla="*/ 10596401 w 12192000"/>
              <a:gd name="connsiteY683" fmla="*/ 716935 h 4267200"/>
              <a:gd name="connsiteX684" fmla="*/ 10784544 w 12192000"/>
              <a:gd name="connsiteY684" fmla="*/ 465669 h 4267200"/>
              <a:gd name="connsiteX685" fmla="*/ 11916494 w 12192000"/>
              <a:gd name="connsiteY685" fmla="*/ 422768 h 4267200"/>
              <a:gd name="connsiteX686" fmla="*/ 11703185 w 12192000"/>
              <a:gd name="connsiteY686" fmla="*/ 528178 h 4267200"/>
              <a:gd name="connsiteX687" fmla="*/ 11680755 w 12192000"/>
              <a:gd name="connsiteY687" fmla="*/ 543149 h 4267200"/>
              <a:gd name="connsiteX688" fmla="*/ 11116818 w 12192000"/>
              <a:gd name="connsiteY688" fmla="*/ 842623 h 4267200"/>
              <a:gd name="connsiteX689" fmla="*/ 10700164 w 12192000"/>
              <a:gd name="connsiteY689" fmla="*/ 1051220 h 4267200"/>
              <a:gd name="connsiteX690" fmla="*/ 10685570 w 12192000"/>
              <a:gd name="connsiteY690" fmla="*/ 1059849 h 4267200"/>
              <a:gd name="connsiteX691" fmla="*/ 10584288 w 12192000"/>
              <a:gd name="connsiteY691" fmla="*/ 1113543 h 4267200"/>
              <a:gd name="connsiteX692" fmla="*/ 11026698 w 12192000"/>
              <a:gd name="connsiteY692" fmla="*/ 971858 h 4267200"/>
              <a:gd name="connsiteX693" fmla="*/ 11607604 w 12192000"/>
              <a:gd name="connsiteY693" fmla="*/ 638368 h 4267200"/>
              <a:gd name="connsiteX694" fmla="*/ 11919452 w 12192000"/>
              <a:gd name="connsiteY694" fmla="*/ 423380 h 4267200"/>
              <a:gd name="connsiteX695" fmla="*/ 11916494 w 12192000"/>
              <a:gd name="connsiteY695" fmla="*/ 422768 h 4267200"/>
              <a:gd name="connsiteX696" fmla="*/ 8148168 w 12192000"/>
              <a:gd name="connsiteY696" fmla="*/ 416949 h 4267200"/>
              <a:gd name="connsiteX697" fmla="*/ 7862052 w 12192000"/>
              <a:gd name="connsiteY697" fmla="*/ 694330 h 4267200"/>
              <a:gd name="connsiteX698" fmla="*/ 7808002 w 12192000"/>
              <a:gd name="connsiteY698" fmla="*/ 759654 h 4267200"/>
              <a:gd name="connsiteX699" fmla="*/ 8295299 w 12192000"/>
              <a:gd name="connsiteY699" fmla="*/ 416143 h 4267200"/>
              <a:gd name="connsiteX700" fmla="*/ 8309124 w 12192000"/>
              <a:gd name="connsiteY700" fmla="*/ 534021 h 4267200"/>
              <a:gd name="connsiteX701" fmla="*/ 8293154 w 12192000"/>
              <a:gd name="connsiteY701" fmla="*/ 672115 h 4267200"/>
              <a:gd name="connsiteX702" fmla="*/ 8279099 w 12192000"/>
              <a:gd name="connsiteY702" fmla="*/ 769176 h 4267200"/>
              <a:gd name="connsiteX703" fmla="*/ 8309186 w 12192000"/>
              <a:gd name="connsiteY703" fmla="*/ 1060039 h 4267200"/>
              <a:gd name="connsiteX704" fmla="*/ 8410512 w 12192000"/>
              <a:gd name="connsiteY704" fmla="*/ 1511108 h 4267200"/>
              <a:gd name="connsiteX705" fmla="*/ 8351657 w 12192000"/>
              <a:gd name="connsiteY705" fmla="*/ 521768 h 4267200"/>
              <a:gd name="connsiteX706" fmla="*/ 8295299 w 12192000"/>
              <a:gd name="connsiteY706" fmla="*/ 416143 h 4267200"/>
              <a:gd name="connsiteX707" fmla="*/ 8266483 w 12192000"/>
              <a:gd name="connsiteY707" fmla="*/ 414244 h 4267200"/>
              <a:gd name="connsiteX708" fmla="*/ 8343425 w 12192000"/>
              <a:gd name="connsiteY708" fmla="*/ 1357811 h 4267200"/>
              <a:gd name="connsiteX709" fmla="*/ 8282114 w 12192000"/>
              <a:gd name="connsiteY709" fmla="*/ 1064671 h 4267200"/>
              <a:gd name="connsiteX710" fmla="*/ 8251298 w 12192000"/>
              <a:gd name="connsiteY710" fmla="*/ 766414 h 4267200"/>
              <a:gd name="connsiteX711" fmla="*/ 8265729 w 12192000"/>
              <a:gd name="connsiteY711" fmla="*/ 666939 h 4267200"/>
              <a:gd name="connsiteX712" fmla="*/ 8281494 w 12192000"/>
              <a:gd name="connsiteY712" fmla="*/ 533909 h 4267200"/>
              <a:gd name="connsiteX713" fmla="*/ 8266483 w 12192000"/>
              <a:gd name="connsiteY713" fmla="*/ 414244 h 4267200"/>
              <a:gd name="connsiteX714" fmla="*/ 8140802 w 12192000"/>
              <a:gd name="connsiteY714" fmla="*/ 388720 h 4267200"/>
              <a:gd name="connsiteX715" fmla="*/ 7860379 w 12192000"/>
              <a:gd name="connsiteY715" fmla="*/ 596411 h 4267200"/>
              <a:gd name="connsiteX716" fmla="*/ 7737688 w 12192000"/>
              <a:gd name="connsiteY716" fmla="*/ 790400 h 4267200"/>
              <a:gd name="connsiteX717" fmla="*/ 7726885 w 12192000"/>
              <a:gd name="connsiteY717" fmla="*/ 812869 h 4267200"/>
              <a:gd name="connsiteX718" fmla="*/ 7840490 w 12192000"/>
              <a:gd name="connsiteY718" fmla="*/ 676832 h 4267200"/>
              <a:gd name="connsiteX719" fmla="*/ 8140802 w 12192000"/>
              <a:gd name="connsiteY719" fmla="*/ 388720 h 4267200"/>
              <a:gd name="connsiteX720" fmla="*/ 3744487 w 12192000"/>
              <a:gd name="connsiteY720" fmla="*/ 383136 h 4267200"/>
              <a:gd name="connsiteX721" fmla="*/ 3970213 w 12192000"/>
              <a:gd name="connsiteY721" fmla="*/ 995559 h 4267200"/>
              <a:gd name="connsiteX722" fmla="*/ 3744487 w 12192000"/>
              <a:gd name="connsiteY722" fmla="*/ 383136 h 4267200"/>
              <a:gd name="connsiteX723" fmla="*/ 3624562 w 12192000"/>
              <a:gd name="connsiteY723" fmla="*/ 367041 h 4267200"/>
              <a:gd name="connsiteX724" fmla="*/ 3489712 w 12192000"/>
              <a:gd name="connsiteY724" fmla="*/ 485386 h 4267200"/>
              <a:gd name="connsiteX725" fmla="*/ 3182994 w 12192000"/>
              <a:gd name="connsiteY725" fmla="*/ 828265 h 4267200"/>
              <a:gd name="connsiteX726" fmla="*/ 2892114 w 12192000"/>
              <a:gd name="connsiteY726" fmla="*/ 1172635 h 4267200"/>
              <a:gd name="connsiteX727" fmla="*/ 3021459 w 12192000"/>
              <a:gd name="connsiteY727" fmla="*/ 1035385 h 4267200"/>
              <a:gd name="connsiteX728" fmla="*/ 3153873 w 12192000"/>
              <a:gd name="connsiteY728" fmla="*/ 898971 h 4267200"/>
              <a:gd name="connsiteX729" fmla="*/ 3276511 w 12192000"/>
              <a:gd name="connsiteY729" fmla="*/ 786423 h 4267200"/>
              <a:gd name="connsiteX730" fmla="*/ 3584154 w 12192000"/>
              <a:gd name="connsiteY730" fmla="*/ 448218 h 4267200"/>
              <a:gd name="connsiteX731" fmla="*/ 3624562 w 12192000"/>
              <a:gd name="connsiteY731" fmla="*/ 367041 h 4267200"/>
              <a:gd name="connsiteX732" fmla="*/ 3766672 w 12192000"/>
              <a:gd name="connsiteY732" fmla="*/ 359429 h 4267200"/>
              <a:gd name="connsiteX733" fmla="*/ 3996338 w 12192000"/>
              <a:gd name="connsiteY733" fmla="*/ 968237 h 4267200"/>
              <a:gd name="connsiteX734" fmla="*/ 3766672 w 12192000"/>
              <a:gd name="connsiteY734" fmla="*/ 359429 h 4267200"/>
              <a:gd name="connsiteX735" fmla="*/ 5805386 w 12192000"/>
              <a:gd name="connsiteY735" fmla="*/ 239240 h 4267200"/>
              <a:gd name="connsiteX736" fmla="*/ 5736947 w 12192000"/>
              <a:gd name="connsiteY736" fmla="*/ 261367 h 4267200"/>
              <a:gd name="connsiteX737" fmla="*/ 5427012 w 12192000"/>
              <a:gd name="connsiteY737" fmla="*/ 311272 h 4267200"/>
              <a:gd name="connsiteX738" fmla="*/ 5147818 w 12192000"/>
              <a:gd name="connsiteY738" fmla="*/ 322112 h 4267200"/>
              <a:gd name="connsiteX739" fmla="*/ 5060854 w 12192000"/>
              <a:gd name="connsiteY739" fmla="*/ 311882 h 4267200"/>
              <a:gd name="connsiteX740" fmla="*/ 4945989 w 12192000"/>
              <a:gd name="connsiteY740" fmla="*/ 300516 h 4267200"/>
              <a:gd name="connsiteX741" fmla="*/ 5410479 w 12192000"/>
              <a:gd name="connsiteY741" fmla="*/ 348434 h 4267200"/>
              <a:gd name="connsiteX742" fmla="*/ 5805386 w 12192000"/>
              <a:gd name="connsiteY742" fmla="*/ 239240 h 4267200"/>
              <a:gd name="connsiteX743" fmla="*/ 5905192 w 12192000"/>
              <a:gd name="connsiteY743" fmla="*/ 163079 h 4267200"/>
              <a:gd name="connsiteX744" fmla="*/ 5865655 w 12192000"/>
              <a:gd name="connsiteY744" fmla="*/ 171901 h 4267200"/>
              <a:gd name="connsiteX745" fmla="*/ 5259740 w 12192000"/>
              <a:gd name="connsiteY745" fmla="*/ 257013 h 4267200"/>
              <a:gd name="connsiteX746" fmla="*/ 5208466 w 12192000"/>
              <a:gd name="connsiteY746" fmla="*/ 257550 h 4267200"/>
              <a:gd name="connsiteX747" fmla="*/ 4980204 w 12192000"/>
              <a:gd name="connsiteY747" fmla="*/ 271903 h 4267200"/>
              <a:gd name="connsiteX748" fmla="*/ 5068068 w 12192000"/>
              <a:gd name="connsiteY748" fmla="*/ 282244 h 4267200"/>
              <a:gd name="connsiteX749" fmla="*/ 5153231 w 12192000"/>
              <a:gd name="connsiteY749" fmla="*/ 292240 h 4267200"/>
              <a:gd name="connsiteX750" fmla="*/ 5426491 w 12192000"/>
              <a:gd name="connsiteY750" fmla="*/ 281128 h 4267200"/>
              <a:gd name="connsiteX751" fmla="*/ 5731212 w 12192000"/>
              <a:gd name="connsiteY751" fmla="*/ 231951 h 4267200"/>
              <a:gd name="connsiteX752" fmla="*/ 5905192 w 12192000"/>
              <a:gd name="connsiteY752" fmla="*/ 163079 h 4267200"/>
              <a:gd name="connsiteX753" fmla="*/ 5944437 w 12192000"/>
              <a:gd name="connsiteY753" fmla="*/ 113829 h 4267200"/>
              <a:gd name="connsiteX754" fmla="*/ 5825032 w 12192000"/>
              <a:gd name="connsiteY754" fmla="*/ 146405 h 4267200"/>
              <a:gd name="connsiteX755" fmla="*/ 4955599 w 12192000"/>
              <a:gd name="connsiteY755" fmla="*/ 247008 h 4267200"/>
              <a:gd name="connsiteX756" fmla="*/ 5210104 w 12192000"/>
              <a:gd name="connsiteY756" fmla="*/ 228123 h 4267200"/>
              <a:gd name="connsiteX757" fmla="*/ 5261015 w 12192000"/>
              <a:gd name="connsiteY757" fmla="*/ 227087 h 4267200"/>
              <a:gd name="connsiteX758" fmla="*/ 5861181 w 12192000"/>
              <a:gd name="connsiteY758" fmla="*/ 143093 h 4267200"/>
              <a:gd name="connsiteX759" fmla="*/ 5961252 w 12192000"/>
              <a:gd name="connsiteY759" fmla="*/ 114820 h 4267200"/>
              <a:gd name="connsiteX760" fmla="*/ 5944437 w 12192000"/>
              <a:gd name="connsiteY760" fmla="*/ 113829 h 4267200"/>
              <a:gd name="connsiteX761" fmla="*/ 9095810 w 12192000"/>
              <a:gd name="connsiteY761" fmla="*/ 0 h 4267200"/>
              <a:gd name="connsiteX762" fmla="*/ 9215999 w 12192000"/>
              <a:gd name="connsiteY762" fmla="*/ 0 h 4267200"/>
              <a:gd name="connsiteX763" fmla="*/ 9250991 w 12192000"/>
              <a:gd name="connsiteY763" fmla="*/ 17650 h 4267200"/>
              <a:gd name="connsiteX764" fmla="*/ 9551793 w 12192000"/>
              <a:gd name="connsiteY764" fmla="*/ 69947 h 4267200"/>
              <a:gd name="connsiteX765" fmla="*/ 10211701 w 12192000"/>
              <a:gd name="connsiteY765" fmla="*/ 15192 h 4267200"/>
              <a:gd name="connsiteX766" fmla="*/ 9665014 w 12192000"/>
              <a:gd name="connsiteY766" fmla="*/ 41266 h 4267200"/>
              <a:gd name="connsiteX767" fmla="*/ 9382567 w 12192000"/>
              <a:gd name="connsiteY767" fmla="*/ 18583 h 4267200"/>
              <a:gd name="connsiteX768" fmla="*/ 9283159 w 12192000"/>
              <a:gd name="connsiteY768" fmla="*/ 0 h 4267200"/>
              <a:gd name="connsiteX769" fmla="*/ 9469266 w 12192000"/>
              <a:gd name="connsiteY769" fmla="*/ 0 h 4267200"/>
              <a:gd name="connsiteX770" fmla="*/ 9504117 w 12192000"/>
              <a:gd name="connsiteY770" fmla="*/ 4274 h 4267200"/>
              <a:gd name="connsiteX771" fmla="*/ 9667223 w 12192000"/>
              <a:gd name="connsiteY771" fmla="*/ 13232 h 4267200"/>
              <a:gd name="connsiteX772" fmla="*/ 9887703 w 12192000"/>
              <a:gd name="connsiteY772" fmla="*/ 12601 h 4267200"/>
              <a:gd name="connsiteX773" fmla="*/ 10088930 w 12192000"/>
              <a:gd name="connsiteY773" fmla="*/ 0 h 4267200"/>
              <a:gd name="connsiteX774" fmla="*/ 10544171 w 12192000"/>
              <a:gd name="connsiteY774" fmla="*/ 0 h 4267200"/>
              <a:gd name="connsiteX775" fmla="*/ 10392396 w 12192000"/>
              <a:gd name="connsiteY775" fmla="*/ 36772 h 4267200"/>
              <a:gd name="connsiteX776" fmla="*/ 9413803 w 12192000"/>
              <a:gd name="connsiteY776" fmla="*/ 131277 h 4267200"/>
              <a:gd name="connsiteX777" fmla="*/ 9174626 w 12192000"/>
              <a:gd name="connsiteY777" fmla="*/ 44983 h 4267200"/>
              <a:gd name="connsiteX778" fmla="*/ 8474998 w 12192000"/>
              <a:gd name="connsiteY778" fmla="*/ 0 h 4267200"/>
              <a:gd name="connsiteX779" fmla="*/ 8573502 w 12192000"/>
              <a:gd name="connsiteY779" fmla="*/ 0 h 4267200"/>
              <a:gd name="connsiteX780" fmla="*/ 8659539 w 12192000"/>
              <a:gd name="connsiteY780" fmla="*/ 117664 h 4267200"/>
              <a:gd name="connsiteX781" fmla="*/ 9248507 w 12192000"/>
              <a:gd name="connsiteY781" fmla="*/ 743734 h 4267200"/>
              <a:gd name="connsiteX782" fmla="*/ 9309457 w 12192000"/>
              <a:gd name="connsiteY782" fmla="*/ 795932 h 4267200"/>
              <a:gd name="connsiteX783" fmla="*/ 9785496 w 12192000"/>
              <a:gd name="connsiteY783" fmla="*/ 530713 h 4267200"/>
              <a:gd name="connsiteX784" fmla="*/ 10482828 w 12192000"/>
              <a:gd name="connsiteY784" fmla="*/ 399738 h 4267200"/>
              <a:gd name="connsiteX785" fmla="*/ 10468382 w 12192000"/>
              <a:gd name="connsiteY785" fmla="*/ 461219 h 4267200"/>
              <a:gd name="connsiteX786" fmla="*/ 9430790 w 12192000"/>
              <a:gd name="connsiteY786" fmla="*/ 895589 h 4267200"/>
              <a:gd name="connsiteX787" fmla="*/ 10019780 w 12192000"/>
              <a:gd name="connsiteY787" fmla="*/ 1298815 h 4267200"/>
              <a:gd name="connsiteX788" fmla="*/ 10372218 w 12192000"/>
              <a:gd name="connsiteY788" fmla="*/ 1146081 h 4267200"/>
              <a:gd name="connsiteX789" fmla="*/ 10896429 w 12192000"/>
              <a:gd name="connsiteY789" fmla="*/ 310883 h 4267200"/>
              <a:gd name="connsiteX790" fmla="*/ 10919735 w 12192000"/>
              <a:gd name="connsiteY790" fmla="*/ 318176 h 4267200"/>
              <a:gd name="connsiteX791" fmla="*/ 10637064 w 12192000"/>
              <a:gd name="connsiteY791" fmla="*/ 935661 h 4267200"/>
              <a:gd name="connsiteX792" fmla="*/ 10516995 w 12192000"/>
              <a:gd name="connsiteY792" fmla="*/ 1070245 h 4267200"/>
              <a:gd name="connsiteX793" fmla="*/ 10868835 w 12192000"/>
              <a:gd name="connsiteY793" fmla="*/ 815534 h 4267200"/>
              <a:gd name="connsiteX794" fmla="*/ 11704547 w 12192000"/>
              <a:gd name="connsiteY794" fmla="*/ 465665 h 4267200"/>
              <a:gd name="connsiteX795" fmla="*/ 12033562 w 12192000"/>
              <a:gd name="connsiteY795" fmla="*/ 350012 h 4267200"/>
              <a:gd name="connsiteX796" fmla="*/ 12025537 w 12192000"/>
              <a:gd name="connsiteY796" fmla="*/ 382666 h 4267200"/>
              <a:gd name="connsiteX797" fmla="*/ 11088649 w 12192000"/>
              <a:gd name="connsiteY797" fmla="*/ 1056676 h 4267200"/>
              <a:gd name="connsiteX798" fmla="*/ 10561600 w 12192000"/>
              <a:gd name="connsiteY798" fmla="*/ 1229477 h 4267200"/>
              <a:gd name="connsiteX799" fmla="*/ 10280797 w 12192000"/>
              <a:gd name="connsiteY799" fmla="*/ 1263181 h 4267200"/>
              <a:gd name="connsiteX800" fmla="*/ 10083376 w 12192000"/>
              <a:gd name="connsiteY800" fmla="*/ 1334114 h 4267200"/>
              <a:gd name="connsiteX801" fmla="*/ 10832582 w 12192000"/>
              <a:gd name="connsiteY801" fmla="*/ 1687356 h 4267200"/>
              <a:gd name="connsiteX802" fmla="*/ 10839263 w 12192000"/>
              <a:gd name="connsiteY802" fmla="*/ 1683743 h 4267200"/>
              <a:gd name="connsiteX803" fmla="*/ 11350910 w 12192000"/>
              <a:gd name="connsiteY803" fmla="*/ 1443899 h 4267200"/>
              <a:gd name="connsiteX804" fmla="*/ 11360346 w 12192000"/>
              <a:gd name="connsiteY804" fmla="*/ 1429225 h 4267200"/>
              <a:gd name="connsiteX805" fmla="*/ 12167580 w 12192000"/>
              <a:gd name="connsiteY805" fmla="*/ 789523 h 4267200"/>
              <a:gd name="connsiteX806" fmla="*/ 12192000 w 12192000"/>
              <a:gd name="connsiteY806" fmla="*/ 769876 h 4267200"/>
              <a:gd name="connsiteX807" fmla="*/ 12192000 w 12192000"/>
              <a:gd name="connsiteY807" fmla="*/ 802845 h 4267200"/>
              <a:gd name="connsiteX808" fmla="*/ 12173558 w 12192000"/>
              <a:gd name="connsiteY808" fmla="*/ 821317 h 4267200"/>
              <a:gd name="connsiteX809" fmla="*/ 12117398 w 12192000"/>
              <a:gd name="connsiteY809" fmla="*/ 877374 h 4267200"/>
              <a:gd name="connsiteX810" fmla="*/ 11472926 w 12192000"/>
              <a:gd name="connsiteY810" fmla="*/ 1344259 h 4267200"/>
              <a:gd name="connsiteX811" fmla="*/ 11666978 w 12192000"/>
              <a:gd name="connsiteY811" fmla="*/ 1215889 h 4267200"/>
              <a:gd name="connsiteX812" fmla="*/ 11707200 w 12192000"/>
              <a:gd name="connsiteY812" fmla="*/ 1192361 h 4267200"/>
              <a:gd name="connsiteX813" fmla="*/ 12144637 w 12192000"/>
              <a:gd name="connsiteY813" fmla="*/ 858646 h 4267200"/>
              <a:gd name="connsiteX814" fmla="*/ 12192000 w 12192000"/>
              <a:gd name="connsiteY814" fmla="*/ 810414 h 4267200"/>
              <a:gd name="connsiteX815" fmla="*/ 12192000 w 12192000"/>
              <a:gd name="connsiteY815" fmla="*/ 916439 h 4267200"/>
              <a:gd name="connsiteX816" fmla="*/ 12150630 w 12192000"/>
              <a:gd name="connsiteY816" fmla="*/ 982925 h 4267200"/>
              <a:gd name="connsiteX817" fmla="*/ 11389484 w 12192000"/>
              <a:gd name="connsiteY817" fmla="*/ 1469889 h 4267200"/>
              <a:gd name="connsiteX818" fmla="*/ 10923736 w 12192000"/>
              <a:gd name="connsiteY818" fmla="*/ 1721439 h 4267200"/>
              <a:gd name="connsiteX819" fmla="*/ 11091913 w 12192000"/>
              <a:gd name="connsiteY819" fmla="*/ 1780406 h 4267200"/>
              <a:gd name="connsiteX820" fmla="*/ 11771238 w 12192000"/>
              <a:gd name="connsiteY820" fmla="*/ 1944400 h 4267200"/>
              <a:gd name="connsiteX821" fmla="*/ 11783166 w 12192000"/>
              <a:gd name="connsiteY821" fmla="*/ 1931422 h 4267200"/>
              <a:gd name="connsiteX822" fmla="*/ 12131988 w 12192000"/>
              <a:gd name="connsiteY822" fmla="*/ 1574357 h 4267200"/>
              <a:gd name="connsiteX823" fmla="*/ 12192000 w 12192000"/>
              <a:gd name="connsiteY823" fmla="*/ 1537429 h 4267200"/>
              <a:gd name="connsiteX824" fmla="*/ 12192000 w 12192000"/>
              <a:gd name="connsiteY824" fmla="*/ 1589108 h 4267200"/>
              <a:gd name="connsiteX825" fmla="*/ 12112105 w 12192000"/>
              <a:gd name="connsiteY825" fmla="*/ 1640352 h 4267200"/>
              <a:gd name="connsiteX826" fmla="*/ 11849203 w 12192000"/>
              <a:gd name="connsiteY826" fmla="*/ 1900149 h 4267200"/>
              <a:gd name="connsiteX827" fmla="*/ 11946326 w 12192000"/>
              <a:gd name="connsiteY827" fmla="*/ 1822808 h 4267200"/>
              <a:gd name="connsiteX828" fmla="*/ 12055863 w 12192000"/>
              <a:gd name="connsiteY828" fmla="*/ 1735914 h 4267200"/>
              <a:gd name="connsiteX829" fmla="*/ 12150816 w 12192000"/>
              <a:gd name="connsiteY829" fmla="*/ 1678902 h 4267200"/>
              <a:gd name="connsiteX830" fmla="*/ 12192000 w 12192000"/>
              <a:gd name="connsiteY830" fmla="*/ 1655121 h 4267200"/>
              <a:gd name="connsiteX831" fmla="*/ 12192000 w 12192000"/>
              <a:gd name="connsiteY831" fmla="*/ 1686869 h 4267200"/>
              <a:gd name="connsiteX832" fmla="*/ 12163772 w 12192000"/>
              <a:gd name="connsiteY832" fmla="*/ 1703058 h 4267200"/>
              <a:gd name="connsiteX833" fmla="*/ 12070597 w 12192000"/>
              <a:gd name="connsiteY833" fmla="*/ 1758893 h 4267200"/>
              <a:gd name="connsiteX834" fmla="*/ 11963621 w 12192000"/>
              <a:gd name="connsiteY834" fmla="*/ 1844299 h 4267200"/>
              <a:gd name="connsiteX835" fmla="*/ 11886604 w 12192000"/>
              <a:gd name="connsiteY835" fmla="*/ 1907617 h 4267200"/>
              <a:gd name="connsiteX836" fmla="*/ 12153575 w 12192000"/>
              <a:gd name="connsiteY836" fmla="*/ 1786372 h 4267200"/>
              <a:gd name="connsiteX837" fmla="*/ 12192000 w 12192000"/>
              <a:gd name="connsiteY837" fmla="*/ 1759693 h 4267200"/>
              <a:gd name="connsiteX838" fmla="*/ 12192000 w 12192000"/>
              <a:gd name="connsiteY838" fmla="*/ 1809459 h 4267200"/>
              <a:gd name="connsiteX839" fmla="*/ 12121362 w 12192000"/>
              <a:gd name="connsiteY839" fmla="*/ 1857561 h 4267200"/>
              <a:gd name="connsiteX840" fmla="*/ 11895949 w 12192000"/>
              <a:gd name="connsiteY840" fmla="*/ 1963079 h 4267200"/>
              <a:gd name="connsiteX841" fmla="*/ 12192000 w 12192000"/>
              <a:gd name="connsiteY841" fmla="*/ 1990579 h 4267200"/>
              <a:gd name="connsiteX842" fmla="*/ 12192000 w 12192000"/>
              <a:gd name="connsiteY842" fmla="*/ 2065582 h 4267200"/>
              <a:gd name="connsiteX843" fmla="*/ 12153918 w 12192000"/>
              <a:gd name="connsiteY843" fmla="*/ 2063926 h 4267200"/>
              <a:gd name="connsiteX844" fmla="*/ 12192000 w 12192000"/>
              <a:gd name="connsiteY844" fmla="*/ 2085104 h 4267200"/>
              <a:gd name="connsiteX845" fmla="*/ 12192000 w 12192000"/>
              <a:gd name="connsiteY845" fmla="*/ 2178471 h 4267200"/>
              <a:gd name="connsiteX846" fmla="*/ 12085355 w 12192000"/>
              <a:gd name="connsiteY846" fmla="*/ 2122457 h 4267200"/>
              <a:gd name="connsiteX847" fmla="*/ 12192000 w 12192000"/>
              <a:gd name="connsiteY847" fmla="*/ 2196158 h 4267200"/>
              <a:gd name="connsiteX848" fmla="*/ 12192000 w 12192000"/>
              <a:gd name="connsiteY848" fmla="*/ 2230374 h 4267200"/>
              <a:gd name="connsiteX849" fmla="*/ 12041237 w 12192000"/>
              <a:gd name="connsiteY849" fmla="*/ 2126309 h 4267200"/>
              <a:gd name="connsiteX850" fmla="*/ 12174450 w 12192000"/>
              <a:gd name="connsiteY850" fmla="*/ 2262541 h 4267200"/>
              <a:gd name="connsiteX851" fmla="*/ 12192000 w 12192000"/>
              <a:gd name="connsiteY851" fmla="*/ 2275857 h 4267200"/>
              <a:gd name="connsiteX852" fmla="*/ 12192000 w 12192000"/>
              <a:gd name="connsiteY852" fmla="*/ 2377131 h 4267200"/>
              <a:gd name="connsiteX853" fmla="*/ 12155801 w 12192000"/>
              <a:gd name="connsiteY853" fmla="*/ 2349925 h 4267200"/>
              <a:gd name="connsiteX854" fmla="*/ 11930164 w 12192000"/>
              <a:gd name="connsiteY854" fmla="*/ 2041945 h 4267200"/>
              <a:gd name="connsiteX855" fmla="*/ 11561767 w 12192000"/>
              <a:gd name="connsiteY855" fmla="*/ 1984479 h 4267200"/>
              <a:gd name="connsiteX856" fmla="*/ 11987997 w 12192000"/>
              <a:gd name="connsiteY856" fmla="*/ 3153822 h 4267200"/>
              <a:gd name="connsiteX857" fmla="*/ 11926558 w 12192000"/>
              <a:gd name="connsiteY857" fmla="*/ 3203134 h 4267200"/>
              <a:gd name="connsiteX858" fmla="*/ 11440430 w 12192000"/>
              <a:gd name="connsiteY858" fmla="*/ 1973028 h 4267200"/>
              <a:gd name="connsiteX859" fmla="*/ 11446754 w 12192000"/>
              <a:gd name="connsiteY859" fmla="*/ 1959605 h 4267200"/>
              <a:gd name="connsiteX860" fmla="*/ 11050651 w 12192000"/>
              <a:gd name="connsiteY860" fmla="*/ 1850495 h 4267200"/>
              <a:gd name="connsiteX861" fmla="*/ 10389960 w 12192000"/>
              <a:gd name="connsiteY861" fmla="*/ 1586232 h 4267200"/>
              <a:gd name="connsiteX862" fmla="*/ 10500699 w 12192000"/>
              <a:gd name="connsiteY862" fmla="*/ 1913175 h 4267200"/>
              <a:gd name="connsiteX863" fmla="*/ 10507814 w 12192000"/>
              <a:gd name="connsiteY863" fmla="*/ 1920694 h 4267200"/>
              <a:gd name="connsiteX864" fmla="*/ 10518908 w 12192000"/>
              <a:gd name="connsiteY864" fmla="*/ 1911226 h 4267200"/>
              <a:gd name="connsiteX865" fmla="*/ 11258935 w 12192000"/>
              <a:gd name="connsiteY865" fmla="*/ 2442781 h 4267200"/>
              <a:gd name="connsiteX866" fmla="*/ 11211663 w 12192000"/>
              <a:gd name="connsiteY866" fmla="*/ 2510325 h 4267200"/>
              <a:gd name="connsiteX867" fmla="*/ 10571295 w 12192000"/>
              <a:gd name="connsiteY867" fmla="*/ 2105302 h 4267200"/>
              <a:gd name="connsiteX868" fmla="*/ 10435737 w 12192000"/>
              <a:gd name="connsiteY868" fmla="*/ 2805672 h 4267200"/>
              <a:gd name="connsiteX869" fmla="*/ 10206831 w 12192000"/>
              <a:gd name="connsiteY869" fmla="*/ 3151701 h 4267200"/>
              <a:gd name="connsiteX870" fmla="*/ 10196482 w 12192000"/>
              <a:gd name="connsiteY870" fmla="*/ 3135084 h 4267200"/>
              <a:gd name="connsiteX871" fmla="*/ 10381882 w 12192000"/>
              <a:gd name="connsiteY871" fmla="*/ 2155807 h 4267200"/>
              <a:gd name="connsiteX872" fmla="*/ 10439260 w 12192000"/>
              <a:gd name="connsiteY872" fmla="*/ 1962486 h 4267200"/>
              <a:gd name="connsiteX873" fmla="*/ 10439409 w 12192000"/>
              <a:gd name="connsiteY873" fmla="*/ 1960615 h 4267200"/>
              <a:gd name="connsiteX874" fmla="*/ 10439915 w 12192000"/>
              <a:gd name="connsiteY874" fmla="*/ 1951821 h 4267200"/>
              <a:gd name="connsiteX875" fmla="*/ 10314241 w 12192000"/>
              <a:gd name="connsiteY875" fmla="*/ 1556749 h 4267200"/>
              <a:gd name="connsiteX876" fmla="*/ 10315061 w 12192000"/>
              <a:gd name="connsiteY876" fmla="*/ 1548729 h 4267200"/>
              <a:gd name="connsiteX877" fmla="*/ 9526158 w 12192000"/>
              <a:gd name="connsiteY877" fmla="*/ 1071804 h 4267200"/>
              <a:gd name="connsiteX878" fmla="*/ 9758689 w 12192000"/>
              <a:gd name="connsiteY878" fmla="*/ 1585512 h 4267200"/>
              <a:gd name="connsiteX879" fmla="*/ 9941392 w 12192000"/>
              <a:gd name="connsiteY879" fmla="*/ 2432858 h 4267200"/>
              <a:gd name="connsiteX880" fmla="*/ 9887724 w 12192000"/>
              <a:gd name="connsiteY880" fmla="*/ 2495762 h 4267200"/>
              <a:gd name="connsiteX881" fmla="*/ 9587446 w 12192000"/>
              <a:gd name="connsiteY881" fmla="*/ 1872898 h 4267200"/>
              <a:gd name="connsiteX882" fmla="*/ 9462810 w 12192000"/>
              <a:gd name="connsiteY882" fmla="*/ 1288346 h 4267200"/>
              <a:gd name="connsiteX883" fmla="*/ 9318575 w 12192000"/>
              <a:gd name="connsiteY883" fmla="*/ 1540820 h 4267200"/>
              <a:gd name="connsiteX884" fmla="*/ 9191090 w 12192000"/>
              <a:gd name="connsiteY884" fmla="*/ 1688355 h 4267200"/>
              <a:gd name="connsiteX885" fmla="*/ 9177757 w 12192000"/>
              <a:gd name="connsiteY885" fmla="*/ 1683354 h 4267200"/>
              <a:gd name="connsiteX886" fmla="*/ 9274865 w 12192000"/>
              <a:gd name="connsiteY886" fmla="*/ 1336896 h 4267200"/>
              <a:gd name="connsiteX887" fmla="*/ 9478649 w 12192000"/>
              <a:gd name="connsiteY887" fmla="*/ 1173376 h 4267200"/>
              <a:gd name="connsiteX888" fmla="*/ 9482281 w 12192000"/>
              <a:gd name="connsiteY888" fmla="*/ 1167830 h 4267200"/>
              <a:gd name="connsiteX889" fmla="*/ 9438637 w 12192000"/>
              <a:gd name="connsiteY889" fmla="*/ 1015438 h 4267200"/>
              <a:gd name="connsiteX890" fmla="*/ 9439458 w 12192000"/>
              <a:gd name="connsiteY890" fmla="*/ 1007420 h 4267200"/>
              <a:gd name="connsiteX891" fmla="*/ 9197105 w 12192000"/>
              <a:gd name="connsiteY891" fmla="*/ 808882 h 4267200"/>
              <a:gd name="connsiteX892" fmla="*/ 8973607 w 12192000"/>
              <a:gd name="connsiteY892" fmla="*/ 597733 h 4267200"/>
              <a:gd name="connsiteX893" fmla="*/ 8967512 w 12192000"/>
              <a:gd name="connsiteY893" fmla="*/ 1795211 h 4267200"/>
              <a:gd name="connsiteX894" fmla="*/ 8912526 w 12192000"/>
              <a:gd name="connsiteY894" fmla="*/ 1841464 h 4267200"/>
              <a:gd name="connsiteX895" fmla="*/ 8893391 w 12192000"/>
              <a:gd name="connsiteY895" fmla="*/ 572788 h 4267200"/>
              <a:gd name="connsiteX896" fmla="*/ 8902990 w 12192000"/>
              <a:gd name="connsiteY896" fmla="*/ 560750 h 4267200"/>
              <a:gd name="connsiteX897" fmla="*/ 8919102 w 12192000"/>
              <a:gd name="connsiteY897" fmla="*/ 542471 h 4267200"/>
              <a:gd name="connsiteX898" fmla="*/ 8661728 w 12192000"/>
              <a:gd name="connsiteY898" fmla="*/ 250903 h 4267200"/>
              <a:gd name="connsiteX899" fmla="*/ 8357758 w 12192000"/>
              <a:gd name="connsiteY899" fmla="*/ 0 h 4267200"/>
              <a:gd name="connsiteX900" fmla="*/ 8405492 w 12192000"/>
              <a:gd name="connsiteY900" fmla="*/ 0 h 4267200"/>
              <a:gd name="connsiteX901" fmla="*/ 8392083 w 12192000"/>
              <a:gd name="connsiteY901" fmla="*/ 30495 h 4267200"/>
              <a:gd name="connsiteX902" fmla="*/ 8339888 w 12192000"/>
              <a:gd name="connsiteY902" fmla="*/ 306259 h 4267200"/>
              <a:gd name="connsiteX903" fmla="*/ 8473847 w 12192000"/>
              <a:gd name="connsiteY903" fmla="*/ 727373 h 4267200"/>
              <a:gd name="connsiteX904" fmla="*/ 8454081 w 12192000"/>
              <a:gd name="connsiteY904" fmla="*/ 1611960 h 4267200"/>
              <a:gd name="connsiteX905" fmla="*/ 8396000 w 12192000"/>
              <a:gd name="connsiteY905" fmla="*/ 1663986 h 4267200"/>
              <a:gd name="connsiteX906" fmla="*/ 8238881 w 12192000"/>
              <a:gd name="connsiteY906" fmla="*/ 368438 h 4267200"/>
              <a:gd name="connsiteX907" fmla="*/ 7668140 w 12192000"/>
              <a:gd name="connsiteY907" fmla="*/ 942511 h 4267200"/>
              <a:gd name="connsiteX908" fmla="*/ 7637853 w 12192000"/>
              <a:gd name="connsiteY908" fmla="*/ 942567 h 4267200"/>
              <a:gd name="connsiteX909" fmla="*/ 7909649 w 12192000"/>
              <a:gd name="connsiteY909" fmla="*/ 489150 h 4267200"/>
              <a:gd name="connsiteX910" fmla="*/ 8256182 w 12192000"/>
              <a:gd name="connsiteY910" fmla="*/ 301724 h 4267200"/>
              <a:gd name="connsiteX911" fmla="*/ 8255912 w 12192000"/>
              <a:gd name="connsiteY911" fmla="*/ 276498 h 4267200"/>
              <a:gd name="connsiteX912" fmla="*/ 8315225 w 12192000"/>
              <a:gd name="connsiteY912" fmla="*/ 89075 h 4267200"/>
              <a:gd name="connsiteX913" fmla="*/ 7497388 w 12192000"/>
              <a:gd name="connsiteY913" fmla="*/ 0 h 4267200"/>
              <a:gd name="connsiteX914" fmla="*/ 7560921 w 12192000"/>
              <a:gd name="connsiteY914" fmla="*/ 0 h 4267200"/>
              <a:gd name="connsiteX915" fmla="*/ 7546742 w 12192000"/>
              <a:gd name="connsiteY915" fmla="*/ 68966 h 4267200"/>
              <a:gd name="connsiteX916" fmla="*/ 7488853 w 12192000"/>
              <a:gd name="connsiteY916" fmla="*/ 535687 h 4267200"/>
              <a:gd name="connsiteX917" fmla="*/ 7529509 w 12192000"/>
              <a:gd name="connsiteY917" fmla="*/ 380358 h 4267200"/>
              <a:gd name="connsiteX918" fmla="*/ 7585939 w 12192000"/>
              <a:gd name="connsiteY918" fmla="*/ 184712 h 4267200"/>
              <a:gd name="connsiteX919" fmla="*/ 7621792 w 12192000"/>
              <a:gd name="connsiteY919" fmla="*/ 87864 h 4267200"/>
              <a:gd name="connsiteX920" fmla="*/ 7654204 w 12192000"/>
              <a:gd name="connsiteY920" fmla="*/ 0 h 4267200"/>
              <a:gd name="connsiteX921" fmla="*/ 7683986 w 12192000"/>
              <a:gd name="connsiteY921" fmla="*/ 0 h 4267200"/>
              <a:gd name="connsiteX922" fmla="*/ 7647914 w 12192000"/>
              <a:gd name="connsiteY922" fmla="*/ 97640 h 4267200"/>
              <a:gd name="connsiteX923" fmla="*/ 7612524 w 12192000"/>
              <a:gd name="connsiteY923" fmla="*/ 193392 h 4267200"/>
              <a:gd name="connsiteX924" fmla="*/ 7557013 w 12192000"/>
              <a:gd name="connsiteY924" fmla="*/ 386853 h 4267200"/>
              <a:gd name="connsiteX925" fmla="*/ 7517286 w 12192000"/>
              <a:gd name="connsiteY925" fmla="*/ 539999 h 4267200"/>
              <a:gd name="connsiteX926" fmla="*/ 7704204 w 12192000"/>
              <a:gd name="connsiteY926" fmla="*/ 152292 h 4267200"/>
              <a:gd name="connsiteX927" fmla="*/ 7756975 w 12192000"/>
              <a:gd name="connsiteY927" fmla="*/ 0 h 4267200"/>
              <a:gd name="connsiteX928" fmla="*/ 7837329 w 12192000"/>
              <a:gd name="connsiteY928" fmla="*/ 0 h 4267200"/>
              <a:gd name="connsiteX929" fmla="*/ 7821760 w 12192000"/>
              <a:gd name="connsiteY929" fmla="*/ 65656 h 4267200"/>
              <a:gd name="connsiteX930" fmla="*/ 7488925 w 12192000"/>
              <a:gd name="connsiteY930" fmla="*/ 763628 h 4267200"/>
              <a:gd name="connsiteX931" fmla="*/ 7419999 w 12192000"/>
              <a:gd name="connsiteY931" fmla="*/ 774360 h 4267200"/>
              <a:gd name="connsiteX932" fmla="*/ 7487820 w 12192000"/>
              <a:gd name="connsiteY932" fmla="*/ 37416 h 4267200"/>
              <a:gd name="connsiteX933" fmla="*/ 3882765 w 12192000"/>
              <a:gd name="connsiteY933" fmla="*/ 0 h 4267200"/>
              <a:gd name="connsiteX934" fmla="*/ 3995099 w 12192000"/>
              <a:gd name="connsiteY934" fmla="*/ 0 h 4267200"/>
              <a:gd name="connsiteX935" fmla="*/ 4163818 w 12192000"/>
              <a:gd name="connsiteY935" fmla="*/ 234104 h 4267200"/>
              <a:gd name="connsiteX936" fmla="*/ 4172099 w 12192000"/>
              <a:gd name="connsiteY936" fmla="*/ 234207 h 4267200"/>
              <a:gd name="connsiteX937" fmla="*/ 4784282 w 12192000"/>
              <a:gd name="connsiteY937" fmla="*/ 276561 h 4267200"/>
              <a:gd name="connsiteX938" fmla="*/ 4801687 w 12192000"/>
              <a:gd name="connsiteY938" fmla="*/ 267764 h 4267200"/>
              <a:gd name="connsiteX939" fmla="*/ 6082788 w 12192000"/>
              <a:gd name="connsiteY939" fmla="*/ 64119 h 4267200"/>
              <a:gd name="connsiteX940" fmla="*/ 6099442 w 12192000"/>
              <a:gd name="connsiteY940" fmla="*/ 82568 h 4267200"/>
              <a:gd name="connsiteX941" fmla="*/ 4804137 w 12192000"/>
              <a:gd name="connsiteY941" fmla="*/ 320931 h 4267200"/>
              <a:gd name="connsiteX942" fmla="*/ 4227047 w 12192000"/>
              <a:gd name="connsiteY942" fmla="*/ 313415 h 4267200"/>
              <a:gd name="connsiteX943" fmla="*/ 4346041 w 12192000"/>
              <a:gd name="connsiteY943" fmla="*/ 456086 h 4267200"/>
              <a:gd name="connsiteX944" fmla="*/ 4870967 w 12192000"/>
              <a:gd name="connsiteY944" fmla="*/ 963061 h 4267200"/>
              <a:gd name="connsiteX945" fmla="*/ 4889647 w 12192000"/>
              <a:gd name="connsiteY945" fmla="*/ 957147 h 4267200"/>
              <a:gd name="connsiteX946" fmla="*/ 5422504 w 12192000"/>
              <a:gd name="connsiteY946" fmla="*/ 805191 h 4267200"/>
              <a:gd name="connsiteX947" fmla="*/ 6087656 w 12192000"/>
              <a:gd name="connsiteY947" fmla="*/ 826703 h 4267200"/>
              <a:gd name="connsiteX948" fmla="*/ 6058717 w 12192000"/>
              <a:gd name="connsiteY948" fmla="*/ 865992 h 4267200"/>
              <a:gd name="connsiteX949" fmla="*/ 4974153 w 12192000"/>
              <a:gd name="connsiteY949" fmla="*/ 1045456 h 4267200"/>
              <a:gd name="connsiteX950" fmla="*/ 5627835 w 12192000"/>
              <a:gd name="connsiteY950" fmla="*/ 1472077 h 4267200"/>
              <a:gd name="connsiteX951" fmla="*/ 5629817 w 12192000"/>
              <a:gd name="connsiteY951" fmla="*/ 1471412 h 4267200"/>
              <a:gd name="connsiteX952" fmla="*/ 5634124 w 12192000"/>
              <a:gd name="connsiteY952" fmla="*/ 1470572 h 4267200"/>
              <a:gd name="connsiteX953" fmla="*/ 5755832 w 12192000"/>
              <a:gd name="connsiteY953" fmla="*/ 1383886 h 4267200"/>
              <a:gd name="connsiteX954" fmla="*/ 6014186 w 12192000"/>
              <a:gd name="connsiteY954" fmla="*/ 1279799 h 4267200"/>
              <a:gd name="connsiteX955" fmla="*/ 6901619 w 12192000"/>
              <a:gd name="connsiteY955" fmla="*/ 1047874 h 4267200"/>
              <a:gd name="connsiteX956" fmla="*/ 6931566 w 12192000"/>
              <a:gd name="connsiteY956" fmla="*/ 1062034 h 4267200"/>
              <a:gd name="connsiteX957" fmla="*/ 5790982 w 12192000"/>
              <a:gd name="connsiteY957" fmla="*/ 1561380 h 4267200"/>
              <a:gd name="connsiteX958" fmla="*/ 6188971 w 12192000"/>
              <a:gd name="connsiteY958" fmla="*/ 1755168 h 4267200"/>
              <a:gd name="connsiteX959" fmla="*/ 6202446 w 12192000"/>
              <a:gd name="connsiteY959" fmla="*/ 1752268 h 4267200"/>
              <a:gd name="connsiteX960" fmla="*/ 7179560 w 12192000"/>
              <a:gd name="connsiteY960" fmla="*/ 1467551 h 4267200"/>
              <a:gd name="connsiteX961" fmla="*/ 7158730 w 12192000"/>
              <a:gd name="connsiteY961" fmla="*/ 1507835 h 4267200"/>
              <a:gd name="connsiteX962" fmla="*/ 6326959 w 12192000"/>
              <a:gd name="connsiteY962" fmla="*/ 1817686 h 4267200"/>
              <a:gd name="connsiteX963" fmla="*/ 6537433 w 12192000"/>
              <a:gd name="connsiteY963" fmla="*/ 1907790 h 4267200"/>
              <a:gd name="connsiteX964" fmla="*/ 6550221 w 12192000"/>
              <a:gd name="connsiteY964" fmla="*/ 1910729 h 4267200"/>
              <a:gd name="connsiteX965" fmla="*/ 6964438 w 12192000"/>
              <a:gd name="connsiteY965" fmla="*/ 2209505 h 4267200"/>
              <a:gd name="connsiteX966" fmla="*/ 7367862 w 12192000"/>
              <a:gd name="connsiteY966" fmla="*/ 2806833 h 4267200"/>
              <a:gd name="connsiteX967" fmla="*/ 7364329 w 12192000"/>
              <a:gd name="connsiteY967" fmla="*/ 2826907 h 4267200"/>
              <a:gd name="connsiteX968" fmla="*/ 7290545 w 12192000"/>
              <a:gd name="connsiteY968" fmla="*/ 2850663 h 4267200"/>
              <a:gd name="connsiteX969" fmla="*/ 6472036 w 12192000"/>
              <a:gd name="connsiteY969" fmla="*/ 1959003 h 4267200"/>
              <a:gd name="connsiteX970" fmla="*/ 5792897 w 12192000"/>
              <a:gd name="connsiteY970" fmla="*/ 1647747 h 4267200"/>
              <a:gd name="connsiteX971" fmla="*/ 5842751 w 12192000"/>
              <a:gd name="connsiteY971" fmla="*/ 1816112 h 4267200"/>
              <a:gd name="connsiteX972" fmla="*/ 5847424 w 12192000"/>
              <a:gd name="connsiteY972" fmla="*/ 1815776 h 4267200"/>
              <a:gd name="connsiteX973" fmla="*/ 6399821 w 12192000"/>
              <a:gd name="connsiteY973" fmla="*/ 2344799 h 4267200"/>
              <a:gd name="connsiteX974" fmla="*/ 6323232 w 12192000"/>
              <a:gd name="connsiteY974" fmla="*/ 2389634 h 4267200"/>
              <a:gd name="connsiteX975" fmla="*/ 5942958 w 12192000"/>
              <a:gd name="connsiteY975" fmla="*/ 2077708 h 4267200"/>
              <a:gd name="connsiteX976" fmla="*/ 5921559 w 12192000"/>
              <a:gd name="connsiteY976" fmla="*/ 2378596 h 4267200"/>
              <a:gd name="connsiteX977" fmla="*/ 5817651 w 12192000"/>
              <a:gd name="connsiteY977" fmla="*/ 3023919 h 4267200"/>
              <a:gd name="connsiteX978" fmla="*/ 5729634 w 12192000"/>
              <a:gd name="connsiteY978" fmla="*/ 3051849 h 4267200"/>
              <a:gd name="connsiteX979" fmla="*/ 5611018 w 12192000"/>
              <a:gd name="connsiteY979" fmla="*/ 2316769 h 4267200"/>
              <a:gd name="connsiteX980" fmla="*/ 5687608 w 12192000"/>
              <a:gd name="connsiteY980" fmla="*/ 2039972 h 4267200"/>
              <a:gd name="connsiteX981" fmla="*/ 5657554 w 12192000"/>
              <a:gd name="connsiteY981" fmla="*/ 1576445 h 4267200"/>
              <a:gd name="connsiteX982" fmla="*/ 5150475 w 12192000"/>
              <a:gd name="connsiteY982" fmla="*/ 1274012 h 4267200"/>
              <a:gd name="connsiteX983" fmla="*/ 5349142 w 12192000"/>
              <a:gd name="connsiteY983" fmla="*/ 2204405 h 4267200"/>
              <a:gd name="connsiteX984" fmla="*/ 5262214 w 12192000"/>
              <a:gd name="connsiteY984" fmla="*/ 2233836 h 4267200"/>
              <a:gd name="connsiteX985" fmla="*/ 4981539 w 12192000"/>
              <a:gd name="connsiteY985" fmla="*/ 1542201 h 4267200"/>
              <a:gd name="connsiteX986" fmla="*/ 4958461 w 12192000"/>
              <a:gd name="connsiteY986" fmla="*/ 1136957 h 4267200"/>
              <a:gd name="connsiteX987" fmla="*/ 4655015 w 12192000"/>
              <a:gd name="connsiteY987" fmla="*/ 891426 h 4267200"/>
              <a:gd name="connsiteX988" fmla="*/ 4348002 w 12192000"/>
              <a:gd name="connsiteY988" fmla="*/ 2205895 h 4267200"/>
              <a:gd name="connsiteX989" fmla="*/ 4262250 w 12192000"/>
              <a:gd name="connsiteY989" fmla="*/ 2219972 h 4267200"/>
              <a:gd name="connsiteX990" fmla="*/ 4550611 w 12192000"/>
              <a:gd name="connsiteY990" fmla="*/ 817540 h 4267200"/>
              <a:gd name="connsiteX991" fmla="*/ 4564418 w 12192000"/>
              <a:gd name="connsiteY991" fmla="*/ 808293 h 4267200"/>
              <a:gd name="connsiteX992" fmla="*/ 4266388 w 12192000"/>
              <a:gd name="connsiteY992" fmla="*/ 500083 h 4267200"/>
              <a:gd name="connsiteX993" fmla="*/ 4032842 w 12192000"/>
              <a:gd name="connsiteY993" fmla="*/ 211809 h 4267200"/>
              <a:gd name="connsiteX994" fmla="*/ 3721337 w 12192000"/>
              <a:gd name="connsiteY994" fmla="*/ 0 h 4267200"/>
              <a:gd name="connsiteX995" fmla="*/ 3797544 w 12192000"/>
              <a:gd name="connsiteY995" fmla="*/ 0 h 4267200"/>
              <a:gd name="connsiteX996" fmla="*/ 3775734 w 12192000"/>
              <a:gd name="connsiteY996" fmla="*/ 95131 h 4267200"/>
              <a:gd name="connsiteX997" fmla="*/ 3724807 w 12192000"/>
              <a:gd name="connsiteY997" fmla="*/ 272257 h 4267200"/>
              <a:gd name="connsiteX998" fmla="*/ 3726844 w 12192000"/>
              <a:gd name="connsiteY998" fmla="*/ 282988 h 4267200"/>
              <a:gd name="connsiteX999" fmla="*/ 3742664 w 12192000"/>
              <a:gd name="connsiteY999" fmla="*/ 279918 h 4267200"/>
              <a:gd name="connsiteX1000" fmla="*/ 4103910 w 12192000"/>
              <a:gd name="connsiteY1000" fmla="*/ 1161917 h 4267200"/>
              <a:gd name="connsiteX1001" fmla="*/ 4020269 w 12192000"/>
              <a:gd name="connsiteY1001" fmla="*/ 1200406 h 4267200"/>
              <a:gd name="connsiteX1002" fmla="*/ 3674882 w 12192000"/>
              <a:gd name="connsiteY1002" fmla="*/ 488524 h 4267200"/>
              <a:gd name="connsiteX1003" fmla="*/ 3132682 w 12192000"/>
              <a:gd name="connsiteY1003" fmla="*/ 1072284 h 4267200"/>
              <a:gd name="connsiteX1004" fmla="*/ 2716346 w 12192000"/>
              <a:gd name="connsiteY1004" fmla="*/ 1276376 h 4267200"/>
              <a:gd name="connsiteX1005" fmla="*/ 2716772 w 12192000"/>
              <a:gd name="connsiteY1005" fmla="*/ 1255462 h 4267200"/>
              <a:gd name="connsiteX1006" fmla="*/ 3471096 w 12192000"/>
              <a:gd name="connsiteY1006" fmla="*/ 437072 h 4267200"/>
              <a:gd name="connsiteX1007" fmla="*/ 3639057 w 12192000"/>
              <a:gd name="connsiteY1007" fmla="*/ 286334 h 4267200"/>
              <a:gd name="connsiteX1008" fmla="*/ 3640309 w 12192000"/>
              <a:gd name="connsiteY1008" fmla="*/ 284664 h 4267200"/>
              <a:gd name="connsiteX1009" fmla="*/ 3646022 w 12192000"/>
              <a:gd name="connsiteY1009" fmla="*/ 276711 h 4267200"/>
              <a:gd name="connsiteX1010" fmla="*/ 3707943 w 12192000"/>
              <a:gd name="connsiteY1010" fmla="*/ 65958 h 4267200"/>
              <a:gd name="connsiteX1011" fmla="*/ 2867960 w 12192000"/>
              <a:gd name="connsiteY1011" fmla="*/ 0 h 4267200"/>
              <a:gd name="connsiteX1012" fmla="*/ 2926351 w 12192000"/>
              <a:gd name="connsiteY1012" fmla="*/ 0 h 4267200"/>
              <a:gd name="connsiteX1013" fmla="*/ 2902823 w 12192000"/>
              <a:gd name="connsiteY1013" fmla="*/ 262929 h 4267200"/>
              <a:gd name="connsiteX1014" fmla="*/ 2940663 w 12192000"/>
              <a:gd name="connsiteY1014" fmla="*/ 140884 h 4267200"/>
              <a:gd name="connsiteX1015" fmla="*/ 2947039 w 12192000"/>
              <a:gd name="connsiteY1015" fmla="*/ 122524 h 4267200"/>
              <a:gd name="connsiteX1016" fmla="*/ 2984316 w 12192000"/>
              <a:gd name="connsiteY1016" fmla="*/ 0 h 4267200"/>
              <a:gd name="connsiteX1017" fmla="*/ 3016114 w 12192000"/>
              <a:gd name="connsiteY1017" fmla="*/ 0 h 4267200"/>
              <a:gd name="connsiteX1018" fmla="*/ 2979949 w 12192000"/>
              <a:gd name="connsiteY1018" fmla="*/ 119274 h 4267200"/>
              <a:gd name="connsiteX1019" fmla="*/ 3023879 w 12192000"/>
              <a:gd name="connsiteY1019" fmla="*/ 0 h 4267200"/>
              <a:gd name="connsiteX1020" fmla="*/ 3105400 w 12192000"/>
              <a:gd name="connsiteY1020" fmla="*/ 0 h 4267200"/>
              <a:gd name="connsiteX1021" fmla="*/ 3094669 w 12192000"/>
              <a:gd name="connsiteY1021" fmla="*/ 30308 h 4267200"/>
              <a:gd name="connsiteX1022" fmla="*/ 2901945 w 12192000"/>
              <a:gd name="connsiteY1022" fmla="*/ 466538 h 4267200"/>
              <a:gd name="connsiteX1023" fmla="*/ 2815209 w 12192000"/>
              <a:gd name="connsiteY1023" fmla="*/ 497361 h 4267200"/>
              <a:gd name="connsiteX1024" fmla="*/ 2844845 w 12192000"/>
              <a:gd name="connsiteY1024" fmla="*/ 127638 h 4267200"/>
              <a:gd name="connsiteX1025" fmla="*/ 1057230 w 12192000"/>
              <a:gd name="connsiteY1025" fmla="*/ 0 h 4267200"/>
              <a:gd name="connsiteX1026" fmla="*/ 1111003 w 12192000"/>
              <a:gd name="connsiteY1026" fmla="*/ 0 h 4267200"/>
              <a:gd name="connsiteX1027" fmla="*/ 1125553 w 12192000"/>
              <a:gd name="connsiteY1027" fmla="*/ 52588 h 4267200"/>
              <a:gd name="connsiteX1028" fmla="*/ 1304276 w 12192000"/>
              <a:gd name="connsiteY1028" fmla="*/ 476275 h 4267200"/>
              <a:gd name="connsiteX1029" fmla="*/ 1492066 w 12192000"/>
              <a:gd name="connsiteY1029" fmla="*/ 886333 h 4267200"/>
              <a:gd name="connsiteX1030" fmla="*/ 1423698 w 12192000"/>
              <a:gd name="connsiteY1030" fmla="*/ 710817 h 4267200"/>
              <a:gd name="connsiteX1031" fmla="*/ 1357609 w 12192000"/>
              <a:gd name="connsiteY1031" fmla="*/ 532892 h 4267200"/>
              <a:gd name="connsiteX1032" fmla="*/ 1309550 w 12192000"/>
              <a:gd name="connsiteY1032" fmla="*/ 374031 h 4267200"/>
              <a:gd name="connsiteX1033" fmla="*/ 1193673 w 12192000"/>
              <a:gd name="connsiteY1033" fmla="*/ 49533 h 4267200"/>
              <a:gd name="connsiteX1034" fmla="*/ 1164391 w 12192000"/>
              <a:gd name="connsiteY1034" fmla="*/ 0 h 4267200"/>
              <a:gd name="connsiteX1035" fmla="*/ 1200666 w 12192000"/>
              <a:gd name="connsiteY1035" fmla="*/ 0 h 4267200"/>
              <a:gd name="connsiteX1036" fmla="*/ 1223408 w 12192000"/>
              <a:gd name="connsiteY1036" fmla="*/ 38996 h 4267200"/>
              <a:gd name="connsiteX1037" fmla="*/ 1339635 w 12192000"/>
              <a:gd name="connsiteY1037" fmla="*/ 365517 h 4267200"/>
              <a:gd name="connsiteX1038" fmla="*/ 1387469 w 12192000"/>
              <a:gd name="connsiteY1038" fmla="*/ 523079 h 4267200"/>
              <a:gd name="connsiteX1039" fmla="*/ 1452685 w 12192000"/>
              <a:gd name="connsiteY1039" fmla="*/ 699806 h 4267200"/>
              <a:gd name="connsiteX1040" fmla="*/ 1492092 w 12192000"/>
              <a:gd name="connsiteY1040" fmla="*/ 800424 h 4267200"/>
              <a:gd name="connsiteX1041" fmla="*/ 1455302 w 12192000"/>
              <a:gd name="connsiteY1041" fmla="*/ 632913 h 4267200"/>
              <a:gd name="connsiteX1042" fmla="*/ 1222336 w 12192000"/>
              <a:gd name="connsiteY1042" fmla="*/ 9480 h 4267200"/>
              <a:gd name="connsiteX1043" fmla="*/ 1214634 w 12192000"/>
              <a:gd name="connsiteY1043" fmla="*/ 0 h 4267200"/>
              <a:gd name="connsiteX1044" fmla="*/ 1289827 w 12192000"/>
              <a:gd name="connsiteY1044" fmla="*/ 0 h 4267200"/>
              <a:gd name="connsiteX1045" fmla="*/ 1321076 w 12192000"/>
              <a:gd name="connsiteY1045" fmla="*/ 59722 h 4267200"/>
              <a:gd name="connsiteX1046" fmla="*/ 1512579 w 12192000"/>
              <a:gd name="connsiteY1046" fmla="*/ 626441 h 4267200"/>
              <a:gd name="connsiteX1047" fmla="*/ 1506076 w 12192000"/>
              <a:gd name="connsiteY1047" fmla="*/ 1089289 h 4267200"/>
              <a:gd name="connsiteX1048" fmla="*/ 1486346 w 12192000"/>
              <a:gd name="connsiteY1048" fmla="*/ 1079919 h 4267200"/>
              <a:gd name="connsiteX1049" fmla="*/ 1070511 w 12192000"/>
              <a:gd name="connsiteY1049" fmla="*/ 48609 h 4267200"/>
              <a:gd name="connsiteX1050" fmla="*/ 43151 w 12192000"/>
              <a:gd name="connsiteY1050" fmla="*/ 0 h 4267200"/>
              <a:gd name="connsiteX1051" fmla="*/ 95283 w 12192000"/>
              <a:gd name="connsiteY1051" fmla="*/ 0 h 4267200"/>
              <a:gd name="connsiteX1052" fmla="*/ 300708 w 12192000"/>
              <a:gd name="connsiteY1052" fmla="*/ 154571 h 4267200"/>
              <a:gd name="connsiteX1053" fmla="*/ 530414 w 12192000"/>
              <a:gd name="connsiteY1053" fmla="*/ 354673 h 4267200"/>
              <a:gd name="connsiteX1054" fmla="*/ 333785 w 12192000"/>
              <a:gd name="connsiteY1054" fmla="*/ 161564 h 4267200"/>
              <a:gd name="connsiteX1055" fmla="*/ 147005 w 12192000"/>
              <a:gd name="connsiteY1055" fmla="*/ 0 h 4267200"/>
              <a:gd name="connsiteX1056" fmla="*/ 272509 w 12192000"/>
              <a:gd name="connsiteY1056" fmla="*/ 0 h 4267200"/>
              <a:gd name="connsiteX1057" fmla="*/ 326276 w 12192000"/>
              <a:gd name="connsiteY1057" fmla="*/ 45847 h 4267200"/>
              <a:gd name="connsiteX1058" fmla="*/ 823759 w 12192000"/>
              <a:gd name="connsiteY1058" fmla="*/ 574145 h 4267200"/>
              <a:gd name="connsiteX1059" fmla="*/ 811254 w 12192000"/>
              <a:gd name="connsiteY1059" fmla="*/ 665546 h 4267200"/>
              <a:gd name="connsiteX1060" fmla="*/ 154042 w 12192000"/>
              <a:gd name="connsiteY1060" fmla="*/ 261522 h 4267200"/>
              <a:gd name="connsiteX1061" fmla="*/ 13550 w 12192000"/>
              <a:gd name="connsiteY1061" fmla="*/ 158423 h 4267200"/>
              <a:gd name="connsiteX1062" fmla="*/ 0 w 12192000"/>
              <a:gd name="connsiteY1062" fmla="*/ 146618 h 4267200"/>
              <a:gd name="connsiteX1063" fmla="*/ 0 w 12192000"/>
              <a:gd name="connsiteY1063" fmla="*/ 59161 h 4267200"/>
              <a:gd name="connsiteX1064" fmla="*/ 45427 w 12192000"/>
              <a:gd name="connsiteY1064" fmla="*/ 101078 h 4267200"/>
              <a:gd name="connsiteX1065" fmla="*/ 630103 w 12192000"/>
              <a:gd name="connsiteY1065" fmla="*/ 485885 h 4267200"/>
              <a:gd name="connsiteX1066" fmla="*/ 532040 w 12192000"/>
              <a:gd name="connsiteY1066" fmla="*/ 399359 h 4267200"/>
              <a:gd name="connsiteX1067" fmla="*/ 517618 w 12192000"/>
              <a:gd name="connsiteY1067" fmla="*/ 385726 h 4267200"/>
              <a:gd name="connsiteX1068" fmla="*/ 285074 w 12192000"/>
              <a:gd name="connsiteY1068" fmla="*/ 182755 h 426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Lst>
            <a:rect l="l" t="t" r="r" b="b"/>
            <a:pathLst>
              <a:path w="12192000" h="4267200">
                <a:moveTo>
                  <a:pt x="2537169" y="4125568"/>
                </a:moveTo>
                <a:cubicBezTo>
                  <a:pt x="2788218" y="4126068"/>
                  <a:pt x="3025872" y="4161336"/>
                  <a:pt x="3246267" y="4262961"/>
                </a:cubicBezTo>
                <a:lnTo>
                  <a:pt x="3253970" y="4267200"/>
                </a:lnTo>
                <a:lnTo>
                  <a:pt x="3071791" y="4267200"/>
                </a:lnTo>
                <a:lnTo>
                  <a:pt x="2975095" y="4243356"/>
                </a:lnTo>
                <a:cubicBezTo>
                  <a:pt x="2862058" y="4220032"/>
                  <a:pt x="2745568" y="4209031"/>
                  <a:pt x="2626982" y="4206450"/>
                </a:cubicBezTo>
                <a:cubicBezTo>
                  <a:pt x="2581807" y="4205467"/>
                  <a:pt x="2536327" y="4205706"/>
                  <a:pt x="2490617" y="4206951"/>
                </a:cubicBezTo>
                <a:cubicBezTo>
                  <a:pt x="2601507" y="4219748"/>
                  <a:pt x="2711611" y="4236309"/>
                  <a:pt x="2819869" y="4252936"/>
                </a:cubicBezTo>
                <a:lnTo>
                  <a:pt x="2900997" y="4267200"/>
                </a:lnTo>
                <a:lnTo>
                  <a:pt x="2705858" y="4267200"/>
                </a:lnTo>
                <a:lnTo>
                  <a:pt x="2561467" y="4246270"/>
                </a:lnTo>
                <a:cubicBezTo>
                  <a:pt x="2476258" y="4235123"/>
                  <a:pt x="2390533" y="4225627"/>
                  <a:pt x="2305292" y="4219492"/>
                </a:cubicBezTo>
                <a:lnTo>
                  <a:pt x="2409349" y="4267200"/>
                </a:lnTo>
                <a:lnTo>
                  <a:pt x="2266705" y="4267200"/>
                </a:lnTo>
                <a:lnTo>
                  <a:pt x="2183576" y="4227150"/>
                </a:lnTo>
                <a:cubicBezTo>
                  <a:pt x="2170260" y="4220226"/>
                  <a:pt x="2115765" y="4150220"/>
                  <a:pt x="2151029" y="4146947"/>
                </a:cubicBezTo>
                <a:cubicBezTo>
                  <a:pt x="2282770" y="4133761"/>
                  <a:pt x="2411644" y="4125319"/>
                  <a:pt x="2537169" y="4125568"/>
                </a:cubicBezTo>
                <a:close/>
                <a:moveTo>
                  <a:pt x="9258094" y="3958602"/>
                </a:moveTo>
                <a:cubicBezTo>
                  <a:pt x="9013678" y="4006086"/>
                  <a:pt x="8768731" y="4060051"/>
                  <a:pt x="8526712" y="4119804"/>
                </a:cubicBezTo>
                <a:cubicBezTo>
                  <a:pt x="8781748" y="4123003"/>
                  <a:pt x="9026494" y="4069940"/>
                  <a:pt x="9258094" y="3958602"/>
                </a:cubicBezTo>
                <a:close/>
                <a:moveTo>
                  <a:pt x="9168987" y="3919232"/>
                </a:moveTo>
                <a:cubicBezTo>
                  <a:pt x="8975366" y="3912045"/>
                  <a:pt x="8788341" y="3989836"/>
                  <a:pt x="8603910" y="4068895"/>
                </a:cubicBezTo>
                <a:cubicBezTo>
                  <a:pt x="8818554" y="4017452"/>
                  <a:pt x="9035976" y="3970366"/>
                  <a:pt x="9252382" y="3927759"/>
                </a:cubicBezTo>
                <a:cubicBezTo>
                  <a:pt x="9224441" y="3923020"/>
                  <a:pt x="9196646" y="3920259"/>
                  <a:pt x="9168987" y="3919232"/>
                </a:cubicBezTo>
                <a:close/>
                <a:moveTo>
                  <a:pt x="1635889" y="3709494"/>
                </a:moveTo>
                <a:lnTo>
                  <a:pt x="1634800" y="3731111"/>
                </a:lnTo>
                <a:cubicBezTo>
                  <a:pt x="1634800" y="3731111"/>
                  <a:pt x="1635342" y="3716795"/>
                  <a:pt x="1635889" y="3709494"/>
                </a:cubicBezTo>
                <a:close/>
                <a:moveTo>
                  <a:pt x="3174829" y="3620110"/>
                </a:moveTo>
                <a:cubicBezTo>
                  <a:pt x="3177710" y="3619202"/>
                  <a:pt x="3182308" y="3620648"/>
                  <a:pt x="3189263" y="3625726"/>
                </a:cubicBezTo>
                <a:cubicBezTo>
                  <a:pt x="3348177" y="3744655"/>
                  <a:pt x="3463235" y="3908187"/>
                  <a:pt x="3560912" y="4079863"/>
                </a:cubicBezTo>
                <a:cubicBezTo>
                  <a:pt x="3582321" y="4117314"/>
                  <a:pt x="3599153" y="4153173"/>
                  <a:pt x="3611854" y="4188366"/>
                </a:cubicBezTo>
                <a:lnTo>
                  <a:pt x="3631583" y="4267200"/>
                </a:lnTo>
                <a:lnTo>
                  <a:pt x="3575699" y="4267200"/>
                </a:lnTo>
                <a:lnTo>
                  <a:pt x="3575567" y="4263588"/>
                </a:lnTo>
                <a:cubicBezTo>
                  <a:pt x="3563792" y="4170010"/>
                  <a:pt x="3527316" y="4081090"/>
                  <a:pt x="3467355" y="3988130"/>
                </a:cubicBezTo>
                <a:cubicBezTo>
                  <a:pt x="3420192" y="3915029"/>
                  <a:pt x="3371016" y="3849934"/>
                  <a:pt x="3310753" y="3787140"/>
                </a:cubicBezTo>
                <a:cubicBezTo>
                  <a:pt x="3303466" y="3779509"/>
                  <a:pt x="3297626" y="3773227"/>
                  <a:pt x="3291335" y="3767420"/>
                </a:cubicBezTo>
                <a:cubicBezTo>
                  <a:pt x="3324815" y="3824296"/>
                  <a:pt x="3358740" y="3880691"/>
                  <a:pt x="3390805" y="3937163"/>
                </a:cubicBezTo>
                <a:cubicBezTo>
                  <a:pt x="3450145" y="4040978"/>
                  <a:pt x="3506325" y="4144397"/>
                  <a:pt x="3545740" y="4251102"/>
                </a:cubicBezTo>
                <a:lnTo>
                  <a:pt x="3550709" y="4267200"/>
                </a:lnTo>
                <a:lnTo>
                  <a:pt x="3513586" y="4267200"/>
                </a:lnTo>
                <a:lnTo>
                  <a:pt x="3470728" y="4152456"/>
                </a:lnTo>
                <a:cubicBezTo>
                  <a:pt x="3439124" y="4085665"/>
                  <a:pt x="3402484" y="4019598"/>
                  <a:pt x="3364433" y="3953121"/>
                </a:cubicBezTo>
                <a:lnTo>
                  <a:pt x="3316479" y="3872136"/>
                </a:lnTo>
                <a:lnTo>
                  <a:pt x="3504482" y="4267200"/>
                </a:lnTo>
                <a:lnTo>
                  <a:pt x="3467547" y="4267200"/>
                </a:lnTo>
                <a:lnTo>
                  <a:pt x="3177952" y="3657386"/>
                </a:lnTo>
                <a:cubicBezTo>
                  <a:pt x="3172991" y="3646754"/>
                  <a:pt x="3166185" y="3622836"/>
                  <a:pt x="3174829" y="3620110"/>
                </a:cubicBezTo>
                <a:close/>
                <a:moveTo>
                  <a:pt x="11279315" y="3618448"/>
                </a:moveTo>
                <a:cubicBezTo>
                  <a:pt x="11299830" y="3614620"/>
                  <a:pt x="11318737" y="3618623"/>
                  <a:pt x="11317765" y="3638405"/>
                </a:cubicBezTo>
                <a:cubicBezTo>
                  <a:pt x="11309587" y="3820966"/>
                  <a:pt x="11315203" y="4012597"/>
                  <a:pt x="11304886" y="4200582"/>
                </a:cubicBezTo>
                <a:lnTo>
                  <a:pt x="11298904" y="4267200"/>
                </a:lnTo>
                <a:lnTo>
                  <a:pt x="11213088" y="4267200"/>
                </a:lnTo>
                <a:lnTo>
                  <a:pt x="11219157" y="4210725"/>
                </a:lnTo>
                <a:cubicBezTo>
                  <a:pt x="11223807" y="4119600"/>
                  <a:pt x="11224640" y="4027718"/>
                  <a:pt x="11225213" y="3936722"/>
                </a:cubicBezTo>
                <a:cubicBezTo>
                  <a:pt x="11207028" y="4022695"/>
                  <a:pt x="11194593" y="4110355"/>
                  <a:pt x="11182914" y="4196771"/>
                </a:cubicBezTo>
                <a:lnTo>
                  <a:pt x="11172266" y="4267200"/>
                </a:lnTo>
                <a:lnTo>
                  <a:pt x="11140975" y="4267200"/>
                </a:lnTo>
                <a:lnTo>
                  <a:pt x="11152239" y="4192628"/>
                </a:lnTo>
                <a:cubicBezTo>
                  <a:pt x="11165272" y="4096160"/>
                  <a:pt x="11178361" y="3997344"/>
                  <a:pt x="11201005" y="3900089"/>
                </a:cubicBezTo>
                <a:cubicBezTo>
                  <a:pt x="11166930" y="3979173"/>
                  <a:pt x="11134730" y="4058831"/>
                  <a:pt x="11105754" y="4139192"/>
                </a:cubicBezTo>
                <a:lnTo>
                  <a:pt x="11065821" y="4267200"/>
                </a:lnTo>
                <a:lnTo>
                  <a:pt x="10978133" y="4267200"/>
                </a:lnTo>
                <a:lnTo>
                  <a:pt x="11088889" y="3963916"/>
                </a:lnTo>
                <a:cubicBezTo>
                  <a:pt x="11133459" y="3856779"/>
                  <a:pt x="11181967" y="3750740"/>
                  <a:pt x="11231212" y="3645474"/>
                </a:cubicBezTo>
                <a:cubicBezTo>
                  <a:pt x="11236675" y="3633934"/>
                  <a:pt x="11258799" y="3622276"/>
                  <a:pt x="11279315" y="3618448"/>
                </a:cubicBezTo>
                <a:close/>
                <a:moveTo>
                  <a:pt x="10296877" y="3526602"/>
                </a:moveTo>
                <a:cubicBezTo>
                  <a:pt x="10305089" y="3527517"/>
                  <a:pt x="10311503" y="3531079"/>
                  <a:pt x="10314210" y="3538353"/>
                </a:cubicBezTo>
                <a:cubicBezTo>
                  <a:pt x="10361472" y="3659113"/>
                  <a:pt x="10407318" y="3780392"/>
                  <a:pt x="10450858" y="3902477"/>
                </a:cubicBezTo>
                <a:lnTo>
                  <a:pt x="10572255" y="4267200"/>
                </a:lnTo>
                <a:lnTo>
                  <a:pt x="10477642" y="4267200"/>
                </a:lnTo>
                <a:lnTo>
                  <a:pt x="10436479" y="4144570"/>
                </a:lnTo>
                <a:cubicBezTo>
                  <a:pt x="10386976" y="3995354"/>
                  <a:pt x="10333255" y="3848072"/>
                  <a:pt x="10277529" y="3701307"/>
                </a:cubicBezTo>
                <a:cubicBezTo>
                  <a:pt x="10277467" y="3703640"/>
                  <a:pt x="10276853" y="3706334"/>
                  <a:pt x="10276797" y="3708672"/>
                </a:cubicBezTo>
                <a:cubicBezTo>
                  <a:pt x="10284209" y="3854149"/>
                  <a:pt x="10331835" y="3999199"/>
                  <a:pt x="10385906" y="4147031"/>
                </a:cubicBezTo>
                <a:lnTo>
                  <a:pt x="10431445" y="4267200"/>
                </a:lnTo>
                <a:lnTo>
                  <a:pt x="10398237" y="4267200"/>
                </a:lnTo>
                <a:lnTo>
                  <a:pt x="10356661" y="4157302"/>
                </a:lnTo>
                <a:cubicBezTo>
                  <a:pt x="10321871" y="4061517"/>
                  <a:pt x="10289232" y="3966669"/>
                  <a:pt x="10268559" y="3871054"/>
                </a:cubicBezTo>
                <a:cubicBezTo>
                  <a:pt x="10272790" y="3985997"/>
                  <a:pt x="10299544" y="4094770"/>
                  <a:pt x="10340065" y="4201637"/>
                </a:cubicBezTo>
                <a:lnTo>
                  <a:pt x="10368861" y="4267200"/>
                </a:lnTo>
                <a:lnTo>
                  <a:pt x="10267862" y="4267200"/>
                </a:lnTo>
                <a:lnTo>
                  <a:pt x="10236210" y="4185635"/>
                </a:lnTo>
                <a:cubicBezTo>
                  <a:pt x="10169925" y="3991261"/>
                  <a:pt x="10150284" y="3789583"/>
                  <a:pt x="10225980" y="3561061"/>
                </a:cubicBezTo>
                <a:cubicBezTo>
                  <a:pt x="10231424" y="3544935"/>
                  <a:pt x="10272241" y="3523857"/>
                  <a:pt x="10296877" y="3526602"/>
                </a:cubicBezTo>
                <a:close/>
                <a:moveTo>
                  <a:pt x="3429186" y="3458784"/>
                </a:moveTo>
                <a:cubicBezTo>
                  <a:pt x="3434043" y="3458424"/>
                  <a:pt x="3439865" y="3459167"/>
                  <a:pt x="3446761" y="3461278"/>
                </a:cubicBezTo>
                <a:cubicBezTo>
                  <a:pt x="3801752" y="3568638"/>
                  <a:pt x="4119982" y="3746863"/>
                  <a:pt x="4419733" y="3963555"/>
                </a:cubicBezTo>
                <a:cubicBezTo>
                  <a:pt x="4508451" y="4027538"/>
                  <a:pt x="4593765" y="4093753"/>
                  <a:pt x="4659448" y="4172746"/>
                </a:cubicBezTo>
                <a:lnTo>
                  <a:pt x="4719140" y="4267200"/>
                </a:lnTo>
                <a:lnTo>
                  <a:pt x="4641222" y="4267200"/>
                </a:lnTo>
                <a:lnTo>
                  <a:pt x="4599968" y="4207074"/>
                </a:lnTo>
                <a:cubicBezTo>
                  <a:pt x="4478590" y="4057581"/>
                  <a:pt x="4278987" y="3946713"/>
                  <a:pt x="4136093" y="3858466"/>
                </a:cubicBezTo>
                <a:cubicBezTo>
                  <a:pt x="3985171" y="3764831"/>
                  <a:pt x="3831168" y="3687155"/>
                  <a:pt x="3670252" y="3622798"/>
                </a:cubicBezTo>
                <a:lnTo>
                  <a:pt x="3817258" y="3723577"/>
                </a:lnTo>
                <a:cubicBezTo>
                  <a:pt x="3878082" y="3765387"/>
                  <a:pt x="3941278" y="3808498"/>
                  <a:pt x="4000461" y="3855966"/>
                </a:cubicBezTo>
                <a:cubicBezTo>
                  <a:pt x="4030299" y="3879926"/>
                  <a:pt x="4059233" y="3904849"/>
                  <a:pt x="4088180" y="3929774"/>
                </a:cubicBezTo>
                <a:cubicBezTo>
                  <a:pt x="4119532" y="3956928"/>
                  <a:pt x="4151864" y="3984979"/>
                  <a:pt x="4184555" y="4010683"/>
                </a:cubicBezTo>
                <a:cubicBezTo>
                  <a:pt x="4252374" y="4064322"/>
                  <a:pt x="4327401" y="4112085"/>
                  <a:pt x="4399563" y="4158106"/>
                </a:cubicBezTo>
                <a:cubicBezTo>
                  <a:pt x="4448555" y="4189447"/>
                  <a:pt x="4498141" y="4221114"/>
                  <a:pt x="4546299" y="4254934"/>
                </a:cubicBezTo>
                <a:lnTo>
                  <a:pt x="4561743" y="4267200"/>
                </a:lnTo>
                <a:lnTo>
                  <a:pt x="4509274" y="4267200"/>
                </a:lnTo>
                <a:lnTo>
                  <a:pt x="4383389" y="4184369"/>
                </a:lnTo>
                <a:cubicBezTo>
                  <a:pt x="4310251" y="4137460"/>
                  <a:pt x="4234739" y="4089250"/>
                  <a:pt x="4165508" y="4035196"/>
                </a:cubicBezTo>
                <a:cubicBezTo>
                  <a:pt x="4131846" y="4008598"/>
                  <a:pt x="4099524" y="3980549"/>
                  <a:pt x="4068162" y="3953394"/>
                </a:cubicBezTo>
                <a:cubicBezTo>
                  <a:pt x="4039704" y="3928919"/>
                  <a:pt x="4010763" y="3903992"/>
                  <a:pt x="3981416" y="3880482"/>
                </a:cubicBezTo>
                <a:cubicBezTo>
                  <a:pt x="3923199" y="3833909"/>
                  <a:pt x="3860482" y="3791236"/>
                  <a:pt x="3800147" y="3749872"/>
                </a:cubicBezTo>
                <a:lnTo>
                  <a:pt x="3655073" y="3650884"/>
                </a:lnTo>
                <a:cubicBezTo>
                  <a:pt x="3768399" y="3765347"/>
                  <a:pt x="3873410" y="3884450"/>
                  <a:pt x="3989938" y="3991685"/>
                </a:cubicBezTo>
                <a:cubicBezTo>
                  <a:pt x="4106468" y="4098916"/>
                  <a:pt x="4234512" y="4194281"/>
                  <a:pt x="4393907" y="4261258"/>
                </a:cubicBezTo>
                <a:lnTo>
                  <a:pt x="4408201" y="4267200"/>
                </a:lnTo>
                <a:lnTo>
                  <a:pt x="4250346" y="4267200"/>
                </a:lnTo>
                <a:lnTo>
                  <a:pt x="4245269" y="4265040"/>
                </a:lnTo>
                <a:cubicBezTo>
                  <a:pt x="4167858" y="4230709"/>
                  <a:pt x="4095232" y="4193560"/>
                  <a:pt x="4036318" y="4147013"/>
                </a:cubicBezTo>
                <a:cubicBezTo>
                  <a:pt x="3810777" y="3969273"/>
                  <a:pt x="3654591" y="3720297"/>
                  <a:pt x="3432098" y="3537312"/>
                </a:cubicBezTo>
                <a:cubicBezTo>
                  <a:pt x="3408505" y="3517876"/>
                  <a:pt x="3395188" y="3461306"/>
                  <a:pt x="3429186" y="3458784"/>
                </a:cubicBezTo>
                <a:close/>
                <a:moveTo>
                  <a:pt x="9334796" y="3456584"/>
                </a:moveTo>
                <a:cubicBezTo>
                  <a:pt x="9406875" y="3608228"/>
                  <a:pt x="9503788" y="3758542"/>
                  <a:pt x="9651570" y="3826505"/>
                </a:cubicBezTo>
                <a:cubicBezTo>
                  <a:pt x="9559808" y="3686686"/>
                  <a:pt x="9456900" y="3564734"/>
                  <a:pt x="9334796" y="3456584"/>
                </a:cubicBezTo>
                <a:close/>
                <a:moveTo>
                  <a:pt x="4440129" y="3448571"/>
                </a:moveTo>
                <a:cubicBezTo>
                  <a:pt x="4500684" y="3600308"/>
                  <a:pt x="4765312" y="3823987"/>
                  <a:pt x="4856525" y="3915351"/>
                </a:cubicBezTo>
                <a:cubicBezTo>
                  <a:pt x="4921046" y="3979838"/>
                  <a:pt x="4987678" y="4047617"/>
                  <a:pt x="5059055" y="4108918"/>
                </a:cubicBezTo>
                <a:cubicBezTo>
                  <a:pt x="5130436" y="4170218"/>
                  <a:pt x="5206561" y="4225043"/>
                  <a:pt x="5290070" y="4263619"/>
                </a:cubicBezTo>
                <a:cubicBezTo>
                  <a:pt x="5126032" y="4132785"/>
                  <a:pt x="4978794" y="3979858"/>
                  <a:pt x="4834991" y="3830985"/>
                </a:cubicBezTo>
                <a:cubicBezTo>
                  <a:pt x="4709629" y="3700933"/>
                  <a:pt x="4579958" y="3567796"/>
                  <a:pt x="4440129" y="3448571"/>
                </a:cubicBezTo>
                <a:close/>
                <a:moveTo>
                  <a:pt x="5425834" y="3162785"/>
                </a:moveTo>
                <a:cubicBezTo>
                  <a:pt x="5393133" y="3300089"/>
                  <a:pt x="5401723" y="3491623"/>
                  <a:pt x="5401644" y="3617847"/>
                </a:cubicBezTo>
                <a:cubicBezTo>
                  <a:pt x="5401790" y="3807859"/>
                  <a:pt x="5425483" y="3992734"/>
                  <a:pt x="5467256" y="4175494"/>
                </a:cubicBezTo>
                <a:cubicBezTo>
                  <a:pt x="5469824" y="3971868"/>
                  <a:pt x="5459296" y="3766904"/>
                  <a:pt x="5448069" y="3567554"/>
                </a:cubicBezTo>
                <a:close/>
                <a:moveTo>
                  <a:pt x="1318687" y="3113840"/>
                </a:moveTo>
                <a:cubicBezTo>
                  <a:pt x="1233126" y="3142037"/>
                  <a:pt x="1148133" y="3174161"/>
                  <a:pt x="1066793" y="3212171"/>
                </a:cubicBezTo>
                <a:cubicBezTo>
                  <a:pt x="1042399" y="3223712"/>
                  <a:pt x="1017440" y="3235542"/>
                  <a:pt x="993319" y="3247648"/>
                </a:cubicBezTo>
                <a:cubicBezTo>
                  <a:pt x="947600" y="3269890"/>
                  <a:pt x="900765" y="3292688"/>
                  <a:pt x="853081" y="3312410"/>
                </a:cubicBezTo>
                <a:cubicBezTo>
                  <a:pt x="837376" y="3318884"/>
                  <a:pt x="821948" y="3324526"/>
                  <a:pt x="805957" y="3330443"/>
                </a:cubicBezTo>
                <a:cubicBezTo>
                  <a:pt x="973723" y="3284161"/>
                  <a:pt x="1193682" y="3229943"/>
                  <a:pt x="1318687" y="3113840"/>
                </a:cubicBezTo>
                <a:close/>
                <a:moveTo>
                  <a:pt x="5453702" y="3090882"/>
                </a:moveTo>
                <a:lnTo>
                  <a:pt x="5480135" y="3565802"/>
                </a:lnTo>
                <a:cubicBezTo>
                  <a:pt x="5490809" y="3762845"/>
                  <a:pt x="5501220" y="3965024"/>
                  <a:pt x="5499023" y="4166310"/>
                </a:cubicBezTo>
                <a:cubicBezTo>
                  <a:pt x="5546233" y="3984186"/>
                  <a:pt x="5562118" y="3799116"/>
                  <a:pt x="5547022" y="3607838"/>
                </a:cubicBezTo>
                <a:cubicBezTo>
                  <a:pt x="5541143" y="3530760"/>
                  <a:pt x="5529684" y="3453908"/>
                  <a:pt x="5515964" y="3378541"/>
                </a:cubicBezTo>
                <a:cubicBezTo>
                  <a:pt x="5505773" y="3321668"/>
                  <a:pt x="5475310" y="3095607"/>
                  <a:pt x="5453702" y="3090882"/>
                </a:cubicBezTo>
                <a:close/>
                <a:moveTo>
                  <a:pt x="9790480" y="3078533"/>
                </a:moveTo>
                <a:cubicBezTo>
                  <a:pt x="9782502" y="3134217"/>
                  <a:pt x="9773626" y="3189710"/>
                  <a:pt x="9763295" y="3245370"/>
                </a:cubicBezTo>
                <a:cubicBezTo>
                  <a:pt x="9730259" y="3421320"/>
                  <a:pt x="9693170" y="3586065"/>
                  <a:pt x="9736458" y="3758413"/>
                </a:cubicBezTo>
                <a:cubicBezTo>
                  <a:pt x="9741385" y="3680922"/>
                  <a:pt x="9752472" y="3603320"/>
                  <a:pt x="9763499" y="3528057"/>
                </a:cubicBezTo>
                <a:cubicBezTo>
                  <a:pt x="9778184" y="3430521"/>
                  <a:pt x="9793478" y="3330298"/>
                  <a:pt x="9793906" y="3231157"/>
                </a:cubicBezTo>
                <a:cubicBezTo>
                  <a:pt x="9793949" y="3202011"/>
                  <a:pt x="9792735" y="3172131"/>
                  <a:pt x="9791874" y="3142788"/>
                </a:cubicBezTo>
                <a:cubicBezTo>
                  <a:pt x="9791175" y="3121009"/>
                  <a:pt x="9790832" y="3099770"/>
                  <a:pt x="9790480" y="3078533"/>
                </a:cubicBezTo>
                <a:close/>
                <a:moveTo>
                  <a:pt x="1238695" y="3076820"/>
                </a:moveTo>
                <a:cubicBezTo>
                  <a:pt x="1051055" y="3082190"/>
                  <a:pt x="886407" y="3192548"/>
                  <a:pt x="716371" y="3293249"/>
                </a:cubicBezTo>
                <a:cubicBezTo>
                  <a:pt x="670943" y="3320259"/>
                  <a:pt x="625512" y="3345868"/>
                  <a:pt x="579522" y="3371759"/>
                </a:cubicBezTo>
                <a:cubicBezTo>
                  <a:pt x="586257" y="3369787"/>
                  <a:pt x="592991" y="3367806"/>
                  <a:pt x="600288" y="3365555"/>
                </a:cubicBezTo>
                <a:cubicBezTo>
                  <a:pt x="680240" y="3341573"/>
                  <a:pt x="762713" y="3317034"/>
                  <a:pt x="840692" y="3284921"/>
                </a:cubicBezTo>
                <a:cubicBezTo>
                  <a:pt x="887813" y="3265484"/>
                  <a:pt x="934087" y="3242968"/>
                  <a:pt x="979248" y="3221003"/>
                </a:cubicBezTo>
                <a:cubicBezTo>
                  <a:pt x="1004208" y="3209175"/>
                  <a:pt x="1028322" y="3197074"/>
                  <a:pt x="1053282" y="3185247"/>
                </a:cubicBezTo>
                <a:cubicBezTo>
                  <a:pt x="1139666" y="3144704"/>
                  <a:pt x="1229994" y="3110602"/>
                  <a:pt x="1320603" y="3081281"/>
                </a:cubicBezTo>
                <a:cubicBezTo>
                  <a:pt x="1292776" y="3077429"/>
                  <a:pt x="1265502" y="3076054"/>
                  <a:pt x="1238695" y="3076820"/>
                </a:cubicBezTo>
                <a:close/>
                <a:moveTo>
                  <a:pt x="5425627" y="2954192"/>
                </a:moveTo>
                <a:cubicBezTo>
                  <a:pt x="5441934" y="2956815"/>
                  <a:pt x="5467954" y="2996115"/>
                  <a:pt x="5470770" y="3005435"/>
                </a:cubicBezTo>
                <a:cubicBezTo>
                  <a:pt x="5591522" y="3395900"/>
                  <a:pt x="5656650" y="3795361"/>
                  <a:pt x="5567647" y="4190286"/>
                </a:cubicBezTo>
                <a:lnTo>
                  <a:pt x="5545854" y="4267200"/>
                </a:lnTo>
                <a:lnTo>
                  <a:pt x="5391871" y="4267200"/>
                </a:lnTo>
                <a:lnTo>
                  <a:pt x="5318171" y="4175818"/>
                </a:lnTo>
                <a:cubicBezTo>
                  <a:pt x="5204859" y="4048423"/>
                  <a:pt x="5075331" y="3936412"/>
                  <a:pt x="4943646" y="3822916"/>
                </a:cubicBezTo>
                <a:cubicBezTo>
                  <a:pt x="4828850" y="3724110"/>
                  <a:pt x="4714058" y="3625311"/>
                  <a:pt x="4594837" y="3532274"/>
                </a:cubicBezTo>
                <a:cubicBezTo>
                  <a:pt x="4562450" y="3507077"/>
                  <a:pt x="4474786" y="3410282"/>
                  <a:pt x="4441737" y="3399734"/>
                </a:cubicBezTo>
                <a:cubicBezTo>
                  <a:pt x="4437014" y="3398227"/>
                  <a:pt x="4433408" y="3398482"/>
                  <a:pt x="4431236" y="3400954"/>
                </a:cubicBezTo>
                <a:cubicBezTo>
                  <a:pt x="4474088" y="3436036"/>
                  <a:pt x="4516531" y="3472527"/>
                  <a:pt x="4557150" y="3510023"/>
                </a:cubicBezTo>
                <a:cubicBezTo>
                  <a:pt x="4661606" y="3606446"/>
                  <a:pt x="4760255" y="3709152"/>
                  <a:pt x="4856936" y="3809146"/>
                </a:cubicBezTo>
                <a:cubicBezTo>
                  <a:pt x="4939779" y="3895025"/>
                  <a:pt x="5024071" y="3982240"/>
                  <a:pt x="5111996" y="4065759"/>
                </a:cubicBezTo>
                <a:cubicBezTo>
                  <a:pt x="5155961" y="4107518"/>
                  <a:pt x="5200834" y="4148352"/>
                  <a:pt x="5246890" y="4187633"/>
                </a:cubicBezTo>
                <a:lnTo>
                  <a:pt x="5347266" y="4267200"/>
                </a:lnTo>
                <a:lnTo>
                  <a:pt x="5164092" y="4267200"/>
                </a:lnTo>
                <a:lnTo>
                  <a:pt x="5108945" y="4232176"/>
                </a:lnTo>
                <a:cubicBezTo>
                  <a:pt x="4772838" y="3999708"/>
                  <a:pt x="4490756" y="3581960"/>
                  <a:pt x="4294126" y="3303048"/>
                </a:cubicBezTo>
                <a:cubicBezTo>
                  <a:pt x="4284225" y="3288537"/>
                  <a:pt x="4271318" y="3233630"/>
                  <a:pt x="4305321" y="3256953"/>
                </a:cubicBezTo>
                <a:cubicBezTo>
                  <a:pt x="4530520" y="3414680"/>
                  <a:pt x="4740956" y="3587440"/>
                  <a:pt x="4949299" y="3766336"/>
                </a:cubicBezTo>
                <a:cubicBezTo>
                  <a:pt x="5065543" y="3866477"/>
                  <a:pt x="5184542" y="3965579"/>
                  <a:pt x="5291452" y="4076801"/>
                </a:cubicBezTo>
                <a:cubicBezTo>
                  <a:pt x="5309900" y="4095629"/>
                  <a:pt x="5393714" y="4211504"/>
                  <a:pt x="5434998" y="4254100"/>
                </a:cubicBezTo>
                <a:cubicBezTo>
                  <a:pt x="5369347" y="4172892"/>
                  <a:pt x="5356822" y="3836202"/>
                  <a:pt x="5351015" y="3760989"/>
                </a:cubicBezTo>
                <a:cubicBezTo>
                  <a:pt x="5330486" y="3492147"/>
                  <a:pt x="5355823" y="3228927"/>
                  <a:pt x="5413780" y="2966265"/>
                </a:cubicBezTo>
                <a:cubicBezTo>
                  <a:pt x="5415835" y="2956520"/>
                  <a:pt x="5420191" y="2953318"/>
                  <a:pt x="5425627" y="2954192"/>
                </a:cubicBezTo>
                <a:close/>
                <a:moveTo>
                  <a:pt x="8380397" y="2896659"/>
                </a:moveTo>
                <a:cubicBezTo>
                  <a:pt x="8455275" y="3038078"/>
                  <a:pt x="8545153" y="3173735"/>
                  <a:pt x="8634801" y="3304169"/>
                </a:cubicBezTo>
                <a:cubicBezTo>
                  <a:pt x="8726195" y="3437326"/>
                  <a:pt x="8821496" y="3600936"/>
                  <a:pt x="8971448" y="3675946"/>
                </a:cubicBezTo>
                <a:cubicBezTo>
                  <a:pt x="8910775" y="3621244"/>
                  <a:pt x="8864937" y="3553231"/>
                  <a:pt x="8820691" y="3486482"/>
                </a:cubicBezTo>
                <a:cubicBezTo>
                  <a:pt x="8816331" y="3480073"/>
                  <a:pt x="8811972" y="3473665"/>
                  <a:pt x="8807612" y="3467256"/>
                </a:cubicBezTo>
                <a:cubicBezTo>
                  <a:pt x="8727274" y="3347730"/>
                  <a:pt x="8640362" y="3230102"/>
                  <a:pt x="8556796" y="3116474"/>
                </a:cubicBezTo>
                <a:cubicBezTo>
                  <a:pt x="8515702" y="3060746"/>
                  <a:pt x="8472667" y="3003195"/>
                  <a:pt x="8427018" y="2948853"/>
                </a:cubicBezTo>
                <a:cubicBezTo>
                  <a:pt x="8411728" y="2931040"/>
                  <a:pt x="8396239" y="2914119"/>
                  <a:pt x="8380397" y="2896659"/>
                </a:cubicBezTo>
                <a:close/>
                <a:moveTo>
                  <a:pt x="9831020" y="2871730"/>
                </a:moveTo>
                <a:lnTo>
                  <a:pt x="9827707" y="2915231"/>
                </a:lnTo>
                <a:cubicBezTo>
                  <a:pt x="9824540" y="2960178"/>
                  <a:pt x="9821168" y="3006017"/>
                  <a:pt x="9820699" y="3051540"/>
                </a:cubicBezTo>
                <a:cubicBezTo>
                  <a:pt x="9820458" y="3081589"/>
                  <a:pt x="9821664" y="3111470"/>
                  <a:pt x="9822525" y="3140814"/>
                </a:cubicBezTo>
                <a:cubicBezTo>
                  <a:pt x="9823738" y="3170696"/>
                  <a:pt x="9824947" y="3200579"/>
                  <a:pt x="9824704" y="3230628"/>
                </a:cubicBezTo>
                <a:cubicBezTo>
                  <a:pt x="9823869" y="3331557"/>
                  <a:pt x="9808712" y="3433224"/>
                  <a:pt x="9793821" y="3531652"/>
                </a:cubicBezTo>
                <a:cubicBezTo>
                  <a:pt x="9783066" y="3603683"/>
                  <a:pt x="9772446" y="3677150"/>
                  <a:pt x="9767436" y="3750864"/>
                </a:cubicBezTo>
                <a:cubicBezTo>
                  <a:pt x="9782786" y="3724954"/>
                  <a:pt x="9799440" y="3697443"/>
                  <a:pt x="9814477" y="3662531"/>
                </a:cubicBezTo>
                <a:cubicBezTo>
                  <a:pt x="9926754" y="3406015"/>
                  <a:pt x="9892054" y="3133900"/>
                  <a:pt x="9831020" y="2871730"/>
                </a:cubicBezTo>
                <a:close/>
                <a:moveTo>
                  <a:pt x="8380521" y="2850596"/>
                </a:moveTo>
                <a:cubicBezTo>
                  <a:pt x="8404481" y="2875897"/>
                  <a:pt x="8428794" y="2901731"/>
                  <a:pt x="8451446" y="2928627"/>
                </a:cubicBezTo>
                <a:cubicBezTo>
                  <a:pt x="8497446" y="2983517"/>
                  <a:pt x="8540828" y="3041610"/>
                  <a:pt x="8582269" y="3097880"/>
                </a:cubicBezTo>
                <a:cubicBezTo>
                  <a:pt x="8666744" y="3211700"/>
                  <a:pt x="8753998" y="3329876"/>
                  <a:pt x="8833783" y="3449753"/>
                </a:cubicBezTo>
                <a:cubicBezTo>
                  <a:pt x="8838143" y="3456162"/>
                  <a:pt x="8842503" y="3462572"/>
                  <a:pt x="8846863" y="3468981"/>
                </a:cubicBezTo>
                <a:cubicBezTo>
                  <a:pt x="8881714" y="3521040"/>
                  <a:pt x="8917610" y="3574725"/>
                  <a:pt x="8960046" y="3620389"/>
                </a:cubicBezTo>
                <a:cubicBezTo>
                  <a:pt x="8847240" y="3316219"/>
                  <a:pt x="8665033" y="3014288"/>
                  <a:pt x="8380521" y="2850596"/>
                </a:cubicBezTo>
                <a:close/>
                <a:moveTo>
                  <a:pt x="9854151" y="2642862"/>
                </a:moveTo>
                <a:cubicBezTo>
                  <a:pt x="9862376" y="2644690"/>
                  <a:pt x="9868748" y="2649859"/>
                  <a:pt x="9871341" y="2659697"/>
                </a:cubicBezTo>
                <a:cubicBezTo>
                  <a:pt x="9936549" y="2907705"/>
                  <a:pt x="10004418" y="3164740"/>
                  <a:pt x="9966678" y="3423399"/>
                </a:cubicBezTo>
                <a:cubicBezTo>
                  <a:pt x="9951724" y="3524170"/>
                  <a:pt x="9914841" y="3605244"/>
                  <a:pt x="9880832" y="3700562"/>
                </a:cubicBezTo>
                <a:cubicBezTo>
                  <a:pt x="9817639" y="3880472"/>
                  <a:pt x="9825316" y="4002022"/>
                  <a:pt x="9896024" y="4178295"/>
                </a:cubicBezTo>
                <a:lnTo>
                  <a:pt x="10028060" y="4267200"/>
                </a:lnTo>
                <a:lnTo>
                  <a:pt x="9651813" y="4267200"/>
                </a:lnTo>
                <a:lnTo>
                  <a:pt x="9814527" y="4248048"/>
                </a:lnTo>
                <a:cubicBezTo>
                  <a:pt x="9748431" y="4225943"/>
                  <a:pt x="9681848" y="4217991"/>
                  <a:pt x="9615182" y="4220499"/>
                </a:cubicBezTo>
                <a:cubicBezTo>
                  <a:pt x="9565183" y="4222381"/>
                  <a:pt x="9515136" y="4230147"/>
                  <a:pt x="9465210" y="4242240"/>
                </a:cubicBezTo>
                <a:lnTo>
                  <a:pt x="9387108" y="4267200"/>
                </a:lnTo>
                <a:lnTo>
                  <a:pt x="9268441" y="4267200"/>
                </a:lnTo>
                <a:lnTo>
                  <a:pt x="9307676" y="4251276"/>
                </a:lnTo>
                <a:cubicBezTo>
                  <a:pt x="9459842" y="4196603"/>
                  <a:pt x="9613869" y="4164948"/>
                  <a:pt x="9761570" y="4182283"/>
                </a:cubicBezTo>
                <a:cubicBezTo>
                  <a:pt x="9633677" y="4101602"/>
                  <a:pt x="9502269" y="4023929"/>
                  <a:pt x="9368237" y="3949470"/>
                </a:cubicBezTo>
                <a:cubicBezTo>
                  <a:pt x="9363677" y="3950852"/>
                  <a:pt x="9358768" y="3951697"/>
                  <a:pt x="9354614" y="3951288"/>
                </a:cubicBezTo>
                <a:cubicBezTo>
                  <a:pt x="9045666" y="4112095"/>
                  <a:pt x="8711508" y="4184792"/>
                  <a:pt x="8364351" y="4159267"/>
                </a:cubicBezTo>
                <a:cubicBezTo>
                  <a:pt x="8322605" y="4156073"/>
                  <a:pt x="8373028" y="4125362"/>
                  <a:pt x="8386567" y="4119760"/>
                </a:cubicBezTo>
                <a:cubicBezTo>
                  <a:pt x="8661942" y="4017222"/>
                  <a:pt x="8938634" y="3857115"/>
                  <a:pt x="9231713" y="3873539"/>
                </a:cubicBezTo>
                <a:cubicBezTo>
                  <a:pt x="9162796" y="3836374"/>
                  <a:pt x="9093324" y="3799562"/>
                  <a:pt x="9023301" y="3763109"/>
                </a:cubicBezTo>
                <a:cubicBezTo>
                  <a:pt x="9018245" y="3762512"/>
                  <a:pt x="9014299" y="3761207"/>
                  <a:pt x="9010556" y="3758998"/>
                </a:cubicBezTo>
                <a:cubicBezTo>
                  <a:pt x="8818026" y="3719652"/>
                  <a:pt x="8714888" y="3571783"/>
                  <a:pt x="8604324" y="3417171"/>
                </a:cubicBezTo>
                <a:cubicBezTo>
                  <a:pt x="8460937" y="3216099"/>
                  <a:pt x="8313620" y="2999153"/>
                  <a:pt x="8218577" y="2770227"/>
                </a:cubicBezTo>
                <a:cubicBezTo>
                  <a:pt x="8215211" y="2762227"/>
                  <a:pt x="8217371" y="2755481"/>
                  <a:pt x="8222774" y="2749954"/>
                </a:cubicBezTo>
                <a:cubicBezTo>
                  <a:pt x="8238990" y="2733370"/>
                  <a:pt x="8284424" y="2727735"/>
                  <a:pt x="8297623" y="2731935"/>
                </a:cubicBezTo>
                <a:cubicBezTo>
                  <a:pt x="8726387" y="2883841"/>
                  <a:pt x="8964880" y="3311498"/>
                  <a:pt x="9090618" y="3716225"/>
                </a:cubicBezTo>
                <a:cubicBezTo>
                  <a:pt x="9321070" y="3835548"/>
                  <a:pt x="9546131" y="3959850"/>
                  <a:pt x="9762441" y="4093587"/>
                </a:cubicBezTo>
                <a:cubicBezTo>
                  <a:pt x="9739891" y="4035197"/>
                  <a:pt x="9720655" y="3974696"/>
                  <a:pt x="9717826" y="3916719"/>
                </a:cubicBezTo>
                <a:cubicBezTo>
                  <a:pt x="9716379" y="3916883"/>
                  <a:pt x="9714371" y="3917401"/>
                  <a:pt x="9713123" y="3916663"/>
                </a:cubicBezTo>
                <a:cubicBezTo>
                  <a:pt x="9419408" y="3876118"/>
                  <a:pt x="9276568" y="3571232"/>
                  <a:pt x="9175594" y="3326950"/>
                </a:cubicBezTo>
                <a:cubicBezTo>
                  <a:pt x="9162477" y="3295477"/>
                  <a:pt x="9234580" y="3273123"/>
                  <a:pt x="9253941" y="3287566"/>
                </a:cubicBezTo>
                <a:cubicBezTo>
                  <a:pt x="9396995" y="3390749"/>
                  <a:pt x="9519263" y="3506453"/>
                  <a:pt x="9625671" y="3639960"/>
                </a:cubicBezTo>
                <a:cubicBezTo>
                  <a:pt x="9622492" y="3540061"/>
                  <a:pt x="9637797" y="3439839"/>
                  <a:pt x="9656881" y="3333361"/>
                </a:cubicBezTo>
                <a:cubicBezTo>
                  <a:pt x="9696972" y="3116116"/>
                  <a:pt x="9713720" y="2891570"/>
                  <a:pt x="9782066" y="2680771"/>
                </a:cubicBezTo>
                <a:cubicBezTo>
                  <a:pt x="9788129" y="2661952"/>
                  <a:pt x="9829478" y="2637374"/>
                  <a:pt x="9854151" y="2642862"/>
                </a:cubicBezTo>
                <a:close/>
                <a:moveTo>
                  <a:pt x="11114299" y="2390555"/>
                </a:moveTo>
                <a:lnTo>
                  <a:pt x="11113373" y="2392739"/>
                </a:lnTo>
                <a:lnTo>
                  <a:pt x="11117197" y="2394358"/>
                </a:lnTo>
                <a:cubicBezTo>
                  <a:pt x="11116333" y="2393349"/>
                  <a:pt x="11115474" y="2392343"/>
                  <a:pt x="11114299" y="2390555"/>
                </a:cubicBezTo>
                <a:close/>
                <a:moveTo>
                  <a:pt x="10506276" y="2118977"/>
                </a:moveTo>
                <a:cubicBezTo>
                  <a:pt x="10510550" y="2257918"/>
                  <a:pt x="10470507" y="2393544"/>
                  <a:pt x="10431542" y="2525128"/>
                </a:cubicBezTo>
                <a:cubicBezTo>
                  <a:pt x="10417502" y="2571972"/>
                  <a:pt x="10403548" y="2620144"/>
                  <a:pt x="10391375" y="2667145"/>
                </a:cubicBezTo>
                <a:cubicBezTo>
                  <a:pt x="10377290" y="2721696"/>
                  <a:pt x="10366481" y="2777642"/>
                  <a:pt x="10355047" y="2832031"/>
                </a:cubicBezTo>
                <a:lnTo>
                  <a:pt x="10336080" y="2927011"/>
                </a:lnTo>
                <a:cubicBezTo>
                  <a:pt x="10349636" y="2893472"/>
                  <a:pt x="10367643" y="2846374"/>
                  <a:pt x="10389394" y="2782834"/>
                </a:cubicBezTo>
                <a:cubicBezTo>
                  <a:pt x="10448427" y="2611467"/>
                  <a:pt x="10546967" y="2325483"/>
                  <a:pt x="10506276" y="2118977"/>
                </a:cubicBezTo>
                <a:close/>
                <a:moveTo>
                  <a:pt x="11538179" y="2090376"/>
                </a:moveTo>
                <a:cubicBezTo>
                  <a:pt x="11552237" y="2136248"/>
                  <a:pt x="11565750" y="2181883"/>
                  <a:pt x="11577479" y="2228695"/>
                </a:cubicBezTo>
                <a:lnTo>
                  <a:pt x="11586754" y="2266098"/>
                </a:lnTo>
                <a:cubicBezTo>
                  <a:pt x="11593656" y="2295423"/>
                  <a:pt x="11600787" y="2324193"/>
                  <a:pt x="11609011" y="2353427"/>
                </a:cubicBezTo>
                <a:cubicBezTo>
                  <a:pt x="11644349" y="2475257"/>
                  <a:pt x="11704023" y="2591295"/>
                  <a:pt x="11761579" y="2703223"/>
                </a:cubicBezTo>
                <a:cubicBezTo>
                  <a:pt x="11802170" y="2782214"/>
                  <a:pt x="11843944" y="2862994"/>
                  <a:pt x="11877711" y="2947465"/>
                </a:cubicBezTo>
                <a:cubicBezTo>
                  <a:pt x="11815017" y="2640863"/>
                  <a:pt x="11724956" y="2342636"/>
                  <a:pt x="11538179" y="2090376"/>
                </a:cubicBezTo>
                <a:close/>
                <a:moveTo>
                  <a:pt x="6604735" y="2041381"/>
                </a:moveTo>
                <a:cubicBezTo>
                  <a:pt x="6726311" y="2327927"/>
                  <a:pt x="6916754" y="2606522"/>
                  <a:pt x="7204487" y="2742112"/>
                </a:cubicBezTo>
                <a:cubicBezTo>
                  <a:pt x="7179895" y="2719491"/>
                  <a:pt x="7154936" y="2696378"/>
                  <a:pt x="7131592" y="2672096"/>
                </a:cubicBezTo>
                <a:cubicBezTo>
                  <a:pt x="7084181" y="2622518"/>
                  <a:pt x="7039271" y="2569608"/>
                  <a:pt x="6996344" y="2518310"/>
                </a:cubicBezTo>
                <a:cubicBezTo>
                  <a:pt x="6908871" y="2414600"/>
                  <a:pt x="6818501" y="2306884"/>
                  <a:pt x="6735495" y="2196890"/>
                </a:cubicBezTo>
                <a:lnTo>
                  <a:pt x="6721901" y="2179274"/>
                </a:lnTo>
                <a:cubicBezTo>
                  <a:pt x="6685654" y="2131523"/>
                  <a:pt x="6648317" y="2082278"/>
                  <a:pt x="6604735" y="2041381"/>
                </a:cubicBezTo>
                <a:close/>
                <a:moveTo>
                  <a:pt x="11488421" y="2034549"/>
                </a:moveTo>
                <a:cubicBezTo>
                  <a:pt x="11459234" y="2371132"/>
                  <a:pt x="11651925" y="2658088"/>
                  <a:pt x="11840356" y="2932293"/>
                </a:cubicBezTo>
                <a:cubicBezTo>
                  <a:pt x="11809128" y="2858555"/>
                  <a:pt x="11772688" y="2786473"/>
                  <a:pt x="11736331" y="2715710"/>
                </a:cubicBezTo>
                <a:cubicBezTo>
                  <a:pt x="11678147" y="2602235"/>
                  <a:pt x="11617611" y="2485181"/>
                  <a:pt x="11581560" y="2360474"/>
                </a:cubicBezTo>
                <a:cubicBezTo>
                  <a:pt x="11573334" y="2331239"/>
                  <a:pt x="11565889" y="2301693"/>
                  <a:pt x="11558442" y="2272139"/>
                </a:cubicBezTo>
                <a:lnTo>
                  <a:pt x="11549169" y="2234734"/>
                </a:lnTo>
                <a:cubicBezTo>
                  <a:pt x="11532130" y="2167007"/>
                  <a:pt x="11511443" y="2100302"/>
                  <a:pt x="11488421" y="2034549"/>
                </a:cubicBezTo>
                <a:close/>
                <a:moveTo>
                  <a:pt x="10468916" y="2032338"/>
                </a:moveTo>
                <a:cubicBezTo>
                  <a:pt x="10450533" y="2081859"/>
                  <a:pt x="10434093" y="2132840"/>
                  <a:pt x="10421480" y="2185446"/>
                </a:cubicBezTo>
                <a:cubicBezTo>
                  <a:pt x="10388668" y="2317695"/>
                  <a:pt x="10374105" y="2457032"/>
                  <a:pt x="10351264" y="2591574"/>
                </a:cubicBezTo>
                <a:cubicBezTo>
                  <a:pt x="10332355" y="2700098"/>
                  <a:pt x="10281261" y="2959166"/>
                  <a:pt x="10294485" y="2991809"/>
                </a:cubicBezTo>
                <a:lnTo>
                  <a:pt x="10327850" y="2826310"/>
                </a:lnTo>
                <a:cubicBezTo>
                  <a:pt x="10338741" y="2771690"/>
                  <a:pt x="10350331" y="2715434"/>
                  <a:pt x="10364099" y="2660098"/>
                </a:cubicBezTo>
                <a:cubicBezTo>
                  <a:pt x="10376185" y="2611783"/>
                  <a:pt x="10390682" y="2563843"/>
                  <a:pt x="10404725" y="2516991"/>
                </a:cubicBezTo>
                <a:cubicBezTo>
                  <a:pt x="10443463" y="2385961"/>
                  <a:pt x="10483500" y="2250332"/>
                  <a:pt x="10478071" y="2114122"/>
                </a:cubicBezTo>
                <a:cubicBezTo>
                  <a:pt x="10476867" y="2086568"/>
                  <a:pt x="10473555" y="2059413"/>
                  <a:pt x="10468916" y="2032338"/>
                </a:cubicBezTo>
                <a:close/>
                <a:moveTo>
                  <a:pt x="10573132" y="1991479"/>
                </a:moveTo>
                <a:cubicBezTo>
                  <a:pt x="10722027" y="2144650"/>
                  <a:pt x="10877543" y="2280670"/>
                  <a:pt x="11066880" y="2371770"/>
                </a:cubicBezTo>
                <a:cubicBezTo>
                  <a:pt x="10930664" y="2234271"/>
                  <a:pt x="10767866" y="2088089"/>
                  <a:pt x="10573132" y="1991479"/>
                </a:cubicBezTo>
                <a:close/>
                <a:moveTo>
                  <a:pt x="6591670" y="1988277"/>
                </a:moveTo>
                <a:cubicBezTo>
                  <a:pt x="6653650" y="2036451"/>
                  <a:pt x="6701310" y="2098809"/>
                  <a:pt x="6747349" y="2160069"/>
                </a:cubicBezTo>
                <a:lnTo>
                  <a:pt x="6760943" y="2177686"/>
                </a:lnTo>
                <a:cubicBezTo>
                  <a:pt x="6844486" y="2287290"/>
                  <a:pt x="6934499" y="2394502"/>
                  <a:pt x="7021065" y="2498102"/>
                </a:cubicBezTo>
                <a:cubicBezTo>
                  <a:pt x="7063629" y="2548900"/>
                  <a:pt x="7108178" y="2601313"/>
                  <a:pt x="7155223" y="2650386"/>
                </a:cubicBezTo>
                <a:cubicBezTo>
                  <a:pt x="7170968" y="2666443"/>
                  <a:pt x="7186885" y="2681619"/>
                  <a:pt x="7203167" y="2697288"/>
                </a:cubicBezTo>
                <a:cubicBezTo>
                  <a:pt x="7124362" y="2565928"/>
                  <a:pt x="7030837" y="2441422"/>
                  <a:pt x="6937703" y="2321981"/>
                </a:cubicBezTo>
                <a:cubicBezTo>
                  <a:pt x="6842752" y="2200032"/>
                  <a:pt x="6742965" y="2048781"/>
                  <a:pt x="6591670" y="1988277"/>
                </a:cubicBezTo>
                <a:close/>
                <a:moveTo>
                  <a:pt x="5798671" y="1981601"/>
                </a:moveTo>
                <a:cubicBezTo>
                  <a:pt x="5784234" y="2008086"/>
                  <a:pt x="5768551" y="2036236"/>
                  <a:pt x="5754709" y="2071454"/>
                </a:cubicBezTo>
                <a:cubicBezTo>
                  <a:pt x="5651219" y="2330361"/>
                  <a:pt x="5694208" y="2592217"/>
                  <a:pt x="5763044" y="2842206"/>
                </a:cubicBezTo>
                <a:lnTo>
                  <a:pt x="5764974" y="2799609"/>
                </a:lnTo>
                <a:cubicBezTo>
                  <a:pt x="5766710" y="2755616"/>
                  <a:pt x="5768626" y="2710738"/>
                  <a:pt x="5767665" y="2666409"/>
                </a:cubicBezTo>
                <a:cubicBezTo>
                  <a:pt x="5766964" y="2637156"/>
                  <a:pt x="5764828" y="2608182"/>
                  <a:pt x="5763055" y="2579705"/>
                </a:cubicBezTo>
                <a:cubicBezTo>
                  <a:pt x="5760913" y="2550734"/>
                  <a:pt x="5758780" y="2521760"/>
                  <a:pt x="5758079" y="2492508"/>
                </a:cubicBezTo>
                <a:cubicBezTo>
                  <a:pt x="5755745" y="2394242"/>
                  <a:pt x="5767619" y="2294070"/>
                  <a:pt x="5779325" y="2197069"/>
                </a:cubicBezTo>
                <a:cubicBezTo>
                  <a:pt x="5787753" y="2126095"/>
                  <a:pt x="5796001" y="2053736"/>
                  <a:pt x="5798671" y="1981601"/>
                </a:cubicBezTo>
                <a:close/>
                <a:moveTo>
                  <a:pt x="5829202" y="1971679"/>
                </a:moveTo>
                <a:cubicBezTo>
                  <a:pt x="5826736" y="2047481"/>
                  <a:pt x="5818154" y="2123904"/>
                  <a:pt x="5809558" y="2198043"/>
                </a:cubicBezTo>
                <a:cubicBezTo>
                  <a:pt x="5798026" y="2294159"/>
                  <a:pt x="5785973" y="2392938"/>
                  <a:pt x="5788653" y="2489430"/>
                </a:cubicBezTo>
                <a:cubicBezTo>
                  <a:pt x="5789524" y="2517790"/>
                  <a:pt x="5791665" y="2546759"/>
                  <a:pt x="5793439" y="2575235"/>
                </a:cubicBezTo>
                <a:cubicBezTo>
                  <a:pt x="5794815" y="2596366"/>
                  <a:pt x="5795822" y="2617001"/>
                  <a:pt x="5796837" y="2637633"/>
                </a:cubicBezTo>
                <a:cubicBezTo>
                  <a:pt x="5803017" y="2582794"/>
                  <a:pt x="5810098" y="2528066"/>
                  <a:pt x="5818614" y="2473055"/>
                </a:cubicBezTo>
                <a:cubicBezTo>
                  <a:pt x="5845917" y="2299125"/>
                  <a:pt x="5877599" y="2135758"/>
                  <a:pt x="5829202" y="1971679"/>
                </a:cubicBezTo>
                <a:close/>
                <a:moveTo>
                  <a:pt x="10578769" y="1962963"/>
                </a:moveTo>
                <a:cubicBezTo>
                  <a:pt x="10773649" y="2057701"/>
                  <a:pt x="10936285" y="2201237"/>
                  <a:pt x="11073823" y="2338658"/>
                </a:cubicBezTo>
                <a:cubicBezTo>
                  <a:pt x="10938241" y="2169232"/>
                  <a:pt x="10752627" y="1968969"/>
                  <a:pt x="10578769" y="1962963"/>
                </a:cubicBezTo>
                <a:close/>
                <a:moveTo>
                  <a:pt x="5911389" y="1898371"/>
                </a:moveTo>
                <a:cubicBezTo>
                  <a:pt x="6006914" y="2026768"/>
                  <a:pt x="6112955" y="2136857"/>
                  <a:pt x="6237627" y="2231921"/>
                </a:cubicBezTo>
                <a:cubicBezTo>
                  <a:pt x="6161282" y="2090381"/>
                  <a:pt x="6060308" y="1952200"/>
                  <a:pt x="5911389" y="1898371"/>
                </a:cubicBezTo>
                <a:close/>
                <a:moveTo>
                  <a:pt x="6944437" y="1575402"/>
                </a:moveTo>
                <a:cubicBezTo>
                  <a:pt x="6732842" y="1643305"/>
                  <a:pt x="6518352" y="1707201"/>
                  <a:pt x="6304730" y="1766654"/>
                </a:cubicBezTo>
                <a:cubicBezTo>
                  <a:pt x="6527947" y="1784949"/>
                  <a:pt x="6737901" y="1680839"/>
                  <a:pt x="6944437" y="1575402"/>
                </a:cubicBezTo>
                <a:close/>
                <a:moveTo>
                  <a:pt x="7019523" y="1519450"/>
                </a:moveTo>
                <a:cubicBezTo>
                  <a:pt x="6766096" y="1537552"/>
                  <a:pt x="6524653" y="1609537"/>
                  <a:pt x="6298091" y="1737122"/>
                </a:cubicBezTo>
                <a:cubicBezTo>
                  <a:pt x="6539381" y="1670594"/>
                  <a:pt x="6780997" y="1597715"/>
                  <a:pt x="7019523" y="1519450"/>
                </a:cubicBezTo>
                <a:close/>
                <a:moveTo>
                  <a:pt x="2399523" y="1428234"/>
                </a:moveTo>
                <a:cubicBezTo>
                  <a:pt x="2324192" y="1539775"/>
                  <a:pt x="2267478" y="1713586"/>
                  <a:pt x="2224982" y="1826201"/>
                </a:cubicBezTo>
                <a:cubicBezTo>
                  <a:pt x="2161246" y="1995817"/>
                  <a:pt x="2120250" y="2168765"/>
                  <a:pt x="2096099" y="2345900"/>
                </a:cubicBezTo>
                <a:cubicBezTo>
                  <a:pt x="2166834" y="2165047"/>
                  <a:pt x="2226331" y="1978598"/>
                  <a:pt x="2283317" y="1796925"/>
                </a:cubicBezTo>
                <a:close/>
                <a:moveTo>
                  <a:pt x="2448558" y="1373435"/>
                </a:moveTo>
                <a:lnTo>
                  <a:pt x="2312521" y="1806140"/>
                </a:lnTo>
                <a:cubicBezTo>
                  <a:pt x="2255817" y="1985569"/>
                  <a:pt x="2197150" y="2169492"/>
                  <a:pt x="2127533" y="2348380"/>
                </a:cubicBezTo>
                <a:cubicBezTo>
                  <a:pt x="2230881" y="2201722"/>
                  <a:pt x="2307261" y="2041905"/>
                  <a:pt x="2358080" y="1866134"/>
                </a:cubicBezTo>
                <a:cubicBezTo>
                  <a:pt x="2378743" y="1795373"/>
                  <a:pt x="2394349" y="1722940"/>
                  <a:pt x="2407436" y="1651070"/>
                </a:cubicBezTo>
                <a:cubicBezTo>
                  <a:pt x="2417458" y="1596892"/>
                  <a:pt x="2466254" y="1384915"/>
                  <a:pt x="2448558" y="1373435"/>
                </a:cubicBezTo>
                <a:close/>
                <a:moveTo>
                  <a:pt x="278707" y="1352270"/>
                </a:moveTo>
                <a:lnTo>
                  <a:pt x="321570" y="1861610"/>
                </a:lnTo>
                <a:cubicBezTo>
                  <a:pt x="336248" y="1725752"/>
                  <a:pt x="317508" y="1584885"/>
                  <a:pt x="294281" y="1440658"/>
                </a:cubicBezTo>
                <a:close/>
                <a:moveTo>
                  <a:pt x="1423821" y="1351958"/>
                </a:moveTo>
                <a:cubicBezTo>
                  <a:pt x="1426859" y="1507722"/>
                  <a:pt x="1587831" y="1796280"/>
                  <a:pt x="1638521" y="1908470"/>
                </a:cubicBezTo>
                <a:cubicBezTo>
                  <a:pt x="1674424" y="1987707"/>
                  <a:pt x="1711105" y="2070587"/>
                  <a:pt x="1754199" y="2149284"/>
                </a:cubicBezTo>
                <a:cubicBezTo>
                  <a:pt x="1797295" y="2227981"/>
                  <a:pt x="1846801" y="2302493"/>
                  <a:pt x="1908359" y="2364988"/>
                </a:cubicBezTo>
                <a:cubicBezTo>
                  <a:pt x="1805946" y="2193096"/>
                  <a:pt x="1725953" y="2007134"/>
                  <a:pt x="1647661" y="1825945"/>
                </a:cubicBezTo>
                <a:cubicBezTo>
                  <a:pt x="1579500" y="1667751"/>
                  <a:pt x="1508533" y="1505355"/>
                  <a:pt x="1423821" y="1351958"/>
                </a:cubicBezTo>
                <a:close/>
                <a:moveTo>
                  <a:pt x="9518298" y="1338235"/>
                </a:moveTo>
                <a:cubicBezTo>
                  <a:pt x="9531977" y="1651120"/>
                  <a:pt x="9677527" y="1999242"/>
                  <a:pt x="9838009" y="2272553"/>
                </a:cubicBezTo>
                <a:cubicBezTo>
                  <a:pt x="9825312" y="2235634"/>
                  <a:pt x="9815180" y="2197225"/>
                  <a:pt x="9805906" y="2159819"/>
                </a:cubicBezTo>
                <a:lnTo>
                  <a:pt x="9801623" y="2142555"/>
                </a:lnTo>
                <a:cubicBezTo>
                  <a:pt x="9756626" y="1964482"/>
                  <a:pt x="9698390" y="1787247"/>
                  <a:pt x="9628671" y="1617375"/>
                </a:cubicBezTo>
                <a:cubicBezTo>
                  <a:pt x="9618364" y="1593060"/>
                  <a:pt x="9608603" y="1568967"/>
                  <a:pt x="9598299" y="1544643"/>
                </a:cubicBezTo>
                <a:cubicBezTo>
                  <a:pt x="9570133" y="1477354"/>
                  <a:pt x="9541339" y="1408510"/>
                  <a:pt x="9518298" y="1338235"/>
                </a:cubicBezTo>
                <a:close/>
                <a:moveTo>
                  <a:pt x="1431890" y="1306475"/>
                </a:moveTo>
                <a:cubicBezTo>
                  <a:pt x="1458339" y="1352187"/>
                  <a:pt x="1483952" y="1399016"/>
                  <a:pt x="1507597" y="1446132"/>
                </a:cubicBezTo>
                <a:cubicBezTo>
                  <a:pt x="1568403" y="1567288"/>
                  <a:pt x="1621917" y="1692101"/>
                  <a:pt x="1674586" y="1813832"/>
                </a:cubicBezTo>
                <a:cubicBezTo>
                  <a:pt x="1719648" y="1918315"/>
                  <a:pt x="1765554" y="2024477"/>
                  <a:pt x="1815950" y="2128564"/>
                </a:cubicBezTo>
                <a:cubicBezTo>
                  <a:pt x="1866346" y="2232648"/>
                  <a:pt x="1921228" y="2334658"/>
                  <a:pt x="1984242" y="2430829"/>
                </a:cubicBezTo>
                <a:cubicBezTo>
                  <a:pt x="1994073" y="2437830"/>
                  <a:pt x="2003908" y="2444836"/>
                  <a:pt x="2014023" y="2450995"/>
                </a:cubicBezTo>
                <a:cubicBezTo>
                  <a:pt x="1956448" y="2239741"/>
                  <a:pt x="1853160" y="2049325"/>
                  <a:pt x="1747337" y="1855264"/>
                </a:cubicBezTo>
                <a:cubicBezTo>
                  <a:pt x="1678102" y="1728504"/>
                  <a:pt x="1608870" y="1601753"/>
                  <a:pt x="1533749" y="1478656"/>
                </a:cubicBezTo>
                <a:cubicBezTo>
                  <a:pt x="1510398" y="1440515"/>
                  <a:pt x="1454048" y="1294657"/>
                  <a:pt x="1431890" y="1306475"/>
                </a:cubicBezTo>
                <a:close/>
                <a:moveTo>
                  <a:pt x="5052692" y="1292994"/>
                </a:moveTo>
                <a:cubicBezTo>
                  <a:pt x="5103155" y="1406739"/>
                  <a:pt x="5153078" y="1520878"/>
                  <a:pt x="5200661" y="1635186"/>
                </a:cubicBezTo>
                <a:cubicBezTo>
                  <a:pt x="5238218" y="1725483"/>
                  <a:pt x="5273610" y="1815047"/>
                  <a:pt x="5297138" y="1906351"/>
                </a:cubicBezTo>
                <a:cubicBezTo>
                  <a:pt x="5281533" y="1683399"/>
                  <a:pt x="5177210" y="1491946"/>
                  <a:pt x="5052692" y="1292994"/>
                </a:cubicBezTo>
                <a:close/>
                <a:moveTo>
                  <a:pt x="9528078" y="1278636"/>
                </a:moveTo>
                <a:cubicBezTo>
                  <a:pt x="9552982" y="1365794"/>
                  <a:pt x="9588937" y="1451189"/>
                  <a:pt x="9623946" y="1534260"/>
                </a:cubicBezTo>
                <a:lnTo>
                  <a:pt x="9654858" y="1607218"/>
                </a:lnTo>
                <a:cubicBezTo>
                  <a:pt x="9724183" y="1774989"/>
                  <a:pt x="9781702" y="1949347"/>
                  <a:pt x="9826304" y="2125320"/>
                </a:cubicBezTo>
                <a:cubicBezTo>
                  <a:pt x="9794296" y="1963695"/>
                  <a:pt x="9753660" y="1804203"/>
                  <a:pt x="9701198" y="1646797"/>
                </a:cubicBezTo>
                <a:cubicBezTo>
                  <a:pt x="9655682" y="1511000"/>
                  <a:pt x="9586050" y="1397178"/>
                  <a:pt x="9528078" y="1278636"/>
                </a:cubicBezTo>
                <a:close/>
                <a:moveTo>
                  <a:pt x="5009948" y="1273619"/>
                </a:moveTo>
                <a:cubicBezTo>
                  <a:pt x="5013363" y="1406203"/>
                  <a:pt x="5078144" y="1538571"/>
                  <a:pt x="5121777" y="1654213"/>
                </a:cubicBezTo>
                <a:cubicBezTo>
                  <a:pt x="5175625" y="1795269"/>
                  <a:pt x="5233597" y="1934093"/>
                  <a:pt x="5293545" y="2072247"/>
                </a:cubicBezTo>
                <a:cubicBezTo>
                  <a:pt x="5293533" y="2069971"/>
                  <a:pt x="5294060" y="2067298"/>
                  <a:pt x="5294042" y="2065019"/>
                </a:cubicBezTo>
                <a:cubicBezTo>
                  <a:pt x="5282123" y="1924099"/>
                  <a:pt x="5230273" y="1786942"/>
                  <a:pt x="5171936" y="1647613"/>
                </a:cubicBezTo>
                <a:cubicBezTo>
                  <a:pt x="5119977" y="1522743"/>
                  <a:pt x="5065315" y="1397539"/>
                  <a:pt x="5009948" y="1273619"/>
                </a:cubicBezTo>
                <a:close/>
                <a:moveTo>
                  <a:pt x="655236" y="1268632"/>
                </a:moveTo>
                <a:cubicBezTo>
                  <a:pt x="717895" y="1408869"/>
                  <a:pt x="771574" y="1550454"/>
                  <a:pt x="839521" y="1685315"/>
                </a:cubicBezTo>
                <a:cubicBezTo>
                  <a:pt x="907470" y="1820177"/>
                  <a:pt x="989683" y="1948318"/>
                  <a:pt x="1109416" y="2061663"/>
                </a:cubicBezTo>
                <a:cubicBezTo>
                  <a:pt x="1177718" y="2126399"/>
                  <a:pt x="1244319" y="2184954"/>
                  <a:pt x="1298300" y="2247742"/>
                </a:cubicBezTo>
                <a:cubicBezTo>
                  <a:pt x="1250168" y="2156040"/>
                  <a:pt x="1187457" y="2071655"/>
                  <a:pt x="1125871" y="1989513"/>
                </a:cubicBezTo>
                <a:cubicBezTo>
                  <a:pt x="1076370" y="1923070"/>
                  <a:pt x="1025189" y="1854667"/>
                  <a:pt x="981574" y="1783157"/>
                </a:cubicBezTo>
                <a:cubicBezTo>
                  <a:pt x="960475" y="1748106"/>
                  <a:pt x="941058" y="1712211"/>
                  <a:pt x="922198" y="1677437"/>
                </a:cubicBezTo>
                <a:cubicBezTo>
                  <a:pt x="905028" y="1646031"/>
                  <a:pt x="887579" y="1614059"/>
                  <a:pt x="869293" y="1583214"/>
                </a:cubicBezTo>
                <a:cubicBezTo>
                  <a:pt x="832994" y="1522086"/>
                  <a:pt x="791368" y="1462924"/>
                  <a:pt x="751431" y="1405731"/>
                </a:cubicBezTo>
                <a:close/>
                <a:moveTo>
                  <a:pt x="6516292" y="1263064"/>
                </a:moveTo>
                <a:cubicBezTo>
                  <a:pt x="6288018" y="1373581"/>
                  <a:pt x="6031500" y="1451909"/>
                  <a:pt x="5736320" y="1501803"/>
                </a:cubicBezTo>
                <a:cubicBezTo>
                  <a:pt x="6001708" y="1565837"/>
                  <a:pt x="6267694" y="1408906"/>
                  <a:pt x="6516292" y="1263064"/>
                </a:cubicBezTo>
                <a:close/>
                <a:moveTo>
                  <a:pt x="291466" y="1250369"/>
                </a:moveTo>
                <a:cubicBezTo>
                  <a:pt x="302228" y="1312380"/>
                  <a:pt x="313548" y="1374109"/>
                  <a:pt x="323180" y="1435283"/>
                </a:cubicBezTo>
                <a:cubicBezTo>
                  <a:pt x="347262" y="1585402"/>
                  <a:pt x="366566" y="1733005"/>
                  <a:pt x="349381" y="1875041"/>
                </a:cubicBezTo>
                <a:cubicBezTo>
                  <a:pt x="398887" y="1761016"/>
                  <a:pt x="404047" y="1643975"/>
                  <a:pt x="374363" y="1506494"/>
                </a:cubicBezTo>
                <a:cubicBezTo>
                  <a:pt x="356845" y="1425406"/>
                  <a:pt x="334841" y="1350786"/>
                  <a:pt x="302168" y="1274495"/>
                </a:cubicBezTo>
                <a:cubicBezTo>
                  <a:pt x="298229" y="1265236"/>
                  <a:pt x="295129" y="1257666"/>
                  <a:pt x="291466" y="1250369"/>
                </a:cubicBezTo>
                <a:close/>
                <a:moveTo>
                  <a:pt x="678222" y="1248670"/>
                </a:moveTo>
                <a:lnTo>
                  <a:pt x="775536" y="1388015"/>
                </a:lnTo>
                <a:cubicBezTo>
                  <a:pt x="815764" y="1445771"/>
                  <a:pt x="857669" y="1505484"/>
                  <a:pt x="894529" y="1567739"/>
                </a:cubicBezTo>
                <a:cubicBezTo>
                  <a:pt x="913103" y="1599148"/>
                  <a:pt x="930546" y="1631115"/>
                  <a:pt x="948000" y="1663088"/>
                </a:cubicBezTo>
                <a:cubicBezTo>
                  <a:pt x="966853" y="1697859"/>
                  <a:pt x="986277" y="1733757"/>
                  <a:pt x="1006812" y="1767683"/>
                </a:cubicBezTo>
                <a:cubicBezTo>
                  <a:pt x="1049303" y="1838347"/>
                  <a:pt x="1100205" y="1906189"/>
                  <a:pt x="1149133" y="1971513"/>
                </a:cubicBezTo>
                <a:cubicBezTo>
                  <a:pt x="1215506" y="2060384"/>
                  <a:pt x="1283561" y="2151216"/>
                  <a:pt x="1333952" y="2251620"/>
                </a:cubicBezTo>
                <a:lnTo>
                  <a:pt x="1337329" y="2258350"/>
                </a:lnTo>
                <a:cubicBezTo>
                  <a:pt x="1352131" y="2023413"/>
                  <a:pt x="1145204" y="1784597"/>
                  <a:pt x="1014726" y="1615556"/>
                </a:cubicBezTo>
                <a:cubicBezTo>
                  <a:pt x="911517" y="1481269"/>
                  <a:pt x="800192" y="1360189"/>
                  <a:pt x="678222" y="1248670"/>
                </a:cubicBezTo>
                <a:close/>
                <a:moveTo>
                  <a:pt x="9441752" y="1245311"/>
                </a:moveTo>
                <a:cubicBezTo>
                  <a:pt x="9367449" y="1271794"/>
                  <a:pt x="9313207" y="1329954"/>
                  <a:pt x="9278979" y="1406236"/>
                </a:cubicBezTo>
                <a:cubicBezTo>
                  <a:pt x="9261017" y="1445630"/>
                  <a:pt x="9242585" y="1502850"/>
                  <a:pt x="9235540" y="1546869"/>
                </a:cubicBezTo>
                <a:cubicBezTo>
                  <a:pt x="9223867" y="1618535"/>
                  <a:pt x="9230001" y="1614698"/>
                  <a:pt x="9264074" y="1557016"/>
                </a:cubicBezTo>
                <a:cubicBezTo>
                  <a:pt x="9325587" y="1454296"/>
                  <a:pt x="9384605" y="1349880"/>
                  <a:pt x="9441752" y="1245311"/>
                </a:cubicBezTo>
                <a:close/>
                <a:moveTo>
                  <a:pt x="6691602" y="1140573"/>
                </a:moveTo>
                <a:cubicBezTo>
                  <a:pt x="6646175" y="1158238"/>
                  <a:pt x="6598950" y="1175684"/>
                  <a:pt x="6571100" y="1183662"/>
                </a:cubicBezTo>
                <a:cubicBezTo>
                  <a:pt x="6462406" y="1213607"/>
                  <a:pt x="6352215" y="1234713"/>
                  <a:pt x="6241687" y="1257600"/>
                </a:cubicBezTo>
                <a:cubicBezTo>
                  <a:pt x="6040746" y="1299467"/>
                  <a:pt x="5893317" y="1420819"/>
                  <a:pt x="5693009" y="1478256"/>
                </a:cubicBezTo>
                <a:cubicBezTo>
                  <a:pt x="6021285" y="1426507"/>
                  <a:pt x="6301876" y="1340642"/>
                  <a:pt x="6548420" y="1214599"/>
                </a:cubicBezTo>
                <a:cubicBezTo>
                  <a:pt x="6567440" y="1204628"/>
                  <a:pt x="6586456" y="1194658"/>
                  <a:pt x="6605473" y="1184686"/>
                </a:cubicBezTo>
                <a:cubicBezTo>
                  <a:pt x="6633823" y="1169483"/>
                  <a:pt x="6662531" y="1154778"/>
                  <a:pt x="6691602" y="1140573"/>
                </a:cubicBezTo>
                <a:close/>
                <a:moveTo>
                  <a:pt x="4002475" y="1037802"/>
                </a:moveTo>
                <a:cubicBezTo>
                  <a:pt x="4001933" y="1038196"/>
                  <a:pt x="4000861" y="1038973"/>
                  <a:pt x="4000324" y="1039362"/>
                </a:cubicBezTo>
                <a:cubicBezTo>
                  <a:pt x="4001046" y="1040360"/>
                  <a:pt x="4002134" y="1041861"/>
                  <a:pt x="4002862" y="1042866"/>
                </a:cubicBezTo>
                <a:cubicBezTo>
                  <a:pt x="4002672" y="1041472"/>
                  <a:pt x="4002487" y="1040086"/>
                  <a:pt x="4002475" y="1037802"/>
                </a:cubicBezTo>
                <a:close/>
                <a:moveTo>
                  <a:pt x="506322" y="1020997"/>
                </a:moveTo>
                <a:cubicBezTo>
                  <a:pt x="513282" y="1018930"/>
                  <a:pt x="522180" y="1021005"/>
                  <a:pt x="533068" y="1029409"/>
                </a:cubicBezTo>
                <a:cubicBezTo>
                  <a:pt x="813777" y="1244537"/>
                  <a:pt x="1037861" y="1510547"/>
                  <a:pt x="1232525" y="1804675"/>
                </a:cubicBezTo>
                <a:cubicBezTo>
                  <a:pt x="1347857" y="1978510"/>
                  <a:pt x="1448039" y="2155739"/>
                  <a:pt x="1388858" y="2368011"/>
                </a:cubicBezTo>
                <a:cubicBezTo>
                  <a:pt x="1387462" y="2372226"/>
                  <a:pt x="1385496" y="2375314"/>
                  <a:pt x="1384098" y="2378125"/>
                </a:cubicBezTo>
                <a:cubicBezTo>
                  <a:pt x="1412260" y="2438425"/>
                  <a:pt x="1428077" y="2506324"/>
                  <a:pt x="1425393" y="2589124"/>
                </a:cubicBezTo>
                <a:cubicBezTo>
                  <a:pt x="1425681" y="2592488"/>
                  <a:pt x="1424559" y="2594453"/>
                  <a:pt x="1424001" y="2597541"/>
                </a:cubicBezTo>
                <a:cubicBezTo>
                  <a:pt x="1672217" y="2669579"/>
                  <a:pt x="1915127" y="2759032"/>
                  <a:pt x="2152729" y="2864487"/>
                </a:cubicBezTo>
                <a:cubicBezTo>
                  <a:pt x="2132903" y="2746636"/>
                  <a:pt x="2106350" y="2629357"/>
                  <a:pt x="2020609" y="2539671"/>
                </a:cubicBezTo>
                <a:cubicBezTo>
                  <a:pt x="2019486" y="2538832"/>
                  <a:pt x="2019482" y="2537426"/>
                  <a:pt x="2018920" y="2536309"/>
                </a:cubicBezTo>
                <a:cubicBezTo>
                  <a:pt x="1612986" y="2284320"/>
                  <a:pt x="1451410" y="1593008"/>
                  <a:pt x="1342441" y="1173017"/>
                </a:cubicBezTo>
                <a:cubicBezTo>
                  <a:pt x="1338482" y="1156742"/>
                  <a:pt x="1345418" y="1103405"/>
                  <a:pt x="1367925" y="1135648"/>
                </a:cubicBezTo>
                <a:cubicBezTo>
                  <a:pt x="1515878" y="1352095"/>
                  <a:pt x="1645605" y="1576999"/>
                  <a:pt x="1771401" y="1806673"/>
                </a:cubicBezTo>
                <a:cubicBezTo>
                  <a:pt x="1841477" y="1935111"/>
                  <a:pt x="1914363" y="2063547"/>
                  <a:pt x="1972385" y="2198735"/>
                </a:cubicBezTo>
                <a:cubicBezTo>
                  <a:pt x="1982518" y="2221738"/>
                  <a:pt x="2018367" y="2353316"/>
                  <a:pt x="2040892" y="2405205"/>
                </a:cubicBezTo>
                <a:cubicBezTo>
                  <a:pt x="2009600" y="2310668"/>
                  <a:pt x="2111587" y="2005996"/>
                  <a:pt x="2131689" y="1936926"/>
                </a:cubicBezTo>
                <a:cubicBezTo>
                  <a:pt x="2203731" y="1690111"/>
                  <a:pt x="2314813" y="1463729"/>
                  <a:pt x="2454820" y="1248808"/>
                </a:cubicBezTo>
                <a:cubicBezTo>
                  <a:pt x="2475264" y="1216788"/>
                  <a:pt x="2493340" y="1290570"/>
                  <a:pt x="2492512" y="1302920"/>
                </a:cubicBezTo>
                <a:cubicBezTo>
                  <a:pt x="2465675" y="1747535"/>
                  <a:pt x="2370053" y="2178216"/>
                  <a:pt x="2081216" y="2527513"/>
                </a:cubicBezTo>
                <a:cubicBezTo>
                  <a:pt x="2081497" y="2528073"/>
                  <a:pt x="2081211" y="2528916"/>
                  <a:pt x="2081211" y="2528916"/>
                </a:cubicBezTo>
                <a:cubicBezTo>
                  <a:pt x="2150699" y="2633778"/>
                  <a:pt x="2178105" y="2756954"/>
                  <a:pt x="2199067" y="2884061"/>
                </a:cubicBezTo>
                <a:cubicBezTo>
                  <a:pt x="2641128" y="3084915"/>
                  <a:pt x="3028660" y="3311628"/>
                  <a:pt x="3192586" y="3411496"/>
                </a:cubicBezTo>
                <a:cubicBezTo>
                  <a:pt x="3356510" y="3511368"/>
                  <a:pt x="3237401" y="3517312"/>
                  <a:pt x="3182620" y="3483279"/>
                </a:cubicBezTo>
                <a:cubicBezTo>
                  <a:pt x="3055506" y="3404310"/>
                  <a:pt x="2789863" y="3259545"/>
                  <a:pt x="2435119" y="3080173"/>
                </a:cubicBezTo>
                <a:lnTo>
                  <a:pt x="2410152" y="3063751"/>
                </a:lnTo>
                <a:lnTo>
                  <a:pt x="2408099" y="3064403"/>
                </a:lnTo>
                <a:lnTo>
                  <a:pt x="2407218" y="3070324"/>
                </a:lnTo>
                <a:cubicBezTo>
                  <a:pt x="2402612" y="3079171"/>
                  <a:pt x="2394080" y="3088906"/>
                  <a:pt x="2380138" y="3099341"/>
                </a:cubicBezTo>
                <a:cubicBezTo>
                  <a:pt x="2194333" y="3283170"/>
                  <a:pt x="1992503" y="3449064"/>
                  <a:pt x="1765923" y="3581043"/>
                </a:cubicBezTo>
                <a:cubicBezTo>
                  <a:pt x="1744896" y="3593696"/>
                  <a:pt x="1723857" y="3603555"/>
                  <a:pt x="1702258" y="3612286"/>
                </a:cubicBezTo>
                <a:cubicBezTo>
                  <a:pt x="1664333" y="3650747"/>
                  <a:pt x="1731601" y="3589836"/>
                  <a:pt x="1538370" y="3811804"/>
                </a:cubicBezTo>
                <a:cubicBezTo>
                  <a:pt x="1473491" y="3921431"/>
                  <a:pt x="1402113" y="4025542"/>
                  <a:pt x="1325720" y="4125411"/>
                </a:cubicBezTo>
                <a:lnTo>
                  <a:pt x="1206279" y="4267200"/>
                </a:lnTo>
                <a:lnTo>
                  <a:pt x="1115040" y="4267200"/>
                </a:lnTo>
                <a:lnTo>
                  <a:pt x="1258195" y="4099624"/>
                </a:lnTo>
                <a:cubicBezTo>
                  <a:pt x="1315987" y="4027073"/>
                  <a:pt x="1371166" y="3952247"/>
                  <a:pt x="1423113" y="3874565"/>
                </a:cubicBezTo>
                <a:lnTo>
                  <a:pt x="1260565" y="4031982"/>
                </a:lnTo>
                <a:cubicBezTo>
                  <a:pt x="1197929" y="4092559"/>
                  <a:pt x="1134310" y="4154329"/>
                  <a:pt x="1073327" y="4218727"/>
                </a:cubicBezTo>
                <a:lnTo>
                  <a:pt x="1032294" y="4267200"/>
                </a:lnTo>
                <a:lnTo>
                  <a:pt x="993830" y="4267200"/>
                </a:lnTo>
                <a:lnTo>
                  <a:pt x="1051860" y="4198693"/>
                </a:lnTo>
                <a:cubicBezTo>
                  <a:pt x="1113440" y="4133732"/>
                  <a:pt x="1177549" y="4071540"/>
                  <a:pt x="1240607" y="4010401"/>
                </a:cubicBezTo>
                <a:lnTo>
                  <a:pt x="1310106" y="3943217"/>
                </a:lnTo>
                <a:cubicBezTo>
                  <a:pt x="1174685" y="4033303"/>
                  <a:pt x="1054913" y="4139624"/>
                  <a:pt x="952103" y="4265972"/>
                </a:cubicBezTo>
                <a:lnTo>
                  <a:pt x="951207" y="4267200"/>
                </a:lnTo>
                <a:lnTo>
                  <a:pt x="862760" y="4267200"/>
                </a:lnTo>
                <a:lnTo>
                  <a:pt x="909145" y="4199225"/>
                </a:lnTo>
                <a:cubicBezTo>
                  <a:pt x="998789" y="4086824"/>
                  <a:pt x="1101084" y="3991246"/>
                  <a:pt x="1214067" y="3908561"/>
                </a:cubicBezTo>
                <a:cubicBezTo>
                  <a:pt x="1023317" y="3973399"/>
                  <a:pt x="824392" y="4020568"/>
                  <a:pt x="640967" y="4105601"/>
                </a:cubicBezTo>
                <a:cubicBezTo>
                  <a:pt x="549674" y="4147907"/>
                  <a:pt x="460581" y="4194508"/>
                  <a:pt x="372807" y="4243651"/>
                </a:cubicBezTo>
                <a:lnTo>
                  <a:pt x="332830" y="4267200"/>
                </a:lnTo>
                <a:lnTo>
                  <a:pt x="168301" y="4267200"/>
                </a:lnTo>
                <a:lnTo>
                  <a:pt x="278002" y="4201399"/>
                </a:lnTo>
                <a:cubicBezTo>
                  <a:pt x="359885" y="4153808"/>
                  <a:pt x="442683" y="4107866"/>
                  <a:pt x="527241" y="4065078"/>
                </a:cubicBezTo>
                <a:cubicBezTo>
                  <a:pt x="838255" y="3908281"/>
                  <a:pt x="1212318" y="3863093"/>
                  <a:pt x="1510397" y="3684705"/>
                </a:cubicBezTo>
                <a:cubicBezTo>
                  <a:pt x="1390337" y="3729510"/>
                  <a:pt x="1267181" y="3766747"/>
                  <a:pt x="1146550" y="3802012"/>
                </a:cubicBezTo>
                <a:cubicBezTo>
                  <a:pt x="997862" y="3845736"/>
                  <a:pt x="843568" y="3890871"/>
                  <a:pt x="698834" y="3952272"/>
                </a:cubicBezTo>
                <a:cubicBezTo>
                  <a:pt x="519814" y="4027898"/>
                  <a:pt x="352828" y="4127506"/>
                  <a:pt x="192528" y="4236299"/>
                </a:cubicBezTo>
                <a:lnTo>
                  <a:pt x="148586" y="4267200"/>
                </a:lnTo>
                <a:lnTo>
                  <a:pt x="98116" y="4267200"/>
                </a:lnTo>
                <a:lnTo>
                  <a:pt x="169669" y="4216852"/>
                </a:lnTo>
                <a:cubicBezTo>
                  <a:pt x="333361" y="4105506"/>
                  <a:pt x="504130" y="4002947"/>
                  <a:pt x="687572" y="3925629"/>
                </a:cubicBezTo>
                <a:cubicBezTo>
                  <a:pt x="833705" y="3864223"/>
                  <a:pt x="989118" y="3818520"/>
                  <a:pt x="1138365" y="3774515"/>
                </a:cubicBezTo>
                <a:cubicBezTo>
                  <a:pt x="1260121" y="3738686"/>
                  <a:pt x="1384681" y="3701451"/>
                  <a:pt x="1505579" y="3655526"/>
                </a:cubicBezTo>
                <a:cubicBezTo>
                  <a:pt x="1442294" y="3658846"/>
                  <a:pt x="1378650" y="3655854"/>
                  <a:pt x="1313114" y="3655216"/>
                </a:cubicBezTo>
                <a:cubicBezTo>
                  <a:pt x="1247578" y="3654578"/>
                  <a:pt x="1180153" y="3656293"/>
                  <a:pt x="1109304" y="3669030"/>
                </a:cubicBezTo>
                <a:cubicBezTo>
                  <a:pt x="794692" y="3725281"/>
                  <a:pt x="516258" y="3901624"/>
                  <a:pt x="258951" y="4111994"/>
                </a:cubicBezTo>
                <a:lnTo>
                  <a:pt x="80807" y="4267200"/>
                </a:lnTo>
                <a:lnTo>
                  <a:pt x="0" y="4267200"/>
                </a:lnTo>
                <a:lnTo>
                  <a:pt x="0" y="4233763"/>
                </a:lnTo>
                <a:lnTo>
                  <a:pt x="36881" y="4200118"/>
                </a:lnTo>
                <a:cubicBezTo>
                  <a:pt x="302143" y="3962792"/>
                  <a:pt x="585478" y="3740226"/>
                  <a:pt x="910534" y="3629753"/>
                </a:cubicBezTo>
                <a:cubicBezTo>
                  <a:pt x="1140280" y="3551663"/>
                  <a:pt x="1356783" y="3624873"/>
                  <a:pt x="1578717" y="3575982"/>
                </a:cubicBezTo>
                <a:cubicBezTo>
                  <a:pt x="1857881" y="3513822"/>
                  <a:pt x="2134207" y="3238918"/>
                  <a:pt x="2338780" y="3033725"/>
                </a:cubicBezTo>
                <a:cubicBezTo>
                  <a:pt x="2165203" y="2949506"/>
                  <a:pt x="1987990" y="2873430"/>
                  <a:pt x="1807991" y="2807184"/>
                </a:cubicBezTo>
                <a:cubicBezTo>
                  <a:pt x="1696192" y="2934214"/>
                  <a:pt x="1567238" y="3035444"/>
                  <a:pt x="1416358" y="3112571"/>
                </a:cubicBezTo>
                <a:cubicBezTo>
                  <a:pt x="1318658" y="3280278"/>
                  <a:pt x="1112986" y="3321000"/>
                  <a:pt x="939066" y="3378798"/>
                </a:cubicBezTo>
                <a:cubicBezTo>
                  <a:pt x="668357" y="3469020"/>
                  <a:pt x="393418" y="3543804"/>
                  <a:pt x="115099" y="3607650"/>
                </a:cubicBezTo>
                <a:cubicBezTo>
                  <a:pt x="80589" y="3615844"/>
                  <a:pt x="67554" y="3533906"/>
                  <a:pt x="97284" y="3520393"/>
                </a:cubicBezTo>
                <a:cubicBezTo>
                  <a:pt x="382521" y="3387774"/>
                  <a:pt x="642160" y="3215335"/>
                  <a:pt x="922050" y="3074867"/>
                </a:cubicBezTo>
                <a:cubicBezTo>
                  <a:pt x="1080787" y="2995199"/>
                  <a:pt x="1233979" y="2960447"/>
                  <a:pt x="1405265" y="3016319"/>
                </a:cubicBezTo>
                <a:cubicBezTo>
                  <a:pt x="1406106" y="3016600"/>
                  <a:pt x="1406671" y="3017724"/>
                  <a:pt x="1407512" y="3018001"/>
                </a:cubicBezTo>
                <a:cubicBezTo>
                  <a:pt x="1526420" y="2954115"/>
                  <a:pt x="1632390" y="2874245"/>
                  <a:pt x="1726266" y="2777274"/>
                </a:cubicBezTo>
                <a:cubicBezTo>
                  <a:pt x="1369635" y="2651515"/>
                  <a:pt x="1000990" y="2561972"/>
                  <a:pt x="625390" y="2514541"/>
                </a:cubicBezTo>
                <a:cubicBezTo>
                  <a:pt x="624559" y="2519877"/>
                  <a:pt x="622878" y="2524928"/>
                  <a:pt x="619799" y="2527180"/>
                </a:cubicBezTo>
                <a:cubicBezTo>
                  <a:pt x="509037" y="2598914"/>
                  <a:pt x="403069" y="2677377"/>
                  <a:pt x="310030" y="2771818"/>
                </a:cubicBezTo>
                <a:cubicBezTo>
                  <a:pt x="266034" y="2817076"/>
                  <a:pt x="224887" y="2891795"/>
                  <a:pt x="173877" y="2937056"/>
                </a:cubicBezTo>
                <a:cubicBezTo>
                  <a:pt x="145840" y="3003792"/>
                  <a:pt x="113686" y="3071134"/>
                  <a:pt x="77889" y="3138440"/>
                </a:cubicBezTo>
                <a:lnTo>
                  <a:pt x="0" y="3271395"/>
                </a:lnTo>
                <a:lnTo>
                  <a:pt x="0" y="3153002"/>
                </a:lnTo>
                <a:lnTo>
                  <a:pt x="2386" y="3149203"/>
                </a:lnTo>
                <a:cubicBezTo>
                  <a:pt x="33821" y="3095439"/>
                  <a:pt x="63030" y="3041490"/>
                  <a:pt x="89753" y="2987702"/>
                </a:cubicBezTo>
                <a:cubicBezTo>
                  <a:pt x="85546" y="2993322"/>
                  <a:pt x="81066" y="2999788"/>
                  <a:pt x="76869" y="3005404"/>
                </a:cubicBezTo>
                <a:cubicBezTo>
                  <a:pt x="63139" y="3024231"/>
                  <a:pt x="48575" y="3042776"/>
                  <a:pt x="32049" y="3065814"/>
                </a:cubicBezTo>
                <a:lnTo>
                  <a:pt x="0" y="3108744"/>
                </a:lnTo>
                <a:lnTo>
                  <a:pt x="0" y="3058059"/>
                </a:lnTo>
                <a:lnTo>
                  <a:pt x="7610" y="3047889"/>
                </a:lnTo>
                <a:cubicBezTo>
                  <a:pt x="24410" y="3025415"/>
                  <a:pt x="38695" y="3006301"/>
                  <a:pt x="52419" y="2987479"/>
                </a:cubicBezTo>
                <a:cubicBezTo>
                  <a:pt x="54382" y="2984385"/>
                  <a:pt x="57184" y="2981579"/>
                  <a:pt x="59142" y="2978488"/>
                </a:cubicBezTo>
                <a:lnTo>
                  <a:pt x="0" y="3015334"/>
                </a:lnTo>
                <a:lnTo>
                  <a:pt x="0" y="2914286"/>
                </a:lnTo>
                <a:lnTo>
                  <a:pt x="36383" y="2901128"/>
                </a:lnTo>
                <a:cubicBezTo>
                  <a:pt x="76283" y="2885228"/>
                  <a:pt x="116303" y="2866415"/>
                  <a:pt x="156329" y="2840533"/>
                </a:cubicBezTo>
                <a:cubicBezTo>
                  <a:pt x="229785" y="2792431"/>
                  <a:pt x="289125" y="2682604"/>
                  <a:pt x="358355" y="2620471"/>
                </a:cubicBezTo>
                <a:cubicBezTo>
                  <a:pt x="406846" y="2577174"/>
                  <a:pt x="457591" y="2538372"/>
                  <a:pt x="510577" y="2501244"/>
                </a:cubicBezTo>
                <a:cubicBezTo>
                  <a:pt x="411488" y="2490937"/>
                  <a:pt x="311929" y="2483543"/>
                  <a:pt x="211967" y="2479171"/>
                </a:cubicBezTo>
                <a:lnTo>
                  <a:pt x="0" y="2476398"/>
                </a:lnTo>
                <a:lnTo>
                  <a:pt x="0" y="2389189"/>
                </a:lnTo>
                <a:lnTo>
                  <a:pt x="103062" y="2389518"/>
                </a:lnTo>
                <a:cubicBezTo>
                  <a:pt x="239716" y="2392822"/>
                  <a:pt x="375712" y="2401808"/>
                  <a:pt x="510734" y="2416201"/>
                </a:cubicBezTo>
                <a:cubicBezTo>
                  <a:pt x="453295" y="2294758"/>
                  <a:pt x="388809" y="2156489"/>
                  <a:pt x="279257" y="2092102"/>
                </a:cubicBezTo>
                <a:cubicBezTo>
                  <a:pt x="214509" y="2054029"/>
                  <a:pt x="140169" y="2030776"/>
                  <a:pt x="65265" y="2006049"/>
                </a:cubicBezTo>
                <a:lnTo>
                  <a:pt x="0" y="1982532"/>
                </a:lnTo>
                <a:lnTo>
                  <a:pt x="0" y="1912789"/>
                </a:lnTo>
                <a:lnTo>
                  <a:pt x="97460" y="1953725"/>
                </a:lnTo>
                <a:cubicBezTo>
                  <a:pt x="140146" y="1968817"/>
                  <a:pt x="181972" y="1973804"/>
                  <a:pt x="221272" y="1980766"/>
                </a:cubicBezTo>
                <a:cubicBezTo>
                  <a:pt x="184478" y="1960612"/>
                  <a:pt x="148800" y="1938494"/>
                  <a:pt x="116765" y="1911033"/>
                </a:cubicBezTo>
                <a:cubicBezTo>
                  <a:pt x="78825" y="1878815"/>
                  <a:pt x="47051" y="1840696"/>
                  <a:pt x="16405" y="1803412"/>
                </a:cubicBezTo>
                <a:lnTo>
                  <a:pt x="0" y="1784777"/>
                </a:lnTo>
                <a:lnTo>
                  <a:pt x="0" y="1740082"/>
                </a:lnTo>
                <a:lnTo>
                  <a:pt x="39394" y="1784856"/>
                </a:lnTo>
                <a:cubicBezTo>
                  <a:pt x="69479" y="1821014"/>
                  <a:pt x="100126" y="1858299"/>
                  <a:pt x="135813" y="1888838"/>
                </a:cubicBezTo>
                <a:cubicBezTo>
                  <a:pt x="168411" y="1916009"/>
                  <a:pt x="204933" y="1938411"/>
                  <a:pt x="242575" y="1958841"/>
                </a:cubicBezTo>
                <a:cubicBezTo>
                  <a:pt x="195379" y="1882642"/>
                  <a:pt x="141547" y="1815083"/>
                  <a:pt x="82197" y="1754826"/>
                </a:cubicBezTo>
                <a:lnTo>
                  <a:pt x="0" y="1679650"/>
                </a:lnTo>
                <a:lnTo>
                  <a:pt x="0" y="1602463"/>
                </a:lnTo>
                <a:lnTo>
                  <a:pt x="84689" y="1677442"/>
                </a:lnTo>
                <a:cubicBezTo>
                  <a:pt x="165950" y="1759826"/>
                  <a:pt x="237786" y="1855565"/>
                  <a:pt x="298437" y="1968019"/>
                </a:cubicBezTo>
                <a:lnTo>
                  <a:pt x="227269" y="1114064"/>
                </a:lnTo>
                <a:cubicBezTo>
                  <a:pt x="226129" y="1099191"/>
                  <a:pt x="230003" y="1062136"/>
                  <a:pt x="248003" y="1089613"/>
                </a:cubicBezTo>
                <a:cubicBezTo>
                  <a:pt x="349844" y="1249160"/>
                  <a:pt x="397556" y="1433768"/>
                  <a:pt x="427020" y="1619803"/>
                </a:cubicBezTo>
                <a:cubicBezTo>
                  <a:pt x="453086" y="1782272"/>
                  <a:pt x="422387" y="1897385"/>
                  <a:pt x="340345" y="2027739"/>
                </a:cubicBezTo>
                <a:cubicBezTo>
                  <a:pt x="347373" y="2033339"/>
                  <a:pt x="354114" y="2038383"/>
                  <a:pt x="360865" y="2044827"/>
                </a:cubicBezTo>
                <a:cubicBezTo>
                  <a:pt x="443500" y="2128340"/>
                  <a:pt x="506078" y="2306190"/>
                  <a:pt x="560414" y="2421457"/>
                </a:cubicBezTo>
                <a:cubicBezTo>
                  <a:pt x="831022" y="2452769"/>
                  <a:pt x="1098019" y="2506255"/>
                  <a:pt x="1359703" y="2578554"/>
                </a:cubicBezTo>
                <a:lnTo>
                  <a:pt x="1359422" y="2577994"/>
                </a:lnTo>
                <a:cubicBezTo>
                  <a:pt x="1370467" y="2269807"/>
                  <a:pt x="976420" y="2084880"/>
                  <a:pt x="828701" y="1839520"/>
                </a:cubicBezTo>
                <a:cubicBezTo>
                  <a:pt x="687172" y="1605098"/>
                  <a:pt x="631475" y="1330413"/>
                  <a:pt x="494427" y="1092333"/>
                </a:cubicBezTo>
                <a:cubicBezTo>
                  <a:pt x="481980" y="1070671"/>
                  <a:pt x="485440" y="1027197"/>
                  <a:pt x="506322" y="1020997"/>
                </a:cubicBezTo>
                <a:close/>
                <a:moveTo>
                  <a:pt x="4570198" y="978081"/>
                </a:moveTo>
                <a:cubicBezTo>
                  <a:pt x="4555714" y="1028259"/>
                  <a:pt x="4540870" y="1077934"/>
                  <a:pt x="4523691" y="1127776"/>
                </a:cubicBezTo>
                <a:lnTo>
                  <a:pt x="4509875" y="1167552"/>
                </a:lnTo>
                <a:cubicBezTo>
                  <a:pt x="4498703" y="1198545"/>
                  <a:pt x="4488074" y="1229138"/>
                  <a:pt x="4478168" y="1260735"/>
                </a:cubicBezTo>
                <a:cubicBezTo>
                  <a:pt x="4437866" y="1392962"/>
                  <a:pt x="4423333" y="1532451"/>
                  <a:pt x="4409309" y="1666996"/>
                </a:cubicBezTo>
                <a:cubicBezTo>
                  <a:pt x="4399387" y="1761934"/>
                  <a:pt x="4389478" y="1859162"/>
                  <a:pt x="4370031" y="1955666"/>
                </a:cubicBezTo>
                <a:cubicBezTo>
                  <a:pt x="4495511" y="1636562"/>
                  <a:pt x="4590903" y="1311031"/>
                  <a:pt x="4570198" y="978081"/>
                </a:cubicBezTo>
                <a:close/>
                <a:moveTo>
                  <a:pt x="12149131" y="959050"/>
                </a:moveTo>
                <a:cubicBezTo>
                  <a:pt x="12135265" y="975072"/>
                  <a:pt x="12121401" y="991089"/>
                  <a:pt x="12105664" y="1006960"/>
                </a:cubicBezTo>
                <a:cubicBezTo>
                  <a:pt x="12040174" y="1071943"/>
                  <a:pt x="11966532" y="1125748"/>
                  <a:pt x="11883102" y="1184424"/>
                </a:cubicBezTo>
                <a:cubicBezTo>
                  <a:pt x="11822339" y="1227583"/>
                  <a:pt x="11746281" y="1281016"/>
                  <a:pt x="11665174" y="1317493"/>
                </a:cubicBezTo>
                <a:cubicBezTo>
                  <a:pt x="11640620" y="1328342"/>
                  <a:pt x="11615753" y="1338416"/>
                  <a:pt x="11590337" y="1348256"/>
                </a:cubicBezTo>
                <a:cubicBezTo>
                  <a:pt x="11556383" y="1361567"/>
                  <a:pt x="11523739" y="1374791"/>
                  <a:pt x="11492588" y="1390573"/>
                </a:cubicBezTo>
                <a:cubicBezTo>
                  <a:pt x="11632969" y="1358579"/>
                  <a:pt x="11770492" y="1298342"/>
                  <a:pt x="11888865" y="1220988"/>
                </a:cubicBezTo>
                <a:cubicBezTo>
                  <a:pt x="11984266" y="1158366"/>
                  <a:pt x="12085135" y="1064584"/>
                  <a:pt x="12149131" y="959050"/>
                </a:cubicBezTo>
                <a:close/>
                <a:moveTo>
                  <a:pt x="4557898" y="900011"/>
                </a:moveTo>
                <a:cubicBezTo>
                  <a:pt x="4330292" y="1199280"/>
                  <a:pt x="4335713" y="1567725"/>
                  <a:pt x="4344840" y="1922038"/>
                </a:cubicBezTo>
                <a:cubicBezTo>
                  <a:pt x="4360210" y="1836882"/>
                  <a:pt x="4369815" y="1750562"/>
                  <a:pt x="4378710" y="1665516"/>
                </a:cubicBezTo>
                <a:cubicBezTo>
                  <a:pt x="4393083" y="1529197"/>
                  <a:pt x="4407432" y="1388309"/>
                  <a:pt x="4448798" y="1253024"/>
                </a:cubicBezTo>
                <a:cubicBezTo>
                  <a:pt x="4458700" y="1221425"/>
                  <a:pt x="4469507" y="1189944"/>
                  <a:pt x="4480315" y="1158454"/>
                </a:cubicBezTo>
                <a:lnTo>
                  <a:pt x="4494133" y="1118676"/>
                </a:lnTo>
                <a:cubicBezTo>
                  <a:pt x="4518925" y="1046526"/>
                  <a:pt x="4539765" y="973431"/>
                  <a:pt x="4557898" y="900011"/>
                </a:cubicBezTo>
                <a:close/>
                <a:moveTo>
                  <a:pt x="5870151" y="898890"/>
                </a:moveTo>
                <a:cubicBezTo>
                  <a:pt x="5866911" y="898948"/>
                  <a:pt x="5864574" y="899121"/>
                  <a:pt x="5861335" y="899177"/>
                </a:cubicBezTo>
                <a:lnTo>
                  <a:pt x="5843702" y="899748"/>
                </a:lnTo>
                <a:cubicBezTo>
                  <a:pt x="5780018" y="902412"/>
                  <a:pt x="5714210" y="911192"/>
                  <a:pt x="5651107" y="920306"/>
                </a:cubicBezTo>
                <a:cubicBezTo>
                  <a:pt x="5588537" y="929031"/>
                  <a:pt x="5523624" y="937920"/>
                  <a:pt x="5459407" y="940975"/>
                </a:cubicBezTo>
                <a:cubicBezTo>
                  <a:pt x="5431523" y="942110"/>
                  <a:pt x="5402918" y="942237"/>
                  <a:pt x="5374846" y="941988"/>
                </a:cubicBezTo>
                <a:cubicBezTo>
                  <a:pt x="5336157" y="941792"/>
                  <a:pt x="5295497" y="942268"/>
                  <a:pt x="5256105" y="945632"/>
                </a:cubicBezTo>
                <a:cubicBezTo>
                  <a:pt x="5206829" y="950064"/>
                  <a:pt x="5155964" y="960232"/>
                  <a:pt x="5107071" y="969720"/>
                </a:cubicBezTo>
                <a:cubicBezTo>
                  <a:pt x="5071129" y="976700"/>
                  <a:pt x="5035177" y="983681"/>
                  <a:pt x="4998681" y="988771"/>
                </a:cubicBezTo>
                <a:cubicBezTo>
                  <a:pt x="5256175" y="1057755"/>
                  <a:pt x="5597864" y="989418"/>
                  <a:pt x="5870151" y="898890"/>
                </a:cubicBezTo>
                <a:close/>
                <a:moveTo>
                  <a:pt x="12190084" y="854709"/>
                </a:moveTo>
                <a:cubicBezTo>
                  <a:pt x="12181324" y="863235"/>
                  <a:pt x="12172252" y="870980"/>
                  <a:pt x="12162947" y="879275"/>
                </a:cubicBezTo>
                <a:cubicBezTo>
                  <a:pt x="12028326" y="998039"/>
                  <a:pt x="11883371" y="1121443"/>
                  <a:pt x="11721478" y="1216434"/>
                </a:cubicBezTo>
                <a:lnTo>
                  <a:pt x="11680712" y="1239730"/>
                </a:lnTo>
                <a:cubicBezTo>
                  <a:pt x="11620220" y="1274640"/>
                  <a:pt x="11558177" y="1310180"/>
                  <a:pt x="11505347" y="1352837"/>
                </a:cubicBezTo>
                <a:cubicBezTo>
                  <a:pt x="11530133" y="1341442"/>
                  <a:pt x="11555544" y="1331600"/>
                  <a:pt x="11580962" y="1321759"/>
                </a:cubicBezTo>
                <a:cubicBezTo>
                  <a:pt x="11605590" y="1312227"/>
                  <a:pt x="11630227" y="1302697"/>
                  <a:pt x="11654234" y="1291618"/>
                </a:cubicBezTo>
                <a:cubicBezTo>
                  <a:pt x="11733018" y="1256083"/>
                  <a:pt x="11807521" y="1203284"/>
                  <a:pt x="11867274" y="1160983"/>
                </a:cubicBezTo>
                <a:cubicBezTo>
                  <a:pt x="11949151" y="1102940"/>
                  <a:pt x="12022324" y="1050225"/>
                  <a:pt x="12086035" y="986418"/>
                </a:cubicBezTo>
                <a:cubicBezTo>
                  <a:pt x="12128278" y="944429"/>
                  <a:pt x="12163191" y="899980"/>
                  <a:pt x="12190084" y="854709"/>
                </a:cubicBezTo>
                <a:close/>
                <a:moveTo>
                  <a:pt x="5504425" y="848067"/>
                </a:moveTo>
                <a:cubicBezTo>
                  <a:pt x="5313518" y="848319"/>
                  <a:pt x="5144450" y="894555"/>
                  <a:pt x="4968849" y="962318"/>
                </a:cubicBezTo>
                <a:cubicBezTo>
                  <a:pt x="5013986" y="957830"/>
                  <a:pt x="5059460" y="949291"/>
                  <a:pt x="5104039" y="940634"/>
                </a:cubicBezTo>
                <a:cubicBezTo>
                  <a:pt x="5153465" y="930752"/>
                  <a:pt x="5205230" y="920703"/>
                  <a:pt x="5256311" y="916490"/>
                </a:cubicBezTo>
                <a:cubicBezTo>
                  <a:pt x="5297138" y="912849"/>
                  <a:pt x="5338158" y="912871"/>
                  <a:pt x="5377381" y="912671"/>
                </a:cubicBezTo>
                <a:cubicBezTo>
                  <a:pt x="5405093" y="912428"/>
                  <a:pt x="5432627" y="913077"/>
                  <a:pt x="5460148" y="911442"/>
                </a:cubicBezTo>
                <a:cubicBezTo>
                  <a:pt x="5522934" y="908669"/>
                  <a:pt x="5586937" y="899666"/>
                  <a:pt x="5648971" y="891331"/>
                </a:cubicBezTo>
                <a:cubicBezTo>
                  <a:pt x="5712974" y="882328"/>
                  <a:pt x="5779324" y="873155"/>
                  <a:pt x="5844807" y="870718"/>
                </a:cubicBezTo>
                <a:lnTo>
                  <a:pt x="5862975" y="869756"/>
                </a:lnTo>
                <a:cubicBezTo>
                  <a:pt x="5882405" y="869405"/>
                  <a:pt x="5902011" y="868171"/>
                  <a:pt x="5920887" y="865929"/>
                </a:cubicBezTo>
                <a:cubicBezTo>
                  <a:pt x="5782825" y="855356"/>
                  <a:pt x="5643867" y="846954"/>
                  <a:pt x="5504425" y="848067"/>
                </a:cubicBezTo>
                <a:close/>
                <a:moveTo>
                  <a:pt x="8924104" y="777000"/>
                </a:moveTo>
                <a:cubicBezTo>
                  <a:pt x="8923664" y="782606"/>
                  <a:pt x="8922673" y="787979"/>
                  <a:pt x="8921999" y="794136"/>
                </a:cubicBezTo>
                <a:cubicBezTo>
                  <a:pt x="8919582" y="810498"/>
                  <a:pt x="8917940" y="826538"/>
                  <a:pt x="8916066" y="843129"/>
                </a:cubicBezTo>
                <a:cubicBezTo>
                  <a:pt x="8910698" y="896870"/>
                  <a:pt x="8909926" y="951907"/>
                  <a:pt x="8909852" y="1005313"/>
                </a:cubicBezTo>
                <a:cubicBezTo>
                  <a:pt x="8907936" y="1206014"/>
                  <a:pt x="8906433" y="1413328"/>
                  <a:pt x="8936982" y="1614896"/>
                </a:cubicBezTo>
                <a:lnTo>
                  <a:pt x="8939706" y="1632791"/>
                </a:lnTo>
                <a:lnTo>
                  <a:pt x="8946691" y="1680170"/>
                </a:lnTo>
                <a:cubicBezTo>
                  <a:pt x="8947341" y="1669501"/>
                  <a:pt x="8947217" y="1659149"/>
                  <a:pt x="8947643" y="1649028"/>
                </a:cubicBezTo>
                <a:cubicBezTo>
                  <a:pt x="8950646" y="1394060"/>
                  <a:pt x="8954155" y="1130296"/>
                  <a:pt x="8931687" y="871628"/>
                </a:cubicBezTo>
                <a:lnTo>
                  <a:pt x="8929804" y="850229"/>
                </a:lnTo>
                <a:cubicBezTo>
                  <a:pt x="8927750" y="826182"/>
                  <a:pt x="8925696" y="802134"/>
                  <a:pt x="8924104" y="777000"/>
                </a:cubicBezTo>
                <a:close/>
                <a:moveTo>
                  <a:pt x="8951219" y="764662"/>
                </a:moveTo>
                <a:cubicBezTo>
                  <a:pt x="8952434" y="792211"/>
                  <a:pt x="8955277" y="820458"/>
                  <a:pt x="8957270" y="847698"/>
                </a:cubicBezTo>
                <a:lnTo>
                  <a:pt x="8959153" y="869097"/>
                </a:lnTo>
                <a:cubicBezTo>
                  <a:pt x="8981354" y="1119277"/>
                  <a:pt x="8978808" y="1373147"/>
                  <a:pt x="8976081" y="1619865"/>
                </a:cubicBezTo>
                <a:cubicBezTo>
                  <a:pt x="9043646" y="1335574"/>
                  <a:pt x="9035127" y="1045475"/>
                  <a:pt x="8951219" y="764662"/>
                </a:cubicBezTo>
                <a:close/>
                <a:moveTo>
                  <a:pt x="8898081" y="630137"/>
                </a:moveTo>
                <a:cubicBezTo>
                  <a:pt x="8735190" y="940376"/>
                  <a:pt x="8800852" y="1302315"/>
                  <a:pt x="8910095" y="1626691"/>
                </a:cubicBezTo>
                <a:lnTo>
                  <a:pt x="8908822" y="1619067"/>
                </a:lnTo>
                <a:cubicBezTo>
                  <a:pt x="8877873" y="1415398"/>
                  <a:pt x="8879292" y="1206762"/>
                  <a:pt x="8881669" y="1004967"/>
                </a:cubicBezTo>
                <a:cubicBezTo>
                  <a:pt x="8881975" y="951016"/>
                  <a:pt x="8882434" y="895204"/>
                  <a:pt x="8888265" y="840369"/>
                </a:cubicBezTo>
                <a:cubicBezTo>
                  <a:pt x="8890137" y="823783"/>
                  <a:pt x="8892011" y="807192"/>
                  <a:pt x="8894429" y="790831"/>
                </a:cubicBezTo>
                <a:cubicBezTo>
                  <a:pt x="8901122" y="737010"/>
                  <a:pt x="8907725" y="681866"/>
                  <a:pt x="8898081" y="630137"/>
                </a:cubicBezTo>
                <a:close/>
                <a:moveTo>
                  <a:pt x="11491396" y="623931"/>
                </a:moveTo>
                <a:cubicBezTo>
                  <a:pt x="11465686" y="637515"/>
                  <a:pt x="11440209" y="650546"/>
                  <a:pt x="11413329" y="662344"/>
                </a:cubicBezTo>
                <a:cubicBezTo>
                  <a:pt x="11268660" y="727282"/>
                  <a:pt x="11113102" y="758642"/>
                  <a:pt x="10966547" y="818916"/>
                </a:cubicBezTo>
                <a:cubicBezTo>
                  <a:pt x="10793574" y="889896"/>
                  <a:pt x="10652020" y="1008307"/>
                  <a:pt x="10498883" y="1111507"/>
                </a:cubicBezTo>
                <a:cubicBezTo>
                  <a:pt x="10559155" y="1098395"/>
                  <a:pt x="10616158" y="1067158"/>
                  <a:pt x="10671292" y="1035777"/>
                </a:cubicBezTo>
                <a:lnTo>
                  <a:pt x="10685894" y="1027151"/>
                </a:lnTo>
                <a:cubicBezTo>
                  <a:pt x="10821548" y="950027"/>
                  <a:pt x="10965272" y="882756"/>
                  <a:pt x="11104337" y="817377"/>
                </a:cubicBezTo>
                <a:cubicBezTo>
                  <a:pt x="11233375" y="757414"/>
                  <a:pt x="11364889" y="694633"/>
                  <a:pt x="11491396" y="623931"/>
                </a:cubicBezTo>
                <a:close/>
                <a:moveTo>
                  <a:pt x="10779304" y="584486"/>
                </a:moveTo>
                <a:cubicBezTo>
                  <a:pt x="10740583" y="648568"/>
                  <a:pt x="10699136" y="711502"/>
                  <a:pt x="10658378" y="772788"/>
                </a:cubicBezTo>
                <a:cubicBezTo>
                  <a:pt x="10594579" y="868744"/>
                  <a:pt x="10529620" y="967431"/>
                  <a:pt x="10475581" y="1070739"/>
                </a:cubicBezTo>
                <a:cubicBezTo>
                  <a:pt x="10578194" y="966751"/>
                  <a:pt x="10672522" y="819977"/>
                  <a:pt x="10735178" y="693281"/>
                </a:cubicBezTo>
                <a:close/>
                <a:moveTo>
                  <a:pt x="10132488" y="518596"/>
                </a:moveTo>
                <a:cubicBezTo>
                  <a:pt x="10047856" y="532980"/>
                  <a:pt x="9963302" y="548687"/>
                  <a:pt x="9879465" y="567273"/>
                </a:cubicBezTo>
                <a:cubicBezTo>
                  <a:pt x="9683016" y="611580"/>
                  <a:pt x="9523495" y="697916"/>
                  <a:pt x="9364243" y="809468"/>
                </a:cubicBezTo>
                <a:cubicBezTo>
                  <a:pt x="9364793" y="809701"/>
                  <a:pt x="9365336" y="809931"/>
                  <a:pt x="9366655" y="809848"/>
                </a:cubicBezTo>
                <a:cubicBezTo>
                  <a:pt x="9558665" y="728900"/>
                  <a:pt x="9742999" y="656935"/>
                  <a:pt x="9914233" y="596159"/>
                </a:cubicBezTo>
                <a:close/>
                <a:moveTo>
                  <a:pt x="10264524" y="501747"/>
                </a:moveTo>
                <a:lnTo>
                  <a:pt x="9922837" y="622979"/>
                </a:lnTo>
                <a:cubicBezTo>
                  <a:pt x="9763806" y="679263"/>
                  <a:pt x="9594234" y="745243"/>
                  <a:pt x="9416908" y="818889"/>
                </a:cubicBezTo>
                <a:cubicBezTo>
                  <a:pt x="9417689" y="818579"/>
                  <a:pt x="9417689" y="818579"/>
                  <a:pt x="9418234" y="818810"/>
                </a:cubicBezTo>
                <a:cubicBezTo>
                  <a:pt x="9717394" y="764555"/>
                  <a:pt x="10002904" y="633058"/>
                  <a:pt x="10264524" y="501747"/>
                </a:cubicBezTo>
                <a:close/>
                <a:moveTo>
                  <a:pt x="10802699" y="488163"/>
                </a:moveTo>
                <a:lnTo>
                  <a:pt x="10618739" y="734118"/>
                </a:lnTo>
                <a:lnTo>
                  <a:pt x="10604580" y="753877"/>
                </a:lnTo>
                <a:cubicBezTo>
                  <a:pt x="10575714" y="793161"/>
                  <a:pt x="10550336" y="828772"/>
                  <a:pt x="10529643" y="867004"/>
                </a:cubicBezTo>
                <a:cubicBezTo>
                  <a:pt x="10501301" y="918746"/>
                  <a:pt x="10479284" y="973805"/>
                  <a:pt x="10462194" y="1035452"/>
                </a:cubicBezTo>
                <a:cubicBezTo>
                  <a:pt x="10514547" y="939156"/>
                  <a:pt x="10575176" y="847655"/>
                  <a:pt x="10635117" y="757788"/>
                </a:cubicBezTo>
                <a:cubicBezTo>
                  <a:pt x="10692800" y="670189"/>
                  <a:pt x="10751735" y="581180"/>
                  <a:pt x="10802699" y="488163"/>
                </a:cubicBezTo>
                <a:close/>
                <a:moveTo>
                  <a:pt x="10359107" y="485136"/>
                </a:moveTo>
                <a:cubicBezTo>
                  <a:pt x="10100692" y="616512"/>
                  <a:pt x="9815681" y="755947"/>
                  <a:pt x="9515108" y="825701"/>
                </a:cubicBezTo>
                <a:cubicBezTo>
                  <a:pt x="9825509" y="831572"/>
                  <a:pt x="10104184" y="667562"/>
                  <a:pt x="10359107" y="485136"/>
                </a:cubicBezTo>
                <a:close/>
                <a:moveTo>
                  <a:pt x="11886089" y="483936"/>
                </a:moveTo>
                <a:cubicBezTo>
                  <a:pt x="11800033" y="547295"/>
                  <a:pt x="11710455" y="605296"/>
                  <a:pt x="11622890" y="661575"/>
                </a:cubicBezTo>
                <a:cubicBezTo>
                  <a:pt x="11437051" y="781189"/>
                  <a:pt x="11244843" y="905190"/>
                  <a:pt x="11038640" y="996875"/>
                </a:cubicBezTo>
                <a:cubicBezTo>
                  <a:pt x="10885656" y="1064725"/>
                  <a:pt x="10725662" y="1114166"/>
                  <a:pt x="10561310" y="1145020"/>
                </a:cubicBezTo>
                <a:cubicBezTo>
                  <a:pt x="10596460" y="1154752"/>
                  <a:pt x="10632933" y="1164394"/>
                  <a:pt x="10675127" y="1163586"/>
                </a:cubicBezTo>
                <a:cubicBezTo>
                  <a:pt x="10827145" y="1160350"/>
                  <a:pt x="10989398" y="1058435"/>
                  <a:pt x="11120351" y="990907"/>
                </a:cubicBezTo>
                <a:cubicBezTo>
                  <a:pt x="11302032" y="897860"/>
                  <a:pt x="11481110" y="797268"/>
                  <a:pt x="11648506" y="680145"/>
                </a:cubicBezTo>
                <a:cubicBezTo>
                  <a:pt x="11691733" y="649515"/>
                  <a:pt x="11821224" y="550475"/>
                  <a:pt x="11886089" y="483936"/>
                </a:cubicBezTo>
                <a:close/>
                <a:moveTo>
                  <a:pt x="3607114" y="467441"/>
                </a:moveTo>
                <a:cubicBezTo>
                  <a:pt x="3528124" y="599478"/>
                  <a:pt x="3410482" y="705343"/>
                  <a:pt x="3296242" y="807991"/>
                </a:cubicBezTo>
                <a:cubicBezTo>
                  <a:pt x="3255418" y="844446"/>
                  <a:pt x="3213877" y="882186"/>
                  <a:pt x="3174674" y="919759"/>
                </a:cubicBezTo>
                <a:cubicBezTo>
                  <a:pt x="3129209" y="963390"/>
                  <a:pt x="3085915" y="1010032"/>
                  <a:pt x="3042978" y="1054894"/>
                </a:cubicBezTo>
                <a:lnTo>
                  <a:pt x="2968914" y="1133756"/>
                </a:lnTo>
                <a:cubicBezTo>
                  <a:pt x="3001355" y="1109480"/>
                  <a:pt x="3045966" y="1074853"/>
                  <a:pt x="3103823" y="1026814"/>
                </a:cubicBezTo>
                <a:cubicBezTo>
                  <a:pt x="3260201" y="897449"/>
                  <a:pt x="3521192" y="681569"/>
                  <a:pt x="3607114" y="467441"/>
                </a:cubicBezTo>
                <a:close/>
                <a:moveTo>
                  <a:pt x="10784544" y="465669"/>
                </a:moveTo>
                <a:cubicBezTo>
                  <a:pt x="10662409" y="521478"/>
                  <a:pt x="10422179" y="894258"/>
                  <a:pt x="10426419" y="1062158"/>
                </a:cubicBezTo>
                <a:cubicBezTo>
                  <a:pt x="10438657" y="1011968"/>
                  <a:pt x="10453241" y="965354"/>
                  <a:pt x="10471732" y="921679"/>
                </a:cubicBezTo>
                <a:cubicBezTo>
                  <a:pt x="10481672" y="898200"/>
                  <a:pt x="10492705" y="875187"/>
                  <a:pt x="10504824" y="852631"/>
                </a:cubicBezTo>
                <a:cubicBezTo>
                  <a:pt x="10526215" y="812759"/>
                  <a:pt x="10552604" y="776291"/>
                  <a:pt x="10582237" y="736692"/>
                </a:cubicBezTo>
                <a:lnTo>
                  <a:pt x="10596401" y="716935"/>
                </a:lnTo>
                <a:cubicBezTo>
                  <a:pt x="10661482" y="628604"/>
                  <a:pt x="10720448" y="548625"/>
                  <a:pt x="10784544" y="465669"/>
                </a:cubicBezTo>
                <a:close/>
                <a:moveTo>
                  <a:pt x="11916494" y="422768"/>
                </a:moveTo>
                <a:cubicBezTo>
                  <a:pt x="11840345" y="436884"/>
                  <a:pt x="11770712" y="482734"/>
                  <a:pt x="11703185" y="528178"/>
                </a:cubicBezTo>
                <a:lnTo>
                  <a:pt x="11680755" y="543149"/>
                </a:lnTo>
                <a:cubicBezTo>
                  <a:pt x="11503085" y="661715"/>
                  <a:pt x="11307002" y="753816"/>
                  <a:pt x="11116818" y="842623"/>
                </a:cubicBezTo>
                <a:cubicBezTo>
                  <a:pt x="10977992" y="907459"/>
                  <a:pt x="10835051" y="974411"/>
                  <a:pt x="10700164" y="1051220"/>
                </a:cubicBezTo>
                <a:lnTo>
                  <a:pt x="10685570" y="1059849"/>
                </a:lnTo>
                <a:cubicBezTo>
                  <a:pt x="10652486" y="1078679"/>
                  <a:pt x="10619176" y="1098052"/>
                  <a:pt x="10584288" y="1113543"/>
                </a:cubicBezTo>
                <a:cubicBezTo>
                  <a:pt x="10736655" y="1082118"/>
                  <a:pt x="10884823" y="1034762"/>
                  <a:pt x="11026698" y="971858"/>
                </a:cubicBezTo>
                <a:cubicBezTo>
                  <a:pt x="11231114" y="881353"/>
                  <a:pt x="11422542" y="757667"/>
                  <a:pt x="11607604" y="638368"/>
                </a:cubicBezTo>
                <a:cubicBezTo>
                  <a:pt x="11712249" y="570645"/>
                  <a:pt x="11819449" y="501435"/>
                  <a:pt x="11919452" y="423380"/>
                </a:cubicBezTo>
                <a:cubicBezTo>
                  <a:pt x="11918363" y="422918"/>
                  <a:pt x="11917811" y="422686"/>
                  <a:pt x="11916494" y="422768"/>
                </a:cubicBezTo>
                <a:close/>
                <a:moveTo>
                  <a:pt x="8148168" y="416949"/>
                </a:moveTo>
                <a:cubicBezTo>
                  <a:pt x="8041447" y="489578"/>
                  <a:pt x="7951585" y="589312"/>
                  <a:pt x="7862052" y="694330"/>
                </a:cubicBezTo>
                <a:lnTo>
                  <a:pt x="7808002" y="759654"/>
                </a:lnTo>
                <a:close/>
                <a:moveTo>
                  <a:pt x="8295299" y="416143"/>
                </a:moveTo>
                <a:cubicBezTo>
                  <a:pt x="8303328" y="454953"/>
                  <a:pt x="8309263" y="494162"/>
                  <a:pt x="8309124" y="534021"/>
                </a:cubicBezTo>
                <a:cubicBezTo>
                  <a:pt x="8309177" y="581042"/>
                  <a:pt x="8301211" y="627240"/>
                  <a:pt x="8293154" y="672115"/>
                </a:cubicBezTo>
                <a:cubicBezTo>
                  <a:pt x="8287455" y="703824"/>
                  <a:pt x="8281839" y="736857"/>
                  <a:pt x="8279099" y="769176"/>
                </a:cubicBezTo>
                <a:cubicBezTo>
                  <a:pt x="8271208" y="866910"/>
                  <a:pt x="8290164" y="965070"/>
                  <a:pt x="8309186" y="1060039"/>
                </a:cubicBezTo>
                <a:cubicBezTo>
                  <a:pt x="8338258" y="1208834"/>
                  <a:pt x="8368983" y="1362838"/>
                  <a:pt x="8410512" y="1511108"/>
                </a:cubicBezTo>
                <a:cubicBezTo>
                  <a:pt x="8445511" y="1186645"/>
                  <a:pt x="8463496" y="815698"/>
                  <a:pt x="8351657" y="521768"/>
                </a:cubicBezTo>
                <a:cubicBezTo>
                  <a:pt x="8336376" y="481820"/>
                  <a:pt x="8314355" y="448679"/>
                  <a:pt x="8295299" y="416143"/>
                </a:cubicBezTo>
                <a:close/>
                <a:moveTo>
                  <a:pt x="8266483" y="414244"/>
                </a:moveTo>
                <a:cubicBezTo>
                  <a:pt x="8162811" y="736679"/>
                  <a:pt x="8223592" y="1050836"/>
                  <a:pt x="8343425" y="1357811"/>
                </a:cubicBezTo>
                <a:cubicBezTo>
                  <a:pt x="8320496" y="1259904"/>
                  <a:pt x="8300994" y="1161513"/>
                  <a:pt x="8282114" y="1064671"/>
                </a:cubicBezTo>
                <a:cubicBezTo>
                  <a:pt x="8263238" y="967838"/>
                  <a:pt x="8243336" y="867346"/>
                  <a:pt x="8251298" y="766414"/>
                </a:cubicBezTo>
                <a:cubicBezTo>
                  <a:pt x="8253954" y="732777"/>
                  <a:pt x="8259797" y="699198"/>
                  <a:pt x="8265729" y="666939"/>
                </a:cubicBezTo>
                <a:cubicBezTo>
                  <a:pt x="8273319" y="623158"/>
                  <a:pt x="8281376" y="578281"/>
                  <a:pt x="8281494" y="533909"/>
                </a:cubicBezTo>
                <a:cubicBezTo>
                  <a:pt x="8281080" y="493822"/>
                  <a:pt x="8274834" y="453832"/>
                  <a:pt x="8266483" y="414244"/>
                </a:cubicBezTo>
                <a:close/>
                <a:moveTo>
                  <a:pt x="8140802" y="388720"/>
                </a:moveTo>
                <a:cubicBezTo>
                  <a:pt x="8028462" y="422924"/>
                  <a:pt x="7941106" y="490876"/>
                  <a:pt x="7860379" y="596411"/>
                </a:cubicBezTo>
                <a:cubicBezTo>
                  <a:pt x="7812773" y="658663"/>
                  <a:pt x="7772566" y="720182"/>
                  <a:pt x="7737688" y="790400"/>
                </a:cubicBezTo>
                <a:cubicBezTo>
                  <a:pt x="7733439" y="798902"/>
                  <a:pt x="7729892" y="805767"/>
                  <a:pt x="7726885" y="812869"/>
                </a:cubicBezTo>
                <a:cubicBezTo>
                  <a:pt x="7764906" y="767160"/>
                  <a:pt x="7802380" y="721219"/>
                  <a:pt x="7840490" y="676832"/>
                </a:cubicBezTo>
                <a:cubicBezTo>
                  <a:pt x="7933738" y="567590"/>
                  <a:pt x="8028101" y="463327"/>
                  <a:pt x="8140802" y="388720"/>
                </a:cubicBezTo>
                <a:close/>
                <a:moveTo>
                  <a:pt x="3744487" y="383136"/>
                </a:moveTo>
                <a:cubicBezTo>
                  <a:pt x="3789590" y="603780"/>
                  <a:pt x="3850997" y="811848"/>
                  <a:pt x="3970213" y="995559"/>
                </a:cubicBezTo>
                <a:cubicBezTo>
                  <a:pt x="3927384" y="796159"/>
                  <a:pt x="3865366" y="574806"/>
                  <a:pt x="3744487" y="383136"/>
                </a:cubicBezTo>
                <a:close/>
                <a:moveTo>
                  <a:pt x="3624562" y="367041"/>
                </a:moveTo>
                <a:cubicBezTo>
                  <a:pt x="3578160" y="403736"/>
                  <a:pt x="3532667" y="442805"/>
                  <a:pt x="3489712" y="485386"/>
                </a:cubicBezTo>
                <a:cubicBezTo>
                  <a:pt x="3380716" y="591858"/>
                  <a:pt x="3284219" y="714458"/>
                  <a:pt x="3182994" y="828265"/>
                </a:cubicBezTo>
                <a:cubicBezTo>
                  <a:pt x="3100902" y="919812"/>
                  <a:pt x="2899469" y="1135252"/>
                  <a:pt x="2892114" y="1172635"/>
                </a:cubicBezTo>
                <a:lnTo>
                  <a:pt x="3021459" y="1035385"/>
                </a:lnTo>
                <a:cubicBezTo>
                  <a:pt x="3064036" y="990026"/>
                  <a:pt x="3108229" y="943501"/>
                  <a:pt x="3153873" y="898971"/>
                </a:cubicBezTo>
                <a:cubicBezTo>
                  <a:pt x="3193783" y="860125"/>
                  <a:pt x="3235680" y="822883"/>
                  <a:pt x="3276511" y="786423"/>
                </a:cubicBezTo>
                <a:cubicBezTo>
                  <a:pt x="3390214" y="684175"/>
                  <a:pt x="3507852" y="578306"/>
                  <a:pt x="3584154" y="448218"/>
                </a:cubicBezTo>
                <a:cubicBezTo>
                  <a:pt x="3599491" y="421848"/>
                  <a:pt x="3612660" y="394752"/>
                  <a:pt x="3624562" y="367041"/>
                </a:cubicBezTo>
                <a:close/>
                <a:moveTo>
                  <a:pt x="3766672" y="359429"/>
                </a:moveTo>
                <a:cubicBezTo>
                  <a:pt x="3888797" y="549425"/>
                  <a:pt x="3952247" y="768223"/>
                  <a:pt x="3996338" y="968237"/>
                </a:cubicBezTo>
                <a:cubicBezTo>
                  <a:pt x="3973140" y="739339"/>
                  <a:pt x="3922473" y="455576"/>
                  <a:pt x="3766672" y="359429"/>
                </a:cubicBezTo>
                <a:close/>
                <a:moveTo>
                  <a:pt x="5805386" y="239240"/>
                </a:moveTo>
                <a:cubicBezTo>
                  <a:pt x="5783116" y="246988"/>
                  <a:pt x="5760847" y="254734"/>
                  <a:pt x="5736947" y="261367"/>
                </a:cubicBezTo>
                <a:cubicBezTo>
                  <a:pt x="5638133" y="287976"/>
                  <a:pt x="5538513" y="299897"/>
                  <a:pt x="5427012" y="311272"/>
                </a:cubicBezTo>
                <a:cubicBezTo>
                  <a:pt x="5345554" y="319953"/>
                  <a:pt x="5243942" y="330268"/>
                  <a:pt x="5147818" y="322112"/>
                </a:cubicBezTo>
                <a:cubicBezTo>
                  <a:pt x="5118835" y="319462"/>
                  <a:pt x="5090027" y="315925"/>
                  <a:pt x="5060854" y="311882"/>
                </a:cubicBezTo>
                <a:cubicBezTo>
                  <a:pt x="5021780" y="306636"/>
                  <a:pt x="4983964" y="301993"/>
                  <a:pt x="4945989" y="300516"/>
                </a:cubicBezTo>
                <a:cubicBezTo>
                  <a:pt x="5093776" y="343728"/>
                  <a:pt x="5255799" y="359063"/>
                  <a:pt x="5410479" y="348434"/>
                </a:cubicBezTo>
                <a:cubicBezTo>
                  <a:pt x="5535307" y="339607"/>
                  <a:pt x="5683741" y="304513"/>
                  <a:pt x="5805386" y="239240"/>
                </a:cubicBezTo>
                <a:close/>
                <a:moveTo>
                  <a:pt x="5905192" y="163079"/>
                </a:moveTo>
                <a:cubicBezTo>
                  <a:pt x="5892074" y="166484"/>
                  <a:pt x="5879136" y="168997"/>
                  <a:pt x="5865655" y="171901"/>
                </a:cubicBezTo>
                <a:cubicBezTo>
                  <a:pt x="5671371" y="212758"/>
                  <a:pt x="5464843" y="252569"/>
                  <a:pt x="5259740" y="257013"/>
                </a:cubicBezTo>
                <a:cubicBezTo>
                  <a:pt x="5242649" y="257191"/>
                  <a:pt x="5225558" y="257369"/>
                  <a:pt x="5208466" y="257550"/>
                </a:cubicBezTo>
                <a:cubicBezTo>
                  <a:pt x="5132177" y="258666"/>
                  <a:pt x="5054091" y="259560"/>
                  <a:pt x="4980204" y="271903"/>
                </a:cubicBezTo>
                <a:cubicBezTo>
                  <a:pt x="5009725" y="274165"/>
                  <a:pt x="5038894" y="278201"/>
                  <a:pt x="5068068" y="282244"/>
                </a:cubicBezTo>
                <a:cubicBezTo>
                  <a:pt x="5096338" y="286164"/>
                  <a:pt x="5124608" y="290090"/>
                  <a:pt x="5153231" y="292240"/>
                </a:cubicBezTo>
                <a:cubicBezTo>
                  <a:pt x="5246661" y="300067"/>
                  <a:pt x="5346469" y="289533"/>
                  <a:pt x="5426491" y="281128"/>
                </a:cubicBezTo>
                <a:cubicBezTo>
                  <a:pt x="5536189" y="269536"/>
                  <a:pt x="5634727" y="258390"/>
                  <a:pt x="5731212" y="231951"/>
                </a:cubicBezTo>
                <a:cubicBezTo>
                  <a:pt x="5794995" y="214721"/>
                  <a:pt x="5853525" y="191373"/>
                  <a:pt x="5905192" y="163079"/>
                </a:cubicBezTo>
                <a:close/>
                <a:moveTo>
                  <a:pt x="5944437" y="113829"/>
                </a:moveTo>
                <a:cubicBezTo>
                  <a:pt x="5917256" y="119186"/>
                  <a:pt x="5863594" y="140199"/>
                  <a:pt x="5825032" y="146405"/>
                </a:cubicBezTo>
                <a:cubicBezTo>
                  <a:pt x="5539893" y="189777"/>
                  <a:pt x="5237140" y="170377"/>
                  <a:pt x="4955599" y="247008"/>
                </a:cubicBezTo>
                <a:cubicBezTo>
                  <a:pt x="5038637" y="230314"/>
                  <a:pt x="5125543" y="229138"/>
                  <a:pt x="5210104" y="228123"/>
                </a:cubicBezTo>
                <a:cubicBezTo>
                  <a:pt x="5227195" y="227945"/>
                  <a:pt x="5244285" y="227765"/>
                  <a:pt x="5261015" y="227087"/>
                </a:cubicBezTo>
                <a:cubicBezTo>
                  <a:pt x="5463242" y="223204"/>
                  <a:pt x="5667966" y="183171"/>
                  <a:pt x="5861181" y="143093"/>
                </a:cubicBezTo>
                <a:cubicBezTo>
                  <a:pt x="5895331" y="135893"/>
                  <a:pt x="5928215" y="128080"/>
                  <a:pt x="5961252" y="114820"/>
                </a:cubicBezTo>
                <a:cubicBezTo>
                  <a:pt x="5959615" y="111998"/>
                  <a:pt x="5953497" y="112044"/>
                  <a:pt x="5944437" y="113829"/>
                </a:cubicBezTo>
                <a:close/>
                <a:moveTo>
                  <a:pt x="9095810" y="0"/>
                </a:moveTo>
                <a:lnTo>
                  <a:pt x="9215999" y="0"/>
                </a:lnTo>
                <a:lnTo>
                  <a:pt x="9250991" y="17650"/>
                </a:lnTo>
                <a:cubicBezTo>
                  <a:pt x="9345825" y="54329"/>
                  <a:pt x="9448424" y="64330"/>
                  <a:pt x="9551793" y="69947"/>
                </a:cubicBezTo>
                <a:cubicBezTo>
                  <a:pt x="9773323" y="81971"/>
                  <a:pt x="9993517" y="56091"/>
                  <a:pt x="10211701" y="15192"/>
                </a:cubicBezTo>
                <a:cubicBezTo>
                  <a:pt x="10030564" y="37013"/>
                  <a:pt x="9847820" y="45912"/>
                  <a:pt x="9665014" y="41266"/>
                </a:cubicBezTo>
                <a:cubicBezTo>
                  <a:pt x="9560295" y="38460"/>
                  <a:pt x="9467175" y="31066"/>
                  <a:pt x="9382567" y="18583"/>
                </a:cubicBezTo>
                <a:lnTo>
                  <a:pt x="9283159" y="0"/>
                </a:lnTo>
                <a:lnTo>
                  <a:pt x="9469266" y="0"/>
                </a:lnTo>
                <a:lnTo>
                  <a:pt x="9504117" y="4274"/>
                </a:lnTo>
                <a:cubicBezTo>
                  <a:pt x="9555272" y="8689"/>
                  <a:pt x="9609472" y="11637"/>
                  <a:pt x="9667223" y="13232"/>
                </a:cubicBezTo>
                <a:cubicBezTo>
                  <a:pt x="9740740" y="15225"/>
                  <a:pt x="9814266" y="15008"/>
                  <a:pt x="9887703" y="12601"/>
                </a:cubicBezTo>
                <a:lnTo>
                  <a:pt x="10088930" y="0"/>
                </a:lnTo>
                <a:lnTo>
                  <a:pt x="10544171" y="0"/>
                </a:lnTo>
                <a:lnTo>
                  <a:pt x="10392396" y="36772"/>
                </a:lnTo>
                <a:cubicBezTo>
                  <a:pt x="10070832" y="110795"/>
                  <a:pt x="9739873" y="167441"/>
                  <a:pt x="9413803" y="131277"/>
                </a:cubicBezTo>
                <a:cubicBezTo>
                  <a:pt x="9315472" y="120226"/>
                  <a:pt x="9243539" y="84460"/>
                  <a:pt x="9174626" y="44983"/>
                </a:cubicBezTo>
                <a:close/>
                <a:moveTo>
                  <a:pt x="8474998" y="0"/>
                </a:moveTo>
                <a:lnTo>
                  <a:pt x="8573502" y="0"/>
                </a:lnTo>
                <a:lnTo>
                  <a:pt x="8659539" y="117664"/>
                </a:lnTo>
                <a:cubicBezTo>
                  <a:pt x="8833725" y="341427"/>
                  <a:pt x="9029703" y="551148"/>
                  <a:pt x="9248507" y="743734"/>
                </a:cubicBezTo>
                <a:cubicBezTo>
                  <a:pt x="9268744" y="761313"/>
                  <a:pt x="9289217" y="778348"/>
                  <a:pt x="9309457" y="795932"/>
                </a:cubicBezTo>
                <a:cubicBezTo>
                  <a:pt x="9458210" y="686371"/>
                  <a:pt x="9607233" y="585288"/>
                  <a:pt x="9785496" y="530713"/>
                </a:cubicBezTo>
                <a:cubicBezTo>
                  <a:pt x="10009630" y="462073"/>
                  <a:pt x="10250992" y="434854"/>
                  <a:pt x="10482828" y="399738"/>
                </a:cubicBezTo>
                <a:cubicBezTo>
                  <a:pt x="10519933" y="394202"/>
                  <a:pt x="10478550" y="453937"/>
                  <a:pt x="10468382" y="461219"/>
                </a:cubicBezTo>
                <a:cubicBezTo>
                  <a:pt x="10161572" y="688641"/>
                  <a:pt x="9818370" y="924476"/>
                  <a:pt x="9430790" y="895589"/>
                </a:cubicBezTo>
                <a:cubicBezTo>
                  <a:pt x="9617112" y="1044003"/>
                  <a:pt x="9813963" y="1178199"/>
                  <a:pt x="10019780" y="1298815"/>
                </a:cubicBezTo>
                <a:cubicBezTo>
                  <a:pt x="10142151" y="1263712"/>
                  <a:pt x="10256792" y="1186061"/>
                  <a:pt x="10372218" y="1146081"/>
                </a:cubicBezTo>
                <a:cubicBezTo>
                  <a:pt x="10279439" y="901425"/>
                  <a:pt x="10751513" y="443317"/>
                  <a:pt x="10896429" y="310883"/>
                </a:cubicBezTo>
                <a:cubicBezTo>
                  <a:pt x="10907980" y="300321"/>
                  <a:pt x="10927341" y="295643"/>
                  <a:pt x="10919735" y="318176"/>
                </a:cubicBezTo>
                <a:cubicBezTo>
                  <a:pt x="10845552" y="531416"/>
                  <a:pt x="10769057" y="750112"/>
                  <a:pt x="10637064" y="935661"/>
                </a:cubicBezTo>
                <a:cubicBezTo>
                  <a:pt x="10618262" y="961821"/>
                  <a:pt x="10471373" y="1105010"/>
                  <a:pt x="10516995" y="1070245"/>
                </a:cubicBezTo>
                <a:cubicBezTo>
                  <a:pt x="10630585" y="984423"/>
                  <a:pt x="10740230" y="886628"/>
                  <a:pt x="10868835" y="815534"/>
                </a:cubicBezTo>
                <a:cubicBezTo>
                  <a:pt x="11133493" y="669415"/>
                  <a:pt x="11435682" y="612577"/>
                  <a:pt x="11704547" y="465665"/>
                </a:cubicBezTo>
                <a:cubicBezTo>
                  <a:pt x="11748194" y="441649"/>
                  <a:pt x="11962368" y="287033"/>
                  <a:pt x="12033562" y="350012"/>
                </a:cubicBezTo>
                <a:cubicBezTo>
                  <a:pt x="12042008" y="357446"/>
                  <a:pt x="12029170" y="377121"/>
                  <a:pt x="12025537" y="382666"/>
                </a:cubicBezTo>
                <a:cubicBezTo>
                  <a:pt x="11835636" y="694348"/>
                  <a:pt x="11402055" y="895784"/>
                  <a:pt x="11088649" y="1056676"/>
                </a:cubicBezTo>
                <a:cubicBezTo>
                  <a:pt x="10916755" y="1144851"/>
                  <a:pt x="10757473" y="1230645"/>
                  <a:pt x="10561600" y="1229477"/>
                </a:cubicBezTo>
                <a:cubicBezTo>
                  <a:pt x="10456897" y="1228927"/>
                  <a:pt x="10388434" y="1221837"/>
                  <a:pt x="10280797" y="1263181"/>
                </a:cubicBezTo>
                <a:cubicBezTo>
                  <a:pt x="10214114" y="1288380"/>
                  <a:pt x="10149765" y="1312641"/>
                  <a:pt x="10083376" y="1334114"/>
                </a:cubicBezTo>
                <a:cubicBezTo>
                  <a:pt x="10323674" y="1470609"/>
                  <a:pt x="10574467" y="1588379"/>
                  <a:pt x="10832582" y="1687356"/>
                </a:cubicBezTo>
                <a:cubicBezTo>
                  <a:pt x="10835145" y="1685866"/>
                  <a:pt x="10837160" y="1684144"/>
                  <a:pt x="10839263" y="1683743"/>
                </a:cubicBezTo>
                <a:cubicBezTo>
                  <a:pt x="11026680" y="1639479"/>
                  <a:pt x="11198523" y="1559010"/>
                  <a:pt x="11350910" y="1443899"/>
                </a:cubicBezTo>
                <a:cubicBezTo>
                  <a:pt x="11353302" y="1439761"/>
                  <a:pt x="11356166" y="1434532"/>
                  <a:pt x="11360346" y="1429225"/>
                </a:cubicBezTo>
                <a:cubicBezTo>
                  <a:pt x="11568454" y="1154547"/>
                  <a:pt x="11893126" y="995756"/>
                  <a:pt x="12167580" y="789523"/>
                </a:cubicBezTo>
                <a:lnTo>
                  <a:pt x="12192000" y="769876"/>
                </a:lnTo>
                <a:lnTo>
                  <a:pt x="12192000" y="802845"/>
                </a:lnTo>
                <a:lnTo>
                  <a:pt x="12173558" y="821317"/>
                </a:lnTo>
                <a:cubicBezTo>
                  <a:pt x="12156328" y="839775"/>
                  <a:pt x="12135859" y="862655"/>
                  <a:pt x="12117398" y="877374"/>
                </a:cubicBezTo>
                <a:cubicBezTo>
                  <a:pt x="11911342" y="1038644"/>
                  <a:pt x="11659100" y="1158472"/>
                  <a:pt x="11472926" y="1344259"/>
                </a:cubicBezTo>
                <a:cubicBezTo>
                  <a:pt x="11530856" y="1294104"/>
                  <a:pt x="11599815" y="1254410"/>
                  <a:pt x="11666978" y="1215889"/>
                </a:cubicBezTo>
                <a:cubicBezTo>
                  <a:pt x="11680568" y="1208123"/>
                  <a:pt x="11694155" y="1200357"/>
                  <a:pt x="11707200" y="1192361"/>
                </a:cubicBezTo>
                <a:cubicBezTo>
                  <a:pt x="11867081" y="1099094"/>
                  <a:pt x="12010478" y="976320"/>
                  <a:pt x="12144637" y="858646"/>
                </a:cubicBezTo>
                <a:lnTo>
                  <a:pt x="12192000" y="810414"/>
                </a:lnTo>
                <a:lnTo>
                  <a:pt x="12192000" y="916439"/>
                </a:lnTo>
                <a:lnTo>
                  <a:pt x="12150630" y="982925"/>
                </a:lnTo>
                <a:cubicBezTo>
                  <a:pt x="11972246" y="1237618"/>
                  <a:pt x="11719654" y="1416530"/>
                  <a:pt x="11389484" y="1469889"/>
                </a:cubicBezTo>
                <a:cubicBezTo>
                  <a:pt x="11249700" y="1582602"/>
                  <a:pt x="11093517" y="1667134"/>
                  <a:pt x="10923736" y="1721439"/>
                </a:cubicBezTo>
                <a:cubicBezTo>
                  <a:pt x="10979487" y="1741826"/>
                  <a:pt x="11035469" y="1761662"/>
                  <a:pt x="11091913" y="1780406"/>
                </a:cubicBezTo>
                <a:cubicBezTo>
                  <a:pt x="11318237" y="1855623"/>
                  <a:pt x="11544464" y="1908264"/>
                  <a:pt x="11771238" y="1944400"/>
                </a:cubicBezTo>
                <a:cubicBezTo>
                  <a:pt x="11775181" y="1939634"/>
                  <a:pt x="11778904" y="1935410"/>
                  <a:pt x="11783166" y="1931422"/>
                </a:cubicBezTo>
                <a:cubicBezTo>
                  <a:pt x="11885723" y="1797152"/>
                  <a:pt x="11990570" y="1669642"/>
                  <a:pt x="12131988" y="1574357"/>
                </a:cubicBezTo>
                <a:lnTo>
                  <a:pt x="12192000" y="1537429"/>
                </a:lnTo>
                <a:lnTo>
                  <a:pt x="12192000" y="1589108"/>
                </a:lnTo>
                <a:lnTo>
                  <a:pt x="12112105" y="1640352"/>
                </a:lnTo>
                <a:cubicBezTo>
                  <a:pt x="12011319" y="1713959"/>
                  <a:pt x="11928638" y="1801479"/>
                  <a:pt x="11849203" y="1900149"/>
                </a:cubicBezTo>
                <a:cubicBezTo>
                  <a:pt x="11883038" y="1876488"/>
                  <a:pt x="11915071" y="1849494"/>
                  <a:pt x="11946326" y="1822808"/>
                </a:cubicBezTo>
                <a:cubicBezTo>
                  <a:pt x="11980834" y="1792997"/>
                  <a:pt x="12017130" y="1762011"/>
                  <a:pt x="12055863" y="1735914"/>
                </a:cubicBezTo>
                <a:cubicBezTo>
                  <a:pt x="12086678" y="1714840"/>
                  <a:pt x="12119524" y="1696556"/>
                  <a:pt x="12150816" y="1678902"/>
                </a:cubicBezTo>
                <a:lnTo>
                  <a:pt x="12192000" y="1655121"/>
                </a:lnTo>
                <a:lnTo>
                  <a:pt x="12192000" y="1686869"/>
                </a:lnTo>
                <a:lnTo>
                  <a:pt x="12163772" y="1703058"/>
                </a:lnTo>
                <a:cubicBezTo>
                  <a:pt x="12132704" y="1720165"/>
                  <a:pt x="12100405" y="1738677"/>
                  <a:pt x="12070597" y="1758893"/>
                </a:cubicBezTo>
                <a:cubicBezTo>
                  <a:pt x="12033422" y="1784357"/>
                  <a:pt x="11997904" y="1815035"/>
                  <a:pt x="11963621" y="1844299"/>
                </a:cubicBezTo>
                <a:cubicBezTo>
                  <a:pt x="11938421" y="1865816"/>
                  <a:pt x="11913214" y="1887338"/>
                  <a:pt x="11886604" y="1907617"/>
                </a:cubicBezTo>
                <a:cubicBezTo>
                  <a:pt x="11977116" y="1884856"/>
                  <a:pt x="12067233" y="1841647"/>
                  <a:pt x="12153575" y="1786372"/>
                </a:cubicBezTo>
                <a:lnTo>
                  <a:pt x="12192000" y="1759693"/>
                </a:lnTo>
                <a:lnTo>
                  <a:pt x="12192000" y="1809459"/>
                </a:lnTo>
                <a:lnTo>
                  <a:pt x="12121362" y="1857561"/>
                </a:lnTo>
                <a:cubicBezTo>
                  <a:pt x="12048187" y="1902591"/>
                  <a:pt x="11972544" y="1939172"/>
                  <a:pt x="11895949" y="1963079"/>
                </a:cubicBezTo>
                <a:lnTo>
                  <a:pt x="12192000" y="1990579"/>
                </a:lnTo>
                <a:lnTo>
                  <a:pt x="12192000" y="2065582"/>
                </a:lnTo>
                <a:lnTo>
                  <a:pt x="12153918" y="2063926"/>
                </a:lnTo>
                <a:lnTo>
                  <a:pt x="12192000" y="2085104"/>
                </a:lnTo>
                <a:lnTo>
                  <a:pt x="12192000" y="2178471"/>
                </a:lnTo>
                <a:lnTo>
                  <a:pt x="12085355" y="2122457"/>
                </a:lnTo>
                <a:lnTo>
                  <a:pt x="12192000" y="2196158"/>
                </a:lnTo>
                <a:lnTo>
                  <a:pt x="12192000" y="2230374"/>
                </a:lnTo>
                <a:lnTo>
                  <a:pt x="12041237" y="2126309"/>
                </a:lnTo>
                <a:cubicBezTo>
                  <a:pt x="12076493" y="2177612"/>
                  <a:pt x="12124001" y="2222030"/>
                  <a:pt x="12174450" y="2262541"/>
                </a:cubicBezTo>
                <a:lnTo>
                  <a:pt x="12192000" y="2275857"/>
                </a:lnTo>
                <a:lnTo>
                  <a:pt x="12192000" y="2377131"/>
                </a:lnTo>
                <a:lnTo>
                  <a:pt x="12155801" y="2349925"/>
                </a:lnTo>
                <a:cubicBezTo>
                  <a:pt x="12047062" y="2264619"/>
                  <a:pt x="11950704" y="2181979"/>
                  <a:pt x="11930164" y="2041945"/>
                </a:cubicBezTo>
                <a:cubicBezTo>
                  <a:pt x="11807338" y="2027929"/>
                  <a:pt x="11684723" y="2008847"/>
                  <a:pt x="11561767" y="1984479"/>
                </a:cubicBezTo>
                <a:cubicBezTo>
                  <a:pt x="11829168" y="2318516"/>
                  <a:pt x="11916257" y="2737804"/>
                  <a:pt x="11987997" y="3153822"/>
                </a:cubicBezTo>
                <a:cubicBezTo>
                  <a:pt x="11991834" y="3176690"/>
                  <a:pt x="11945766" y="3233800"/>
                  <a:pt x="11926558" y="3203134"/>
                </a:cubicBezTo>
                <a:cubicBezTo>
                  <a:pt x="11688637" y="2826855"/>
                  <a:pt x="11343207" y="2452063"/>
                  <a:pt x="11440430" y="1973028"/>
                </a:cubicBezTo>
                <a:cubicBezTo>
                  <a:pt x="11441503" y="1968973"/>
                  <a:pt x="11443583" y="1964061"/>
                  <a:pt x="11446754" y="1959605"/>
                </a:cubicBezTo>
                <a:cubicBezTo>
                  <a:pt x="11314670" y="1929437"/>
                  <a:pt x="11182797" y="1894208"/>
                  <a:pt x="11050651" y="1850495"/>
                </a:cubicBezTo>
                <a:cubicBezTo>
                  <a:pt x="10825423" y="1775743"/>
                  <a:pt x="10604642" y="1687421"/>
                  <a:pt x="10389960" y="1586232"/>
                </a:cubicBezTo>
                <a:cubicBezTo>
                  <a:pt x="10423849" y="1697796"/>
                  <a:pt x="10481699" y="1805979"/>
                  <a:pt x="10500699" y="1913175"/>
                </a:cubicBezTo>
                <a:cubicBezTo>
                  <a:pt x="10502971" y="1915419"/>
                  <a:pt x="10505550" y="1918445"/>
                  <a:pt x="10507814" y="1920694"/>
                </a:cubicBezTo>
                <a:cubicBezTo>
                  <a:pt x="10511536" y="1916469"/>
                  <a:pt x="10515800" y="1912482"/>
                  <a:pt x="10518908" y="1911226"/>
                </a:cubicBezTo>
                <a:cubicBezTo>
                  <a:pt x="10803133" y="1788841"/>
                  <a:pt x="11118572" y="2264893"/>
                  <a:pt x="11258935" y="2442781"/>
                </a:cubicBezTo>
                <a:cubicBezTo>
                  <a:pt x="11271929" y="2459223"/>
                  <a:pt x="11230610" y="2515770"/>
                  <a:pt x="11211663" y="2510325"/>
                </a:cubicBezTo>
                <a:cubicBezTo>
                  <a:pt x="10952813" y="2437432"/>
                  <a:pt x="10754880" y="2286035"/>
                  <a:pt x="10571295" y="2105302"/>
                </a:cubicBezTo>
                <a:cubicBezTo>
                  <a:pt x="10593939" y="2333141"/>
                  <a:pt x="10477445" y="2625036"/>
                  <a:pt x="10435737" y="2805672"/>
                </a:cubicBezTo>
                <a:cubicBezTo>
                  <a:pt x="10398299" y="2965580"/>
                  <a:pt x="10359478" y="3078554"/>
                  <a:pt x="10206831" y="3151701"/>
                </a:cubicBezTo>
                <a:cubicBezTo>
                  <a:pt x="10193935" y="3157832"/>
                  <a:pt x="10194572" y="3142650"/>
                  <a:pt x="10196482" y="3135084"/>
                </a:cubicBezTo>
                <a:cubicBezTo>
                  <a:pt x="10274073" y="2811909"/>
                  <a:pt x="10304290" y="2478979"/>
                  <a:pt x="10381882" y="2155807"/>
                </a:cubicBezTo>
                <a:cubicBezTo>
                  <a:pt x="10395105" y="2100241"/>
                  <a:pt x="10437104" y="2020803"/>
                  <a:pt x="10439260" y="1962486"/>
                </a:cubicBezTo>
                <a:cubicBezTo>
                  <a:pt x="10439491" y="1961942"/>
                  <a:pt x="10439175" y="1961166"/>
                  <a:pt x="10439409" y="1960615"/>
                </a:cubicBezTo>
                <a:cubicBezTo>
                  <a:pt x="10439475" y="1957427"/>
                  <a:pt x="10440085" y="1954468"/>
                  <a:pt x="10439915" y="1951821"/>
                </a:cubicBezTo>
                <a:cubicBezTo>
                  <a:pt x="10433959" y="1836632"/>
                  <a:pt x="10332627" y="1683636"/>
                  <a:pt x="10314241" y="1556749"/>
                </a:cubicBezTo>
                <a:cubicBezTo>
                  <a:pt x="10313847" y="1554649"/>
                  <a:pt x="10314451" y="1551688"/>
                  <a:pt x="10315061" y="1548729"/>
                </a:cubicBezTo>
                <a:cubicBezTo>
                  <a:pt x="10038413" y="1412938"/>
                  <a:pt x="9774128" y="1254043"/>
                  <a:pt x="9526158" y="1071804"/>
                </a:cubicBezTo>
                <a:cubicBezTo>
                  <a:pt x="9586547" y="1245450"/>
                  <a:pt x="9699054" y="1407035"/>
                  <a:pt x="9758689" y="1585512"/>
                </a:cubicBezTo>
                <a:cubicBezTo>
                  <a:pt x="9851296" y="1860991"/>
                  <a:pt x="9909066" y="2144264"/>
                  <a:pt x="9941392" y="2432858"/>
                </a:cubicBezTo>
                <a:cubicBezTo>
                  <a:pt x="9942776" y="2446319"/>
                  <a:pt x="9898852" y="2512059"/>
                  <a:pt x="9887724" y="2495762"/>
                </a:cubicBezTo>
                <a:cubicBezTo>
                  <a:pt x="9758830" y="2305989"/>
                  <a:pt x="9675953" y="2083557"/>
                  <a:pt x="9587446" y="1872898"/>
                </a:cubicBezTo>
                <a:cubicBezTo>
                  <a:pt x="9504836" y="1675682"/>
                  <a:pt x="9450239" y="1492905"/>
                  <a:pt x="9462810" y="1288346"/>
                </a:cubicBezTo>
                <a:cubicBezTo>
                  <a:pt x="9416080" y="1372857"/>
                  <a:pt x="9368030" y="1457457"/>
                  <a:pt x="9318575" y="1540820"/>
                </a:cubicBezTo>
                <a:cubicBezTo>
                  <a:pt x="9284037" y="1599587"/>
                  <a:pt x="9257140" y="1661598"/>
                  <a:pt x="9191090" y="1688355"/>
                </a:cubicBezTo>
                <a:cubicBezTo>
                  <a:pt x="9186426" y="1690241"/>
                  <a:pt x="9179411" y="1688563"/>
                  <a:pt x="9177757" y="1683354"/>
                </a:cubicBezTo>
                <a:cubicBezTo>
                  <a:pt x="9143528" y="1583238"/>
                  <a:pt x="9220115" y="1420588"/>
                  <a:pt x="9274865" y="1336896"/>
                </a:cubicBezTo>
                <a:cubicBezTo>
                  <a:pt x="9324504" y="1260695"/>
                  <a:pt x="9393212" y="1200294"/>
                  <a:pt x="9478649" y="1173376"/>
                </a:cubicBezTo>
                <a:cubicBezTo>
                  <a:pt x="9479343" y="1171736"/>
                  <a:pt x="9480811" y="1169782"/>
                  <a:pt x="9482281" y="1167830"/>
                </a:cubicBezTo>
                <a:cubicBezTo>
                  <a:pt x="9463542" y="1119335"/>
                  <a:pt x="9448141" y="1069035"/>
                  <a:pt x="9438637" y="1015438"/>
                </a:cubicBezTo>
                <a:cubicBezTo>
                  <a:pt x="9438473" y="1012795"/>
                  <a:pt x="9438847" y="1010377"/>
                  <a:pt x="9439458" y="1007420"/>
                </a:cubicBezTo>
                <a:cubicBezTo>
                  <a:pt x="9356819" y="944106"/>
                  <a:pt x="9275563" y="877509"/>
                  <a:pt x="9197105" y="808882"/>
                </a:cubicBezTo>
                <a:cubicBezTo>
                  <a:pt x="9119732" y="740719"/>
                  <a:pt x="9045390" y="669969"/>
                  <a:pt x="8973607" y="597733"/>
                </a:cubicBezTo>
                <a:cubicBezTo>
                  <a:pt x="9117865" y="988437"/>
                  <a:pt x="9115639" y="1402749"/>
                  <a:pt x="8967512" y="1795211"/>
                </a:cubicBezTo>
                <a:cubicBezTo>
                  <a:pt x="8964595" y="1803635"/>
                  <a:pt x="8922055" y="1866099"/>
                  <a:pt x="8912526" y="1841464"/>
                </a:cubicBezTo>
                <a:cubicBezTo>
                  <a:pt x="8756044" y="1433999"/>
                  <a:pt x="8647107" y="967467"/>
                  <a:pt x="8893391" y="572788"/>
                </a:cubicBezTo>
                <a:cubicBezTo>
                  <a:pt x="8896018" y="568101"/>
                  <a:pt x="8899507" y="564428"/>
                  <a:pt x="8902990" y="560750"/>
                </a:cubicBezTo>
                <a:cubicBezTo>
                  <a:pt x="8907633" y="554349"/>
                  <a:pt x="8913596" y="547863"/>
                  <a:pt x="8919102" y="542471"/>
                </a:cubicBezTo>
                <a:cubicBezTo>
                  <a:pt x="8828814" y="448553"/>
                  <a:pt x="8743025" y="351231"/>
                  <a:pt x="8661728" y="250903"/>
                </a:cubicBezTo>
                <a:close/>
                <a:moveTo>
                  <a:pt x="8357758" y="0"/>
                </a:moveTo>
                <a:lnTo>
                  <a:pt x="8405492" y="0"/>
                </a:lnTo>
                <a:lnTo>
                  <a:pt x="8392083" y="30495"/>
                </a:lnTo>
                <a:cubicBezTo>
                  <a:pt x="8354166" y="121698"/>
                  <a:pt x="8324318" y="217584"/>
                  <a:pt x="8339888" y="306259"/>
                </a:cubicBezTo>
                <a:cubicBezTo>
                  <a:pt x="8364400" y="446040"/>
                  <a:pt x="8455049" y="577127"/>
                  <a:pt x="8473847" y="727373"/>
                </a:cubicBezTo>
                <a:cubicBezTo>
                  <a:pt x="8510300" y="1013846"/>
                  <a:pt x="8488635" y="1326579"/>
                  <a:pt x="8454081" y="1611960"/>
                </a:cubicBezTo>
                <a:cubicBezTo>
                  <a:pt x="8452268" y="1625361"/>
                  <a:pt x="8409518" y="1692886"/>
                  <a:pt x="8396000" y="1663986"/>
                </a:cubicBezTo>
                <a:cubicBezTo>
                  <a:pt x="8190763" y="1233305"/>
                  <a:pt x="8063839" y="818387"/>
                  <a:pt x="8238881" y="368438"/>
                </a:cubicBezTo>
                <a:lnTo>
                  <a:pt x="7668140" y="942511"/>
                </a:lnTo>
                <a:cubicBezTo>
                  <a:pt x="7658137" y="952438"/>
                  <a:pt x="7629107" y="972341"/>
                  <a:pt x="7637853" y="942567"/>
                </a:cubicBezTo>
                <a:cubicBezTo>
                  <a:pt x="7690270" y="771614"/>
                  <a:pt x="7793861" y="624255"/>
                  <a:pt x="7909649" y="489150"/>
                </a:cubicBezTo>
                <a:cubicBezTo>
                  <a:pt x="8010566" y="370919"/>
                  <a:pt x="8112174" y="322520"/>
                  <a:pt x="8256182" y="301724"/>
                </a:cubicBezTo>
                <a:cubicBezTo>
                  <a:pt x="8255907" y="293239"/>
                  <a:pt x="8255408" y="285302"/>
                  <a:pt x="8255912" y="276498"/>
                </a:cubicBezTo>
                <a:cubicBezTo>
                  <a:pt x="8260651" y="221208"/>
                  <a:pt x="8285427" y="155085"/>
                  <a:pt x="8315225" y="89075"/>
                </a:cubicBezTo>
                <a:close/>
                <a:moveTo>
                  <a:pt x="7497388" y="0"/>
                </a:moveTo>
                <a:lnTo>
                  <a:pt x="7560921" y="0"/>
                </a:lnTo>
                <a:lnTo>
                  <a:pt x="7546742" y="68966"/>
                </a:lnTo>
                <a:cubicBezTo>
                  <a:pt x="7513334" y="225436"/>
                  <a:pt x="7494394" y="379659"/>
                  <a:pt x="7488853" y="535687"/>
                </a:cubicBezTo>
                <a:lnTo>
                  <a:pt x="7529509" y="380358"/>
                </a:lnTo>
                <a:cubicBezTo>
                  <a:pt x="7546426" y="316055"/>
                  <a:pt x="7563725" y="249346"/>
                  <a:pt x="7585939" y="184712"/>
                </a:cubicBezTo>
                <a:cubicBezTo>
                  <a:pt x="7597162" y="152119"/>
                  <a:pt x="7609478" y="119997"/>
                  <a:pt x="7621792" y="87864"/>
                </a:cubicBezTo>
                <a:lnTo>
                  <a:pt x="7654204" y="0"/>
                </a:lnTo>
                <a:lnTo>
                  <a:pt x="7683986" y="0"/>
                </a:lnTo>
                <a:lnTo>
                  <a:pt x="7647914" y="97640"/>
                </a:lnTo>
                <a:cubicBezTo>
                  <a:pt x="7635833" y="129221"/>
                  <a:pt x="7623516" y="161350"/>
                  <a:pt x="7612524" y="193392"/>
                </a:cubicBezTo>
                <a:cubicBezTo>
                  <a:pt x="7590775" y="256933"/>
                  <a:pt x="7573702" y="323103"/>
                  <a:pt x="7557013" y="386853"/>
                </a:cubicBezTo>
                <a:lnTo>
                  <a:pt x="7517286" y="539999"/>
                </a:lnTo>
                <a:cubicBezTo>
                  <a:pt x="7579804" y="409054"/>
                  <a:pt x="7648790" y="283748"/>
                  <a:pt x="7704204" y="152292"/>
                </a:cubicBezTo>
                <a:lnTo>
                  <a:pt x="7756975" y="0"/>
                </a:lnTo>
                <a:lnTo>
                  <a:pt x="7837329" y="0"/>
                </a:lnTo>
                <a:lnTo>
                  <a:pt x="7821760" y="65656"/>
                </a:lnTo>
                <a:cubicBezTo>
                  <a:pt x="7739780" y="311007"/>
                  <a:pt x="7576279" y="519263"/>
                  <a:pt x="7488925" y="763628"/>
                </a:cubicBezTo>
                <a:cubicBezTo>
                  <a:pt x="7478308" y="793254"/>
                  <a:pt x="7422482" y="826275"/>
                  <a:pt x="7419999" y="774360"/>
                </a:cubicBezTo>
                <a:cubicBezTo>
                  <a:pt x="7407159" y="524115"/>
                  <a:pt x="7434412" y="279259"/>
                  <a:pt x="7487820" y="37416"/>
                </a:cubicBezTo>
                <a:close/>
                <a:moveTo>
                  <a:pt x="3882765" y="0"/>
                </a:moveTo>
                <a:lnTo>
                  <a:pt x="3995099" y="0"/>
                </a:lnTo>
                <a:lnTo>
                  <a:pt x="4163818" y="234104"/>
                </a:lnTo>
                <a:cubicBezTo>
                  <a:pt x="4167056" y="234046"/>
                  <a:pt x="4169933" y="233486"/>
                  <a:pt x="4172099" y="234207"/>
                </a:cubicBezTo>
                <a:cubicBezTo>
                  <a:pt x="4370329" y="290447"/>
                  <a:pt x="4575890" y="304753"/>
                  <a:pt x="4784282" y="276561"/>
                </a:cubicBezTo>
                <a:cubicBezTo>
                  <a:pt x="4788943" y="273941"/>
                  <a:pt x="4794689" y="270546"/>
                  <a:pt x="4801687" y="267764"/>
                </a:cubicBezTo>
                <a:cubicBezTo>
                  <a:pt x="5207052" y="98325"/>
                  <a:pt x="5661672" y="149587"/>
                  <a:pt x="6082788" y="64119"/>
                </a:cubicBezTo>
                <a:cubicBezTo>
                  <a:pt x="6097705" y="60940"/>
                  <a:pt x="6122565" y="65809"/>
                  <a:pt x="6099442" y="82568"/>
                </a:cubicBezTo>
                <a:cubicBezTo>
                  <a:pt x="5702970" y="366122"/>
                  <a:pt x="5250177" y="483706"/>
                  <a:pt x="4804137" y="320931"/>
                </a:cubicBezTo>
                <a:cubicBezTo>
                  <a:pt x="4608728" y="353445"/>
                  <a:pt x="4415104" y="351091"/>
                  <a:pt x="4227047" y="313415"/>
                </a:cubicBezTo>
                <a:cubicBezTo>
                  <a:pt x="4265992" y="361495"/>
                  <a:pt x="4305481" y="409180"/>
                  <a:pt x="4346041" y="456086"/>
                </a:cubicBezTo>
                <a:cubicBezTo>
                  <a:pt x="4508645" y="644218"/>
                  <a:pt x="4684629" y="811207"/>
                  <a:pt x="4870967" y="963061"/>
                </a:cubicBezTo>
                <a:cubicBezTo>
                  <a:pt x="4877428" y="960662"/>
                  <a:pt x="4883360" y="958653"/>
                  <a:pt x="4889647" y="957147"/>
                </a:cubicBezTo>
                <a:cubicBezTo>
                  <a:pt x="5063790" y="885104"/>
                  <a:pt x="5235998" y="820573"/>
                  <a:pt x="5422504" y="805191"/>
                </a:cubicBezTo>
                <a:cubicBezTo>
                  <a:pt x="5643719" y="786779"/>
                  <a:pt x="5869113" y="808075"/>
                  <a:pt x="6087656" y="826703"/>
                </a:cubicBezTo>
                <a:cubicBezTo>
                  <a:pt x="6118977" y="829180"/>
                  <a:pt x="6064821" y="863092"/>
                  <a:pt x="6058717" y="865992"/>
                </a:cubicBezTo>
                <a:cubicBezTo>
                  <a:pt x="5757093" y="988464"/>
                  <a:pt x="5312094" y="1115658"/>
                  <a:pt x="4974153" y="1045456"/>
                </a:cubicBezTo>
                <a:cubicBezTo>
                  <a:pt x="5180499" y="1203411"/>
                  <a:pt x="5398986" y="1344171"/>
                  <a:pt x="5627835" y="1472077"/>
                </a:cubicBezTo>
                <a:cubicBezTo>
                  <a:pt x="5628372" y="1471688"/>
                  <a:pt x="5629279" y="1471800"/>
                  <a:pt x="5629817" y="1471412"/>
                </a:cubicBezTo>
                <a:cubicBezTo>
                  <a:pt x="5631249" y="1471132"/>
                  <a:pt x="5633225" y="1470462"/>
                  <a:pt x="5634124" y="1470572"/>
                </a:cubicBezTo>
                <a:cubicBezTo>
                  <a:pt x="5647257" y="1469448"/>
                  <a:pt x="5751167" y="1386498"/>
                  <a:pt x="5755832" y="1383886"/>
                </a:cubicBezTo>
                <a:cubicBezTo>
                  <a:pt x="5837996" y="1338827"/>
                  <a:pt x="5925989" y="1306339"/>
                  <a:pt x="6014186" y="1279799"/>
                </a:cubicBezTo>
                <a:cubicBezTo>
                  <a:pt x="6310230" y="1190367"/>
                  <a:pt x="6608567" y="1157268"/>
                  <a:pt x="6901619" y="1047874"/>
                </a:cubicBezTo>
                <a:cubicBezTo>
                  <a:pt x="6921553" y="1040293"/>
                  <a:pt x="6976591" y="1037028"/>
                  <a:pt x="6931566" y="1062034"/>
                </a:cubicBezTo>
                <a:cubicBezTo>
                  <a:pt x="6610108" y="1243134"/>
                  <a:pt x="6183662" y="1573592"/>
                  <a:pt x="5790982" y="1561380"/>
                </a:cubicBezTo>
                <a:cubicBezTo>
                  <a:pt x="5920545" y="1629240"/>
                  <a:pt x="6053507" y="1693876"/>
                  <a:pt x="6188971" y="1755168"/>
                </a:cubicBezTo>
                <a:cubicBezTo>
                  <a:pt x="6193458" y="1753446"/>
                  <a:pt x="6198307" y="1752214"/>
                  <a:pt x="6202446" y="1752268"/>
                </a:cubicBezTo>
                <a:cubicBezTo>
                  <a:pt x="6504288" y="1570118"/>
                  <a:pt x="6833930" y="1471594"/>
                  <a:pt x="7179560" y="1467551"/>
                </a:cubicBezTo>
                <a:cubicBezTo>
                  <a:pt x="7221126" y="1467186"/>
                  <a:pt x="7172003" y="1501258"/>
                  <a:pt x="7158730" y="1507835"/>
                </a:cubicBezTo>
                <a:cubicBezTo>
                  <a:pt x="6888412" y="1630502"/>
                  <a:pt x="6618589" y="1809287"/>
                  <a:pt x="6326959" y="1817686"/>
                </a:cubicBezTo>
                <a:cubicBezTo>
                  <a:pt x="6396578" y="1848113"/>
                  <a:pt x="6466739" y="1878148"/>
                  <a:pt x="6537433" y="1907790"/>
                </a:cubicBezTo>
                <a:cubicBezTo>
                  <a:pt x="6542473" y="1907949"/>
                  <a:pt x="6546435" y="1908891"/>
                  <a:pt x="6550221" y="1910729"/>
                </a:cubicBezTo>
                <a:cubicBezTo>
                  <a:pt x="6742694" y="1932993"/>
                  <a:pt x="6849771" y="2068278"/>
                  <a:pt x="6964438" y="2209505"/>
                </a:cubicBezTo>
                <a:cubicBezTo>
                  <a:pt x="7113162" y="2393201"/>
                  <a:pt x="7266286" y="2592015"/>
                  <a:pt x="7367862" y="2806833"/>
                </a:cubicBezTo>
                <a:cubicBezTo>
                  <a:pt x="7371456" y="2814338"/>
                  <a:pt x="7369522" y="2821080"/>
                  <a:pt x="7364329" y="2826907"/>
                </a:cubicBezTo>
                <a:cubicBezTo>
                  <a:pt x="7348741" y="2844389"/>
                  <a:pt x="7303788" y="2853651"/>
                  <a:pt x="7290545" y="2850663"/>
                </a:cubicBezTo>
                <a:cubicBezTo>
                  <a:pt x="6859896" y="2738539"/>
                  <a:pt x="6609607" y="2342306"/>
                  <a:pt x="6472036" y="1959003"/>
                </a:cubicBezTo>
                <a:cubicBezTo>
                  <a:pt x="6239391" y="1862081"/>
                  <a:pt x="6011946" y="1759868"/>
                  <a:pt x="5792897" y="1647747"/>
                </a:cubicBezTo>
                <a:cubicBezTo>
                  <a:pt x="5817125" y="1702679"/>
                  <a:pt x="5838127" y="1759942"/>
                  <a:pt x="5842751" y="1816112"/>
                </a:cubicBezTo>
                <a:cubicBezTo>
                  <a:pt x="5844184" y="1815832"/>
                  <a:pt x="5846161" y="1815162"/>
                  <a:pt x="5847424" y="1815776"/>
                </a:cubicBezTo>
                <a:cubicBezTo>
                  <a:pt x="6140442" y="1830791"/>
                  <a:pt x="6291873" y="2115536"/>
                  <a:pt x="6399821" y="2344799"/>
                </a:cubicBezTo>
                <a:cubicBezTo>
                  <a:pt x="6413837" y="2374329"/>
                  <a:pt x="6342916" y="2402075"/>
                  <a:pt x="6323232" y="2389634"/>
                </a:cubicBezTo>
                <a:cubicBezTo>
                  <a:pt x="6177906" y="2301146"/>
                  <a:pt x="6052833" y="2198747"/>
                  <a:pt x="5942958" y="2077708"/>
                </a:cubicBezTo>
                <a:cubicBezTo>
                  <a:pt x="5949243" y="2174636"/>
                  <a:pt x="5937179" y="2273417"/>
                  <a:pt x="5921559" y="2378596"/>
                </a:cubicBezTo>
                <a:cubicBezTo>
                  <a:pt x="5888539" y="2593290"/>
                  <a:pt x="5878937" y="2813146"/>
                  <a:pt x="5817651" y="3023919"/>
                </a:cubicBezTo>
                <a:cubicBezTo>
                  <a:pt x="5810408" y="3049005"/>
                  <a:pt x="5741174" y="3089270"/>
                  <a:pt x="5729634" y="3051849"/>
                </a:cubicBezTo>
                <a:cubicBezTo>
                  <a:pt x="5657096" y="2815984"/>
                  <a:pt x="5581632" y="2571559"/>
                  <a:pt x="5611018" y="2316769"/>
                </a:cubicBezTo>
                <a:cubicBezTo>
                  <a:pt x="5622715" y="2217484"/>
                  <a:pt x="5656813" y="2135538"/>
                  <a:pt x="5687608" y="2039972"/>
                </a:cubicBezTo>
                <a:cubicBezTo>
                  <a:pt x="5744741" y="1859679"/>
                  <a:pt x="5733310" y="1742061"/>
                  <a:pt x="5657554" y="1576445"/>
                </a:cubicBezTo>
                <a:cubicBezTo>
                  <a:pt x="5483232" y="1483028"/>
                  <a:pt x="5313009" y="1382833"/>
                  <a:pt x="5150475" y="1274012"/>
                </a:cubicBezTo>
                <a:cubicBezTo>
                  <a:pt x="5326569" y="1559959"/>
                  <a:pt x="5457991" y="1838600"/>
                  <a:pt x="5349142" y="2204405"/>
                </a:cubicBezTo>
                <a:cubicBezTo>
                  <a:pt x="5342604" y="2225928"/>
                  <a:pt x="5273881" y="2261245"/>
                  <a:pt x="5262214" y="2233836"/>
                </a:cubicBezTo>
                <a:cubicBezTo>
                  <a:pt x="5160759" y="2006724"/>
                  <a:pt x="5064863" y="1777114"/>
                  <a:pt x="4981539" y="1542201"/>
                </a:cubicBezTo>
                <a:cubicBezTo>
                  <a:pt x="4932755" y="1405876"/>
                  <a:pt x="4893729" y="1278486"/>
                  <a:pt x="4958461" y="1136957"/>
                </a:cubicBezTo>
                <a:cubicBezTo>
                  <a:pt x="4854219" y="1059900"/>
                  <a:pt x="4753195" y="978221"/>
                  <a:pt x="4655015" y="891426"/>
                </a:cubicBezTo>
                <a:cubicBezTo>
                  <a:pt x="4700834" y="1342763"/>
                  <a:pt x="4530476" y="1779853"/>
                  <a:pt x="4348002" y="2205895"/>
                </a:cubicBezTo>
                <a:cubicBezTo>
                  <a:pt x="4337873" y="2229260"/>
                  <a:pt x="4261560" y="2258626"/>
                  <a:pt x="4262250" y="2219972"/>
                </a:cubicBezTo>
                <a:cubicBezTo>
                  <a:pt x="4268663" y="1744520"/>
                  <a:pt x="4175629" y="1214471"/>
                  <a:pt x="4550611" y="817540"/>
                </a:cubicBezTo>
                <a:cubicBezTo>
                  <a:pt x="4554014" y="814312"/>
                  <a:pt x="4558850" y="810804"/>
                  <a:pt x="4564418" y="808293"/>
                </a:cubicBezTo>
                <a:cubicBezTo>
                  <a:pt x="4461330" y="711325"/>
                  <a:pt x="4361455" y="609738"/>
                  <a:pt x="4266388" y="500083"/>
                </a:cubicBezTo>
                <a:cubicBezTo>
                  <a:pt x="4185451" y="406519"/>
                  <a:pt x="4107556" y="310364"/>
                  <a:pt x="4032842" y="211809"/>
                </a:cubicBezTo>
                <a:close/>
                <a:moveTo>
                  <a:pt x="3721337" y="0"/>
                </a:moveTo>
                <a:lnTo>
                  <a:pt x="3797544" y="0"/>
                </a:lnTo>
                <a:lnTo>
                  <a:pt x="3775734" y="95131"/>
                </a:lnTo>
                <a:cubicBezTo>
                  <a:pt x="3762598" y="156923"/>
                  <a:pt x="3748081" y="217234"/>
                  <a:pt x="3724807" y="272257"/>
                </a:cubicBezTo>
                <a:cubicBezTo>
                  <a:pt x="3725550" y="275539"/>
                  <a:pt x="3726109" y="279707"/>
                  <a:pt x="3726844" y="282988"/>
                </a:cubicBezTo>
                <a:cubicBezTo>
                  <a:pt x="3732776" y="280979"/>
                  <a:pt x="3739065" y="279475"/>
                  <a:pt x="3742664" y="279918"/>
                </a:cubicBezTo>
                <a:cubicBezTo>
                  <a:pt x="4076263" y="313585"/>
                  <a:pt x="4081377" y="922622"/>
                  <a:pt x="4103910" y="1161917"/>
                </a:cubicBezTo>
                <a:cubicBezTo>
                  <a:pt x="4106010" y="1184045"/>
                  <a:pt x="4034389" y="1215360"/>
                  <a:pt x="4020269" y="1200406"/>
                </a:cubicBezTo>
                <a:cubicBezTo>
                  <a:pt x="3826459" y="997506"/>
                  <a:pt x="3735339" y="752983"/>
                  <a:pt x="3674882" y="488524"/>
                </a:cubicBezTo>
                <a:cubicBezTo>
                  <a:pt x="3559684" y="713184"/>
                  <a:pt x="3278706" y="925237"/>
                  <a:pt x="3132682" y="1072284"/>
                </a:cubicBezTo>
                <a:cubicBezTo>
                  <a:pt x="3002939" y="1202191"/>
                  <a:pt x="2899935" y="1287527"/>
                  <a:pt x="2716346" y="1276376"/>
                </a:cubicBezTo>
                <a:cubicBezTo>
                  <a:pt x="2700863" y="1275390"/>
                  <a:pt x="2710506" y="1261536"/>
                  <a:pt x="2716772" y="1255462"/>
                </a:cubicBezTo>
                <a:cubicBezTo>
                  <a:pt x="2980750" y="993927"/>
                  <a:pt x="3207119" y="698608"/>
                  <a:pt x="3471096" y="437072"/>
                </a:cubicBezTo>
                <a:cubicBezTo>
                  <a:pt x="3516376" y="392044"/>
                  <a:pt x="3602281" y="339698"/>
                  <a:pt x="3639057" y="286334"/>
                </a:cubicBezTo>
                <a:cubicBezTo>
                  <a:pt x="3639591" y="285947"/>
                  <a:pt x="3639767" y="285058"/>
                  <a:pt x="3640309" y="284664"/>
                </a:cubicBezTo>
                <a:cubicBezTo>
                  <a:pt x="3642272" y="281720"/>
                  <a:pt x="3644597" y="279273"/>
                  <a:pt x="3646022" y="276711"/>
                </a:cubicBezTo>
                <a:cubicBezTo>
                  <a:pt x="3677659" y="221350"/>
                  <a:pt x="3693078" y="144742"/>
                  <a:pt x="3707943" y="65958"/>
                </a:cubicBezTo>
                <a:close/>
                <a:moveTo>
                  <a:pt x="2867960" y="0"/>
                </a:moveTo>
                <a:lnTo>
                  <a:pt x="2926351" y="0"/>
                </a:lnTo>
                <a:lnTo>
                  <a:pt x="2902823" y="262929"/>
                </a:lnTo>
                <a:cubicBezTo>
                  <a:pt x="2913215" y="221824"/>
                  <a:pt x="2926844" y="180662"/>
                  <a:pt x="2940663" y="140884"/>
                </a:cubicBezTo>
                <a:lnTo>
                  <a:pt x="2947039" y="122524"/>
                </a:lnTo>
                <a:lnTo>
                  <a:pt x="2984316" y="0"/>
                </a:lnTo>
                <a:lnTo>
                  <a:pt x="3016114" y="0"/>
                </a:lnTo>
                <a:lnTo>
                  <a:pt x="2979949" y="119274"/>
                </a:lnTo>
                <a:lnTo>
                  <a:pt x="3023879" y="0"/>
                </a:lnTo>
                <a:lnTo>
                  <a:pt x="3105400" y="0"/>
                </a:lnTo>
                <a:lnTo>
                  <a:pt x="3094669" y="30308"/>
                </a:lnTo>
                <a:cubicBezTo>
                  <a:pt x="3037894" y="178003"/>
                  <a:pt x="2973232" y="323305"/>
                  <a:pt x="2901945" y="466538"/>
                </a:cubicBezTo>
                <a:cubicBezTo>
                  <a:pt x="2895180" y="479835"/>
                  <a:pt x="2815686" y="518381"/>
                  <a:pt x="2815209" y="497361"/>
                </a:cubicBezTo>
                <a:cubicBezTo>
                  <a:pt x="2812746" y="375148"/>
                  <a:pt x="2825702" y="251298"/>
                  <a:pt x="2844845" y="127638"/>
                </a:cubicBezTo>
                <a:close/>
                <a:moveTo>
                  <a:pt x="1057230" y="0"/>
                </a:moveTo>
                <a:lnTo>
                  <a:pt x="1111003" y="0"/>
                </a:lnTo>
                <a:lnTo>
                  <a:pt x="1125553" y="52588"/>
                </a:lnTo>
                <a:cubicBezTo>
                  <a:pt x="1174409" y="196547"/>
                  <a:pt x="1244674" y="336170"/>
                  <a:pt x="1304276" y="476275"/>
                </a:cubicBezTo>
                <a:cubicBezTo>
                  <a:pt x="1351896" y="589579"/>
                  <a:pt x="1459984" y="863646"/>
                  <a:pt x="1492066" y="886333"/>
                </a:cubicBezTo>
                <a:lnTo>
                  <a:pt x="1423698" y="710817"/>
                </a:lnTo>
                <a:cubicBezTo>
                  <a:pt x="1401022" y="652964"/>
                  <a:pt x="1378015" y="593152"/>
                  <a:pt x="1357609" y="532892"/>
                </a:cubicBezTo>
                <a:cubicBezTo>
                  <a:pt x="1339853" y="480241"/>
                  <a:pt x="1324587" y="426487"/>
                  <a:pt x="1309550" y="374031"/>
                </a:cubicBezTo>
                <a:cubicBezTo>
                  <a:pt x="1277632" y="264242"/>
                  <a:pt x="1244842" y="151584"/>
                  <a:pt x="1193673" y="49533"/>
                </a:cubicBezTo>
                <a:lnTo>
                  <a:pt x="1164391" y="0"/>
                </a:lnTo>
                <a:lnTo>
                  <a:pt x="1200666" y="0"/>
                </a:lnTo>
                <a:lnTo>
                  <a:pt x="1223408" y="38996"/>
                </a:lnTo>
                <a:cubicBezTo>
                  <a:pt x="1274817" y="142454"/>
                  <a:pt x="1307626" y="255236"/>
                  <a:pt x="1339635" y="365517"/>
                </a:cubicBezTo>
                <a:cubicBezTo>
                  <a:pt x="1354670" y="417965"/>
                  <a:pt x="1370587" y="471608"/>
                  <a:pt x="1387469" y="523079"/>
                </a:cubicBezTo>
                <a:cubicBezTo>
                  <a:pt x="1407105" y="582792"/>
                  <a:pt x="1430659" y="641842"/>
                  <a:pt x="1452685" y="699806"/>
                </a:cubicBezTo>
                <a:lnTo>
                  <a:pt x="1492092" y="800424"/>
                </a:lnTo>
                <a:cubicBezTo>
                  <a:pt x="1484618" y="760762"/>
                  <a:pt x="1473155" y="705686"/>
                  <a:pt x="1455302" y="632913"/>
                </a:cubicBezTo>
                <a:cubicBezTo>
                  <a:pt x="1413478" y="460985"/>
                  <a:pt x="1347194" y="188426"/>
                  <a:pt x="1222336" y="9480"/>
                </a:cubicBezTo>
                <a:lnTo>
                  <a:pt x="1214634" y="0"/>
                </a:lnTo>
                <a:lnTo>
                  <a:pt x="1289827" y="0"/>
                </a:lnTo>
                <a:lnTo>
                  <a:pt x="1321076" y="59722"/>
                </a:lnTo>
                <a:cubicBezTo>
                  <a:pt x="1409905" y="250193"/>
                  <a:pt x="1460341" y="480374"/>
                  <a:pt x="1512579" y="626441"/>
                </a:cubicBezTo>
                <a:cubicBezTo>
                  <a:pt x="1573756" y="799163"/>
                  <a:pt x="1605359" y="928641"/>
                  <a:pt x="1506076" y="1089289"/>
                </a:cubicBezTo>
                <a:cubicBezTo>
                  <a:pt x="1497659" y="1102817"/>
                  <a:pt x="1489109" y="1088176"/>
                  <a:pt x="1486346" y="1079919"/>
                </a:cubicBezTo>
                <a:cubicBezTo>
                  <a:pt x="1364522" y="729689"/>
                  <a:pt x="1192335" y="398839"/>
                  <a:pt x="1070511" y="48609"/>
                </a:cubicBezTo>
                <a:close/>
                <a:moveTo>
                  <a:pt x="43151" y="0"/>
                </a:moveTo>
                <a:lnTo>
                  <a:pt x="95283" y="0"/>
                </a:lnTo>
                <a:lnTo>
                  <a:pt x="300708" y="154571"/>
                </a:lnTo>
                <a:cubicBezTo>
                  <a:pt x="379729" y="218614"/>
                  <a:pt x="456466" y="285481"/>
                  <a:pt x="530414" y="354673"/>
                </a:cubicBezTo>
                <a:cubicBezTo>
                  <a:pt x="466701" y="288424"/>
                  <a:pt x="401285" y="223977"/>
                  <a:pt x="333785" y="161564"/>
                </a:cubicBezTo>
                <a:lnTo>
                  <a:pt x="147005" y="0"/>
                </a:lnTo>
                <a:lnTo>
                  <a:pt x="272509" y="0"/>
                </a:lnTo>
                <a:lnTo>
                  <a:pt x="326276" y="45847"/>
                </a:lnTo>
                <a:cubicBezTo>
                  <a:pt x="505803" y="208268"/>
                  <a:pt x="670600" y="385490"/>
                  <a:pt x="823759" y="574145"/>
                </a:cubicBezTo>
                <a:cubicBezTo>
                  <a:pt x="833168" y="585952"/>
                  <a:pt x="831522" y="674146"/>
                  <a:pt x="811254" y="665546"/>
                </a:cubicBezTo>
                <a:cubicBezTo>
                  <a:pt x="575890" y="564984"/>
                  <a:pt x="364063" y="406029"/>
                  <a:pt x="154042" y="261522"/>
                </a:cubicBezTo>
                <a:cubicBezTo>
                  <a:pt x="104946" y="227663"/>
                  <a:pt x="58037" y="193597"/>
                  <a:pt x="13550" y="158423"/>
                </a:cubicBezTo>
                <a:lnTo>
                  <a:pt x="0" y="146618"/>
                </a:lnTo>
                <a:lnTo>
                  <a:pt x="0" y="59161"/>
                </a:lnTo>
                <a:lnTo>
                  <a:pt x="45427" y="101078"/>
                </a:lnTo>
                <a:cubicBezTo>
                  <a:pt x="223783" y="254949"/>
                  <a:pt x="433006" y="385896"/>
                  <a:pt x="630103" y="485885"/>
                </a:cubicBezTo>
                <a:cubicBezTo>
                  <a:pt x="595938" y="458865"/>
                  <a:pt x="563284" y="428899"/>
                  <a:pt x="532040" y="399359"/>
                </a:cubicBezTo>
                <a:lnTo>
                  <a:pt x="517618" y="385726"/>
                </a:lnTo>
                <a:cubicBezTo>
                  <a:pt x="442853" y="315667"/>
                  <a:pt x="365106" y="247799"/>
                  <a:pt x="285074" y="182755"/>
                </a:cubicBez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7" name="Rectangle 16">
            <a:extLst>
              <a:ext uri="{FF2B5EF4-FFF2-40B4-BE49-F238E27FC236}">
                <a16:creationId xmlns:a16="http://schemas.microsoft.com/office/drawing/2014/main" id="{ED888B23-07FA-482A-96DF-47E31AF1A6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457201"/>
            <a:ext cx="11277600" cy="5943598"/>
          </a:xfrm>
          <a:prstGeom prst="rect">
            <a:avLst/>
          </a:prstGeom>
          <a:ln w="12700" cap="flat" cmpd="sng" algn="ctr">
            <a:noFill/>
            <a:prstDash val="solid"/>
            <a:miter lim="800000"/>
          </a:ln>
          <a:effectLst>
            <a:outerShdw blurRad="317500" algn="ctr" rotWithShape="0">
              <a:schemeClr val="tx1">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143000" y="990599"/>
            <a:ext cx="9906000" cy="685800"/>
          </a:xfrm>
        </p:spPr>
        <p:txBody>
          <a:bodyPr anchor="t">
            <a:normAutofit/>
          </a:bodyPr>
          <a:lstStyle/>
          <a:p>
            <a:r>
              <a:rPr lang="en-US" sz="4000"/>
              <a:t>What is Usability?</a:t>
            </a:r>
          </a:p>
        </p:txBody>
      </p:sp>
      <p:graphicFrame>
        <p:nvGraphicFramePr>
          <p:cNvPr id="5" name="Content Placeholder 2">
            <a:extLst>
              <a:ext uri="{FF2B5EF4-FFF2-40B4-BE49-F238E27FC236}">
                <a16:creationId xmlns:a16="http://schemas.microsoft.com/office/drawing/2014/main" id="{994E49B2-82D0-8185-7FE9-BDCB2DEF5260}"/>
              </a:ext>
            </a:extLst>
          </p:cNvPr>
          <p:cNvGraphicFramePr>
            <a:graphicFrameLocks noGrp="1"/>
          </p:cNvGraphicFramePr>
          <p:nvPr>
            <p:ph idx="1"/>
          </p:nvPr>
        </p:nvGraphicFramePr>
        <p:xfrm>
          <a:off x="685800" y="2137228"/>
          <a:ext cx="10820400" cy="3733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Slide Number Placeholder 2">
            <a:extLst>
              <a:ext uri="{FF2B5EF4-FFF2-40B4-BE49-F238E27FC236}">
                <a16:creationId xmlns:a16="http://schemas.microsoft.com/office/drawing/2014/main" id="{EC73DB77-C165-E65A-6BFC-C2F3AC137DD3}"/>
              </a:ext>
            </a:extLst>
          </p:cNvPr>
          <p:cNvSpPr>
            <a:spLocks noGrp="1"/>
          </p:cNvSpPr>
          <p:nvPr>
            <p:ph type="sldNum" sz="quarter" idx="12"/>
          </p:nvPr>
        </p:nvSpPr>
        <p:spPr/>
        <p:txBody>
          <a:bodyPr/>
          <a:lstStyle/>
          <a:p>
            <a:fld id="{7DF6DEEC-D04A-4FF0-9A08-7D39859C24F4}" type="slidenum">
              <a:rPr lang="en-US" smtClean="0"/>
              <a:t>67</a:t>
            </a:fld>
            <a:endParaRPr lang="en-US"/>
          </a:p>
        </p:txBody>
      </p:sp>
    </p:spTree>
    <p:extLst>
      <p:ext uri="{BB962C8B-B14F-4D97-AF65-F5344CB8AC3E}">
        <p14:creationId xmlns:p14="http://schemas.microsoft.com/office/powerpoint/2010/main" val="49489493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41248" y="548640"/>
            <a:ext cx="3600860" cy="5431536"/>
          </a:xfrm>
        </p:spPr>
        <p:txBody>
          <a:bodyPr>
            <a:normAutofit/>
          </a:bodyPr>
          <a:lstStyle/>
          <a:p>
            <a:r>
              <a:rPr lang="en-US" sz="5400"/>
              <a:t>What is Usability?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5126418" y="552091"/>
            <a:ext cx="6224335" cy="5431536"/>
          </a:xfrm>
        </p:spPr>
        <p:txBody>
          <a:bodyPr anchor="ctr">
            <a:normAutofit/>
          </a:bodyPr>
          <a:lstStyle/>
          <a:p>
            <a:r>
              <a:rPr lang="en-US" sz="3200" dirty="0"/>
              <a:t>Usability comprises the following areas:</a:t>
            </a:r>
          </a:p>
          <a:p>
            <a:pPr lvl="1"/>
            <a:r>
              <a:rPr lang="en-US" sz="3200" dirty="0"/>
              <a:t>Learning system features. </a:t>
            </a:r>
          </a:p>
          <a:p>
            <a:pPr lvl="1"/>
            <a:r>
              <a:rPr lang="en-US" sz="3200" dirty="0"/>
              <a:t>Using a system efficiently. </a:t>
            </a:r>
          </a:p>
          <a:p>
            <a:pPr lvl="1"/>
            <a:r>
              <a:rPr lang="en-US" sz="3200" dirty="0"/>
              <a:t>Minimizing the impact of errors. </a:t>
            </a:r>
          </a:p>
          <a:p>
            <a:pPr lvl="1"/>
            <a:r>
              <a:rPr lang="en-US" sz="3200" dirty="0"/>
              <a:t>Adapting the system to user needs. </a:t>
            </a:r>
          </a:p>
          <a:p>
            <a:pPr lvl="1"/>
            <a:r>
              <a:rPr lang="en-US" sz="3200" dirty="0"/>
              <a:t>Increasing confidence and satisfaction. </a:t>
            </a:r>
          </a:p>
          <a:p>
            <a:endParaRPr lang="en-US" sz="2200" dirty="0"/>
          </a:p>
        </p:txBody>
      </p:sp>
      <p:sp>
        <p:nvSpPr>
          <p:cNvPr id="4" name="Slide Number Placeholder 3">
            <a:extLst>
              <a:ext uri="{FF2B5EF4-FFF2-40B4-BE49-F238E27FC236}">
                <a16:creationId xmlns:a16="http://schemas.microsoft.com/office/drawing/2014/main" id="{33C7DE67-34CA-06D6-22E7-B3537E7A9417}"/>
              </a:ext>
            </a:extLst>
          </p:cNvPr>
          <p:cNvSpPr>
            <a:spLocks noGrp="1"/>
          </p:cNvSpPr>
          <p:nvPr>
            <p:ph type="sldNum" sz="quarter" idx="12"/>
          </p:nvPr>
        </p:nvSpPr>
        <p:spPr/>
        <p:txBody>
          <a:bodyPr/>
          <a:lstStyle/>
          <a:p>
            <a:fld id="{7DF6DEEC-D04A-4FF0-9A08-7D39859C24F4}" type="slidenum">
              <a:rPr lang="en-US" smtClean="0"/>
              <a:t>68</a:t>
            </a:fld>
            <a:endParaRPr lang="en-US"/>
          </a:p>
        </p:txBody>
      </p:sp>
    </p:spTree>
    <p:extLst>
      <p:ext uri="{BB962C8B-B14F-4D97-AF65-F5344CB8AC3E}">
        <p14:creationId xmlns:p14="http://schemas.microsoft.com/office/powerpoint/2010/main" val="200702496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Flowchart: Document 15">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Usability General Scenario</a:t>
            </a:r>
          </a:p>
        </p:txBody>
      </p:sp>
      <p:sp>
        <p:nvSpPr>
          <p:cNvPr id="3" name="Slide Number Placeholder 2">
            <a:extLst>
              <a:ext uri="{FF2B5EF4-FFF2-40B4-BE49-F238E27FC236}">
                <a16:creationId xmlns:a16="http://schemas.microsoft.com/office/drawing/2014/main" id="{5EE3BA37-FB84-63C2-A251-523479D738DB}"/>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7DF6DEEC-D04A-4FF0-9A08-7D39859C24F4}" type="slidenum">
              <a:rPr lang="en-US" smtClean="0"/>
              <a:pPr algn="l">
                <a:spcAft>
                  <a:spcPts val="600"/>
                </a:spcAft>
              </a:pPr>
              <a:t>69</a:t>
            </a:fld>
            <a:endParaRPr lang="en-US"/>
          </a:p>
        </p:txBody>
      </p:sp>
      <p:graphicFrame>
        <p:nvGraphicFramePr>
          <p:cNvPr id="6" name="Table 5"/>
          <p:cNvGraphicFramePr>
            <a:graphicFrameLocks noGrp="1"/>
          </p:cNvGraphicFramePr>
          <p:nvPr>
            <p:extLst>
              <p:ext uri="{D42A27DB-BD31-4B8C-83A1-F6EECF244321}">
                <p14:modId xmlns:p14="http://schemas.microsoft.com/office/powerpoint/2010/main" val="3826088461"/>
              </p:ext>
            </p:extLst>
          </p:nvPr>
        </p:nvGraphicFramePr>
        <p:xfrm>
          <a:off x="4086226" y="1254620"/>
          <a:ext cx="7953374" cy="5101727"/>
        </p:xfrm>
        <a:graphic>
          <a:graphicData uri="http://schemas.openxmlformats.org/drawingml/2006/table">
            <a:tbl>
              <a:tblPr firstRow="1" firstCol="1" bandRow="1">
                <a:tableStyleId>{5C22544A-7EE6-4342-B048-85BDC9FD1C3A}</a:tableStyleId>
              </a:tblPr>
              <a:tblGrid>
                <a:gridCol w="1798343">
                  <a:extLst>
                    <a:ext uri="{9D8B030D-6E8A-4147-A177-3AD203B41FA5}">
                      <a16:colId xmlns:a16="http://schemas.microsoft.com/office/drawing/2014/main" val="20000"/>
                    </a:ext>
                  </a:extLst>
                </a:gridCol>
                <a:gridCol w="6155031">
                  <a:extLst>
                    <a:ext uri="{9D8B030D-6E8A-4147-A177-3AD203B41FA5}">
                      <a16:colId xmlns:a16="http://schemas.microsoft.com/office/drawing/2014/main" val="20001"/>
                    </a:ext>
                  </a:extLst>
                </a:gridCol>
              </a:tblGrid>
              <a:tr h="607041">
                <a:tc>
                  <a:txBody>
                    <a:bodyPr/>
                    <a:lstStyle/>
                    <a:p>
                      <a:pPr marL="0" marR="0" algn="ctr">
                        <a:lnSpc>
                          <a:spcPct val="80000"/>
                        </a:lnSpc>
                        <a:spcBef>
                          <a:spcPts val="400"/>
                        </a:spcBef>
                        <a:spcAft>
                          <a:spcPts val="400"/>
                        </a:spcAft>
                      </a:pPr>
                      <a:r>
                        <a:rPr lang="en-US" sz="2000">
                          <a:solidFill>
                            <a:schemeClr val="tx1"/>
                          </a:solidFill>
                          <a:effectLst/>
                        </a:rPr>
                        <a:t>Portion of</a:t>
                      </a:r>
                      <a:br>
                        <a:rPr lang="en-US" sz="2000">
                          <a:solidFill>
                            <a:schemeClr val="tx1"/>
                          </a:solidFill>
                          <a:effectLst/>
                        </a:rPr>
                      </a:br>
                      <a:r>
                        <a:rPr lang="en-US" sz="2000">
                          <a:solidFill>
                            <a:schemeClr val="tx1"/>
                          </a:solidFill>
                          <a:effectLst/>
                        </a:rPr>
                        <a:t>Scenario</a:t>
                      </a:r>
                      <a:endParaRPr lang="en-US" sz="200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tc>
                  <a:txBody>
                    <a:bodyPr/>
                    <a:lstStyle/>
                    <a:p>
                      <a:pPr marL="0" marR="0" algn="ctr">
                        <a:lnSpc>
                          <a:spcPct val="80000"/>
                        </a:lnSpc>
                        <a:spcBef>
                          <a:spcPts val="400"/>
                        </a:spcBef>
                        <a:spcAft>
                          <a:spcPts val="400"/>
                        </a:spcAft>
                      </a:pPr>
                      <a:r>
                        <a:rPr lang="en-US" sz="2000" dirty="0">
                          <a:solidFill>
                            <a:schemeClr val="tx1"/>
                          </a:solidFill>
                          <a:effectLst/>
                        </a:rPr>
                        <a:t>Possible Values</a:t>
                      </a:r>
                      <a:endParaRPr lang="en-US" sz="2000" dirty="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extLst>
                  <a:ext uri="{0D108BD9-81ED-4DB2-BD59-A6C34878D82A}">
                    <a16:rowId xmlns:a16="http://schemas.microsoft.com/office/drawing/2014/main" val="10000"/>
                  </a:ext>
                </a:extLst>
              </a:tr>
              <a:tr h="322894">
                <a:tc>
                  <a:txBody>
                    <a:bodyPr/>
                    <a:lstStyle/>
                    <a:p>
                      <a:pPr marL="0" marR="0">
                        <a:lnSpc>
                          <a:spcPct val="80000"/>
                        </a:lnSpc>
                        <a:spcBef>
                          <a:spcPts val="400"/>
                        </a:spcBef>
                        <a:spcAft>
                          <a:spcPts val="400"/>
                        </a:spcAft>
                      </a:pPr>
                      <a:r>
                        <a:rPr lang="en-US" sz="2000">
                          <a:solidFill>
                            <a:schemeClr val="tx1"/>
                          </a:solidFill>
                          <a:effectLst/>
                        </a:rPr>
                        <a:t>Source </a:t>
                      </a:r>
                      <a:endParaRPr lang="en-US" sz="200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tc>
                  <a:txBody>
                    <a:bodyPr/>
                    <a:lstStyle/>
                    <a:p>
                      <a:pPr marL="0" marR="0">
                        <a:lnSpc>
                          <a:spcPct val="80000"/>
                        </a:lnSpc>
                        <a:spcBef>
                          <a:spcPts val="400"/>
                        </a:spcBef>
                        <a:spcAft>
                          <a:spcPts val="400"/>
                        </a:spcAft>
                      </a:pPr>
                      <a:r>
                        <a:rPr lang="en-US" sz="2000">
                          <a:solidFill>
                            <a:schemeClr val="tx1"/>
                          </a:solidFill>
                          <a:effectLst/>
                        </a:rPr>
                        <a:t>End user, possibly in a specialized role</a:t>
                      </a:r>
                      <a:endParaRPr lang="en-US" sz="200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extLst>
                  <a:ext uri="{0D108BD9-81ED-4DB2-BD59-A6C34878D82A}">
                    <a16:rowId xmlns:a16="http://schemas.microsoft.com/office/drawing/2014/main" val="10001"/>
                  </a:ext>
                </a:extLst>
              </a:tr>
              <a:tr h="891188">
                <a:tc>
                  <a:txBody>
                    <a:bodyPr/>
                    <a:lstStyle/>
                    <a:p>
                      <a:pPr marL="0" marR="0">
                        <a:lnSpc>
                          <a:spcPct val="80000"/>
                        </a:lnSpc>
                        <a:spcBef>
                          <a:spcPts val="400"/>
                        </a:spcBef>
                        <a:spcAft>
                          <a:spcPts val="400"/>
                        </a:spcAft>
                      </a:pPr>
                      <a:r>
                        <a:rPr lang="en-US" sz="2000">
                          <a:solidFill>
                            <a:schemeClr val="tx1"/>
                          </a:solidFill>
                          <a:effectLst/>
                        </a:rPr>
                        <a:t>Stimulus</a:t>
                      </a:r>
                      <a:endParaRPr lang="en-US" sz="200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tc>
                  <a:txBody>
                    <a:bodyPr/>
                    <a:lstStyle/>
                    <a:p>
                      <a:pPr marL="0" marR="0" indent="0">
                        <a:lnSpc>
                          <a:spcPct val="80000"/>
                        </a:lnSpc>
                        <a:spcBef>
                          <a:spcPts val="100"/>
                        </a:spcBef>
                        <a:spcAft>
                          <a:spcPts val="300"/>
                        </a:spcAft>
                        <a:tabLst>
                          <a:tab pos="228600" algn="l"/>
                          <a:tab pos="274320" algn="l"/>
                          <a:tab pos="274320" algn="l"/>
                        </a:tabLst>
                      </a:pPr>
                      <a:r>
                        <a:rPr lang="en-US" sz="2000" kern="1100">
                          <a:solidFill>
                            <a:schemeClr val="tx1"/>
                          </a:solidFill>
                          <a:effectLst/>
                        </a:rPr>
                        <a:t>End user tries to use a system efficiently, learn to use the system, minimize the impact of errors, adapt the system, or configure the system</a:t>
                      </a:r>
                      <a:endParaRPr lang="en-US" sz="2000" kern="1100">
                        <a:solidFill>
                          <a:schemeClr val="tx1"/>
                        </a:solidFill>
                        <a:effectLst/>
                        <a:latin typeface="Times New Roman"/>
                        <a:ea typeface="Times New Roman"/>
                      </a:endParaRPr>
                    </a:p>
                  </a:txBody>
                  <a:tcPr marL="59122" marR="59122" marT="0" marB="0">
                    <a:solidFill>
                      <a:schemeClr val="accent1">
                        <a:lumMod val="20000"/>
                        <a:lumOff val="80000"/>
                      </a:schemeClr>
                    </a:solidFill>
                  </a:tcPr>
                </a:tc>
                <a:extLst>
                  <a:ext uri="{0D108BD9-81ED-4DB2-BD59-A6C34878D82A}">
                    <a16:rowId xmlns:a16="http://schemas.microsoft.com/office/drawing/2014/main" val="10002"/>
                  </a:ext>
                </a:extLst>
              </a:tr>
              <a:tr h="322894">
                <a:tc>
                  <a:txBody>
                    <a:bodyPr/>
                    <a:lstStyle/>
                    <a:p>
                      <a:pPr marL="0" marR="0">
                        <a:lnSpc>
                          <a:spcPct val="80000"/>
                        </a:lnSpc>
                        <a:spcBef>
                          <a:spcPts val="400"/>
                        </a:spcBef>
                        <a:spcAft>
                          <a:spcPts val="400"/>
                        </a:spcAft>
                      </a:pPr>
                      <a:r>
                        <a:rPr lang="en-US" sz="2000">
                          <a:solidFill>
                            <a:schemeClr val="tx1"/>
                          </a:solidFill>
                          <a:effectLst/>
                        </a:rPr>
                        <a:t>Environment</a:t>
                      </a:r>
                      <a:endParaRPr lang="en-US" sz="200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tc>
                  <a:txBody>
                    <a:bodyPr/>
                    <a:lstStyle/>
                    <a:p>
                      <a:pPr marL="0" marR="0">
                        <a:lnSpc>
                          <a:spcPct val="80000"/>
                        </a:lnSpc>
                        <a:spcBef>
                          <a:spcPts val="400"/>
                        </a:spcBef>
                        <a:spcAft>
                          <a:spcPts val="400"/>
                        </a:spcAft>
                      </a:pPr>
                      <a:r>
                        <a:rPr lang="en-US" sz="2000">
                          <a:solidFill>
                            <a:schemeClr val="tx1"/>
                          </a:solidFill>
                          <a:effectLst/>
                        </a:rPr>
                        <a:t>Runtime or configuration time </a:t>
                      </a:r>
                      <a:endParaRPr lang="en-US" sz="200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extLst>
                  <a:ext uri="{0D108BD9-81ED-4DB2-BD59-A6C34878D82A}">
                    <a16:rowId xmlns:a16="http://schemas.microsoft.com/office/drawing/2014/main" val="10003"/>
                  </a:ext>
                </a:extLst>
              </a:tr>
              <a:tr h="607041">
                <a:tc>
                  <a:txBody>
                    <a:bodyPr/>
                    <a:lstStyle/>
                    <a:p>
                      <a:pPr marL="0" marR="0">
                        <a:lnSpc>
                          <a:spcPct val="80000"/>
                        </a:lnSpc>
                        <a:spcBef>
                          <a:spcPts val="400"/>
                        </a:spcBef>
                        <a:spcAft>
                          <a:spcPts val="400"/>
                        </a:spcAft>
                      </a:pPr>
                      <a:r>
                        <a:rPr lang="en-US" sz="2000">
                          <a:solidFill>
                            <a:schemeClr val="tx1"/>
                          </a:solidFill>
                          <a:effectLst/>
                        </a:rPr>
                        <a:t>Artifacts</a:t>
                      </a:r>
                      <a:endParaRPr lang="en-US" sz="200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tc>
                  <a:txBody>
                    <a:bodyPr/>
                    <a:lstStyle/>
                    <a:p>
                      <a:pPr marL="0" marR="0">
                        <a:lnSpc>
                          <a:spcPct val="80000"/>
                        </a:lnSpc>
                        <a:spcBef>
                          <a:spcPts val="400"/>
                        </a:spcBef>
                        <a:spcAft>
                          <a:spcPts val="400"/>
                        </a:spcAft>
                      </a:pPr>
                      <a:r>
                        <a:rPr lang="en-US" sz="2000">
                          <a:solidFill>
                            <a:schemeClr val="tx1"/>
                          </a:solidFill>
                          <a:effectLst/>
                        </a:rPr>
                        <a:t>System or the specific portion of the system with which the user is interacting.</a:t>
                      </a:r>
                      <a:endParaRPr lang="en-US" sz="200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extLst>
                  <a:ext uri="{0D108BD9-81ED-4DB2-BD59-A6C34878D82A}">
                    <a16:rowId xmlns:a16="http://schemas.microsoft.com/office/drawing/2014/main" val="10004"/>
                  </a:ext>
                </a:extLst>
              </a:tr>
              <a:tr h="891188">
                <a:tc>
                  <a:txBody>
                    <a:bodyPr/>
                    <a:lstStyle/>
                    <a:p>
                      <a:pPr marL="0" marR="0">
                        <a:lnSpc>
                          <a:spcPct val="80000"/>
                        </a:lnSpc>
                        <a:spcBef>
                          <a:spcPts val="400"/>
                        </a:spcBef>
                        <a:spcAft>
                          <a:spcPts val="400"/>
                        </a:spcAft>
                      </a:pPr>
                      <a:r>
                        <a:rPr lang="en-US" sz="2000">
                          <a:solidFill>
                            <a:schemeClr val="tx1"/>
                          </a:solidFill>
                          <a:effectLst/>
                        </a:rPr>
                        <a:t>Response</a:t>
                      </a:r>
                      <a:endParaRPr lang="en-US" sz="200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tc>
                  <a:txBody>
                    <a:bodyPr/>
                    <a:lstStyle/>
                    <a:p>
                      <a:pPr marL="0" marR="0">
                        <a:lnSpc>
                          <a:spcPct val="80000"/>
                        </a:lnSpc>
                        <a:spcBef>
                          <a:spcPts val="400"/>
                        </a:spcBef>
                        <a:spcAft>
                          <a:spcPts val="400"/>
                        </a:spcAft>
                      </a:pPr>
                      <a:r>
                        <a:rPr lang="en-US" sz="2000">
                          <a:solidFill>
                            <a:schemeClr val="tx1"/>
                          </a:solidFill>
                          <a:effectLst/>
                        </a:rPr>
                        <a:t>The system should either provide the user with the features needed or anticipate the user’s needs.</a:t>
                      </a:r>
                      <a:endParaRPr lang="en-US" sz="200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extLst>
                  <a:ext uri="{0D108BD9-81ED-4DB2-BD59-A6C34878D82A}">
                    <a16:rowId xmlns:a16="http://schemas.microsoft.com/office/drawing/2014/main" val="10005"/>
                  </a:ext>
                </a:extLst>
              </a:tr>
              <a:tr h="1459481">
                <a:tc>
                  <a:txBody>
                    <a:bodyPr/>
                    <a:lstStyle/>
                    <a:p>
                      <a:pPr marL="0" marR="0">
                        <a:lnSpc>
                          <a:spcPct val="80000"/>
                        </a:lnSpc>
                        <a:spcBef>
                          <a:spcPts val="400"/>
                        </a:spcBef>
                        <a:spcAft>
                          <a:spcPts val="400"/>
                        </a:spcAft>
                      </a:pPr>
                      <a:r>
                        <a:rPr lang="en-US" sz="2000">
                          <a:solidFill>
                            <a:schemeClr val="tx1"/>
                          </a:solidFill>
                          <a:effectLst/>
                        </a:rPr>
                        <a:t>Response Measure </a:t>
                      </a:r>
                      <a:endParaRPr lang="en-US" sz="2000">
                        <a:solidFill>
                          <a:schemeClr val="tx1"/>
                        </a:solidFill>
                        <a:effectLst/>
                        <a:latin typeface="Times"/>
                        <a:ea typeface="Times New Roman"/>
                        <a:cs typeface="Times New Roman"/>
                      </a:endParaRPr>
                    </a:p>
                  </a:txBody>
                  <a:tcPr marL="59122" marR="59122" marT="0" marB="0">
                    <a:solidFill>
                      <a:schemeClr val="accent1">
                        <a:lumMod val="20000"/>
                        <a:lumOff val="80000"/>
                      </a:schemeClr>
                    </a:solidFill>
                  </a:tcPr>
                </a:tc>
                <a:tc>
                  <a:txBody>
                    <a:bodyPr/>
                    <a:lstStyle/>
                    <a:p>
                      <a:pPr marL="0" marR="0" indent="0">
                        <a:lnSpc>
                          <a:spcPct val="80000"/>
                        </a:lnSpc>
                        <a:spcBef>
                          <a:spcPts val="100"/>
                        </a:spcBef>
                        <a:spcAft>
                          <a:spcPts val="300"/>
                        </a:spcAft>
                        <a:tabLst>
                          <a:tab pos="228600" algn="l"/>
                          <a:tab pos="274320" algn="l"/>
                          <a:tab pos="274320" algn="l"/>
                        </a:tabLst>
                      </a:pPr>
                      <a:r>
                        <a:rPr lang="en-US" sz="2000" kern="1100" dirty="0">
                          <a:solidFill>
                            <a:schemeClr val="tx1"/>
                          </a:solidFill>
                          <a:effectLst/>
                        </a:rPr>
                        <a:t>One or more of the following: task time, number of errors, number of tasks accomplished, user satisfaction, gain of user knowledge, ratio of successful operations to total operations, or amount of time or data lost when an error occurs. </a:t>
                      </a:r>
                      <a:endParaRPr lang="en-US" sz="2000" kern="1100" dirty="0">
                        <a:solidFill>
                          <a:schemeClr val="tx1"/>
                        </a:solidFill>
                        <a:effectLst/>
                        <a:latin typeface="Times New Roman"/>
                        <a:ea typeface="Times New Roman"/>
                      </a:endParaRPr>
                    </a:p>
                  </a:txBody>
                  <a:tcPr marL="59122" marR="59122" marT="0" marB="0">
                    <a:solidFill>
                      <a:schemeClr val="accent1">
                        <a:lumMod val="20000"/>
                        <a:lumOff val="80000"/>
                      </a:scheme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3192557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Sample Concrete Usability Scenario</a:t>
            </a:r>
          </a:p>
        </p:txBody>
      </p:sp>
      <p:sp>
        <p:nvSpPr>
          <p:cNvPr id="3" name="Content Placeholder 2"/>
          <p:cNvSpPr>
            <a:spLocks noGrp="1"/>
          </p:cNvSpPr>
          <p:nvPr>
            <p:ph idx="1"/>
          </p:nvPr>
        </p:nvSpPr>
        <p:spPr>
          <a:xfrm>
            <a:off x="4810259" y="649480"/>
            <a:ext cx="6555347" cy="5546047"/>
          </a:xfrm>
        </p:spPr>
        <p:txBody>
          <a:bodyPr anchor="ctr">
            <a:normAutofit/>
          </a:bodyPr>
          <a:lstStyle/>
          <a:p>
            <a:pPr marL="0" indent="0" algn="ctr">
              <a:buNone/>
            </a:pPr>
            <a:r>
              <a:rPr lang="en-US" sz="3600" dirty="0"/>
              <a:t>The user downloads a new application and is using it productively after two minutes of experimentation</a:t>
            </a:r>
            <a:r>
              <a:rPr lang="en-US" sz="2000" dirty="0"/>
              <a:t>.</a:t>
            </a:r>
          </a:p>
        </p:txBody>
      </p:sp>
      <p:sp>
        <p:nvSpPr>
          <p:cNvPr id="4" name="Slide Number Placeholder 3">
            <a:extLst>
              <a:ext uri="{FF2B5EF4-FFF2-40B4-BE49-F238E27FC236}">
                <a16:creationId xmlns:a16="http://schemas.microsoft.com/office/drawing/2014/main" id="{FE085FD0-E31A-7E43-0C97-F97D20D023BB}"/>
              </a:ext>
            </a:extLst>
          </p:cNvPr>
          <p:cNvSpPr>
            <a:spLocks noGrp="1"/>
          </p:cNvSpPr>
          <p:nvPr>
            <p:ph type="sldNum" sz="quarter" idx="12"/>
          </p:nvPr>
        </p:nvSpPr>
        <p:spPr/>
        <p:txBody>
          <a:bodyPr/>
          <a:lstStyle/>
          <a:p>
            <a:fld id="{7DF6DEEC-D04A-4FF0-9A08-7D39859C24F4}" type="slidenum">
              <a:rPr lang="en-US" smtClean="0"/>
              <a:t>70</a:t>
            </a:fld>
            <a:endParaRPr lang="en-US"/>
          </a:p>
        </p:txBody>
      </p:sp>
    </p:spTree>
    <p:extLst>
      <p:ext uri="{BB962C8B-B14F-4D97-AF65-F5344CB8AC3E}">
        <p14:creationId xmlns:p14="http://schemas.microsoft.com/office/powerpoint/2010/main" val="265138823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8379" name="Rectangle 5837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58381" name="Rectangle 5838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8383" name="Rectangle 5838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8385" name="Rectangle 5838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8387" name="Rectangle 5838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8389" name="Freeform: Shape 5838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8391" name="Rectangle 5839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8374" name="Rectangle 3"/>
          <p:cNvSpPr>
            <a:spLocks noGrp="1" noChangeArrowheads="1"/>
          </p:cNvSpPr>
          <p:nvPr>
            <p:ph type="title"/>
          </p:nvPr>
        </p:nvSpPr>
        <p:spPr>
          <a:xfrm>
            <a:off x="466722" y="586855"/>
            <a:ext cx="3201366" cy="3387497"/>
          </a:xfrm>
        </p:spPr>
        <p:txBody>
          <a:bodyPr anchor="b">
            <a:normAutofit/>
          </a:bodyPr>
          <a:lstStyle/>
          <a:p>
            <a:pPr algn="r" eaLnBrk="1" hangingPunct="1"/>
            <a:r>
              <a:rPr lang="en-US" sz="4000">
                <a:solidFill>
                  <a:srgbClr val="FFFFFF"/>
                </a:solidFill>
              </a:rPr>
              <a:t>Quality Attributes in Practice</a:t>
            </a:r>
          </a:p>
        </p:txBody>
      </p:sp>
      <p:sp>
        <p:nvSpPr>
          <p:cNvPr id="8" name="Content Placeholder 7"/>
          <p:cNvSpPr>
            <a:spLocks noGrp="1"/>
          </p:cNvSpPr>
          <p:nvPr>
            <p:ph idx="1"/>
          </p:nvPr>
        </p:nvSpPr>
        <p:spPr>
          <a:xfrm>
            <a:off x="4810259" y="649480"/>
            <a:ext cx="6555347" cy="5546047"/>
          </a:xfrm>
        </p:spPr>
        <p:txBody>
          <a:bodyPr anchor="ctr">
            <a:normAutofit/>
          </a:bodyPr>
          <a:lstStyle/>
          <a:p>
            <a:pPr>
              <a:defRPr/>
            </a:pPr>
            <a:r>
              <a:rPr lang="en-US" dirty="0"/>
              <a:t>In practice, there are other quality attributes that are not so familiar, for example: </a:t>
            </a:r>
            <a:r>
              <a:rPr lang="en-US" i="1" dirty="0" err="1"/>
              <a:t>calibrateability</a:t>
            </a:r>
            <a:endParaRPr lang="en-US" i="1" dirty="0"/>
          </a:p>
          <a:p>
            <a:pPr lvl="1">
              <a:defRPr/>
            </a:pPr>
            <a:r>
              <a:rPr lang="en-US" sz="2800" dirty="0"/>
              <a:t>Some quality attributes are domain specific.</a:t>
            </a:r>
          </a:p>
          <a:p>
            <a:pPr>
              <a:defRPr/>
            </a:pPr>
            <a:r>
              <a:rPr lang="en-US" dirty="0"/>
              <a:t>Single word descriptions of quality attribute properties are meaningless – </a:t>
            </a:r>
            <a:r>
              <a:rPr lang="en-US" i="1" dirty="0"/>
              <a:t>wide open to interpretation!</a:t>
            </a:r>
          </a:p>
          <a:p>
            <a:pPr>
              <a:defRPr/>
            </a:pPr>
            <a:r>
              <a:rPr lang="en-US" dirty="0"/>
              <a:t>Its not important what term we use, but make sure that it is characterized in a quality attribute scenario - </a:t>
            </a:r>
            <a:r>
              <a:rPr lang="en-US" i="1" dirty="0"/>
              <a:t>conveys the real meaning of the “</a:t>
            </a:r>
            <a:r>
              <a:rPr lang="en-US" i="1" dirty="0" err="1"/>
              <a:t>ility</a:t>
            </a:r>
            <a:r>
              <a:rPr lang="en-US" i="1" dirty="0"/>
              <a:t>”</a:t>
            </a:r>
          </a:p>
          <a:p>
            <a:pPr>
              <a:defRPr/>
            </a:pPr>
            <a:endParaRPr lang="en-US" sz="2000" dirty="0"/>
          </a:p>
        </p:txBody>
      </p:sp>
      <p:sp>
        <p:nvSpPr>
          <p:cNvPr id="2" name="Slide Number Placeholder 1">
            <a:extLst>
              <a:ext uri="{FF2B5EF4-FFF2-40B4-BE49-F238E27FC236}">
                <a16:creationId xmlns:a16="http://schemas.microsoft.com/office/drawing/2014/main" id="{34C8E651-4884-370D-89D7-E25C03679B3E}"/>
              </a:ext>
            </a:extLst>
          </p:cNvPr>
          <p:cNvSpPr>
            <a:spLocks noGrp="1"/>
          </p:cNvSpPr>
          <p:nvPr>
            <p:ph type="sldNum" sz="quarter" idx="12"/>
          </p:nvPr>
        </p:nvSpPr>
        <p:spPr/>
        <p:txBody>
          <a:bodyPr/>
          <a:lstStyle/>
          <a:p>
            <a:fld id="{7DF6DEEC-D04A-4FF0-9A08-7D39859C24F4}" type="slidenum">
              <a:rPr lang="en-US" smtClean="0"/>
              <a:t>71</a:t>
            </a:fld>
            <a:endParaRPr lang="en-US"/>
          </a:p>
        </p:txBody>
      </p:sp>
    </p:spTree>
    <p:extLst>
      <p:ext uri="{BB962C8B-B14F-4D97-AF65-F5344CB8AC3E}">
        <p14:creationId xmlns:p14="http://schemas.microsoft.com/office/powerpoint/2010/main" val="87505383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Achieving Quality Attributes Through Tactics</a:t>
            </a:r>
          </a:p>
        </p:txBody>
      </p:sp>
      <p:sp>
        <p:nvSpPr>
          <p:cNvPr id="3" name="Content Placeholder 2"/>
          <p:cNvSpPr>
            <a:spLocks noGrp="1"/>
          </p:cNvSpPr>
          <p:nvPr>
            <p:ph idx="1"/>
          </p:nvPr>
        </p:nvSpPr>
        <p:spPr>
          <a:xfrm>
            <a:off x="4367695" y="992865"/>
            <a:ext cx="7357583" cy="5546047"/>
          </a:xfrm>
        </p:spPr>
        <p:txBody>
          <a:bodyPr anchor="ctr">
            <a:normAutofit fontScale="92500" lnSpcReduction="10000"/>
          </a:bodyPr>
          <a:lstStyle/>
          <a:p>
            <a:pPr algn="just"/>
            <a:r>
              <a:rPr lang="en-US" sz="2900" dirty="0"/>
              <a:t>There are a collection of primitive design techniques that an architect can use to achieve a quality attribute response.</a:t>
            </a:r>
          </a:p>
          <a:p>
            <a:pPr marL="0" indent="0" algn="just">
              <a:buNone/>
            </a:pPr>
            <a:r>
              <a:rPr lang="en-US" sz="2900" dirty="0"/>
              <a:t> </a:t>
            </a:r>
          </a:p>
          <a:p>
            <a:pPr algn="just"/>
            <a:r>
              <a:rPr lang="en-US" sz="2900" dirty="0"/>
              <a:t>We call these architectural design primitives </a:t>
            </a:r>
            <a:r>
              <a:rPr lang="en-US" sz="2900" b="1" i="1" dirty="0">
                <a:solidFill>
                  <a:schemeClr val="accent2"/>
                </a:solidFill>
              </a:rPr>
              <a:t>tactics</a:t>
            </a:r>
            <a:r>
              <a:rPr lang="en-US" sz="2900" dirty="0"/>
              <a:t>.</a:t>
            </a:r>
          </a:p>
          <a:p>
            <a:pPr marL="0" indent="0" algn="just">
              <a:buNone/>
            </a:pPr>
            <a:endParaRPr lang="en-US" sz="2900" dirty="0"/>
          </a:p>
          <a:p>
            <a:pPr algn="just"/>
            <a:r>
              <a:rPr lang="en-US" sz="2900" dirty="0"/>
              <a:t>Tactics, like design patterns, are techniques that architects have been using for years. We do not </a:t>
            </a:r>
            <a:r>
              <a:rPr lang="en-US" sz="2900" i="1" dirty="0"/>
              <a:t>invent</a:t>
            </a:r>
            <a:r>
              <a:rPr lang="en-US" sz="2900" dirty="0"/>
              <a:t> tactics, we simply capture what architects do in practice. </a:t>
            </a:r>
          </a:p>
          <a:p>
            <a:pPr algn="just"/>
            <a:endParaRPr lang="en-US" sz="2900" dirty="0"/>
          </a:p>
          <a:p>
            <a:pPr algn="just"/>
            <a:r>
              <a:rPr lang="en-US" sz="2900" dirty="0"/>
              <a:t>We will discuss tactics more during the “Software Architecture” part of the course.</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222F6F58-5BE6-8441-5454-1E7F72E31BEE}"/>
              </a:ext>
            </a:extLst>
          </p:cNvPr>
          <p:cNvSpPr>
            <a:spLocks noGrp="1"/>
          </p:cNvSpPr>
          <p:nvPr>
            <p:ph type="sldNum" sz="quarter" idx="12"/>
          </p:nvPr>
        </p:nvSpPr>
        <p:spPr/>
        <p:txBody>
          <a:bodyPr/>
          <a:lstStyle/>
          <a:p>
            <a:fld id="{7DF6DEEC-D04A-4FF0-9A08-7D39859C24F4}" type="slidenum">
              <a:rPr lang="en-US" smtClean="0"/>
              <a:t>72</a:t>
            </a:fld>
            <a:endParaRPr lang="en-US"/>
          </a:p>
        </p:txBody>
      </p:sp>
    </p:spTree>
    <p:extLst>
      <p:ext uri="{BB962C8B-B14F-4D97-AF65-F5344CB8AC3E}">
        <p14:creationId xmlns:p14="http://schemas.microsoft.com/office/powerpoint/2010/main" val="22915166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7E7F05-F5F7-927F-9D8C-7F7CFEC7992F}"/>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3F3460-1C3B-0AEF-6EE0-D8BA4B13D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Rectangle 10">
            <a:extLst>
              <a:ext uri="{FF2B5EF4-FFF2-40B4-BE49-F238E27FC236}">
                <a16:creationId xmlns:a16="http://schemas.microsoft.com/office/drawing/2014/main" id="{1EF2163D-FFB9-8892-C280-F3E520E2EE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91CC35E-2460-97B1-0DD2-C2D9E2C6FD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45C43F0-77BF-89F5-10FC-A553C1A32E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8AB158A8-8F99-C66B-9324-C7D5D8FBF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Freeform: Shape 18">
            <a:extLst>
              <a:ext uri="{FF2B5EF4-FFF2-40B4-BE49-F238E27FC236}">
                <a16:creationId xmlns:a16="http://schemas.microsoft.com/office/drawing/2014/main" id="{4CAA70D1-D3F1-289E-B373-1418E34AD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3389F839-165B-80D8-C715-3C72847040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89555AF-B0E2-3ED4-FCB7-160FFE297242}"/>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Common Tactics</a:t>
            </a:r>
            <a:br>
              <a:rPr lang="en-US" sz="4000" dirty="0">
                <a:solidFill>
                  <a:srgbClr val="FFFFFF"/>
                </a:solidFill>
              </a:rPr>
            </a:br>
            <a:br>
              <a:rPr lang="en-US" sz="4000" dirty="0">
                <a:solidFill>
                  <a:srgbClr val="FFFFFF"/>
                </a:solidFill>
              </a:rPr>
            </a:br>
            <a:endParaRPr lang="en-US" sz="4000" dirty="0">
              <a:solidFill>
                <a:srgbClr val="FFFFFF"/>
              </a:solidFill>
            </a:endParaRPr>
          </a:p>
        </p:txBody>
      </p:sp>
      <p:sp>
        <p:nvSpPr>
          <p:cNvPr id="4" name="Slide Number Placeholder 3">
            <a:extLst>
              <a:ext uri="{FF2B5EF4-FFF2-40B4-BE49-F238E27FC236}">
                <a16:creationId xmlns:a16="http://schemas.microsoft.com/office/drawing/2014/main" id="{C3DA81CC-10DD-63E4-5E40-A46844D7A4CF}"/>
              </a:ext>
            </a:extLst>
          </p:cNvPr>
          <p:cNvSpPr>
            <a:spLocks noGrp="1"/>
          </p:cNvSpPr>
          <p:nvPr>
            <p:ph type="sldNum" sz="quarter" idx="12"/>
          </p:nvPr>
        </p:nvSpPr>
        <p:spPr/>
        <p:txBody>
          <a:bodyPr/>
          <a:lstStyle/>
          <a:p>
            <a:fld id="{7DF6DEEC-D04A-4FF0-9A08-7D39859C24F4}" type="slidenum">
              <a:rPr lang="en-US" smtClean="0"/>
              <a:t>73</a:t>
            </a:fld>
            <a:endParaRPr lang="en-US"/>
          </a:p>
        </p:txBody>
      </p:sp>
      <p:sp>
        <p:nvSpPr>
          <p:cNvPr id="8" name="TextBox 7">
            <a:extLst>
              <a:ext uri="{FF2B5EF4-FFF2-40B4-BE49-F238E27FC236}">
                <a16:creationId xmlns:a16="http://schemas.microsoft.com/office/drawing/2014/main" id="{91B3F11D-04B3-C513-90BC-58C5BC9FADB9}"/>
              </a:ext>
            </a:extLst>
          </p:cNvPr>
          <p:cNvSpPr txBox="1"/>
          <p:nvPr/>
        </p:nvSpPr>
        <p:spPr>
          <a:xfrm>
            <a:off x="4367694" y="436358"/>
            <a:ext cx="7576655" cy="6186309"/>
          </a:xfrm>
          <a:prstGeom prst="rect">
            <a:avLst/>
          </a:prstGeom>
          <a:noFill/>
        </p:spPr>
        <p:txBody>
          <a:bodyPr wrap="square">
            <a:spAutoFit/>
          </a:bodyPr>
          <a:lstStyle/>
          <a:p>
            <a:pPr marL="342900" indent="-342900">
              <a:buFont typeface="+mj-lt"/>
              <a:buAutoNum type="arabicPeriod"/>
            </a:pPr>
            <a:r>
              <a:rPr lang="en-US" b="1" dirty="0"/>
              <a:t>Performance Tactics</a:t>
            </a:r>
          </a:p>
          <a:p>
            <a:pPr marL="800100" lvl="1" indent="-342900">
              <a:buFont typeface="Arial" panose="020B0604020202020204" pitchFamily="34" charset="0"/>
              <a:buChar char="•"/>
            </a:pPr>
            <a:r>
              <a:rPr lang="en-US" b="1" dirty="0"/>
              <a:t>Goal: </a:t>
            </a:r>
            <a:r>
              <a:rPr lang="en-US" dirty="0"/>
              <a:t>Reduce latency or increase throughput.</a:t>
            </a:r>
          </a:p>
          <a:p>
            <a:pPr marL="800100" lvl="1" indent="-342900">
              <a:buFont typeface="Arial" panose="020B0604020202020204" pitchFamily="34" charset="0"/>
              <a:buChar char="•"/>
            </a:pPr>
            <a:r>
              <a:rPr lang="en-US" b="1" dirty="0"/>
              <a:t>Resource management:</a:t>
            </a:r>
            <a:r>
              <a:rPr lang="en-US" dirty="0"/>
              <a:t> increase computational resources, concurrency, or priority-based scheduling.</a:t>
            </a:r>
          </a:p>
          <a:p>
            <a:pPr marL="800100" lvl="1" indent="-342900">
              <a:buFont typeface="Arial" panose="020B0604020202020204" pitchFamily="34" charset="0"/>
              <a:buChar char="•"/>
            </a:pPr>
            <a:r>
              <a:rPr lang="en-US" b="1" dirty="0"/>
              <a:t>Resource arbitration:</a:t>
            </a:r>
            <a:r>
              <a:rPr lang="en-US" dirty="0"/>
              <a:t> load balancing, caching, compression, prefetching.</a:t>
            </a:r>
          </a:p>
          <a:p>
            <a:pPr marL="342900" indent="-342900">
              <a:buFont typeface="+mj-lt"/>
              <a:buAutoNum type="arabicPeriod"/>
            </a:pPr>
            <a:r>
              <a:rPr lang="en-US" b="1" dirty="0"/>
              <a:t>Availability Tactics</a:t>
            </a:r>
          </a:p>
          <a:p>
            <a:pPr marL="800100" lvl="1" indent="-342900">
              <a:buFont typeface="Arial" panose="020B0604020202020204" pitchFamily="34" charset="0"/>
              <a:buChar char="•"/>
            </a:pPr>
            <a:r>
              <a:rPr lang="en-US" b="1" dirty="0"/>
              <a:t>Goal: </a:t>
            </a:r>
            <a:r>
              <a:rPr lang="en-US" dirty="0"/>
              <a:t>Ensure the system continues to operate despite failures.</a:t>
            </a:r>
          </a:p>
          <a:p>
            <a:pPr marL="800100" lvl="1" indent="-342900">
              <a:buFont typeface="Arial" panose="020B0604020202020204" pitchFamily="34" charset="0"/>
              <a:buChar char="•"/>
            </a:pPr>
            <a:r>
              <a:rPr lang="en-US" b="1" dirty="0"/>
              <a:t>Fault detection:</a:t>
            </a:r>
            <a:r>
              <a:rPr lang="en-US" dirty="0"/>
              <a:t> heartbeat messages, ping/echo.</a:t>
            </a:r>
          </a:p>
          <a:p>
            <a:pPr marL="800100" lvl="1" indent="-342900">
              <a:buFont typeface="Arial" panose="020B0604020202020204" pitchFamily="34" charset="0"/>
              <a:buChar char="•"/>
            </a:pPr>
            <a:r>
              <a:rPr lang="en-US" b="1" dirty="0"/>
              <a:t>Fault recovery:</a:t>
            </a:r>
            <a:r>
              <a:rPr lang="en-US" dirty="0"/>
              <a:t> restart, rollback, or failover.</a:t>
            </a:r>
          </a:p>
          <a:p>
            <a:pPr marL="800100" lvl="1" indent="-342900">
              <a:buFont typeface="Arial" panose="020B0604020202020204" pitchFamily="34" charset="0"/>
              <a:buChar char="•"/>
            </a:pPr>
            <a:r>
              <a:rPr lang="en-US" b="1" dirty="0"/>
              <a:t>Fault prevention:</a:t>
            </a:r>
            <a:r>
              <a:rPr lang="en-US" dirty="0"/>
              <a:t> remove single points of failure.</a:t>
            </a:r>
          </a:p>
          <a:p>
            <a:pPr marL="342900" indent="-342900">
              <a:buFont typeface="+mj-lt"/>
              <a:buAutoNum type="arabicPeriod"/>
            </a:pPr>
            <a:r>
              <a:rPr lang="en-US" b="1" dirty="0"/>
              <a:t>Security Tactics</a:t>
            </a:r>
          </a:p>
          <a:p>
            <a:pPr marL="800100" lvl="1" indent="-342900">
              <a:buFont typeface="Arial" panose="020B0604020202020204" pitchFamily="34" charset="0"/>
              <a:buChar char="•"/>
            </a:pPr>
            <a:r>
              <a:rPr lang="en-US" b="1" dirty="0"/>
              <a:t>Goal: </a:t>
            </a:r>
            <a:r>
              <a:rPr lang="en-US" dirty="0"/>
              <a:t>Protect data and resources from unauthorized access or modification.</a:t>
            </a:r>
          </a:p>
          <a:p>
            <a:pPr marL="800100" lvl="1" indent="-342900">
              <a:buFont typeface="Arial" panose="020B0604020202020204" pitchFamily="34" charset="0"/>
              <a:buChar char="•"/>
            </a:pPr>
            <a:r>
              <a:rPr lang="en-US" b="1" dirty="0"/>
              <a:t>Detect attacks:</a:t>
            </a:r>
            <a:r>
              <a:rPr lang="en-US" dirty="0"/>
              <a:t> intrusion detection, audit logging.</a:t>
            </a:r>
          </a:p>
          <a:p>
            <a:pPr marL="800100" lvl="1" indent="-342900">
              <a:buFont typeface="Arial" panose="020B0604020202020204" pitchFamily="34" charset="0"/>
              <a:buChar char="•"/>
            </a:pPr>
            <a:r>
              <a:rPr lang="en-US" b="1" dirty="0"/>
              <a:t>Resist attacks:</a:t>
            </a:r>
            <a:r>
              <a:rPr lang="en-US" dirty="0"/>
              <a:t> authentication, authorization, encryption.</a:t>
            </a:r>
          </a:p>
          <a:p>
            <a:pPr marL="800100" lvl="1" indent="-342900">
              <a:buFont typeface="Arial" panose="020B0604020202020204" pitchFamily="34" charset="0"/>
              <a:buChar char="•"/>
            </a:pPr>
            <a:r>
              <a:rPr lang="en-US" b="1" dirty="0"/>
              <a:t>Recover from attacks:</a:t>
            </a:r>
            <a:r>
              <a:rPr lang="en-US" dirty="0"/>
              <a:t> restore from backup, revoke compromised keys.</a:t>
            </a:r>
          </a:p>
          <a:p>
            <a:pPr marL="342900" indent="-342900">
              <a:buFont typeface="+mj-lt"/>
              <a:buAutoNum type="arabicPeriod"/>
            </a:pPr>
            <a:r>
              <a:rPr lang="en-US" b="1" dirty="0"/>
              <a:t>Modifiability Tactics</a:t>
            </a:r>
          </a:p>
          <a:p>
            <a:pPr marL="800100" lvl="1" indent="-342900">
              <a:buFont typeface="Arial" panose="020B0604020202020204" pitchFamily="34" charset="0"/>
              <a:buChar char="•"/>
            </a:pPr>
            <a:r>
              <a:rPr lang="en-US" b="1" dirty="0"/>
              <a:t>Goal: </a:t>
            </a:r>
            <a:r>
              <a:rPr lang="en-US" dirty="0"/>
              <a:t>Make the system easier to change.</a:t>
            </a:r>
          </a:p>
          <a:p>
            <a:pPr marL="800100" lvl="1" indent="-342900">
              <a:buFont typeface="Arial" panose="020B0604020202020204" pitchFamily="34" charset="0"/>
              <a:buChar char="•"/>
            </a:pPr>
            <a:r>
              <a:rPr lang="en-US" b="1" dirty="0"/>
              <a:t>Localize changes:</a:t>
            </a:r>
            <a:r>
              <a:rPr lang="en-US" dirty="0"/>
              <a:t> encapsulation, layering, use of interfaces.</a:t>
            </a:r>
          </a:p>
          <a:p>
            <a:pPr marL="800100" lvl="1" indent="-342900">
              <a:buFont typeface="Arial" panose="020B0604020202020204" pitchFamily="34" charset="0"/>
              <a:buChar char="•"/>
            </a:pPr>
            <a:r>
              <a:rPr lang="en-US" b="1" dirty="0"/>
              <a:t>Prevent ripple effects:</a:t>
            </a:r>
            <a:r>
              <a:rPr lang="en-US" dirty="0"/>
              <a:t> use indirection, abstract dependencies.</a:t>
            </a:r>
          </a:p>
          <a:p>
            <a:pPr marL="800100" lvl="1" indent="-342900">
              <a:buFont typeface="Arial" panose="020B0604020202020204" pitchFamily="34" charset="0"/>
              <a:buChar char="•"/>
            </a:pPr>
            <a:r>
              <a:rPr lang="en-US" b="1" dirty="0"/>
              <a:t>Defer binding:</a:t>
            </a:r>
            <a:r>
              <a:rPr lang="en-US" dirty="0"/>
              <a:t> runtime configuration or dynamic linking.</a:t>
            </a:r>
          </a:p>
        </p:txBody>
      </p:sp>
    </p:spTree>
    <p:extLst>
      <p:ext uri="{BB962C8B-B14F-4D97-AF65-F5344CB8AC3E}">
        <p14:creationId xmlns:p14="http://schemas.microsoft.com/office/powerpoint/2010/main" val="283468963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70DDF1-713A-768D-373E-A5906EF7EB66}"/>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062E6B5-4164-12C0-08F0-986C40789E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Rectangle 10">
            <a:extLst>
              <a:ext uri="{FF2B5EF4-FFF2-40B4-BE49-F238E27FC236}">
                <a16:creationId xmlns:a16="http://schemas.microsoft.com/office/drawing/2014/main" id="{4A1AC7E1-5879-DB56-41D3-F23E894F7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677B144B-A833-943B-08D7-5CE517647F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4A753548-320E-5328-D226-7F6975BC7C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2F8D7DC4-CD1D-1ED3-6C52-78C838B6CA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Freeform: Shape 18">
            <a:extLst>
              <a:ext uri="{FF2B5EF4-FFF2-40B4-BE49-F238E27FC236}">
                <a16:creationId xmlns:a16="http://schemas.microsoft.com/office/drawing/2014/main" id="{58D21C1F-A308-E1F6-CCC8-43A61F050C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46C81512-F75F-D001-FD36-B029E2FEC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1ECEB09-6943-200E-B452-8BB7E85444D9}"/>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rPr>
              <a:t>Common Tactics</a:t>
            </a:r>
            <a:br>
              <a:rPr lang="en-US" sz="4000" dirty="0">
                <a:solidFill>
                  <a:srgbClr val="FFFFFF"/>
                </a:solidFill>
              </a:rPr>
            </a:br>
            <a:br>
              <a:rPr lang="en-US" sz="4000" dirty="0">
                <a:solidFill>
                  <a:srgbClr val="FFFFFF"/>
                </a:solidFill>
              </a:rPr>
            </a:br>
            <a:endParaRPr lang="en-US" sz="4000" dirty="0">
              <a:solidFill>
                <a:srgbClr val="FFFFFF"/>
              </a:solidFill>
            </a:endParaRPr>
          </a:p>
        </p:txBody>
      </p:sp>
      <p:sp>
        <p:nvSpPr>
          <p:cNvPr id="4" name="Slide Number Placeholder 3">
            <a:extLst>
              <a:ext uri="{FF2B5EF4-FFF2-40B4-BE49-F238E27FC236}">
                <a16:creationId xmlns:a16="http://schemas.microsoft.com/office/drawing/2014/main" id="{7F359FF0-1CD6-E9A9-BFF8-23442855D486}"/>
              </a:ext>
            </a:extLst>
          </p:cNvPr>
          <p:cNvSpPr>
            <a:spLocks noGrp="1"/>
          </p:cNvSpPr>
          <p:nvPr>
            <p:ph type="sldNum" sz="quarter" idx="12"/>
          </p:nvPr>
        </p:nvSpPr>
        <p:spPr/>
        <p:txBody>
          <a:bodyPr/>
          <a:lstStyle/>
          <a:p>
            <a:fld id="{7DF6DEEC-D04A-4FF0-9A08-7D39859C24F4}" type="slidenum">
              <a:rPr lang="en-US" smtClean="0"/>
              <a:t>74</a:t>
            </a:fld>
            <a:endParaRPr lang="en-US"/>
          </a:p>
        </p:txBody>
      </p:sp>
      <p:sp>
        <p:nvSpPr>
          <p:cNvPr id="8" name="TextBox 7">
            <a:extLst>
              <a:ext uri="{FF2B5EF4-FFF2-40B4-BE49-F238E27FC236}">
                <a16:creationId xmlns:a16="http://schemas.microsoft.com/office/drawing/2014/main" id="{48E1D975-1589-E438-9104-9E9FDFA6866B}"/>
              </a:ext>
            </a:extLst>
          </p:cNvPr>
          <p:cNvSpPr txBox="1"/>
          <p:nvPr/>
        </p:nvSpPr>
        <p:spPr>
          <a:xfrm>
            <a:off x="4367694" y="436358"/>
            <a:ext cx="7576655" cy="3693319"/>
          </a:xfrm>
          <a:prstGeom prst="rect">
            <a:avLst/>
          </a:prstGeom>
          <a:noFill/>
        </p:spPr>
        <p:txBody>
          <a:bodyPr wrap="square">
            <a:spAutoFit/>
          </a:bodyPr>
          <a:lstStyle/>
          <a:p>
            <a:pPr marL="342900" indent="-342900">
              <a:buFont typeface="+mj-lt"/>
              <a:buAutoNum type="arabicPeriod" startAt="5"/>
            </a:pPr>
            <a:r>
              <a:rPr lang="en-US" b="1" dirty="0"/>
              <a:t>Usability Tactics</a:t>
            </a:r>
          </a:p>
          <a:p>
            <a:pPr marL="800100" lvl="1" indent="-342900">
              <a:buFont typeface="Arial" panose="020B0604020202020204" pitchFamily="34" charset="0"/>
              <a:buChar char="•"/>
            </a:pPr>
            <a:r>
              <a:rPr lang="en-US" b="1" dirty="0"/>
              <a:t>Goal: </a:t>
            </a:r>
            <a:r>
              <a:rPr lang="en-US" dirty="0"/>
              <a:t>Improve user experience and reduce errors.</a:t>
            </a:r>
          </a:p>
          <a:p>
            <a:pPr marL="800100" lvl="1" indent="-342900">
              <a:buFont typeface="Arial" panose="020B0604020202020204" pitchFamily="34" charset="0"/>
              <a:buChar char="•"/>
            </a:pPr>
            <a:r>
              <a:rPr lang="en-US" b="1" dirty="0"/>
              <a:t>Support user initiative:</a:t>
            </a:r>
            <a:r>
              <a:rPr lang="en-US" dirty="0"/>
              <a:t> undo/redo, help systems.</a:t>
            </a:r>
          </a:p>
          <a:p>
            <a:pPr marL="800100" lvl="1" indent="-342900">
              <a:buFont typeface="Arial" panose="020B0604020202020204" pitchFamily="34" charset="0"/>
              <a:buChar char="•"/>
            </a:pPr>
            <a:r>
              <a:rPr lang="en-US" b="1" dirty="0"/>
              <a:t>Support system initiative:</a:t>
            </a:r>
            <a:r>
              <a:rPr lang="en-US" dirty="0"/>
              <a:t> guidance, feedback, tutorials.</a:t>
            </a:r>
          </a:p>
          <a:p>
            <a:pPr marL="342900" indent="-342900">
              <a:buFont typeface="+mj-lt"/>
              <a:buAutoNum type="arabicPeriod" startAt="6"/>
            </a:pPr>
            <a:r>
              <a:rPr lang="en-US" b="1" dirty="0"/>
              <a:t>Testability Tactics</a:t>
            </a:r>
          </a:p>
          <a:p>
            <a:pPr marL="800100" lvl="1" indent="-342900">
              <a:buFont typeface="Arial" panose="020B0604020202020204" pitchFamily="34" charset="0"/>
              <a:buChar char="•"/>
            </a:pPr>
            <a:r>
              <a:rPr lang="en-US" b="1" dirty="0"/>
              <a:t>Goal: </a:t>
            </a:r>
            <a:r>
              <a:rPr lang="en-US" dirty="0"/>
              <a:t>Make it easier to verify and validate the system.</a:t>
            </a:r>
          </a:p>
          <a:p>
            <a:pPr marL="800100" lvl="1" indent="-342900">
              <a:buFont typeface="Arial" panose="020B0604020202020204" pitchFamily="34" charset="0"/>
              <a:buChar char="•"/>
            </a:pPr>
            <a:r>
              <a:rPr lang="en-US" b="1" dirty="0"/>
              <a:t>Add visibility:</a:t>
            </a:r>
            <a:r>
              <a:rPr lang="en-US" dirty="0"/>
              <a:t> logging, tracing, exposing state.</a:t>
            </a:r>
          </a:p>
          <a:p>
            <a:pPr marL="800100" lvl="1" indent="-342900">
              <a:buFont typeface="Arial" panose="020B0604020202020204" pitchFamily="34" charset="0"/>
              <a:buChar char="•"/>
            </a:pPr>
            <a:r>
              <a:rPr lang="en-US" b="1" dirty="0"/>
              <a:t>Add controllability:</a:t>
            </a:r>
            <a:r>
              <a:rPr lang="en-US" dirty="0"/>
              <a:t> simulation environments, stubs, dependency injection.</a:t>
            </a:r>
          </a:p>
          <a:p>
            <a:pPr marL="342900" indent="-342900">
              <a:buFont typeface="+mj-lt"/>
              <a:buAutoNum type="arabicPeriod" startAt="7"/>
            </a:pPr>
            <a:r>
              <a:rPr lang="en-US" b="1" dirty="0"/>
              <a:t>Safety Tactics</a:t>
            </a:r>
          </a:p>
          <a:p>
            <a:pPr marL="800100" lvl="1" indent="-342900">
              <a:buFont typeface="Arial" panose="020B0604020202020204" pitchFamily="34" charset="0"/>
              <a:buChar char="•"/>
            </a:pPr>
            <a:r>
              <a:rPr lang="en-US" b="1" dirty="0"/>
              <a:t>Goal: </a:t>
            </a:r>
            <a:r>
              <a:rPr lang="en-US" dirty="0"/>
              <a:t>Prevent or mitigate hazards and failures.</a:t>
            </a:r>
          </a:p>
          <a:p>
            <a:pPr marL="800100" lvl="1" indent="-342900">
              <a:buFont typeface="Arial" panose="020B0604020202020204" pitchFamily="34" charset="0"/>
              <a:buChar char="•"/>
            </a:pPr>
            <a:r>
              <a:rPr lang="en-US" b="1" dirty="0"/>
              <a:t>Fault isolation:</a:t>
            </a:r>
            <a:r>
              <a:rPr lang="en-US" dirty="0"/>
              <a:t> redundancy, partitioning.</a:t>
            </a:r>
          </a:p>
          <a:p>
            <a:pPr marL="800100" lvl="1" indent="-342900">
              <a:buFont typeface="Arial" panose="020B0604020202020204" pitchFamily="34" charset="0"/>
              <a:buChar char="•"/>
            </a:pPr>
            <a:r>
              <a:rPr lang="en-US" b="1" dirty="0"/>
              <a:t>Safe states:</a:t>
            </a:r>
            <a:r>
              <a:rPr lang="en-US" dirty="0"/>
              <a:t> rollback to known safe mode on </a:t>
            </a:r>
            <a:r>
              <a:rPr lang="en-US" dirty="0" err="1"/>
              <a:t>erro</a:t>
            </a:r>
            <a:endParaRPr lang="en-US" dirty="0"/>
          </a:p>
        </p:txBody>
      </p:sp>
    </p:spTree>
    <p:extLst>
      <p:ext uri="{BB962C8B-B14F-4D97-AF65-F5344CB8AC3E}">
        <p14:creationId xmlns:p14="http://schemas.microsoft.com/office/powerpoint/2010/main" val="10486892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F64B3A5-E185-78F5-904E-14149E2D1FFC}"/>
              </a:ext>
            </a:extLst>
          </p:cNvPr>
          <p:cNvSpPr>
            <a:spLocks noGrp="1"/>
          </p:cNvSpPr>
          <p:nvPr>
            <p:ph type="title"/>
          </p:nvPr>
        </p:nvSpPr>
        <p:spPr>
          <a:xfrm>
            <a:off x="572493" y="238539"/>
            <a:ext cx="11018520" cy="1434415"/>
          </a:xfrm>
        </p:spPr>
        <p:txBody>
          <a:bodyPr anchor="b">
            <a:normAutofit/>
          </a:bodyPr>
          <a:lstStyle/>
          <a:p>
            <a:r>
              <a:rPr lang="en-US" sz="5400"/>
              <a:t>In class Exercise</a:t>
            </a:r>
          </a:p>
        </p:txBody>
      </p:sp>
      <p:sp>
        <p:nvSpPr>
          <p:cNvPr id="23"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0CEBD62-620A-3FC4-DF15-3B97D420AE1C}"/>
              </a:ext>
            </a:extLst>
          </p:cNvPr>
          <p:cNvSpPr>
            <a:spLocks noGrp="1"/>
          </p:cNvSpPr>
          <p:nvPr>
            <p:ph idx="1"/>
          </p:nvPr>
        </p:nvSpPr>
        <p:spPr>
          <a:xfrm>
            <a:off x="572493" y="2071316"/>
            <a:ext cx="6713552" cy="4119172"/>
          </a:xfrm>
        </p:spPr>
        <p:txBody>
          <a:bodyPr anchor="t">
            <a:normAutofit/>
          </a:bodyPr>
          <a:lstStyle/>
          <a:p>
            <a:pPr algn="just"/>
            <a:r>
              <a:rPr lang="en-US" sz="2600" b="0" i="0" dirty="0">
                <a:effectLst/>
                <a:latin typeface="Söhne"/>
              </a:rPr>
              <a:t>Imagine a web-based platform and mobile app that allows users to order food from a variety of restaurants and have it delivered to their doorstep. </a:t>
            </a:r>
          </a:p>
          <a:p>
            <a:pPr algn="just"/>
            <a:r>
              <a:rPr lang="en-US" sz="2600" b="0" i="0" dirty="0">
                <a:effectLst/>
                <a:latin typeface="Söhne"/>
              </a:rPr>
              <a:t>This system connects customers, restaurants, and delivery drivers to provide a convenient food ordering and delivery service. </a:t>
            </a:r>
          </a:p>
          <a:p>
            <a:pPr algn="just"/>
            <a:r>
              <a:rPr lang="en-US" sz="2600" dirty="0">
                <a:latin typeface="Söhne"/>
              </a:rPr>
              <a:t>U</a:t>
            </a:r>
            <a:r>
              <a:rPr lang="en-US" sz="2600" b="0" i="0" dirty="0">
                <a:effectLst/>
                <a:latin typeface="Söhne"/>
              </a:rPr>
              <a:t>se this system as the basis for brainstorming quality attribute scenarios.</a:t>
            </a:r>
            <a:endParaRPr lang="en-US" sz="2600" dirty="0"/>
          </a:p>
        </p:txBody>
      </p:sp>
      <p:pic>
        <p:nvPicPr>
          <p:cNvPr id="6" name="Picture 5">
            <a:extLst>
              <a:ext uri="{FF2B5EF4-FFF2-40B4-BE49-F238E27FC236}">
                <a16:creationId xmlns:a16="http://schemas.microsoft.com/office/drawing/2014/main" id="{3F8EF1DE-9111-3EC8-5434-50DB295D2F1E}"/>
              </a:ext>
            </a:extLst>
          </p:cNvPr>
          <p:cNvPicPr>
            <a:picLocks noChangeAspect="1"/>
          </p:cNvPicPr>
          <p:nvPr/>
        </p:nvPicPr>
        <p:blipFill rotWithShape="1">
          <a:blip r:embed="rId2"/>
          <a:srcRect l="10285" r="18377" b="2"/>
          <a:stretch/>
        </p:blipFill>
        <p:spPr>
          <a:xfrm>
            <a:off x="7675658" y="2093976"/>
            <a:ext cx="3941064" cy="4096512"/>
          </a:xfrm>
          <a:prstGeom prst="rect">
            <a:avLst/>
          </a:prstGeom>
        </p:spPr>
      </p:pic>
      <p:sp>
        <p:nvSpPr>
          <p:cNvPr id="4" name="Slide Number Placeholder 3">
            <a:extLst>
              <a:ext uri="{FF2B5EF4-FFF2-40B4-BE49-F238E27FC236}">
                <a16:creationId xmlns:a16="http://schemas.microsoft.com/office/drawing/2014/main" id="{9BF63608-F475-835D-1495-08EAD13170BB}"/>
              </a:ext>
            </a:extLst>
          </p:cNvPr>
          <p:cNvSpPr>
            <a:spLocks noGrp="1"/>
          </p:cNvSpPr>
          <p:nvPr>
            <p:ph type="sldNum" sz="quarter" idx="12"/>
          </p:nvPr>
        </p:nvSpPr>
        <p:spPr>
          <a:xfrm>
            <a:off x="8610600" y="6356350"/>
            <a:ext cx="2743200" cy="365125"/>
          </a:xfrm>
        </p:spPr>
        <p:txBody>
          <a:bodyPr>
            <a:normAutofit/>
          </a:bodyPr>
          <a:lstStyle/>
          <a:p>
            <a:pPr>
              <a:spcAft>
                <a:spcPts val="600"/>
              </a:spcAft>
            </a:pPr>
            <a:fld id="{7DF6DEEC-D04A-4FF0-9A08-7D39859C24F4}" type="slidenum">
              <a:rPr lang="en-US" smtClean="0"/>
              <a:pPr>
                <a:spcAft>
                  <a:spcPts val="600"/>
                </a:spcAft>
              </a:pPr>
              <a:t>75</a:t>
            </a:fld>
            <a:endParaRPr lang="en-US"/>
          </a:p>
        </p:txBody>
      </p:sp>
    </p:spTree>
    <p:extLst>
      <p:ext uri="{BB962C8B-B14F-4D97-AF65-F5344CB8AC3E}">
        <p14:creationId xmlns:p14="http://schemas.microsoft.com/office/powerpoint/2010/main" val="182273446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950A91-0E80-E196-AAFD-851808ACA90F}"/>
              </a:ext>
            </a:extLst>
          </p:cNvPr>
          <p:cNvSpPr>
            <a:spLocks noGrp="1"/>
          </p:cNvSpPr>
          <p:nvPr>
            <p:ph type="title"/>
          </p:nvPr>
        </p:nvSpPr>
        <p:spPr>
          <a:xfrm>
            <a:off x="876693" y="741392"/>
            <a:ext cx="4597747" cy="544070"/>
          </a:xfrm>
        </p:spPr>
        <p:txBody>
          <a:bodyPr anchor="b">
            <a:normAutofit/>
          </a:bodyPr>
          <a:lstStyle/>
          <a:p>
            <a:r>
              <a:rPr lang="en-US" sz="3200" dirty="0"/>
              <a:t>Key Features of the system</a:t>
            </a:r>
          </a:p>
        </p:txBody>
      </p:sp>
      <p:sp>
        <p:nvSpPr>
          <p:cNvPr id="3" name="Content Placeholder 2">
            <a:extLst>
              <a:ext uri="{FF2B5EF4-FFF2-40B4-BE49-F238E27FC236}">
                <a16:creationId xmlns:a16="http://schemas.microsoft.com/office/drawing/2014/main" id="{76EAAEF4-C00D-D9F2-CA4F-D735000F0A50}"/>
              </a:ext>
            </a:extLst>
          </p:cNvPr>
          <p:cNvSpPr>
            <a:spLocks noGrp="1"/>
          </p:cNvSpPr>
          <p:nvPr>
            <p:ph idx="1"/>
          </p:nvPr>
        </p:nvSpPr>
        <p:spPr>
          <a:xfrm>
            <a:off x="152400" y="1630017"/>
            <a:ext cx="7894320" cy="4351291"/>
          </a:xfrm>
        </p:spPr>
        <p:txBody>
          <a:bodyPr anchor="t">
            <a:normAutofit/>
          </a:bodyPr>
          <a:lstStyle/>
          <a:p>
            <a:pPr>
              <a:buFont typeface="+mj-lt"/>
              <a:buAutoNum type="arabicPeriod"/>
            </a:pPr>
            <a:r>
              <a:rPr lang="en-US" sz="2600" b="0" i="0" dirty="0">
                <a:effectLst/>
                <a:latin typeface="Söhne"/>
              </a:rPr>
              <a:t>User registration and profiles.</a:t>
            </a:r>
          </a:p>
          <a:p>
            <a:pPr>
              <a:buFont typeface="+mj-lt"/>
              <a:buAutoNum type="arabicPeriod"/>
            </a:pPr>
            <a:r>
              <a:rPr lang="en-US" sz="2600" b="0" i="0" dirty="0">
                <a:effectLst/>
                <a:latin typeface="Söhne"/>
              </a:rPr>
              <a:t>Restaurant listings with menus and pricing.</a:t>
            </a:r>
          </a:p>
          <a:p>
            <a:pPr>
              <a:buFont typeface="+mj-lt"/>
              <a:buAutoNum type="arabicPeriod"/>
            </a:pPr>
            <a:r>
              <a:rPr lang="en-US" sz="2600" b="0" i="0" dirty="0">
                <a:effectLst/>
                <a:latin typeface="Söhne"/>
              </a:rPr>
              <a:t>Ordering and payment processing.</a:t>
            </a:r>
          </a:p>
          <a:p>
            <a:pPr>
              <a:buFont typeface="+mj-lt"/>
              <a:buAutoNum type="arabicPeriod"/>
            </a:pPr>
            <a:r>
              <a:rPr lang="en-US" sz="2600" b="0" i="0" dirty="0">
                <a:effectLst/>
                <a:latin typeface="Söhne"/>
              </a:rPr>
              <a:t>Real-time order tracking.</a:t>
            </a:r>
          </a:p>
          <a:p>
            <a:pPr>
              <a:buFont typeface="+mj-lt"/>
              <a:buAutoNum type="arabicPeriod"/>
            </a:pPr>
            <a:r>
              <a:rPr lang="en-US" sz="2600" b="0" i="0" dirty="0">
                <a:effectLst/>
                <a:latin typeface="Söhne"/>
              </a:rPr>
              <a:t>Restaurant and user reviews and ratings.</a:t>
            </a:r>
          </a:p>
          <a:p>
            <a:pPr>
              <a:buFont typeface="+mj-lt"/>
              <a:buAutoNum type="arabicPeriod"/>
            </a:pPr>
            <a:r>
              <a:rPr lang="en-US" sz="2600" b="0" i="0" dirty="0">
                <a:effectLst/>
                <a:latin typeface="Söhne"/>
              </a:rPr>
              <a:t>GPS-based location tracking for delivery.</a:t>
            </a:r>
          </a:p>
          <a:p>
            <a:pPr>
              <a:buFont typeface="+mj-lt"/>
              <a:buAutoNum type="arabicPeriod"/>
            </a:pPr>
            <a:r>
              <a:rPr lang="en-US" sz="2600" b="0" i="0" dirty="0">
                <a:effectLst/>
                <a:latin typeface="Söhne"/>
              </a:rPr>
              <a:t>Customer support chat.</a:t>
            </a:r>
          </a:p>
          <a:p>
            <a:endParaRPr lang="en-US" sz="2000" dirty="0"/>
          </a:p>
        </p:txBody>
      </p:sp>
      <p:pic>
        <p:nvPicPr>
          <p:cNvPr id="4" name="Picture 3">
            <a:extLst>
              <a:ext uri="{FF2B5EF4-FFF2-40B4-BE49-F238E27FC236}">
                <a16:creationId xmlns:a16="http://schemas.microsoft.com/office/drawing/2014/main" id="{4ABA0934-6516-6459-46C8-DD0A95422AF2}"/>
              </a:ext>
            </a:extLst>
          </p:cNvPr>
          <p:cNvPicPr>
            <a:picLocks noChangeAspect="1"/>
          </p:cNvPicPr>
          <p:nvPr/>
        </p:nvPicPr>
        <p:blipFill>
          <a:blip r:embed="rId2"/>
          <a:stretch>
            <a:fillRect/>
          </a:stretch>
        </p:blipFill>
        <p:spPr>
          <a:xfrm>
            <a:off x="7909559" y="1419349"/>
            <a:ext cx="3505503" cy="2649731"/>
          </a:xfrm>
          <a:prstGeom prst="rect">
            <a:avLst/>
          </a:prstGeom>
        </p:spPr>
      </p:pic>
      <p:grpSp>
        <p:nvGrpSpPr>
          <p:cNvPr id="9" name="Group 8">
            <a:extLst>
              <a:ext uri="{FF2B5EF4-FFF2-40B4-BE49-F238E27FC236}">
                <a16:creationId xmlns:a16="http://schemas.microsoft.com/office/drawing/2014/main" id="{1FD67D68-9B83-C338-8342-3348D8F223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025" y="6737718"/>
            <a:ext cx="12207200" cy="123363"/>
            <a:chOff x="-5025" y="6737718"/>
            <a:chExt cx="12207200" cy="123363"/>
          </a:xfrm>
        </p:grpSpPr>
        <p:sp>
          <p:nvSpPr>
            <p:cNvPr id="10" name="Rectangle 9">
              <a:extLst>
                <a:ext uri="{FF2B5EF4-FFF2-40B4-BE49-F238E27FC236}">
                  <a16:creationId xmlns:a16="http://schemas.microsoft.com/office/drawing/2014/main" id="{1E397F34-6B84-0D3B-0F29-B1D134B3B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BD98075-BFC1-BE9C-7FB7-23FE55E433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Slide Number Placeholder 4">
            <a:extLst>
              <a:ext uri="{FF2B5EF4-FFF2-40B4-BE49-F238E27FC236}">
                <a16:creationId xmlns:a16="http://schemas.microsoft.com/office/drawing/2014/main" id="{E3909C9C-ED60-30D3-9E6C-708E19CE361E}"/>
              </a:ext>
            </a:extLst>
          </p:cNvPr>
          <p:cNvSpPr>
            <a:spLocks noGrp="1"/>
          </p:cNvSpPr>
          <p:nvPr>
            <p:ph type="sldNum" sz="quarter" idx="12"/>
          </p:nvPr>
        </p:nvSpPr>
        <p:spPr/>
        <p:txBody>
          <a:bodyPr/>
          <a:lstStyle/>
          <a:p>
            <a:fld id="{7DF6DEEC-D04A-4FF0-9A08-7D39859C24F4}" type="slidenum">
              <a:rPr lang="en-US" smtClean="0"/>
              <a:t>76</a:t>
            </a:fld>
            <a:endParaRPr lang="en-US"/>
          </a:p>
        </p:txBody>
      </p:sp>
    </p:spTree>
    <p:extLst>
      <p:ext uri="{BB962C8B-B14F-4D97-AF65-F5344CB8AC3E}">
        <p14:creationId xmlns:p14="http://schemas.microsoft.com/office/powerpoint/2010/main" val="36081826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A04FF7E-596A-7FDA-ABC2-10D01394E180}"/>
              </a:ext>
            </a:extLst>
          </p:cNvPr>
          <p:cNvSpPr>
            <a:spLocks noGrp="1"/>
          </p:cNvSpPr>
          <p:nvPr>
            <p:ph idx="1"/>
          </p:nvPr>
        </p:nvSpPr>
        <p:spPr>
          <a:xfrm>
            <a:off x="876693" y="932518"/>
            <a:ext cx="8130146" cy="5048790"/>
          </a:xfrm>
        </p:spPr>
        <p:txBody>
          <a:bodyPr anchor="t">
            <a:normAutofit/>
          </a:bodyPr>
          <a:lstStyle/>
          <a:p>
            <a:pPr marL="0" indent="0">
              <a:buNone/>
            </a:pPr>
            <a:r>
              <a:rPr lang="en-US" sz="2400" dirty="0"/>
              <a:t>1- In your project teams</a:t>
            </a:r>
          </a:p>
          <a:p>
            <a:pPr marL="0" indent="0">
              <a:buNone/>
            </a:pPr>
            <a:r>
              <a:rPr lang="en-US" sz="2400" dirty="0"/>
              <a:t>2- Each team select 2 quality requirements from the list and write one quality scenario for each:</a:t>
            </a:r>
          </a:p>
          <a:p>
            <a:pPr lvl="1"/>
            <a:r>
              <a:rPr lang="en-US" dirty="0"/>
              <a:t>Security</a:t>
            </a:r>
          </a:p>
          <a:p>
            <a:pPr lvl="1"/>
            <a:r>
              <a:rPr lang="en-US" dirty="0"/>
              <a:t>Usability</a:t>
            </a:r>
          </a:p>
          <a:p>
            <a:pPr lvl="1"/>
            <a:r>
              <a:rPr lang="en-US" dirty="0"/>
              <a:t>Performance</a:t>
            </a:r>
          </a:p>
          <a:p>
            <a:pPr lvl="1"/>
            <a:r>
              <a:rPr lang="en-US" dirty="0"/>
              <a:t>Availability</a:t>
            </a:r>
          </a:p>
          <a:p>
            <a:pPr lvl="1"/>
            <a:r>
              <a:rPr lang="en-US" dirty="0"/>
              <a:t>Interoperability</a:t>
            </a:r>
          </a:p>
          <a:p>
            <a:pPr lvl="1"/>
            <a:r>
              <a:rPr lang="en-US" dirty="0"/>
              <a:t>Modifiability</a:t>
            </a:r>
          </a:p>
          <a:p>
            <a:pPr lvl="1"/>
            <a:r>
              <a:rPr lang="en-US" dirty="0"/>
              <a:t>Testability</a:t>
            </a:r>
          </a:p>
          <a:p>
            <a:pPr marL="0" indent="0">
              <a:buNone/>
            </a:pPr>
            <a:r>
              <a:rPr lang="en-US" sz="2400" dirty="0"/>
              <a:t>3- Post your scenarios in Piazza for the rest of the class to see.</a:t>
            </a:r>
          </a:p>
          <a:p>
            <a:pPr marL="457200" lvl="1" indent="0">
              <a:buNone/>
            </a:pPr>
            <a:endParaRPr lang="en-US" sz="2500" dirty="0"/>
          </a:p>
        </p:txBody>
      </p:sp>
      <p:pic>
        <p:nvPicPr>
          <p:cNvPr id="7" name="Graphic 6" descr="Users">
            <a:extLst>
              <a:ext uri="{FF2B5EF4-FFF2-40B4-BE49-F238E27FC236}">
                <a16:creationId xmlns:a16="http://schemas.microsoft.com/office/drawing/2014/main" id="{5FE62E19-E99A-8535-BA02-B63BE4A57C6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006839" y="867064"/>
            <a:ext cx="2273087" cy="2440016"/>
          </a:xfrm>
          <a:prstGeom prst="rect">
            <a:avLst/>
          </a:prstGeom>
        </p:spPr>
      </p:pic>
      <p:grpSp>
        <p:nvGrpSpPr>
          <p:cNvPr id="17" name="Group 16">
            <a:extLst>
              <a:ext uri="{FF2B5EF4-FFF2-40B4-BE49-F238E27FC236}">
                <a16:creationId xmlns:a16="http://schemas.microsoft.com/office/drawing/2014/main" id="{1FD67D68-9B83-C338-8342-3348D8F223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025" y="6737718"/>
            <a:ext cx="12207200" cy="123363"/>
            <a:chOff x="-5025" y="6737718"/>
            <a:chExt cx="12207200" cy="123363"/>
          </a:xfrm>
        </p:grpSpPr>
        <p:sp>
          <p:nvSpPr>
            <p:cNvPr id="18" name="Rectangle 17">
              <a:extLst>
                <a:ext uri="{FF2B5EF4-FFF2-40B4-BE49-F238E27FC236}">
                  <a16:creationId xmlns:a16="http://schemas.microsoft.com/office/drawing/2014/main" id="{1E397F34-6B84-0D3B-0F29-B1D134B3B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BD98075-BFC1-BE9C-7FB7-23FE55E433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Slide Number Placeholder 1">
            <a:extLst>
              <a:ext uri="{FF2B5EF4-FFF2-40B4-BE49-F238E27FC236}">
                <a16:creationId xmlns:a16="http://schemas.microsoft.com/office/drawing/2014/main" id="{6F8D4A2D-50DC-6550-6B05-060D5F06755F}"/>
              </a:ext>
            </a:extLst>
          </p:cNvPr>
          <p:cNvSpPr>
            <a:spLocks noGrp="1"/>
          </p:cNvSpPr>
          <p:nvPr>
            <p:ph type="sldNum" sz="quarter" idx="12"/>
          </p:nvPr>
        </p:nvSpPr>
        <p:spPr/>
        <p:txBody>
          <a:bodyPr/>
          <a:lstStyle/>
          <a:p>
            <a:fld id="{7DF6DEEC-D04A-4FF0-9A08-7D39859C24F4}" type="slidenum">
              <a:rPr lang="en-US" smtClean="0"/>
              <a:t>77</a:t>
            </a:fld>
            <a:endParaRPr lang="en-US"/>
          </a:p>
        </p:txBody>
      </p:sp>
    </p:spTree>
    <p:extLst>
      <p:ext uri="{BB962C8B-B14F-4D97-AF65-F5344CB8AC3E}">
        <p14:creationId xmlns:p14="http://schemas.microsoft.com/office/powerpoint/2010/main" val="19905033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A9E32-9CBD-071B-0390-B06B189CD5C8}"/>
              </a:ext>
            </a:extLst>
          </p:cNvPr>
          <p:cNvSpPr>
            <a:spLocks noGrp="1"/>
          </p:cNvSpPr>
          <p:nvPr>
            <p:ph type="title"/>
          </p:nvPr>
        </p:nvSpPr>
        <p:spPr/>
        <p:txBody>
          <a:bodyPr/>
          <a:lstStyle/>
          <a:p>
            <a:r>
              <a:rPr lang="en-US" dirty="0"/>
              <a:t>Examples to Consider</a:t>
            </a:r>
          </a:p>
        </p:txBody>
      </p:sp>
      <p:sp>
        <p:nvSpPr>
          <p:cNvPr id="3" name="Content Placeholder 2">
            <a:extLst>
              <a:ext uri="{FF2B5EF4-FFF2-40B4-BE49-F238E27FC236}">
                <a16:creationId xmlns:a16="http://schemas.microsoft.com/office/drawing/2014/main" id="{B1CAB0D6-2E33-D3A1-257A-839088825727}"/>
              </a:ext>
            </a:extLst>
          </p:cNvPr>
          <p:cNvSpPr>
            <a:spLocks noGrp="1"/>
          </p:cNvSpPr>
          <p:nvPr>
            <p:ph idx="1"/>
          </p:nvPr>
        </p:nvSpPr>
        <p:spPr/>
        <p:txBody>
          <a:bodyPr>
            <a:normAutofit fontScale="77500" lnSpcReduction="20000"/>
          </a:bodyPr>
          <a:lstStyle/>
          <a:p>
            <a:pPr algn="l">
              <a:buFont typeface="Arial" panose="020B0604020202020204" pitchFamily="34" charset="0"/>
              <a:buChar char="•"/>
            </a:pPr>
            <a:r>
              <a:rPr lang="en-US" b="0" i="1">
                <a:solidFill>
                  <a:srgbClr val="374151"/>
                </a:solidFill>
                <a:effectLst/>
                <a:latin typeface="Söhne"/>
              </a:rPr>
              <a:t>Security Scenario:</a:t>
            </a:r>
            <a:r>
              <a:rPr lang="en-US" b="0" i="0">
                <a:solidFill>
                  <a:srgbClr val="374151"/>
                </a:solidFill>
                <a:effectLst/>
                <a:latin typeface="Söhne"/>
              </a:rPr>
              <a:t> A user's account gets locked after three failed login attempts. How should the system respond to this security event?</a:t>
            </a:r>
          </a:p>
          <a:p>
            <a:pPr algn="l">
              <a:buFont typeface="Arial" panose="020B0604020202020204" pitchFamily="34" charset="0"/>
              <a:buChar char="•"/>
            </a:pPr>
            <a:r>
              <a:rPr lang="en-US" b="0" i="1">
                <a:solidFill>
                  <a:srgbClr val="374151"/>
                </a:solidFill>
                <a:effectLst/>
                <a:latin typeface="Söhne"/>
              </a:rPr>
              <a:t>Usability Scenario:</a:t>
            </a:r>
            <a:r>
              <a:rPr lang="en-US" b="0" i="0">
                <a:solidFill>
                  <a:srgbClr val="374151"/>
                </a:solidFill>
                <a:effectLst/>
                <a:latin typeface="Söhne"/>
              </a:rPr>
              <a:t> A new user struggles to find a specific cuisine option in the menu. How can the system improve the user interface to make this easier?</a:t>
            </a:r>
          </a:p>
          <a:p>
            <a:pPr algn="l">
              <a:buFont typeface="Arial" panose="020B0604020202020204" pitchFamily="34" charset="0"/>
              <a:buChar char="•"/>
            </a:pPr>
            <a:r>
              <a:rPr lang="en-US" b="0" i="1">
                <a:solidFill>
                  <a:srgbClr val="374151"/>
                </a:solidFill>
                <a:effectLst/>
                <a:latin typeface="Söhne"/>
              </a:rPr>
              <a:t>Reliability Scenario:</a:t>
            </a:r>
            <a:r>
              <a:rPr lang="en-US" b="0" i="0">
                <a:solidFill>
                  <a:srgbClr val="374151"/>
                </a:solidFill>
                <a:effectLst/>
                <a:latin typeface="Söhne"/>
              </a:rPr>
              <a:t> During a major sporting event, the platform experiences a surge in orders. How should the system maintain reliability and responsiveness?</a:t>
            </a:r>
          </a:p>
          <a:p>
            <a:pPr algn="l">
              <a:buFont typeface="Arial" panose="020B0604020202020204" pitchFamily="34" charset="0"/>
              <a:buChar char="•"/>
            </a:pPr>
            <a:r>
              <a:rPr lang="en-US" b="0" i="1">
                <a:solidFill>
                  <a:srgbClr val="374151"/>
                </a:solidFill>
                <a:effectLst/>
                <a:latin typeface="Söhne"/>
              </a:rPr>
              <a:t>Performance Scenario:</a:t>
            </a:r>
            <a:r>
              <a:rPr lang="en-US" b="0" i="0">
                <a:solidFill>
                  <a:srgbClr val="374151"/>
                </a:solidFill>
                <a:effectLst/>
                <a:latin typeface="Söhne"/>
              </a:rPr>
              <a:t> The system takes more than 10 seconds to load the restaurant menu on a mobile device. What performance improvements can be made?</a:t>
            </a:r>
          </a:p>
          <a:p>
            <a:pPr algn="l">
              <a:buFont typeface="Arial" panose="020B0604020202020204" pitchFamily="34" charset="0"/>
              <a:buChar char="•"/>
            </a:pPr>
            <a:r>
              <a:rPr lang="en-US" b="0" i="1">
                <a:solidFill>
                  <a:srgbClr val="374151"/>
                </a:solidFill>
                <a:effectLst/>
                <a:latin typeface="Söhne"/>
              </a:rPr>
              <a:t>Availability Scenario:</a:t>
            </a:r>
            <a:r>
              <a:rPr lang="en-US" b="0" i="0">
                <a:solidFill>
                  <a:srgbClr val="374151"/>
                </a:solidFill>
                <a:effectLst/>
                <a:latin typeface="Söhne"/>
              </a:rPr>
              <a:t> The platform needs to undergo scheduled maintenance. How can users be informed, and how can the downtime be minimized?</a:t>
            </a:r>
          </a:p>
          <a:p>
            <a:pPr algn="l">
              <a:buFont typeface="Arial" panose="020B0604020202020204" pitchFamily="34" charset="0"/>
              <a:buChar char="•"/>
            </a:pPr>
            <a:r>
              <a:rPr lang="en-US" b="0" i="1">
                <a:solidFill>
                  <a:srgbClr val="374151"/>
                </a:solidFill>
                <a:effectLst/>
                <a:latin typeface="Söhne"/>
              </a:rPr>
              <a:t>Maintainability Scenario:</a:t>
            </a:r>
            <a:r>
              <a:rPr lang="en-US" b="0" i="0">
                <a:solidFill>
                  <a:srgbClr val="374151"/>
                </a:solidFill>
                <a:effectLst/>
                <a:latin typeface="Söhne"/>
              </a:rPr>
              <a:t> A new restaurant wants to join the platform. How can the system be designed to easily onboard new restaurants?</a:t>
            </a:r>
          </a:p>
          <a:p>
            <a:pPr algn="l">
              <a:buFont typeface="Arial" panose="020B0604020202020204" pitchFamily="34" charset="0"/>
              <a:buChar char="•"/>
            </a:pPr>
            <a:r>
              <a:rPr lang="en-US" b="0" i="1">
                <a:solidFill>
                  <a:srgbClr val="374151"/>
                </a:solidFill>
                <a:effectLst/>
                <a:latin typeface="Söhne"/>
              </a:rPr>
              <a:t>Interoperability Scenario:</a:t>
            </a:r>
            <a:r>
              <a:rPr lang="en-US" b="0" i="0">
                <a:solidFill>
                  <a:srgbClr val="374151"/>
                </a:solidFill>
                <a:effectLst/>
                <a:latin typeface="Söhne"/>
              </a:rPr>
              <a:t> How can the platform ensure that it can integrate with various restaurant POS systems and external payment gateways seamlessly?</a:t>
            </a:r>
          </a:p>
          <a:p>
            <a:endParaRPr lang="en-US" dirty="0"/>
          </a:p>
        </p:txBody>
      </p:sp>
      <p:sp>
        <p:nvSpPr>
          <p:cNvPr id="4" name="Slide Number Placeholder 3">
            <a:extLst>
              <a:ext uri="{FF2B5EF4-FFF2-40B4-BE49-F238E27FC236}">
                <a16:creationId xmlns:a16="http://schemas.microsoft.com/office/drawing/2014/main" id="{C602722E-2479-6254-CA0D-0426FD88D7D7}"/>
              </a:ext>
            </a:extLst>
          </p:cNvPr>
          <p:cNvSpPr>
            <a:spLocks noGrp="1"/>
          </p:cNvSpPr>
          <p:nvPr>
            <p:ph type="sldNum" sz="quarter" idx="12"/>
          </p:nvPr>
        </p:nvSpPr>
        <p:spPr/>
        <p:txBody>
          <a:bodyPr/>
          <a:lstStyle/>
          <a:p>
            <a:fld id="{7DF6DEEC-D04A-4FF0-9A08-7D39859C24F4}" type="slidenum">
              <a:rPr lang="en-US" smtClean="0"/>
              <a:t>78</a:t>
            </a:fld>
            <a:endParaRPr lang="en-US"/>
          </a:p>
        </p:txBody>
      </p:sp>
    </p:spTree>
    <p:extLst>
      <p:ext uri="{BB962C8B-B14F-4D97-AF65-F5344CB8AC3E}">
        <p14:creationId xmlns:p14="http://schemas.microsoft.com/office/powerpoint/2010/main" val="36215970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fontScale="92500" lnSpcReduction="20000"/>
          </a:bodyPr>
          <a:lstStyle/>
          <a:p>
            <a:pPr marL="0" indent="0">
              <a:buNone/>
            </a:pPr>
            <a:r>
              <a:rPr lang="en-US" dirty="0"/>
              <a:t>       </a:t>
            </a:r>
            <a:r>
              <a:rPr lang="en-US" sz="3100" b="1" dirty="0"/>
              <a:t>Read: (</a:t>
            </a:r>
            <a:r>
              <a:rPr lang="en-US" sz="3100" b="1" i="1" dirty="0"/>
              <a:t>These readings are optional</a:t>
            </a:r>
            <a:r>
              <a:rPr lang="en-US" sz="3100" b="1" dirty="0"/>
              <a:t>)</a:t>
            </a:r>
          </a:p>
          <a:p>
            <a:pPr lvl="2"/>
            <a:endParaRPr lang="en-US" sz="3100" dirty="0"/>
          </a:p>
          <a:p>
            <a:pPr lvl="2"/>
            <a:r>
              <a:rPr lang="en-US" sz="3100" dirty="0"/>
              <a:t>“</a:t>
            </a:r>
            <a:r>
              <a:rPr lang="en-US" sz="3100" b="1" i="1" dirty="0"/>
              <a:t>On-Non Functional Requirements</a:t>
            </a:r>
            <a:r>
              <a:rPr lang="en-US" sz="3100" dirty="0"/>
              <a:t>” -  optional reading available in Supplemental Readings</a:t>
            </a:r>
          </a:p>
          <a:p>
            <a:pPr lvl="2"/>
            <a:r>
              <a:rPr lang="en-US" sz="3100" dirty="0"/>
              <a:t>“</a:t>
            </a:r>
            <a:r>
              <a:rPr lang="en-US" sz="3100" b="1" i="1" dirty="0"/>
              <a:t>Are Non-functional” Requirements really Non-functional?</a:t>
            </a:r>
            <a:r>
              <a:rPr lang="en-US" sz="3100" dirty="0"/>
              <a:t>” optional reading available in Supplemental Readings</a:t>
            </a:r>
          </a:p>
          <a:p>
            <a:pPr marL="547688" lvl="2" indent="0">
              <a:buNone/>
            </a:pPr>
            <a:endParaRPr lang="en-US" sz="3100" dirty="0"/>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r>
              <a:rPr lang="en-US" sz="3100" dirty="0"/>
              <a:t>Deliverable 4 is due by next Friday.</a:t>
            </a:r>
          </a:p>
          <a:p>
            <a:endParaRPr lang="en-US" dirty="0"/>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79</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71373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descr="Yellow question mark">
            <a:extLst>
              <a:ext uri="{FF2B5EF4-FFF2-40B4-BE49-F238E27FC236}">
                <a16:creationId xmlns:a16="http://schemas.microsoft.com/office/drawing/2014/main" id="{DD3F0050-C909-9BB5-A8EB-63BC87AB4884}"/>
              </a:ext>
            </a:extLst>
          </p:cNvPr>
          <p:cNvPicPr>
            <a:picLocks noChangeAspect="1"/>
          </p:cNvPicPr>
          <p:nvPr/>
        </p:nvPicPr>
        <p:blipFill rotWithShape="1">
          <a:blip r:embed="rId2"/>
          <a:srcRect l="18221" r="5939"/>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6B1D7E0-B191-506C-BEAC-9EE92AE5209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a:t>Questions?</a:t>
            </a:r>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E0E677CA-C6DB-8891-47FC-55067CDA17FF}"/>
              </a:ext>
            </a:extLst>
          </p:cNvPr>
          <p:cNvSpPr>
            <a:spLocks noGrp="1"/>
          </p:cNvSpPr>
          <p:nvPr>
            <p:ph type="sldNum" sz="quarter" idx="12"/>
          </p:nvPr>
        </p:nvSpPr>
        <p:spPr/>
        <p:txBody>
          <a:bodyPr/>
          <a:lstStyle/>
          <a:p>
            <a:fld id="{7DF6DEEC-D04A-4FF0-9A08-7D39859C24F4}" type="slidenum">
              <a:rPr lang="en-US" smtClean="0"/>
              <a:t>80</a:t>
            </a:fld>
            <a:endParaRPr lang="en-US"/>
          </a:p>
        </p:txBody>
      </p:sp>
    </p:spTree>
    <p:extLst>
      <p:ext uri="{BB962C8B-B14F-4D97-AF65-F5344CB8AC3E}">
        <p14:creationId xmlns:p14="http://schemas.microsoft.com/office/powerpoint/2010/main" val="49305509"/>
      </p:ext>
    </p:extLst>
  </p:cSld>
  <p:clrMapOvr>
    <a:overrideClrMapping bg1="dk1" tx1="lt1" bg2="dk2" tx2="lt2" accent1="accent1" accent2="accent2" accent3="accent3" accent4="accent4" accent5="accent5" accent6="accent6" hlink="hlink" folHlink="folHlink"/>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{D25AD5BC-38A8-EF4E-B3DC-F920D3A82ACC}tf10001070</Template>
  <TotalTime>10738</TotalTime>
  <Words>6042</Words>
  <Application>Microsoft Macintosh PowerPoint</Application>
  <PresentationFormat>Widescreen</PresentationFormat>
  <Paragraphs>721</Paragraphs>
  <Slides>80</Slides>
  <Notes>13</Notes>
  <HiddenSlides>0</HiddenSlides>
  <MMClips>1</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80</vt:i4>
      </vt:variant>
    </vt:vector>
  </HeadingPairs>
  <TitlesOfParts>
    <vt:vector size="92" baseType="lpstr">
      <vt:lpstr>Arial</vt:lpstr>
      <vt:lpstr>Calibri</vt:lpstr>
      <vt:lpstr>Calibri Light</vt:lpstr>
      <vt:lpstr>Lato</vt:lpstr>
      <vt:lpstr>Rockwell Extra Bold</vt:lpstr>
      <vt:lpstr>Söhne</vt:lpstr>
      <vt:lpstr>Symbol</vt:lpstr>
      <vt:lpstr>Times</vt:lpstr>
      <vt:lpstr>Times New Roman</vt:lpstr>
      <vt:lpstr>Wingdings</vt:lpstr>
      <vt:lpstr>Wood Type</vt:lpstr>
      <vt:lpstr>Office Theme</vt:lpstr>
      <vt:lpstr>Software Engineering </vt:lpstr>
      <vt:lpstr>PowerPoint Presentation</vt:lpstr>
      <vt:lpstr>Lesson  OUTLINE</vt:lpstr>
      <vt:lpstr>Nonfunctional requirements</vt:lpstr>
      <vt:lpstr>What are NFRs?</vt:lpstr>
      <vt:lpstr>What are NFRs?</vt:lpstr>
      <vt:lpstr>What are NFRs?</vt:lpstr>
      <vt:lpstr>What are NFRs?</vt:lpstr>
      <vt:lpstr>Different Types of NFRs</vt:lpstr>
      <vt:lpstr>How to specify Quality Attributes?</vt:lpstr>
      <vt:lpstr>How to specify Quality Attributes?</vt:lpstr>
      <vt:lpstr>Quality Requirement Taxonomy – 2009 (My Proposal)</vt:lpstr>
      <vt:lpstr>How to specify Quality Attributes?</vt:lpstr>
      <vt:lpstr>Specifying Quality Attribute Scenario Requirements</vt:lpstr>
      <vt:lpstr>Specifying Quality Attribute Scenario Requirements</vt:lpstr>
      <vt:lpstr>Specifying Quality Attribute Scenario Requirements</vt:lpstr>
      <vt:lpstr>Popular Quality Attributes</vt:lpstr>
      <vt:lpstr>Security</vt:lpstr>
      <vt:lpstr>Security … What is it?</vt:lpstr>
      <vt:lpstr>Let’s Look at some Examples</vt:lpstr>
      <vt:lpstr>Fort Knox</vt:lpstr>
      <vt:lpstr>Security </vt:lpstr>
      <vt:lpstr>What About the CIA?</vt:lpstr>
      <vt:lpstr>Security</vt:lpstr>
      <vt:lpstr>Power Distribution</vt:lpstr>
      <vt:lpstr>In the News</vt:lpstr>
      <vt:lpstr>More Detail on Target’s System Breach</vt:lpstr>
      <vt:lpstr>Understanding the Need</vt:lpstr>
      <vt:lpstr>Business Context</vt:lpstr>
      <vt:lpstr>What is Security?</vt:lpstr>
      <vt:lpstr>Security – A Set of Concerns</vt:lpstr>
      <vt:lpstr>Confidentiality as a part of security</vt:lpstr>
      <vt:lpstr>Integrity as a part of security</vt:lpstr>
      <vt:lpstr>Non Repudiation as a part of security</vt:lpstr>
      <vt:lpstr>Availability as a part of security</vt:lpstr>
      <vt:lpstr>How to specify security in terms of Quality Scenarios</vt:lpstr>
      <vt:lpstr>Security General Scenario</vt:lpstr>
      <vt:lpstr>Sample Concrete Security Scenario</vt:lpstr>
      <vt:lpstr>Security and SSL</vt:lpstr>
      <vt:lpstr>Security and SSL</vt:lpstr>
      <vt:lpstr>Security and SSL</vt:lpstr>
      <vt:lpstr>Security and SSL</vt:lpstr>
      <vt:lpstr>Availability</vt:lpstr>
      <vt:lpstr>What is Availability?</vt:lpstr>
      <vt:lpstr>Availability General Scenario</vt:lpstr>
      <vt:lpstr>Sample Concrete Availability Scenario</vt:lpstr>
      <vt:lpstr>MTTF and MTTR</vt:lpstr>
      <vt:lpstr>Typical HW failure rates</vt:lpstr>
      <vt:lpstr>Modifiability</vt:lpstr>
      <vt:lpstr>What is Modifiability?</vt:lpstr>
      <vt:lpstr>Modifiability General Scenario</vt:lpstr>
      <vt:lpstr>Sample Concrete Modifiability Scenario</vt:lpstr>
      <vt:lpstr>Interoperability</vt:lpstr>
      <vt:lpstr>What is Interoperability?</vt:lpstr>
      <vt:lpstr>Interoperability General Scenario</vt:lpstr>
      <vt:lpstr>Sample Concrete Interoperability Scenario</vt:lpstr>
      <vt:lpstr>Performance</vt:lpstr>
      <vt:lpstr>What is Performance?</vt:lpstr>
      <vt:lpstr>Performance General Scenario</vt:lpstr>
      <vt:lpstr>Sample Concrete Performance Scenario</vt:lpstr>
      <vt:lpstr>Testability</vt:lpstr>
      <vt:lpstr>What is Testability?</vt:lpstr>
      <vt:lpstr>What is Testability?</vt:lpstr>
      <vt:lpstr>Testability General Scenario</vt:lpstr>
      <vt:lpstr>Sample Concrete Testability Scenario</vt:lpstr>
      <vt:lpstr>Usability</vt:lpstr>
      <vt:lpstr>What is Usability?</vt:lpstr>
      <vt:lpstr>What is Usability?</vt:lpstr>
      <vt:lpstr>Usability General Scenario</vt:lpstr>
      <vt:lpstr>Sample Concrete Usability Scenario</vt:lpstr>
      <vt:lpstr>Quality Attributes in Practice</vt:lpstr>
      <vt:lpstr>Achieving Quality Attributes Through Tactics</vt:lpstr>
      <vt:lpstr>Common Tactics  </vt:lpstr>
      <vt:lpstr>Common Tactics  </vt:lpstr>
      <vt:lpstr>In class Exercise</vt:lpstr>
      <vt:lpstr>Key Features of the system</vt:lpstr>
      <vt:lpstr>PowerPoint Presentation</vt:lpstr>
      <vt:lpstr>Examples to Consider</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Computer Science CS-UH 1001, Spring 2018</dc:title>
  <dc:creator>Mai Oudah</dc:creator>
  <cp:lastModifiedBy>Kontothanassis, Leonidas</cp:lastModifiedBy>
  <cp:revision>412</cp:revision>
  <cp:lastPrinted>2020-01-29T21:56:06Z</cp:lastPrinted>
  <dcterms:created xsi:type="dcterms:W3CDTF">2019-01-29T04:54:51Z</dcterms:created>
  <dcterms:modified xsi:type="dcterms:W3CDTF">2025-11-12T22:22:21Z</dcterms:modified>
</cp:coreProperties>
</file>