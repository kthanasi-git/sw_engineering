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3" r:id="rId3"/>
  </p:sldMasterIdLst>
  <p:notesMasterIdLst>
    <p:notesMasterId r:id="rId48"/>
  </p:notesMasterIdLst>
  <p:sldIdLst>
    <p:sldId id="339" r:id="rId4"/>
    <p:sldId id="770" r:id="rId5"/>
    <p:sldId id="531" r:id="rId6"/>
    <p:sldId id="532" r:id="rId7"/>
    <p:sldId id="533" r:id="rId8"/>
    <p:sldId id="474" r:id="rId9"/>
    <p:sldId id="476" r:id="rId10"/>
    <p:sldId id="534" r:id="rId11"/>
    <p:sldId id="535" r:id="rId12"/>
    <p:sldId id="488" r:id="rId13"/>
    <p:sldId id="491" r:id="rId14"/>
    <p:sldId id="492" r:id="rId15"/>
    <p:sldId id="771" r:id="rId16"/>
    <p:sldId id="536" r:id="rId17"/>
    <p:sldId id="493" r:id="rId18"/>
    <p:sldId id="494" r:id="rId19"/>
    <p:sldId id="495" r:id="rId20"/>
    <p:sldId id="537" r:id="rId21"/>
    <p:sldId id="538" r:id="rId22"/>
    <p:sldId id="540" r:id="rId23"/>
    <p:sldId id="498" r:id="rId24"/>
    <p:sldId id="772" r:id="rId25"/>
    <p:sldId id="505" r:id="rId26"/>
    <p:sldId id="541" r:id="rId27"/>
    <p:sldId id="509" r:id="rId28"/>
    <p:sldId id="508" r:id="rId29"/>
    <p:sldId id="512" r:id="rId30"/>
    <p:sldId id="542" r:id="rId31"/>
    <p:sldId id="513" r:id="rId32"/>
    <p:sldId id="514" r:id="rId33"/>
    <p:sldId id="515" r:id="rId34"/>
    <p:sldId id="517" r:id="rId35"/>
    <p:sldId id="519" r:id="rId36"/>
    <p:sldId id="520" r:id="rId37"/>
    <p:sldId id="521" r:id="rId38"/>
    <p:sldId id="522" r:id="rId39"/>
    <p:sldId id="423" r:id="rId40"/>
    <p:sldId id="527" r:id="rId41"/>
    <p:sldId id="424" r:id="rId42"/>
    <p:sldId id="528" r:id="rId43"/>
    <p:sldId id="776" r:id="rId44"/>
    <p:sldId id="530" r:id="rId45"/>
    <p:sldId id="775" r:id="rId46"/>
    <p:sldId id="472"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81" autoAdjust="0"/>
    <p:restoredTop sz="66899" autoAdjust="0"/>
  </p:normalViewPr>
  <p:slideViewPr>
    <p:cSldViewPr snapToGrid="0">
      <p:cViewPr varScale="1">
        <p:scale>
          <a:sx n="99" d="100"/>
          <a:sy n="99" d="100"/>
        </p:scale>
        <p:origin x="244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presProps" Target="pres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notesMaster" Target="notesMasters/notesMaster1.xml"/><Relationship Id="rId8" Type="http://schemas.openxmlformats.org/officeDocument/2006/relationships/slide" Target="slides/slide5.xml"/><Relationship Id="rId51"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8/21/25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1</a:t>
            </a:fld>
            <a:endParaRPr lang="en-US"/>
          </a:p>
        </p:txBody>
      </p:sp>
    </p:spTree>
    <p:extLst>
      <p:ext uri="{BB962C8B-B14F-4D97-AF65-F5344CB8AC3E}">
        <p14:creationId xmlns:p14="http://schemas.microsoft.com/office/powerpoint/2010/main" val="27887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3</a:t>
            </a:fld>
            <a:endParaRPr lang="en-US"/>
          </a:p>
        </p:txBody>
      </p:sp>
    </p:spTree>
    <p:extLst>
      <p:ext uri="{BB962C8B-B14F-4D97-AF65-F5344CB8AC3E}">
        <p14:creationId xmlns:p14="http://schemas.microsoft.com/office/powerpoint/2010/main" val="15990770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6</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51E37ED-D3DF-48D0-A065-F70343755093}" type="slidenum">
              <a:rPr lang="en-US"/>
              <a:pPr/>
              <a:t>7</a:t>
            </a:fld>
            <a:endParaRPr lang="en-US"/>
          </a:p>
        </p:txBody>
      </p:sp>
      <p:sp>
        <p:nvSpPr>
          <p:cNvPr id="782338" name="Rectangle 2"/>
          <p:cNvSpPr>
            <a:spLocks noGrp="1" noRot="1" noChangeAspect="1" noChangeArrowheads="1" noTextEdit="1"/>
          </p:cNvSpPr>
          <p:nvPr>
            <p:ph type="sldImg"/>
          </p:nvPr>
        </p:nvSpPr>
        <p:spPr>
          <a:xfrm>
            <a:off x="404813" y="695325"/>
            <a:ext cx="6178550" cy="3476625"/>
          </a:xfrm>
          <a:ln/>
        </p:spPr>
      </p:sp>
      <p:sp>
        <p:nvSpPr>
          <p:cNvPr id="782339" name="Rectangle 3"/>
          <p:cNvSpPr>
            <a:spLocks noGrp="1" noChangeArrowheads="1"/>
          </p:cNvSpPr>
          <p:nvPr>
            <p:ph type="body" idx="1"/>
          </p:nvPr>
        </p:nvSpPr>
        <p:spPr>
          <a:xfrm>
            <a:off x="931863" y="4403725"/>
            <a:ext cx="5121275" cy="4171950"/>
          </a:xfrm>
        </p:spPr>
        <p:txBody>
          <a:bodyPr/>
          <a:lstStyle/>
          <a:p>
            <a:pPr defTabSz="914400"/>
            <a:r>
              <a:rPr lang="en-US" altLang="en-US" dirty="0"/>
              <a:t>References to one another</a:t>
            </a:r>
            <a:r>
              <a:rPr lang="en-US" altLang="en-US" baseline="0" dirty="0"/>
              <a:t> help to identify associations</a:t>
            </a:r>
          </a:p>
          <a:p>
            <a:pPr defTabSz="914400"/>
            <a:endParaRPr lang="en-US" altLang="en-US" baseline="0" dirty="0"/>
          </a:p>
          <a:p>
            <a:pPr defTabSz="914400"/>
            <a:r>
              <a:rPr lang="en-US" altLang="en-US" baseline="0" dirty="0"/>
              <a:t>Concept category:  list of candidate conceptual classes</a:t>
            </a:r>
            <a:endParaRPr lang="en-US"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DBB766D7-59E7-4153-BA09-23F71F2417FE}" type="slidenum">
              <a:rPr lang="en-US"/>
              <a:pPr/>
              <a:t>10</a:t>
            </a:fld>
            <a:endParaRPr lang="en-US"/>
          </a:p>
        </p:txBody>
      </p:sp>
      <p:sp>
        <p:nvSpPr>
          <p:cNvPr id="788482" name="Rectangle 2"/>
          <p:cNvSpPr>
            <a:spLocks noGrp="1" noRot="1" noChangeAspect="1" noChangeArrowheads="1" noTextEdit="1"/>
          </p:cNvSpPr>
          <p:nvPr>
            <p:ph type="sldImg"/>
          </p:nvPr>
        </p:nvSpPr>
        <p:spPr>
          <a:xfrm>
            <a:off x="404813" y="695325"/>
            <a:ext cx="6178550" cy="3476625"/>
          </a:xfrm>
          <a:ln/>
        </p:spPr>
      </p:sp>
      <p:sp>
        <p:nvSpPr>
          <p:cNvPr id="788483"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4A6FFF0-422D-4CEF-80FE-19026F1893C8}" type="slidenum">
              <a:rPr lang="en-US"/>
              <a:pPr/>
              <a:t>11</a:t>
            </a:fld>
            <a:endParaRPr lang="en-US"/>
          </a:p>
        </p:txBody>
      </p:sp>
      <p:sp>
        <p:nvSpPr>
          <p:cNvPr id="794626" name="Rectangle 2"/>
          <p:cNvSpPr>
            <a:spLocks noGrp="1" noRot="1" noChangeAspect="1" noChangeArrowheads="1" noTextEdit="1"/>
          </p:cNvSpPr>
          <p:nvPr>
            <p:ph type="sldImg"/>
          </p:nvPr>
        </p:nvSpPr>
        <p:spPr>
          <a:xfrm>
            <a:off x="404813" y="695325"/>
            <a:ext cx="6178550" cy="3476625"/>
          </a:xfrm>
          <a:ln/>
        </p:spPr>
      </p:sp>
      <p:sp>
        <p:nvSpPr>
          <p:cNvPr id="794627" name="Rectangle 3"/>
          <p:cNvSpPr>
            <a:spLocks noGrp="1" noChangeArrowheads="1"/>
          </p:cNvSpPr>
          <p:nvPr>
            <p:ph type="body" idx="1"/>
          </p:nvPr>
        </p:nvSpPr>
        <p:spPr>
          <a:xfrm>
            <a:off x="931863" y="4403725"/>
            <a:ext cx="5121275" cy="4171950"/>
          </a:xfrm>
        </p:spPr>
        <p:txBody>
          <a:bodyPr/>
          <a:lstStyle/>
          <a:p>
            <a:pPr defTabSz="914400"/>
            <a:endParaRPr lang="en-US" altLang="en-US" dirty="0"/>
          </a:p>
        </p:txBody>
      </p:sp>
    </p:spTree>
    <p:extLst>
      <p:ext uri="{BB962C8B-B14F-4D97-AF65-F5344CB8AC3E}">
        <p14:creationId xmlns:p14="http://schemas.microsoft.com/office/powerpoint/2010/main" val="11512569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5239236-8648-4B3B-A92F-3045E7CAAD0C}" type="slidenum">
              <a:rPr lang="en-US"/>
              <a:pPr/>
              <a:t>12</a:t>
            </a:fld>
            <a:endParaRPr lang="en-US"/>
          </a:p>
        </p:txBody>
      </p:sp>
      <p:sp>
        <p:nvSpPr>
          <p:cNvPr id="796674" name="Rectangle 2"/>
          <p:cNvSpPr>
            <a:spLocks noGrp="1" noRot="1" noChangeAspect="1" noChangeArrowheads="1" noTextEdit="1"/>
          </p:cNvSpPr>
          <p:nvPr>
            <p:ph type="sldImg"/>
          </p:nvPr>
        </p:nvSpPr>
        <p:spPr>
          <a:xfrm>
            <a:off x="404813" y="695325"/>
            <a:ext cx="6178550" cy="3476625"/>
          </a:xfrm>
          <a:ln/>
        </p:spPr>
      </p:sp>
      <p:sp>
        <p:nvSpPr>
          <p:cNvPr id="796675" name="Rectangle 3"/>
          <p:cNvSpPr>
            <a:spLocks noGrp="1" noChangeArrowheads="1"/>
          </p:cNvSpPr>
          <p:nvPr>
            <p:ph type="body" idx="1"/>
          </p:nvPr>
        </p:nvSpPr>
        <p:spPr>
          <a:xfrm>
            <a:off x="931863" y="4403725"/>
            <a:ext cx="5121275" cy="4171950"/>
          </a:xfrm>
        </p:spPr>
        <p:txBody>
          <a:bodyPr/>
          <a:lstStyle/>
          <a:p>
            <a:pPr defTabSz="914400"/>
            <a:r>
              <a:rPr lang="en-US" altLang="en-US" dirty="0"/>
              <a:t>Multiplicity – defines how many instances of class A can be associated with class B</a:t>
            </a:r>
          </a:p>
          <a:p>
            <a:pPr defTabSz="914400"/>
            <a:endParaRPr lang="en-US" altLang="en-US" dirty="0"/>
          </a:p>
          <a:p>
            <a:pPr defTabSz="914400"/>
            <a:r>
              <a:rPr lang="en-US" altLang="en-US" dirty="0"/>
              <a:t>Single</a:t>
            </a:r>
            <a:r>
              <a:rPr lang="en-US" altLang="en-US" baseline="0" dirty="0"/>
              <a:t> instance of store can be associated with “many” (zero or more, indicated by the *) Sale instance</a:t>
            </a:r>
            <a:endParaRPr lang="en-US" altLang="en-US" dirty="0"/>
          </a:p>
        </p:txBody>
      </p:sp>
    </p:spTree>
    <p:extLst>
      <p:ext uri="{BB962C8B-B14F-4D97-AF65-F5344CB8AC3E}">
        <p14:creationId xmlns:p14="http://schemas.microsoft.com/office/powerpoint/2010/main" val="13315680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76658-F62E-80DC-0CB5-A39402D202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E37046-1B72-6517-3632-0A3265E72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0D49B-A3F0-B38A-9A7A-7AA711629A86}"/>
              </a:ext>
            </a:extLst>
          </p:cNvPr>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a:extLst>
              <a:ext uri="{FF2B5EF4-FFF2-40B4-BE49-F238E27FC236}">
                <a16:creationId xmlns:a16="http://schemas.microsoft.com/office/drawing/2014/main" id="{A79BB40F-A935-1832-9B5A-0CFB537134A6}"/>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CEA8A12-2536-457C-82DB-7DDE23708D2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1656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3F52CDB5-1F2A-497D-812C-71AEEEAEAD88}" type="slidenum">
              <a:rPr lang="en-US"/>
              <a:pPr/>
              <a:t>16</a:t>
            </a:fld>
            <a:endParaRPr lang="en-US"/>
          </a:p>
        </p:txBody>
      </p:sp>
      <p:sp>
        <p:nvSpPr>
          <p:cNvPr id="798722" name="Rectangle 2"/>
          <p:cNvSpPr>
            <a:spLocks noGrp="1" noRot="1" noChangeAspect="1" noChangeArrowheads="1" noTextEdit="1"/>
          </p:cNvSpPr>
          <p:nvPr>
            <p:ph type="sldImg"/>
          </p:nvPr>
        </p:nvSpPr>
        <p:spPr>
          <a:xfrm>
            <a:off x="404813" y="695325"/>
            <a:ext cx="6178550" cy="3476625"/>
          </a:xfrm>
          <a:ln/>
        </p:spPr>
      </p:sp>
      <p:sp>
        <p:nvSpPr>
          <p:cNvPr id="798723" name="Rectangle 3"/>
          <p:cNvSpPr>
            <a:spLocks noGrp="1" noChangeArrowheads="1"/>
          </p:cNvSpPr>
          <p:nvPr>
            <p:ph type="body" idx="1"/>
          </p:nvPr>
        </p:nvSpPr>
        <p:spPr>
          <a:xfrm>
            <a:off x="931863" y="4403725"/>
            <a:ext cx="5121275" cy="4171950"/>
          </a:xfrm>
        </p:spPr>
        <p:txBody>
          <a:bodyPr/>
          <a:lstStyle/>
          <a:p>
            <a:pPr defTabSz="914400"/>
            <a:r>
              <a:rPr lang="en-US" altLang="en-US" dirty="0"/>
              <a:t>Property described on next slide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Yes it is meaningful to distinguish between two</a:t>
            </a:r>
            <a:r>
              <a:rPr lang="en-US" baseline="0" dirty="0"/>
              <a:t> separate person instances whose names are both John Doe</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21</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ED448-25D3-23AC-303B-BB849734CD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5B97D-EE40-A157-D006-A4C7438DAD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454CE-1A7E-7D9B-1A47-F17F478A99B9}"/>
              </a:ext>
            </a:extLst>
          </p:cNvPr>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a:extLst>
              <a:ext uri="{FF2B5EF4-FFF2-40B4-BE49-F238E27FC236}">
                <a16:creationId xmlns:a16="http://schemas.microsoft.com/office/drawing/2014/main" id="{FB80CF37-B85C-1AFB-FC3D-7496CDE2671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CEA8A12-2536-457C-82DB-7DDE23708D2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242046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173C6461-0E37-40BA-A8E8-CA5FAF9F6FE2}" type="slidenum">
              <a:rPr lang="en-US"/>
              <a:pPr/>
              <a:t>25</a:t>
            </a:fld>
            <a:endParaRPr lang="en-US"/>
          </a:p>
        </p:txBody>
      </p:sp>
      <p:sp>
        <p:nvSpPr>
          <p:cNvPr id="802818" name="Rectangle 2"/>
          <p:cNvSpPr>
            <a:spLocks noGrp="1" noRot="1" noChangeAspect="1" noChangeArrowheads="1" noTextEdit="1"/>
          </p:cNvSpPr>
          <p:nvPr>
            <p:ph type="sldImg"/>
          </p:nvPr>
        </p:nvSpPr>
        <p:spPr>
          <a:xfrm>
            <a:off x="404813" y="695325"/>
            <a:ext cx="6178550" cy="3476625"/>
          </a:xfrm>
          <a:ln/>
        </p:spPr>
      </p:sp>
      <p:sp>
        <p:nvSpPr>
          <p:cNvPr id="802819" name="Rectangle 3"/>
          <p:cNvSpPr>
            <a:spLocks noGrp="1" noChangeArrowheads="1"/>
          </p:cNvSpPr>
          <p:nvPr>
            <p:ph type="body" idx="1"/>
          </p:nvPr>
        </p:nvSpPr>
        <p:spPr>
          <a:xfrm>
            <a:off x="931863" y="4403725"/>
            <a:ext cx="5121275" cy="4171950"/>
          </a:xfrm>
        </p:spPr>
        <p:txBody>
          <a:bodyPr/>
          <a:lstStyle/>
          <a:p>
            <a:pPr defTabSz="914400"/>
            <a:r>
              <a:rPr lang="en-US" altLang="en-US" dirty="0"/>
              <a:t>The</a:t>
            </a:r>
            <a:r>
              <a:rPr lang="en-US" altLang="en-US" baseline="0" dirty="0"/>
              <a:t> accessories of associations</a:t>
            </a:r>
            <a:endParaRPr lang="en-US"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FB6CA01-7F24-4038-B129-E35BA8845748}" type="slidenum">
              <a:rPr lang="en-US"/>
              <a:pPr/>
              <a:t>29</a:t>
            </a:fld>
            <a:endParaRPr lang="en-US"/>
          </a:p>
        </p:txBody>
      </p:sp>
      <p:sp>
        <p:nvSpPr>
          <p:cNvPr id="806914" name="Rectangle 2"/>
          <p:cNvSpPr>
            <a:spLocks noGrp="1" noRot="1" noChangeAspect="1" noChangeArrowheads="1" noTextEdit="1"/>
          </p:cNvSpPr>
          <p:nvPr>
            <p:ph type="sldImg"/>
          </p:nvPr>
        </p:nvSpPr>
        <p:spPr>
          <a:xfrm>
            <a:off x="404813" y="695325"/>
            <a:ext cx="6178550" cy="3476625"/>
          </a:xfrm>
          <a:ln/>
        </p:spPr>
      </p:sp>
      <p:sp>
        <p:nvSpPr>
          <p:cNvPr id="806915" name="Rectangle 3"/>
          <p:cNvSpPr>
            <a:spLocks noGrp="1" noChangeArrowheads="1"/>
          </p:cNvSpPr>
          <p:nvPr>
            <p:ph type="body" idx="1"/>
          </p:nvPr>
        </p:nvSpPr>
        <p:spPr>
          <a:xfrm>
            <a:off x="931863" y="4403725"/>
            <a:ext cx="5121275" cy="4171950"/>
          </a:xfrm>
        </p:spPr>
        <p:txBody>
          <a:bodyPr/>
          <a:lstStyle/>
          <a:p>
            <a:pPr defTabSz="914400"/>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4DB96A64-87E8-43AA-B46D-5A61BAF0761A}" type="slidenum">
              <a:rPr lang="en-US"/>
              <a:pPr/>
              <a:t>30</a:t>
            </a:fld>
            <a:endParaRPr lang="en-US"/>
          </a:p>
        </p:txBody>
      </p:sp>
      <p:sp>
        <p:nvSpPr>
          <p:cNvPr id="808962" name="Rectangle 2"/>
          <p:cNvSpPr>
            <a:spLocks noGrp="1" noRot="1" noChangeAspect="1" noChangeArrowheads="1" noTextEdit="1"/>
          </p:cNvSpPr>
          <p:nvPr>
            <p:ph type="sldImg"/>
          </p:nvPr>
        </p:nvSpPr>
        <p:spPr>
          <a:xfrm>
            <a:off x="404813" y="695325"/>
            <a:ext cx="6178550" cy="3476625"/>
          </a:xfrm>
          <a:ln/>
        </p:spPr>
      </p:sp>
      <p:sp>
        <p:nvSpPr>
          <p:cNvPr id="808963"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 is shown on slide</a:t>
            </a:r>
            <a:r>
              <a:rPr lang="en-US" baseline="0" dirty="0"/>
              <a:t> 43</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31</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966AD0A2-719A-4EA3-B7E8-F413E31CFFFA}" type="slidenum">
              <a:rPr lang="en-US"/>
              <a:pPr/>
              <a:t>33</a:t>
            </a:fld>
            <a:endParaRPr lang="en-US"/>
          </a:p>
        </p:txBody>
      </p:sp>
      <p:sp>
        <p:nvSpPr>
          <p:cNvPr id="811010" name="Rectangle 2"/>
          <p:cNvSpPr>
            <a:spLocks noGrp="1" noRot="1" noChangeAspect="1" noChangeArrowheads="1" noTextEdit="1"/>
          </p:cNvSpPr>
          <p:nvPr>
            <p:ph type="sldImg"/>
          </p:nvPr>
        </p:nvSpPr>
        <p:spPr>
          <a:xfrm>
            <a:off x="404813" y="695325"/>
            <a:ext cx="6178550" cy="3476625"/>
          </a:xfrm>
          <a:ln/>
        </p:spPr>
      </p:sp>
      <p:sp>
        <p:nvSpPr>
          <p:cNvPr id="811011"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 shown</a:t>
            </a:r>
            <a:r>
              <a:rPr lang="en-US" baseline="0" dirty="0"/>
              <a:t> in </a:t>
            </a:r>
            <a:r>
              <a:rPr lang="en-US" dirty="0"/>
              <a:t>Diagram next slide</a:t>
            </a:r>
          </a:p>
        </p:txBody>
      </p:sp>
      <p:sp>
        <p:nvSpPr>
          <p:cNvPr id="4" name="Slide Number Placeholder 3"/>
          <p:cNvSpPr>
            <a:spLocks noGrp="1"/>
          </p:cNvSpPr>
          <p:nvPr>
            <p:ph type="sldNum" sz="quarter" idx="10"/>
          </p:nvPr>
        </p:nvSpPr>
        <p:spPr/>
        <p:txBody>
          <a:bodyPr/>
          <a:lstStyle/>
          <a:p>
            <a:fld id="{DCEA8A12-2536-457C-82DB-7DDE23708D2E}" type="slidenum">
              <a:rPr lang="en-US" smtClean="0"/>
              <a:pPr/>
              <a:t>34</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Diagram</a:t>
            </a:r>
            <a:r>
              <a:rPr lang="en-US" baseline="0" dirty="0"/>
              <a:t> on right is better.</a:t>
            </a:r>
          </a:p>
          <a:p>
            <a:endParaRPr lang="en-US" dirty="0"/>
          </a:p>
          <a:p>
            <a:r>
              <a:rPr lang="en-US" dirty="0"/>
              <a:t>Payment</a:t>
            </a:r>
            <a:r>
              <a:rPr lang="en-US" baseline="0" dirty="0"/>
              <a:t> can be authorized or unauthorized – however, payment doesn’t stay in one of these states – it is a transition from unauthorized to authorized – rules apply on previous slide.</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35</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04C22B37-E46D-4FF6-8C56-11738360E749}" type="slidenum">
              <a:rPr lang="en-US"/>
              <a:pPr/>
              <a:t>36</a:t>
            </a:fld>
            <a:endParaRPr lang="en-US"/>
          </a:p>
        </p:txBody>
      </p:sp>
      <p:sp>
        <p:nvSpPr>
          <p:cNvPr id="813058" name="Rectangle 2"/>
          <p:cNvSpPr>
            <a:spLocks noGrp="1" noRot="1" noChangeAspect="1" noChangeArrowheads="1" noTextEdit="1"/>
          </p:cNvSpPr>
          <p:nvPr>
            <p:ph type="sldImg"/>
          </p:nvPr>
        </p:nvSpPr>
        <p:spPr>
          <a:xfrm>
            <a:off x="404813" y="695325"/>
            <a:ext cx="6178550" cy="3476625"/>
          </a:xfrm>
          <a:ln/>
        </p:spPr>
      </p:sp>
      <p:sp>
        <p:nvSpPr>
          <p:cNvPr id="813059" name="Rectangle 3"/>
          <p:cNvSpPr>
            <a:spLocks noGrp="1" noChangeArrowheads="1"/>
          </p:cNvSpPr>
          <p:nvPr>
            <p:ph type="body" idx="1"/>
          </p:nvPr>
        </p:nvSpPr>
        <p:spPr>
          <a:xfrm>
            <a:off x="931863" y="4403725"/>
            <a:ext cx="5121275" cy="4171950"/>
          </a:xfrm>
        </p:spPr>
        <p:txBody>
          <a:bodyPr/>
          <a:lstStyle/>
          <a:p>
            <a:r>
              <a:rPr lang="en-US" dirty="0"/>
              <a:t>We can see from the diagram that a Person may work for a single Company. We need to keep information about the period of time that each employee works for each Company.</a:t>
            </a:r>
          </a:p>
          <a:p>
            <a:r>
              <a:rPr lang="en-US" dirty="0"/>
              <a:t>We can do this by adding a </a:t>
            </a:r>
            <a:r>
              <a:rPr lang="en-US" i="1" dirty="0" err="1"/>
              <a:t>dateRange</a:t>
            </a:r>
            <a:r>
              <a:rPr lang="en-US" dirty="0"/>
              <a:t> attribute to the association. We could add this attribute to the Person class, but it is really a fact about a Person's relationship to a Company, which will change should the person's employer change.</a:t>
            </a:r>
          </a:p>
          <a:p>
            <a:pPr defTabSz="914400"/>
            <a:endParaRPr lang="en-US" alt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2B377EB7-2FA6-4B77-89F9-93CB75AA0DAF}" type="slidenum">
              <a:rPr lang="en-US"/>
              <a:pPr/>
              <a:t>37</a:t>
            </a:fld>
            <a:endParaRPr lang="en-US"/>
          </a:p>
        </p:txBody>
      </p:sp>
      <p:sp>
        <p:nvSpPr>
          <p:cNvPr id="815106" name="Rectangle 2"/>
          <p:cNvSpPr>
            <a:spLocks noGrp="1" noRot="1" noChangeAspect="1" noChangeArrowheads="1" noTextEdit="1"/>
          </p:cNvSpPr>
          <p:nvPr>
            <p:ph type="sldImg"/>
          </p:nvPr>
        </p:nvSpPr>
        <p:spPr>
          <a:xfrm>
            <a:off x="404813" y="695325"/>
            <a:ext cx="6178550" cy="3476625"/>
          </a:xfrm>
          <a:ln/>
        </p:spPr>
      </p:sp>
      <p:sp>
        <p:nvSpPr>
          <p:cNvPr id="815107" name="Rectangle 3"/>
          <p:cNvSpPr>
            <a:spLocks noGrp="1" noChangeArrowheads="1"/>
          </p:cNvSpPr>
          <p:nvPr>
            <p:ph type="body" idx="1"/>
          </p:nvPr>
        </p:nvSpPr>
        <p:spPr>
          <a:xfrm>
            <a:off x="931863" y="4403725"/>
            <a:ext cx="5121275" cy="4171950"/>
          </a:xfrm>
        </p:spPr>
        <p:txBody>
          <a:bodyPr/>
          <a:lstStyle/>
          <a:p>
            <a:pPr defTabSz="914400"/>
            <a:r>
              <a:rPr lang="en-US" altLang="en-US" dirty="0"/>
              <a:t>Example of first</a:t>
            </a:r>
            <a:r>
              <a:rPr lang="en-US" altLang="en-US" baseline="0" dirty="0"/>
              <a:t> one on previous slide</a:t>
            </a:r>
            <a:endParaRPr lang="en-US"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4C46DF01-E611-496D-92B9-CB28AE6D0123}" type="slidenum">
              <a:rPr lang="en-US"/>
              <a:pPr/>
              <a:t>39</a:t>
            </a:fld>
            <a:endParaRPr lang="en-US"/>
          </a:p>
        </p:txBody>
      </p:sp>
      <p:sp>
        <p:nvSpPr>
          <p:cNvPr id="817154" name="Rectangle 2"/>
          <p:cNvSpPr>
            <a:spLocks noGrp="1" noRot="1" noChangeAspect="1" noChangeArrowheads="1" noTextEdit="1"/>
          </p:cNvSpPr>
          <p:nvPr>
            <p:ph type="sldImg"/>
          </p:nvPr>
        </p:nvSpPr>
        <p:spPr>
          <a:xfrm>
            <a:off x="404813" y="695325"/>
            <a:ext cx="6178550" cy="3476625"/>
          </a:xfrm>
          <a:ln/>
        </p:spPr>
      </p:sp>
      <p:sp>
        <p:nvSpPr>
          <p:cNvPr id="817155"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7C99DAF-EA54-4817-9D63-0E53D1785A4D}" type="slidenum">
              <a:rPr lang="en-US"/>
              <a:pPr/>
              <a:t>40</a:t>
            </a:fld>
            <a:endParaRPr lang="en-US"/>
          </a:p>
        </p:txBody>
      </p:sp>
      <p:sp>
        <p:nvSpPr>
          <p:cNvPr id="866306" name="Rectangle 2"/>
          <p:cNvSpPr>
            <a:spLocks noGrp="1" noRot="1" noChangeAspect="1" noChangeArrowheads="1" noTextEdit="1"/>
          </p:cNvSpPr>
          <p:nvPr>
            <p:ph type="sldImg"/>
          </p:nvPr>
        </p:nvSpPr>
        <p:spPr>
          <a:xfrm>
            <a:off x="404813" y="695325"/>
            <a:ext cx="6178550" cy="3476625"/>
          </a:xfrm>
          <a:ln/>
        </p:spPr>
      </p:sp>
      <p:sp>
        <p:nvSpPr>
          <p:cNvPr id="866307"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42</a:t>
            </a:fld>
            <a:endParaRPr lang="en-US"/>
          </a:p>
        </p:txBody>
      </p:sp>
    </p:spTree>
    <p:extLst>
      <p:ext uri="{BB962C8B-B14F-4D97-AF65-F5344CB8AC3E}">
        <p14:creationId xmlns:p14="http://schemas.microsoft.com/office/powerpoint/2010/main" val="11862882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D88740F0-8D79-495E-B31A-3E49AC1C392C}" type="datetime1">
              <a:rPr lang="en-US" smtClean="0"/>
              <a:t>8/21/25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A8928BDA-9B8E-40EE-8EFE-B18FAD0D75EC}" type="datetime1">
              <a:rPr lang="en-US" smtClean="0"/>
              <a:t>8/21/25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690D614-6458-4B51-9DCA-B0DBF6D8176E}" type="datetime1">
              <a:rPr lang="en-US" smtClean="0"/>
              <a:t>8/21/25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144A1686-F5EA-44B0-91C2-AF3A88CD829C}" type="datetime1">
              <a:rPr lang="en-US" smtClean="0"/>
              <a:t>8/21/25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E561C9CE-5F70-4D08-8D74-912FFF2544AC}" type="datetime1">
              <a:rPr lang="en-US" smtClean="0"/>
              <a:t>8/21/25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11852172-A2FA-488F-8B1C-F529DA47DF4B}" type="datetime1">
              <a:rPr lang="en-US" smtClean="0"/>
              <a:t>8/21/25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D60BF12-A709-4858-8AEA-EDDDDF9B7248}" type="datetime1">
              <a:rPr lang="en-US" smtClean="0"/>
              <a:t>8/21/25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4259A0E3-2305-4250-853C-7606E57B25C6}" type="datetime1">
              <a:rPr lang="en-US" smtClean="0"/>
              <a:t>8/21/25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C3A6F473-73D7-4C02-8A96-0F759AA3D1BF}" type="datetime1">
              <a:rPr lang="en-US" smtClean="0"/>
              <a:t>8/21/25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4F2071A-2E6E-47D6-ACB5-F4F09F2F4C67}" type="datetime1">
              <a:rPr lang="en-US" smtClean="0"/>
              <a:t>8/21/25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5C5E3465-5FFD-4F56-952A-46D90904E51A}" type="datetime1">
              <a:rPr lang="en-US" smtClean="0"/>
              <a:t>8/21/25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549853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04326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8/21/25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867279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9666742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8/21/25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7882601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6485008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8909320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895934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8/21/25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038723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283646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5802968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459380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60966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0351696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4627167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2060760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198723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57984796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4358398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1932467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70732147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281915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195730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able Placeholder 2"/>
          <p:cNvSpPr>
            <a:spLocks noGrp="1"/>
          </p:cNvSpPr>
          <p:nvPr>
            <p:ph type="tbl" idx="1"/>
          </p:nvPr>
        </p:nvSpPr>
        <p:spPr>
          <a:xfrm>
            <a:off x="1221317" y="1828800"/>
            <a:ext cx="10462683" cy="4114800"/>
          </a:xfrm>
        </p:spPr>
        <p:txBody>
          <a:bodyPr/>
          <a:lstStyle/>
          <a:p>
            <a:endParaRPr lang="en-US"/>
          </a:p>
        </p:txBody>
      </p:sp>
      <p:sp>
        <p:nvSpPr>
          <p:cNvPr id="4" name="Slide Number Placeholder 3"/>
          <p:cNvSpPr>
            <a:spLocks noGrp="1"/>
          </p:cNvSpPr>
          <p:nvPr>
            <p:ph type="sldNum" sz="quarter" idx="10"/>
          </p:nvPr>
        </p:nvSpPr>
        <p:spPr>
          <a:xfrm>
            <a:off x="9213851" y="6400800"/>
            <a:ext cx="2470149" cy="304800"/>
          </a:xfrm>
        </p:spPr>
        <p:txBody>
          <a:bodyPr/>
          <a:lstStyle>
            <a:lvl1pPr>
              <a:defRPr/>
            </a:lvl1pPr>
          </a:lstStyle>
          <a:p>
            <a:fld id="{0E0F375B-DB87-4456-BE51-5B3B129EADAD}" type="slidenum">
              <a:rPr lang="de-DE"/>
              <a:pPr/>
              <a:t>‹#›</a:t>
            </a:fld>
            <a:endParaRPr lang="de-DE"/>
          </a:p>
        </p:txBody>
      </p:sp>
    </p:spTree>
    <p:extLst>
      <p:ext uri="{BB962C8B-B14F-4D97-AF65-F5344CB8AC3E}">
        <p14:creationId xmlns:p14="http://schemas.microsoft.com/office/powerpoint/2010/main" val="3076701729"/>
      </p:ext>
    </p:extLst>
  </p:cSld>
  <p:clrMapOvr>
    <a:masterClrMapping/>
  </p:clrMapOvr>
  <p:transition>
    <p:strips dir="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3404E8-3BFB-4863-AE30-0CED78AF3C5E}" type="datetime1">
              <a:rPr lang="en-US" smtClean="0"/>
              <a:t>8/21/25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8/21/25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6005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220144657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12.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5.xml"/><Relationship Id="rId5" Type="http://schemas.openxmlformats.org/officeDocument/2006/relationships/image" Target="../media/image16.svg"/><Relationship Id="rId4" Type="http://schemas.openxmlformats.org/officeDocument/2006/relationships/image" Target="../media/image15.png"/></Relationships>
</file>

<file path=ppt/slides/_rels/slide44.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5: Domain Modeling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fld id="{4FAB73BC-B049-4115-A692-8D63A059BFB8}" type="slidenum">
              <a:rPr lang="en-US" smtClean="0"/>
              <a:pPr/>
              <a:t>1</a:t>
            </a:fld>
            <a:endParaRPr lang="en-US" dirty="0"/>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1069848" y="2320412"/>
            <a:ext cx="10879674" cy="4366469"/>
          </a:xfrm>
        </p:spPr>
        <p:txBody>
          <a:bodyPr>
            <a:normAutofit/>
          </a:bodyPr>
          <a:lstStyle/>
          <a:p>
            <a:r>
              <a:rPr lang="en-US" dirty="0"/>
              <a:t>How to Construct Domain Model from Use Cases.</a:t>
            </a:r>
          </a:p>
          <a:p>
            <a:pPr marL="0" indent="0">
              <a:buNone/>
            </a:pPr>
            <a:endParaRPr lang="en-US" dirty="0"/>
          </a:p>
          <a:p>
            <a:pPr lvl="1"/>
            <a:r>
              <a:rPr lang="en-US" dirty="0"/>
              <a:t>Identifying Domain Classes</a:t>
            </a:r>
          </a:p>
          <a:p>
            <a:pPr lvl="1"/>
            <a:r>
              <a:rPr lang="en-US" dirty="0"/>
              <a:t>Identifying Attributes</a:t>
            </a:r>
          </a:p>
          <a:p>
            <a:pPr lvl="1"/>
            <a:r>
              <a:rPr lang="en-US" dirty="0"/>
              <a:t>Identifying Associations</a:t>
            </a:r>
          </a:p>
          <a:p>
            <a:pPr lvl="2"/>
            <a:r>
              <a:rPr lang="en-US" dirty="0"/>
              <a:t>Generalizations</a:t>
            </a:r>
          </a:p>
          <a:p>
            <a:pPr lvl="2"/>
            <a:r>
              <a:rPr lang="en-US" dirty="0"/>
              <a:t>Association Classes</a:t>
            </a:r>
          </a:p>
          <a:p>
            <a:pPr lvl="2"/>
            <a:r>
              <a:rPr lang="en-US" dirty="0"/>
              <a:t>Composition / Aggregation</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a:t>
            </a:fld>
            <a:endParaRPr lang="en-US"/>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8C64287-AE47-1A87-FD89-4EDCFFA6252C}"/>
              </a:ext>
            </a:extLst>
          </p:cNvPr>
          <p:cNvSpPr>
            <a:spLocks noGrp="1"/>
          </p:cNvSpPr>
          <p:nvPr>
            <p:ph type="title"/>
          </p:nvPr>
        </p:nvSpPr>
        <p:spPr>
          <a:xfrm>
            <a:off x="1115568" y="548640"/>
            <a:ext cx="10168128" cy="1179576"/>
          </a:xfrm>
        </p:spPr>
        <p:txBody>
          <a:bodyPr>
            <a:normAutofit/>
          </a:bodyPr>
          <a:lstStyle/>
          <a:p>
            <a:r>
              <a:rPr lang="en-US" sz="4000"/>
              <a:t>What is a Domain Model?</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CB875042-8EAB-14E4-B034-71CBBBA4B721}"/>
              </a:ext>
            </a:extLst>
          </p:cNvPr>
          <p:cNvSpPr>
            <a:spLocks noGrp="1"/>
          </p:cNvSpPr>
          <p:nvPr>
            <p:ph idx="1"/>
          </p:nvPr>
        </p:nvSpPr>
        <p:spPr>
          <a:xfrm>
            <a:off x="344774" y="2221992"/>
            <a:ext cx="11847225" cy="4376058"/>
          </a:xfrm>
        </p:spPr>
        <p:txBody>
          <a:bodyPr>
            <a:normAutofit fontScale="92500" lnSpcReduction="20000"/>
          </a:bodyPr>
          <a:lstStyle/>
          <a:p>
            <a:r>
              <a:rPr lang="en-US" sz="2400" b="0" i="0" dirty="0">
                <a:effectLst/>
                <a:latin typeface="Lato Extended"/>
              </a:rPr>
              <a:t>The domain model captures the most important types of objects in the context of the system. </a:t>
            </a:r>
          </a:p>
          <a:p>
            <a:endParaRPr lang="en-US" sz="2400" dirty="0">
              <a:latin typeface="Lato Extended"/>
            </a:endParaRPr>
          </a:p>
          <a:p>
            <a:r>
              <a:rPr lang="en-US" sz="2400" b="0" i="0" dirty="0">
                <a:effectLst/>
                <a:latin typeface="Lato Extended"/>
              </a:rPr>
              <a:t>Domain objects represent the “</a:t>
            </a:r>
            <a:r>
              <a:rPr lang="en-US" sz="2400" b="1" i="0" dirty="0">
                <a:effectLst/>
                <a:latin typeface="Lato Extended"/>
              </a:rPr>
              <a:t>things</a:t>
            </a:r>
            <a:r>
              <a:rPr lang="en-US" sz="2400" b="0" i="0" dirty="0">
                <a:effectLst/>
                <a:latin typeface="Lato Extended"/>
              </a:rPr>
              <a:t>” that exist or events that transpire in the environment in which the system works. </a:t>
            </a:r>
          </a:p>
          <a:p>
            <a:pPr marL="0" indent="0">
              <a:buNone/>
            </a:pPr>
            <a:endParaRPr lang="en-US" sz="2400" b="0" i="0" dirty="0">
              <a:effectLst/>
              <a:latin typeface="Lato Extended"/>
            </a:endParaRPr>
          </a:p>
          <a:p>
            <a:r>
              <a:rPr lang="en-US" sz="2400" b="0" i="0" dirty="0">
                <a:effectLst/>
                <a:latin typeface="Lato Extended"/>
              </a:rPr>
              <a:t>The domain model is bounded by the use case scenario under development. It is not a description of software objects.</a:t>
            </a:r>
          </a:p>
          <a:p>
            <a:pPr marL="0" indent="0">
              <a:buNone/>
            </a:pPr>
            <a:endParaRPr lang="en-US" sz="2400" b="0" i="0" dirty="0">
              <a:effectLst/>
              <a:latin typeface="Lato Extended"/>
            </a:endParaRPr>
          </a:p>
          <a:p>
            <a:r>
              <a:rPr lang="en-US" sz="2400" b="0" i="0" dirty="0">
                <a:effectLst/>
                <a:latin typeface="Lato Extended"/>
              </a:rPr>
              <a:t>The domain model is a </a:t>
            </a:r>
            <a:r>
              <a:rPr lang="en-US" sz="2400" b="1" i="0" dirty="0">
                <a:effectLst/>
                <a:latin typeface="Lato Extended"/>
              </a:rPr>
              <a:t>visualization of the concepts</a:t>
            </a:r>
            <a:r>
              <a:rPr lang="en-US" sz="2400" b="0" i="0" dirty="0">
                <a:effectLst/>
                <a:latin typeface="Lato Extended"/>
              </a:rPr>
              <a:t>. </a:t>
            </a:r>
          </a:p>
          <a:p>
            <a:endParaRPr lang="en-US" sz="2400" dirty="0">
              <a:latin typeface="Lato Extended"/>
            </a:endParaRPr>
          </a:p>
          <a:p>
            <a:r>
              <a:rPr lang="en-US" sz="2400" b="0" i="0" dirty="0">
                <a:effectLst/>
                <a:latin typeface="Lato Extended"/>
              </a:rPr>
              <a:t>It comes from a specification of conceptual </a:t>
            </a:r>
            <a:r>
              <a:rPr lang="en-US" sz="2400" b="1" i="0" dirty="0">
                <a:solidFill>
                  <a:schemeClr val="accent2"/>
                </a:solidFill>
                <a:effectLst/>
                <a:latin typeface="Lato Extended"/>
              </a:rPr>
              <a:t>classes</a:t>
            </a:r>
            <a:r>
              <a:rPr lang="en-US" sz="2400" b="0" i="0" dirty="0">
                <a:effectLst/>
                <a:latin typeface="Lato Extended"/>
              </a:rPr>
              <a:t>, their </a:t>
            </a:r>
            <a:r>
              <a:rPr lang="en-US" sz="2400" b="1" i="0" dirty="0">
                <a:solidFill>
                  <a:schemeClr val="accent2"/>
                </a:solidFill>
                <a:effectLst/>
                <a:latin typeface="Lato Extended"/>
              </a:rPr>
              <a:t>attributes</a:t>
            </a:r>
            <a:r>
              <a:rPr lang="en-US" sz="2400" b="0" i="0" dirty="0">
                <a:effectLst/>
                <a:latin typeface="Lato Extended"/>
              </a:rPr>
              <a:t> and </a:t>
            </a:r>
            <a:r>
              <a:rPr lang="en-US" sz="2400" b="1" i="0" dirty="0">
                <a:solidFill>
                  <a:schemeClr val="accent2"/>
                </a:solidFill>
                <a:effectLst/>
                <a:latin typeface="Lato Extended"/>
              </a:rPr>
              <a:t>associations</a:t>
            </a:r>
            <a:r>
              <a:rPr lang="en-US" sz="2400" b="0" i="0" dirty="0">
                <a:solidFill>
                  <a:schemeClr val="accent2"/>
                </a:solidFill>
                <a:effectLst/>
                <a:latin typeface="Lato Extended"/>
              </a:rPr>
              <a:t> </a:t>
            </a:r>
            <a:r>
              <a:rPr lang="en-US" sz="2400" b="0" i="0" dirty="0">
                <a:effectLst/>
                <a:latin typeface="Lato Extended"/>
              </a:rPr>
              <a:t>described via UML Class diagrams.</a:t>
            </a:r>
          </a:p>
          <a:p>
            <a:endParaRPr lang="en-US" sz="1700" dirty="0"/>
          </a:p>
        </p:txBody>
      </p:sp>
      <p:sp>
        <p:nvSpPr>
          <p:cNvPr id="4" name="Slide Number Placeholder 3">
            <a:extLst>
              <a:ext uri="{FF2B5EF4-FFF2-40B4-BE49-F238E27FC236}">
                <a16:creationId xmlns:a16="http://schemas.microsoft.com/office/drawing/2014/main" id="{A3E3DB00-D6A2-03C7-9A3B-0770B3C990C2}"/>
              </a:ext>
            </a:extLst>
          </p:cNvPr>
          <p:cNvSpPr>
            <a:spLocks noGrp="1"/>
          </p:cNvSpPr>
          <p:nvPr>
            <p:ph type="sldNum" sz="quarter" idx="12"/>
          </p:nvPr>
        </p:nvSpPr>
        <p:spPr/>
        <p:txBody>
          <a:bodyPr/>
          <a:lstStyle/>
          <a:p>
            <a:fld id="{7DF6DEEC-D04A-4FF0-9A08-7D39859C24F4}" type="slidenum">
              <a:rPr lang="en-US" smtClean="0"/>
              <a:t>3</a:t>
            </a:fld>
            <a:endParaRPr lang="en-US"/>
          </a:p>
        </p:txBody>
      </p:sp>
    </p:spTree>
    <p:extLst>
      <p:ext uri="{BB962C8B-B14F-4D97-AF65-F5344CB8AC3E}">
        <p14:creationId xmlns:p14="http://schemas.microsoft.com/office/powerpoint/2010/main" val="40917876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0" name="Rectangle 129">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CFBE33-633C-DCE4-463A-2024455365BB}"/>
              </a:ext>
            </a:extLst>
          </p:cNvPr>
          <p:cNvSpPr>
            <a:spLocks noGrp="1"/>
          </p:cNvSpPr>
          <p:nvPr>
            <p:ph type="title"/>
          </p:nvPr>
        </p:nvSpPr>
        <p:spPr>
          <a:xfrm>
            <a:off x="841248" y="334644"/>
            <a:ext cx="10509504" cy="1076914"/>
          </a:xfrm>
        </p:spPr>
        <p:txBody>
          <a:bodyPr anchor="ctr">
            <a:normAutofit/>
          </a:bodyPr>
          <a:lstStyle/>
          <a:p>
            <a:r>
              <a:rPr lang="en-US" sz="4000" dirty="0"/>
              <a:t>Hoes does a Domain Model Looks Like?</a:t>
            </a:r>
          </a:p>
        </p:txBody>
      </p:sp>
      <p:sp>
        <p:nvSpPr>
          <p:cNvPr id="131" name="Rectangle 130">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2772" y="0"/>
            <a:ext cx="10506456"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2" name="Rectangle 131">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512994"/>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 name="Group 4">
            <a:extLst>
              <a:ext uri="{FF2B5EF4-FFF2-40B4-BE49-F238E27FC236}">
                <a16:creationId xmlns:a16="http://schemas.microsoft.com/office/drawing/2014/main" id="{21C97506-756E-C972-37EE-227975771C54}"/>
              </a:ext>
            </a:extLst>
          </p:cNvPr>
          <p:cNvGrpSpPr>
            <a:grpSpLocks noChangeAspect="1"/>
          </p:cNvGrpSpPr>
          <p:nvPr/>
        </p:nvGrpSpPr>
        <p:grpSpPr bwMode="auto">
          <a:xfrm>
            <a:off x="3558578" y="1737360"/>
            <a:ext cx="6889565" cy="4535424"/>
            <a:chOff x="863" y="962"/>
            <a:chExt cx="3697" cy="3310"/>
          </a:xfrm>
        </p:grpSpPr>
        <p:sp>
          <p:nvSpPr>
            <p:cNvPr id="5" name="AutoShape 3">
              <a:extLst>
                <a:ext uri="{FF2B5EF4-FFF2-40B4-BE49-F238E27FC236}">
                  <a16:creationId xmlns:a16="http://schemas.microsoft.com/office/drawing/2014/main" id="{720670F7-5797-8495-D30B-2AC7B75E676F}"/>
                </a:ext>
              </a:extLst>
            </p:cNvPr>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6" name="Rectangle 5">
              <a:extLst>
                <a:ext uri="{FF2B5EF4-FFF2-40B4-BE49-F238E27FC236}">
                  <a16:creationId xmlns:a16="http://schemas.microsoft.com/office/drawing/2014/main" id="{E5A67905-F8FA-DE70-7BBB-6E2957840251}"/>
                </a:ext>
              </a:extLst>
            </p:cNvPr>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7" name="Rectangle 6">
              <a:extLst>
                <a:ext uri="{FF2B5EF4-FFF2-40B4-BE49-F238E27FC236}">
                  <a16:creationId xmlns:a16="http://schemas.microsoft.com/office/drawing/2014/main" id="{9AAF07B8-30F0-39B8-94FF-8DA53FB97242}"/>
                </a:ext>
              </a:extLst>
            </p:cNvPr>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register</a:t>
              </a:r>
              <a:endParaRPr lang="en-US">
                <a:latin typeface="Arial" pitchFamily="34" charset="0"/>
              </a:endParaRPr>
            </a:p>
          </p:txBody>
        </p:sp>
        <p:sp>
          <p:nvSpPr>
            <p:cNvPr id="8" name="Rectangle 7">
              <a:extLst>
                <a:ext uri="{FF2B5EF4-FFF2-40B4-BE49-F238E27FC236}">
                  <a16:creationId xmlns:a16="http://schemas.microsoft.com/office/drawing/2014/main" id="{B058123C-4AB1-3260-C796-CF85677C71B1}"/>
                </a:ext>
              </a:extLst>
            </p:cNvPr>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9" name="Rectangle 8">
              <a:extLst>
                <a:ext uri="{FF2B5EF4-FFF2-40B4-BE49-F238E27FC236}">
                  <a16:creationId xmlns:a16="http://schemas.microsoft.com/office/drawing/2014/main" id="{495177BB-4521-CD1E-CBBA-3865A6F3467B}"/>
                </a:ext>
              </a:extLst>
            </p:cNvPr>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 name="Rectangle 9">
              <a:extLst>
                <a:ext uri="{FF2B5EF4-FFF2-40B4-BE49-F238E27FC236}">
                  <a16:creationId xmlns:a16="http://schemas.microsoft.com/office/drawing/2014/main" id="{2146A6E8-21BB-8BE9-92EE-AB54FB6913C0}"/>
                </a:ext>
              </a:extLst>
            </p:cNvPr>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Item</a:t>
              </a:r>
              <a:endParaRPr lang="en-US">
                <a:latin typeface="Arial" pitchFamily="34" charset="0"/>
              </a:endParaRPr>
            </a:p>
          </p:txBody>
        </p:sp>
        <p:sp>
          <p:nvSpPr>
            <p:cNvPr id="11" name="Rectangle 10">
              <a:extLst>
                <a:ext uri="{FF2B5EF4-FFF2-40B4-BE49-F238E27FC236}">
                  <a16:creationId xmlns:a16="http://schemas.microsoft.com/office/drawing/2014/main" id="{EEB19EBB-6B35-47DE-ADDF-DE6DCD20DDF0}"/>
                </a:ext>
              </a:extLst>
            </p:cNvPr>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2" name="Rectangle 11">
              <a:extLst>
                <a:ext uri="{FF2B5EF4-FFF2-40B4-BE49-F238E27FC236}">
                  <a16:creationId xmlns:a16="http://schemas.microsoft.com/office/drawing/2014/main" id="{B611FACC-AB90-10A6-8C4B-15CA70EA46A4}"/>
                </a:ext>
              </a:extLst>
            </p:cNvPr>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3" name="Rectangle 12">
              <a:extLst>
                <a:ext uri="{FF2B5EF4-FFF2-40B4-BE49-F238E27FC236}">
                  <a16:creationId xmlns:a16="http://schemas.microsoft.com/office/drawing/2014/main" id="{3A96E249-ECCC-1D2D-4F00-11CED89DEEFE}"/>
                </a:ext>
              </a:extLst>
            </p:cNvPr>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Store</a:t>
              </a:r>
              <a:endParaRPr lang="en-US">
                <a:latin typeface="Arial" pitchFamily="34" charset="0"/>
              </a:endParaRPr>
            </a:p>
          </p:txBody>
        </p:sp>
        <p:sp>
          <p:nvSpPr>
            <p:cNvPr id="14" name="Rectangle 13">
              <a:extLst>
                <a:ext uri="{FF2B5EF4-FFF2-40B4-BE49-F238E27FC236}">
                  <a16:creationId xmlns:a16="http://schemas.microsoft.com/office/drawing/2014/main" id="{83053282-5A7F-3C5C-1DC5-6856E0F38A01}"/>
                </a:ext>
              </a:extLst>
            </p:cNvPr>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5" name="Rectangle 14">
              <a:extLst>
                <a:ext uri="{FF2B5EF4-FFF2-40B4-BE49-F238E27FC236}">
                  <a16:creationId xmlns:a16="http://schemas.microsoft.com/office/drawing/2014/main" id="{A1572C4D-3C6B-46BE-9F28-CA3BE6990C13}"/>
                </a:ext>
              </a:extLst>
            </p:cNvPr>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address</a:t>
              </a:r>
              <a:endParaRPr lang="en-US">
                <a:latin typeface="Arial" pitchFamily="34" charset="0"/>
              </a:endParaRPr>
            </a:p>
          </p:txBody>
        </p:sp>
        <p:sp>
          <p:nvSpPr>
            <p:cNvPr id="16" name="Rectangle 15">
              <a:extLst>
                <a:ext uri="{FF2B5EF4-FFF2-40B4-BE49-F238E27FC236}">
                  <a16:creationId xmlns:a16="http://schemas.microsoft.com/office/drawing/2014/main" id="{DE28DB24-A79B-D6A9-D2BC-2A6C05D7BD28}"/>
                </a:ext>
              </a:extLst>
            </p:cNvPr>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name</a:t>
              </a:r>
              <a:endParaRPr lang="en-US">
                <a:latin typeface="Arial" pitchFamily="34" charset="0"/>
              </a:endParaRPr>
            </a:p>
          </p:txBody>
        </p:sp>
        <p:sp>
          <p:nvSpPr>
            <p:cNvPr id="17" name="Rectangle 16">
              <a:extLst>
                <a:ext uri="{FF2B5EF4-FFF2-40B4-BE49-F238E27FC236}">
                  <a16:creationId xmlns:a16="http://schemas.microsoft.com/office/drawing/2014/main" id="{A5B89E7D-D776-7A00-8AB6-AB7CC50BF91F}"/>
                </a:ext>
              </a:extLst>
            </p:cNvPr>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8" name="Rectangle 17">
              <a:extLst>
                <a:ext uri="{FF2B5EF4-FFF2-40B4-BE49-F238E27FC236}">
                  <a16:creationId xmlns:a16="http://schemas.microsoft.com/office/drawing/2014/main" id="{8BD7759C-0070-8967-5514-D16ABBB54527}"/>
                </a:ext>
              </a:extLst>
            </p:cNvPr>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Sale</a:t>
              </a:r>
              <a:endParaRPr lang="en-US">
                <a:latin typeface="Arial" pitchFamily="34" charset="0"/>
              </a:endParaRPr>
            </a:p>
          </p:txBody>
        </p:sp>
        <p:sp>
          <p:nvSpPr>
            <p:cNvPr id="19" name="Rectangle 18">
              <a:extLst>
                <a:ext uri="{FF2B5EF4-FFF2-40B4-BE49-F238E27FC236}">
                  <a16:creationId xmlns:a16="http://schemas.microsoft.com/office/drawing/2014/main" id="{6CBE1354-F097-CB1E-CAC3-8BB4717C5FDA}"/>
                </a:ext>
              </a:extLst>
            </p:cNvPr>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0" name="Rectangle 19">
              <a:extLst>
                <a:ext uri="{FF2B5EF4-FFF2-40B4-BE49-F238E27FC236}">
                  <a16:creationId xmlns:a16="http://schemas.microsoft.com/office/drawing/2014/main" id="{32819031-2847-434D-9693-E6A6B1CFEC9A}"/>
                </a:ext>
              </a:extLst>
            </p:cNvPr>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date</a:t>
              </a:r>
              <a:endParaRPr lang="en-US">
                <a:latin typeface="Arial" pitchFamily="34" charset="0"/>
              </a:endParaRPr>
            </a:p>
          </p:txBody>
        </p:sp>
        <p:sp>
          <p:nvSpPr>
            <p:cNvPr id="21" name="Rectangle 20">
              <a:extLst>
                <a:ext uri="{FF2B5EF4-FFF2-40B4-BE49-F238E27FC236}">
                  <a16:creationId xmlns:a16="http://schemas.microsoft.com/office/drawing/2014/main" id="{6905FD80-5A07-34BA-3675-07566C675A77}"/>
                </a:ext>
              </a:extLst>
            </p:cNvPr>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time</a:t>
              </a:r>
              <a:endParaRPr lang="en-US">
                <a:latin typeface="Arial" pitchFamily="34" charset="0"/>
              </a:endParaRPr>
            </a:p>
          </p:txBody>
        </p:sp>
        <p:sp>
          <p:nvSpPr>
            <p:cNvPr id="22" name="Rectangle 21">
              <a:extLst>
                <a:ext uri="{FF2B5EF4-FFF2-40B4-BE49-F238E27FC236}">
                  <a16:creationId xmlns:a16="http://schemas.microsoft.com/office/drawing/2014/main" id="{8A13DA31-8149-5D9D-F67E-959A5BDCDEAD}"/>
                </a:ext>
              </a:extLst>
            </p:cNvPr>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3" name="Rectangle 22">
              <a:extLst>
                <a:ext uri="{FF2B5EF4-FFF2-40B4-BE49-F238E27FC236}">
                  <a16:creationId xmlns:a16="http://schemas.microsoft.com/office/drawing/2014/main" id="{789619DC-CDD6-6A7C-3EB8-488990B7030A}"/>
                </a:ext>
              </a:extLst>
            </p:cNvPr>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Payment</a:t>
              </a:r>
              <a:endParaRPr lang="en-US">
                <a:latin typeface="Arial" pitchFamily="34" charset="0"/>
              </a:endParaRPr>
            </a:p>
          </p:txBody>
        </p:sp>
        <p:sp>
          <p:nvSpPr>
            <p:cNvPr id="24" name="Rectangle 23">
              <a:extLst>
                <a:ext uri="{FF2B5EF4-FFF2-40B4-BE49-F238E27FC236}">
                  <a16:creationId xmlns:a16="http://schemas.microsoft.com/office/drawing/2014/main" id="{043D0BAB-FA76-5367-9BF7-EB50C5F73202}"/>
                </a:ext>
              </a:extLst>
            </p:cNvPr>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5" name="Rectangle 24">
              <a:extLst>
                <a:ext uri="{FF2B5EF4-FFF2-40B4-BE49-F238E27FC236}">
                  <a16:creationId xmlns:a16="http://schemas.microsoft.com/office/drawing/2014/main" id="{EB70EC30-31B2-33DF-DD9E-7DC0CD1E2D4A}"/>
                </a:ext>
              </a:extLst>
            </p:cNvPr>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amount</a:t>
              </a:r>
              <a:endParaRPr lang="en-US">
                <a:latin typeface="Arial" pitchFamily="34" charset="0"/>
              </a:endParaRPr>
            </a:p>
          </p:txBody>
        </p:sp>
        <p:sp>
          <p:nvSpPr>
            <p:cNvPr id="26" name="Rectangle 25">
              <a:extLst>
                <a:ext uri="{FF2B5EF4-FFF2-40B4-BE49-F238E27FC236}">
                  <a16:creationId xmlns:a16="http://schemas.microsoft.com/office/drawing/2014/main" id="{6385508D-B172-9DDE-B7B9-0460DE50E2C0}"/>
                </a:ext>
              </a:extLst>
            </p:cNvPr>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7" name="Rectangle 26">
              <a:extLst>
                <a:ext uri="{FF2B5EF4-FFF2-40B4-BE49-F238E27FC236}">
                  <a16:creationId xmlns:a16="http://schemas.microsoft.com/office/drawing/2014/main" id="{B9586504-044F-3FB2-CCC0-8F731415127F}"/>
                </a:ext>
              </a:extLst>
            </p:cNvPr>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Sales</a:t>
              </a:r>
              <a:endParaRPr lang="en-US">
                <a:latin typeface="Arial" pitchFamily="34" charset="0"/>
              </a:endParaRPr>
            </a:p>
          </p:txBody>
        </p:sp>
        <p:sp>
          <p:nvSpPr>
            <p:cNvPr id="28" name="Rectangle 27">
              <a:extLst>
                <a:ext uri="{FF2B5EF4-FFF2-40B4-BE49-F238E27FC236}">
                  <a16:creationId xmlns:a16="http://schemas.microsoft.com/office/drawing/2014/main" id="{9CBCA06C-0585-73CD-2C33-637C02118CF5}"/>
                </a:ext>
              </a:extLst>
            </p:cNvPr>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LineItem</a:t>
              </a:r>
              <a:endParaRPr lang="en-US">
                <a:latin typeface="Arial" pitchFamily="34" charset="0"/>
              </a:endParaRPr>
            </a:p>
          </p:txBody>
        </p:sp>
        <p:sp>
          <p:nvSpPr>
            <p:cNvPr id="29" name="Rectangle 28">
              <a:extLst>
                <a:ext uri="{FF2B5EF4-FFF2-40B4-BE49-F238E27FC236}">
                  <a16:creationId xmlns:a16="http://schemas.microsoft.com/office/drawing/2014/main" id="{3E67344A-44BE-A031-F197-C61FA14A916B}"/>
                </a:ext>
              </a:extLst>
            </p:cNvPr>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0" name="Rectangle 29">
              <a:extLst>
                <a:ext uri="{FF2B5EF4-FFF2-40B4-BE49-F238E27FC236}">
                  <a16:creationId xmlns:a16="http://schemas.microsoft.com/office/drawing/2014/main" id="{640FC486-9188-17C0-AA34-8DAD5380C62F}"/>
                </a:ext>
              </a:extLst>
            </p:cNvPr>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quantity</a:t>
              </a:r>
              <a:endParaRPr lang="en-US">
                <a:latin typeface="Arial" pitchFamily="34" charset="0"/>
              </a:endParaRPr>
            </a:p>
          </p:txBody>
        </p:sp>
        <p:sp>
          <p:nvSpPr>
            <p:cNvPr id="31" name="Rectangle 30">
              <a:extLst>
                <a:ext uri="{FF2B5EF4-FFF2-40B4-BE49-F238E27FC236}">
                  <a16:creationId xmlns:a16="http://schemas.microsoft.com/office/drawing/2014/main" id="{57F20A28-E954-D16A-AB4B-F2D61DB28E43}"/>
                </a:ext>
              </a:extLst>
            </p:cNvPr>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2" name="Rectangle 31">
              <a:extLst>
                <a:ext uri="{FF2B5EF4-FFF2-40B4-BE49-F238E27FC236}">
                  <a16:creationId xmlns:a16="http://schemas.microsoft.com/office/drawing/2014/main" id="{7F10F652-4554-1AAC-C0B3-7EACC181CC59}"/>
                </a:ext>
              </a:extLst>
            </p:cNvPr>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Cashier</a:t>
              </a:r>
              <a:endParaRPr lang="en-US">
                <a:latin typeface="Arial" pitchFamily="34" charset="0"/>
              </a:endParaRPr>
            </a:p>
          </p:txBody>
        </p:sp>
        <p:sp>
          <p:nvSpPr>
            <p:cNvPr id="33" name="Rectangle 32">
              <a:extLst>
                <a:ext uri="{FF2B5EF4-FFF2-40B4-BE49-F238E27FC236}">
                  <a16:creationId xmlns:a16="http://schemas.microsoft.com/office/drawing/2014/main" id="{6960D2F1-E2F5-2DA8-FB97-6AD3A9EBC1E9}"/>
                </a:ext>
              </a:extLst>
            </p:cNvPr>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4" name="Rectangle 33">
              <a:extLst>
                <a:ext uri="{FF2B5EF4-FFF2-40B4-BE49-F238E27FC236}">
                  <a16:creationId xmlns:a16="http://schemas.microsoft.com/office/drawing/2014/main" id="{BB4BA7DD-9496-276F-4022-6202246C4470}"/>
                </a:ext>
              </a:extLst>
            </p:cNvPr>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5" name="Rectangle 34">
              <a:extLst>
                <a:ext uri="{FF2B5EF4-FFF2-40B4-BE49-F238E27FC236}">
                  <a16:creationId xmlns:a16="http://schemas.microsoft.com/office/drawing/2014/main" id="{4619AA75-C262-4B63-4AF3-5F1F7758BE58}"/>
                </a:ext>
              </a:extLst>
            </p:cNvPr>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Customer</a:t>
              </a:r>
              <a:endParaRPr lang="en-US">
                <a:latin typeface="Arial" pitchFamily="34" charset="0"/>
              </a:endParaRPr>
            </a:p>
          </p:txBody>
        </p:sp>
        <p:sp>
          <p:nvSpPr>
            <p:cNvPr id="36" name="Rectangle 35">
              <a:extLst>
                <a:ext uri="{FF2B5EF4-FFF2-40B4-BE49-F238E27FC236}">
                  <a16:creationId xmlns:a16="http://schemas.microsoft.com/office/drawing/2014/main" id="{7FB68569-D74C-CA30-E954-EEE64006FCBD}"/>
                </a:ext>
              </a:extLst>
            </p:cNvPr>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7" name="Rectangle 36">
              <a:extLst>
                <a:ext uri="{FF2B5EF4-FFF2-40B4-BE49-F238E27FC236}">
                  <a16:creationId xmlns:a16="http://schemas.microsoft.com/office/drawing/2014/main" id="{231440E3-B36B-8464-1AAA-C217F31DD00B}"/>
                </a:ext>
              </a:extLst>
            </p:cNvPr>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8" name="Rectangle 37">
              <a:extLst>
                <a:ext uri="{FF2B5EF4-FFF2-40B4-BE49-F238E27FC236}">
                  <a16:creationId xmlns:a16="http://schemas.microsoft.com/office/drawing/2014/main" id="{045373E9-F59D-867D-9187-63AA5FA68F14}"/>
                </a:ext>
              </a:extLst>
            </p:cNvPr>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Manager</a:t>
              </a:r>
              <a:endParaRPr lang="en-US">
                <a:latin typeface="Arial" pitchFamily="34" charset="0"/>
              </a:endParaRPr>
            </a:p>
          </p:txBody>
        </p:sp>
        <p:sp>
          <p:nvSpPr>
            <p:cNvPr id="39" name="Rectangle 38">
              <a:extLst>
                <a:ext uri="{FF2B5EF4-FFF2-40B4-BE49-F238E27FC236}">
                  <a16:creationId xmlns:a16="http://schemas.microsoft.com/office/drawing/2014/main" id="{1DE14DDA-3585-D8FD-2210-E1B9EADA78B0}"/>
                </a:ext>
              </a:extLst>
            </p:cNvPr>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0" name="Rectangle 39">
              <a:extLst>
                <a:ext uri="{FF2B5EF4-FFF2-40B4-BE49-F238E27FC236}">
                  <a16:creationId xmlns:a16="http://schemas.microsoft.com/office/drawing/2014/main" id="{9A3FC904-D6F9-7B98-2733-E237FBAAF5AA}"/>
                </a:ext>
              </a:extLst>
            </p:cNvPr>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1" name="Rectangle 40">
              <a:extLst>
                <a:ext uri="{FF2B5EF4-FFF2-40B4-BE49-F238E27FC236}">
                  <a16:creationId xmlns:a16="http://schemas.microsoft.com/office/drawing/2014/main" id="{50D752F0-AC95-2E95-B53B-AD40A95167E1}"/>
                </a:ext>
              </a:extLst>
            </p:cNvPr>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Product</a:t>
              </a:r>
              <a:endParaRPr lang="en-US">
                <a:latin typeface="Arial" pitchFamily="34" charset="0"/>
              </a:endParaRPr>
            </a:p>
          </p:txBody>
        </p:sp>
        <p:sp>
          <p:nvSpPr>
            <p:cNvPr id="42" name="Rectangle 41">
              <a:extLst>
                <a:ext uri="{FF2B5EF4-FFF2-40B4-BE49-F238E27FC236}">
                  <a16:creationId xmlns:a16="http://schemas.microsoft.com/office/drawing/2014/main" id="{84F2991B-AE03-82B2-4870-0500EE87B71A}"/>
                </a:ext>
              </a:extLst>
            </p:cNvPr>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Catalog</a:t>
              </a:r>
              <a:endParaRPr lang="en-US">
                <a:latin typeface="Arial" pitchFamily="34" charset="0"/>
              </a:endParaRPr>
            </a:p>
          </p:txBody>
        </p:sp>
        <p:sp>
          <p:nvSpPr>
            <p:cNvPr id="43" name="Rectangle 42">
              <a:extLst>
                <a:ext uri="{FF2B5EF4-FFF2-40B4-BE49-F238E27FC236}">
                  <a16:creationId xmlns:a16="http://schemas.microsoft.com/office/drawing/2014/main" id="{A9738B36-650A-F997-EC12-6D714DFAF4DC}"/>
                </a:ext>
              </a:extLst>
            </p:cNvPr>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4" name="Rectangle 43">
              <a:extLst>
                <a:ext uri="{FF2B5EF4-FFF2-40B4-BE49-F238E27FC236}">
                  <a16:creationId xmlns:a16="http://schemas.microsoft.com/office/drawing/2014/main" id="{CE0D3576-5263-5B06-AF01-F7CE96F1C264}"/>
                </a:ext>
              </a:extLst>
            </p:cNvPr>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5" name="Rectangle 44">
              <a:extLst>
                <a:ext uri="{FF2B5EF4-FFF2-40B4-BE49-F238E27FC236}">
                  <a16:creationId xmlns:a16="http://schemas.microsoft.com/office/drawing/2014/main" id="{403AD5AA-93C2-AAEC-5DC2-2D0FC2A6E5A9}"/>
                </a:ext>
              </a:extLst>
            </p:cNvPr>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Product</a:t>
              </a:r>
              <a:endParaRPr lang="en-US">
                <a:latin typeface="Arial" pitchFamily="34" charset="0"/>
              </a:endParaRPr>
            </a:p>
          </p:txBody>
        </p:sp>
        <p:sp>
          <p:nvSpPr>
            <p:cNvPr id="46" name="Rectangle 45">
              <a:extLst>
                <a:ext uri="{FF2B5EF4-FFF2-40B4-BE49-F238E27FC236}">
                  <a16:creationId xmlns:a16="http://schemas.microsoft.com/office/drawing/2014/main" id="{AAB6593D-2921-6841-F973-448AFD627F5F}"/>
                </a:ext>
              </a:extLst>
            </p:cNvPr>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Specification</a:t>
              </a:r>
              <a:endParaRPr lang="en-US">
                <a:latin typeface="Arial" pitchFamily="34" charset="0"/>
              </a:endParaRPr>
            </a:p>
          </p:txBody>
        </p:sp>
        <p:sp>
          <p:nvSpPr>
            <p:cNvPr id="47" name="Rectangle 46">
              <a:extLst>
                <a:ext uri="{FF2B5EF4-FFF2-40B4-BE49-F238E27FC236}">
                  <a16:creationId xmlns:a16="http://schemas.microsoft.com/office/drawing/2014/main" id="{7C5AAE86-8CD1-A22A-39D1-BD2CFC56319F}"/>
                </a:ext>
              </a:extLst>
            </p:cNvPr>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8" name="Rectangle 47">
              <a:extLst>
                <a:ext uri="{FF2B5EF4-FFF2-40B4-BE49-F238E27FC236}">
                  <a16:creationId xmlns:a16="http://schemas.microsoft.com/office/drawing/2014/main" id="{8ED10B6D-F98F-C295-4A17-1556BA090CC5}"/>
                </a:ext>
              </a:extLst>
            </p:cNvPr>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description</a:t>
              </a:r>
              <a:endParaRPr lang="en-US">
                <a:latin typeface="Arial" pitchFamily="34" charset="0"/>
              </a:endParaRPr>
            </a:p>
          </p:txBody>
        </p:sp>
        <p:sp>
          <p:nvSpPr>
            <p:cNvPr id="49" name="Rectangle 48">
              <a:extLst>
                <a:ext uri="{FF2B5EF4-FFF2-40B4-BE49-F238E27FC236}">
                  <a16:creationId xmlns:a16="http://schemas.microsoft.com/office/drawing/2014/main" id="{3A3FE746-63FE-B747-C4CA-26365EE68C93}"/>
                </a:ext>
              </a:extLst>
            </p:cNvPr>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price</a:t>
              </a:r>
              <a:endParaRPr lang="en-US">
                <a:latin typeface="Arial" pitchFamily="34" charset="0"/>
              </a:endParaRPr>
            </a:p>
          </p:txBody>
        </p:sp>
        <p:sp>
          <p:nvSpPr>
            <p:cNvPr id="50" name="Rectangle 49">
              <a:extLst>
                <a:ext uri="{FF2B5EF4-FFF2-40B4-BE49-F238E27FC236}">
                  <a16:creationId xmlns:a16="http://schemas.microsoft.com/office/drawing/2014/main" id="{ECF009DF-CEF5-8F66-2DA7-71551E2BCD0A}"/>
                </a:ext>
              </a:extLst>
            </p:cNvPr>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UPC</a:t>
              </a:r>
              <a:endParaRPr lang="en-US">
                <a:latin typeface="Arial" pitchFamily="34" charset="0"/>
              </a:endParaRPr>
            </a:p>
          </p:txBody>
        </p:sp>
        <p:sp>
          <p:nvSpPr>
            <p:cNvPr id="51" name="Line 50">
              <a:extLst>
                <a:ext uri="{FF2B5EF4-FFF2-40B4-BE49-F238E27FC236}">
                  <a16:creationId xmlns:a16="http://schemas.microsoft.com/office/drawing/2014/main" id="{E17A34C4-1E74-8F01-4449-1A849B79B723}"/>
                </a:ext>
              </a:extLst>
            </p:cNvPr>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2" name="Rectangle 51">
              <a:extLst>
                <a:ext uri="{FF2B5EF4-FFF2-40B4-BE49-F238E27FC236}">
                  <a16:creationId xmlns:a16="http://schemas.microsoft.com/office/drawing/2014/main" id="{40A3359D-BCE1-52C3-C0EE-6C6A5E21E343}"/>
                </a:ext>
              </a:extLst>
            </p:cNvPr>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Stocks</a:t>
              </a:r>
              <a:endParaRPr lang="en-US">
                <a:latin typeface="Arial" pitchFamily="34" charset="0"/>
              </a:endParaRPr>
            </a:p>
          </p:txBody>
        </p:sp>
        <p:sp>
          <p:nvSpPr>
            <p:cNvPr id="53" name="Rectangle 52">
              <a:extLst>
                <a:ext uri="{FF2B5EF4-FFF2-40B4-BE49-F238E27FC236}">
                  <a16:creationId xmlns:a16="http://schemas.microsoft.com/office/drawing/2014/main" id="{C304F60A-0A17-AC50-AD13-998658C98E09}"/>
                </a:ext>
              </a:extLst>
            </p:cNvPr>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54" name="Line 53">
              <a:extLst>
                <a:ext uri="{FF2B5EF4-FFF2-40B4-BE49-F238E27FC236}">
                  <a16:creationId xmlns:a16="http://schemas.microsoft.com/office/drawing/2014/main" id="{993E34AC-7979-878F-941D-2D6E38634267}"/>
                </a:ext>
              </a:extLst>
            </p:cNvPr>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5" name="Rectangle 54">
              <a:extLst>
                <a:ext uri="{FF2B5EF4-FFF2-40B4-BE49-F238E27FC236}">
                  <a16:creationId xmlns:a16="http://schemas.microsoft.com/office/drawing/2014/main" id="{63566EEB-7F65-E876-8049-DEAC044EAD1F}"/>
                </a:ext>
              </a:extLst>
            </p:cNvPr>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Houses</a:t>
              </a:r>
              <a:endParaRPr lang="en-US">
                <a:latin typeface="Arial" pitchFamily="34" charset="0"/>
              </a:endParaRPr>
            </a:p>
          </p:txBody>
        </p:sp>
        <p:sp>
          <p:nvSpPr>
            <p:cNvPr id="56" name="Rectangle 55">
              <a:extLst>
                <a:ext uri="{FF2B5EF4-FFF2-40B4-BE49-F238E27FC236}">
                  <a16:creationId xmlns:a16="http://schemas.microsoft.com/office/drawing/2014/main" id="{338546CD-7ED0-3351-1817-1E12286991D2}"/>
                </a:ext>
              </a:extLst>
            </p:cNvPr>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57" name="Rectangle 56">
              <a:extLst>
                <a:ext uri="{FF2B5EF4-FFF2-40B4-BE49-F238E27FC236}">
                  <a16:creationId xmlns:a16="http://schemas.microsoft.com/office/drawing/2014/main" id="{1FF9C658-CDE6-B125-86DC-D1B565E6F425}"/>
                </a:ext>
              </a:extLst>
            </p:cNvPr>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58" name="Line 57">
              <a:extLst>
                <a:ext uri="{FF2B5EF4-FFF2-40B4-BE49-F238E27FC236}">
                  <a16:creationId xmlns:a16="http://schemas.microsoft.com/office/drawing/2014/main" id="{B47C09A0-1D92-94F8-8DBC-1654B3011786}"/>
                </a:ext>
              </a:extLst>
            </p:cNvPr>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9" name="Rectangle 58">
              <a:extLst>
                <a:ext uri="{FF2B5EF4-FFF2-40B4-BE49-F238E27FC236}">
                  <a16:creationId xmlns:a16="http://schemas.microsoft.com/office/drawing/2014/main" id="{25BFD4CF-30DA-30B0-7192-68ABDAC44368}"/>
                </a:ext>
              </a:extLst>
            </p:cNvPr>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Used-by</a:t>
              </a:r>
              <a:endParaRPr lang="en-US">
                <a:latin typeface="Arial" pitchFamily="34" charset="0"/>
              </a:endParaRPr>
            </a:p>
          </p:txBody>
        </p:sp>
        <p:sp>
          <p:nvSpPr>
            <p:cNvPr id="60" name="Rectangle 59">
              <a:extLst>
                <a:ext uri="{FF2B5EF4-FFF2-40B4-BE49-F238E27FC236}">
                  <a16:creationId xmlns:a16="http://schemas.microsoft.com/office/drawing/2014/main" id="{51931C67-503B-CAD4-708D-F67594491439}"/>
                </a:ext>
              </a:extLst>
            </p:cNvPr>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61" name="Line 60">
              <a:extLst>
                <a:ext uri="{FF2B5EF4-FFF2-40B4-BE49-F238E27FC236}">
                  <a16:creationId xmlns:a16="http://schemas.microsoft.com/office/drawing/2014/main" id="{76CEBC2F-2BE1-2418-CF6D-CCFD27A96168}"/>
                </a:ext>
              </a:extLst>
            </p:cNvPr>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2" name="Rectangle 61">
              <a:extLst>
                <a:ext uri="{FF2B5EF4-FFF2-40B4-BE49-F238E27FC236}">
                  <a16:creationId xmlns:a16="http://schemas.microsoft.com/office/drawing/2014/main" id="{920D14F4-DDBD-8389-EA60-288146473DF6}"/>
                </a:ext>
              </a:extLst>
            </p:cNvPr>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Contains</a:t>
              </a:r>
              <a:endParaRPr lang="en-US">
                <a:latin typeface="Arial" pitchFamily="34" charset="0"/>
              </a:endParaRPr>
            </a:p>
          </p:txBody>
        </p:sp>
        <p:sp>
          <p:nvSpPr>
            <p:cNvPr id="63" name="Rectangle 62">
              <a:extLst>
                <a:ext uri="{FF2B5EF4-FFF2-40B4-BE49-F238E27FC236}">
                  <a16:creationId xmlns:a16="http://schemas.microsoft.com/office/drawing/2014/main" id="{55CD2F30-067F-3B50-AFC6-A6F363ACB024}"/>
                </a:ext>
              </a:extLst>
            </p:cNvPr>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64" name="Rectangle 63">
              <a:extLst>
                <a:ext uri="{FF2B5EF4-FFF2-40B4-BE49-F238E27FC236}">
                  <a16:creationId xmlns:a16="http://schemas.microsoft.com/office/drawing/2014/main" id="{6AB930A7-6F32-4AA9-7AC1-BF5075DECEFB}"/>
                </a:ext>
              </a:extLst>
            </p:cNvPr>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65" name="Line 64">
              <a:extLst>
                <a:ext uri="{FF2B5EF4-FFF2-40B4-BE49-F238E27FC236}">
                  <a16:creationId xmlns:a16="http://schemas.microsoft.com/office/drawing/2014/main" id="{E367542F-6E61-2B5F-956D-2AE72FC0DED2}"/>
                </a:ext>
              </a:extLst>
            </p:cNvPr>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6" name="Rectangle 65">
              <a:extLst>
                <a:ext uri="{FF2B5EF4-FFF2-40B4-BE49-F238E27FC236}">
                  <a16:creationId xmlns:a16="http://schemas.microsoft.com/office/drawing/2014/main" id="{FC4E2126-24BB-CC2A-554A-C8FB22C8A97A}"/>
                </a:ext>
              </a:extLst>
            </p:cNvPr>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Describes</a:t>
              </a:r>
              <a:endParaRPr lang="en-US">
                <a:latin typeface="Arial" pitchFamily="34" charset="0"/>
              </a:endParaRPr>
            </a:p>
          </p:txBody>
        </p:sp>
        <p:sp>
          <p:nvSpPr>
            <p:cNvPr id="67" name="Rectangle 66">
              <a:extLst>
                <a:ext uri="{FF2B5EF4-FFF2-40B4-BE49-F238E27FC236}">
                  <a16:creationId xmlns:a16="http://schemas.microsoft.com/office/drawing/2014/main" id="{049BF7EA-CFC3-C15E-FA16-55FA8906B3BA}"/>
                </a:ext>
              </a:extLst>
            </p:cNvPr>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68" name="Line 67">
              <a:extLst>
                <a:ext uri="{FF2B5EF4-FFF2-40B4-BE49-F238E27FC236}">
                  <a16:creationId xmlns:a16="http://schemas.microsoft.com/office/drawing/2014/main" id="{EB505EC3-263D-B378-E8D3-33BE45048933}"/>
                </a:ext>
              </a:extLst>
            </p:cNvPr>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9" name="Rectangle 68">
              <a:extLst>
                <a:ext uri="{FF2B5EF4-FFF2-40B4-BE49-F238E27FC236}">
                  <a16:creationId xmlns:a16="http://schemas.microsoft.com/office/drawing/2014/main" id="{574E8295-B08A-1AE5-ED77-2353449F0CC3}"/>
                </a:ext>
              </a:extLst>
            </p:cNvPr>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Captured-on</a:t>
              </a:r>
              <a:endParaRPr lang="en-US">
                <a:latin typeface="Arial" pitchFamily="34" charset="0"/>
              </a:endParaRPr>
            </a:p>
          </p:txBody>
        </p:sp>
        <p:sp>
          <p:nvSpPr>
            <p:cNvPr id="70" name="Line 69">
              <a:extLst>
                <a:ext uri="{FF2B5EF4-FFF2-40B4-BE49-F238E27FC236}">
                  <a16:creationId xmlns:a16="http://schemas.microsoft.com/office/drawing/2014/main" id="{B4415FCE-C832-ADDB-F3F4-72462C28B6DD}"/>
                </a:ext>
              </a:extLst>
            </p:cNvPr>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1" name="Rectangle 70">
              <a:extLst>
                <a:ext uri="{FF2B5EF4-FFF2-40B4-BE49-F238E27FC236}">
                  <a16:creationId xmlns:a16="http://schemas.microsoft.com/office/drawing/2014/main" id="{F1C8F45D-1CBD-D20D-02BD-142B1AB1A683}"/>
                </a:ext>
              </a:extLst>
            </p:cNvPr>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Contained-in</a:t>
              </a:r>
              <a:endParaRPr lang="en-US">
                <a:latin typeface="Arial" pitchFamily="34" charset="0"/>
              </a:endParaRPr>
            </a:p>
          </p:txBody>
        </p:sp>
        <p:sp>
          <p:nvSpPr>
            <p:cNvPr id="72" name="Rectangle 71">
              <a:extLst>
                <a:ext uri="{FF2B5EF4-FFF2-40B4-BE49-F238E27FC236}">
                  <a16:creationId xmlns:a16="http://schemas.microsoft.com/office/drawing/2014/main" id="{DA4EF5B2-6619-8372-FC5F-FC20066F26F6}"/>
                </a:ext>
              </a:extLst>
            </p:cNvPr>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73" name="Rectangle 72">
              <a:extLst>
                <a:ext uri="{FF2B5EF4-FFF2-40B4-BE49-F238E27FC236}">
                  <a16:creationId xmlns:a16="http://schemas.microsoft.com/office/drawing/2014/main" id="{2335CF09-4A76-CB03-B36E-6D2793202BEC}"/>
                </a:ext>
              </a:extLst>
            </p:cNvPr>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74" name="Freeform 73">
              <a:extLst>
                <a:ext uri="{FF2B5EF4-FFF2-40B4-BE49-F238E27FC236}">
                  <a16:creationId xmlns:a16="http://schemas.microsoft.com/office/drawing/2014/main" id="{5260EDC8-A0FC-66E9-D523-40FCDCD52C90}"/>
                </a:ext>
              </a:extLst>
            </p:cNvPr>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5" name="Rectangle 74">
              <a:extLst>
                <a:ext uri="{FF2B5EF4-FFF2-40B4-BE49-F238E27FC236}">
                  <a16:creationId xmlns:a16="http://schemas.microsoft.com/office/drawing/2014/main" id="{D3E4D4AC-304F-6EEF-356F-1C35A0189EE4}"/>
                </a:ext>
              </a:extLst>
            </p:cNvPr>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Described-by</a:t>
              </a:r>
              <a:endParaRPr lang="en-US">
                <a:latin typeface="Arial" pitchFamily="34" charset="0"/>
              </a:endParaRPr>
            </a:p>
          </p:txBody>
        </p:sp>
        <p:sp>
          <p:nvSpPr>
            <p:cNvPr id="76" name="Rectangle 75">
              <a:extLst>
                <a:ext uri="{FF2B5EF4-FFF2-40B4-BE49-F238E27FC236}">
                  <a16:creationId xmlns:a16="http://schemas.microsoft.com/office/drawing/2014/main" id="{5EB294B4-09C5-AB62-6188-A0982FFA6C18}"/>
                </a:ext>
              </a:extLst>
            </p:cNvPr>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77" name="Freeform 76">
              <a:extLst>
                <a:ext uri="{FF2B5EF4-FFF2-40B4-BE49-F238E27FC236}">
                  <a16:creationId xmlns:a16="http://schemas.microsoft.com/office/drawing/2014/main" id="{AB8A13F1-9F52-C7F3-23F7-4215D722F799}"/>
                </a:ext>
              </a:extLst>
            </p:cNvPr>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8" name="Rectangle 77">
              <a:extLst>
                <a:ext uri="{FF2B5EF4-FFF2-40B4-BE49-F238E27FC236}">
                  <a16:creationId xmlns:a16="http://schemas.microsoft.com/office/drawing/2014/main" id="{0D635C30-00D5-5470-1F58-D7455726E6C5}"/>
                </a:ext>
              </a:extLst>
            </p:cNvPr>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Records-sale-of</a:t>
              </a:r>
              <a:endParaRPr lang="en-US">
                <a:latin typeface="Arial" pitchFamily="34" charset="0"/>
              </a:endParaRPr>
            </a:p>
          </p:txBody>
        </p:sp>
        <p:sp>
          <p:nvSpPr>
            <p:cNvPr id="79" name="Rectangle 78">
              <a:extLst>
                <a:ext uri="{FF2B5EF4-FFF2-40B4-BE49-F238E27FC236}">
                  <a16:creationId xmlns:a16="http://schemas.microsoft.com/office/drawing/2014/main" id="{E21B5BD7-02C1-B551-8526-6604CD8E85B2}"/>
                </a:ext>
              </a:extLst>
            </p:cNvPr>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0..1</a:t>
              </a:r>
              <a:endParaRPr lang="en-US">
                <a:latin typeface="Arial" pitchFamily="34" charset="0"/>
              </a:endParaRPr>
            </a:p>
          </p:txBody>
        </p:sp>
        <p:sp>
          <p:nvSpPr>
            <p:cNvPr id="80" name="Line 79">
              <a:extLst>
                <a:ext uri="{FF2B5EF4-FFF2-40B4-BE49-F238E27FC236}">
                  <a16:creationId xmlns:a16="http://schemas.microsoft.com/office/drawing/2014/main" id="{921247D1-1737-B7E8-FFEE-6536BD7BEF82}"/>
                </a:ext>
              </a:extLst>
            </p:cNvPr>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1" name="Rectangle 80">
              <a:extLst>
                <a:ext uri="{FF2B5EF4-FFF2-40B4-BE49-F238E27FC236}">
                  <a16:creationId xmlns:a16="http://schemas.microsoft.com/office/drawing/2014/main" id="{4D9C1FF6-34CF-1461-B3CA-769D8A13D2B0}"/>
                </a:ext>
              </a:extLst>
            </p:cNvPr>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Started-by</a:t>
              </a:r>
              <a:endParaRPr lang="en-US">
                <a:latin typeface="Arial" pitchFamily="34" charset="0"/>
              </a:endParaRPr>
            </a:p>
          </p:txBody>
        </p:sp>
        <p:sp>
          <p:nvSpPr>
            <p:cNvPr id="82" name="Freeform 81">
              <a:extLst>
                <a:ext uri="{FF2B5EF4-FFF2-40B4-BE49-F238E27FC236}">
                  <a16:creationId xmlns:a16="http://schemas.microsoft.com/office/drawing/2014/main" id="{EB549BE9-71F6-A1C2-7F11-EBC080A1C7D5}"/>
                </a:ext>
              </a:extLst>
            </p:cNvPr>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3" name="Rectangle 82">
              <a:extLst>
                <a:ext uri="{FF2B5EF4-FFF2-40B4-BE49-F238E27FC236}">
                  <a16:creationId xmlns:a16="http://schemas.microsoft.com/office/drawing/2014/main" id="{E7CD8EA5-B8A1-3D14-7ED0-9450AFBDF995}"/>
                </a:ext>
              </a:extLst>
            </p:cNvPr>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Paid-by</a:t>
              </a:r>
              <a:endParaRPr lang="en-US">
                <a:latin typeface="Arial" pitchFamily="34" charset="0"/>
              </a:endParaRPr>
            </a:p>
          </p:txBody>
        </p:sp>
        <p:sp>
          <p:nvSpPr>
            <p:cNvPr id="84" name="Freeform 83">
              <a:extLst>
                <a:ext uri="{FF2B5EF4-FFF2-40B4-BE49-F238E27FC236}">
                  <a16:creationId xmlns:a16="http://schemas.microsoft.com/office/drawing/2014/main" id="{D70EEB72-D308-DCD8-37A3-5516B5046E64}"/>
                </a:ext>
              </a:extLst>
            </p:cNvPr>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5" name="Rectangle 84">
              <a:extLst>
                <a:ext uri="{FF2B5EF4-FFF2-40B4-BE49-F238E27FC236}">
                  <a16:creationId xmlns:a16="http://schemas.microsoft.com/office/drawing/2014/main" id="{9DD18847-592E-D6BA-E92F-96196B5541C5}"/>
                </a:ext>
              </a:extLst>
            </p:cNvPr>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Initiated-by</a:t>
              </a:r>
              <a:endParaRPr lang="en-US">
                <a:latin typeface="Arial" pitchFamily="34" charset="0"/>
              </a:endParaRPr>
            </a:p>
          </p:txBody>
        </p:sp>
        <p:sp>
          <p:nvSpPr>
            <p:cNvPr id="86" name="Freeform 85">
              <a:extLst>
                <a:ext uri="{FF2B5EF4-FFF2-40B4-BE49-F238E27FC236}">
                  <a16:creationId xmlns:a16="http://schemas.microsoft.com/office/drawing/2014/main" id="{025F850E-4F52-6352-18DE-317289E7FDF0}"/>
                </a:ext>
              </a:extLst>
            </p:cNvPr>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7" name="Rectangle 86">
              <a:extLst>
                <a:ext uri="{FF2B5EF4-FFF2-40B4-BE49-F238E27FC236}">
                  <a16:creationId xmlns:a16="http://schemas.microsoft.com/office/drawing/2014/main" id="{69DF0D5F-A2B1-5D5E-9073-07071B60450E}"/>
                </a:ext>
              </a:extLst>
            </p:cNvPr>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Logs-</a:t>
              </a:r>
              <a:endParaRPr lang="en-US">
                <a:latin typeface="Arial" pitchFamily="34" charset="0"/>
              </a:endParaRPr>
            </a:p>
          </p:txBody>
        </p:sp>
        <p:sp>
          <p:nvSpPr>
            <p:cNvPr id="88" name="Rectangle 87">
              <a:extLst>
                <a:ext uri="{FF2B5EF4-FFF2-40B4-BE49-F238E27FC236}">
                  <a16:creationId xmlns:a16="http://schemas.microsoft.com/office/drawing/2014/main" id="{BE83D374-A4BD-9305-4B77-9277BE561604}"/>
                </a:ext>
              </a:extLst>
            </p:cNvPr>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completed</a:t>
              </a:r>
              <a:endParaRPr lang="en-US">
                <a:latin typeface="Arial" pitchFamily="34" charset="0"/>
              </a:endParaRPr>
            </a:p>
          </p:txBody>
        </p:sp>
        <p:sp>
          <p:nvSpPr>
            <p:cNvPr id="89" name="Rectangle 88">
              <a:extLst>
                <a:ext uri="{FF2B5EF4-FFF2-40B4-BE49-F238E27FC236}">
                  <a16:creationId xmlns:a16="http://schemas.microsoft.com/office/drawing/2014/main" id="{0F477178-3D18-5EB5-5224-E31768495108}"/>
                </a:ext>
              </a:extLst>
            </p:cNvPr>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6</a:t>
              </a:r>
              <a:endParaRPr lang="en-US">
                <a:latin typeface="Arial" pitchFamily="34" charset="0"/>
              </a:endParaRPr>
            </a:p>
          </p:txBody>
        </p:sp>
        <p:sp>
          <p:nvSpPr>
            <p:cNvPr id="90" name="Rectangle 89">
              <a:extLst>
                <a:ext uri="{FF2B5EF4-FFF2-40B4-BE49-F238E27FC236}">
                  <a16:creationId xmlns:a16="http://schemas.microsoft.com/office/drawing/2014/main" id="{7FE0EC98-F7A1-462F-EFFB-553A25164270}"/>
                </a:ext>
              </a:extLst>
            </p:cNvPr>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91" name="Freeform 90">
              <a:extLst>
                <a:ext uri="{FF2B5EF4-FFF2-40B4-BE49-F238E27FC236}">
                  <a16:creationId xmlns:a16="http://schemas.microsoft.com/office/drawing/2014/main" id="{E3667AAF-C1ED-3D47-8C72-122800165B3A}"/>
                </a:ext>
              </a:extLst>
            </p:cNvPr>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2" name="Rectangle 91">
              <a:extLst>
                <a:ext uri="{FF2B5EF4-FFF2-40B4-BE49-F238E27FC236}">
                  <a16:creationId xmlns:a16="http://schemas.microsoft.com/office/drawing/2014/main" id="{D5BA667D-7C0D-64B7-5A9A-7A236CAED72B}"/>
                </a:ext>
              </a:extLst>
            </p:cNvPr>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3</a:t>
              </a:r>
              <a:endParaRPr lang="en-US">
                <a:latin typeface="Arial" pitchFamily="34" charset="0"/>
              </a:endParaRPr>
            </a:p>
          </p:txBody>
        </p:sp>
        <p:sp>
          <p:nvSpPr>
            <p:cNvPr id="93" name="Rectangle 92">
              <a:extLst>
                <a:ext uri="{FF2B5EF4-FFF2-40B4-BE49-F238E27FC236}">
                  <a16:creationId xmlns:a16="http://schemas.microsoft.com/office/drawing/2014/main" id="{EDF2B876-3B00-BFD2-A2A6-E55FEC556BE0}"/>
                </a:ext>
              </a:extLst>
            </p:cNvPr>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 Records-sales-on</a:t>
              </a:r>
              <a:endParaRPr lang="en-US">
                <a:latin typeface="Arial" pitchFamily="34" charset="0"/>
              </a:endParaRPr>
            </a:p>
          </p:txBody>
        </p:sp>
        <p:sp>
          <p:nvSpPr>
            <p:cNvPr id="94" name="Rectangle 93">
              <a:extLst>
                <a:ext uri="{FF2B5EF4-FFF2-40B4-BE49-F238E27FC236}">
                  <a16:creationId xmlns:a16="http://schemas.microsoft.com/office/drawing/2014/main" id="{40FF6BFA-C290-5AA6-402F-CFB990AF17DF}"/>
                </a:ext>
              </a:extLst>
            </p:cNvPr>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5" name="Rectangle 94">
              <a:extLst>
                <a:ext uri="{FF2B5EF4-FFF2-40B4-BE49-F238E27FC236}">
                  <a16:creationId xmlns:a16="http://schemas.microsoft.com/office/drawing/2014/main" id="{28A20B60-6347-B869-BEDC-503008F9230E}"/>
                </a:ext>
              </a:extLst>
            </p:cNvPr>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6" name="Rectangle 95">
              <a:extLst>
                <a:ext uri="{FF2B5EF4-FFF2-40B4-BE49-F238E27FC236}">
                  <a16:creationId xmlns:a16="http://schemas.microsoft.com/office/drawing/2014/main" id="{772FAF62-8AE2-2D19-7C6C-2AD357D59E07}"/>
                </a:ext>
              </a:extLst>
            </p:cNvPr>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7" name="Rectangle 96">
              <a:extLst>
                <a:ext uri="{FF2B5EF4-FFF2-40B4-BE49-F238E27FC236}">
                  <a16:creationId xmlns:a16="http://schemas.microsoft.com/office/drawing/2014/main" id="{92D49F9D-EB16-BFE2-57F1-67234C9F42A3}"/>
                </a:ext>
              </a:extLst>
            </p:cNvPr>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8" name="Rectangle 97">
              <a:extLst>
                <a:ext uri="{FF2B5EF4-FFF2-40B4-BE49-F238E27FC236}">
                  <a16:creationId xmlns:a16="http://schemas.microsoft.com/office/drawing/2014/main" id="{D0E2B50F-8335-4A46-74B0-272457C866C6}"/>
                </a:ext>
              </a:extLst>
            </p:cNvPr>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9" name="Rectangle 98">
              <a:extLst>
                <a:ext uri="{FF2B5EF4-FFF2-40B4-BE49-F238E27FC236}">
                  <a16:creationId xmlns:a16="http://schemas.microsoft.com/office/drawing/2014/main" id="{A8183378-7160-7FD2-A2F6-88E9E62B748E}"/>
                </a:ext>
              </a:extLst>
            </p:cNvPr>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0" name="Rectangle 99">
              <a:extLst>
                <a:ext uri="{FF2B5EF4-FFF2-40B4-BE49-F238E27FC236}">
                  <a16:creationId xmlns:a16="http://schemas.microsoft.com/office/drawing/2014/main" id="{DA64B7A2-210D-3700-E493-220998BEA14C}"/>
                </a:ext>
              </a:extLst>
            </p:cNvPr>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1" name="Rectangle 100">
              <a:extLst>
                <a:ext uri="{FF2B5EF4-FFF2-40B4-BE49-F238E27FC236}">
                  <a16:creationId xmlns:a16="http://schemas.microsoft.com/office/drawing/2014/main" id="{CDD216DF-C6E1-067C-21CF-7DDAAC660B71}"/>
                </a:ext>
              </a:extLst>
            </p:cNvPr>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2" name="Rectangle 101">
              <a:extLst>
                <a:ext uri="{FF2B5EF4-FFF2-40B4-BE49-F238E27FC236}">
                  <a16:creationId xmlns:a16="http://schemas.microsoft.com/office/drawing/2014/main" id="{33BBA5D0-33D1-ACE6-77AC-38026099A52B}"/>
                </a:ext>
              </a:extLst>
            </p:cNvPr>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3" name="Rectangle 102">
              <a:extLst>
                <a:ext uri="{FF2B5EF4-FFF2-40B4-BE49-F238E27FC236}">
                  <a16:creationId xmlns:a16="http://schemas.microsoft.com/office/drawing/2014/main" id="{18859938-010B-E599-BA1B-523F0315A4AD}"/>
                </a:ext>
              </a:extLst>
            </p:cNvPr>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4" name="Rectangle 103">
              <a:extLst>
                <a:ext uri="{FF2B5EF4-FFF2-40B4-BE49-F238E27FC236}">
                  <a16:creationId xmlns:a16="http://schemas.microsoft.com/office/drawing/2014/main" id="{A14C3589-64F9-395F-543E-BC2F29577368}"/>
                </a:ext>
              </a:extLst>
            </p:cNvPr>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5" name="Rectangle 104">
              <a:extLst>
                <a:ext uri="{FF2B5EF4-FFF2-40B4-BE49-F238E27FC236}">
                  <a16:creationId xmlns:a16="http://schemas.microsoft.com/office/drawing/2014/main" id="{BD120E7C-CDEA-A42E-207D-0575AA719DD7}"/>
                </a:ext>
              </a:extLst>
            </p:cNvPr>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6" name="Rectangle 105">
              <a:extLst>
                <a:ext uri="{FF2B5EF4-FFF2-40B4-BE49-F238E27FC236}">
                  <a16:creationId xmlns:a16="http://schemas.microsoft.com/office/drawing/2014/main" id="{8B3814C2-AF8F-32D6-AC43-95A3FB4272A1}"/>
                </a:ext>
              </a:extLst>
            </p:cNvPr>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7" name="Rectangle 106">
              <a:extLst>
                <a:ext uri="{FF2B5EF4-FFF2-40B4-BE49-F238E27FC236}">
                  <a16:creationId xmlns:a16="http://schemas.microsoft.com/office/drawing/2014/main" id="{26B90A47-A214-83F1-CCFF-B7C85E02D1D0}"/>
                </a:ext>
              </a:extLst>
            </p:cNvPr>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8" name="Rectangle 107">
              <a:extLst>
                <a:ext uri="{FF2B5EF4-FFF2-40B4-BE49-F238E27FC236}">
                  <a16:creationId xmlns:a16="http://schemas.microsoft.com/office/drawing/2014/main" id="{681951AC-8EC4-4828-F547-4A5ECE11E33C}"/>
                </a:ext>
              </a:extLst>
            </p:cNvPr>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9" name="Rectangle 109">
              <a:extLst>
                <a:ext uri="{FF2B5EF4-FFF2-40B4-BE49-F238E27FC236}">
                  <a16:creationId xmlns:a16="http://schemas.microsoft.com/office/drawing/2014/main" id="{6E262ED8-AEF2-842B-7B4E-28BAA37693CD}"/>
                </a:ext>
              </a:extLst>
            </p:cNvPr>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10" name="Rectangle 110">
              <a:extLst>
                <a:ext uri="{FF2B5EF4-FFF2-40B4-BE49-F238E27FC236}">
                  <a16:creationId xmlns:a16="http://schemas.microsoft.com/office/drawing/2014/main" id="{225B7087-1514-2A08-040B-9693C21E815C}"/>
                </a:ext>
              </a:extLst>
            </p:cNvPr>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grpSp>
      <p:cxnSp>
        <p:nvCxnSpPr>
          <p:cNvPr id="114" name="Straight Arrow Connector 113">
            <a:extLst>
              <a:ext uri="{FF2B5EF4-FFF2-40B4-BE49-F238E27FC236}">
                <a16:creationId xmlns:a16="http://schemas.microsoft.com/office/drawing/2014/main" id="{B15E1550-21C2-1ED1-EEE7-4F78048CA77A}"/>
              </a:ext>
            </a:extLst>
          </p:cNvPr>
          <p:cNvCxnSpPr>
            <a:endCxn id="26" idx="1"/>
          </p:cNvCxnSpPr>
          <p:nvPr/>
        </p:nvCxnSpPr>
        <p:spPr>
          <a:xfrm flipV="1">
            <a:off x="2968052" y="3526180"/>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8" name="TextBox 117">
            <a:extLst>
              <a:ext uri="{FF2B5EF4-FFF2-40B4-BE49-F238E27FC236}">
                <a16:creationId xmlns:a16="http://schemas.microsoft.com/office/drawing/2014/main" id="{DCEDEEAD-9B79-8A99-C52E-721C0C2FF444}"/>
              </a:ext>
            </a:extLst>
          </p:cNvPr>
          <p:cNvSpPr txBox="1"/>
          <p:nvPr/>
        </p:nvSpPr>
        <p:spPr>
          <a:xfrm>
            <a:off x="2146314" y="4101944"/>
            <a:ext cx="1052468" cy="369332"/>
          </a:xfrm>
          <a:prstGeom prst="rect">
            <a:avLst/>
          </a:prstGeom>
          <a:noFill/>
        </p:spPr>
        <p:txBody>
          <a:bodyPr wrap="none" rtlCol="0">
            <a:spAutoFit/>
          </a:bodyPr>
          <a:lstStyle/>
          <a:p>
            <a:r>
              <a:rPr lang="en-US" dirty="0">
                <a:solidFill>
                  <a:schemeClr val="accent2"/>
                </a:solidFill>
              </a:rPr>
              <a:t>Concepts</a:t>
            </a:r>
          </a:p>
        </p:txBody>
      </p:sp>
      <p:cxnSp>
        <p:nvCxnSpPr>
          <p:cNvPr id="119" name="Straight Arrow Connector 118">
            <a:extLst>
              <a:ext uri="{FF2B5EF4-FFF2-40B4-BE49-F238E27FC236}">
                <a16:creationId xmlns:a16="http://schemas.microsoft.com/office/drawing/2014/main" id="{5B3E6DAF-36A0-49D3-2E1A-9A3B5EB24809}"/>
              </a:ext>
            </a:extLst>
          </p:cNvPr>
          <p:cNvCxnSpPr/>
          <p:nvPr/>
        </p:nvCxnSpPr>
        <p:spPr>
          <a:xfrm flipV="1">
            <a:off x="3120452" y="4982722"/>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0" name="TextBox 119">
            <a:extLst>
              <a:ext uri="{FF2B5EF4-FFF2-40B4-BE49-F238E27FC236}">
                <a16:creationId xmlns:a16="http://schemas.microsoft.com/office/drawing/2014/main" id="{13090A36-7139-6F23-13D4-D3F33C6CC377}"/>
              </a:ext>
            </a:extLst>
          </p:cNvPr>
          <p:cNvSpPr txBox="1"/>
          <p:nvPr/>
        </p:nvSpPr>
        <p:spPr>
          <a:xfrm>
            <a:off x="1983992" y="5462242"/>
            <a:ext cx="1118832" cy="369332"/>
          </a:xfrm>
          <a:prstGeom prst="rect">
            <a:avLst/>
          </a:prstGeom>
          <a:noFill/>
        </p:spPr>
        <p:txBody>
          <a:bodyPr wrap="none" rtlCol="0">
            <a:spAutoFit/>
          </a:bodyPr>
          <a:lstStyle/>
          <a:p>
            <a:r>
              <a:rPr lang="en-US" dirty="0">
                <a:solidFill>
                  <a:schemeClr val="accent2"/>
                </a:solidFill>
              </a:rPr>
              <a:t>Attributes</a:t>
            </a:r>
          </a:p>
        </p:txBody>
      </p:sp>
      <p:cxnSp>
        <p:nvCxnSpPr>
          <p:cNvPr id="121" name="Straight Arrow Connector 120">
            <a:extLst>
              <a:ext uri="{FF2B5EF4-FFF2-40B4-BE49-F238E27FC236}">
                <a16:creationId xmlns:a16="http://schemas.microsoft.com/office/drawing/2014/main" id="{8D147621-074B-CE79-C4F3-1FC437F5454A}"/>
              </a:ext>
            </a:extLst>
          </p:cNvPr>
          <p:cNvCxnSpPr/>
          <p:nvPr/>
        </p:nvCxnSpPr>
        <p:spPr>
          <a:xfrm flipV="1">
            <a:off x="3210314" y="2702171"/>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3" name="TextBox 122">
            <a:extLst>
              <a:ext uri="{FF2B5EF4-FFF2-40B4-BE49-F238E27FC236}">
                <a16:creationId xmlns:a16="http://schemas.microsoft.com/office/drawing/2014/main" id="{75A8DFBB-8EFC-96FB-BDCF-B26F10CA3F24}"/>
              </a:ext>
            </a:extLst>
          </p:cNvPr>
          <p:cNvSpPr txBox="1"/>
          <p:nvPr/>
        </p:nvSpPr>
        <p:spPr>
          <a:xfrm>
            <a:off x="1967378" y="3187855"/>
            <a:ext cx="1251753" cy="369332"/>
          </a:xfrm>
          <a:prstGeom prst="rect">
            <a:avLst/>
          </a:prstGeom>
          <a:noFill/>
        </p:spPr>
        <p:txBody>
          <a:bodyPr wrap="none" rtlCol="0">
            <a:spAutoFit/>
          </a:bodyPr>
          <a:lstStyle/>
          <a:p>
            <a:r>
              <a:rPr lang="en-US" dirty="0">
                <a:solidFill>
                  <a:schemeClr val="accent2"/>
                </a:solidFill>
              </a:rPr>
              <a:t>Association</a:t>
            </a:r>
          </a:p>
        </p:txBody>
      </p:sp>
      <p:sp>
        <p:nvSpPr>
          <p:cNvPr id="125" name="Slide Number Placeholder 124">
            <a:extLst>
              <a:ext uri="{FF2B5EF4-FFF2-40B4-BE49-F238E27FC236}">
                <a16:creationId xmlns:a16="http://schemas.microsoft.com/office/drawing/2014/main" id="{203A8ABC-1632-58C0-8347-96F4A822013A}"/>
              </a:ext>
            </a:extLst>
          </p:cNvPr>
          <p:cNvSpPr>
            <a:spLocks noGrp="1"/>
          </p:cNvSpPr>
          <p:nvPr>
            <p:ph type="sldNum" sz="quarter" idx="12"/>
          </p:nvPr>
        </p:nvSpPr>
        <p:spPr/>
        <p:txBody>
          <a:bodyPr/>
          <a:lstStyle/>
          <a:p>
            <a:fld id="{7DF6DEEC-D04A-4FF0-9A08-7D39859C24F4}" type="slidenum">
              <a:rPr lang="en-US" smtClean="0"/>
              <a:t>4</a:t>
            </a:fld>
            <a:endParaRPr lang="en-US"/>
          </a:p>
        </p:txBody>
      </p:sp>
      <p:cxnSp>
        <p:nvCxnSpPr>
          <p:cNvPr id="3" name="Straight Arrow Connector 2">
            <a:extLst>
              <a:ext uri="{FF2B5EF4-FFF2-40B4-BE49-F238E27FC236}">
                <a16:creationId xmlns:a16="http://schemas.microsoft.com/office/drawing/2014/main" id="{82FBBA79-9929-E019-6F0F-2C5F6CC7AA70}"/>
              </a:ext>
            </a:extLst>
          </p:cNvPr>
          <p:cNvCxnSpPr>
            <a:cxnSpLocks/>
            <a:endCxn id="25" idx="1"/>
          </p:cNvCxnSpPr>
          <p:nvPr/>
        </p:nvCxnSpPr>
        <p:spPr>
          <a:xfrm>
            <a:off x="3163504" y="5646594"/>
            <a:ext cx="505024" cy="49396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16" name="Straight Arrow Connector 115">
            <a:extLst>
              <a:ext uri="{FF2B5EF4-FFF2-40B4-BE49-F238E27FC236}">
                <a16:creationId xmlns:a16="http://schemas.microsoft.com/office/drawing/2014/main" id="{3396C1A6-67C9-66D3-A1AC-0ECD6FBE796A}"/>
              </a:ext>
            </a:extLst>
          </p:cNvPr>
          <p:cNvCxnSpPr>
            <a:cxnSpLocks/>
          </p:cNvCxnSpPr>
          <p:nvPr/>
        </p:nvCxnSpPr>
        <p:spPr>
          <a:xfrm>
            <a:off x="2946381" y="4181123"/>
            <a:ext cx="1419116" cy="37905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6" name="Straight Arrow Connector 125">
            <a:extLst>
              <a:ext uri="{FF2B5EF4-FFF2-40B4-BE49-F238E27FC236}">
                <a16:creationId xmlns:a16="http://schemas.microsoft.com/office/drawing/2014/main" id="{0455B3F6-80E7-D837-969F-3263F87155DE}"/>
              </a:ext>
            </a:extLst>
          </p:cNvPr>
          <p:cNvCxnSpPr>
            <a:cxnSpLocks/>
          </p:cNvCxnSpPr>
          <p:nvPr/>
        </p:nvCxnSpPr>
        <p:spPr>
          <a:xfrm flipV="1">
            <a:off x="3180387" y="2985629"/>
            <a:ext cx="1902580" cy="40215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87654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20" grpId="0"/>
      <p:bldP spid="123"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BD2E017-1631-5B6D-B4DF-B241D5BE4212}"/>
              </a:ext>
            </a:extLst>
          </p:cNvPr>
          <p:cNvSpPr>
            <a:spLocks noGrp="1"/>
          </p:cNvSpPr>
          <p:nvPr>
            <p:ph type="title"/>
          </p:nvPr>
        </p:nvSpPr>
        <p:spPr>
          <a:xfrm>
            <a:off x="1115568" y="548640"/>
            <a:ext cx="10168128" cy="1179576"/>
          </a:xfrm>
        </p:spPr>
        <p:txBody>
          <a:bodyPr>
            <a:normAutofit/>
          </a:bodyPr>
          <a:lstStyle/>
          <a:p>
            <a:r>
              <a:rPr lang="en-US" sz="4000" dirty="0"/>
              <a:t>What is a Domain Model?</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B6BD045A-825C-9ADE-0FFA-A1995CA65ED2}"/>
              </a:ext>
            </a:extLst>
          </p:cNvPr>
          <p:cNvSpPr>
            <a:spLocks noGrp="1"/>
          </p:cNvSpPr>
          <p:nvPr>
            <p:ph idx="1"/>
          </p:nvPr>
        </p:nvSpPr>
        <p:spPr>
          <a:xfrm>
            <a:off x="1115568" y="2481943"/>
            <a:ext cx="10168128" cy="3695020"/>
          </a:xfrm>
        </p:spPr>
        <p:txBody>
          <a:bodyPr>
            <a:noAutofit/>
          </a:bodyPr>
          <a:lstStyle/>
          <a:p>
            <a:pPr algn="just"/>
            <a:r>
              <a:rPr lang="en-US" sz="3600" b="0" i="0" dirty="0">
                <a:effectLst/>
                <a:latin typeface="Lato Extended"/>
              </a:rPr>
              <a:t>The domain model illustrates the domain </a:t>
            </a:r>
            <a:r>
              <a:rPr lang="en-US" sz="3600" b="1" i="0" dirty="0">
                <a:solidFill>
                  <a:schemeClr val="accent2"/>
                </a:solidFill>
                <a:effectLst/>
                <a:latin typeface="Lato Extended"/>
              </a:rPr>
              <a:t>classes</a:t>
            </a:r>
            <a:r>
              <a:rPr lang="en-US" sz="3600" b="1" i="0" dirty="0">
                <a:effectLst/>
                <a:latin typeface="Lato Extended"/>
              </a:rPr>
              <a:t> </a:t>
            </a:r>
            <a:r>
              <a:rPr lang="en-US" sz="3600" b="0" i="0" dirty="0">
                <a:effectLst/>
                <a:latin typeface="Lato Extended"/>
              </a:rPr>
              <a:t>and how they are related to one another by </a:t>
            </a:r>
            <a:r>
              <a:rPr lang="en-US" sz="3600" b="1" i="0" dirty="0">
                <a:solidFill>
                  <a:schemeClr val="accent2"/>
                </a:solidFill>
                <a:effectLst/>
                <a:latin typeface="Lato Extended"/>
              </a:rPr>
              <a:t>association</a:t>
            </a:r>
            <a:r>
              <a:rPr lang="en-US" sz="3600" b="0" i="0" dirty="0">
                <a:effectLst/>
                <a:latin typeface="Lato Extended"/>
              </a:rPr>
              <a:t>. </a:t>
            </a:r>
          </a:p>
          <a:p>
            <a:pPr algn="just"/>
            <a:endParaRPr lang="en-US" sz="3600" dirty="0">
              <a:latin typeface="Lato Extended"/>
            </a:endParaRPr>
          </a:p>
          <a:p>
            <a:pPr algn="just"/>
            <a:r>
              <a:rPr lang="en-US" sz="3600" b="0" i="0" dirty="0">
                <a:effectLst/>
                <a:latin typeface="Lato Extended"/>
              </a:rPr>
              <a:t>It is a static model; therefore, no sequence of events or information flow is shown in the domain model.</a:t>
            </a:r>
            <a:endParaRPr lang="en-US" sz="3600" dirty="0"/>
          </a:p>
        </p:txBody>
      </p:sp>
      <p:sp>
        <p:nvSpPr>
          <p:cNvPr id="4" name="Slide Number Placeholder 3">
            <a:extLst>
              <a:ext uri="{FF2B5EF4-FFF2-40B4-BE49-F238E27FC236}">
                <a16:creationId xmlns:a16="http://schemas.microsoft.com/office/drawing/2014/main" id="{1EEA1DA4-D6DD-5040-8E34-5C43C745EAB8}"/>
              </a:ext>
            </a:extLst>
          </p:cNvPr>
          <p:cNvSpPr>
            <a:spLocks noGrp="1"/>
          </p:cNvSpPr>
          <p:nvPr>
            <p:ph type="sldNum" sz="quarter" idx="12"/>
          </p:nvPr>
        </p:nvSpPr>
        <p:spPr/>
        <p:txBody>
          <a:bodyPr/>
          <a:lstStyle/>
          <a:p>
            <a:fld id="{7DF6DEEC-D04A-4FF0-9A08-7D39859C24F4}" type="slidenum">
              <a:rPr lang="en-US" smtClean="0"/>
              <a:t>5</a:t>
            </a:fld>
            <a:endParaRPr lang="en-US"/>
          </a:p>
        </p:txBody>
      </p:sp>
    </p:spTree>
    <p:extLst>
      <p:ext uri="{BB962C8B-B14F-4D97-AF65-F5344CB8AC3E}">
        <p14:creationId xmlns:p14="http://schemas.microsoft.com/office/powerpoint/2010/main" val="31944907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10" name="Rectangle 2"/>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3" name="Rectangle 683032">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83035" name="Rectangle 68303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16" name="Rectangle 8"/>
          <p:cNvSpPr>
            <a:spLocks noGrp="1" noChangeArrowheads="1"/>
          </p:cNvSpPr>
          <p:nvPr>
            <p:ph type="body" idx="1"/>
          </p:nvPr>
        </p:nvSpPr>
        <p:spPr>
          <a:xfrm>
            <a:off x="793660" y="2599509"/>
            <a:ext cx="10143668" cy="3435531"/>
          </a:xfrm>
        </p:spPr>
        <p:txBody>
          <a:bodyPr anchor="ctr">
            <a:normAutofit/>
          </a:bodyPr>
          <a:lstStyle/>
          <a:p>
            <a:r>
              <a:rPr lang="en-US" altLang="en-US" sz="4400" dirty="0">
                <a:solidFill>
                  <a:srgbClr val="FF0000"/>
                </a:solidFill>
              </a:rPr>
              <a:t>1- We must identify classes</a:t>
            </a:r>
          </a:p>
          <a:p>
            <a:r>
              <a:rPr lang="en-US" altLang="en-US" sz="4400" dirty="0"/>
              <a:t>2- We must identify Attributes</a:t>
            </a:r>
          </a:p>
          <a:p>
            <a:r>
              <a:rPr lang="en-US" altLang="en-US" sz="4400" dirty="0"/>
              <a:t>3- We must identify Associations</a:t>
            </a:r>
          </a:p>
          <a:p>
            <a:pPr marL="457200" lvl="1" indent="0">
              <a:buNone/>
            </a:pPr>
            <a:endParaRPr lang="en-US" altLang="en-US" dirty="0"/>
          </a:p>
        </p:txBody>
      </p:sp>
      <p:sp>
        <p:nvSpPr>
          <p:cNvPr id="4" name="Slide Number Placeholder 3"/>
          <p:cNvSpPr>
            <a:spLocks noGrp="1"/>
          </p:cNvSpPr>
          <p:nvPr>
            <p:ph type="sldNum" sz="quarter" idx="10"/>
          </p:nvPr>
        </p:nvSpPr>
        <p:spPr>
          <a:xfrm>
            <a:off x="8610600" y="6492240"/>
            <a:ext cx="2743200" cy="365125"/>
          </a:xfrm>
        </p:spPr>
        <p:txBody>
          <a:bodyPr>
            <a:normAutofit/>
          </a:bodyPr>
          <a:lstStyle/>
          <a:p>
            <a:pPr>
              <a:spcAft>
                <a:spcPts val="600"/>
              </a:spcAft>
            </a:pPr>
            <a:fld id="{605FD109-E764-47CB-BA1F-DE10B4912347}" type="slidenum">
              <a:rPr lang="de-DE"/>
              <a:pPr>
                <a:spcAft>
                  <a:spcPts val="600"/>
                </a:spcAft>
              </a:pPr>
              <a:t>6</a:t>
            </a:fld>
            <a:endParaRPr lang="de-D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1331" name="Rectangle 781330">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81333" name="Rectangle 781332">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81335" name="Rectangle 781334">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1314" name="Rectangle 2"/>
          <p:cNvSpPr>
            <a:spLocks noGrp="1" noChangeArrowheads="1"/>
          </p:cNvSpPr>
          <p:nvPr>
            <p:ph type="title"/>
          </p:nvPr>
        </p:nvSpPr>
        <p:spPr>
          <a:xfrm>
            <a:off x="1115568" y="548640"/>
            <a:ext cx="10168128" cy="1179576"/>
          </a:xfrm>
        </p:spPr>
        <p:txBody>
          <a:bodyPr>
            <a:normAutofit/>
          </a:bodyPr>
          <a:lstStyle/>
          <a:p>
            <a:r>
              <a:rPr lang="en-US" altLang="en-US" sz="4000" dirty="0"/>
              <a:t>Identifying Classes</a:t>
            </a:r>
          </a:p>
        </p:txBody>
      </p:sp>
      <p:sp>
        <p:nvSpPr>
          <p:cNvPr id="781337" name="Rectangle 781336">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81315" name="Rectangle 3"/>
          <p:cNvSpPr>
            <a:spLocks noGrp="1" noChangeArrowheads="1"/>
          </p:cNvSpPr>
          <p:nvPr>
            <p:ph type="body" idx="1"/>
          </p:nvPr>
        </p:nvSpPr>
        <p:spPr>
          <a:xfrm>
            <a:off x="1115568" y="2481943"/>
            <a:ext cx="10168128" cy="3695020"/>
          </a:xfrm>
        </p:spPr>
        <p:txBody>
          <a:bodyPr>
            <a:normAutofit/>
          </a:bodyPr>
          <a:lstStyle/>
          <a:p>
            <a:pPr algn="l">
              <a:buFont typeface="Arial" panose="020B0604020202020204" pitchFamily="34" charset="0"/>
              <a:buChar char="•"/>
            </a:pPr>
            <a:r>
              <a:rPr lang="en-US" sz="3600" dirty="0">
                <a:solidFill>
                  <a:srgbClr val="2D3B45"/>
                </a:solidFill>
                <a:latin typeface="Lato Extended"/>
              </a:rPr>
              <a:t>T</a:t>
            </a:r>
            <a:r>
              <a:rPr lang="en-US" sz="3600" b="0" i="0" dirty="0">
                <a:solidFill>
                  <a:srgbClr val="2D3B45"/>
                </a:solidFill>
                <a:effectLst/>
                <a:latin typeface="Lato Extended"/>
              </a:rPr>
              <a:t>he textual description of the use case; create a list of potential classes.</a:t>
            </a:r>
          </a:p>
          <a:p>
            <a:pPr marL="0" indent="0" algn="l">
              <a:buNone/>
            </a:pPr>
            <a:endParaRPr lang="en-US" sz="3600" b="0" i="0" dirty="0">
              <a:solidFill>
                <a:srgbClr val="2D3B45"/>
              </a:solidFill>
              <a:effectLst/>
              <a:latin typeface="Lato Extended"/>
            </a:endParaRPr>
          </a:p>
          <a:p>
            <a:pPr algn="l">
              <a:buFont typeface="Arial" panose="020B0604020202020204" pitchFamily="34" charset="0"/>
              <a:buChar char="•"/>
            </a:pPr>
            <a:r>
              <a:rPr lang="en-US" sz="3600" b="0" i="0" dirty="0">
                <a:solidFill>
                  <a:srgbClr val="2D3B45"/>
                </a:solidFill>
                <a:effectLst/>
                <a:latin typeface="Lato Extended"/>
              </a:rPr>
              <a:t>Use the nouns to identify potential classes or attributes.</a:t>
            </a:r>
          </a:p>
          <a:p>
            <a:pPr marL="914400" lvl="2" indent="0">
              <a:buNone/>
            </a:pPr>
            <a:endParaRPr lang="en-US" sz="2200" dirty="0"/>
          </a:p>
        </p:txBody>
      </p:sp>
      <p:sp>
        <p:nvSpPr>
          <p:cNvPr id="4" name="Slide Number Placeholder 3"/>
          <p:cNvSpPr>
            <a:spLocks noGrp="1"/>
          </p:cNvSpPr>
          <p:nvPr>
            <p:ph type="sldNum" sz="quarter" idx="10"/>
          </p:nvPr>
        </p:nvSpPr>
        <p:spPr>
          <a:xfrm>
            <a:off x="10807908" y="6356351"/>
            <a:ext cx="475788" cy="283750"/>
          </a:xfrm>
        </p:spPr>
        <p:txBody>
          <a:bodyPr>
            <a:normAutofit/>
          </a:bodyPr>
          <a:lstStyle/>
          <a:p>
            <a:pPr>
              <a:spcAft>
                <a:spcPts val="600"/>
              </a:spcAft>
            </a:pPr>
            <a:fld id="{993831BB-275C-49A3-B589-ED4939739F83}" type="slidenum">
              <a:rPr lang="de-DE">
                <a:solidFill>
                  <a:schemeClr val="tx1">
                    <a:lumMod val="50000"/>
                    <a:lumOff val="50000"/>
                  </a:schemeClr>
                </a:solidFill>
              </a:rPr>
              <a:pPr>
                <a:spcAft>
                  <a:spcPts val="600"/>
                </a:spcAft>
              </a:pPr>
              <a:t>7</a:t>
            </a:fld>
            <a:endParaRPr lang="de-DE">
              <a:solidFill>
                <a:schemeClr val="tx1">
                  <a:lumMod val="50000"/>
                  <a:lumOff val="50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817C9-0515-214D-8F08-690F3B7D2F5B}"/>
              </a:ext>
            </a:extLst>
          </p:cNvPr>
          <p:cNvSpPr>
            <a:spLocks noGrp="1"/>
          </p:cNvSpPr>
          <p:nvPr>
            <p:ph type="title"/>
          </p:nvPr>
        </p:nvSpPr>
        <p:spPr/>
        <p:txBody>
          <a:bodyPr/>
          <a:lstStyle/>
          <a:p>
            <a:r>
              <a:rPr lang="en-US" dirty="0"/>
              <a:t>Identifying Classes</a:t>
            </a:r>
          </a:p>
        </p:txBody>
      </p:sp>
      <p:sp>
        <p:nvSpPr>
          <p:cNvPr id="3" name="Content Placeholder 2">
            <a:extLst>
              <a:ext uri="{FF2B5EF4-FFF2-40B4-BE49-F238E27FC236}">
                <a16:creationId xmlns:a16="http://schemas.microsoft.com/office/drawing/2014/main" id="{EBFD073E-AA17-0E3C-C67E-D01026F8BE98}"/>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F3B38B4D-9BA9-E8B5-4931-CCBE4123BA6D}"/>
              </a:ext>
            </a:extLst>
          </p:cNvPr>
          <p:cNvPicPr>
            <a:picLocks noChangeAspect="1"/>
          </p:cNvPicPr>
          <p:nvPr/>
        </p:nvPicPr>
        <p:blipFill>
          <a:blip r:embed="rId2"/>
          <a:stretch>
            <a:fillRect/>
          </a:stretch>
        </p:blipFill>
        <p:spPr>
          <a:xfrm>
            <a:off x="674556" y="1725782"/>
            <a:ext cx="10679243" cy="4630048"/>
          </a:xfrm>
          <a:prstGeom prst="rect">
            <a:avLst/>
          </a:prstGeom>
        </p:spPr>
      </p:pic>
      <p:sp>
        <p:nvSpPr>
          <p:cNvPr id="6" name="Slide Number Placeholder 5">
            <a:extLst>
              <a:ext uri="{FF2B5EF4-FFF2-40B4-BE49-F238E27FC236}">
                <a16:creationId xmlns:a16="http://schemas.microsoft.com/office/drawing/2014/main" id="{504D16F3-D596-09C0-1994-A9DD4DBCDCCB}"/>
              </a:ext>
            </a:extLst>
          </p:cNvPr>
          <p:cNvSpPr>
            <a:spLocks noGrp="1"/>
          </p:cNvSpPr>
          <p:nvPr>
            <p:ph type="sldNum" sz="quarter" idx="12"/>
          </p:nvPr>
        </p:nvSpPr>
        <p:spPr/>
        <p:txBody>
          <a:bodyPr/>
          <a:lstStyle/>
          <a:p>
            <a:fld id="{7DF6DEEC-D04A-4FF0-9A08-7D39859C24F4}" type="slidenum">
              <a:rPr lang="en-US" smtClean="0"/>
              <a:t>8</a:t>
            </a:fld>
            <a:endParaRPr lang="en-US"/>
          </a:p>
        </p:txBody>
      </p:sp>
    </p:spTree>
    <p:extLst>
      <p:ext uri="{BB962C8B-B14F-4D97-AF65-F5344CB8AC3E}">
        <p14:creationId xmlns:p14="http://schemas.microsoft.com/office/powerpoint/2010/main" val="3315950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1ED5705-5740-5CD5-2499-017B919A64A0}"/>
              </a:ext>
            </a:extLst>
          </p:cNvPr>
          <p:cNvPicPr>
            <a:picLocks noGrp="1" noChangeAspect="1"/>
          </p:cNvPicPr>
          <p:nvPr>
            <p:ph idx="1"/>
          </p:nvPr>
        </p:nvPicPr>
        <p:blipFill>
          <a:blip r:embed="rId2"/>
          <a:stretch>
            <a:fillRect/>
          </a:stretch>
        </p:blipFill>
        <p:spPr>
          <a:xfrm>
            <a:off x="660812" y="643466"/>
            <a:ext cx="10870376" cy="5571067"/>
          </a:xfrm>
          <a:prstGeom prst="rect">
            <a:avLst/>
          </a:prstGeom>
        </p:spPr>
      </p:pic>
      <p:sp>
        <p:nvSpPr>
          <p:cNvPr id="6" name="Slide Number Placeholder 5">
            <a:extLst>
              <a:ext uri="{FF2B5EF4-FFF2-40B4-BE49-F238E27FC236}">
                <a16:creationId xmlns:a16="http://schemas.microsoft.com/office/drawing/2014/main" id="{E726D34F-E669-F73E-DADB-0F372A1FBF2D}"/>
              </a:ext>
            </a:extLst>
          </p:cNvPr>
          <p:cNvSpPr>
            <a:spLocks noGrp="1"/>
          </p:cNvSpPr>
          <p:nvPr>
            <p:ph type="sldNum" sz="quarter" idx="12"/>
          </p:nvPr>
        </p:nvSpPr>
        <p:spPr/>
        <p:txBody>
          <a:bodyPr/>
          <a:lstStyle/>
          <a:p>
            <a:fld id="{7DF6DEEC-D04A-4FF0-9A08-7D39859C24F4}" type="slidenum">
              <a:rPr lang="en-US" smtClean="0"/>
              <a:t>9</a:t>
            </a:fld>
            <a:endParaRPr lang="en-US"/>
          </a:p>
        </p:txBody>
      </p:sp>
    </p:spTree>
    <p:extLst>
      <p:ext uri="{BB962C8B-B14F-4D97-AF65-F5344CB8AC3E}">
        <p14:creationId xmlns:p14="http://schemas.microsoft.com/office/powerpoint/2010/main" val="14516586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87458" name="Rectangle 2"/>
          <p:cNvSpPr>
            <a:spLocks noGrp="1" noChangeArrowheads="1"/>
          </p:cNvSpPr>
          <p:nvPr>
            <p:ph type="title"/>
          </p:nvPr>
        </p:nvSpPr>
        <p:spPr>
          <a:xfrm>
            <a:off x="134911" y="1138265"/>
            <a:ext cx="3683715" cy="2909296"/>
          </a:xfrm>
        </p:spPr>
        <p:txBody>
          <a:bodyPr anchor="t">
            <a:normAutofit/>
          </a:bodyPr>
          <a:lstStyle/>
          <a:p>
            <a:r>
              <a:rPr lang="en-US" altLang="en-US" sz="3200" dirty="0"/>
              <a:t>Pruning the List of Classes</a:t>
            </a:r>
          </a:p>
        </p:txBody>
      </p:sp>
      <p:cxnSp>
        <p:nvCxnSpPr>
          <p:cNvPr id="787464" name="Straight Connector 787463">
            <a:extLst>
              <a:ext uri="{FF2B5EF4-FFF2-40B4-BE49-F238E27FC236}">
                <a16:creationId xmlns:a16="http://schemas.microsoft.com/office/drawing/2014/main" id="{00CD8E7C-C23B-A3B9-B18A-838AED877A4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87459" name="Rectangle 3"/>
          <p:cNvSpPr>
            <a:spLocks noGrp="1" noChangeArrowheads="1"/>
          </p:cNvSpPr>
          <p:nvPr>
            <p:ph type="body" idx="1"/>
          </p:nvPr>
        </p:nvSpPr>
        <p:spPr>
          <a:xfrm>
            <a:off x="3537679" y="753376"/>
            <a:ext cx="7724106" cy="5434637"/>
          </a:xfrm>
        </p:spPr>
        <p:txBody>
          <a:bodyPr>
            <a:normAutofit fontScale="92500" lnSpcReduction="10000"/>
          </a:bodyPr>
          <a:lstStyle/>
          <a:p>
            <a:pPr marL="342900" indent="-342900" algn="just"/>
            <a:r>
              <a:rPr lang="en-US" sz="3000" dirty="0"/>
              <a:t>Examine list of potential classes &amp; eliminate</a:t>
            </a:r>
          </a:p>
          <a:p>
            <a:pPr marL="0" indent="0" algn="just">
              <a:buNone/>
            </a:pPr>
            <a:endParaRPr lang="en-US" sz="3000" dirty="0"/>
          </a:p>
          <a:p>
            <a:pPr marL="742950" lvl="1" indent="-285750" algn="just"/>
            <a:r>
              <a:rPr lang="en-US" sz="3000" i="1" dirty="0">
                <a:solidFill>
                  <a:srgbClr val="FF0000"/>
                </a:solidFill>
              </a:rPr>
              <a:t>Redundant Classes</a:t>
            </a:r>
            <a:r>
              <a:rPr lang="en-US" sz="3000" i="1" dirty="0"/>
              <a:t>: </a:t>
            </a:r>
            <a:r>
              <a:rPr lang="en-US" sz="3000" dirty="0"/>
              <a:t>Two classes that express the same information</a:t>
            </a:r>
          </a:p>
          <a:p>
            <a:pPr marL="742950" lvl="1" indent="-285750" algn="just"/>
            <a:endParaRPr lang="en-US" sz="3000" dirty="0"/>
          </a:p>
          <a:p>
            <a:pPr marL="742950" lvl="1" indent="-285750" algn="just"/>
            <a:r>
              <a:rPr lang="en-US" sz="3000" i="1" dirty="0">
                <a:solidFill>
                  <a:srgbClr val="FF0000"/>
                </a:solidFill>
              </a:rPr>
              <a:t>Irrelevant Classes</a:t>
            </a:r>
            <a:r>
              <a:rPr lang="en-US" sz="3000" i="1" dirty="0"/>
              <a:t>: </a:t>
            </a:r>
            <a:r>
              <a:rPr lang="en-US" sz="3000" dirty="0"/>
              <a:t>Classes that have little or nothing to do with the problem</a:t>
            </a:r>
          </a:p>
          <a:p>
            <a:pPr marL="742950" lvl="1" indent="-285750" algn="just"/>
            <a:endParaRPr lang="en-US" sz="3000" dirty="0"/>
          </a:p>
          <a:p>
            <a:pPr marL="742950" lvl="1" indent="-285750" algn="just"/>
            <a:r>
              <a:rPr lang="en-US" sz="3000" i="1" dirty="0">
                <a:solidFill>
                  <a:srgbClr val="FF0000"/>
                </a:solidFill>
              </a:rPr>
              <a:t>Vague Classes</a:t>
            </a:r>
            <a:r>
              <a:rPr lang="en-US" sz="3000" i="1" dirty="0"/>
              <a:t>: </a:t>
            </a:r>
            <a:r>
              <a:rPr lang="en-US" sz="3000" dirty="0"/>
              <a:t>Classes with ill-defined boundaries or too broad in scope</a:t>
            </a:r>
          </a:p>
          <a:p>
            <a:pPr marL="742950" lvl="1" indent="-285750" algn="just"/>
            <a:endParaRPr lang="en-US" sz="3000" dirty="0"/>
          </a:p>
          <a:p>
            <a:pPr marL="742950" lvl="1" indent="-285750" algn="just"/>
            <a:r>
              <a:rPr lang="en-US" sz="3000" i="1" dirty="0">
                <a:solidFill>
                  <a:srgbClr val="FF0000"/>
                </a:solidFill>
              </a:rPr>
              <a:t>Implementation Specific Classes</a:t>
            </a:r>
            <a:r>
              <a:rPr lang="en-US" sz="3000" i="1" dirty="0"/>
              <a:t>: </a:t>
            </a:r>
            <a:r>
              <a:rPr lang="en-US" sz="3000" dirty="0"/>
              <a:t>Classes that represent software or processes</a:t>
            </a:r>
          </a:p>
          <a:p>
            <a:pPr marL="742950" lvl="1" indent="-285750" algn="just"/>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7C62D41F-245E-4341-AA78-918194F03FEB}" type="slidenum">
              <a:rPr lang="de-DE"/>
              <a:pPr>
                <a:spcAft>
                  <a:spcPts val="600"/>
                </a:spcAft>
              </a:pPr>
              <a:t>10</a:t>
            </a:fld>
            <a:endParaRPr lang="de-D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Slide Number Placeholder 3"/>
          <p:cNvSpPr>
            <a:spLocks noGrp="1"/>
          </p:cNvSpPr>
          <p:nvPr>
            <p:ph type="sldNum" sz="quarter" idx="10"/>
          </p:nvPr>
        </p:nvSpPr>
        <p:spPr/>
        <p:txBody>
          <a:bodyPr/>
          <a:lstStyle/>
          <a:p>
            <a:fld id="{8BB7FCA0-4E28-495A-AD42-181A8FB2ACED}" type="slidenum">
              <a:rPr lang="de-DE">
                <a:solidFill>
                  <a:schemeClr val="tx1"/>
                </a:solidFill>
              </a:rPr>
              <a:pPr/>
              <a:t>11</a:t>
            </a:fld>
            <a:endParaRPr lang="de-DE">
              <a:solidFill>
                <a:schemeClr val="tx1"/>
              </a:solidFill>
            </a:endParaRPr>
          </a:p>
        </p:txBody>
      </p:sp>
      <p:sp>
        <p:nvSpPr>
          <p:cNvPr id="793602" name="Rectangle 2"/>
          <p:cNvSpPr>
            <a:spLocks noGrp="1" noChangeArrowheads="1"/>
          </p:cNvSpPr>
          <p:nvPr>
            <p:ph type="title"/>
          </p:nvPr>
        </p:nvSpPr>
        <p:spPr/>
        <p:txBody>
          <a:bodyPr/>
          <a:lstStyle/>
          <a:p>
            <a:r>
              <a:rPr lang="en-US" altLang="en-US" dirty="0"/>
              <a:t>Example: Pruning the List</a:t>
            </a:r>
          </a:p>
        </p:txBody>
      </p:sp>
      <p:sp>
        <p:nvSpPr>
          <p:cNvPr id="793604" name="Rectangle 4"/>
          <p:cNvSpPr>
            <a:spLocks noChangeArrowheads="1"/>
          </p:cNvSpPr>
          <p:nvPr/>
        </p:nvSpPr>
        <p:spPr bwMode="auto">
          <a:xfrm>
            <a:off x="1888761" y="6072188"/>
            <a:ext cx="1568815"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Sales</a:t>
            </a:r>
          </a:p>
          <a:p>
            <a:pPr>
              <a:lnSpc>
                <a:spcPct val="100000"/>
              </a:lnSpc>
            </a:pPr>
            <a:r>
              <a:rPr lang="en-US" sz="2000" dirty="0">
                <a:latin typeface="Times New Roman" pitchFamily="18" charset="0"/>
              </a:rPr>
              <a:t>Line Item</a:t>
            </a:r>
          </a:p>
        </p:txBody>
      </p:sp>
      <p:sp>
        <p:nvSpPr>
          <p:cNvPr id="793605" name="Rectangle 5"/>
          <p:cNvSpPr>
            <a:spLocks noChangeArrowheads="1"/>
          </p:cNvSpPr>
          <p:nvPr/>
        </p:nvSpPr>
        <p:spPr bwMode="auto">
          <a:xfrm>
            <a:off x="8662989" y="6003926"/>
            <a:ext cx="1950047" cy="62547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Product</a:t>
            </a:r>
          </a:p>
          <a:p>
            <a:pPr>
              <a:lnSpc>
                <a:spcPct val="100000"/>
              </a:lnSpc>
            </a:pPr>
            <a:r>
              <a:rPr lang="en-US" sz="2000" dirty="0">
                <a:latin typeface="Times New Roman" pitchFamily="18" charset="0"/>
              </a:rPr>
              <a:t>Specification</a:t>
            </a:r>
          </a:p>
        </p:txBody>
      </p:sp>
      <p:sp>
        <p:nvSpPr>
          <p:cNvPr id="793606" name="Rectangle 6"/>
          <p:cNvSpPr>
            <a:spLocks noChangeArrowheads="1"/>
          </p:cNvSpPr>
          <p:nvPr/>
        </p:nvSpPr>
        <p:spPr bwMode="auto">
          <a:xfrm>
            <a:off x="5687219" y="5423292"/>
            <a:ext cx="1407320"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Customer</a:t>
            </a:r>
          </a:p>
        </p:txBody>
      </p:sp>
      <p:sp>
        <p:nvSpPr>
          <p:cNvPr id="793607" name="Rectangle 7"/>
          <p:cNvSpPr>
            <a:spLocks noChangeArrowheads="1"/>
          </p:cNvSpPr>
          <p:nvPr/>
        </p:nvSpPr>
        <p:spPr bwMode="auto">
          <a:xfrm>
            <a:off x="6310313" y="6003926"/>
            <a:ext cx="1139826" cy="5556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Payment</a:t>
            </a:r>
          </a:p>
        </p:txBody>
      </p:sp>
      <p:sp>
        <p:nvSpPr>
          <p:cNvPr id="793608" name="Rectangle 8"/>
          <p:cNvSpPr>
            <a:spLocks noChangeArrowheads="1"/>
          </p:cNvSpPr>
          <p:nvPr/>
        </p:nvSpPr>
        <p:spPr bwMode="auto">
          <a:xfrm>
            <a:off x="3743325" y="6072188"/>
            <a:ext cx="998538" cy="419100"/>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Cashier</a:t>
            </a:r>
          </a:p>
        </p:txBody>
      </p:sp>
      <p:sp>
        <p:nvSpPr>
          <p:cNvPr id="793609" name="Rectangle 9"/>
          <p:cNvSpPr>
            <a:spLocks noChangeArrowheads="1"/>
          </p:cNvSpPr>
          <p:nvPr/>
        </p:nvSpPr>
        <p:spPr bwMode="auto">
          <a:xfrm>
            <a:off x="2744789" y="1695451"/>
            <a:ext cx="998537"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system</a:t>
            </a:r>
          </a:p>
        </p:txBody>
      </p:sp>
      <p:sp>
        <p:nvSpPr>
          <p:cNvPr id="793610" name="Rectangle 10"/>
          <p:cNvSpPr>
            <a:spLocks noChangeArrowheads="1"/>
          </p:cNvSpPr>
          <p:nvPr/>
        </p:nvSpPr>
        <p:spPr bwMode="auto">
          <a:xfrm>
            <a:off x="4029076" y="5378451"/>
            <a:ext cx="1139825"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Item</a:t>
            </a:r>
          </a:p>
        </p:txBody>
      </p:sp>
      <p:sp>
        <p:nvSpPr>
          <p:cNvPr id="793611" name="Rectangle 11"/>
          <p:cNvSpPr>
            <a:spLocks noChangeArrowheads="1"/>
          </p:cNvSpPr>
          <p:nvPr/>
        </p:nvSpPr>
        <p:spPr bwMode="auto">
          <a:xfrm>
            <a:off x="9001125" y="5378451"/>
            <a:ext cx="1212850"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Sale</a:t>
            </a:r>
          </a:p>
        </p:txBody>
      </p:sp>
      <p:sp>
        <p:nvSpPr>
          <p:cNvPr id="793612" name="Rectangle 12"/>
          <p:cNvSpPr>
            <a:spLocks noChangeArrowheads="1"/>
          </p:cNvSpPr>
          <p:nvPr/>
        </p:nvSpPr>
        <p:spPr bwMode="auto">
          <a:xfrm>
            <a:off x="5027614" y="6072188"/>
            <a:ext cx="998537" cy="419100"/>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Manager</a:t>
            </a:r>
          </a:p>
        </p:txBody>
      </p:sp>
      <p:sp>
        <p:nvSpPr>
          <p:cNvPr id="793613" name="Rectangle 13"/>
          <p:cNvSpPr>
            <a:spLocks noChangeArrowheads="1"/>
          </p:cNvSpPr>
          <p:nvPr/>
        </p:nvSpPr>
        <p:spPr bwMode="auto">
          <a:xfrm>
            <a:off x="7345364" y="5308601"/>
            <a:ext cx="1068387" cy="557213"/>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Store</a:t>
            </a:r>
          </a:p>
        </p:txBody>
      </p:sp>
      <p:sp>
        <p:nvSpPr>
          <p:cNvPr id="793614" name="Rectangle 14"/>
          <p:cNvSpPr>
            <a:spLocks noChangeArrowheads="1"/>
          </p:cNvSpPr>
          <p:nvPr/>
        </p:nvSpPr>
        <p:spPr bwMode="auto">
          <a:xfrm>
            <a:off x="4670426" y="1624013"/>
            <a:ext cx="1211263"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Quantity</a:t>
            </a:r>
          </a:p>
        </p:txBody>
      </p:sp>
      <p:sp>
        <p:nvSpPr>
          <p:cNvPr id="793615" name="Rectangle 15"/>
          <p:cNvSpPr>
            <a:spLocks noChangeArrowheads="1"/>
          </p:cNvSpPr>
          <p:nvPr/>
        </p:nvSpPr>
        <p:spPr bwMode="auto">
          <a:xfrm>
            <a:off x="7523163" y="6072188"/>
            <a:ext cx="996950"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Product</a:t>
            </a:r>
          </a:p>
          <a:p>
            <a:pPr>
              <a:lnSpc>
                <a:spcPct val="100000"/>
              </a:lnSpc>
            </a:pPr>
            <a:r>
              <a:rPr lang="en-US" sz="2000">
                <a:latin typeface="Times New Roman" pitchFamily="18" charset="0"/>
              </a:rPr>
              <a:t>Catalog</a:t>
            </a:r>
          </a:p>
        </p:txBody>
      </p:sp>
      <p:sp>
        <p:nvSpPr>
          <p:cNvPr id="793616" name="Rectangle 16"/>
          <p:cNvSpPr>
            <a:spLocks noChangeArrowheads="1"/>
          </p:cNvSpPr>
          <p:nvPr/>
        </p:nvSpPr>
        <p:spPr bwMode="auto">
          <a:xfrm>
            <a:off x="2530476" y="3084514"/>
            <a:ext cx="1425575" cy="62547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central</a:t>
            </a:r>
          </a:p>
          <a:p>
            <a:pPr>
              <a:lnSpc>
                <a:spcPct val="100000"/>
              </a:lnSpc>
            </a:pPr>
            <a:r>
              <a:rPr lang="en-US" sz="2000">
                <a:latin typeface="Times New Roman" pitchFamily="18" charset="0"/>
              </a:rPr>
              <a:t>computer</a:t>
            </a:r>
          </a:p>
        </p:txBody>
      </p:sp>
      <p:sp>
        <p:nvSpPr>
          <p:cNvPr id="793617" name="Rectangle 17"/>
          <p:cNvSpPr>
            <a:spLocks noChangeArrowheads="1"/>
          </p:cNvSpPr>
          <p:nvPr/>
        </p:nvSpPr>
        <p:spPr bwMode="auto">
          <a:xfrm>
            <a:off x="2282827" y="3818732"/>
            <a:ext cx="1709737" cy="5556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record keeping</a:t>
            </a:r>
          </a:p>
          <a:p>
            <a:pPr>
              <a:lnSpc>
                <a:spcPct val="100000"/>
              </a:lnSpc>
            </a:pPr>
            <a:r>
              <a:rPr lang="en-US" sz="2000" dirty="0">
                <a:latin typeface="Times New Roman" pitchFamily="18" charset="0"/>
              </a:rPr>
              <a:t>provision</a:t>
            </a:r>
          </a:p>
        </p:txBody>
      </p:sp>
      <p:sp>
        <p:nvSpPr>
          <p:cNvPr id="793618" name="Rectangle 18"/>
          <p:cNvSpPr>
            <a:spLocks noChangeArrowheads="1"/>
          </p:cNvSpPr>
          <p:nvPr/>
        </p:nvSpPr>
        <p:spPr bwMode="auto">
          <a:xfrm>
            <a:off x="4883150" y="2320925"/>
            <a:ext cx="1212850" cy="554038"/>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Price</a:t>
            </a:r>
          </a:p>
        </p:txBody>
      </p:sp>
      <p:sp>
        <p:nvSpPr>
          <p:cNvPr id="793619" name="Rectangle 19"/>
          <p:cNvSpPr>
            <a:spLocks noChangeArrowheads="1"/>
          </p:cNvSpPr>
          <p:nvPr/>
        </p:nvSpPr>
        <p:spPr bwMode="auto">
          <a:xfrm>
            <a:off x="2744789" y="2320925"/>
            <a:ext cx="1069975" cy="554038"/>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000">
                <a:latin typeface="Times New Roman" pitchFamily="18" charset="0"/>
              </a:rPr>
              <a:t>network</a:t>
            </a:r>
          </a:p>
        </p:txBody>
      </p:sp>
      <p:sp>
        <p:nvSpPr>
          <p:cNvPr id="793620" name="Rectangle 20"/>
          <p:cNvSpPr>
            <a:spLocks noChangeArrowheads="1"/>
          </p:cNvSpPr>
          <p:nvPr/>
        </p:nvSpPr>
        <p:spPr bwMode="auto">
          <a:xfrm>
            <a:off x="2371725" y="5308601"/>
            <a:ext cx="1068388" cy="557213"/>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register</a:t>
            </a:r>
          </a:p>
        </p:txBody>
      </p:sp>
      <p:sp>
        <p:nvSpPr>
          <p:cNvPr id="793621" name="Rectangle 21"/>
          <p:cNvSpPr>
            <a:spLocks noChangeArrowheads="1"/>
          </p:cNvSpPr>
          <p:nvPr/>
        </p:nvSpPr>
        <p:spPr bwMode="auto">
          <a:xfrm>
            <a:off x="8948739" y="1695451"/>
            <a:ext cx="998537"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cash</a:t>
            </a:r>
          </a:p>
        </p:txBody>
      </p:sp>
      <p:sp>
        <p:nvSpPr>
          <p:cNvPr id="793622" name="Line 22"/>
          <p:cNvSpPr>
            <a:spLocks noChangeShapeType="1"/>
          </p:cNvSpPr>
          <p:nvPr/>
        </p:nvSpPr>
        <p:spPr bwMode="auto">
          <a:xfrm>
            <a:off x="2246313" y="4960938"/>
            <a:ext cx="7770812" cy="0"/>
          </a:xfrm>
          <a:prstGeom prst="line">
            <a:avLst/>
          </a:prstGeom>
          <a:noFill/>
          <a:ln w="9525">
            <a:solidFill>
              <a:schemeClr val="tx1"/>
            </a:solidFill>
            <a:prstDash val="dash"/>
            <a:round/>
            <a:headEnd/>
            <a:tailEnd/>
          </a:ln>
          <a:effectLst/>
        </p:spPr>
        <p:txBody>
          <a:bodyPr wrap="none" anchor="ctr"/>
          <a:lstStyle/>
          <a:p>
            <a:endParaRPr lang="en-US"/>
          </a:p>
        </p:txBody>
      </p:sp>
      <p:sp>
        <p:nvSpPr>
          <p:cNvPr id="793623" name="Rectangle 23"/>
          <p:cNvSpPr>
            <a:spLocks noChangeArrowheads="1"/>
          </p:cNvSpPr>
          <p:nvPr/>
        </p:nvSpPr>
        <p:spPr bwMode="auto">
          <a:xfrm>
            <a:off x="2171700" y="1550988"/>
            <a:ext cx="1925638" cy="3192462"/>
          </a:xfrm>
          <a:prstGeom prst="rect">
            <a:avLst/>
          </a:prstGeom>
          <a:noFill/>
          <a:ln w="9525">
            <a:solidFill>
              <a:srgbClr val="002060"/>
            </a:solidFill>
            <a:miter lim="800000"/>
            <a:headEnd/>
            <a:tailEnd/>
          </a:ln>
          <a:effectLst/>
        </p:spPr>
        <p:txBody>
          <a:bodyPr wrap="none" anchor="ctr"/>
          <a:lstStyle/>
          <a:p>
            <a:endParaRPr lang="en-US"/>
          </a:p>
        </p:txBody>
      </p:sp>
      <p:sp>
        <p:nvSpPr>
          <p:cNvPr id="793624" name="Rectangle 24"/>
          <p:cNvSpPr>
            <a:spLocks noChangeArrowheads="1"/>
          </p:cNvSpPr>
          <p:nvPr/>
        </p:nvSpPr>
        <p:spPr bwMode="auto">
          <a:xfrm>
            <a:off x="4527551" y="1485901"/>
            <a:ext cx="2924175" cy="1736725"/>
          </a:xfrm>
          <a:prstGeom prst="rect">
            <a:avLst/>
          </a:prstGeom>
          <a:noFill/>
          <a:ln w="9525">
            <a:solidFill>
              <a:srgbClr val="002060"/>
            </a:solidFill>
            <a:miter lim="800000"/>
            <a:headEnd/>
            <a:tailEnd/>
          </a:ln>
          <a:effectLst/>
        </p:spPr>
        <p:txBody>
          <a:bodyPr wrap="none" anchor="ctr"/>
          <a:lstStyle/>
          <a:p>
            <a:endParaRPr lang="en-US"/>
          </a:p>
        </p:txBody>
      </p:sp>
      <p:sp>
        <p:nvSpPr>
          <p:cNvPr id="793625" name="Rectangle 25"/>
          <p:cNvSpPr>
            <a:spLocks noChangeArrowheads="1"/>
          </p:cNvSpPr>
          <p:nvPr/>
        </p:nvSpPr>
        <p:spPr bwMode="auto">
          <a:xfrm>
            <a:off x="5383214" y="3362325"/>
            <a:ext cx="1711325" cy="1252538"/>
          </a:xfrm>
          <a:prstGeom prst="rect">
            <a:avLst/>
          </a:prstGeom>
          <a:noFill/>
          <a:ln w="9525">
            <a:solidFill>
              <a:srgbClr val="002060"/>
            </a:solidFill>
            <a:miter lim="800000"/>
            <a:headEnd/>
            <a:tailEnd/>
          </a:ln>
          <a:effectLst/>
        </p:spPr>
        <p:txBody>
          <a:bodyPr wrap="none" anchor="ctr"/>
          <a:lstStyle/>
          <a:p>
            <a:endParaRPr lang="en-US"/>
          </a:p>
        </p:txBody>
      </p:sp>
      <p:sp>
        <p:nvSpPr>
          <p:cNvPr id="793626" name="Rectangle 26"/>
          <p:cNvSpPr>
            <a:spLocks noChangeArrowheads="1"/>
          </p:cNvSpPr>
          <p:nvPr/>
        </p:nvSpPr>
        <p:spPr bwMode="auto">
          <a:xfrm>
            <a:off x="7950201" y="2946401"/>
            <a:ext cx="1781175" cy="1598613"/>
          </a:xfrm>
          <a:prstGeom prst="rect">
            <a:avLst/>
          </a:prstGeom>
          <a:noFill/>
          <a:ln w="9525">
            <a:solidFill>
              <a:srgbClr val="002060"/>
            </a:solidFill>
            <a:miter lim="800000"/>
            <a:headEnd/>
            <a:tailEnd/>
          </a:ln>
          <a:effectLst/>
        </p:spPr>
        <p:txBody>
          <a:bodyPr wrap="none" anchor="ctr"/>
          <a:lstStyle/>
          <a:p>
            <a:endParaRPr lang="en-US"/>
          </a:p>
        </p:txBody>
      </p:sp>
      <p:sp>
        <p:nvSpPr>
          <p:cNvPr id="793627" name="Rectangle 27"/>
          <p:cNvSpPr>
            <a:spLocks noChangeArrowheads="1"/>
          </p:cNvSpPr>
          <p:nvPr/>
        </p:nvSpPr>
        <p:spPr bwMode="auto">
          <a:xfrm>
            <a:off x="8378826" y="1485900"/>
            <a:ext cx="1781175" cy="1041400"/>
          </a:xfrm>
          <a:prstGeom prst="rect">
            <a:avLst/>
          </a:prstGeom>
          <a:noFill/>
          <a:ln w="9525">
            <a:solidFill>
              <a:srgbClr val="002060"/>
            </a:solidFill>
            <a:miter lim="800000"/>
            <a:headEnd/>
            <a:tailEnd/>
          </a:ln>
          <a:effectLst/>
        </p:spPr>
        <p:txBody>
          <a:bodyPr wrap="none" anchor="ctr"/>
          <a:lstStyle/>
          <a:p>
            <a:endParaRPr lang="en-US" dirty="0">
              <a:highlight>
                <a:srgbClr val="FFFF00"/>
              </a:highlight>
            </a:endParaRPr>
          </a:p>
        </p:txBody>
      </p:sp>
      <p:sp>
        <p:nvSpPr>
          <p:cNvPr id="793628" name="Text Box 28"/>
          <p:cNvSpPr txBox="1">
            <a:spLocks noChangeArrowheads="1"/>
          </p:cNvSpPr>
          <p:nvPr/>
        </p:nvSpPr>
        <p:spPr bwMode="auto">
          <a:xfrm>
            <a:off x="2816226" y="4405313"/>
            <a:ext cx="777875" cy="366712"/>
          </a:xfrm>
          <a:prstGeom prst="rect">
            <a:avLst/>
          </a:prstGeom>
          <a:noFill/>
          <a:ln w="9525">
            <a:noFill/>
            <a:miter lim="800000"/>
            <a:headEnd/>
            <a:tailEnd/>
          </a:ln>
          <a:effectLst/>
        </p:spPr>
        <p:txBody>
          <a:bodyPr wrap="none">
            <a:spAutoFit/>
          </a:bodyPr>
          <a:lstStyle/>
          <a:p>
            <a:pPr algn="l">
              <a:lnSpc>
                <a:spcPct val="100000"/>
              </a:lnSpc>
            </a:pPr>
            <a:r>
              <a:rPr lang="en-US">
                <a:latin typeface="Comic Sans MS" pitchFamily="66" charset="0"/>
              </a:rPr>
              <a:t>vague</a:t>
            </a:r>
            <a:endParaRPr lang="en-US" sz="2000">
              <a:latin typeface="Comic Sans MS" pitchFamily="66" charset="0"/>
            </a:endParaRPr>
          </a:p>
        </p:txBody>
      </p:sp>
      <p:sp>
        <p:nvSpPr>
          <p:cNvPr id="793629" name="Text Box 29"/>
          <p:cNvSpPr txBox="1">
            <a:spLocks noChangeArrowheads="1"/>
          </p:cNvSpPr>
          <p:nvPr/>
        </p:nvSpPr>
        <p:spPr bwMode="auto">
          <a:xfrm>
            <a:off x="5597526" y="2897188"/>
            <a:ext cx="1177925" cy="366712"/>
          </a:xfrm>
          <a:prstGeom prst="rect">
            <a:avLst/>
          </a:prstGeom>
          <a:noFill/>
          <a:ln w="9525">
            <a:noFill/>
            <a:miter lim="800000"/>
            <a:headEnd/>
            <a:tailEnd/>
          </a:ln>
          <a:effectLst/>
        </p:spPr>
        <p:txBody>
          <a:bodyPr wrap="none">
            <a:spAutoFit/>
          </a:bodyPr>
          <a:lstStyle/>
          <a:p>
            <a:pPr algn="l">
              <a:lnSpc>
                <a:spcPct val="100000"/>
              </a:lnSpc>
            </a:pPr>
            <a:r>
              <a:rPr lang="en-US">
                <a:latin typeface="Comic Sans MS" pitchFamily="66" charset="0"/>
              </a:rPr>
              <a:t>attribute</a:t>
            </a:r>
            <a:endParaRPr lang="en-US" sz="2000">
              <a:latin typeface="Comic Sans MS" pitchFamily="66" charset="0"/>
            </a:endParaRPr>
          </a:p>
        </p:txBody>
      </p:sp>
      <p:sp>
        <p:nvSpPr>
          <p:cNvPr id="793630" name="Text Box 30"/>
          <p:cNvSpPr txBox="1">
            <a:spLocks noChangeArrowheads="1"/>
          </p:cNvSpPr>
          <p:nvPr/>
        </p:nvSpPr>
        <p:spPr bwMode="auto">
          <a:xfrm>
            <a:off x="5738814" y="4267201"/>
            <a:ext cx="1271587" cy="366713"/>
          </a:xfrm>
          <a:prstGeom prst="rect">
            <a:avLst/>
          </a:prstGeom>
          <a:noFill/>
          <a:ln w="9525">
            <a:noFill/>
            <a:miter lim="800000"/>
            <a:headEnd/>
            <a:tailEnd/>
          </a:ln>
          <a:effectLst/>
        </p:spPr>
        <p:txBody>
          <a:bodyPr wrap="none">
            <a:spAutoFit/>
          </a:bodyPr>
          <a:lstStyle/>
          <a:p>
            <a:pPr algn="l">
              <a:lnSpc>
                <a:spcPct val="100000"/>
              </a:lnSpc>
            </a:pPr>
            <a:r>
              <a:rPr lang="en-US">
                <a:latin typeface="Comic Sans MS" pitchFamily="66" charset="0"/>
              </a:rPr>
              <a:t>redundant</a:t>
            </a:r>
          </a:p>
        </p:txBody>
      </p:sp>
      <p:sp>
        <p:nvSpPr>
          <p:cNvPr id="793631" name="Text Box 31"/>
          <p:cNvSpPr txBox="1">
            <a:spLocks noChangeArrowheads="1"/>
          </p:cNvSpPr>
          <p:nvPr/>
        </p:nvSpPr>
        <p:spPr bwMode="auto">
          <a:xfrm>
            <a:off x="7996317" y="3060806"/>
            <a:ext cx="1793875" cy="366712"/>
          </a:xfrm>
          <a:prstGeom prst="rect">
            <a:avLst/>
          </a:prstGeom>
          <a:noFill/>
          <a:ln w="9525">
            <a:noFill/>
            <a:miter lim="800000"/>
            <a:headEnd/>
            <a:tailEnd/>
          </a:ln>
          <a:effectLst/>
        </p:spPr>
        <p:txBody>
          <a:bodyPr wrap="none">
            <a:spAutoFit/>
          </a:bodyPr>
          <a:lstStyle/>
          <a:p>
            <a:pPr algn="l">
              <a:lnSpc>
                <a:spcPct val="100000"/>
              </a:lnSpc>
            </a:pPr>
            <a:r>
              <a:rPr lang="en-US" dirty="0">
                <a:latin typeface="Comic Sans MS" pitchFamily="66" charset="0"/>
              </a:rPr>
              <a:t>implementation</a:t>
            </a:r>
            <a:endParaRPr lang="en-US" sz="2000" dirty="0">
              <a:latin typeface="Comic Sans MS" pitchFamily="66" charset="0"/>
            </a:endParaRPr>
          </a:p>
        </p:txBody>
      </p:sp>
      <p:sp>
        <p:nvSpPr>
          <p:cNvPr id="793632" name="Text Box 32"/>
          <p:cNvSpPr txBox="1">
            <a:spLocks noChangeArrowheads="1"/>
          </p:cNvSpPr>
          <p:nvPr/>
        </p:nvSpPr>
        <p:spPr bwMode="auto">
          <a:xfrm>
            <a:off x="8734425" y="2203450"/>
            <a:ext cx="1245854" cy="369332"/>
          </a:xfrm>
          <a:prstGeom prst="rect">
            <a:avLst/>
          </a:prstGeom>
          <a:noFill/>
          <a:ln w="9525">
            <a:noFill/>
            <a:miter lim="800000"/>
            <a:headEnd/>
            <a:tailEnd/>
          </a:ln>
          <a:effectLst/>
        </p:spPr>
        <p:txBody>
          <a:bodyPr wrap="none">
            <a:spAutoFit/>
          </a:bodyPr>
          <a:lstStyle/>
          <a:p>
            <a:pPr algn="l">
              <a:lnSpc>
                <a:spcPct val="100000"/>
              </a:lnSpc>
            </a:pPr>
            <a:r>
              <a:rPr lang="en-US" dirty="0">
                <a:latin typeface="Comic Sans MS" pitchFamily="66" charset="0"/>
              </a:rPr>
              <a:t>irrelevant</a:t>
            </a:r>
            <a:endParaRPr lang="en-US" sz="2000" dirty="0">
              <a:latin typeface="Comic Sans MS" pitchFamily="66" charset="0"/>
            </a:endParaRPr>
          </a:p>
        </p:txBody>
      </p:sp>
      <p:sp>
        <p:nvSpPr>
          <p:cNvPr id="793633" name="Text Box 33"/>
          <p:cNvSpPr txBox="1">
            <a:spLocks noChangeArrowheads="1"/>
          </p:cNvSpPr>
          <p:nvPr/>
        </p:nvSpPr>
        <p:spPr bwMode="auto">
          <a:xfrm>
            <a:off x="5668963" y="4614864"/>
            <a:ext cx="1543050" cy="396875"/>
          </a:xfrm>
          <a:prstGeom prst="rect">
            <a:avLst/>
          </a:prstGeom>
          <a:noFill/>
          <a:ln w="9525">
            <a:noFill/>
            <a:miter lim="800000"/>
            <a:headEnd/>
            <a:tailEnd/>
          </a:ln>
          <a:effectLst/>
        </p:spPr>
        <p:txBody>
          <a:bodyPr wrap="none">
            <a:spAutoFit/>
          </a:bodyPr>
          <a:lstStyle/>
          <a:p>
            <a:pPr algn="l">
              <a:lnSpc>
                <a:spcPct val="100000"/>
              </a:lnSpc>
            </a:pPr>
            <a:r>
              <a:rPr lang="en-US" sz="2000" i="1">
                <a:latin typeface="Comic Sans MS" pitchFamily="66" charset="0"/>
              </a:rPr>
              <a:t>Bad classes</a:t>
            </a:r>
          </a:p>
        </p:txBody>
      </p:sp>
      <p:sp>
        <p:nvSpPr>
          <p:cNvPr id="793634" name="Text Box 34"/>
          <p:cNvSpPr txBox="1">
            <a:spLocks noChangeArrowheads="1"/>
          </p:cNvSpPr>
          <p:nvPr/>
        </p:nvSpPr>
        <p:spPr bwMode="auto">
          <a:xfrm>
            <a:off x="5597526" y="4960939"/>
            <a:ext cx="1692275" cy="396875"/>
          </a:xfrm>
          <a:prstGeom prst="rect">
            <a:avLst/>
          </a:prstGeom>
          <a:noFill/>
          <a:ln w="9525">
            <a:noFill/>
            <a:miter lim="800000"/>
            <a:headEnd/>
            <a:tailEnd/>
          </a:ln>
          <a:effectLst/>
        </p:spPr>
        <p:txBody>
          <a:bodyPr wrap="none">
            <a:spAutoFit/>
          </a:bodyPr>
          <a:lstStyle/>
          <a:p>
            <a:pPr algn="l">
              <a:lnSpc>
                <a:spcPct val="100000"/>
              </a:lnSpc>
            </a:pPr>
            <a:r>
              <a:rPr lang="en-US" sz="2000" i="1">
                <a:latin typeface="Comic Sans MS" pitchFamily="66" charset="0"/>
              </a:rPr>
              <a:t>Good classes</a:t>
            </a:r>
          </a:p>
        </p:txBody>
      </p:sp>
      <p:sp>
        <p:nvSpPr>
          <p:cNvPr id="793635" name="Rectangle 35"/>
          <p:cNvSpPr>
            <a:spLocks noChangeArrowheads="1"/>
          </p:cNvSpPr>
          <p:nvPr/>
        </p:nvSpPr>
        <p:spPr bwMode="auto">
          <a:xfrm>
            <a:off x="6167438" y="1763713"/>
            <a:ext cx="1212850"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000" dirty="0">
                <a:latin typeface="Times New Roman" pitchFamily="18" charset="0"/>
              </a:rPr>
              <a:t>transaction</a:t>
            </a:r>
          </a:p>
          <a:p>
            <a:pPr>
              <a:lnSpc>
                <a:spcPct val="100000"/>
              </a:lnSpc>
            </a:pPr>
            <a:r>
              <a:rPr lang="en-US" sz="2000" dirty="0">
                <a:latin typeface="Times New Roman" pitchFamily="18" charset="0"/>
              </a:rPr>
              <a:t>data</a:t>
            </a:r>
          </a:p>
        </p:txBody>
      </p:sp>
    </p:spTree>
    <p:extLst>
      <p:ext uri="{BB962C8B-B14F-4D97-AF65-F5344CB8AC3E}">
        <p14:creationId xmlns:p14="http://schemas.microsoft.com/office/powerpoint/2010/main" val="12532145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a:xfrm>
            <a:off x="209467" y="893013"/>
            <a:ext cx="5273339" cy="5638800"/>
          </a:xfrm>
        </p:spPr>
        <p:txBody>
          <a:bodyPr anchor="b">
            <a:noAutofit/>
          </a:bodyPr>
          <a:lstStyle/>
          <a:p>
            <a:pPr algn="just"/>
            <a:r>
              <a:rPr lang="en-US" sz="2800" b="0" i="0" dirty="0">
                <a:solidFill>
                  <a:srgbClr val="323232"/>
                </a:solidFill>
                <a:effectLst/>
                <a:latin typeface="H5PDroidSans"/>
              </a:rPr>
              <a:t>Taking this example further, the “good classes” were put into a domain model</a:t>
            </a:r>
            <a:r>
              <a:rPr lang="en-US" sz="2800" b="0" i="1" dirty="0">
                <a:solidFill>
                  <a:srgbClr val="323232"/>
                </a:solidFill>
                <a:effectLst/>
                <a:latin typeface="H5PDroidSans"/>
              </a:rPr>
              <a:t> diagram</a:t>
            </a:r>
            <a:r>
              <a:rPr lang="en-US" sz="2800" b="0" i="0" dirty="0">
                <a:solidFill>
                  <a:srgbClr val="323232"/>
                </a:solidFill>
                <a:effectLst/>
                <a:latin typeface="H5PDroidSans"/>
              </a:rPr>
              <a:t>.</a:t>
            </a:r>
            <a:br>
              <a:rPr lang="en-US" sz="2800" b="0" i="0" dirty="0">
                <a:solidFill>
                  <a:srgbClr val="323232"/>
                </a:solidFill>
                <a:effectLst/>
                <a:latin typeface="H5PDroidSans"/>
              </a:rPr>
            </a:br>
            <a:br>
              <a:rPr lang="en-US" sz="2800" b="0" i="0" dirty="0">
                <a:solidFill>
                  <a:srgbClr val="323232"/>
                </a:solidFill>
                <a:effectLst/>
                <a:latin typeface="H5PDroidSans"/>
              </a:rPr>
            </a:br>
            <a:r>
              <a:rPr lang="en-US" sz="2800" b="0" i="0" dirty="0">
                <a:solidFill>
                  <a:srgbClr val="323232"/>
                </a:solidFill>
                <a:effectLst/>
                <a:latin typeface="H5PDroidSans"/>
              </a:rPr>
              <a:t>This diagram shows the multiplicity which defines how many instances of </a:t>
            </a:r>
            <a:r>
              <a:rPr lang="en-US" sz="2800" b="1" i="0" dirty="0">
                <a:solidFill>
                  <a:srgbClr val="323232"/>
                </a:solidFill>
                <a:effectLst/>
                <a:latin typeface="H5PDroidSans"/>
              </a:rPr>
              <a:t>class A</a:t>
            </a:r>
            <a:r>
              <a:rPr lang="en-US" sz="2800" b="0" i="0" dirty="0">
                <a:solidFill>
                  <a:srgbClr val="323232"/>
                </a:solidFill>
                <a:effectLst/>
                <a:latin typeface="H5PDroidSans"/>
              </a:rPr>
              <a:t> can be associated with </a:t>
            </a:r>
            <a:r>
              <a:rPr lang="en-US" sz="2800" b="1" i="0" dirty="0">
                <a:solidFill>
                  <a:srgbClr val="323232"/>
                </a:solidFill>
                <a:effectLst/>
                <a:latin typeface="H5PDroidSans"/>
              </a:rPr>
              <a:t>class B</a:t>
            </a:r>
            <a:r>
              <a:rPr lang="en-US" sz="2800" b="0" i="0" dirty="0">
                <a:solidFill>
                  <a:srgbClr val="323232"/>
                </a:solidFill>
                <a:effectLst/>
                <a:latin typeface="H5PDroidSans"/>
              </a:rPr>
              <a:t>. </a:t>
            </a:r>
            <a:br>
              <a:rPr lang="en-US" sz="2800" b="0" i="0" dirty="0">
                <a:solidFill>
                  <a:srgbClr val="323232"/>
                </a:solidFill>
                <a:effectLst/>
                <a:latin typeface="H5PDroidSans"/>
              </a:rPr>
            </a:br>
            <a:br>
              <a:rPr lang="en-US" sz="2800" b="0" i="0" dirty="0">
                <a:solidFill>
                  <a:srgbClr val="323232"/>
                </a:solidFill>
                <a:effectLst/>
                <a:latin typeface="H5PDroidSans"/>
              </a:rPr>
            </a:br>
            <a:r>
              <a:rPr lang="en-US" sz="2800" b="0" i="0" dirty="0">
                <a:solidFill>
                  <a:srgbClr val="323232"/>
                </a:solidFill>
                <a:effectLst/>
                <a:latin typeface="H5PDroidSans"/>
              </a:rPr>
              <a:t>For example, a single instance of </a:t>
            </a:r>
            <a:r>
              <a:rPr lang="en-US" sz="2800" i="1" dirty="0">
                <a:solidFill>
                  <a:schemeClr val="accent2"/>
                </a:solidFill>
                <a:latin typeface="H5PDroidSans"/>
              </a:rPr>
              <a:t>S</a:t>
            </a:r>
            <a:r>
              <a:rPr lang="en-US" sz="2800" b="0" i="1" dirty="0">
                <a:solidFill>
                  <a:schemeClr val="accent2"/>
                </a:solidFill>
                <a:effectLst/>
                <a:latin typeface="H5PDroidSans"/>
              </a:rPr>
              <a:t>tore</a:t>
            </a:r>
            <a:r>
              <a:rPr lang="en-US" sz="2800" b="0" i="1" dirty="0">
                <a:solidFill>
                  <a:srgbClr val="323232"/>
                </a:solidFill>
                <a:effectLst/>
                <a:latin typeface="H5PDroidSans"/>
              </a:rPr>
              <a:t> </a:t>
            </a:r>
            <a:r>
              <a:rPr lang="en-US" sz="2800" b="0" i="0" dirty="0">
                <a:solidFill>
                  <a:srgbClr val="323232"/>
                </a:solidFill>
                <a:effectLst/>
                <a:latin typeface="H5PDroidSans"/>
              </a:rPr>
              <a:t>can be associated with “many” (zero or more, indicated by the *) </a:t>
            </a:r>
            <a:r>
              <a:rPr lang="en-US" sz="2800" b="0" i="0" dirty="0">
                <a:solidFill>
                  <a:schemeClr val="accent2"/>
                </a:solidFill>
                <a:effectLst/>
                <a:latin typeface="H5PDroidSans"/>
              </a:rPr>
              <a:t>Sale</a:t>
            </a:r>
            <a:r>
              <a:rPr lang="en-US" sz="2800" b="0" i="0" dirty="0">
                <a:solidFill>
                  <a:srgbClr val="323232"/>
                </a:solidFill>
                <a:effectLst/>
                <a:latin typeface="H5PDroidSans"/>
              </a:rPr>
              <a:t> instances.</a:t>
            </a:r>
          </a:p>
        </p:txBody>
      </p:sp>
      <p:sp>
        <p:nvSpPr>
          <p:cNvPr id="4" name="Slide Number Placeholder 3"/>
          <p:cNvSpPr>
            <a:spLocks noGrp="1"/>
          </p:cNvSpPr>
          <p:nvPr>
            <p:ph type="sldNum" sz="quarter" idx="10"/>
          </p:nvPr>
        </p:nvSpPr>
        <p:spPr>
          <a:xfrm>
            <a:off x="11445238" y="6356350"/>
            <a:ext cx="548640" cy="365125"/>
          </a:xfrm>
        </p:spPr>
        <p:txBody>
          <a:bodyPr>
            <a:normAutofit/>
          </a:bodyPr>
          <a:lstStyle/>
          <a:p>
            <a:pPr>
              <a:spcAft>
                <a:spcPts val="600"/>
              </a:spcAft>
            </a:pPr>
            <a:fld id="{CABEAC46-B3E9-42FD-B02C-5AE907EC9AF9}" type="slidenum">
              <a:rPr lang="de-DE">
                <a:solidFill>
                  <a:schemeClr val="tx2"/>
                </a:solidFill>
              </a:rPr>
              <a:pPr>
                <a:spcAft>
                  <a:spcPts val="600"/>
                </a:spcAft>
              </a:pPr>
              <a:t>12</a:t>
            </a:fld>
            <a:endParaRPr lang="de-DE">
              <a:solidFill>
                <a:schemeClr val="tx2"/>
              </a:solidFill>
            </a:endParaRPr>
          </a:p>
        </p:txBody>
      </p:sp>
      <p:grpSp>
        <p:nvGrpSpPr>
          <p:cNvPr id="1028" name="Group 4"/>
          <p:cNvGrpSpPr>
            <a:grpSpLocks noChangeAspect="1"/>
          </p:cNvGrpSpPr>
          <p:nvPr/>
        </p:nvGrpSpPr>
        <p:grpSpPr bwMode="auto">
          <a:xfrm>
            <a:off x="5695799" y="609600"/>
            <a:ext cx="6298079" cy="5638800"/>
            <a:chOff x="863" y="962"/>
            <a:chExt cx="3697" cy="3310"/>
          </a:xfrm>
        </p:grpSpPr>
        <p:sp>
          <p:nvSpPr>
            <p:cNvPr id="1027" name="AutoShape 3"/>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29" name="Rectangle 5"/>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0" name="Rectangle 6"/>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register</a:t>
              </a:r>
              <a:endParaRPr lang="en-US">
                <a:latin typeface="Arial" pitchFamily="34" charset="0"/>
              </a:endParaRPr>
            </a:p>
          </p:txBody>
        </p:sp>
        <p:sp>
          <p:nvSpPr>
            <p:cNvPr id="1031" name="Rectangle 7"/>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2" name="Rectangle 8"/>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3" name="Rectangle 9"/>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Item</a:t>
              </a:r>
              <a:endParaRPr lang="en-US">
                <a:latin typeface="Arial" pitchFamily="34" charset="0"/>
              </a:endParaRPr>
            </a:p>
          </p:txBody>
        </p:sp>
        <p:sp>
          <p:nvSpPr>
            <p:cNvPr id="1034" name="Rectangle 10"/>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5" name="Rectangle 11"/>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6" name="Rectangle 12"/>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Store</a:t>
              </a:r>
              <a:endParaRPr lang="en-US">
                <a:latin typeface="Arial" pitchFamily="34" charset="0"/>
              </a:endParaRPr>
            </a:p>
          </p:txBody>
        </p:sp>
        <p:sp>
          <p:nvSpPr>
            <p:cNvPr id="1037" name="Rectangle 13"/>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8" name="Rectangle 14"/>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address</a:t>
              </a:r>
              <a:endParaRPr lang="en-US">
                <a:latin typeface="Arial" pitchFamily="34" charset="0"/>
              </a:endParaRPr>
            </a:p>
          </p:txBody>
        </p:sp>
        <p:sp>
          <p:nvSpPr>
            <p:cNvPr id="1039" name="Rectangle 15"/>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name</a:t>
              </a:r>
              <a:endParaRPr lang="en-US">
                <a:latin typeface="Arial" pitchFamily="34" charset="0"/>
              </a:endParaRPr>
            </a:p>
          </p:txBody>
        </p:sp>
        <p:sp>
          <p:nvSpPr>
            <p:cNvPr id="1040" name="Rectangle 16"/>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1" name="Rectangle 17"/>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Sale</a:t>
              </a:r>
              <a:endParaRPr lang="en-US">
                <a:latin typeface="Arial" pitchFamily="34" charset="0"/>
              </a:endParaRPr>
            </a:p>
          </p:txBody>
        </p:sp>
        <p:sp>
          <p:nvSpPr>
            <p:cNvPr id="1042" name="Rectangle 18"/>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3" name="Rectangle 19"/>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date</a:t>
              </a:r>
              <a:endParaRPr lang="en-US">
                <a:latin typeface="Arial" pitchFamily="34" charset="0"/>
              </a:endParaRPr>
            </a:p>
          </p:txBody>
        </p:sp>
        <p:sp>
          <p:nvSpPr>
            <p:cNvPr id="1044" name="Rectangle 20"/>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time</a:t>
              </a:r>
              <a:endParaRPr lang="en-US">
                <a:latin typeface="Arial" pitchFamily="34" charset="0"/>
              </a:endParaRPr>
            </a:p>
          </p:txBody>
        </p:sp>
        <p:sp>
          <p:nvSpPr>
            <p:cNvPr id="1045" name="Rectangle 21"/>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6" name="Rectangle 22"/>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Payment</a:t>
              </a:r>
              <a:endParaRPr lang="en-US">
                <a:latin typeface="Arial" pitchFamily="34" charset="0"/>
              </a:endParaRPr>
            </a:p>
          </p:txBody>
        </p:sp>
        <p:sp>
          <p:nvSpPr>
            <p:cNvPr id="1047" name="Rectangle 23"/>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8" name="Rectangle 24"/>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amount</a:t>
              </a:r>
              <a:endParaRPr lang="en-US">
                <a:latin typeface="Arial" pitchFamily="34" charset="0"/>
              </a:endParaRPr>
            </a:p>
          </p:txBody>
        </p:sp>
        <p:sp>
          <p:nvSpPr>
            <p:cNvPr id="1049" name="Rectangle 25"/>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0" name="Rectangle 26"/>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Sales</a:t>
              </a:r>
              <a:endParaRPr lang="en-US">
                <a:latin typeface="Arial" pitchFamily="34" charset="0"/>
              </a:endParaRPr>
            </a:p>
          </p:txBody>
        </p:sp>
        <p:sp>
          <p:nvSpPr>
            <p:cNvPr id="1051" name="Rectangle 27"/>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LineItem</a:t>
              </a:r>
              <a:endParaRPr lang="en-US">
                <a:latin typeface="Arial" pitchFamily="34" charset="0"/>
              </a:endParaRPr>
            </a:p>
          </p:txBody>
        </p:sp>
        <p:sp>
          <p:nvSpPr>
            <p:cNvPr id="1052" name="Rectangle 28"/>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3" name="Rectangle 29"/>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quantity</a:t>
              </a:r>
              <a:endParaRPr lang="en-US">
                <a:latin typeface="Arial" pitchFamily="34" charset="0"/>
              </a:endParaRPr>
            </a:p>
          </p:txBody>
        </p:sp>
        <p:sp>
          <p:nvSpPr>
            <p:cNvPr id="1054" name="Rectangle 30"/>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5" name="Rectangle 31"/>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Cashier</a:t>
              </a:r>
              <a:endParaRPr lang="en-US">
                <a:latin typeface="Arial" pitchFamily="34" charset="0"/>
              </a:endParaRPr>
            </a:p>
          </p:txBody>
        </p:sp>
        <p:sp>
          <p:nvSpPr>
            <p:cNvPr id="1056" name="Rectangle 32"/>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7" name="Rectangle 33"/>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8" name="Rectangle 34"/>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Customer</a:t>
              </a:r>
              <a:endParaRPr lang="en-US">
                <a:latin typeface="Arial" pitchFamily="34" charset="0"/>
              </a:endParaRPr>
            </a:p>
          </p:txBody>
        </p:sp>
        <p:sp>
          <p:nvSpPr>
            <p:cNvPr id="1059" name="Rectangle 35"/>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0" name="Rectangle 36"/>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1" name="Rectangle 37"/>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Manager</a:t>
              </a:r>
              <a:endParaRPr lang="en-US">
                <a:latin typeface="Arial" pitchFamily="34" charset="0"/>
              </a:endParaRPr>
            </a:p>
          </p:txBody>
        </p:sp>
        <p:sp>
          <p:nvSpPr>
            <p:cNvPr id="1062" name="Rectangle 38"/>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3" name="Rectangle 39"/>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4" name="Rectangle 40"/>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Product</a:t>
              </a:r>
              <a:endParaRPr lang="en-US">
                <a:latin typeface="Arial" pitchFamily="34" charset="0"/>
              </a:endParaRPr>
            </a:p>
          </p:txBody>
        </p:sp>
        <p:sp>
          <p:nvSpPr>
            <p:cNvPr id="1065" name="Rectangle 41"/>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Catalog</a:t>
              </a:r>
              <a:endParaRPr lang="en-US">
                <a:latin typeface="Arial" pitchFamily="34" charset="0"/>
              </a:endParaRPr>
            </a:p>
          </p:txBody>
        </p:sp>
        <p:sp>
          <p:nvSpPr>
            <p:cNvPr id="1066" name="Rectangle 42"/>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7" name="Rectangle 43"/>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8" name="Rectangle 44"/>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Product</a:t>
              </a:r>
              <a:endParaRPr lang="en-US">
                <a:latin typeface="Arial" pitchFamily="34" charset="0"/>
              </a:endParaRPr>
            </a:p>
          </p:txBody>
        </p:sp>
        <p:sp>
          <p:nvSpPr>
            <p:cNvPr id="1069" name="Rectangle 45"/>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Specification</a:t>
              </a:r>
              <a:endParaRPr lang="en-US">
                <a:latin typeface="Arial" pitchFamily="34" charset="0"/>
              </a:endParaRPr>
            </a:p>
          </p:txBody>
        </p:sp>
        <p:sp>
          <p:nvSpPr>
            <p:cNvPr id="1070" name="Rectangle 46"/>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71" name="Rectangle 47"/>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description</a:t>
              </a:r>
              <a:endParaRPr lang="en-US">
                <a:latin typeface="Arial" pitchFamily="34" charset="0"/>
              </a:endParaRPr>
            </a:p>
          </p:txBody>
        </p:sp>
        <p:sp>
          <p:nvSpPr>
            <p:cNvPr id="1072" name="Rectangle 48"/>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price</a:t>
              </a:r>
              <a:endParaRPr lang="en-US">
                <a:latin typeface="Arial" pitchFamily="34" charset="0"/>
              </a:endParaRPr>
            </a:p>
          </p:txBody>
        </p:sp>
        <p:sp>
          <p:nvSpPr>
            <p:cNvPr id="1073" name="Rectangle 49"/>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UPC</a:t>
              </a:r>
              <a:endParaRPr lang="en-US">
                <a:latin typeface="Arial" pitchFamily="34" charset="0"/>
              </a:endParaRPr>
            </a:p>
          </p:txBody>
        </p:sp>
        <p:sp>
          <p:nvSpPr>
            <p:cNvPr id="1074" name="Line 50"/>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75" name="Rectangle 51"/>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Stocks</a:t>
              </a:r>
              <a:endParaRPr lang="en-US">
                <a:latin typeface="Arial" pitchFamily="34" charset="0"/>
              </a:endParaRPr>
            </a:p>
          </p:txBody>
        </p:sp>
        <p:sp>
          <p:nvSpPr>
            <p:cNvPr id="1076" name="Rectangle 52"/>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77" name="Line 53"/>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78" name="Rectangle 54"/>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Houses</a:t>
              </a:r>
              <a:endParaRPr lang="en-US">
                <a:latin typeface="Arial" pitchFamily="34" charset="0"/>
              </a:endParaRPr>
            </a:p>
          </p:txBody>
        </p:sp>
        <p:sp>
          <p:nvSpPr>
            <p:cNvPr id="1079" name="Rectangle 55"/>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80" name="Rectangle 56"/>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81" name="Line 57"/>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2" name="Rectangle 58"/>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Used-by</a:t>
              </a:r>
              <a:endParaRPr lang="en-US">
                <a:latin typeface="Arial" pitchFamily="34" charset="0"/>
              </a:endParaRPr>
            </a:p>
          </p:txBody>
        </p:sp>
        <p:sp>
          <p:nvSpPr>
            <p:cNvPr id="1083" name="Rectangle 59"/>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84" name="Line 60"/>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5" name="Rectangle 61"/>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Contains</a:t>
              </a:r>
              <a:endParaRPr lang="en-US">
                <a:latin typeface="Arial" pitchFamily="34" charset="0"/>
              </a:endParaRPr>
            </a:p>
          </p:txBody>
        </p:sp>
        <p:sp>
          <p:nvSpPr>
            <p:cNvPr id="1086" name="Rectangle 62"/>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87" name="Rectangle 63"/>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88" name="Line 64"/>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9" name="Rectangle 65"/>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Describes</a:t>
              </a:r>
              <a:endParaRPr lang="en-US">
                <a:latin typeface="Arial" pitchFamily="34" charset="0"/>
              </a:endParaRPr>
            </a:p>
          </p:txBody>
        </p:sp>
        <p:sp>
          <p:nvSpPr>
            <p:cNvPr id="1090" name="Rectangle 66"/>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91" name="Line 67"/>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2" name="Rectangle 68"/>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Captured-on</a:t>
              </a:r>
              <a:endParaRPr lang="en-US">
                <a:latin typeface="Arial" pitchFamily="34" charset="0"/>
              </a:endParaRPr>
            </a:p>
          </p:txBody>
        </p:sp>
        <p:sp>
          <p:nvSpPr>
            <p:cNvPr id="1093" name="Line 69"/>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4" name="Rectangle 70"/>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Contained-in</a:t>
              </a:r>
              <a:endParaRPr lang="en-US">
                <a:latin typeface="Arial" pitchFamily="34" charset="0"/>
              </a:endParaRPr>
            </a:p>
          </p:txBody>
        </p:sp>
        <p:sp>
          <p:nvSpPr>
            <p:cNvPr id="1095" name="Rectangle 71"/>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96" name="Rectangle 72"/>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97" name="Freeform 73"/>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8" name="Rectangle 74"/>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Described-by</a:t>
              </a:r>
              <a:endParaRPr lang="en-US">
                <a:latin typeface="Arial" pitchFamily="34" charset="0"/>
              </a:endParaRPr>
            </a:p>
          </p:txBody>
        </p:sp>
        <p:sp>
          <p:nvSpPr>
            <p:cNvPr id="1099" name="Rectangle 75"/>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100" name="Freeform 76"/>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1" name="Rectangle 77"/>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Records-sale-of</a:t>
              </a:r>
              <a:endParaRPr lang="en-US">
                <a:latin typeface="Arial" pitchFamily="34" charset="0"/>
              </a:endParaRPr>
            </a:p>
          </p:txBody>
        </p:sp>
        <p:sp>
          <p:nvSpPr>
            <p:cNvPr id="1102" name="Rectangle 78"/>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0..1</a:t>
              </a:r>
              <a:endParaRPr lang="en-US">
                <a:latin typeface="Arial" pitchFamily="34" charset="0"/>
              </a:endParaRPr>
            </a:p>
          </p:txBody>
        </p:sp>
        <p:sp>
          <p:nvSpPr>
            <p:cNvPr id="1103" name="Line 79"/>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4" name="Rectangle 80"/>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Started-by</a:t>
              </a:r>
              <a:endParaRPr lang="en-US">
                <a:latin typeface="Arial" pitchFamily="34" charset="0"/>
              </a:endParaRPr>
            </a:p>
          </p:txBody>
        </p:sp>
        <p:sp>
          <p:nvSpPr>
            <p:cNvPr id="1105" name="Freeform 81"/>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6" name="Rectangle 82"/>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Paid-by</a:t>
              </a:r>
              <a:endParaRPr lang="en-US">
                <a:latin typeface="Arial" pitchFamily="34" charset="0"/>
              </a:endParaRPr>
            </a:p>
          </p:txBody>
        </p:sp>
        <p:sp>
          <p:nvSpPr>
            <p:cNvPr id="1107" name="Freeform 83"/>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8" name="Rectangle 84"/>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Initiated-by</a:t>
              </a:r>
              <a:endParaRPr lang="en-US">
                <a:latin typeface="Arial" pitchFamily="34" charset="0"/>
              </a:endParaRPr>
            </a:p>
          </p:txBody>
        </p:sp>
        <p:sp>
          <p:nvSpPr>
            <p:cNvPr id="1109" name="Freeform 85"/>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10" name="Rectangle 86"/>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Logs-</a:t>
              </a:r>
              <a:endParaRPr lang="en-US">
                <a:latin typeface="Arial" pitchFamily="34" charset="0"/>
              </a:endParaRPr>
            </a:p>
          </p:txBody>
        </p:sp>
        <p:sp>
          <p:nvSpPr>
            <p:cNvPr id="1111" name="Rectangle 87"/>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completed</a:t>
              </a:r>
              <a:endParaRPr lang="en-US">
                <a:latin typeface="Arial" pitchFamily="34" charset="0"/>
              </a:endParaRPr>
            </a:p>
          </p:txBody>
        </p:sp>
        <p:sp>
          <p:nvSpPr>
            <p:cNvPr id="1112" name="Rectangle 88"/>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6</a:t>
              </a:r>
              <a:endParaRPr lang="en-US">
                <a:latin typeface="Arial" pitchFamily="34" charset="0"/>
              </a:endParaRPr>
            </a:p>
          </p:txBody>
        </p:sp>
        <p:sp>
          <p:nvSpPr>
            <p:cNvPr id="1113" name="Rectangle 89"/>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dirty="0">
                  <a:solidFill>
                    <a:srgbClr val="336699"/>
                  </a:solidFill>
                  <a:latin typeface="Arial" pitchFamily="34" charset="0"/>
                  <a:ea typeface="+mn-ea"/>
                  <a:cs typeface="+mn-cs"/>
                </a:rPr>
                <a:t>*</a:t>
              </a:r>
              <a:endParaRPr lang="en-US" dirty="0">
                <a:latin typeface="Arial" pitchFamily="34" charset="0"/>
              </a:endParaRPr>
            </a:p>
          </p:txBody>
        </p:sp>
        <p:sp>
          <p:nvSpPr>
            <p:cNvPr id="1114" name="Freeform 90"/>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15" name="Rectangle 91"/>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3</a:t>
              </a:r>
              <a:endParaRPr lang="en-US">
                <a:latin typeface="Arial" pitchFamily="34" charset="0"/>
              </a:endParaRPr>
            </a:p>
          </p:txBody>
        </p:sp>
        <p:sp>
          <p:nvSpPr>
            <p:cNvPr id="1116" name="Rectangle 92"/>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 Records-sales-on</a:t>
              </a:r>
              <a:endParaRPr lang="en-US">
                <a:latin typeface="Arial" pitchFamily="34" charset="0"/>
              </a:endParaRPr>
            </a:p>
          </p:txBody>
        </p:sp>
        <p:sp>
          <p:nvSpPr>
            <p:cNvPr id="1117" name="Rectangle 93"/>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18" name="Rectangle 94"/>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19" name="Rectangle 95"/>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0" name="Rectangle 96"/>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1" name="Rectangle 97"/>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2" name="Rectangle 98"/>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3" name="Rectangle 99"/>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4" name="Rectangle 100"/>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5" name="Rectangle 101"/>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6" name="Rectangle 102"/>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7" name="Rectangle 103"/>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8" name="Rectangle 104"/>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9" name="Rectangle 105"/>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0" name="Rectangle 106"/>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1" name="Rectangle 107"/>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3" name="Rectangle 109"/>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4" name="Rectangle 110"/>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grpSp>
      <p:sp>
        <p:nvSpPr>
          <p:cNvPr id="2" name="Rectangle 89">
            <a:extLst>
              <a:ext uri="{FF2B5EF4-FFF2-40B4-BE49-F238E27FC236}">
                <a16:creationId xmlns:a16="http://schemas.microsoft.com/office/drawing/2014/main" id="{E0FD11AC-A9E3-AB82-1E5E-7D8A555E865C}"/>
              </a:ext>
            </a:extLst>
          </p:cNvPr>
          <p:cNvSpPr>
            <a:spLocks noChangeArrowheads="1"/>
          </p:cNvSpPr>
          <p:nvPr/>
        </p:nvSpPr>
        <p:spPr bwMode="auto">
          <a:xfrm>
            <a:off x="6837707" y="4832325"/>
            <a:ext cx="91992" cy="281088"/>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dirty="0">
                <a:solidFill>
                  <a:srgbClr val="336699"/>
                </a:solidFill>
                <a:latin typeface="Arial" pitchFamily="34" charset="0"/>
                <a:ea typeface="+mn-ea"/>
                <a:cs typeface="+mn-cs"/>
              </a:rPr>
              <a:t>*</a:t>
            </a:r>
            <a:endParaRPr lang="en-US" dirty="0">
              <a:latin typeface="Arial" pitchFamily="34" charset="0"/>
            </a:endParaRPr>
          </a:p>
        </p:txBody>
      </p:sp>
    </p:spTree>
    <p:extLst>
      <p:ext uri="{BB962C8B-B14F-4D97-AF65-F5344CB8AC3E}">
        <p14:creationId xmlns:p14="http://schemas.microsoft.com/office/powerpoint/2010/main" val="201946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A07407-0CAC-EA98-E766-0A7B64B07E57}"/>
            </a:ext>
          </a:extLst>
        </p:cNvPr>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23A8313A-EA96-8A5A-8DAC-38F617DC10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0" name="Rectangle 2">
            <a:extLst>
              <a:ext uri="{FF2B5EF4-FFF2-40B4-BE49-F238E27FC236}">
                <a16:creationId xmlns:a16="http://schemas.microsoft.com/office/drawing/2014/main" id="{F01A6004-5751-47B9-05F9-29CA15DAC017}"/>
              </a:ext>
            </a:extLst>
          </p:cNvPr>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F17AF4E2-CE41-AA61-DEA2-12230ADC372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0717C0B3-934D-DCC9-A230-7190EAD26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33" name="Rectangle 683032">
              <a:extLst>
                <a:ext uri="{FF2B5EF4-FFF2-40B4-BE49-F238E27FC236}">
                  <a16:creationId xmlns:a16="http://schemas.microsoft.com/office/drawing/2014/main" id="{F68EAC5F-5C9B-D334-E6C2-633A00917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683035" name="Rectangle 683034">
            <a:extLst>
              <a:ext uri="{FF2B5EF4-FFF2-40B4-BE49-F238E27FC236}">
                <a16:creationId xmlns:a16="http://schemas.microsoft.com/office/drawing/2014/main" id="{CBD1F64C-A98F-3C35-CA35-14D90087DA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6" name="Rectangle 8">
            <a:extLst>
              <a:ext uri="{FF2B5EF4-FFF2-40B4-BE49-F238E27FC236}">
                <a16:creationId xmlns:a16="http://schemas.microsoft.com/office/drawing/2014/main" id="{5317EC05-C019-0399-F72F-0000BF4A7ED3}"/>
              </a:ext>
            </a:extLst>
          </p:cNvPr>
          <p:cNvSpPr>
            <a:spLocks noGrp="1" noChangeArrowheads="1"/>
          </p:cNvSpPr>
          <p:nvPr>
            <p:ph type="body" idx="1"/>
          </p:nvPr>
        </p:nvSpPr>
        <p:spPr>
          <a:xfrm>
            <a:off x="793660" y="2599509"/>
            <a:ext cx="10143668" cy="3435531"/>
          </a:xfrm>
        </p:spPr>
        <p:txBody>
          <a:bodyPr anchor="ctr">
            <a:normAutofit/>
          </a:bodyPr>
          <a:lstStyle/>
          <a:p>
            <a:r>
              <a:rPr lang="en-US" altLang="en-US" sz="4000" dirty="0"/>
              <a:t>1- We must identify classes</a:t>
            </a:r>
          </a:p>
          <a:p>
            <a:r>
              <a:rPr lang="en-US" altLang="en-US" sz="4000" dirty="0">
                <a:solidFill>
                  <a:srgbClr val="FF0000"/>
                </a:solidFill>
              </a:rPr>
              <a:t>2- We must identify Attributes</a:t>
            </a:r>
          </a:p>
          <a:p>
            <a:r>
              <a:rPr lang="en-US" altLang="en-US" sz="4000" dirty="0"/>
              <a:t>3- We must identify Associations</a:t>
            </a:r>
          </a:p>
          <a:p>
            <a:pPr marL="457200" lvl="1" indent="0">
              <a:buNone/>
            </a:pPr>
            <a:endParaRPr lang="en-US" altLang="en-US" dirty="0"/>
          </a:p>
        </p:txBody>
      </p:sp>
      <p:sp>
        <p:nvSpPr>
          <p:cNvPr id="4" name="Slide Number Placeholder 3">
            <a:extLst>
              <a:ext uri="{FF2B5EF4-FFF2-40B4-BE49-F238E27FC236}">
                <a16:creationId xmlns:a16="http://schemas.microsoft.com/office/drawing/2014/main" id="{B9606007-5571-0ED9-3443-7CEDE387B882}"/>
              </a:ext>
            </a:extLst>
          </p:cNvPr>
          <p:cNvSpPr>
            <a:spLocks noGrp="1"/>
          </p:cNvSpPr>
          <p:nvPr>
            <p:ph type="sldNum" sz="quarter" idx="10"/>
          </p:nvPr>
        </p:nvSpPr>
        <p:spPr>
          <a:xfrm>
            <a:off x="8610600" y="649224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605FD109-E764-47CB-BA1F-DE10B491234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13</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67574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6A53A2-57B0-C57A-443B-7F36A4D581D6}"/>
              </a:ext>
            </a:extLst>
          </p:cNvPr>
          <p:cNvSpPr>
            <a:spLocks noGrp="1"/>
          </p:cNvSpPr>
          <p:nvPr>
            <p:ph type="title"/>
          </p:nvPr>
        </p:nvSpPr>
        <p:spPr>
          <a:xfrm>
            <a:off x="793662" y="386930"/>
            <a:ext cx="10066122" cy="1298448"/>
          </a:xfrm>
        </p:spPr>
        <p:txBody>
          <a:bodyPr anchor="b">
            <a:normAutofit/>
          </a:bodyPr>
          <a:lstStyle/>
          <a:p>
            <a:r>
              <a:rPr lang="en-US" sz="4800"/>
              <a:t>What is a Class Attribute?</a:t>
            </a:r>
          </a:p>
        </p:txBody>
      </p:sp>
      <p:sp>
        <p:nvSpPr>
          <p:cNvPr id="19" name="Rectangle 1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3D520B0-7BEB-7358-EC45-0E3AB26A2D7B}"/>
              </a:ext>
            </a:extLst>
          </p:cNvPr>
          <p:cNvSpPr>
            <a:spLocks noGrp="1"/>
          </p:cNvSpPr>
          <p:nvPr>
            <p:ph idx="1"/>
          </p:nvPr>
        </p:nvSpPr>
        <p:spPr>
          <a:xfrm>
            <a:off x="194872" y="2599509"/>
            <a:ext cx="5628553" cy="3639450"/>
          </a:xfrm>
        </p:spPr>
        <p:txBody>
          <a:bodyPr anchor="ctr">
            <a:normAutofit/>
          </a:bodyPr>
          <a:lstStyle/>
          <a:p>
            <a:r>
              <a:rPr lang="en-US" sz="2000" b="0" i="0" dirty="0">
                <a:effectLst/>
                <a:latin typeface="Lato Extended"/>
              </a:rPr>
              <a:t>After deciding on the list of domain classes to include, we need to add the essential attributes to each class.</a:t>
            </a:r>
          </a:p>
          <a:p>
            <a:pPr marL="0" indent="0">
              <a:buNone/>
            </a:pPr>
            <a:endParaRPr lang="en-US" sz="2000" b="0" i="0" dirty="0">
              <a:effectLst/>
              <a:latin typeface="Lato Extended"/>
            </a:endParaRPr>
          </a:p>
          <a:p>
            <a:r>
              <a:rPr lang="en-US" sz="2000" b="0" i="0" dirty="0">
                <a:effectLst/>
                <a:latin typeface="Lato Extended"/>
              </a:rPr>
              <a:t>A class encapsulates the state (</a:t>
            </a:r>
            <a:r>
              <a:rPr lang="en-US" sz="2000" b="1" i="0" dirty="0">
                <a:effectLst/>
                <a:latin typeface="Lato Extended"/>
              </a:rPr>
              <a:t>attributes</a:t>
            </a:r>
            <a:r>
              <a:rPr lang="en-US" sz="2000" b="0" i="0" dirty="0">
                <a:effectLst/>
                <a:latin typeface="Lato Extended"/>
              </a:rPr>
              <a:t>) of an object. These are the logical data values of the objects. </a:t>
            </a:r>
          </a:p>
          <a:p>
            <a:endParaRPr lang="en-US" sz="2000" dirty="0">
              <a:latin typeface="Lato Extended"/>
            </a:endParaRPr>
          </a:p>
          <a:p>
            <a:r>
              <a:rPr lang="en-US" sz="2000" b="0" i="0" dirty="0">
                <a:effectLst/>
                <a:latin typeface="Lato Extended"/>
              </a:rPr>
              <a:t>Attributes should be included when requirements suggest or imply a need to remember information. </a:t>
            </a:r>
          </a:p>
          <a:p>
            <a:endParaRPr lang="en-US" sz="2000" dirty="0"/>
          </a:p>
        </p:txBody>
      </p:sp>
      <p:pic>
        <p:nvPicPr>
          <p:cNvPr id="5" name="Picture 4">
            <a:extLst>
              <a:ext uri="{FF2B5EF4-FFF2-40B4-BE49-F238E27FC236}">
                <a16:creationId xmlns:a16="http://schemas.microsoft.com/office/drawing/2014/main" id="{3ABF7DB0-F128-4EC4-CA0C-8DDDBE8B24C7}"/>
              </a:ext>
            </a:extLst>
          </p:cNvPr>
          <p:cNvPicPr>
            <a:picLocks noChangeAspect="1"/>
          </p:cNvPicPr>
          <p:nvPr/>
        </p:nvPicPr>
        <p:blipFill>
          <a:blip r:embed="rId2"/>
          <a:stretch>
            <a:fillRect/>
          </a:stretch>
        </p:blipFill>
        <p:spPr>
          <a:xfrm>
            <a:off x="5911532" y="2839817"/>
            <a:ext cx="5150277" cy="3003120"/>
          </a:xfrm>
          <a:prstGeom prst="rect">
            <a:avLst/>
          </a:prstGeom>
        </p:spPr>
      </p:pic>
      <p:sp>
        <p:nvSpPr>
          <p:cNvPr id="23" name="Rectangle 2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E80A8492-C335-9859-F4D5-819F6DCBF00A}"/>
              </a:ext>
            </a:extLst>
          </p:cNvPr>
          <p:cNvSpPr>
            <a:spLocks noGrp="1"/>
          </p:cNvSpPr>
          <p:nvPr>
            <p:ph type="sldNum" sz="quarter" idx="12"/>
          </p:nvPr>
        </p:nvSpPr>
        <p:spPr/>
        <p:txBody>
          <a:bodyPr/>
          <a:lstStyle/>
          <a:p>
            <a:fld id="{7DF6DEEC-D04A-4FF0-9A08-7D39859C24F4}" type="slidenum">
              <a:rPr lang="en-US" smtClean="0"/>
              <a:t>14</a:t>
            </a:fld>
            <a:endParaRPr lang="en-US"/>
          </a:p>
        </p:txBody>
      </p:sp>
    </p:spTree>
    <p:extLst>
      <p:ext uri="{BB962C8B-B14F-4D97-AF65-F5344CB8AC3E}">
        <p14:creationId xmlns:p14="http://schemas.microsoft.com/office/powerpoint/2010/main" val="31709573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a:xfrm>
            <a:off x="11167672" y="6311900"/>
            <a:ext cx="1437806" cy="328743"/>
          </a:xfrm>
        </p:spPr>
        <p:txBody>
          <a:bodyPr/>
          <a:lstStyle/>
          <a:p>
            <a:fld id="{47003CA9-7551-4F76-98AA-BD03B4114649}" type="slidenum">
              <a:rPr lang="de-DE"/>
              <a:pPr/>
              <a:t>15</a:t>
            </a:fld>
            <a:endParaRPr lang="de-DE" dirty="0"/>
          </a:p>
        </p:txBody>
      </p:sp>
      <p:sp>
        <p:nvSpPr>
          <p:cNvPr id="828418" name="Rectangle 2"/>
          <p:cNvSpPr>
            <a:spLocks noGrp="1" noChangeArrowheads="1"/>
          </p:cNvSpPr>
          <p:nvPr>
            <p:ph type="title"/>
          </p:nvPr>
        </p:nvSpPr>
        <p:spPr/>
        <p:txBody>
          <a:bodyPr/>
          <a:lstStyle/>
          <a:p>
            <a:r>
              <a:rPr lang="en-US" dirty="0"/>
              <a:t>Attributes</a:t>
            </a:r>
          </a:p>
        </p:txBody>
      </p:sp>
      <p:sp>
        <p:nvSpPr>
          <p:cNvPr id="828419" name="Rectangle 3"/>
          <p:cNvSpPr>
            <a:spLocks noGrp="1" noChangeArrowheads="1"/>
          </p:cNvSpPr>
          <p:nvPr>
            <p:ph type="body" idx="1"/>
          </p:nvPr>
        </p:nvSpPr>
        <p:spPr/>
        <p:txBody>
          <a:bodyPr/>
          <a:lstStyle/>
          <a:p>
            <a:r>
              <a:rPr lang="en-US" sz="3200" dirty="0"/>
              <a:t>Include attributes when requirements suggest or imply a need to remember information</a:t>
            </a:r>
          </a:p>
          <a:p>
            <a:r>
              <a:rPr lang="en-US" sz="3200" dirty="0"/>
              <a:t>The syntax of an attribute is</a:t>
            </a:r>
          </a:p>
          <a:p>
            <a:pPr marL="0" indent="0" algn="ctr">
              <a:buNone/>
            </a:pPr>
            <a:br>
              <a:rPr lang="en-US" sz="3200" dirty="0"/>
            </a:br>
            <a:r>
              <a:rPr lang="en-US" sz="3200" b="1" dirty="0">
                <a:solidFill>
                  <a:srgbClr val="FF0000"/>
                </a:solidFill>
              </a:rPr>
              <a:t>[visibility] name [multiplicity] [:type] [= initial value] [{property}]</a:t>
            </a:r>
          </a:p>
          <a:p>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797708" name="Group 797703">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797709" name="Rectangle 797704">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710" name="Rectangle 797705">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707" name="Rectangle 797706">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97698"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Attributes (Contd.)</a:t>
            </a:r>
          </a:p>
        </p:txBody>
      </p:sp>
      <p:sp>
        <p:nvSpPr>
          <p:cNvPr id="797699" name="Rectangle 3"/>
          <p:cNvSpPr>
            <a:spLocks noGrp="1" noChangeArrowheads="1"/>
          </p:cNvSpPr>
          <p:nvPr>
            <p:ph type="body" idx="1"/>
          </p:nvPr>
        </p:nvSpPr>
        <p:spPr>
          <a:xfrm>
            <a:off x="359764" y="2308124"/>
            <a:ext cx="11377534" cy="3673576"/>
          </a:xfrm>
        </p:spPr>
        <p:txBody>
          <a:bodyPr>
            <a:normAutofit/>
          </a:bodyPr>
          <a:lstStyle/>
          <a:p>
            <a:pPr marL="342900" indent="-342900"/>
            <a:r>
              <a:rPr lang="en-US" sz="2600" dirty="0"/>
              <a:t>Examples:</a:t>
            </a:r>
          </a:p>
          <a:p>
            <a:pPr marL="742950" lvl="1" indent="-285750"/>
            <a:r>
              <a:rPr lang="en-US" sz="2600" dirty="0"/>
              <a:t>height		            Name only</a:t>
            </a:r>
          </a:p>
          <a:p>
            <a:pPr marL="742950" lvl="1" indent="-285750"/>
            <a:r>
              <a:rPr lang="en-US" sz="2600" dirty="0"/>
              <a:t>+ height		Visibility and name (public)</a:t>
            </a:r>
          </a:p>
          <a:p>
            <a:pPr marL="742950" lvl="1" indent="-285750"/>
            <a:r>
              <a:rPr lang="en-US" sz="2600" dirty="0"/>
              <a:t>height : Integer	Name and type</a:t>
            </a:r>
          </a:p>
          <a:p>
            <a:pPr marL="742950" lvl="1" indent="-285750"/>
            <a:r>
              <a:rPr lang="en-US" sz="2600" dirty="0"/>
              <a:t>name [0..1]: String	Name, multiplicity, and type</a:t>
            </a:r>
          </a:p>
          <a:p>
            <a:pPr marL="742950" lvl="1" indent="-285750"/>
            <a:r>
              <a:rPr lang="en-US" sz="2600" dirty="0"/>
              <a:t>width : Real = 0.0	Name, type, and initial value</a:t>
            </a:r>
          </a:p>
          <a:p>
            <a:pPr marL="742950" lvl="1" indent="-285750"/>
            <a:r>
              <a:rPr lang="en-US" sz="2600" dirty="0"/>
              <a:t>id: Integer {frozen}	Name, type, and property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8272F6B-A36C-4BBD-B286-15F9655D3BA4}" type="slidenum">
              <a:rPr lang="de-DE">
                <a:solidFill>
                  <a:schemeClr val="tx1">
                    <a:lumMod val="50000"/>
                    <a:lumOff val="50000"/>
                  </a:schemeClr>
                </a:solidFill>
              </a:rPr>
              <a:pPr>
                <a:spcAft>
                  <a:spcPts val="600"/>
                </a:spcAft>
              </a:pPr>
              <a:t>16</a:t>
            </a:fld>
            <a:endParaRPr lang="de-DE">
              <a:solidFill>
                <a:schemeClr val="tx1">
                  <a:lumMod val="50000"/>
                  <a:lumOff val="50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29448" name="Group 82944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29449" name="Rectangle 82944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450" name="Rectangle 82944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451" name="Rectangle 82945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9442" name="Rectangle 2"/>
          <p:cNvSpPr>
            <a:spLocks noGrp="1" noChangeArrowheads="1"/>
          </p:cNvSpPr>
          <p:nvPr>
            <p:ph type="title"/>
          </p:nvPr>
        </p:nvSpPr>
        <p:spPr>
          <a:xfrm>
            <a:off x="876691" y="301843"/>
            <a:ext cx="10477109" cy="1003532"/>
          </a:xfrm>
        </p:spPr>
        <p:txBody>
          <a:bodyPr anchor="ctr">
            <a:normAutofit/>
          </a:bodyPr>
          <a:lstStyle/>
          <a:p>
            <a:r>
              <a:rPr lang="en-US" sz="3200">
                <a:solidFill>
                  <a:srgbClr val="FFFFFF"/>
                </a:solidFill>
              </a:rPr>
              <a:t>Attributes (Contd.)</a:t>
            </a:r>
          </a:p>
        </p:txBody>
      </p:sp>
      <p:sp>
        <p:nvSpPr>
          <p:cNvPr id="829443" name="Rectangle 3"/>
          <p:cNvSpPr>
            <a:spLocks noGrp="1" noChangeArrowheads="1"/>
          </p:cNvSpPr>
          <p:nvPr>
            <p:ph type="body" idx="1"/>
          </p:nvPr>
        </p:nvSpPr>
        <p:spPr>
          <a:xfrm>
            <a:off x="704538" y="1630869"/>
            <a:ext cx="10972800" cy="4719364"/>
          </a:xfrm>
        </p:spPr>
        <p:txBody>
          <a:bodyPr>
            <a:noAutofit/>
          </a:bodyPr>
          <a:lstStyle/>
          <a:p>
            <a:r>
              <a:rPr lang="en-US" b="1" dirty="0"/>
              <a:t>A property of an attribute can be:</a:t>
            </a:r>
          </a:p>
          <a:p>
            <a:pPr marL="0" indent="0">
              <a:buNone/>
            </a:pPr>
            <a:endParaRPr lang="en-US" dirty="0"/>
          </a:p>
          <a:p>
            <a:pPr lvl="1"/>
            <a:r>
              <a:rPr lang="en-US" sz="2800" b="1" dirty="0"/>
              <a:t>Changeable</a:t>
            </a:r>
            <a:r>
              <a:rPr lang="en-US" sz="2800" dirty="0"/>
              <a:t> No restrictions on modifying the attribute's value.</a:t>
            </a:r>
          </a:p>
          <a:p>
            <a:pPr marL="457200" lvl="1" indent="0">
              <a:buNone/>
            </a:pPr>
            <a:endParaRPr lang="en-US" sz="2800" dirty="0"/>
          </a:p>
          <a:p>
            <a:pPr lvl="1"/>
            <a:r>
              <a:rPr lang="en-US" sz="2800" b="1" dirty="0" err="1"/>
              <a:t>addOnly</a:t>
            </a:r>
            <a:r>
              <a:rPr lang="en-US" sz="2800" dirty="0"/>
              <a:t>   For attributes with a multiplicity greater than one, </a:t>
            </a:r>
          </a:p>
          <a:p>
            <a:pPr lvl="1">
              <a:buFont typeface="Marlett" pitchFamily="2" charset="2"/>
              <a:buNone/>
            </a:pPr>
            <a:r>
              <a:rPr lang="en-US" sz="2800" dirty="0"/>
              <a:t>			   additional values may be added, but once created,</a:t>
            </a:r>
          </a:p>
          <a:p>
            <a:pPr lvl="1">
              <a:buFont typeface="Marlett" pitchFamily="2" charset="2"/>
              <a:buNone/>
            </a:pPr>
            <a:r>
              <a:rPr lang="en-US" sz="2800" dirty="0"/>
              <a:t>	 		   a value may not be removed or altered.</a:t>
            </a:r>
          </a:p>
          <a:p>
            <a:pPr lvl="1">
              <a:buFont typeface="Marlett" pitchFamily="2" charset="2"/>
              <a:buNone/>
            </a:pPr>
            <a:endParaRPr lang="en-US" sz="2800" dirty="0"/>
          </a:p>
          <a:p>
            <a:pPr lvl="1"/>
            <a:r>
              <a:rPr lang="en-US" sz="2800" b="1" dirty="0"/>
              <a:t>frozen </a:t>
            </a:r>
            <a:r>
              <a:rPr lang="en-US" sz="2800" dirty="0"/>
              <a:t> 	   The attribute’s value may not be changed after the</a:t>
            </a:r>
          </a:p>
          <a:p>
            <a:pPr lvl="1">
              <a:buFont typeface="Marlett" pitchFamily="2" charset="2"/>
              <a:buNone/>
            </a:pPr>
            <a:r>
              <a:rPr lang="en-US" sz="2800" dirty="0"/>
              <a:t>	 		   object is initialized.</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4922A3F-62AE-414D-AB02-35B1406182AD}" type="slidenum">
              <a:rPr lang="de-DE">
                <a:solidFill>
                  <a:schemeClr val="tx1">
                    <a:lumMod val="50000"/>
                    <a:lumOff val="50000"/>
                  </a:schemeClr>
                </a:solidFill>
              </a:rPr>
              <a:pPr>
                <a:spcAft>
                  <a:spcPts val="600"/>
                </a:spcAft>
              </a:pPr>
              <a:t>17</a:t>
            </a:fld>
            <a:endParaRPr lang="de-DE">
              <a:solidFill>
                <a:schemeClr val="tx1">
                  <a:lumMod val="50000"/>
                  <a:lumOff val="5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72200C-44C4-D7CD-CE36-21CC09064DD8}"/>
              </a:ext>
            </a:extLst>
          </p:cNvPr>
          <p:cNvSpPr>
            <a:spLocks noGrp="1"/>
          </p:cNvSpPr>
          <p:nvPr>
            <p:ph type="title"/>
          </p:nvPr>
        </p:nvSpPr>
        <p:spPr>
          <a:xfrm>
            <a:off x="808638" y="386930"/>
            <a:ext cx="9236700" cy="1188950"/>
          </a:xfrm>
        </p:spPr>
        <p:txBody>
          <a:bodyPr anchor="b">
            <a:normAutofit/>
          </a:bodyPr>
          <a:lstStyle/>
          <a:p>
            <a:r>
              <a:rPr lang="en-US" sz="5400"/>
              <a:t>Attributes (Cont.)</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57B402B-40C8-ACFA-0E19-DE712257C674}"/>
              </a:ext>
            </a:extLst>
          </p:cNvPr>
          <p:cNvSpPr>
            <a:spLocks noGrp="1"/>
          </p:cNvSpPr>
          <p:nvPr>
            <p:ph idx="1"/>
          </p:nvPr>
        </p:nvSpPr>
        <p:spPr>
          <a:xfrm>
            <a:off x="209862" y="2780068"/>
            <a:ext cx="11244731" cy="3435531"/>
          </a:xfrm>
        </p:spPr>
        <p:txBody>
          <a:bodyPr anchor="ctr">
            <a:noAutofit/>
          </a:bodyPr>
          <a:lstStyle/>
          <a:p>
            <a:r>
              <a:rPr lang="en-US" sz="2200" b="0" i="0" dirty="0">
                <a:effectLst/>
                <a:latin typeface="Lato Extended"/>
              </a:rPr>
              <a:t>Attributes should preferably be </a:t>
            </a:r>
            <a:r>
              <a:rPr lang="en-US" sz="2200" b="1" i="0" dirty="0">
                <a:effectLst/>
                <a:latin typeface="Lato Extended"/>
              </a:rPr>
              <a:t>simple attributes</a:t>
            </a:r>
            <a:r>
              <a:rPr lang="en-US" sz="2200" b="0" i="0" dirty="0">
                <a:effectLst/>
                <a:latin typeface="Lato Extended"/>
              </a:rPr>
              <a:t> or </a:t>
            </a:r>
            <a:r>
              <a:rPr lang="en-US" sz="2200" b="1" i="0" dirty="0">
                <a:effectLst/>
                <a:latin typeface="Lato Extended"/>
              </a:rPr>
              <a:t>data types</a:t>
            </a:r>
            <a:r>
              <a:rPr lang="en-US" sz="2200" b="0" i="0" dirty="0">
                <a:effectLst/>
                <a:latin typeface="Lato Extended"/>
              </a:rPr>
              <a:t>.</a:t>
            </a:r>
          </a:p>
          <a:p>
            <a:pPr marL="0" indent="0">
              <a:buNone/>
            </a:pPr>
            <a:endParaRPr lang="en-US" sz="2200" b="0" i="0" dirty="0">
              <a:effectLst/>
              <a:latin typeface="Lato Extended"/>
            </a:endParaRPr>
          </a:p>
          <a:p>
            <a:r>
              <a:rPr lang="en-US" sz="2200" b="0" i="0" dirty="0">
                <a:effectLst/>
                <a:latin typeface="Lato Extended"/>
              </a:rPr>
              <a:t>In the domain mode, attributes should be data types generally where the types are very common: Boolean, Date, Number, String/text, time. </a:t>
            </a:r>
          </a:p>
          <a:p>
            <a:pPr marL="0" indent="0">
              <a:buNone/>
            </a:pPr>
            <a:endParaRPr lang="en-US" sz="2200" b="0" i="0" dirty="0">
              <a:effectLst/>
              <a:latin typeface="Lato Extended"/>
            </a:endParaRPr>
          </a:p>
          <a:p>
            <a:r>
              <a:rPr lang="en-US" sz="2200" b="0" i="0" dirty="0">
                <a:effectLst/>
                <a:latin typeface="Lato Extended"/>
              </a:rPr>
              <a:t>Other common types are: Address, color, phone number, SS#, UPC, SKU, ZIP, enumerated types. </a:t>
            </a:r>
          </a:p>
          <a:p>
            <a:endParaRPr lang="en-US" sz="2200" b="0" i="0" dirty="0">
              <a:effectLst/>
              <a:latin typeface="Lato Extended"/>
            </a:endParaRPr>
          </a:p>
          <a:p>
            <a:pPr algn="l"/>
            <a:r>
              <a:rPr lang="en-US" sz="2200" b="1" i="1" dirty="0">
                <a:solidFill>
                  <a:schemeClr val="accent2"/>
                </a:solidFill>
                <a:effectLst/>
                <a:latin typeface="Lato Extended"/>
              </a:rPr>
              <a:t>Tip 1</a:t>
            </a:r>
            <a:r>
              <a:rPr lang="en-US" sz="2200" b="1" i="1" dirty="0">
                <a:solidFill>
                  <a:srgbClr val="2D3B45"/>
                </a:solidFill>
                <a:effectLst/>
                <a:latin typeface="Lato Extended"/>
              </a:rPr>
              <a:t>:  </a:t>
            </a:r>
            <a:r>
              <a:rPr lang="en-US" sz="2200" b="0" i="0" dirty="0">
                <a:solidFill>
                  <a:srgbClr val="2D3B45"/>
                </a:solidFill>
                <a:effectLst/>
                <a:latin typeface="Lato Extended"/>
              </a:rPr>
              <a:t>Stick to simple types.</a:t>
            </a:r>
          </a:p>
          <a:p>
            <a:pPr algn="l"/>
            <a:r>
              <a:rPr lang="en-US" sz="2200" b="1" i="1" dirty="0">
                <a:solidFill>
                  <a:schemeClr val="accent2"/>
                </a:solidFill>
                <a:effectLst/>
                <a:latin typeface="Lato Extended"/>
              </a:rPr>
              <a:t>Tip 2</a:t>
            </a:r>
            <a:r>
              <a:rPr lang="en-US" sz="2200" b="1" i="1" dirty="0">
                <a:solidFill>
                  <a:srgbClr val="2D3B45"/>
                </a:solidFill>
                <a:effectLst/>
                <a:latin typeface="Lato Extended"/>
              </a:rPr>
              <a:t>:  </a:t>
            </a:r>
            <a:r>
              <a:rPr lang="en-US" sz="2200" b="0" i="0" dirty="0">
                <a:solidFill>
                  <a:srgbClr val="2D3B45"/>
                </a:solidFill>
                <a:effectLst/>
                <a:latin typeface="Lato Extended"/>
              </a:rPr>
              <a:t>If in doubt, define something as a </a:t>
            </a:r>
            <a:r>
              <a:rPr lang="en-US" sz="2200" b="1" i="0" dirty="0">
                <a:solidFill>
                  <a:srgbClr val="34495E"/>
                </a:solidFill>
                <a:effectLst/>
                <a:latin typeface="Lato Extended"/>
              </a:rPr>
              <a:t>concept</a:t>
            </a:r>
            <a:r>
              <a:rPr lang="en-US" sz="2200" b="0" i="0" dirty="0">
                <a:solidFill>
                  <a:srgbClr val="2D3B45"/>
                </a:solidFill>
                <a:effectLst/>
                <a:latin typeface="Lato Extended"/>
              </a:rPr>
              <a:t>, rather than an attribute.</a:t>
            </a:r>
          </a:p>
          <a:p>
            <a:endParaRPr lang="en-US" sz="2200" dirty="0"/>
          </a:p>
        </p:txBody>
      </p:sp>
      <p:sp>
        <p:nvSpPr>
          <p:cNvPr id="4" name="Slide Number Placeholder 3">
            <a:extLst>
              <a:ext uri="{FF2B5EF4-FFF2-40B4-BE49-F238E27FC236}">
                <a16:creationId xmlns:a16="http://schemas.microsoft.com/office/drawing/2014/main" id="{0F483E94-2C38-0D74-AD15-DF1A758C4D4E}"/>
              </a:ext>
            </a:extLst>
          </p:cNvPr>
          <p:cNvSpPr>
            <a:spLocks noGrp="1"/>
          </p:cNvSpPr>
          <p:nvPr>
            <p:ph type="sldNum" sz="quarter" idx="12"/>
          </p:nvPr>
        </p:nvSpPr>
        <p:spPr/>
        <p:txBody>
          <a:bodyPr/>
          <a:lstStyle/>
          <a:p>
            <a:fld id="{7DF6DEEC-D04A-4FF0-9A08-7D39859C24F4}" type="slidenum">
              <a:rPr lang="en-US" smtClean="0"/>
              <a:t>18</a:t>
            </a:fld>
            <a:endParaRPr lang="en-US"/>
          </a:p>
        </p:txBody>
      </p:sp>
    </p:spTree>
    <p:extLst>
      <p:ext uri="{BB962C8B-B14F-4D97-AF65-F5344CB8AC3E}">
        <p14:creationId xmlns:p14="http://schemas.microsoft.com/office/powerpoint/2010/main" val="626574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B60E8C-7224-44A4-87A0-46A1711DD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D5436E-C2A1-7F45-D2B4-8586FBC7C4CD}"/>
              </a:ext>
            </a:extLst>
          </p:cNvPr>
          <p:cNvSpPr>
            <a:spLocks noGrp="1"/>
          </p:cNvSpPr>
          <p:nvPr>
            <p:ph type="title"/>
          </p:nvPr>
        </p:nvSpPr>
        <p:spPr>
          <a:xfrm>
            <a:off x="795528" y="386930"/>
            <a:ext cx="10141799" cy="1300554"/>
          </a:xfrm>
        </p:spPr>
        <p:txBody>
          <a:bodyPr anchor="b">
            <a:normAutofit/>
          </a:bodyPr>
          <a:lstStyle/>
          <a:p>
            <a:r>
              <a:rPr lang="en-US" sz="4800" dirty="0"/>
              <a:t>Example 1:</a:t>
            </a:r>
          </a:p>
        </p:txBody>
      </p:sp>
      <p:sp>
        <p:nvSpPr>
          <p:cNvPr id="12" name="Rectangle 11">
            <a:extLst>
              <a:ext uri="{FF2B5EF4-FFF2-40B4-BE49-F238E27FC236}">
                <a16:creationId xmlns:a16="http://schemas.microsoft.com/office/drawing/2014/main" id="{5DA32751-37A2-45C0-BE94-63D375E27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698E2C8-AA68-4DA1-5701-8D2ADA10C094}"/>
              </a:ext>
            </a:extLst>
          </p:cNvPr>
          <p:cNvPicPr>
            <a:picLocks noChangeAspect="1"/>
          </p:cNvPicPr>
          <p:nvPr/>
        </p:nvPicPr>
        <p:blipFill>
          <a:blip r:embed="rId2"/>
          <a:stretch>
            <a:fillRect/>
          </a:stretch>
        </p:blipFill>
        <p:spPr>
          <a:xfrm>
            <a:off x="415358" y="2845201"/>
            <a:ext cx="5680641" cy="2983746"/>
          </a:xfrm>
          <a:prstGeom prst="rect">
            <a:avLst/>
          </a:prstGeom>
        </p:spPr>
      </p:pic>
      <p:sp>
        <p:nvSpPr>
          <p:cNvPr id="3" name="Content Placeholder 2">
            <a:extLst>
              <a:ext uri="{FF2B5EF4-FFF2-40B4-BE49-F238E27FC236}">
                <a16:creationId xmlns:a16="http://schemas.microsoft.com/office/drawing/2014/main" id="{722C56E8-52C8-83D4-A8D5-5F3262201E02}"/>
              </a:ext>
            </a:extLst>
          </p:cNvPr>
          <p:cNvSpPr>
            <a:spLocks noGrp="1"/>
          </p:cNvSpPr>
          <p:nvPr>
            <p:ph idx="1"/>
          </p:nvPr>
        </p:nvSpPr>
        <p:spPr>
          <a:xfrm>
            <a:off x="6096000" y="2599509"/>
            <a:ext cx="5116643" cy="3639450"/>
          </a:xfrm>
        </p:spPr>
        <p:txBody>
          <a:bodyPr anchor="ctr">
            <a:normAutofit/>
          </a:bodyPr>
          <a:lstStyle/>
          <a:p>
            <a:pPr marL="0" indent="0" algn="just">
              <a:buNone/>
            </a:pPr>
            <a:r>
              <a:rPr lang="en-US" sz="2500" b="0" i="0" dirty="0">
                <a:effectLst/>
                <a:latin typeface="Lato Extended"/>
              </a:rPr>
              <a:t>Register is a complex concept, not a simple one. If you want to relate the Cashier to Register, it is advisable to relate the two concepts through an association rather than having Register an attribute in the class Cashier. </a:t>
            </a:r>
            <a:endParaRPr lang="en-US" sz="2500" dirty="0"/>
          </a:p>
        </p:txBody>
      </p:sp>
      <p:sp>
        <p:nvSpPr>
          <p:cNvPr id="16" name="Rectangle 15">
            <a:extLst>
              <a:ext uri="{FF2B5EF4-FFF2-40B4-BE49-F238E27FC236}">
                <a16:creationId xmlns:a16="http://schemas.microsoft.com/office/drawing/2014/main" id="{5A55FBCD-CD42-40F5-8A1B-3203F9CAE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6D0ACC53-9083-FC26-3E60-06BFD6B2DABB}"/>
              </a:ext>
            </a:extLst>
          </p:cNvPr>
          <p:cNvSpPr>
            <a:spLocks noGrp="1"/>
          </p:cNvSpPr>
          <p:nvPr>
            <p:ph type="sldNum" sz="quarter" idx="12"/>
          </p:nvPr>
        </p:nvSpPr>
        <p:spPr/>
        <p:txBody>
          <a:bodyPr/>
          <a:lstStyle/>
          <a:p>
            <a:fld id="{7DF6DEEC-D04A-4FF0-9A08-7D39859C24F4}" type="slidenum">
              <a:rPr lang="en-US" smtClean="0"/>
              <a:t>19</a:t>
            </a:fld>
            <a:endParaRPr lang="en-US"/>
          </a:p>
        </p:txBody>
      </p:sp>
    </p:spTree>
    <p:extLst>
      <p:ext uri="{BB962C8B-B14F-4D97-AF65-F5344CB8AC3E}">
        <p14:creationId xmlns:p14="http://schemas.microsoft.com/office/powerpoint/2010/main" val="3745717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5D037-17B5-ADB2-D85F-F49F74D30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C692F4-2924-FD0E-C81A-AE64B8251169}"/>
              </a:ext>
            </a:extLst>
          </p:cNvPr>
          <p:cNvSpPr>
            <a:spLocks noGrp="1"/>
          </p:cNvSpPr>
          <p:nvPr>
            <p:ph type="title"/>
          </p:nvPr>
        </p:nvSpPr>
        <p:spPr>
          <a:xfrm>
            <a:off x="795528" y="386930"/>
            <a:ext cx="10141799" cy="1300554"/>
          </a:xfrm>
        </p:spPr>
        <p:txBody>
          <a:bodyPr anchor="b">
            <a:normAutofit/>
          </a:bodyPr>
          <a:lstStyle/>
          <a:p>
            <a:r>
              <a:rPr lang="en-US" sz="4800" dirty="0"/>
              <a:t>Example 2:</a:t>
            </a:r>
          </a:p>
        </p:txBody>
      </p:sp>
      <p:sp>
        <p:nvSpPr>
          <p:cNvPr id="3" name="Content Placeholder 2">
            <a:extLst>
              <a:ext uri="{FF2B5EF4-FFF2-40B4-BE49-F238E27FC236}">
                <a16:creationId xmlns:a16="http://schemas.microsoft.com/office/drawing/2014/main" id="{D8954EC3-29BC-DE09-6BC1-73AD5DC04F0E}"/>
              </a:ext>
            </a:extLst>
          </p:cNvPr>
          <p:cNvSpPr>
            <a:spLocks noGrp="1"/>
          </p:cNvSpPr>
          <p:nvPr>
            <p:ph idx="1"/>
          </p:nvPr>
        </p:nvSpPr>
        <p:spPr>
          <a:xfrm>
            <a:off x="6590676" y="2346459"/>
            <a:ext cx="5116643" cy="3639450"/>
          </a:xfrm>
        </p:spPr>
        <p:txBody>
          <a:bodyPr anchor="ctr">
            <a:normAutofit lnSpcReduction="10000"/>
          </a:bodyPr>
          <a:lstStyle/>
          <a:p>
            <a:pPr marL="0" indent="0" algn="just">
              <a:buNone/>
            </a:pPr>
            <a:r>
              <a:rPr lang="en-US" sz="2500" b="0" i="0" dirty="0">
                <a:solidFill>
                  <a:srgbClr val="2D3B45"/>
                </a:solidFill>
                <a:effectLst/>
                <a:latin typeface="Lato Extended"/>
              </a:rPr>
              <a:t>Here is another example of wrongly representing complex domain concepts as attributes. Again, you want to use associations.  </a:t>
            </a:r>
          </a:p>
          <a:p>
            <a:pPr marL="0" indent="0" algn="just">
              <a:buNone/>
            </a:pPr>
            <a:r>
              <a:rPr lang="en-US" sz="2500" b="0" i="0" dirty="0">
                <a:solidFill>
                  <a:srgbClr val="2D3B45"/>
                </a:solidFill>
                <a:effectLst/>
                <a:latin typeface="Lato Extended"/>
              </a:rPr>
              <a:t>In this example, the airport "destination" is not just a string. It is much more complex, therefore a flight should be related to the airport via an </a:t>
            </a:r>
            <a:r>
              <a:rPr lang="en-US" sz="2500" b="1" i="0" dirty="0">
                <a:solidFill>
                  <a:srgbClr val="2D3B45"/>
                </a:solidFill>
                <a:effectLst/>
                <a:latin typeface="Lato Extended"/>
              </a:rPr>
              <a:t>association</a:t>
            </a:r>
            <a:r>
              <a:rPr lang="en-US" sz="2500" b="0" i="0" dirty="0">
                <a:solidFill>
                  <a:srgbClr val="2D3B45"/>
                </a:solidFill>
                <a:effectLst/>
                <a:latin typeface="Lato Extended"/>
              </a:rPr>
              <a:t>. </a:t>
            </a:r>
            <a:endParaRPr lang="en-US" sz="2500" dirty="0"/>
          </a:p>
        </p:txBody>
      </p:sp>
      <p:pic>
        <p:nvPicPr>
          <p:cNvPr id="4" name="Content Placeholder 4">
            <a:extLst>
              <a:ext uri="{FF2B5EF4-FFF2-40B4-BE49-F238E27FC236}">
                <a16:creationId xmlns:a16="http://schemas.microsoft.com/office/drawing/2014/main" id="{5A489098-8237-5B9E-72A6-1B0B79F6E440}"/>
              </a:ext>
            </a:extLst>
          </p:cNvPr>
          <p:cNvPicPr>
            <a:picLocks noChangeAspect="1"/>
          </p:cNvPicPr>
          <p:nvPr/>
        </p:nvPicPr>
        <p:blipFill>
          <a:blip r:embed="rId2"/>
          <a:stretch>
            <a:fillRect/>
          </a:stretch>
        </p:blipFill>
        <p:spPr>
          <a:xfrm>
            <a:off x="254556" y="2819337"/>
            <a:ext cx="6081287" cy="2453853"/>
          </a:xfrm>
          <a:prstGeom prst="rect">
            <a:avLst/>
          </a:prstGeom>
        </p:spPr>
      </p:pic>
      <p:sp>
        <p:nvSpPr>
          <p:cNvPr id="7" name="Slide Number Placeholder 6">
            <a:extLst>
              <a:ext uri="{FF2B5EF4-FFF2-40B4-BE49-F238E27FC236}">
                <a16:creationId xmlns:a16="http://schemas.microsoft.com/office/drawing/2014/main" id="{DB70111E-F1B7-D47F-27C4-B42F76D2EEF8}"/>
              </a:ext>
            </a:extLst>
          </p:cNvPr>
          <p:cNvSpPr>
            <a:spLocks noGrp="1"/>
          </p:cNvSpPr>
          <p:nvPr>
            <p:ph type="sldNum" sz="quarter" idx="12"/>
          </p:nvPr>
        </p:nvSpPr>
        <p:spPr/>
        <p:txBody>
          <a:bodyPr/>
          <a:lstStyle/>
          <a:p>
            <a:fld id="{7DF6DEEC-D04A-4FF0-9A08-7D39859C24F4}" type="slidenum">
              <a:rPr lang="en-US" smtClean="0"/>
              <a:t>20</a:t>
            </a:fld>
            <a:endParaRPr lang="en-US"/>
          </a:p>
        </p:txBody>
      </p:sp>
    </p:spTree>
    <p:extLst>
      <p:ext uri="{BB962C8B-B14F-4D97-AF65-F5344CB8AC3E}">
        <p14:creationId xmlns:p14="http://schemas.microsoft.com/office/powerpoint/2010/main" val="15769388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32520" name="Group 832519">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32521" name="Rectangle 832520">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522" name="Rectangle 832521">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523" name="Rectangle 832522">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32514"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Attributes vs. Concepts</a:t>
            </a:r>
          </a:p>
        </p:txBody>
      </p:sp>
      <p:sp>
        <p:nvSpPr>
          <p:cNvPr id="832515" name="Rectangle 3"/>
          <p:cNvSpPr>
            <a:spLocks noGrp="1" noChangeArrowheads="1"/>
          </p:cNvSpPr>
          <p:nvPr>
            <p:ph type="body" idx="1"/>
          </p:nvPr>
        </p:nvSpPr>
        <p:spPr>
          <a:xfrm>
            <a:off x="479686" y="2308124"/>
            <a:ext cx="10874114" cy="3673576"/>
          </a:xfrm>
        </p:spPr>
        <p:txBody>
          <a:bodyPr>
            <a:normAutofit/>
          </a:bodyPr>
          <a:lstStyle/>
          <a:p>
            <a:pPr marL="304800" indent="-304800" defTabSz="812800"/>
            <a:r>
              <a:rPr lang="en-US" dirty="0"/>
              <a:t>Does it make sense to distinguish between two separate instances of a </a:t>
            </a:r>
            <a:r>
              <a:rPr lang="en-US" i="1" dirty="0"/>
              <a:t>Person</a:t>
            </a:r>
            <a:r>
              <a:rPr lang="en-US" dirty="0"/>
              <a:t> whose names are John Doe?</a:t>
            </a:r>
          </a:p>
          <a:p>
            <a:pPr marL="304800" indent="-304800" defTabSz="812800"/>
            <a:r>
              <a:rPr lang="en-US" dirty="0"/>
              <a:t>In attributes, identity is determined by the value</a:t>
            </a:r>
          </a:p>
          <a:p>
            <a:pPr marL="0" indent="0" defTabSz="812800">
              <a:buNone/>
            </a:pPr>
            <a:endParaRPr lang="en-US" dirty="0"/>
          </a:p>
          <a:p>
            <a:pPr marL="304800" indent="-304800" defTabSz="812800"/>
            <a:r>
              <a:rPr lang="en-US" b="1" dirty="0"/>
              <a:t>Tip:</a:t>
            </a:r>
            <a:r>
              <a:rPr lang="en-US" dirty="0"/>
              <a:t> </a:t>
            </a:r>
          </a:p>
          <a:p>
            <a:pPr marL="660400" lvl="1" indent="-254000" defTabSz="812800"/>
            <a:r>
              <a:rPr lang="en-US" sz="2800" dirty="0"/>
              <a:t>Stick to simple types</a:t>
            </a:r>
          </a:p>
          <a:p>
            <a:pPr marL="660400" lvl="1" indent="-254000" defTabSz="812800"/>
            <a:r>
              <a:rPr lang="en-US" sz="2800" dirty="0"/>
              <a:t>If in doubt, define something as concept, rather than attribute</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1A75940-E6C9-4DCD-8AA6-0EF773D9542F}" type="slidenum">
              <a:rPr lang="de-DE">
                <a:solidFill>
                  <a:schemeClr val="tx1">
                    <a:lumMod val="50000"/>
                    <a:lumOff val="50000"/>
                  </a:schemeClr>
                </a:solidFill>
              </a:rPr>
              <a:pPr>
                <a:spcAft>
                  <a:spcPts val="600"/>
                </a:spcAft>
              </a:pPr>
              <a:t>21</a:t>
            </a:fld>
            <a:endParaRPr lang="de-DE">
              <a:solidFill>
                <a:schemeClr val="tx1">
                  <a:lumMod val="50000"/>
                  <a:lumOff val="50000"/>
                </a:schemeClr>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4921FC-F149-4785-D71F-ABA4DE034117}"/>
            </a:ext>
          </a:extLst>
        </p:cNvPr>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997C4CEE-6194-67F0-EDC1-DD5DF9EBF5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0" name="Rectangle 2">
            <a:extLst>
              <a:ext uri="{FF2B5EF4-FFF2-40B4-BE49-F238E27FC236}">
                <a16:creationId xmlns:a16="http://schemas.microsoft.com/office/drawing/2014/main" id="{71F968E9-AE4D-B784-6CB8-A52A7EAF736F}"/>
              </a:ext>
            </a:extLst>
          </p:cNvPr>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475BD21C-6800-C117-57CB-10CC21ABF3E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0AE65382-70F3-9A99-EB2E-AFEEEF0A8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33" name="Rectangle 683032">
              <a:extLst>
                <a:ext uri="{FF2B5EF4-FFF2-40B4-BE49-F238E27FC236}">
                  <a16:creationId xmlns:a16="http://schemas.microsoft.com/office/drawing/2014/main" id="{9AB671CA-6A87-295C-04EA-4D2AD4983B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683035" name="Rectangle 683034">
            <a:extLst>
              <a:ext uri="{FF2B5EF4-FFF2-40B4-BE49-F238E27FC236}">
                <a16:creationId xmlns:a16="http://schemas.microsoft.com/office/drawing/2014/main" id="{B26372CD-326E-4746-5709-48021A39EB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6" name="Rectangle 8">
            <a:extLst>
              <a:ext uri="{FF2B5EF4-FFF2-40B4-BE49-F238E27FC236}">
                <a16:creationId xmlns:a16="http://schemas.microsoft.com/office/drawing/2014/main" id="{72A40998-C8ED-0B8B-C016-7C3ECC664B5F}"/>
              </a:ext>
            </a:extLst>
          </p:cNvPr>
          <p:cNvSpPr>
            <a:spLocks noGrp="1" noChangeArrowheads="1"/>
          </p:cNvSpPr>
          <p:nvPr>
            <p:ph type="body" idx="1"/>
          </p:nvPr>
        </p:nvSpPr>
        <p:spPr>
          <a:xfrm>
            <a:off x="793660" y="2599509"/>
            <a:ext cx="10143668" cy="3435531"/>
          </a:xfrm>
        </p:spPr>
        <p:txBody>
          <a:bodyPr anchor="ctr">
            <a:normAutofit/>
          </a:bodyPr>
          <a:lstStyle/>
          <a:p>
            <a:r>
              <a:rPr lang="en-US" altLang="en-US" sz="4000" dirty="0"/>
              <a:t>1- We must identify classes</a:t>
            </a:r>
          </a:p>
          <a:p>
            <a:r>
              <a:rPr lang="en-US" altLang="en-US" sz="4000" dirty="0"/>
              <a:t>2- We must identify Attributes</a:t>
            </a:r>
          </a:p>
          <a:p>
            <a:r>
              <a:rPr lang="en-US" altLang="en-US" sz="4000" dirty="0">
                <a:solidFill>
                  <a:srgbClr val="FF0000"/>
                </a:solidFill>
              </a:rPr>
              <a:t>3- We must identify Associations</a:t>
            </a:r>
          </a:p>
          <a:p>
            <a:pPr marL="457200" lvl="1" indent="0">
              <a:buNone/>
            </a:pPr>
            <a:endParaRPr lang="en-US" altLang="en-US" dirty="0"/>
          </a:p>
        </p:txBody>
      </p:sp>
      <p:sp>
        <p:nvSpPr>
          <p:cNvPr id="4" name="Slide Number Placeholder 3">
            <a:extLst>
              <a:ext uri="{FF2B5EF4-FFF2-40B4-BE49-F238E27FC236}">
                <a16:creationId xmlns:a16="http://schemas.microsoft.com/office/drawing/2014/main" id="{97C6C33F-60DB-ADE9-43D9-54D4162C4CC3}"/>
              </a:ext>
            </a:extLst>
          </p:cNvPr>
          <p:cNvSpPr>
            <a:spLocks noGrp="1"/>
          </p:cNvSpPr>
          <p:nvPr>
            <p:ph type="sldNum" sz="quarter" idx="10"/>
          </p:nvPr>
        </p:nvSpPr>
        <p:spPr>
          <a:xfrm>
            <a:off x="8610600" y="649224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605FD109-E764-47CB-BA1F-DE10B491234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22</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75935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39694" name="Rectangle 839693">
            <a:extLst>
              <a:ext uri="{FF2B5EF4-FFF2-40B4-BE49-F238E27FC236}">
                <a16:creationId xmlns:a16="http://schemas.microsoft.com/office/drawing/2014/main" id="{89A320C9-9735-4D13-8279-C1C6748413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839696" name="Rectangle 839695">
            <a:extLst>
              <a:ext uri="{FF2B5EF4-FFF2-40B4-BE49-F238E27FC236}">
                <a16:creationId xmlns:a16="http://schemas.microsoft.com/office/drawing/2014/main" id="{92544CF4-9B52-4A7B-A4B3-88C72729B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7126"/>
            <a:ext cx="11167447" cy="2018806"/>
          </a:xfrm>
          <a:prstGeom prst="rect">
            <a:avLst/>
          </a:prstGeom>
          <a:ln w="9525">
            <a:solidFill>
              <a:srgbClr val="DEDEDE"/>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839698" name="Rectangle 839697">
            <a:extLst>
              <a:ext uri="{FF2B5EF4-FFF2-40B4-BE49-F238E27FC236}">
                <a16:creationId xmlns:a16="http://schemas.microsoft.com/office/drawing/2014/main" id="{E75862C5-5C00-4421-BC7B-9B7B86DBC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9682" name="Rectangle 2"/>
          <p:cNvSpPr>
            <a:spLocks noGrp="1" noChangeArrowheads="1"/>
          </p:cNvSpPr>
          <p:nvPr>
            <p:ph type="title"/>
          </p:nvPr>
        </p:nvSpPr>
        <p:spPr>
          <a:xfrm>
            <a:off x="1115568" y="548640"/>
            <a:ext cx="10168128" cy="1179576"/>
          </a:xfrm>
        </p:spPr>
        <p:txBody>
          <a:bodyPr>
            <a:normAutofit/>
          </a:bodyPr>
          <a:lstStyle/>
          <a:p>
            <a:pPr defTabSz="812800"/>
            <a:r>
              <a:rPr lang="en-US" sz="4000"/>
              <a:t>Association</a:t>
            </a:r>
          </a:p>
        </p:txBody>
      </p:sp>
      <p:sp>
        <p:nvSpPr>
          <p:cNvPr id="839700" name="Rectangle 839699">
            <a:extLst>
              <a:ext uri="{FF2B5EF4-FFF2-40B4-BE49-F238E27FC236}">
                <a16:creationId xmlns:a16="http://schemas.microsoft.com/office/drawing/2014/main" id="{089440EF-9BE9-4AE9-8C28-00B02296C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39683" name="Rectangle 3"/>
          <p:cNvSpPr>
            <a:spLocks noChangeArrowheads="1"/>
          </p:cNvSpPr>
          <p:nvPr/>
        </p:nvSpPr>
        <p:spPr>
          <a:xfrm>
            <a:off x="1115568" y="2269730"/>
            <a:ext cx="10501809" cy="3549711"/>
          </a:xfrm>
          <a:prstGeom prst="rect">
            <a:avLst/>
          </a:prstGeom>
        </p:spPr>
        <p:txBody>
          <a:bodyPr/>
          <a:lstStyle/>
          <a:p>
            <a:pPr marL="246888" indent="-246888" defTabSz="658368">
              <a:spcAft>
                <a:spcPts val="600"/>
              </a:spcAft>
            </a:pPr>
            <a:r>
              <a:rPr lang="en-US" sz="2592" kern="1200" dirty="0">
                <a:solidFill>
                  <a:schemeClr val="tx1"/>
                </a:solidFill>
                <a:latin typeface="+mn-lt"/>
                <a:ea typeface="+mn-ea"/>
                <a:cs typeface="+mn-cs"/>
              </a:rPr>
              <a:t>An </a:t>
            </a:r>
            <a:r>
              <a:rPr lang="en-US" sz="2592" i="1" kern="1200" dirty="0">
                <a:solidFill>
                  <a:schemeClr val="tx1"/>
                </a:solidFill>
                <a:latin typeface="+mn-lt"/>
                <a:ea typeface="+mn-ea"/>
                <a:cs typeface="+mn-cs"/>
              </a:rPr>
              <a:t>association</a:t>
            </a:r>
            <a:r>
              <a:rPr lang="en-US" sz="2592" kern="1200" dirty="0">
                <a:solidFill>
                  <a:schemeClr val="tx1"/>
                </a:solidFill>
                <a:latin typeface="+mn-lt"/>
                <a:ea typeface="+mn-ea"/>
                <a:cs typeface="+mn-cs"/>
              </a:rPr>
              <a:t> is a relationship between concepts that indicates some meaningful and interesting connection</a:t>
            </a:r>
            <a:endParaRPr lang="en-US" sz="3200" dirty="0"/>
          </a:p>
        </p:txBody>
      </p:sp>
      <p:sp>
        <p:nvSpPr>
          <p:cNvPr id="839684" name="Rectangle 4"/>
          <p:cNvSpPr>
            <a:spLocks noChangeArrowheads="1"/>
          </p:cNvSpPr>
          <p:nvPr/>
        </p:nvSpPr>
        <p:spPr bwMode="auto">
          <a:xfrm>
            <a:off x="4358082" y="4556774"/>
            <a:ext cx="909120" cy="279729"/>
          </a:xfrm>
          <a:prstGeom prst="rect">
            <a:avLst/>
          </a:prstGeom>
          <a:noFill/>
          <a:ln w="9525">
            <a:solidFill>
              <a:schemeClr val="tx1"/>
            </a:solidFill>
            <a:miter lim="800000"/>
            <a:headEnd/>
            <a:tailEnd/>
          </a:ln>
          <a:effectLst/>
        </p:spPr>
        <p:txBody>
          <a:bodyPr wrap="none" lIns="102870" tIns="51435" rIns="102870" bIns="51435" anchor="ctr"/>
          <a:lstStyle/>
          <a:p>
            <a:pPr defTabSz="833247">
              <a:spcAft>
                <a:spcPts val="600"/>
              </a:spcAft>
            </a:pPr>
            <a:r>
              <a:rPr lang="en-US" sz="1458" kern="1200">
                <a:solidFill>
                  <a:schemeClr val="tx1"/>
                </a:solidFill>
                <a:latin typeface="Tahoma" pitchFamily="34" charset="0"/>
                <a:ea typeface="+mn-ea"/>
                <a:cs typeface="+mn-cs"/>
              </a:rPr>
              <a:t>Register</a:t>
            </a:r>
            <a:endParaRPr lang="en-US">
              <a:latin typeface="Tahoma" pitchFamily="34" charset="0"/>
            </a:endParaRPr>
          </a:p>
        </p:txBody>
      </p:sp>
      <p:sp>
        <p:nvSpPr>
          <p:cNvPr id="839685" name="Rectangle 5"/>
          <p:cNvSpPr>
            <a:spLocks noChangeArrowheads="1"/>
          </p:cNvSpPr>
          <p:nvPr/>
        </p:nvSpPr>
        <p:spPr bwMode="auto">
          <a:xfrm>
            <a:off x="6945577" y="4556774"/>
            <a:ext cx="909120" cy="279729"/>
          </a:xfrm>
          <a:prstGeom prst="rect">
            <a:avLst/>
          </a:prstGeom>
          <a:noFill/>
          <a:ln w="9525">
            <a:solidFill>
              <a:schemeClr val="tx1"/>
            </a:solidFill>
            <a:miter lim="800000"/>
            <a:headEnd/>
            <a:tailEnd/>
          </a:ln>
          <a:effectLst/>
        </p:spPr>
        <p:txBody>
          <a:bodyPr wrap="none" lIns="102870" tIns="51435" rIns="102870" bIns="51435" anchor="ctr"/>
          <a:lstStyle/>
          <a:p>
            <a:pPr defTabSz="833247">
              <a:spcAft>
                <a:spcPts val="600"/>
              </a:spcAft>
            </a:pPr>
            <a:r>
              <a:rPr lang="en-US" sz="1458" kern="1200">
                <a:solidFill>
                  <a:schemeClr val="tx1"/>
                </a:solidFill>
                <a:latin typeface="Tahoma" pitchFamily="34" charset="0"/>
                <a:ea typeface="+mn-ea"/>
                <a:cs typeface="+mn-cs"/>
              </a:rPr>
              <a:t>Sale</a:t>
            </a:r>
            <a:endParaRPr lang="en-US">
              <a:latin typeface="Tahoma" pitchFamily="34" charset="0"/>
            </a:endParaRPr>
          </a:p>
        </p:txBody>
      </p:sp>
      <p:sp>
        <p:nvSpPr>
          <p:cNvPr id="839686" name="Line 6"/>
          <p:cNvSpPr>
            <a:spLocks noChangeShapeType="1"/>
          </p:cNvSpPr>
          <p:nvPr/>
        </p:nvSpPr>
        <p:spPr bwMode="auto">
          <a:xfrm>
            <a:off x="5267201" y="4696639"/>
            <a:ext cx="1678375" cy="0"/>
          </a:xfrm>
          <a:prstGeom prst="line">
            <a:avLst/>
          </a:prstGeom>
          <a:noFill/>
          <a:ln w="9525">
            <a:solidFill>
              <a:schemeClr val="tx1"/>
            </a:solidFill>
            <a:miter lim="800000"/>
            <a:headEnd/>
            <a:tailEnd/>
          </a:ln>
          <a:effectLst/>
        </p:spPr>
        <p:txBody>
          <a:bodyPr wrap="none"/>
          <a:lstStyle/>
          <a:p>
            <a:endParaRPr lang="en-US"/>
          </a:p>
        </p:txBody>
      </p:sp>
      <p:sp>
        <p:nvSpPr>
          <p:cNvPr id="839687" name="Text Box 7"/>
          <p:cNvSpPr txBox="1">
            <a:spLocks noChangeArrowheads="1"/>
          </p:cNvSpPr>
          <p:nvPr/>
        </p:nvSpPr>
        <p:spPr bwMode="auto">
          <a:xfrm>
            <a:off x="5267202" y="4696640"/>
            <a:ext cx="310341"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dirty="0">
                <a:latin typeface="Tahoma" pitchFamily="34" charset="0"/>
              </a:rPr>
              <a:t>1</a:t>
            </a:r>
            <a:endParaRPr lang="en-US" dirty="0">
              <a:latin typeface="Tahoma" pitchFamily="34" charset="0"/>
            </a:endParaRPr>
          </a:p>
        </p:txBody>
      </p:sp>
      <p:sp>
        <p:nvSpPr>
          <p:cNvPr id="839688" name="Text Box 8"/>
          <p:cNvSpPr txBox="1">
            <a:spLocks noChangeArrowheads="1"/>
          </p:cNvSpPr>
          <p:nvPr/>
        </p:nvSpPr>
        <p:spPr bwMode="auto">
          <a:xfrm>
            <a:off x="6665847" y="4696640"/>
            <a:ext cx="310341"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kern="1200" dirty="0">
                <a:solidFill>
                  <a:schemeClr val="tx1"/>
                </a:solidFill>
                <a:latin typeface="Tahoma" pitchFamily="34" charset="0"/>
                <a:ea typeface="+mn-ea"/>
                <a:cs typeface="+mn-cs"/>
              </a:rPr>
              <a:t>*</a:t>
            </a:r>
            <a:endParaRPr lang="en-US" dirty="0">
              <a:latin typeface="Tahoma" pitchFamily="34" charset="0"/>
            </a:endParaRPr>
          </a:p>
        </p:txBody>
      </p:sp>
      <p:sp>
        <p:nvSpPr>
          <p:cNvPr id="839689" name="Text Box 9"/>
          <p:cNvSpPr txBox="1">
            <a:spLocks noChangeArrowheads="1"/>
          </p:cNvSpPr>
          <p:nvPr/>
        </p:nvSpPr>
        <p:spPr bwMode="auto">
          <a:xfrm>
            <a:off x="5420017" y="4416911"/>
            <a:ext cx="1513812"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kern="1200">
                <a:solidFill>
                  <a:schemeClr val="tx1"/>
                </a:solidFill>
                <a:latin typeface="Tahoma" pitchFamily="34" charset="0"/>
                <a:ea typeface="+mn-ea"/>
                <a:cs typeface="+mn-cs"/>
              </a:rPr>
              <a:t>Records-current</a:t>
            </a:r>
            <a:endParaRPr lang="en-US">
              <a:latin typeface="Tahoma" pitchFamily="34" charset="0"/>
            </a:endParaRPr>
          </a:p>
        </p:txBody>
      </p:sp>
      <p:sp>
        <p:nvSpPr>
          <p:cNvPr id="2" name="Slide Number Placeholder 1">
            <a:extLst>
              <a:ext uri="{FF2B5EF4-FFF2-40B4-BE49-F238E27FC236}">
                <a16:creationId xmlns:a16="http://schemas.microsoft.com/office/drawing/2014/main" id="{69621FC3-F476-AECD-E6F2-B32631236C2B}"/>
              </a:ext>
            </a:extLst>
          </p:cNvPr>
          <p:cNvSpPr>
            <a:spLocks noGrp="1"/>
          </p:cNvSpPr>
          <p:nvPr>
            <p:ph type="sldNum" sz="quarter" idx="12"/>
          </p:nvPr>
        </p:nvSpPr>
        <p:spPr/>
        <p:txBody>
          <a:bodyPr/>
          <a:lstStyle/>
          <a:p>
            <a:fld id="{7DF6DEEC-D04A-4FF0-9A08-7D39859C24F4}"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44D03B-D015-A27B-4965-AA2B04CB3F96}"/>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Associations</a:t>
            </a:r>
          </a:p>
        </p:txBody>
      </p:sp>
      <p:pic>
        <p:nvPicPr>
          <p:cNvPr id="5" name="Content Placeholder 4">
            <a:extLst>
              <a:ext uri="{FF2B5EF4-FFF2-40B4-BE49-F238E27FC236}">
                <a16:creationId xmlns:a16="http://schemas.microsoft.com/office/drawing/2014/main" id="{9A656434-4C5A-BE3D-EA70-042F1AB3F23B}"/>
              </a:ext>
            </a:extLst>
          </p:cNvPr>
          <p:cNvPicPr>
            <a:picLocks noGrp="1" noChangeAspect="1"/>
          </p:cNvPicPr>
          <p:nvPr>
            <p:ph idx="1"/>
          </p:nvPr>
        </p:nvPicPr>
        <p:blipFill>
          <a:blip r:embed="rId2"/>
          <a:stretch>
            <a:fillRect/>
          </a:stretch>
        </p:blipFill>
        <p:spPr>
          <a:xfrm>
            <a:off x="862391" y="1752346"/>
            <a:ext cx="10905066" cy="3353307"/>
          </a:xfrm>
          <a:prstGeom prst="rect">
            <a:avLst/>
          </a:prstGeom>
        </p:spPr>
      </p:pic>
      <p:sp>
        <p:nvSpPr>
          <p:cNvPr id="7" name="TextBox 6">
            <a:extLst>
              <a:ext uri="{FF2B5EF4-FFF2-40B4-BE49-F238E27FC236}">
                <a16:creationId xmlns:a16="http://schemas.microsoft.com/office/drawing/2014/main" id="{0014F396-7319-4181-4736-6CAC254B2319}"/>
              </a:ext>
            </a:extLst>
          </p:cNvPr>
          <p:cNvSpPr txBox="1"/>
          <p:nvPr/>
        </p:nvSpPr>
        <p:spPr>
          <a:xfrm>
            <a:off x="224853" y="4728189"/>
            <a:ext cx="6985416" cy="2092881"/>
          </a:xfrm>
          <a:prstGeom prst="rect">
            <a:avLst/>
          </a:prstGeom>
          <a:noFill/>
        </p:spPr>
        <p:txBody>
          <a:bodyPr wrap="square">
            <a:spAutoFit/>
          </a:bodyPr>
          <a:lstStyle/>
          <a:p>
            <a:pPr algn="l"/>
            <a:r>
              <a:rPr lang="en-US" sz="2600" b="0" i="0" dirty="0">
                <a:solidFill>
                  <a:srgbClr val="2D3B45"/>
                </a:solidFill>
                <a:effectLst/>
                <a:latin typeface="Lato Extended"/>
              </a:rPr>
              <a:t>One </a:t>
            </a:r>
            <a:r>
              <a:rPr lang="en-US" sz="2600" b="0" i="1" dirty="0">
                <a:solidFill>
                  <a:srgbClr val="2D3B45"/>
                </a:solidFill>
                <a:effectLst/>
                <a:latin typeface="Lato Extended"/>
              </a:rPr>
              <a:t>Person</a:t>
            </a:r>
            <a:r>
              <a:rPr lang="en-US" sz="2600" b="0" i="0" dirty="0">
                <a:solidFill>
                  <a:srgbClr val="2D3B45"/>
                </a:solidFill>
                <a:effectLst/>
                <a:latin typeface="Lato Extended"/>
              </a:rPr>
              <a:t> participating in this relationship works for </a:t>
            </a:r>
            <a:r>
              <a:rPr lang="en-US" sz="2600" b="1" i="0" dirty="0">
                <a:solidFill>
                  <a:schemeClr val="accent2"/>
                </a:solidFill>
                <a:effectLst/>
                <a:latin typeface="Lato Extended"/>
              </a:rPr>
              <a:t>ONE</a:t>
            </a:r>
            <a:r>
              <a:rPr lang="en-US" sz="2600" b="0" i="0" dirty="0">
                <a:solidFill>
                  <a:srgbClr val="2D3B45"/>
                </a:solidFill>
                <a:effectLst/>
                <a:latin typeface="Lato Extended"/>
              </a:rPr>
              <a:t> </a:t>
            </a:r>
            <a:r>
              <a:rPr lang="en-US" sz="2600" b="0" i="1" dirty="0">
                <a:solidFill>
                  <a:srgbClr val="2D3B45"/>
                </a:solidFill>
                <a:effectLst/>
                <a:latin typeface="Lato Extended"/>
              </a:rPr>
              <a:t>Company</a:t>
            </a:r>
          </a:p>
          <a:p>
            <a:pPr algn="l"/>
            <a:endParaRPr lang="en-US" sz="2600" b="0" i="0" dirty="0">
              <a:solidFill>
                <a:srgbClr val="2D3B45"/>
              </a:solidFill>
              <a:effectLst/>
              <a:latin typeface="Lato Extended"/>
            </a:endParaRPr>
          </a:p>
          <a:p>
            <a:pPr algn="l"/>
            <a:r>
              <a:rPr lang="en-US" sz="2600" b="0" i="0" dirty="0">
                <a:solidFill>
                  <a:srgbClr val="2D3B45"/>
                </a:solidFill>
                <a:effectLst/>
                <a:latin typeface="Lato Extended"/>
              </a:rPr>
              <a:t> One </a:t>
            </a:r>
            <a:r>
              <a:rPr lang="en-US" sz="2600" b="0" i="1" dirty="0">
                <a:solidFill>
                  <a:srgbClr val="2D3B45"/>
                </a:solidFill>
                <a:effectLst/>
                <a:latin typeface="Lato Extended"/>
              </a:rPr>
              <a:t>Company</a:t>
            </a:r>
            <a:r>
              <a:rPr lang="en-US" sz="2600" b="0" i="0" dirty="0">
                <a:solidFill>
                  <a:srgbClr val="2D3B45"/>
                </a:solidFill>
                <a:effectLst/>
                <a:latin typeface="Lato Extended"/>
              </a:rPr>
              <a:t> in this relationship may have "</a:t>
            </a:r>
            <a:r>
              <a:rPr lang="en-US" sz="2600" b="1" i="0" dirty="0">
                <a:solidFill>
                  <a:schemeClr val="accent2"/>
                </a:solidFill>
                <a:effectLst/>
                <a:latin typeface="Lato Extended"/>
              </a:rPr>
              <a:t>ONE or MORE</a:t>
            </a:r>
            <a:r>
              <a:rPr lang="en-US" sz="2600" b="0" i="0" dirty="0">
                <a:solidFill>
                  <a:srgbClr val="2D3B45"/>
                </a:solidFill>
                <a:effectLst/>
                <a:latin typeface="Lato Extended"/>
              </a:rPr>
              <a:t>" </a:t>
            </a:r>
            <a:r>
              <a:rPr lang="en-US" sz="2600" b="0" i="1" dirty="0">
                <a:solidFill>
                  <a:srgbClr val="2D3B45"/>
                </a:solidFill>
                <a:effectLst/>
                <a:latin typeface="Lato Extended"/>
              </a:rPr>
              <a:t>Persons </a:t>
            </a:r>
            <a:r>
              <a:rPr lang="en-US" sz="2600" b="0" i="0" dirty="0">
                <a:solidFill>
                  <a:srgbClr val="2D3B45"/>
                </a:solidFill>
                <a:effectLst/>
                <a:latin typeface="Lato Extended"/>
              </a:rPr>
              <a:t>working for it.</a:t>
            </a:r>
          </a:p>
        </p:txBody>
      </p:sp>
      <p:sp>
        <p:nvSpPr>
          <p:cNvPr id="8" name="Slide Number Placeholder 7">
            <a:extLst>
              <a:ext uri="{FF2B5EF4-FFF2-40B4-BE49-F238E27FC236}">
                <a16:creationId xmlns:a16="http://schemas.microsoft.com/office/drawing/2014/main" id="{49287A87-E34D-006C-607D-64A7A045E27D}"/>
              </a:ext>
            </a:extLst>
          </p:cNvPr>
          <p:cNvSpPr>
            <a:spLocks noGrp="1"/>
          </p:cNvSpPr>
          <p:nvPr>
            <p:ph type="sldNum" sz="quarter" idx="12"/>
          </p:nvPr>
        </p:nvSpPr>
        <p:spPr/>
        <p:txBody>
          <a:bodyPr/>
          <a:lstStyle/>
          <a:p>
            <a:fld id="{7DF6DEEC-D04A-4FF0-9A08-7D39859C24F4}" type="slidenum">
              <a:rPr lang="en-US" smtClean="0"/>
              <a:t>24</a:t>
            </a:fld>
            <a:endParaRPr lang="en-US"/>
          </a:p>
        </p:txBody>
      </p:sp>
    </p:spTree>
    <p:extLst>
      <p:ext uri="{BB962C8B-B14F-4D97-AF65-F5344CB8AC3E}">
        <p14:creationId xmlns:p14="http://schemas.microsoft.com/office/powerpoint/2010/main" val="18348658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1800" name="Group 801799">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1801" name="Rectangle 801800">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802" name="Rectangle 801801">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803" name="Rectangle 801802">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1794"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Association Adornments</a:t>
            </a:r>
          </a:p>
        </p:txBody>
      </p:sp>
      <p:sp>
        <p:nvSpPr>
          <p:cNvPr id="801795" name="Rectangle 3"/>
          <p:cNvSpPr>
            <a:spLocks noGrp="1" noChangeArrowheads="1"/>
          </p:cNvSpPr>
          <p:nvPr>
            <p:ph type="body" idx="1"/>
          </p:nvPr>
        </p:nvSpPr>
        <p:spPr>
          <a:xfrm>
            <a:off x="0" y="1808965"/>
            <a:ext cx="11812249" cy="4747192"/>
          </a:xfrm>
        </p:spPr>
        <p:txBody>
          <a:bodyPr>
            <a:noAutofit/>
          </a:bodyPr>
          <a:lstStyle/>
          <a:p>
            <a:pPr marL="342900" indent="-342900">
              <a:spcAft>
                <a:spcPct val="40000"/>
              </a:spcAft>
            </a:pPr>
            <a:r>
              <a:rPr lang="en-US" dirty="0"/>
              <a:t>There are 3 basic adornments that apply to an association:</a:t>
            </a:r>
          </a:p>
          <a:p>
            <a:pPr marL="742950" lvl="1" indent="-285750">
              <a:spcAft>
                <a:spcPct val="40000"/>
              </a:spcAft>
            </a:pPr>
            <a:r>
              <a:rPr lang="en-US" sz="2800" b="1" i="1" dirty="0">
                <a:solidFill>
                  <a:schemeClr val="accent2"/>
                </a:solidFill>
              </a:rPr>
              <a:t>name</a:t>
            </a:r>
            <a:r>
              <a:rPr lang="en-US" sz="2800" dirty="0"/>
              <a:t> - describes the nature of the relationship. To avoid ambiguity about its meaning, the direction of the association can be shown with a triangle.</a:t>
            </a:r>
          </a:p>
          <a:p>
            <a:pPr marL="742950" lvl="1" indent="-285750">
              <a:spcAft>
                <a:spcPct val="40000"/>
              </a:spcAft>
            </a:pPr>
            <a:r>
              <a:rPr lang="en-US" sz="2800" b="1" i="1" dirty="0">
                <a:solidFill>
                  <a:schemeClr val="accent2"/>
                </a:solidFill>
              </a:rPr>
              <a:t>role</a:t>
            </a:r>
            <a:r>
              <a:rPr lang="en-US" sz="2800" dirty="0"/>
              <a:t> - when a class participates in an association, it has a specific role that it plays in that relationship: a role can be thought as the face the class at the near end presents to the class at the other end.</a:t>
            </a:r>
          </a:p>
          <a:p>
            <a:pPr marL="742950" lvl="1" indent="-285750">
              <a:spcAft>
                <a:spcPct val="40000"/>
              </a:spcAft>
            </a:pPr>
            <a:r>
              <a:rPr lang="en-US" sz="2800" b="1" i="1" dirty="0">
                <a:solidFill>
                  <a:schemeClr val="accent2"/>
                </a:solidFill>
              </a:rPr>
              <a:t>multiplicity</a:t>
            </a:r>
            <a:r>
              <a:rPr lang="en-US" sz="2800" dirty="0"/>
              <a:t> – cardinality of the relationship. Indicates how many instances of the classes participate in the given relationship.</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47592F4-CBC1-49D5-8A23-AFDC7EB21471}" type="slidenum">
              <a:rPr lang="de-DE">
                <a:solidFill>
                  <a:schemeClr val="tx1">
                    <a:lumMod val="50000"/>
                    <a:lumOff val="50000"/>
                  </a:schemeClr>
                </a:solidFill>
              </a:rPr>
              <a:pPr>
                <a:spcAft>
                  <a:spcPts val="600"/>
                </a:spcAft>
              </a:pPr>
              <a:t>25</a:t>
            </a:fld>
            <a:endParaRPr lang="de-DE">
              <a:solidFill>
                <a:schemeClr val="tx1">
                  <a:lumMod val="50000"/>
                  <a:lumOff val="50000"/>
                </a:schemeClr>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C4AD8D1-943C-437F-90A0-EC806B4950DF}" type="slidenum">
              <a:rPr lang="de-DE"/>
              <a:pPr/>
              <a:t>26</a:t>
            </a:fld>
            <a:endParaRPr lang="de-DE"/>
          </a:p>
        </p:txBody>
      </p:sp>
      <p:sp>
        <p:nvSpPr>
          <p:cNvPr id="843778" name="Rectangle 2"/>
          <p:cNvSpPr>
            <a:spLocks noGrp="1" noChangeArrowheads="1"/>
          </p:cNvSpPr>
          <p:nvPr>
            <p:ph type="title"/>
          </p:nvPr>
        </p:nvSpPr>
        <p:spPr/>
        <p:txBody>
          <a:bodyPr/>
          <a:lstStyle/>
          <a:p>
            <a:pPr defTabSz="812800"/>
            <a:r>
              <a:rPr lang="en-US" dirty="0"/>
              <a:t>How to Identify an Association?</a:t>
            </a:r>
          </a:p>
        </p:txBody>
      </p:sp>
      <p:sp>
        <p:nvSpPr>
          <p:cNvPr id="843779" name="Rectangle 3"/>
          <p:cNvSpPr>
            <a:spLocks noGrp="1" noChangeArrowheads="1"/>
          </p:cNvSpPr>
          <p:nvPr>
            <p:ph type="body" idx="1"/>
          </p:nvPr>
        </p:nvSpPr>
        <p:spPr/>
        <p:txBody>
          <a:bodyPr>
            <a:normAutofit/>
          </a:bodyPr>
          <a:lstStyle/>
          <a:p>
            <a:pPr marL="304800" indent="-304800" defTabSz="812800"/>
            <a:r>
              <a:rPr lang="en-US" sz="3600" dirty="0"/>
              <a:t>Examine the concepts for the following relationships:</a:t>
            </a:r>
          </a:p>
          <a:p>
            <a:pPr marL="304800" indent="-304800" defTabSz="812800"/>
            <a:endParaRPr lang="en-US" sz="3600" dirty="0"/>
          </a:p>
          <a:p>
            <a:pPr marL="762000" lvl="1" indent="-304800" defTabSz="812800"/>
            <a:r>
              <a:rPr lang="en-US" sz="3600" dirty="0"/>
              <a:t>A is </a:t>
            </a:r>
            <a:r>
              <a:rPr lang="en-US" sz="3600" i="1" dirty="0"/>
              <a:t>physical</a:t>
            </a:r>
            <a:r>
              <a:rPr lang="en-US" sz="3600" dirty="0"/>
              <a:t> or </a:t>
            </a:r>
            <a:r>
              <a:rPr lang="en-US" sz="3600" i="1" dirty="0"/>
              <a:t>logical</a:t>
            </a:r>
            <a:r>
              <a:rPr lang="en-US" sz="3600" dirty="0"/>
              <a:t> </a:t>
            </a:r>
            <a:r>
              <a:rPr lang="en-US" sz="3600" i="1" dirty="0"/>
              <a:t>part</a:t>
            </a:r>
            <a:r>
              <a:rPr lang="en-US" sz="3600" dirty="0"/>
              <a:t> of B</a:t>
            </a:r>
          </a:p>
          <a:p>
            <a:pPr marL="762000" lvl="1" indent="-304800" defTabSz="812800"/>
            <a:r>
              <a:rPr lang="en-US" sz="3600" dirty="0"/>
              <a:t>A is </a:t>
            </a:r>
            <a:r>
              <a:rPr lang="en-US" sz="3600" i="1" dirty="0"/>
              <a:t>physically</a:t>
            </a:r>
            <a:r>
              <a:rPr lang="en-US" sz="3600" dirty="0"/>
              <a:t> or </a:t>
            </a:r>
            <a:r>
              <a:rPr lang="en-US" sz="3600" i="1" dirty="0"/>
              <a:t>logically</a:t>
            </a:r>
            <a:r>
              <a:rPr lang="en-US" sz="3600" dirty="0"/>
              <a:t> </a:t>
            </a:r>
            <a:r>
              <a:rPr lang="en-US" sz="3600" i="1" dirty="0"/>
              <a:t>contained</a:t>
            </a:r>
            <a:r>
              <a:rPr lang="en-US" sz="3600" dirty="0"/>
              <a:t> in/on B</a:t>
            </a:r>
          </a:p>
          <a:p>
            <a:pPr marL="762000" lvl="1" indent="-304800" defTabSz="812800"/>
            <a:r>
              <a:rPr lang="en-US" sz="3600" dirty="0"/>
              <a:t>A is </a:t>
            </a:r>
            <a:r>
              <a:rPr lang="en-US" sz="3600" i="1" dirty="0"/>
              <a:t>recorded</a:t>
            </a:r>
            <a:r>
              <a:rPr lang="en-US" sz="3600" dirty="0"/>
              <a:t> in B</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45832" name="Group 845831">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5833" name="Rectangle 845832">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834" name="Rectangle 845833">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835" name="Rectangle 845834">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5826"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Association Guidelines</a:t>
            </a:r>
          </a:p>
        </p:txBody>
      </p:sp>
      <p:sp>
        <p:nvSpPr>
          <p:cNvPr id="845827" name="Rectangle 3"/>
          <p:cNvSpPr>
            <a:spLocks noGrp="1" noChangeArrowheads="1"/>
          </p:cNvSpPr>
          <p:nvPr>
            <p:ph type="body" idx="1"/>
          </p:nvPr>
        </p:nvSpPr>
        <p:spPr>
          <a:xfrm>
            <a:off x="614598" y="2308124"/>
            <a:ext cx="11092720" cy="3673576"/>
          </a:xfrm>
        </p:spPr>
        <p:txBody>
          <a:bodyPr>
            <a:normAutofit/>
          </a:bodyPr>
          <a:lstStyle/>
          <a:p>
            <a:pPr marL="304800" indent="-304800" defTabSz="812800"/>
            <a:r>
              <a:rPr lang="en-US" sz="3600" dirty="0"/>
              <a:t>Focus on “need-to-know” associations</a:t>
            </a:r>
          </a:p>
          <a:p>
            <a:pPr marL="660400" lvl="1" indent="-254000" defTabSz="812800"/>
            <a:r>
              <a:rPr lang="en-US" sz="3600" dirty="0"/>
              <a:t>High priority associations are strongly “need-to-know”</a:t>
            </a:r>
          </a:p>
          <a:p>
            <a:pPr marL="304800" indent="-304800" defTabSz="812800"/>
            <a:r>
              <a:rPr lang="en-US" sz="3600" dirty="0"/>
              <a:t>It is more important to identify concepts than associations</a:t>
            </a:r>
          </a:p>
          <a:p>
            <a:pPr marL="304800" indent="-304800" defTabSz="812800"/>
            <a:r>
              <a:rPr lang="en-US" sz="3600" dirty="0"/>
              <a:t>Showing too many associations </a:t>
            </a:r>
            <a:r>
              <a:rPr lang="en-US" sz="3600" b="1" dirty="0"/>
              <a:t>at this phase</a:t>
            </a:r>
            <a:r>
              <a:rPr lang="en-US" sz="3600" dirty="0"/>
              <a:t> can confuse a domain model</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CF0B14A3-1A09-49E9-8642-7D31E268547E}" type="slidenum">
              <a:rPr lang="de-DE">
                <a:solidFill>
                  <a:schemeClr val="tx1">
                    <a:lumMod val="50000"/>
                    <a:lumOff val="50000"/>
                  </a:schemeClr>
                </a:solidFill>
              </a:rPr>
              <a:pPr>
                <a:spcAft>
                  <a:spcPts val="600"/>
                </a:spcAft>
              </a:pPr>
              <a:t>27</a:t>
            </a:fld>
            <a:endParaRPr lang="de-DE">
              <a:solidFill>
                <a:schemeClr val="tx1">
                  <a:lumMod val="50000"/>
                  <a:lumOff val="50000"/>
                </a:schemeClr>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A84634-AF90-9E5F-1F4F-995965098F76}"/>
              </a:ext>
            </a:extLst>
          </p:cNvPr>
          <p:cNvSpPr>
            <a:spLocks noGrp="1"/>
          </p:cNvSpPr>
          <p:nvPr>
            <p:ph type="title"/>
          </p:nvPr>
        </p:nvSpPr>
        <p:spPr>
          <a:xfrm>
            <a:off x="808638" y="386930"/>
            <a:ext cx="9236700" cy="1188950"/>
          </a:xfrm>
        </p:spPr>
        <p:txBody>
          <a:bodyPr anchor="b">
            <a:normAutofit/>
          </a:bodyPr>
          <a:lstStyle/>
          <a:p>
            <a:r>
              <a:rPr lang="en-US" sz="4200"/>
              <a:t>Special Considerations for Associations</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0605582-BBC4-2FF1-4897-A92333E6FE7A}"/>
              </a:ext>
            </a:extLst>
          </p:cNvPr>
          <p:cNvSpPr>
            <a:spLocks noGrp="1"/>
          </p:cNvSpPr>
          <p:nvPr>
            <p:ph idx="1"/>
          </p:nvPr>
        </p:nvSpPr>
        <p:spPr>
          <a:xfrm>
            <a:off x="793660" y="2599509"/>
            <a:ext cx="10143668" cy="3435531"/>
          </a:xfrm>
        </p:spPr>
        <p:txBody>
          <a:bodyPr anchor="ctr">
            <a:normAutofit/>
          </a:bodyPr>
          <a:lstStyle/>
          <a:p>
            <a:r>
              <a:rPr lang="en-US" sz="3700" dirty="0"/>
              <a:t>Generalizations</a:t>
            </a:r>
          </a:p>
          <a:p>
            <a:r>
              <a:rPr lang="en-US" sz="3700" dirty="0"/>
              <a:t>Association Classes</a:t>
            </a:r>
          </a:p>
          <a:p>
            <a:r>
              <a:rPr lang="en-US" sz="3700" dirty="0"/>
              <a:t>Aggregation and Composition</a:t>
            </a:r>
          </a:p>
        </p:txBody>
      </p:sp>
      <p:sp>
        <p:nvSpPr>
          <p:cNvPr id="4" name="Slide Number Placeholder 3">
            <a:extLst>
              <a:ext uri="{FF2B5EF4-FFF2-40B4-BE49-F238E27FC236}">
                <a16:creationId xmlns:a16="http://schemas.microsoft.com/office/drawing/2014/main" id="{1729AF20-6165-3728-E4B9-4784D594D82A}"/>
              </a:ext>
            </a:extLst>
          </p:cNvPr>
          <p:cNvSpPr>
            <a:spLocks noGrp="1"/>
          </p:cNvSpPr>
          <p:nvPr>
            <p:ph type="sldNum" sz="quarter" idx="12"/>
          </p:nvPr>
        </p:nvSpPr>
        <p:spPr/>
        <p:txBody>
          <a:bodyPr/>
          <a:lstStyle/>
          <a:p>
            <a:fld id="{7DF6DEEC-D04A-4FF0-9A08-7D39859C24F4}" type="slidenum">
              <a:rPr lang="en-US" smtClean="0"/>
              <a:t>28</a:t>
            </a:fld>
            <a:endParaRPr lang="en-US"/>
          </a:p>
        </p:txBody>
      </p:sp>
    </p:spTree>
    <p:extLst>
      <p:ext uri="{BB962C8B-B14F-4D97-AF65-F5344CB8AC3E}">
        <p14:creationId xmlns:p14="http://schemas.microsoft.com/office/powerpoint/2010/main" val="25221864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3"/>
          <p:cNvSpPr>
            <a:spLocks noGrp="1"/>
          </p:cNvSpPr>
          <p:nvPr>
            <p:ph type="sldNum" sz="quarter" idx="10"/>
          </p:nvPr>
        </p:nvSpPr>
        <p:spPr/>
        <p:txBody>
          <a:bodyPr/>
          <a:lstStyle/>
          <a:p>
            <a:fld id="{7C8154C9-F5B3-4FD9-9FDE-D0FC5B8DC467}" type="slidenum">
              <a:rPr lang="de-DE"/>
              <a:pPr/>
              <a:t>29</a:t>
            </a:fld>
            <a:endParaRPr lang="de-DE"/>
          </a:p>
        </p:txBody>
      </p:sp>
      <p:sp>
        <p:nvSpPr>
          <p:cNvPr id="805890" name="Rectangle 2"/>
          <p:cNvSpPr>
            <a:spLocks noGrp="1" noChangeArrowheads="1"/>
          </p:cNvSpPr>
          <p:nvPr>
            <p:ph type="title"/>
          </p:nvPr>
        </p:nvSpPr>
        <p:spPr/>
        <p:txBody>
          <a:bodyPr/>
          <a:lstStyle/>
          <a:p>
            <a:r>
              <a:rPr lang="en-US" altLang="en-US"/>
              <a:t>Generalization</a:t>
            </a:r>
          </a:p>
        </p:txBody>
      </p:sp>
      <p:sp>
        <p:nvSpPr>
          <p:cNvPr id="805891" name="Rectangle 3"/>
          <p:cNvSpPr>
            <a:spLocks noGrp="1" noChangeArrowheads="1"/>
          </p:cNvSpPr>
          <p:nvPr>
            <p:ph type="body" idx="1"/>
          </p:nvPr>
        </p:nvSpPr>
        <p:spPr/>
        <p:txBody>
          <a:bodyPr/>
          <a:lstStyle/>
          <a:p>
            <a:pPr marL="342900" indent="-342900" algn="just"/>
            <a:r>
              <a:rPr lang="en-US" sz="2600" b="0" i="0" dirty="0">
                <a:solidFill>
                  <a:srgbClr val="2D3B45"/>
                </a:solidFill>
                <a:effectLst/>
                <a:latin typeface="Lato Extended"/>
              </a:rPr>
              <a:t>One type of association is Generalization. This type aims to organize concepts to identify commonality among them.</a:t>
            </a:r>
            <a:r>
              <a:rPr lang="en-US" sz="2600" dirty="0"/>
              <a:t>)</a:t>
            </a:r>
          </a:p>
          <a:p>
            <a:pPr marL="342900" indent="-342900" algn="just"/>
            <a:r>
              <a:rPr lang="en-US" sz="2600" dirty="0">
                <a:solidFill>
                  <a:srgbClr val="2D3B45"/>
                </a:solidFill>
                <a:latin typeface="Lato Extended"/>
              </a:rPr>
              <a:t>T</a:t>
            </a:r>
            <a:r>
              <a:rPr lang="en-US" sz="2600" b="0" i="0" dirty="0">
                <a:solidFill>
                  <a:srgbClr val="2D3B45"/>
                </a:solidFill>
                <a:effectLst/>
                <a:latin typeface="Lato Extended"/>
              </a:rPr>
              <a:t>he superclass of </a:t>
            </a:r>
            <a:r>
              <a:rPr lang="en-US" sz="2600" b="1" i="1" dirty="0">
                <a:solidFill>
                  <a:srgbClr val="2D3B45"/>
                </a:solidFill>
                <a:effectLst/>
                <a:latin typeface="Lato Extended"/>
              </a:rPr>
              <a:t>payment</a:t>
            </a:r>
            <a:r>
              <a:rPr lang="en-US" sz="2600" b="0" i="0" dirty="0">
                <a:solidFill>
                  <a:srgbClr val="2D3B45"/>
                </a:solidFill>
                <a:effectLst/>
                <a:latin typeface="Lato Extended"/>
              </a:rPr>
              <a:t> and the subclasses of </a:t>
            </a:r>
            <a:r>
              <a:rPr lang="en-US" sz="2600" b="0" i="1" dirty="0">
                <a:solidFill>
                  <a:srgbClr val="2D3B45"/>
                </a:solidFill>
                <a:effectLst/>
                <a:latin typeface="Lato Extended"/>
              </a:rPr>
              <a:t>cash payment</a:t>
            </a:r>
            <a:r>
              <a:rPr lang="en-US" sz="2600" b="0" i="0" dirty="0">
                <a:solidFill>
                  <a:srgbClr val="2D3B45"/>
                </a:solidFill>
                <a:effectLst/>
                <a:latin typeface="Lato Extended"/>
              </a:rPr>
              <a:t>, </a:t>
            </a:r>
            <a:r>
              <a:rPr lang="en-US" sz="2600" b="0" i="1" dirty="0">
                <a:solidFill>
                  <a:srgbClr val="2D3B45"/>
                </a:solidFill>
                <a:effectLst/>
                <a:latin typeface="Lato Extended"/>
              </a:rPr>
              <a:t>credit payment</a:t>
            </a:r>
            <a:r>
              <a:rPr lang="en-US" sz="2600" b="0" i="0" dirty="0">
                <a:solidFill>
                  <a:srgbClr val="2D3B45"/>
                </a:solidFill>
                <a:effectLst/>
                <a:latin typeface="Lato Extended"/>
              </a:rPr>
              <a:t>, </a:t>
            </a:r>
            <a:r>
              <a:rPr lang="en-US" sz="2600" b="0" i="1" dirty="0">
                <a:solidFill>
                  <a:srgbClr val="2D3B45"/>
                </a:solidFill>
                <a:effectLst/>
                <a:latin typeface="Lato Extended"/>
              </a:rPr>
              <a:t>check payment</a:t>
            </a:r>
            <a:endParaRPr lang="en-US" sz="2600" dirty="0"/>
          </a:p>
          <a:p>
            <a:pPr marL="342900" indent="-342900"/>
            <a:endParaRPr lang="en-US" sz="3600" dirty="0"/>
          </a:p>
        </p:txBody>
      </p:sp>
      <p:grpSp>
        <p:nvGrpSpPr>
          <p:cNvPr id="805900" name="Group 12"/>
          <p:cNvGrpSpPr>
            <a:grpSpLocks/>
          </p:cNvGrpSpPr>
          <p:nvPr/>
        </p:nvGrpSpPr>
        <p:grpSpPr bwMode="auto">
          <a:xfrm>
            <a:off x="2728210" y="3772183"/>
            <a:ext cx="8625590" cy="2267736"/>
            <a:chOff x="1232" y="2426"/>
            <a:chExt cx="2785" cy="786"/>
          </a:xfrm>
        </p:grpSpPr>
        <p:sp>
          <p:nvSpPr>
            <p:cNvPr id="805892" name="Text Box 4"/>
            <p:cNvSpPr txBox="1">
              <a:spLocks noChangeArrowheads="1"/>
            </p:cNvSpPr>
            <p:nvPr/>
          </p:nvSpPr>
          <p:spPr bwMode="blackWhite">
            <a:xfrm>
              <a:off x="2265" y="2426"/>
              <a:ext cx="857" cy="192"/>
            </a:xfrm>
            <a:prstGeom prst="rect">
              <a:avLst/>
            </a:prstGeom>
            <a:noFill/>
            <a:ln w="9525">
              <a:solidFill>
                <a:schemeClr val="tx1"/>
              </a:solidFill>
              <a:miter lim="800000"/>
              <a:headEnd/>
              <a:tailEnd/>
            </a:ln>
            <a:effectLst/>
          </p:spPr>
          <p:txBody>
            <a:bodyPr lIns="0" tIns="0" rIns="0" bIns="0">
              <a:spAutoFit/>
            </a:bodyPr>
            <a:lstStyle/>
            <a:p>
              <a:r>
                <a:rPr lang="en-US" b="1" i="1" dirty="0"/>
                <a:t>              Payment</a:t>
              </a:r>
            </a:p>
            <a:p>
              <a:endParaRPr lang="en-US" i="1" dirty="0"/>
            </a:p>
          </p:txBody>
        </p:sp>
        <p:sp>
          <p:nvSpPr>
            <p:cNvPr id="805893" name="Text Box 5"/>
            <p:cNvSpPr txBox="1">
              <a:spLocks noChangeArrowheads="1"/>
            </p:cNvSpPr>
            <p:nvPr/>
          </p:nvSpPr>
          <p:spPr bwMode="blackWhite">
            <a:xfrm>
              <a:off x="1232" y="3012"/>
              <a:ext cx="857" cy="192"/>
            </a:xfrm>
            <a:prstGeom prst="rect">
              <a:avLst/>
            </a:prstGeom>
            <a:noFill/>
            <a:ln w="9525">
              <a:solidFill>
                <a:schemeClr val="tx1"/>
              </a:solidFill>
              <a:miter lim="800000"/>
              <a:headEnd/>
              <a:tailEnd/>
            </a:ln>
            <a:effectLst/>
          </p:spPr>
          <p:txBody>
            <a:bodyPr lIns="0" tIns="0" rIns="0" bIns="0">
              <a:spAutoFit/>
            </a:bodyPr>
            <a:lstStyle/>
            <a:p>
              <a:r>
                <a:rPr lang="en-US" b="1" dirty="0"/>
                <a:t>      Cash Payment</a:t>
              </a:r>
            </a:p>
            <a:p>
              <a:endParaRPr lang="en-US" dirty="0"/>
            </a:p>
          </p:txBody>
        </p:sp>
        <p:sp>
          <p:nvSpPr>
            <p:cNvPr id="805894" name="Text Box 6"/>
            <p:cNvSpPr txBox="1">
              <a:spLocks noChangeArrowheads="1"/>
            </p:cNvSpPr>
            <p:nvPr/>
          </p:nvSpPr>
          <p:spPr bwMode="blackWhite">
            <a:xfrm>
              <a:off x="2192" y="3012"/>
              <a:ext cx="857" cy="192"/>
            </a:xfrm>
            <a:prstGeom prst="rect">
              <a:avLst/>
            </a:prstGeom>
            <a:noFill/>
            <a:ln w="9525">
              <a:solidFill>
                <a:schemeClr val="tx1"/>
              </a:solidFill>
              <a:miter lim="800000"/>
              <a:headEnd/>
              <a:tailEnd/>
            </a:ln>
            <a:effectLst/>
          </p:spPr>
          <p:txBody>
            <a:bodyPr lIns="0" tIns="0" rIns="0" bIns="0">
              <a:spAutoFit/>
            </a:bodyPr>
            <a:lstStyle/>
            <a:p>
              <a:r>
                <a:rPr lang="en-US" b="1" dirty="0"/>
                <a:t>         Credit Payment</a:t>
              </a:r>
            </a:p>
            <a:p>
              <a:endParaRPr lang="en-US" dirty="0"/>
            </a:p>
          </p:txBody>
        </p:sp>
        <p:sp>
          <p:nvSpPr>
            <p:cNvPr id="805895" name="Text Box 7"/>
            <p:cNvSpPr txBox="1">
              <a:spLocks noChangeArrowheads="1"/>
            </p:cNvSpPr>
            <p:nvPr/>
          </p:nvSpPr>
          <p:spPr bwMode="blackWhite">
            <a:xfrm>
              <a:off x="3160" y="3020"/>
              <a:ext cx="857" cy="192"/>
            </a:xfrm>
            <a:prstGeom prst="rect">
              <a:avLst/>
            </a:prstGeom>
            <a:noFill/>
            <a:ln w="9525">
              <a:solidFill>
                <a:schemeClr val="tx1"/>
              </a:solidFill>
              <a:miter lim="800000"/>
              <a:headEnd/>
              <a:tailEnd/>
            </a:ln>
            <a:effectLst/>
          </p:spPr>
          <p:txBody>
            <a:bodyPr lIns="0" tIns="0" rIns="0" bIns="0">
              <a:spAutoFit/>
            </a:bodyPr>
            <a:lstStyle/>
            <a:p>
              <a:r>
                <a:rPr lang="en-US" b="1" dirty="0"/>
                <a:t>             Check Payment</a:t>
              </a:r>
            </a:p>
            <a:p>
              <a:endParaRPr lang="en-US" dirty="0"/>
            </a:p>
          </p:txBody>
        </p:sp>
        <p:sp>
          <p:nvSpPr>
            <p:cNvPr id="805897" name="AutoShape 9"/>
            <p:cNvSpPr>
              <a:spLocks noChangeArrowheads="1"/>
            </p:cNvSpPr>
            <p:nvPr/>
          </p:nvSpPr>
          <p:spPr bwMode="blackWhite">
            <a:xfrm>
              <a:off x="2561" y="2619"/>
              <a:ext cx="133" cy="114"/>
            </a:xfrm>
            <a:prstGeom prst="triangle">
              <a:avLst>
                <a:gd name="adj" fmla="val 50000"/>
              </a:avLst>
            </a:prstGeom>
            <a:noFill/>
            <a:ln w="9525">
              <a:solidFill>
                <a:schemeClr val="tx1"/>
              </a:solidFill>
              <a:miter lim="800000"/>
              <a:headEnd/>
              <a:tailEnd/>
            </a:ln>
            <a:effectLst/>
          </p:spPr>
          <p:txBody>
            <a:bodyPr wrap="square" lIns="0" tIns="0" rIns="0" bIns="0" anchor="ctr">
              <a:spAutoFit/>
            </a:bodyPr>
            <a:lstStyle/>
            <a:p>
              <a:endParaRPr lang="en-US"/>
            </a:p>
          </p:txBody>
        </p:sp>
        <p:sp>
          <p:nvSpPr>
            <p:cNvPr id="805898" name="Line 10"/>
            <p:cNvSpPr>
              <a:spLocks noChangeShapeType="1"/>
            </p:cNvSpPr>
            <p:nvPr/>
          </p:nvSpPr>
          <p:spPr bwMode="blackWhite">
            <a:xfrm flipH="1">
              <a:off x="2626" y="2742"/>
              <a:ext cx="5" cy="146"/>
            </a:xfrm>
            <a:prstGeom prst="line">
              <a:avLst/>
            </a:prstGeom>
            <a:noFill/>
            <a:ln w="9525">
              <a:solidFill>
                <a:schemeClr val="tx1"/>
              </a:solidFill>
              <a:round/>
              <a:headEnd/>
              <a:tailEnd/>
            </a:ln>
            <a:effectLst/>
          </p:spPr>
          <p:txBody>
            <a:bodyPr wrap="square" lIns="0" tIns="0" rIns="0" bIns="0">
              <a:spAutoFit/>
            </a:bodyPr>
            <a:lstStyle/>
            <a:p>
              <a:endParaRPr lang="en-US"/>
            </a:p>
          </p:txBody>
        </p:sp>
        <p:sp>
          <p:nvSpPr>
            <p:cNvPr id="805899" name="Freeform 11"/>
            <p:cNvSpPr>
              <a:spLocks/>
            </p:cNvSpPr>
            <p:nvPr/>
          </p:nvSpPr>
          <p:spPr bwMode="blackWhite">
            <a:xfrm>
              <a:off x="1614" y="2888"/>
              <a:ext cx="2026" cy="146"/>
            </a:xfrm>
            <a:custGeom>
              <a:avLst/>
              <a:gdLst/>
              <a:ahLst/>
              <a:cxnLst>
                <a:cxn ang="0">
                  <a:pos x="0" y="112"/>
                </a:cxn>
                <a:cxn ang="0">
                  <a:pos x="0" y="0"/>
                </a:cxn>
                <a:cxn ang="0">
                  <a:pos x="2016" y="0"/>
                </a:cxn>
                <a:cxn ang="0">
                  <a:pos x="2016" y="128"/>
                </a:cxn>
              </a:cxnLst>
              <a:rect l="0" t="0" r="r" b="b"/>
              <a:pathLst>
                <a:path w="2016" h="128">
                  <a:moveTo>
                    <a:pt x="0" y="112"/>
                  </a:moveTo>
                  <a:lnTo>
                    <a:pt x="0" y="0"/>
                  </a:lnTo>
                  <a:lnTo>
                    <a:pt x="2016" y="0"/>
                  </a:lnTo>
                  <a:lnTo>
                    <a:pt x="2016" y="128"/>
                  </a:lnTo>
                </a:path>
              </a:pathLst>
            </a:custGeom>
            <a:noFill/>
            <a:ln w="9525" cap="flat" cmpd="sng">
              <a:solidFill>
                <a:schemeClr val="tx1"/>
              </a:solidFill>
              <a:prstDash val="solid"/>
              <a:round/>
              <a:headEnd/>
              <a:tailEnd/>
            </a:ln>
            <a:effectLst/>
          </p:spPr>
          <p:txBody>
            <a:bodyPr wrap="square" lIns="0" tIns="0" rIns="0" bIns="0">
              <a:spAutoFit/>
            </a:bodyPr>
            <a:lstStyle/>
            <a:p>
              <a:endParaRPr lang="en-US"/>
            </a:p>
          </p:txBody>
        </p:sp>
      </p:grpSp>
      <p:cxnSp>
        <p:nvCxnSpPr>
          <p:cNvPr id="3" name="Straight Connector 2">
            <a:extLst>
              <a:ext uri="{FF2B5EF4-FFF2-40B4-BE49-F238E27FC236}">
                <a16:creationId xmlns:a16="http://schemas.microsoft.com/office/drawing/2014/main" id="{104BE659-22B1-6C57-2ADA-8EAA7F4CE7F8}"/>
              </a:ext>
            </a:extLst>
          </p:cNvPr>
          <p:cNvCxnSpPr>
            <a:endCxn id="805894" idx="0"/>
          </p:cNvCxnSpPr>
          <p:nvPr/>
        </p:nvCxnSpPr>
        <p:spPr>
          <a:xfrm flipH="1">
            <a:off x="7028616" y="5105115"/>
            <a:ext cx="32521" cy="35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F95D0128-E62A-1B5F-B2B1-9D97D05679FA}"/>
              </a:ext>
            </a:extLst>
          </p:cNvPr>
          <p:cNvCxnSpPr/>
          <p:nvPr/>
        </p:nvCxnSpPr>
        <p:spPr>
          <a:xfrm>
            <a:off x="3237875" y="4326134"/>
            <a:ext cx="3477718" cy="16733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B4576C96-78C3-99A6-2209-C85B75A81B39}"/>
              </a:ext>
            </a:extLst>
          </p:cNvPr>
          <p:cNvSpPr txBox="1"/>
          <p:nvPr/>
        </p:nvSpPr>
        <p:spPr>
          <a:xfrm>
            <a:off x="927600" y="3957001"/>
            <a:ext cx="3155618" cy="646331"/>
          </a:xfrm>
          <a:prstGeom prst="rect">
            <a:avLst/>
          </a:prstGeom>
          <a:noFill/>
        </p:spPr>
        <p:txBody>
          <a:bodyPr wrap="square" rtlCol="0">
            <a:spAutoFit/>
          </a:bodyPr>
          <a:lstStyle/>
          <a:p>
            <a:r>
              <a:rPr lang="en-US" dirty="0">
                <a:solidFill>
                  <a:schemeClr val="accent2"/>
                </a:solidFill>
              </a:rPr>
              <a:t>This is how we represent Generalization in UML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7944" name="Group 807943">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7945" name="Rectangle 807944">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946" name="Rectangle 807945">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947" name="Rectangle 807946">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7938"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Generalization (Contd.)</a:t>
            </a:r>
          </a:p>
        </p:txBody>
      </p:sp>
      <p:sp>
        <p:nvSpPr>
          <p:cNvPr id="807939" name="Rectangle 3"/>
          <p:cNvSpPr>
            <a:spLocks noGrp="1" noChangeArrowheads="1"/>
          </p:cNvSpPr>
          <p:nvPr>
            <p:ph type="body" idx="1"/>
          </p:nvPr>
        </p:nvSpPr>
        <p:spPr>
          <a:xfrm>
            <a:off x="449705" y="2308124"/>
            <a:ext cx="11347553" cy="3673576"/>
          </a:xfrm>
        </p:spPr>
        <p:txBody>
          <a:bodyPr>
            <a:normAutofit/>
          </a:bodyPr>
          <a:lstStyle/>
          <a:p>
            <a:pPr marL="342900" indent="-342900"/>
            <a:r>
              <a:rPr lang="en-US" sz="3600" dirty="0"/>
              <a:t>Generalization creates a conceptual class hierarchy when</a:t>
            </a:r>
          </a:p>
          <a:p>
            <a:pPr marL="0" indent="0">
              <a:buNone/>
            </a:pPr>
            <a:endParaRPr lang="en-US" sz="3600" dirty="0"/>
          </a:p>
          <a:p>
            <a:pPr marL="742950" lvl="1" indent="-285750"/>
            <a:r>
              <a:rPr lang="en-US" sz="3600" dirty="0"/>
              <a:t>Subclasses have additional attributes of interest</a:t>
            </a:r>
          </a:p>
          <a:p>
            <a:pPr marL="742950" lvl="1" indent="-285750"/>
            <a:r>
              <a:rPr lang="en-US" sz="3600" dirty="0"/>
              <a:t>Subclasses have additional associations of interest</a:t>
            </a:r>
          </a:p>
          <a:p>
            <a:pPr marL="742950" lvl="1" indent="-285750"/>
            <a:r>
              <a:rPr lang="en-US" sz="3600" dirty="0"/>
              <a:t>The subclass concept is manipulated differently than the superclass and other subclasses</a:t>
            </a:r>
          </a:p>
          <a:p>
            <a:pPr marL="342900" indent="-342900"/>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8C0F775-76CF-47C7-B425-363A67DCD512}" type="slidenum">
              <a:rPr lang="de-DE">
                <a:solidFill>
                  <a:schemeClr val="tx1">
                    <a:lumMod val="50000"/>
                    <a:lumOff val="50000"/>
                  </a:schemeClr>
                </a:solidFill>
              </a:rPr>
              <a:pPr>
                <a:spcAft>
                  <a:spcPts val="600"/>
                </a:spcAft>
              </a:pPr>
              <a:t>30</a:t>
            </a:fld>
            <a:endParaRPr lang="de-DE">
              <a:solidFill>
                <a:schemeClr val="tx1">
                  <a:lumMod val="50000"/>
                  <a:lumOff val="50000"/>
                </a:schemeClr>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46856" name="Group 84685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6857" name="Rectangle 84685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858" name="Rectangle 84685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859" name="Rectangle 84685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6850"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Subclass Definition: 100% Rule</a:t>
            </a:r>
          </a:p>
        </p:txBody>
      </p:sp>
      <p:sp>
        <p:nvSpPr>
          <p:cNvPr id="846851" name="Rectangle 3"/>
          <p:cNvSpPr>
            <a:spLocks noGrp="1" noChangeArrowheads="1"/>
          </p:cNvSpPr>
          <p:nvPr>
            <p:ph type="body" idx="1"/>
          </p:nvPr>
        </p:nvSpPr>
        <p:spPr>
          <a:xfrm>
            <a:off x="239843" y="1808965"/>
            <a:ext cx="11512445" cy="4747191"/>
          </a:xfrm>
        </p:spPr>
        <p:txBody>
          <a:bodyPr>
            <a:normAutofit/>
          </a:bodyPr>
          <a:lstStyle/>
          <a:p>
            <a:pPr marL="304800" indent="-304800" defTabSz="812800"/>
            <a:r>
              <a:rPr lang="en-US" dirty="0"/>
              <a:t>100% of </a:t>
            </a:r>
            <a:r>
              <a:rPr lang="en-US" i="1" dirty="0"/>
              <a:t>superclass’</a:t>
            </a:r>
            <a:r>
              <a:rPr lang="en-US" dirty="0"/>
              <a:t> definition should be applicable to </a:t>
            </a:r>
            <a:r>
              <a:rPr lang="en-US" i="1" dirty="0"/>
              <a:t>subclass</a:t>
            </a:r>
          </a:p>
          <a:p>
            <a:pPr marL="0" indent="0" defTabSz="812800">
              <a:buNone/>
            </a:pPr>
            <a:endParaRPr lang="en-US" i="1" dirty="0"/>
          </a:p>
          <a:p>
            <a:pPr marL="304800" indent="-304800" defTabSz="812800"/>
            <a:r>
              <a:rPr lang="en-US" dirty="0"/>
              <a:t>This includes:</a:t>
            </a:r>
          </a:p>
          <a:p>
            <a:pPr marL="660400" lvl="1" indent="-254000" defTabSz="812800"/>
            <a:r>
              <a:rPr lang="en-US" sz="2800" dirty="0"/>
              <a:t>Attributes, and</a:t>
            </a:r>
          </a:p>
          <a:p>
            <a:pPr marL="660400" lvl="1" indent="-254000" defTabSz="812800"/>
            <a:r>
              <a:rPr lang="en-US" sz="2800" dirty="0"/>
              <a:t>Association</a:t>
            </a:r>
          </a:p>
          <a:p>
            <a:pPr marL="406400" lvl="1" indent="0" defTabSz="812800">
              <a:buNone/>
            </a:pPr>
            <a:endParaRPr lang="en-US" sz="2800" dirty="0"/>
          </a:p>
          <a:p>
            <a:pPr marL="304800" indent="-304800" defTabSz="812800"/>
            <a:r>
              <a:rPr lang="en-US" dirty="0"/>
              <a:t>Example: </a:t>
            </a:r>
          </a:p>
          <a:p>
            <a:pPr marL="660400" lvl="1" indent="-254000" defTabSz="812800"/>
            <a:r>
              <a:rPr lang="en-US" sz="2800" i="1" dirty="0"/>
              <a:t>Payment</a:t>
            </a:r>
            <a:r>
              <a:rPr lang="en-US" sz="2800" dirty="0"/>
              <a:t> has an </a:t>
            </a:r>
            <a:r>
              <a:rPr lang="en-US" sz="2800" i="1" dirty="0"/>
              <a:t>amount</a:t>
            </a:r>
            <a:r>
              <a:rPr lang="en-US" sz="2800" dirty="0"/>
              <a:t> and pays for a </a:t>
            </a:r>
            <a:r>
              <a:rPr lang="en-US" sz="2800" i="1" dirty="0"/>
              <a:t>sale</a:t>
            </a:r>
          </a:p>
          <a:p>
            <a:pPr marL="660400" lvl="1" indent="-254000" defTabSz="812800"/>
            <a:r>
              <a:rPr lang="en-US" sz="2800" dirty="0"/>
              <a:t>This is true for </a:t>
            </a:r>
            <a:r>
              <a:rPr lang="en-US" sz="2800" i="1" dirty="0" err="1"/>
              <a:t>CreditPayment</a:t>
            </a:r>
            <a:r>
              <a:rPr lang="en-US" sz="2800" dirty="0"/>
              <a:t>, </a:t>
            </a:r>
            <a:r>
              <a:rPr lang="en-US" sz="2800" i="1" dirty="0" err="1"/>
              <a:t>CashPayment</a:t>
            </a:r>
            <a:r>
              <a:rPr lang="en-US" sz="2800" dirty="0"/>
              <a:t>, </a:t>
            </a:r>
            <a:r>
              <a:rPr lang="en-US" sz="2800" i="1" dirty="0" err="1"/>
              <a:t>CheckPayment</a:t>
            </a:r>
            <a:endParaRPr lang="en-US" sz="2800" i="1"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71B91B33-F5AC-4AD7-9F26-26CEB41B886B}" type="slidenum">
              <a:rPr lang="de-DE">
                <a:solidFill>
                  <a:schemeClr val="tx1">
                    <a:lumMod val="50000"/>
                    <a:lumOff val="50000"/>
                  </a:schemeClr>
                </a:solidFill>
              </a:rPr>
              <a:pPr>
                <a:spcAft>
                  <a:spcPts val="600"/>
                </a:spcAft>
              </a:pPr>
              <a:t>31</a:t>
            </a:fld>
            <a:endParaRPr lang="de-DE">
              <a:solidFill>
                <a:schemeClr val="tx1">
                  <a:lumMod val="50000"/>
                  <a:lumOff val="50000"/>
                </a:schemeClr>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bg>
      <p:bgPr>
        <a:solidFill>
          <a:schemeClr val="bg1"/>
        </a:solidFill>
        <a:effectLst/>
      </p:bgPr>
    </p:bg>
    <p:spTree>
      <p:nvGrpSpPr>
        <p:cNvPr id="1" name=""/>
        <p:cNvGrpSpPr/>
        <p:nvPr/>
      </p:nvGrpSpPr>
      <p:grpSpPr>
        <a:xfrm>
          <a:off x="0" y="0"/>
          <a:ext cx="0" cy="0"/>
          <a:chOff x="0" y="0"/>
          <a:chExt cx="0" cy="0"/>
        </a:xfrm>
      </p:grpSpPr>
      <p:grpSp>
        <p:nvGrpSpPr>
          <p:cNvPr id="849928" name="Group 84992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9929" name="Rectangle 84992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930" name="Rectangle 84992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931" name="Rectangle 84993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9922"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When to define subclass</a:t>
            </a:r>
          </a:p>
        </p:txBody>
      </p:sp>
      <p:sp>
        <p:nvSpPr>
          <p:cNvPr id="849923" name="Rectangle 3"/>
          <p:cNvSpPr>
            <a:spLocks noGrp="1" noChangeArrowheads="1"/>
          </p:cNvSpPr>
          <p:nvPr>
            <p:ph type="body" idx="1"/>
          </p:nvPr>
        </p:nvSpPr>
        <p:spPr>
          <a:xfrm>
            <a:off x="224852" y="1808965"/>
            <a:ext cx="11677338" cy="4747191"/>
          </a:xfrm>
        </p:spPr>
        <p:txBody>
          <a:bodyPr>
            <a:normAutofit/>
          </a:bodyPr>
          <a:lstStyle/>
          <a:p>
            <a:pPr marL="304800" indent="-304800" defTabSz="812800"/>
            <a:r>
              <a:rPr lang="en-US" sz="2400" b="1" dirty="0">
                <a:solidFill>
                  <a:schemeClr val="accent2"/>
                </a:solidFill>
              </a:rPr>
              <a:t>Subclass has additional attributes of interest</a:t>
            </a:r>
          </a:p>
          <a:p>
            <a:pPr marL="660400" lvl="1" indent="-254000" defTabSz="812800"/>
            <a:r>
              <a:rPr lang="en-US" dirty="0"/>
              <a:t>Library</a:t>
            </a:r>
            <a:r>
              <a:rPr lang="en-US" i="1" dirty="0"/>
              <a:t>: Book</a:t>
            </a:r>
            <a:r>
              <a:rPr lang="en-US" dirty="0"/>
              <a:t>, a subclass of </a:t>
            </a:r>
            <a:r>
              <a:rPr lang="en-US" i="1" dirty="0"/>
              <a:t>Loanable</a:t>
            </a:r>
            <a:r>
              <a:rPr lang="en-US" dirty="0"/>
              <a:t> resource, has ISBN attribute</a:t>
            </a:r>
          </a:p>
          <a:p>
            <a:pPr marL="304800" indent="-304800" defTabSz="812800"/>
            <a:r>
              <a:rPr lang="en-US" sz="2400" b="1" dirty="0">
                <a:solidFill>
                  <a:schemeClr val="accent2"/>
                </a:solidFill>
              </a:rPr>
              <a:t>Subclass has additional associations of interest</a:t>
            </a:r>
          </a:p>
          <a:p>
            <a:pPr marL="660400" lvl="1" indent="-254000" defTabSz="812800"/>
            <a:r>
              <a:rPr lang="en-US" dirty="0"/>
              <a:t>Register: </a:t>
            </a:r>
            <a:r>
              <a:rPr lang="en-US" i="1" dirty="0" err="1"/>
              <a:t>CreditPayment</a:t>
            </a:r>
            <a:r>
              <a:rPr lang="en-US" dirty="0"/>
              <a:t>, a subclass of </a:t>
            </a:r>
            <a:r>
              <a:rPr lang="en-US" i="1" dirty="0"/>
              <a:t>Payment</a:t>
            </a:r>
            <a:r>
              <a:rPr lang="en-US" dirty="0"/>
              <a:t>, is associated with a </a:t>
            </a:r>
            <a:r>
              <a:rPr lang="en-US" i="1" dirty="0" err="1"/>
              <a:t>CreditCard</a:t>
            </a:r>
            <a:endParaRPr lang="en-US" i="1" dirty="0"/>
          </a:p>
          <a:p>
            <a:pPr marL="304800" indent="-304800" defTabSz="812800"/>
            <a:r>
              <a:rPr lang="en-US" sz="2400" b="1" dirty="0">
                <a:solidFill>
                  <a:schemeClr val="accent2"/>
                </a:solidFill>
              </a:rPr>
              <a:t>Subclass is operated, handled or acted differently than superclass</a:t>
            </a:r>
          </a:p>
          <a:p>
            <a:pPr marL="660400" lvl="1" indent="-254000" defTabSz="812800"/>
            <a:r>
              <a:rPr lang="en-US" dirty="0"/>
              <a:t>Register</a:t>
            </a:r>
            <a:r>
              <a:rPr lang="en-US" i="1" dirty="0"/>
              <a:t>: </a:t>
            </a:r>
            <a:r>
              <a:rPr lang="en-US" i="1" dirty="0" err="1"/>
              <a:t>CreditPayment</a:t>
            </a:r>
            <a:r>
              <a:rPr lang="en-US" dirty="0"/>
              <a:t>, a subclass of </a:t>
            </a:r>
            <a:r>
              <a:rPr lang="en-US" i="1" dirty="0"/>
              <a:t>Payment</a:t>
            </a:r>
            <a:r>
              <a:rPr lang="en-US" dirty="0"/>
              <a:t>, is handled differently than other kinds of payments</a:t>
            </a:r>
          </a:p>
          <a:p>
            <a:pPr marL="304800" indent="-304800" defTabSz="812800"/>
            <a:r>
              <a:rPr lang="en-US" sz="2400" b="1" dirty="0">
                <a:solidFill>
                  <a:schemeClr val="accent2"/>
                </a:solidFill>
              </a:rPr>
              <a:t>Subclass behaves differently than superclass</a:t>
            </a:r>
          </a:p>
          <a:p>
            <a:pPr marL="660400" lvl="1" indent="-254000" defTabSz="812800"/>
            <a:r>
              <a:rPr lang="en-US" dirty="0"/>
              <a:t>Market Research: </a:t>
            </a:r>
            <a:r>
              <a:rPr lang="en-US" i="1" dirty="0"/>
              <a:t>Child</a:t>
            </a:r>
            <a:r>
              <a:rPr lang="en-US" dirty="0"/>
              <a:t>, subclass of </a:t>
            </a:r>
            <a:r>
              <a:rPr lang="en-US" i="1" dirty="0"/>
              <a:t>Human</a:t>
            </a:r>
            <a:r>
              <a:rPr lang="en-US" dirty="0"/>
              <a:t>, behaves differently than </a:t>
            </a:r>
            <a:r>
              <a:rPr lang="en-US" i="1" dirty="0"/>
              <a:t>Parents</a:t>
            </a:r>
            <a:r>
              <a:rPr lang="en-US" dirty="0"/>
              <a:t> with respect to sleep habits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900D7520-8BB3-4606-A47F-DCE0086C9D05}" type="slidenum">
              <a:rPr lang="de-DE">
                <a:solidFill>
                  <a:schemeClr val="tx1">
                    <a:lumMod val="50000"/>
                    <a:lumOff val="50000"/>
                  </a:schemeClr>
                </a:solidFill>
              </a:rPr>
              <a:pPr>
                <a:spcAft>
                  <a:spcPts val="600"/>
                </a:spcAft>
              </a:pPr>
              <a:t>32</a:t>
            </a:fld>
            <a:endParaRPr lang="de-DE">
              <a:solidFill>
                <a:schemeClr val="tx1">
                  <a:lumMod val="50000"/>
                  <a:lumOff val="50000"/>
                </a:schemeClr>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9992" name="Group 809991">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9993" name="Rectangle 809992">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994" name="Rectangle 809993">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995" name="Rectangle 809994">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9986"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Abstract Conceptual Classes</a:t>
            </a:r>
          </a:p>
        </p:txBody>
      </p:sp>
      <p:sp>
        <p:nvSpPr>
          <p:cNvPr id="809987" name="Rectangle 3"/>
          <p:cNvSpPr>
            <a:spLocks noGrp="1" noChangeArrowheads="1"/>
          </p:cNvSpPr>
          <p:nvPr>
            <p:ph type="body" idx="1"/>
          </p:nvPr>
        </p:nvSpPr>
        <p:spPr>
          <a:xfrm>
            <a:off x="209862" y="2308123"/>
            <a:ext cx="11143938" cy="4248033"/>
          </a:xfrm>
        </p:spPr>
        <p:txBody>
          <a:bodyPr>
            <a:normAutofit/>
          </a:bodyPr>
          <a:lstStyle/>
          <a:p>
            <a:pPr marL="342900" indent="-342900"/>
            <a:r>
              <a:rPr lang="en-US" dirty="0"/>
              <a:t>If every member of a superclass must also be a member of a subclass then that superclass is an abstract superclass</a:t>
            </a:r>
          </a:p>
          <a:p>
            <a:pPr marL="742950" lvl="1" indent="-285750"/>
            <a:r>
              <a:rPr lang="en-US" sz="2800" dirty="0"/>
              <a:t>An abstract class cannot be instantiated</a:t>
            </a:r>
          </a:p>
          <a:p>
            <a:pPr marL="457200" lvl="1" indent="0">
              <a:buNone/>
            </a:pPr>
            <a:endParaRPr lang="en-US" sz="2800" dirty="0"/>
          </a:p>
          <a:p>
            <a:pPr marL="342900" indent="-342900"/>
            <a:r>
              <a:rPr lang="en-US" dirty="0"/>
              <a:t>Payment class in our previous example is an abstract class</a:t>
            </a:r>
          </a:p>
          <a:p>
            <a:pPr marL="0" indent="0">
              <a:buNone/>
            </a:pPr>
            <a:endParaRPr lang="en-US" dirty="0"/>
          </a:p>
          <a:p>
            <a:pPr marL="342900" indent="-342900"/>
            <a:r>
              <a:rPr lang="en-US" dirty="0"/>
              <a:t>In UML, the name of an abstract class is italicized</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93E346E0-0493-4CCD-8CD6-2812625F6118}" type="slidenum">
              <a:rPr lang="de-DE">
                <a:solidFill>
                  <a:schemeClr val="tx1">
                    <a:lumMod val="50000"/>
                    <a:lumOff val="50000"/>
                  </a:schemeClr>
                </a:solidFill>
              </a:rPr>
              <a:pPr>
                <a:spcAft>
                  <a:spcPts val="600"/>
                </a:spcAft>
              </a:pPr>
              <a:t>33</a:t>
            </a:fld>
            <a:endParaRPr lang="de-DE">
              <a:solidFill>
                <a:schemeClr val="tx1">
                  <a:lumMod val="50000"/>
                  <a:lumOff val="50000"/>
                </a:schemeClr>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51976" name="Group 85197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51977" name="Rectangle 85197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978" name="Rectangle 85197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979" name="Rectangle 85197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51970"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Modeling Changing States</a:t>
            </a:r>
          </a:p>
        </p:txBody>
      </p:sp>
      <p:sp>
        <p:nvSpPr>
          <p:cNvPr id="851971" name="Rectangle 3"/>
          <p:cNvSpPr>
            <a:spLocks noGrp="1" noChangeArrowheads="1"/>
          </p:cNvSpPr>
          <p:nvPr>
            <p:ph type="body" idx="1"/>
          </p:nvPr>
        </p:nvSpPr>
        <p:spPr>
          <a:xfrm>
            <a:off x="209862" y="2308124"/>
            <a:ext cx="11797259" cy="3673576"/>
          </a:xfrm>
        </p:spPr>
        <p:txBody>
          <a:bodyPr>
            <a:normAutofit/>
          </a:bodyPr>
          <a:lstStyle/>
          <a:p>
            <a:pPr marL="304800" indent="-304800" defTabSz="812800"/>
            <a:r>
              <a:rPr lang="en-US" sz="3200" dirty="0"/>
              <a:t>Do not model states of a concept as subclass of X. Rather:</a:t>
            </a:r>
          </a:p>
          <a:p>
            <a:pPr marL="0" indent="0" defTabSz="812800">
              <a:buNone/>
            </a:pPr>
            <a:endParaRPr lang="en-US" sz="3200" dirty="0"/>
          </a:p>
          <a:p>
            <a:pPr marL="660400" lvl="1" indent="-254000" defTabSz="812800"/>
            <a:r>
              <a:rPr lang="en-US" sz="3200" dirty="0"/>
              <a:t>Define a state hierarchy and associate the states with X, or</a:t>
            </a:r>
          </a:p>
          <a:p>
            <a:pPr marL="406400" lvl="1" indent="0" defTabSz="812800">
              <a:buNone/>
            </a:pPr>
            <a:endParaRPr lang="en-US" sz="3200" dirty="0"/>
          </a:p>
          <a:p>
            <a:pPr marL="660400" lvl="1" indent="-254000" defTabSz="812800"/>
            <a:r>
              <a:rPr lang="en-US" sz="3200" dirty="0"/>
              <a:t>Ignore showing states of a concept in the conceptual model; show them in state diagrams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469849E2-8DF0-4733-B66B-7B33A033D6CA}" type="slidenum">
              <a:rPr lang="de-DE">
                <a:solidFill>
                  <a:schemeClr val="tx1">
                    <a:lumMod val="50000"/>
                    <a:lumOff val="50000"/>
                  </a:schemeClr>
                </a:solidFill>
              </a:rPr>
              <a:pPr>
                <a:spcAft>
                  <a:spcPts val="600"/>
                </a:spcAft>
              </a:pPr>
              <a:t>34</a:t>
            </a:fld>
            <a:endParaRPr lang="de-DE">
              <a:solidFill>
                <a:schemeClr val="tx1">
                  <a:lumMod val="50000"/>
                  <a:lumOff val="50000"/>
                </a:schemeClr>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3"/>
          <p:cNvSpPr>
            <a:spLocks noGrp="1"/>
          </p:cNvSpPr>
          <p:nvPr>
            <p:ph type="sldNum" sz="quarter" idx="10"/>
          </p:nvPr>
        </p:nvSpPr>
        <p:spPr/>
        <p:txBody>
          <a:bodyPr/>
          <a:lstStyle/>
          <a:p>
            <a:fld id="{E7B2A8DD-3B43-4F70-8DF2-3E042226D37D}" type="slidenum">
              <a:rPr lang="de-DE"/>
              <a:pPr/>
              <a:t>35</a:t>
            </a:fld>
            <a:endParaRPr lang="de-DE"/>
          </a:p>
        </p:txBody>
      </p:sp>
      <p:sp>
        <p:nvSpPr>
          <p:cNvPr id="852994" name="Rectangle 2"/>
          <p:cNvSpPr>
            <a:spLocks noGrp="1" noChangeArrowheads="1"/>
          </p:cNvSpPr>
          <p:nvPr>
            <p:ph type="title"/>
          </p:nvPr>
        </p:nvSpPr>
        <p:spPr/>
        <p:txBody>
          <a:bodyPr/>
          <a:lstStyle/>
          <a:p>
            <a:pPr defTabSz="812800"/>
            <a:r>
              <a:rPr lang="en-US"/>
              <a:t>Example: Payment States</a:t>
            </a:r>
          </a:p>
        </p:txBody>
      </p:sp>
      <p:sp>
        <p:nvSpPr>
          <p:cNvPr id="852995" name="AutoShape 3"/>
          <p:cNvSpPr>
            <a:spLocks noChangeArrowheads="1"/>
          </p:cNvSpPr>
          <p:nvPr/>
        </p:nvSpPr>
        <p:spPr bwMode="auto">
          <a:xfrm>
            <a:off x="3260725" y="3429001"/>
            <a:ext cx="514350" cy="265113"/>
          </a:xfrm>
          <a:prstGeom prst="triangle">
            <a:avLst>
              <a:gd name="adj" fmla="val 50000"/>
            </a:avLst>
          </a:prstGeom>
          <a:noFill/>
          <a:ln w="9525">
            <a:solidFill>
              <a:schemeClr val="tx1"/>
            </a:solidFill>
            <a:miter lim="800000"/>
            <a:headEnd/>
            <a:tailEnd/>
          </a:ln>
          <a:effectLst/>
        </p:spPr>
        <p:txBody>
          <a:bodyPr wrap="none" anchor="ctr"/>
          <a:lstStyle/>
          <a:p>
            <a:endParaRPr lang="en-US"/>
          </a:p>
        </p:txBody>
      </p:sp>
      <p:sp>
        <p:nvSpPr>
          <p:cNvPr id="852996" name="Line 4"/>
          <p:cNvSpPr>
            <a:spLocks noChangeShapeType="1"/>
          </p:cNvSpPr>
          <p:nvPr/>
        </p:nvSpPr>
        <p:spPr bwMode="auto">
          <a:xfrm>
            <a:off x="3517900" y="3694113"/>
            <a:ext cx="0" cy="334962"/>
          </a:xfrm>
          <a:prstGeom prst="line">
            <a:avLst/>
          </a:prstGeom>
          <a:noFill/>
          <a:ln w="9525">
            <a:solidFill>
              <a:schemeClr val="tx1"/>
            </a:solidFill>
            <a:round/>
            <a:headEnd/>
            <a:tailEnd/>
          </a:ln>
          <a:effectLst/>
        </p:spPr>
        <p:txBody>
          <a:bodyPr/>
          <a:lstStyle/>
          <a:p>
            <a:endParaRPr lang="en-US"/>
          </a:p>
        </p:txBody>
      </p:sp>
      <p:sp>
        <p:nvSpPr>
          <p:cNvPr id="852997" name="Rectangle 5"/>
          <p:cNvSpPr>
            <a:spLocks noChangeArrowheads="1"/>
          </p:cNvSpPr>
          <p:nvPr/>
        </p:nvSpPr>
        <p:spPr bwMode="auto">
          <a:xfrm>
            <a:off x="2917826" y="2914650"/>
            <a:ext cx="128587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p:txBody>
      </p:sp>
      <p:sp>
        <p:nvSpPr>
          <p:cNvPr id="852998" name="Line 6"/>
          <p:cNvSpPr>
            <a:spLocks noChangeShapeType="1"/>
          </p:cNvSpPr>
          <p:nvPr/>
        </p:nvSpPr>
        <p:spPr bwMode="auto">
          <a:xfrm>
            <a:off x="2832100" y="4029075"/>
            <a:ext cx="1371600" cy="0"/>
          </a:xfrm>
          <a:prstGeom prst="line">
            <a:avLst/>
          </a:prstGeom>
          <a:noFill/>
          <a:ln w="9525">
            <a:solidFill>
              <a:schemeClr val="tx1"/>
            </a:solidFill>
            <a:miter lim="800000"/>
            <a:headEnd/>
            <a:tailEnd/>
          </a:ln>
          <a:effectLst/>
        </p:spPr>
        <p:txBody>
          <a:bodyPr wrap="none"/>
          <a:lstStyle/>
          <a:p>
            <a:endParaRPr lang="en-US"/>
          </a:p>
        </p:txBody>
      </p:sp>
      <p:sp>
        <p:nvSpPr>
          <p:cNvPr id="852999" name="Rectangle 7"/>
          <p:cNvSpPr>
            <a:spLocks noChangeArrowheads="1"/>
          </p:cNvSpPr>
          <p:nvPr/>
        </p:nvSpPr>
        <p:spPr bwMode="auto">
          <a:xfrm>
            <a:off x="1974850" y="4371975"/>
            <a:ext cx="1371600"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Authorized</a:t>
            </a:r>
          </a:p>
          <a:p>
            <a:pPr defTabSz="1028700"/>
            <a:r>
              <a:rPr lang="en-US">
                <a:latin typeface="Tahoma" pitchFamily="34" charset="0"/>
              </a:rPr>
              <a:t>Payment</a:t>
            </a:r>
          </a:p>
        </p:txBody>
      </p:sp>
      <p:sp>
        <p:nvSpPr>
          <p:cNvPr id="853000" name="Rectangle 8"/>
          <p:cNvSpPr>
            <a:spLocks noChangeArrowheads="1"/>
          </p:cNvSpPr>
          <p:nvPr/>
        </p:nvSpPr>
        <p:spPr bwMode="auto">
          <a:xfrm>
            <a:off x="3517901" y="4371975"/>
            <a:ext cx="1457325"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Unauthorized</a:t>
            </a:r>
          </a:p>
          <a:p>
            <a:pPr defTabSz="1028700"/>
            <a:r>
              <a:rPr lang="en-US">
                <a:latin typeface="Tahoma" pitchFamily="34" charset="0"/>
              </a:rPr>
              <a:t>Payment</a:t>
            </a:r>
          </a:p>
        </p:txBody>
      </p:sp>
      <p:sp>
        <p:nvSpPr>
          <p:cNvPr id="853001" name="Line 9"/>
          <p:cNvSpPr>
            <a:spLocks noChangeShapeType="1"/>
          </p:cNvSpPr>
          <p:nvPr/>
        </p:nvSpPr>
        <p:spPr bwMode="auto">
          <a:xfrm>
            <a:off x="28321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02" name="Line 10"/>
          <p:cNvSpPr>
            <a:spLocks noChangeShapeType="1"/>
          </p:cNvSpPr>
          <p:nvPr/>
        </p:nvSpPr>
        <p:spPr bwMode="auto">
          <a:xfrm>
            <a:off x="42037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03" name="Rectangle 11"/>
          <p:cNvSpPr>
            <a:spLocks noChangeArrowheads="1"/>
          </p:cNvSpPr>
          <p:nvPr/>
        </p:nvSpPr>
        <p:spPr bwMode="auto">
          <a:xfrm>
            <a:off x="6175376" y="2914650"/>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p:txBody>
      </p:sp>
      <p:sp>
        <p:nvSpPr>
          <p:cNvPr id="853004" name="Text Box 12"/>
          <p:cNvSpPr txBox="1">
            <a:spLocks noChangeArrowheads="1"/>
          </p:cNvSpPr>
          <p:nvPr/>
        </p:nvSpPr>
        <p:spPr bwMode="auto">
          <a:xfrm>
            <a:off x="7289801" y="3171826"/>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3005" name="Text Box 13"/>
          <p:cNvSpPr txBox="1">
            <a:spLocks noChangeArrowheads="1"/>
          </p:cNvSpPr>
          <p:nvPr/>
        </p:nvSpPr>
        <p:spPr bwMode="auto">
          <a:xfrm>
            <a:off x="8061326" y="3171826"/>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1</a:t>
            </a:r>
          </a:p>
        </p:txBody>
      </p:sp>
      <p:sp>
        <p:nvSpPr>
          <p:cNvPr id="853006" name="Text Box 14"/>
          <p:cNvSpPr txBox="1">
            <a:spLocks noChangeArrowheads="1"/>
          </p:cNvSpPr>
          <p:nvPr/>
        </p:nvSpPr>
        <p:spPr bwMode="auto">
          <a:xfrm>
            <a:off x="7461251" y="2828926"/>
            <a:ext cx="659155"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Is-in</a:t>
            </a:r>
          </a:p>
        </p:txBody>
      </p:sp>
      <p:sp>
        <p:nvSpPr>
          <p:cNvPr id="853007" name="Line 15"/>
          <p:cNvSpPr>
            <a:spLocks noChangeShapeType="1"/>
          </p:cNvSpPr>
          <p:nvPr/>
        </p:nvSpPr>
        <p:spPr bwMode="auto">
          <a:xfrm>
            <a:off x="7289801" y="3171825"/>
            <a:ext cx="1114425" cy="0"/>
          </a:xfrm>
          <a:prstGeom prst="line">
            <a:avLst/>
          </a:prstGeom>
          <a:noFill/>
          <a:ln w="9525">
            <a:solidFill>
              <a:schemeClr val="tx1"/>
            </a:solidFill>
            <a:miter lim="800000"/>
            <a:headEnd/>
            <a:tailEnd type="triangle" w="med" len="med"/>
          </a:ln>
          <a:effectLst/>
        </p:spPr>
        <p:txBody>
          <a:bodyPr wrap="none"/>
          <a:lstStyle/>
          <a:p>
            <a:endParaRPr lang="en-US"/>
          </a:p>
        </p:txBody>
      </p:sp>
      <p:sp>
        <p:nvSpPr>
          <p:cNvPr id="853008" name="Rectangle 16"/>
          <p:cNvSpPr>
            <a:spLocks noChangeArrowheads="1"/>
          </p:cNvSpPr>
          <p:nvPr/>
        </p:nvSpPr>
        <p:spPr bwMode="auto">
          <a:xfrm>
            <a:off x="8404226" y="2914650"/>
            <a:ext cx="128587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a:p>
            <a:pPr defTabSz="1028700"/>
            <a:r>
              <a:rPr lang="en-US">
                <a:latin typeface="Tahoma" pitchFamily="34" charset="0"/>
              </a:rPr>
              <a:t>State</a:t>
            </a:r>
          </a:p>
        </p:txBody>
      </p:sp>
      <p:sp>
        <p:nvSpPr>
          <p:cNvPr id="853009" name="AutoShape 17"/>
          <p:cNvSpPr>
            <a:spLocks noChangeArrowheads="1"/>
          </p:cNvSpPr>
          <p:nvPr/>
        </p:nvSpPr>
        <p:spPr bwMode="auto">
          <a:xfrm>
            <a:off x="8747125" y="3429001"/>
            <a:ext cx="514350" cy="265113"/>
          </a:xfrm>
          <a:prstGeom prst="triangle">
            <a:avLst>
              <a:gd name="adj" fmla="val 50000"/>
            </a:avLst>
          </a:prstGeom>
          <a:noFill/>
          <a:ln w="9525">
            <a:solidFill>
              <a:schemeClr val="tx1"/>
            </a:solidFill>
            <a:miter lim="800000"/>
            <a:headEnd/>
            <a:tailEnd/>
          </a:ln>
          <a:effectLst/>
        </p:spPr>
        <p:txBody>
          <a:bodyPr wrap="none" anchor="ctr"/>
          <a:lstStyle/>
          <a:p>
            <a:endParaRPr lang="en-US"/>
          </a:p>
        </p:txBody>
      </p:sp>
      <p:sp>
        <p:nvSpPr>
          <p:cNvPr id="853010" name="Line 18"/>
          <p:cNvSpPr>
            <a:spLocks noChangeShapeType="1"/>
          </p:cNvSpPr>
          <p:nvPr/>
        </p:nvSpPr>
        <p:spPr bwMode="auto">
          <a:xfrm>
            <a:off x="9004300" y="3694113"/>
            <a:ext cx="0" cy="334962"/>
          </a:xfrm>
          <a:prstGeom prst="line">
            <a:avLst/>
          </a:prstGeom>
          <a:noFill/>
          <a:ln w="9525">
            <a:solidFill>
              <a:schemeClr val="tx1"/>
            </a:solidFill>
            <a:round/>
            <a:headEnd/>
            <a:tailEnd/>
          </a:ln>
          <a:effectLst/>
        </p:spPr>
        <p:txBody>
          <a:bodyPr/>
          <a:lstStyle/>
          <a:p>
            <a:endParaRPr lang="en-US"/>
          </a:p>
        </p:txBody>
      </p:sp>
      <p:sp>
        <p:nvSpPr>
          <p:cNvPr id="853011" name="Line 19"/>
          <p:cNvSpPr>
            <a:spLocks noChangeShapeType="1"/>
          </p:cNvSpPr>
          <p:nvPr/>
        </p:nvSpPr>
        <p:spPr bwMode="auto">
          <a:xfrm>
            <a:off x="8318500" y="4029075"/>
            <a:ext cx="1371600" cy="0"/>
          </a:xfrm>
          <a:prstGeom prst="line">
            <a:avLst/>
          </a:prstGeom>
          <a:noFill/>
          <a:ln w="9525">
            <a:solidFill>
              <a:schemeClr val="tx1"/>
            </a:solidFill>
            <a:miter lim="800000"/>
            <a:headEnd/>
            <a:tailEnd/>
          </a:ln>
          <a:effectLst/>
        </p:spPr>
        <p:txBody>
          <a:bodyPr wrap="none"/>
          <a:lstStyle/>
          <a:p>
            <a:endParaRPr lang="en-US"/>
          </a:p>
        </p:txBody>
      </p:sp>
      <p:sp>
        <p:nvSpPr>
          <p:cNvPr id="853012" name="Rectangle 20"/>
          <p:cNvSpPr>
            <a:spLocks noChangeArrowheads="1"/>
          </p:cNvSpPr>
          <p:nvPr/>
        </p:nvSpPr>
        <p:spPr bwMode="auto">
          <a:xfrm>
            <a:off x="7461250" y="4371975"/>
            <a:ext cx="1371600"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Authorized</a:t>
            </a:r>
          </a:p>
          <a:p>
            <a:pPr defTabSz="1028700"/>
            <a:r>
              <a:rPr lang="en-US">
                <a:latin typeface="Tahoma" pitchFamily="34" charset="0"/>
              </a:rPr>
              <a:t>State</a:t>
            </a:r>
          </a:p>
        </p:txBody>
      </p:sp>
      <p:sp>
        <p:nvSpPr>
          <p:cNvPr id="853013" name="Rectangle 21"/>
          <p:cNvSpPr>
            <a:spLocks noChangeArrowheads="1"/>
          </p:cNvSpPr>
          <p:nvPr/>
        </p:nvSpPr>
        <p:spPr bwMode="auto">
          <a:xfrm>
            <a:off x="9004301" y="4371975"/>
            <a:ext cx="1457325"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Unauthorized</a:t>
            </a:r>
          </a:p>
          <a:p>
            <a:pPr defTabSz="1028700"/>
            <a:r>
              <a:rPr lang="en-US">
                <a:latin typeface="Tahoma" pitchFamily="34" charset="0"/>
              </a:rPr>
              <a:t>State</a:t>
            </a:r>
          </a:p>
        </p:txBody>
      </p:sp>
      <p:sp>
        <p:nvSpPr>
          <p:cNvPr id="853014" name="Line 22"/>
          <p:cNvSpPr>
            <a:spLocks noChangeShapeType="1"/>
          </p:cNvSpPr>
          <p:nvPr/>
        </p:nvSpPr>
        <p:spPr bwMode="auto">
          <a:xfrm>
            <a:off x="83185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15" name="Line 23"/>
          <p:cNvSpPr>
            <a:spLocks noChangeShapeType="1"/>
          </p:cNvSpPr>
          <p:nvPr/>
        </p:nvSpPr>
        <p:spPr bwMode="auto">
          <a:xfrm>
            <a:off x="96901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16" name="Line 24"/>
          <p:cNvSpPr>
            <a:spLocks noChangeShapeType="1"/>
          </p:cNvSpPr>
          <p:nvPr/>
        </p:nvSpPr>
        <p:spPr bwMode="auto">
          <a:xfrm>
            <a:off x="5832475" y="2314576"/>
            <a:ext cx="0" cy="3343275"/>
          </a:xfrm>
          <a:prstGeom prst="line">
            <a:avLst/>
          </a:prstGeom>
          <a:noFill/>
          <a:ln w="57150">
            <a:solidFill>
              <a:schemeClr val="tx1"/>
            </a:solidFill>
            <a:miter lim="800000"/>
            <a:headEnd/>
            <a:tailEnd/>
          </a:ln>
          <a:effectLst/>
        </p:spPr>
        <p:txBody>
          <a:bodyPr wrap="none"/>
          <a:lstStyle/>
          <a:p>
            <a:endParaRPr lang="en-US"/>
          </a:p>
        </p:txBody>
      </p:sp>
      <p:sp>
        <p:nvSpPr>
          <p:cNvPr id="2" name="TextBox 1">
            <a:extLst>
              <a:ext uri="{FF2B5EF4-FFF2-40B4-BE49-F238E27FC236}">
                <a16:creationId xmlns:a16="http://schemas.microsoft.com/office/drawing/2014/main" id="{F654CA7D-4E62-EA1B-0F7F-657E248FD17B}"/>
              </a:ext>
            </a:extLst>
          </p:cNvPr>
          <p:cNvSpPr txBox="1"/>
          <p:nvPr/>
        </p:nvSpPr>
        <p:spPr>
          <a:xfrm>
            <a:off x="838200" y="2314576"/>
            <a:ext cx="1908174" cy="646331"/>
          </a:xfrm>
          <a:prstGeom prst="rect">
            <a:avLst/>
          </a:prstGeom>
          <a:noFill/>
        </p:spPr>
        <p:txBody>
          <a:bodyPr wrap="square" rtlCol="0">
            <a:spAutoFit/>
          </a:bodyPr>
          <a:lstStyle/>
          <a:p>
            <a:r>
              <a:rPr lang="en-US" dirty="0"/>
              <a:t>Avoid This Situation</a:t>
            </a:r>
          </a:p>
        </p:txBody>
      </p:sp>
      <p:sp>
        <p:nvSpPr>
          <p:cNvPr id="3" name="TextBox 2">
            <a:extLst>
              <a:ext uri="{FF2B5EF4-FFF2-40B4-BE49-F238E27FC236}">
                <a16:creationId xmlns:a16="http://schemas.microsoft.com/office/drawing/2014/main" id="{1D88F740-0D0B-833E-C63A-E0EA8CB3A81F}"/>
              </a:ext>
            </a:extLst>
          </p:cNvPr>
          <p:cNvSpPr txBox="1"/>
          <p:nvPr/>
        </p:nvSpPr>
        <p:spPr>
          <a:xfrm>
            <a:off x="9810108" y="1455473"/>
            <a:ext cx="1908174" cy="2031325"/>
          </a:xfrm>
          <a:prstGeom prst="rect">
            <a:avLst/>
          </a:prstGeom>
          <a:noFill/>
        </p:spPr>
        <p:txBody>
          <a:bodyPr wrap="square" rtlCol="0">
            <a:spAutoFit/>
          </a:bodyPr>
          <a:lstStyle/>
          <a:p>
            <a:r>
              <a:rPr lang="en-US" dirty="0"/>
              <a:t>This is a better way to represent states in a domain model. Or ignore showing the states in the domain model.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3"/>
          <p:cNvSpPr>
            <a:spLocks noGrp="1"/>
          </p:cNvSpPr>
          <p:nvPr>
            <p:ph type="sldNum" sz="quarter" idx="10"/>
          </p:nvPr>
        </p:nvSpPr>
        <p:spPr>
          <a:xfrm>
            <a:off x="3581392" y="6356350"/>
            <a:ext cx="2743200" cy="365125"/>
          </a:xfrm>
        </p:spPr>
        <p:txBody>
          <a:bodyPr/>
          <a:lstStyle/>
          <a:p>
            <a:fld id="{55CF7F1F-BD89-4691-81D3-3829BAC0D3FE}" type="slidenum">
              <a:rPr lang="de-DE"/>
              <a:pPr/>
              <a:t>36</a:t>
            </a:fld>
            <a:endParaRPr lang="de-DE"/>
          </a:p>
        </p:txBody>
      </p:sp>
      <p:sp>
        <p:nvSpPr>
          <p:cNvPr id="812034" name="Rectangle 2"/>
          <p:cNvSpPr>
            <a:spLocks noGrp="1" noChangeArrowheads="1"/>
          </p:cNvSpPr>
          <p:nvPr>
            <p:ph type="title"/>
          </p:nvPr>
        </p:nvSpPr>
        <p:spPr>
          <a:xfrm>
            <a:off x="331539" y="48888"/>
            <a:ext cx="10515600" cy="1325563"/>
          </a:xfrm>
        </p:spPr>
        <p:txBody>
          <a:bodyPr/>
          <a:lstStyle/>
          <a:p>
            <a:r>
              <a:rPr lang="en-US" altLang="en-US" dirty="0"/>
              <a:t>Association Classes</a:t>
            </a:r>
          </a:p>
        </p:txBody>
      </p:sp>
      <p:sp>
        <p:nvSpPr>
          <p:cNvPr id="812036" name="Text Box 4"/>
          <p:cNvSpPr txBox="1">
            <a:spLocks noChangeArrowheads="1"/>
          </p:cNvSpPr>
          <p:nvPr/>
        </p:nvSpPr>
        <p:spPr bwMode="blackWhite">
          <a:xfrm>
            <a:off x="6489692" y="43180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Company</a:t>
            </a:r>
          </a:p>
        </p:txBody>
      </p:sp>
      <p:sp>
        <p:nvSpPr>
          <p:cNvPr id="812037" name="Text Box 5"/>
          <p:cNvSpPr txBox="1">
            <a:spLocks noChangeArrowheads="1"/>
          </p:cNvSpPr>
          <p:nvPr/>
        </p:nvSpPr>
        <p:spPr bwMode="blackWhite">
          <a:xfrm>
            <a:off x="9728192" y="42799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Person</a:t>
            </a:r>
          </a:p>
        </p:txBody>
      </p:sp>
      <p:sp>
        <p:nvSpPr>
          <p:cNvPr id="812038" name="Line 6"/>
          <p:cNvSpPr>
            <a:spLocks noChangeShapeType="1"/>
          </p:cNvSpPr>
          <p:nvPr/>
        </p:nvSpPr>
        <p:spPr bwMode="blackWhite">
          <a:xfrm>
            <a:off x="7937492" y="4457700"/>
            <a:ext cx="1803400" cy="0"/>
          </a:xfrm>
          <a:prstGeom prst="line">
            <a:avLst/>
          </a:prstGeom>
          <a:noFill/>
          <a:ln w="9525">
            <a:solidFill>
              <a:schemeClr val="tx1"/>
            </a:solidFill>
            <a:round/>
            <a:headEnd/>
            <a:tailEnd/>
          </a:ln>
          <a:effectLst/>
        </p:spPr>
        <p:txBody>
          <a:bodyPr lIns="0" tIns="0" rIns="0" bIns="0">
            <a:spAutoFit/>
          </a:bodyPr>
          <a:lstStyle/>
          <a:p>
            <a:endParaRPr lang="en-US"/>
          </a:p>
        </p:txBody>
      </p:sp>
      <p:sp>
        <p:nvSpPr>
          <p:cNvPr id="812039" name="Text Box 7"/>
          <p:cNvSpPr txBox="1">
            <a:spLocks noChangeArrowheads="1"/>
          </p:cNvSpPr>
          <p:nvPr/>
        </p:nvSpPr>
        <p:spPr bwMode="blackWhite">
          <a:xfrm>
            <a:off x="7967472" y="4149360"/>
            <a:ext cx="1714500" cy="553998"/>
          </a:xfrm>
          <a:prstGeom prst="rect">
            <a:avLst/>
          </a:prstGeom>
          <a:noFill/>
          <a:ln w="9525">
            <a:noFill/>
            <a:miter lim="800000"/>
            <a:headEnd/>
            <a:tailEnd/>
          </a:ln>
          <a:effectLst/>
        </p:spPr>
        <p:txBody>
          <a:bodyPr wrap="square" lIns="0" tIns="0" rIns="0" bIns="0">
            <a:spAutoFit/>
          </a:bodyPr>
          <a:lstStyle/>
          <a:p>
            <a:pPr>
              <a:spcBef>
                <a:spcPct val="50000"/>
              </a:spcBef>
            </a:pPr>
            <a:r>
              <a:rPr lang="en-US" dirty="0"/>
              <a:t>     Employs       0..*                       *</a:t>
            </a:r>
          </a:p>
        </p:txBody>
      </p:sp>
      <p:sp>
        <p:nvSpPr>
          <p:cNvPr id="812040" name="Text Box 8"/>
          <p:cNvSpPr txBox="1">
            <a:spLocks noChangeArrowheads="1"/>
          </p:cNvSpPr>
          <p:nvPr/>
        </p:nvSpPr>
        <p:spPr bwMode="blackWhite">
          <a:xfrm>
            <a:off x="8204192" y="53213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Employment</a:t>
            </a:r>
          </a:p>
        </p:txBody>
      </p:sp>
      <p:sp>
        <p:nvSpPr>
          <p:cNvPr id="812041" name="Line 9"/>
          <p:cNvSpPr>
            <a:spLocks noChangeShapeType="1"/>
          </p:cNvSpPr>
          <p:nvPr/>
        </p:nvSpPr>
        <p:spPr bwMode="blackWhite">
          <a:xfrm>
            <a:off x="8864592" y="4457700"/>
            <a:ext cx="38100" cy="850900"/>
          </a:xfrm>
          <a:prstGeom prst="line">
            <a:avLst/>
          </a:prstGeom>
          <a:noFill/>
          <a:ln w="9525">
            <a:solidFill>
              <a:schemeClr val="tx1"/>
            </a:solidFill>
            <a:prstDash val="dash"/>
            <a:round/>
            <a:headEnd/>
            <a:tailEnd/>
          </a:ln>
          <a:effectLst/>
        </p:spPr>
        <p:txBody>
          <a:bodyPr lIns="0" tIns="0" rIns="0" bIns="0">
            <a:spAutoFit/>
          </a:bodyPr>
          <a:lstStyle/>
          <a:p>
            <a:endParaRPr lang="en-US"/>
          </a:p>
        </p:txBody>
      </p:sp>
      <p:sp>
        <p:nvSpPr>
          <p:cNvPr id="4" name="Rectangle 3"/>
          <p:cNvSpPr txBox="1">
            <a:spLocks noChangeArrowheads="1"/>
          </p:cNvSpPr>
          <p:nvPr/>
        </p:nvSpPr>
        <p:spPr>
          <a:xfrm>
            <a:off x="331539" y="1620108"/>
            <a:ext cx="5993053" cy="473624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gn="just"/>
            <a:r>
              <a:rPr lang="en-US" sz="2400" dirty="0">
                <a:solidFill>
                  <a:srgbClr val="2D3B45"/>
                </a:solidFill>
                <a:latin typeface="Lato Extended"/>
              </a:rPr>
              <a:t>Let's consider an example using a "Person" and "Company" scenario”.</a:t>
            </a:r>
          </a:p>
          <a:p>
            <a:pPr marL="0" indent="0" algn="just">
              <a:buNone/>
            </a:pPr>
            <a:endParaRPr lang="en-US" sz="2400" dirty="0">
              <a:solidFill>
                <a:srgbClr val="2D3B45"/>
              </a:solidFill>
              <a:latin typeface="Lato Extended"/>
            </a:endParaRPr>
          </a:p>
          <a:p>
            <a:pPr marL="342900" indent="-342900" algn="just"/>
            <a:r>
              <a:rPr lang="en-US" sz="2400" dirty="0">
                <a:solidFill>
                  <a:srgbClr val="2D3B45"/>
                </a:solidFill>
                <a:latin typeface="Lato Extended"/>
              </a:rPr>
              <a:t>Assume you have a system where individuals can be employed by multiple companies, and for each employment, there is additional information such as the role or position and the start date. </a:t>
            </a:r>
          </a:p>
          <a:p>
            <a:pPr marL="0" indent="0" algn="just">
              <a:buNone/>
            </a:pPr>
            <a:endParaRPr lang="en-US" sz="2400" dirty="0">
              <a:solidFill>
                <a:srgbClr val="2D3B45"/>
              </a:solidFill>
              <a:latin typeface="Lato Extended"/>
            </a:endParaRPr>
          </a:p>
          <a:p>
            <a:pPr marL="342900" indent="-342900" algn="just"/>
            <a:r>
              <a:rPr lang="en-US" sz="2400" dirty="0">
                <a:solidFill>
                  <a:srgbClr val="2D3B45"/>
                </a:solidFill>
                <a:latin typeface="Lato Extended"/>
              </a:rPr>
              <a:t>In this case, you can use an association class to represent the relationship between "Person" and "Company" with the added information about the employment.</a:t>
            </a:r>
            <a:endParaRPr lang="en-US" sz="3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14088" name="Group 81408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14089" name="Rectangle 81408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090" name="Rectangle 81408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091" name="Rectangle 81409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14082"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Association Classes (Contd.)</a:t>
            </a:r>
          </a:p>
        </p:txBody>
      </p:sp>
      <p:sp>
        <p:nvSpPr>
          <p:cNvPr id="814083" name="Rectangle 3"/>
          <p:cNvSpPr>
            <a:spLocks noGrp="1" noChangeArrowheads="1"/>
          </p:cNvSpPr>
          <p:nvPr>
            <p:ph type="body" idx="1"/>
          </p:nvPr>
        </p:nvSpPr>
        <p:spPr>
          <a:xfrm>
            <a:off x="134912" y="1924104"/>
            <a:ext cx="11797258" cy="4248033"/>
          </a:xfrm>
        </p:spPr>
        <p:txBody>
          <a:bodyPr>
            <a:normAutofit/>
          </a:bodyPr>
          <a:lstStyle/>
          <a:p>
            <a:pPr marL="342900" indent="-342900"/>
            <a:r>
              <a:rPr lang="en-US" dirty="0"/>
              <a:t>Create an association class if</a:t>
            </a:r>
          </a:p>
          <a:p>
            <a:pPr marL="0" indent="0">
              <a:buNone/>
            </a:pPr>
            <a:endParaRPr lang="en-US" dirty="0"/>
          </a:p>
          <a:p>
            <a:pPr marL="742950" lvl="1" indent="-285750"/>
            <a:r>
              <a:rPr lang="en-US" sz="2800" dirty="0"/>
              <a:t>An attribute is related to an association.</a:t>
            </a:r>
          </a:p>
          <a:p>
            <a:pPr marL="742950" lvl="1" indent="-285750"/>
            <a:endParaRPr lang="en-US" sz="2800" dirty="0"/>
          </a:p>
          <a:p>
            <a:pPr marL="742950" lvl="1" indent="-285750"/>
            <a:r>
              <a:rPr lang="en-US" sz="2800" dirty="0"/>
              <a:t>Instances of the association class have a life-time dependency on the association.</a:t>
            </a:r>
          </a:p>
          <a:p>
            <a:pPr marL="742950" lvl="1" indent="-285750"/>
            <a:endParaRPr lang="en-US" sz="2800" dirty="0"/>
          </a:p>
          <a:p>
            <a:pPr marL="742950" lvl="1" indent="-285750"/>
            <a:r>
              <a:rPr lang="en-US" sz="2800" dirty="0"/>
              <a:t>There is a many-to-many association between two concepts, and information associated with the association itself</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2F7095A-7C6E-49D5-BFCD-1E2FECD9DD35}" type="slidenum">
              <a:rPr lang="de-DE">
                <a:solidFill>
                  <a:schemeClr val="tx1">
                    <a:lumMod val="50000"/>
                    <a:lumOff val="50000"/>
                  </a:schemeClr>
                </a:solidFill>
              </a:rPr>
              <a:pPr>
                <a:spcAft>
                  <a:spcPts val="600"/>
                </a:spcAft>
              </a:pPr>
              <a:t>37</a:t>
            </a:fld>
            <a:endParaRPr lang="de-DE">
              <a:solidFill>
                <a:schemeClr val="tx1">
                  <a:lumMod val="50000"/>
                  <a:lumOff val="50000"/>
                </a:schemeClr>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3"/>
          <p:cNvSpPr>
            <a:spLocks noGrp="1"/>
          </p:cNvSpPr>
          <p:nvPr>
            <p:ph type="sldNum" sz="quarter" idx="10"/>
          </p:nvPr>
        </p:nvSpPr>
        <p:spPr/>
        <p:txBody>
          <a:bodyPr/>
          <a:lstStyle/>
          <a:p>
            <a:fld id="{3B2EB9B5-98D2-4256-9D00-8E5775D040B3}" type="slidenum">
              <a:rPr lang="de-DE"/>
              <a:pPr/>
              <a:t>38</a:t>
            </a:fld>
            <a:endParaRPr lang="de-DE"/>
          </a:p>
        </p:txBody>
      </p:sp>
      <p:sp>
        <p:nvSpPr>
          <p:cNvPr id="858114" name="Rectangle 2"/>
          <p:cNvSpPr>
            <a:spLocks noGrp="1" noChangeArrowheads="1"/>
          </p:cNvSpPr>
          <p:nvPr>
            <p:ph type="title"/>
          </p:nvPr>
        </p:nvSpPr>
        <p:spPr/>
        <p:txBody>
          <a:bodyPr/>
          <a:lstStyle/>
          <a:p>
            <a:pPr defTabSz="812800"/>
            <a:r>
              <a:rPr lang="en-US"/>
              <a:t>Associative Classes: Examples</a:t>
            </a:r>
          </a:p>
        </p:txBody>
      </p:sp>
      <p:sp>
        <p:nvSpPr>
          <p:cNvPr id="858115" name="Text Box 3"/>
          <p:cNvSpPr txBox="1">
            <a:spLocks noChangeArrowheads="1"/>
          </p:cNvSpPr>
          <p:nvPr/>
        </p:nvSpPr>
        <p:spPr bwMode="auto">
          <a:xfrm>
            <a:off x="3098801" y="3430589"/>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8116" name="Text Box 4"/>
          <p:cNvSpPr txBox="1">
            <a:spLocks noChangeArrowheads="1"/>
          </p:cNvSpPr>
          <p:nvPr/>
        </p:nvSpPr>
        <p:spPr bwMode="auto">
          <a:xfrm>
            <a:off x="4041776" y="3430589"/>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8117" name="Text Box 5"/>
          <p:cNvSpPr txBox="1">
            <a:spLocks noChangeArrowheads="1"/>
          </p:cNvSpPr>
          <p:nvPr/>
        </p:nvSpPr>
        <p:spPr bwMode="auto">
          <a:xfrm>
            <a:off x="3270251" y="3001964"/>
            <a:ext cx="1054391"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Employs</a:t>
            </a:r>
          </a:p>
        </p:txBody>
      </p:sp>
      <p:sp>
        <p:nvSpPr>
          <p:cNvPr id="858118" name="Line 6"/>
          <p:cNvSpPr>
            <a:spLocks noChangeShapeType="1"/>
          </p:cNvSpPr>
          <p:nvPr/>
        </p:nvSpPr>
        <p:spPr bwMode="auto">
          <a:xfrm>
            <a:off x="3098801" y="3430588"/>
            <a:ext cx="1457325" cy="0"/>
          </a:xfrm>
          <a:prstGeom prst="line">
            <a:avLst/>
          </a:prstGeom>
          <a:noFill/>
          <a:ln w="9525">
            <a:solidFill>
              <a:schemeClr val="tx1"/>
            </a:solidFill>
            <a:miter lim="800000"/>
            <a:headEnd/>
            <a:tailEnd type="triangle" w="med" len="med"/>
          </a:ln>
          <a:effectLst/>
        </p:spPr>
        <p:txBody>
          <a:bodyPr wrap="none"/>
          <a:lstStyle/>
          <a:p>
            <a:endParaRPr lang="en-US"/>
          </a:p>
        </p:txBody>
      </p:sp>
      <p:graphicFrame>
        <p:nvGraphicFramePr>
          <p:cNvPr id="858119" name="Group 7"/>
          <p:cNvGraphicFramePr>
            <a:graphicFrameLocks noGrp="1"/>
          </p:cNvGraphicFramePr>
          <p:nvPr/>
        </p:nvGraphicFramePr>
        <p:xfrm>
          <a:off x="3013075" y="4030663"/>
          <a:ext cx="1371600" cy="971550"/>
        </p:xfrm>
        <a:graphic>
          <a:graphicData uri="http://schemas.openxmlformats.org/drawingml/2006/table">
            <a:tbl>
              <a:tblPr/>
              <a:tblGrid>
                <a:gridCol w="1371600">
                  <a:extLst>
                    <a:ext uri="{9D8B030D-6E8A-4147-A177-3AD203B41FA5}">
                      <a16:colId xmlns:a16="http://schemas.microsoft.com/office/drawing/2014/main" val="20000"/>
                    </a:ext>
                  </a:extLst>
                </a:gridCol>
              </a:tblGrid>
              <a:tr h="342900">
                <a:tc>
                  <a:txBody>
                    <a:bodyPr/>
                    <a:lstStyle/>
                    <a:p>
                      <a:pPr marL="0" marR="0" lvl="0" indent="0" algn="ctr"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Employment</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28650">
                <a:tc>
                  <a:txBody>
                    <a:bodyPr/>
                    <a:lstStyle/>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salary</a:t>
                      </a:r>
                    </a:p>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hireData</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858127" name="Line 15"/>
          <p:cNvSpPr>
            <a:spLocks noChangeShapeType="1"/>
          </p:cNvSpPr>
          <p:nvPr/>
        </p:nvSpPr>
        <p:spPr bwMode="auto">
          <a:xfrm>
            <a:off x="3698875" y="3430589"/>
            <a:ext cx="0" cy="600075"/>
          </a:xfrm>
          <a:prstGeom prst="line">
            <a:avLst/>
          </a:prstGeom>
          <a:noFill/>
          <a:ln w="9525">
            <a:solidFill>
              <a:schemeClr val="tx1"/>
            </a:solidFill>
            <a:prstDash val="sysDot"/>
            <a:miter lim="800000"/>
            <a:headEnd/>
            <a:tailEnd/>
          </a:ln>
          <a:effectLst/>
        </p:spPr>
        <p:txBody>
          <a:bodyPr wrap="none"/>
          <a:lstStyle/>
          <a:p>
            <a:endParaRPr lang="en-US"/>
          </a:p>
        </p:txBody>
      </p:sp>
      <p:sp>
        <p:nvSpPr>
          <p:cNvPr id="858128" name="Rectangle 16"/>
          <p:cNvSpPr>
            <a:spLocks noChangeArrowheads="1"/>
          </p:cNvSpPr>
          <p:nvPr/>
        </p:nvSpPr>
        <p:spPr bwMode="auto">
          <a:xfrm>
            <a:off x="1984376" y="3171825"/>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Company</a:t>
            </a:r>
          </a:p>
        </p:txBody>
      </p:sp>
      <p:sp>
        <p:nvSpPr>
          <p:cNvPr id="858129" name="Rectangle 17"/>
          <p:cNvSpPr>
            <a:spLocks noChangeArrowheads="1"/>
          </p:cNvSpPr>
          <p:nvPr/>
        </p:nvSpPr>
        <p:spPr bwMode="auto">
          <a:xfrm>
            <a:off x="4556126" y="3173413"/>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Person</a:t>
            </a:r>
          </a:p>
        </p:txBody>
      </p:sp>
      <p:sp>
        <p:nvSpPr>
          <p:cNvPr id="858130" name="Line 18"/>
          <p:cNvSpPr>
            <a:spLocks noChangeShapeType="1"/>
          </p:cNvSpPr>
          <p:nvPr/>
        </p:nvSpPr>
        <p:spPr bwMode="auto">
          <a:xfrm>
            <a:off x="6035675" y="2314576"/>
            <a:ext cx="0" cy="3343275"/>
          </a:xfrm>
          <a:prstGeom prst="line">
            <a:avLst/>
          </a:prstGeom>
          <a:noFill/>
          <a:ln w="57150">
            <a:solidFill>
              <a:schemeClr val="tx1"/>
            </a:solidFill>
            <a:miter lim="800000"/>
            <a:headEnd/>
            <a:tailEnd/>
          </a:ln>
          <a:effectLst/>
        </p:spPr>
        <p:txBody>
          <a:bodyPr wrap="none"/>
          <a:lstStyle/>
          <a:p>
            <a:endParaRPr lang="en-US"/>
          </a:p>
        </p:txBody>
      </p:sp>
      <p:sp>
        <p:nvSpPr>
          <p:cNvPr id="858131" name="Text Box 19"/>
          <p:cNvSpPr txBox="1">
            <a:spLocks noChangeArrowheads="1"/>
          </p:cNvSpPr>
          <p:nvPr/>
        </p:nvSpPr>
        <p:spPr bwMode="auto">
          <a:xfrm>
            <a:off x="7902575" y="3141664"/>
            <a:ext cx="1138238" cy="377825"/>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Enrolls-in</a:t>
            </a:r>
          </a:p>
        </p:txBody>
      </p:sp>
      <p:sp>
        <p:nvSpPr>
          <p:cNvPr id="858132" name="Line 20"/>
          <p:cNvSpPr>
            <a:spLocks noChangeShapeType="1"/>
          </p:cNvSpPr>
          <p:nvPr/>
        </p:nvSpPr>
        <p:spPr bwMode="auto">
          <a:xfrm>
            <a:off x="7642226" y="3600450"/>
            <a:ext cx="1800225" cy="0"/>
          </a:xfrm>
          <a:prstGeom prst="line">
            <a:avLst/>
          </a:prstGeom>
          <a:noFill/>
          <a:ln w="9525">
            <a:solidFill>
              <a:schemeClr val="tx1"/>
            </a:solidFill>
            <a:miter lim="800000"/>
            <a:headEnd/>
            <a:tailEnd type="triangle" w="med" len="med"/>
          </a:ln>
          <a:effectLst/>
        </p:spPr>
        <p:txBody>
          <a:bodyPr wrap="none"/>
          <a:lstStyle/>
          <a:p>
            <a:endParaRPr lang="en-US"/>
          </a:p>
        </p:txBody>
      </p:sp>
      <p:graphicFrame>
        <p:nvGraphicFramePr>
          <p:cNvPr id="858133" name="Group 21"/>
          <p:cNvGraphicFramePr>
            <a:graphicFrameLocks noGrp="1"/>
          </p:cNvGraphicFramePr>
          <p:nvPr/>
        </p:nvGraphicFramePr>
        <p:xfrm>
          <a:off x="7727950" y="4029076"/>
          <a:ext cx="1371600" cy="754063"/>
        </p:xfrm>
        <a:graphic>
          <a:graphicData uri="http://schemas.openxmlformats.org/drawingml/2006/table">
            <a:tbl>
              <a:tblPr/>
              <a:tblGrid>
                <a:gridCol w="1371600">
                  <a:extLst>
                    <a:ext uri="{9D8B030D-6E8A-4147-A177-3AD203B41FA5}">
                      <a16:colId xmlns:a16="http://schemas.microsoft.com/office/drawing/2014/main" val="20000"/>
                    </a:ext>
                  </a:extLst>
                </a:gridCol>
              </a:tblGrid>
              <a:tr h="377825">
                <a:tc>
                  <a:txBody>
                    <a:bodyPr/>
                    <a:lstStyle/>
                    <a:p>
                      <a:pPr marL="0" marR="0" lvl="0" indent="0" algn="ctr"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1000" b="0" i="0" u="none" strike="noStrike" cap="none" normalizeH="0" baseline="0">
                          <a:ln>
                            <a:noFill/>
                          </a:ln>
                          <a:solidFill>
                            <a:schemeClr val="tx1"/>
                          </a:solidFill>
                          <a:effectLst/>
                          <a:latin typeface="Arial Narrow" pitchFamily="34" charset="0"/>
                        </a:rPr>
                        <a:t>Enrolment</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6238">
                <a:tc>
                  <a:txBody>
                    <a:bodyPr/>
                    <a:lstStyle/>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1000" b="0" i="0" u="none" strike="noStrike" cap="none" normalizeH="0" baseline="0">
                          <a:ln>
                            <a:noFill/>
                          </a:ln>
                          <a:solidFill>
                            <a:schemeClr val="tx1"/>
                          </a:solidFill>
                          <a:effectLst/>
                          <a:latin typeface="Arial Narrow" pitchFamily="34" charset="0"/>
                        </a:rPr>
                        <a:t>grade</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858141" name="Line 29"/>
          <p:cNvSpPr>
            <a:spLocks noChangeShapeType="1"/>
          </p:cNvSpPr>
          <p:nvPr/>
        </p:nvSpPr>
        <p:spPr bwMode="auto">
          <a:xfrm>
            <a:off x="8413750" y="3600451"/>
            <a:ext cx="0" cy="428625"/>
          </a:xfrm>
          <a:prstGeom prst="line">
            <a:avLst/>
          </a:prstGeom>
          <a:noFill/>
          <a:ln w="9525">
            <a:solidFill>
              <a:schemeClr val="tx1"/>
            </a:solidFill>
            <a:prstDash val="sysDot"/>
            <a:miter lim="800000"/>
            <a:headEnd/>
            <a:tailEnd/>
          </a:ln>
          <a:effectLst/>
        </p:spPr>
        <p:txBody>
          <a:bodyPr wrap="none"/>
          <a:lstStyle/>
          <a:p>
            <a:endParaRPr lang="en-US"/>
          </a:p>
        </p:txBody>
      </p:sp>
      <p:sp>
        <p:nvSpPr>
          <p:cNvPr id="858142" name="Rectangle 30"/>
          <p:cNvSpPr>
            <a:spLocks noChangeArrowheads="1"/>
          </p:cNvSpPr>
          <p:nvPr/>
        </p:nvSpPr>
        <p:spPr bwMode="auto">
          <a:xfrm>
            <a:off x="6442075" y="3257550"/>
            <a:ext cx="1200150"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Student</a:t>
            </a:r>
          </a:p>
        </p:txBody>
      </p:sp>
      <p:sp>
        <p:nvSpPr>
          <p:cNvPr id="858143" name="Rectangle 31"/>
          <p:cNvSpPr>
            <a:spLocks noChangeArrowheads="1"/>
          </p:cNvSpPr>
          <p:nvPr/>
        </p:nvSpPr>
        <p:spPr bwMode="auto">
          <a:xfrm>
            <a:off x="9442451" y="3343275"/>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Course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16136" name="Group 81613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16137" name="Rectangle 81613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138" name="Rectangle 81613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139" name="Rectangle 81613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16130"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Aggregation</a:t>
            </a:r>
          </a:p>
        </p:txBody>
      </p:sp>
      <p:sp>
        <p:nvSpPr>
          <p:cNvPr id="816131" name="Rectangle 3"/>
          <p:cNvSpPr>
            <a:spLocks noGrp="1" noChangeArrowheads="1"/>
          </p:cNvSpPr>
          <p:nvPr>
            <p:ph type="body" idx="1"/>
          </p:nvPr>
        </p:nvSpPr>
        <p:spPr>
          <a:xfrm>
            <a:off x="194872" y="2308124"/>
            <a:ext cx="11467476" cy="3673576"/>
          </a:xfrm>
        </p:spPr>
        <p:txBody>
          <a:bodyPr>
            <a:normAutofit lnSpcReduction="10000"/>
          </a:bodyPr>
          <a:lstStyle/>
          <a:p>
            <a:pPr marL="342900" indent="-342900"/>
            <a:r>
              <a:rPr lang="en-US" sz="3200" dirty="0"/>
              <a:t>It is a kind of association used for modeling whole-part relationships</a:t>
            </a:r>
          </a:p>
          <a:p>
            <a:pPr marL="0" indent="0">
              <a:buNone/>
            </a:pPr>
            <a:endParaRPr lang="en-US" sz="3200" dirty="0"/>
          </a:p>
          <a:p>
            <a:pPr marL="742950" lvl="1" indent="-285750"/>
            <a:r>
              <a:rPr lang="en-US" sz="3200" dirty="0"/>
              <a:t>Shown in UML as a hollow diamond symbol at the “whole end” of the whole-part association</a:t>
            </a:r>
          </a:p>
          <a:p>
            <a:pPr marL="457200" lvl="1" indent="0">
              <a:buNone/>
            </a:pPr>
            <a:endParaRPr lang="en-US" sz="3200" dirty="0"/>
          </a:p>
          <a:p>
            <a:pPr marL="742950" lvl="1" indent="-285750"/>
            <a:r>
              <a:rPr lang="en-US" sz="3200" dirty="0"/>
              <a:t>No semantic difference to a regular association, which is why </a:t>
            </a:r>
            <a:r>
              <a:rPr lang="en-US" sz="3200" dirty="0" err="1"/>
              <a:t>Larman</a:t>
            </a:r>
            <a:r>
              <a:rPr lang="en-US" sz="3200" dirty="0"/>
              <a:t> avoids it. </a:t>
            </a:r>
          </a:p>
          <a:p>
            <a:pPr marL="742950" lvl="1" indent="-285750"/>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E379D67-711F-4FD1-8CAC-73C869398775}" type="slidenum">
              <a:rPr lang="de-DE">
                <a:solidFill>
                  <a:schemeClr val="tx1">
                    <a:lumMod val="50000"/>
                    <a:lumOff val="50000"/>
                  </a:schemeClr>
                </a:solidFill>
              </a:rPr>
              <a:pPr>
                <a:spcAft>
                  <a:spcPts val="600"/>
                </a:spcAft>
              </a:pPr>
              <a:t>39</a:t>
            </a:fld>
            <a:endParaRPr lang="de-DE">
              <a:solidFill>
                <a:schemeClr val="tx1">
                  <a:lumMod val="50000"/>
                  <a:lumOff val="50000"/>
                </a:schemeClr>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65288" name="Group 86528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65289" name="Rectangle 86528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5290" name="Rectangle 86528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5291" name="Rectangle 86529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65282"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Composition</a:t>
            </a:r>
          </a:p>
        </p:txBody>
      </p:sp>
      <p:sp>
        <p:nvSpPr>
          <p:cNvPr id="865283" name="Rectangle 3"/>
          <p:cNvSpPr>
            <a:spLocks noGrp="1" noChangeArrowheads="1"/>
          </p:cNvSpPr>
          <p:nvPr>
            <p:ph type="body" idx="1"/>
          </p:nvPr>
        </p:nvSpPr>
        <p:spPr>
          <a:xfrm>
            <a:off x="269823" y="2308124"/>
            <a:ext cx="11737297" cy="3673576"/>
          </a:xfrm>
        </p:spPr>
        <p:txBody>
          <a:bodyPr>
            <a:normAutofit/>
          </a:bodyPr>
          <a:lstStyle/>
          <a:p>
            <a:pPr marL="342900" indent="-342900"/>
            <a:r>
              <a:rPr lang="en-US" dirty="0"/>
              <a:t>It is a specialized form of aggregation</a:t>
            </a:r>
          </a:p>
          <a:p>
            <a:pPr marL="742950" lvl="1" indent="-285750"/>
            <a:r>
              <a:rPr lang="en-US" sz="2800" dirty="0"/>
              <a:t>Shown in UML as a filled diamond symbol at the “whole end” of the whole-part association</a:t>
            </a:r>
          </a:p>
          <a:p>
            <a:pPr marL="457200" lvl="1" indent="0">
              <a:buNone/>
            </a:pPr>
            <a:endParaRPr lang="en-US" sz="2800" dirty="0"/>
          </a:p>
          <a:p>
            <a:pPr marL="742950" lvl="1" indent="-285750"/>
            <a:r>
              <a:rPr lang="en-US" sz="2800" dirty="0"/>
              <a:t>More meaningful than aggregation.</a:t>
            </a:r>
          </a:p>
          <a:p>
            <a:pPr lvl="2"/>
            <a:r>
              <a:rPr lang="en-US" sz="2800" dirty="0"/>
              <a:t>The parts are “owned” by the whole…they are often created together, they definitely die together, and operations applied to the whole propagate to the parts.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C01CC517-C50E-4398-9830-AA253266BFB0}" type="slidenum">
              <a:rPr lang="de-DE">
                <a:solidFill>
                  <a:schemeClr val="tx1">
                    <a:lumMod val="50000"/>
                    <a:lumOff val="50000"/>
                  </a:schemeClr>
                </a:solidFill>
              </a:rPr>
              <a:pPr>
                <a:spcAft>
                  <a:spcPts val="600"/>
                </a:spcAft>
              </a:pPr>
              <a:t>40</a:t>
            </a:fld>
            <a:endParaRPr lang="de-DE">
              <a:solidFill>
                <a:schemeClr val="tx1">
                  <a:lumMod val="50000"/>
                  <a:lumOff val="50000"/>
                </a:schemeClr>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93E15-B9AC-6BF8-6DA4-52373935402B}"/>
              </a:ext>
            </a:extLst>
          </p:cNvPr>
          <p:cNvSpPr>
            <a:spLocks noGrp="1"/>
          </p:cNvSpPr>
          <p:nvPr>
            <p:ph type="title"/>
          </p:nvPr>
        </p:nvSpPr>
        <p:spPr/>
        <p:txBody>
          <a:bodyPr/>
          <a:lstStyle/>
          <a:p>
            <a:r>
              <a:rPr lang="en-US" dirty="0"/>
              <a:t>UML Symbols (subset)</a:t>
            </a:r>
          </a:p>
        </p:txBody>
      </p:sp>
      <p:sp>
        <p:nvSpPr>
          <p:cNvPr id="4" name="Slide Number Placeholder 3">
            <a:extLst>
              <a:ext uri="{FF2B5EF4-FFF2-40B4-BE49-F238E27FC236}">
                <a16:creationId xmlns:a16="http://schemas.microsoft.com/office/drawing/2014/main" id="{36ABA6A3-793E-93B3-C7D9-1457A4515936}"/>
              </a:ext>
            </a:extLst>
          </p:cNvPr>
          <p:cNvSpPr>
            <a:spLocks noGrp="1"/>
          </p:cNvSpPr>
          <p:nvPr>
            <p:ph type="sldNum" sz="quarter" idx="12"/>
          </p:nvPr>
        </p:nvSpPr>
        <p:spPr/>
        <p:txBody>
          <a:bodyPr/>
          <a:lstStyle/>
          <a:p>
            <a:fld id="{7DF6DEEC-D04A-4FF0-9A08-7D39859C24F4}" type="slidenum">
              <a:rPr lang="en-US" smtClean="0"/>
              <a:t>41</a:t>
            </a:fld>
            <a:endParaRPr lang="en-US"/>
          </a:p>
        </p:txBody>
      </p:sp>
      <p:sp>
        <p:nvSpPr>
          <p:cNvPr id="5" name="Triangle 4">
            <a:extLst>
              <a:ext uri="{FF2B5EF4-FFF2-40B4-BE49-F238E27FC236}">
                <a16:creationId xmlns:a16="http://schemas.microsoft.com/office/drawing/2014/main" id="{E4CD6699-8296-A49E-2893-CAF2160F5A91}"/>
              </a:ext>
            </a:extLst>
          </p:cNvPr>
          <p:cNvSpPr/>
          <p:nvPr/>
        </p:nvSpPr>
        <p:spPr>
          <a:xfrm rot="5400000">
            <a:off x="1442434" y="1841113"/>
            <a:ext cx="614065" cy="313215"/>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B65C536-A34D-832A-F5CE-8BCD6DF8ED46}"/>
              </a:ext>
            </a:extLst>
          </p:cNvPr>
          <p:cNvSpPr txBox="1"/>
          <p:nvPr/>
        </p:nvSpPr>
        <p:spPr>
          <a:xfrm>
            <a:off x="2897746" y="1813054"/>
            <a:ext cx="3889420" cy="369332"/>
          </a:xfrm>
          <a:prstGeom prst="rect">
            <a:avLst/>
          </a:prstGeom>
          <a:noFill/>
        </p:spPr>
        <p:txBody>
          <a:bodyPr wrap="square" rtlCol="0">
            <a:spAutoFit/>
          </a:bodyPr>
          <a:lstStyle/>
          <a:p>
            <a:r>
              <a:rPr lang="en-US" dirty="0"/>
              <a:t>Generalization. Arrows points to parent</a:t>
            </a:r>
          </a:p>
        </p:txBody>
      </p:sp>
      <p:sp>
        <p:nvSpPr>
          <p:cNvPr id="10" name="Diamond 9">
            <a:extLst>
              <a:ext uri="{FF2B5EF4-FFF2-40B4-BE49-F238E27FC236}">
                <a16:creationId xmlns:a16="http://schemas.microsoft.com/office/drawing/2014/main" id="{C7D0E9DF-3C15-9141-12C8-13DEF3648E29}"/>
              </a:ext>
            </a:extLst>
          </p:cNvPr>
          <p:cNvSpPr/>
          <p:nvPr/>
        </p:nvSpPr>
        <p:spPr>
          <a:xfrm>
            <a:off x="1442563" y="2814954"/>
            <a:ext cx="613808" cy="614046"/>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CD5F352-CF07-7101-349F-2E4CE0953258}"/>
              </a:ext>
            </a:extLst>
          </p:cNvPr>
          <p:cNvCxnSpPr>
            <a:endCxn id="10" idx="1"/>
          </p:cNvCxnSpPr>
          <p:nvPr/>
        </p:nvCxnSpPr>
        <p:spPr>
          <a:xfrm>
            <a:off x="838200" y="3121977"/>
            <a:ext cx="6043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1E6AC6B-F5FF-5022-71FE-AE9EB6919BFA}"/>
              </a:ext>
            </a:extLst>
          </p:cNvPr>
          <p:cNvCxnSpPr>
            <a:cxnSpLocks/>
          </p:cNvCxnSpPr>
          <p:nvPr/>
        </p:nvCxnSpPr>
        <p:spPr>
          <a:xfrm>
            <a:off x="838200" y="1997720"/>
            <a:ext cx="754659" cy="0"/>
          </a:xfrm>
          <a:prstGeom prst="line">
            <a:avLst/>
          </a:prstGeom>
        </p:spPr>
        <p:style>
          <a:lnRef idx="1">
            <a:schemeClr val="accent1"/>
          </a:lnRef>
          <a:fillRef idx="0">
            <a:schemeClr val="accent1"/>
          </a:fillRef>
          <a:effectRef idx="0">
            <a:schemeClr val="accent1"/>
          </a:effectRef>
          <a:fontRef idx="minor">
            <a:schemeClr val="tx1"/>
          </a:fontRef>
        </p:style>
      </p:cxnSp>
      <p:sp>
        <p:nvSpPr>
          <p:cNvPr id="16" name="Diamond 15">
            <a:extLst>
              <a:ext uri="{FF2B5EF4-FFF2-40B4-BE49-F238E27FC236}">
                <a16:creationId xmlns:a16="http://schemas.microsoft.com/office/drawing/2014/main" id="{8C6A9BD0-4340-72F7-97C9-E4C00E6F5537}"/>
              </a:ext>
            </a:extLst>
          </p:cNvPr>
          <p:cNvSpPr/>
          <p:nvPr/>
        </p:nvSpPr>
        <p:spPr>
          <a:xfrm>
            <a:off x="1442563" y="3939210"/>
            <a:ext cx="613808" cy="614046"/>
          </a:xfrm>
          <a:prstGeom prst="diamon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DC533380-10F4-2BB1-4781-93AB44A72A98}"/>
              </a:ext>
            </a:extLst>
          </p:cNvPr>
          <p:cNvCxnSpPr>
            <a:endCxn id="16" idx="1"/>
          </p:cNvCxnSpPr>
          <p:nvPr/>
        </p:nvCxnSpPr>
        <p:spPr>
          <a:xfrm>
            <a:off x="838200" y="4246233"/>
            <a:ext cx="604363"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54BE34D-5305-AE17-6D6A-CEC953A7E435}"/>
              </a:ext>
            </a:extLst>
          </p:cNvPr>
          <p:cNvSpPr txBox="1"/>
          <p:nvPr/>
        </p:nvSpPr>
        <p:spPr>
          <a:xfrm>
            <a:off x="2897746" y="2937311"/>
            <a:ext cx="4095482" cy="646331"/>
          </a:xfrm>
          <a:prstGeom prst="rect">
            <a:avLst/>
          </a:prstGeom>
          <a:noFill/>
        </p:spPr>
        <p:txBody>
          <a:bodyPr wrap="square" rtlCol="0">
            <a:spAutoFit/>
          </a:bodyPr>
          <a:lstStyle/>
          <a:p>
            <a:r>
              <a:rPr lang="en-US" dirty="0"/>
              <a:t>Composition. Part of a whole entity. Only exists if the whole exists. Folder/File.</a:t>
            </a:r>
          </a:p>
        </p:txBody>
      </p:sp>
      <p:sp>
        <p:nvSpPr>
          <p:cNvPr id="19" name="TextBox 18">
            <a:extLst>
              <a:ext uri="{FF2B5EF4-FFF2-40B4-BE49-F238E27FC236}">
                <a16:creationId xmlns:a16="http://schemas.microsoft.com/office/drawing/2014/main" id="{9DCE25E9-035F-4BEE-1E0D-CA4BEF2031C0}"/>
              </a:ext>
            </a:extLst>
          </p:cNvPr>
          <p:cNvSpPr txBox="1"/>
          <p:nvPr/>
        </p:nvSpPr>
        <p:spPr>
          <a:xfrm>
            <a:off x="2897746" y="4061567"/>
            <a:ext cx="4262908" cy="646331"/>
          </a:xfrm>
          <a:prstGeom prst="rect">
            <a:avLst/>
          </a:prstGeom>
          <a:noFill/>
        </p:spPr>
        <p:txBody>
          <a:bodyPr wrap="square" rtlCol="0">
            <a:spAutoFit/>
          </a:bodyPr>
          <a:lstStyle/>
          <a:p>
            <a:r>
              <a:rPr lang="en-US" dirty="0"/>
              <a:t>Aggregation. Part of a whole entity.  Can exist if the whole goes away.  Team/Player. </a:t>
            </a:r>
          </a:p>
        </p:txBody>
      </p:sp>
    </p:spTree>
    <p:extLst>
      <p:ext uri="{BB962C8B-B14F-4D97-AF65-F5344CB8AC3E}">
        <p14:creationId xmlns:p14="http://schemas.microsoft.com/office/powerpoint/2010/main" val="1383811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C7ADC8-2C82-1866-CCA4-F3E9631F293B}"/>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5400"/>
              <a:t>Recommended Exercise</a:t>
            </a:r>
          </a:p>
        </p:txBody>
      </p:sp>
      <p:sp>
        <p:nvSpPr>
          <p:cNvPr id="2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6048F53-4DD0-E780-0263-303D523BB6F2}"/>
              </a:ext>
            </a:extLst>
          </p:cNvPr>
          <p:cNvSpPr>
            <a:spLocks noGrp="1"/>
          </p:cNvSpPr>
          <p:nvPr>
            <p:ph idx="1"/>
          </p:nvPr>
        </p:nvSpPr>
        <p:spPr>
          <a:xfrm>
            <a:off x="640080" y="2872899"/>
            <a:ext cx="4243589" cy="3320668"/>
          </a:xfrm>
        </p:spPr>
        <p:txBody>
          <a:bodyPr vert="horz" lIns="91440" tIns="45720" rIns="91440" bIns="45720" rtlCol="0">
            <a:normAutofit/>
          </a:bodyPr>
          <a:lstStyle/>
          <a:p>
            <a:pPr marL="0" indent="0">
              <a:buNone/>
            </a:pPr>
            <a:r>
              <a:rPr lang="en-US" sz="2200" dirty="0"/>
              <a:t>Create a UML domain model for the Library System Use Case (available in Supplementary Reading: EXAMPLE-</a:t>
            </a:r>
            <a:r>
              <a:rPr lang="en-US" sz="2200" dirty="0" err="1"/>
              <a:t>LIBRARY.pdf</a:t>
            </a:r>
            <a:r>
              <a:rPr lang="en-US" sz="2200" dirty="0"/>
              <a:t>)</a:t>
            </a:r>
          </a:p>
        </p:txBody>
      </p:sp>
      <p:pic>
        <p:nvPicPr>
          <p:cNvPr id="5" name="Picture 4" descr="Yellow paper ship leading among white ships">
            <a:extLst>
              <a:ext uri="{FF2B5EF4-FFF2-40B4-BE49-F238E27FC236}">
                <a16:creationId xmlns:a16="http://schemas.microsoft.com/office/drawing/2014/main" id="{D373496F-BA43-A6DF-DDF4-4FE89147F220}"/>
              </a:ext>
            </a:extLst>
          </p:cNvPr>
          <p:cNvPicPr>
            <a:picLocks noChangeAspect="1"/>
          </p:cNvPicPr>
          <p:nvPr/>
        </p:nvPicPr>
        <p:blipFill rotWithShape="1">
          <a:blip r:embed="rId3"/>
          <a:srcRect l="24338" r="8709"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4" name="Slide Number Placeholder 3">
            <a:extLst>
              <a:ext uri="{FF2B5EF4-FFF2-40B4-BE49-F238E27FC236}">
                <a16:creationId xmlns:a16="http://schemas.microsoft.com/office/drawing/2014/main" id="{2F4496BE-1465-CDAC-4924-F03B2021B4DC}"/>
              </a:ext>
            </a:extLst>
          </p:cNvPr>
          <p:cNvSpPr>
            <a:spLocks noGrp="1"/>
          </p:cNvSpPr>
          <p:nvPr>
            <p:ph type="sldNum" sz="quarter" idx="12"/>
          </p:nvPr>
        </p:nvSpPr>
        <p:spPr>
          <a:xfrm>
            <a:off x="10439400" y="6356350"/>
            <a:ext cx="914400" cy="365125"/>
          </a:xfrm>
        </p:spPr>
        <p:txBody>
          <a:bodyPr>
            <a:normAutofit/>
          </a:bodyPr>
          <a:lstStyle/>
          <a:p>
            <a:pPr>
              <a:spcAft>
                <a:spcPts val="600"/>
              </a:spcAft>
            </a:pPr>
            <a:fld id="{7DF6DEEC-D04A-4FF0-9A08-7D39859C24F4}" type="slidenum">
              <a:rPr lang="en-US">
                <a:solidFill>
                  <a:srgbClr val="FFFFFF"/>
                </a:solidFill>
              </a:rPr>
              <a:pPr>
                <a:spcAft>
                  <a:spcPts val="600"/>
                </a:spcAft>
              </a:pPr>
              <a:t>42</a:t>
            </a:fld>
            <a:endParaRPr lang="en-US">
              <a:solidFill>
                <a:srgbClr val="FFFFFF"/>
              </a:solidFill>
            </a:endParaRPr>
          </a:p>
        </p:txBody>
      </p:sp>
    </p:spTree>
    <p:extLst>
      <p:ext uri="{BB962C8B-B14F-4D97-AF65-F5344CB8AC3E}">
        <p14:creationId xmlns:p14="http://schemas.microsoft.com/office/powerpoint/2010/main" val="347292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7, 8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Assignment 1 is open (Due on Friday 7/2). This is an </a:t>
            </a:r>
            <a:r>
              <a:rPr lang="en-US" sz="3100" u="sng" dirty="0"/>
              <a:t>Individual Submission</a:t>
            </a:r>
            <a:r>
              <a:rPr lang="en-US" sz="3100" dirty="0"/>
              <a:t>.</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43</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
        <p:nvSpPr>
          <p:cNvPr id="3" name="Slide Number Placeholder 2">
            <a:extLst>
              <a:ext uri="{FF2B5EF4-FFF2-40B4-BE49-F238E27FC236}">
                <a16:creationId xmlns:a16="http://schemas.microsoft.com/office/drawing/2014/main" id="{02CD5027-4B8B-F11B-6F7D-18F224F20F32}"/>
              </a:ext>
            </a:extLst>
          </p:cNvPr>
          <p:cNvSpPr>
            <a:spLocks noGrp="1"/>
          </p:cNvSpPr>
          <p:nvPr>
            <p:ph type="sldNum" sz="quarter" idx="12"/>
          </p:nvPr>
        </p:nvSpPr>
        <p:spPr/>
        <p:txBody>
          <a:bodyPr/>
          <a:lstStyle/>
          <a:p>
            <a:fld id="{7DF6DEEC-D04A-4FF0-9A08-7D39859C24F4}" type="slidenum">
              <a:rPr lang="en-US" smtClean="0"/>
              <a:t>44</a:t>
            </a:fld>
            <a:endParaRPr lang="en-US"/>
          </a:p>
        </p:txBody>
      </p:sp>
    </p:spTree>
    <p:extLst>
      <p:ext uri="{BB962C8B-B14F-4D97-AF65-F5344CB8AC3E}">
        <p14:creationId xmlns:p14="http://schemas.microsoft.com/office/powerpoint/2010/main" val="1077091832"/>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1102</TotalTime>
  <Words>2651</Words>
  <Application>Microsoft Macintosh PowerPoint</Application>
  <PresentationFormat>Widescreen</PresentationFormat>
  <Paragraphs>547</Paragraphs>
  <Slides>44</Slides>
  <Notes>23</Notes>
  <HiddenSlides>0</HiddenSlides>
  <MMClips>1</MMClips>
  <ScaleCrop>false</ScaleCrop>
  <HeadingPairs>
    <vt:vector size="6" baseType="variant">
      <vt:variant>
        <vt:lpstr>Fonts Used</vt:lpstr>
      </vt:variant>
      <vt:variant>
        <vt:i4>12</vt:i4>
      </vt:variant>
      <vt:variant>
        <vt:lpstr>Theme</vt:lpstr>
      </vt:variant>
      <vt:variant>
        <vt:i4>3</vt:i4>
      </vt:variant>
      <vt:variant>
        <vt:lpstr>Slide Titles</vt:lpstr>
      </vt:variant>
      <vt:variant>
        <vt:i4>44</vt:i4>
      </vt:variant>
    </vt:vector>
  </HeadingPairs>
  <TitlesOfParts>
    <vt:vector size="59" baseType="lpstr">
      <vt:lpstr>Arial</vt:lpstr>
      <vt:lpstr>Arial Narrow</vt:lpstr>
      <vt:lpstr>Calibri</vt:lpstr>
      <vt:lpstr>Calibri Light</vt:lpstr>
      <vt:lpstr>Comic Sans MS</vt:lpstr>
      <vt:lpstr>H5PDroidSans</vt:lpstr>
      <vt:lpstr>Lato Extended</vt:lpstr>
      <vt:lpstr>Marlett</vt:lpstr>
      <vt:lpstr>Rockwell Extra Bold</vt:lpstr>
      <vt:lpstr>Tahoma</vt:lpstr>
      <vt:lpstr>Times New Roman</vt:lpstr>
      <vt:lpstr>Wingdings</vt:lpstr>
      <vt:lpstr>Office Theme</vt:lpstr>
      <vt:lpstr>Wood Type</vt:lpstr>
      <vt:lpstr>1_Office Theme</vt:lpstr>
      <vt:lpstr>Software Engineering CS411, FALL 2025 </vt:lpstr>
      <vt:lpstr>Lesson plan</vt:lpstr>
      <vt:lpstr>What is a Domain Model?</vt:lpstr>
      <vt:lpstr>Hoes does a Domain Model Looks Like?</vt:lpstr>
      <vt:lpstr>What is a Domain Model?</vt:lpstr>
      <vt:lpstr>How to Construct a Domain Model?</vt:lpstr>
      <vt:lpstr>Identifying Classes</vt:lpstr>
      <vt:lpstr>Identifying Classes</vt:lpstr>
      <vt:lpstr>PowerPoint Presentation</vt:lpstr>
      <vt:lpstr>Pruning the List of Classes</vt:lpstr>
      <vt:lpstr>Example: Pruning the List</vt:lpstr>
      <vt:lpstr>Taking this example further, the “good classes” were put into a domain model diagram.  This diagram shows the multiplicity which defines how many instances of class A can be associated with class B.   For example, a single instance of Store can be associated with “many” (zero or more, indicated by the *) Sale instances.</vt:lpstr>
      <vt:lpstr>How to Construct a Domain Model?</vt:lpstr>
      <vt:lpstr>What is a Class Attribute?</vt:lpstr>
      <vt:lpstr>Attributes</vt:lpstr>
      <vt:lpstr>Attributes (Contd.)</vt:lpstr>
      <vt:lpstr>Attributes (Contd.)</vt:lpstr>
      <vt:lpstr>Attributes (Cont.)</vt:lpstr>
      <vt:lpstr>Example 1:</vt:lpstr>
      <vt:lpstr>Example 2:</vt:lpstr>
      <vt:lpstr>Attributes vs. Concepts</vt:lpstr>
      <vt:lpstr>How to Construct a Domain Model?</vt:lpstr>
      <vt:lpstr>Association</vt:lpstr>
      <vt:lpstr>Associations</vt:lpstr>
      <vt:lpstr>Association Adornments</vt:lpstr>
      <vt:lpstr>How to Identify an Association?</vt:lpstr>
      <vt:lpstr>Association Guidelines</vt:lpstr>
      <vt:lpstr>Special Considerations for Associations</vt:lpstr>
      <vt:lpstr>Generalization</vt:lpstr>
      <vt:lpstr>Generalization (Contd.)</vt:lpstr>
      <vt:lpstr>Subclass Definition: 100% Rule</vt:lpstr>
      <vt:lpstr>When to define subclass</vt:lpstr>
      <vt:lpstr>Abstract Conceptual Classes</vt:lpstr>
      <vt:lpstr>Modeling Changing States</vt:lpstr>
      <vt:lpstr>Example: Payment States</vt:lpstr>
      <vt:lpstr>Association Classes</vt:lpstr>
      <vt:lpstr>Association Classes (Contd.)</vt:lpstr>
      <vt:lpstr>Associative Classes: Examples</vt:lpstr>
      <vt:lpstr>Aggregation</vt:lpstr>
      <vt:lpstr>Composition</vt:lpstr>
      <vt:lpstr>UML Symbols (subset)</vt:lpstr>
      <vt:lpstr>Recommended Exercise</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67</cp:revision>
  <dcterms:created xsi:type="dcterms:W3CDTF">2022-09-05T18:50:47Z</dcterms:created>
  <dcterms:modified xsi:type="dcterms:W3CDTF">2025-08-21T15:18:26Z</dcterms:modified>
</cp:coreProperties>
</file>