
<file path=[Content_Types].xml><?xml version="1.0" encoding="utf-8"?>
<Types xmlns="http://schemas.openxmlformats.org/package/2006/content-types">
  <Default Extension="emf" ContentType="image/x-emf"/>
  <Default Extension="gif" ContentType="image/gif"/>
  <Default Extension="jpeg" ContentType="image/jpeg"/>
  <Default Extension="mp4" ContentType="video/mp4"/>
  <Default Extension="png" ContentType="image/png"/>
  <Default Extension="rels" ContentType="application/vnd.openxmlformats-package.relationships+xml"/>
  <Default Extension="sldx" ContentType="application/vnd.openxmlformats-officedocument.presentationml.slide"/>
  <Default Extension="svg" ContentType="image/svg+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theme/themeOverride1.xml" ContentType="application/vnd.openxmlformats-officedocument.themeOverr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2" r:id="rId2"/>
    <p:sldMasterId id="2147483716" r:id="rId3"/>
  </p:sldMasterIdLst>
  <p:notesMasterIdLst>
    <p:notesMasterId r:id="rId59"/>
  </p:notesMasterIdLst>
  <p:sldIdLst>
    <p:sldId id="339" r:id="rId4"/>
    <p:sldId id="770" r:id="rId5"/>
    <p:sldId id="846" r:id="rId6"/>
    <p:sldId id="847" r:id="rId7"/>
    <p:sldId id="848" r:id="rId8"/>
    <p:sldId id="864" r:id="rId9"/>
    <p:sldId id="820" r:id="rId10"/>
    <p:sldId id="858" r:id="rId11"/>
    <p:sldId id="859" r:id="rId12"/>
    <p:sldId id="860" r:id="rId13"/>
    <p:sldId id="861" r:id="rId14"/>
    <p:sldId id="862" r:id="rId15"/>
    <p:sldId id="863" r:id="rId16"/>
    <p:sldId id="821" r:id="rId17"/>
    <p:sldId id="822" r:id="rId18"/>
    <p:sldId id="785" r:id="rId19"/>
    <p:sldId id="350" r:id="rId20"/>
    <p:sldId id="865" r:id="rId21"/>
    <p:sldId id="823" r:id="rId22"/>
    <p:sldId id="872" r:id="rId23"/>
    <p:sldId id="873" r:id="rId24"/>
    <p:sldId id="874" r:id="rId25"/>
    <p:sldId id="875" r:id="rId26"/>
    <p:sldId id="876" r:id="rId27"/>
    <p:sldId id="877" r:id="rId28"/>
    <p:sldId id="878" r:id="rId29"/>
    <p:sldId id="879" r:id="rId30"/>
    <p:sldId id="880" r:id="rId31"/>
    <p:sldId id="881" r:id="rId32"/>
    <p:sldId id="882" r:id="rId33"/>
    <p:sldId id="901" r:id="rId34"/>
    <p:sldId id="900" r:id="rId35"/>
    <p:sldId id="902" r:id="rId36"/>
    <p:sldId id="903" r:id="rId37"/>
    <p:sldId id="904" r:id="rId38"/>
    <p:sldId id="905" r:id="rId39"/>
    <p:sldId id="906" r:id="rId40"/>
    <p:sldId id="896" r:id="rId41"/>
    <p:sldId id="897" r:id="rId42"/>
    <p:sldId id="509" r:id="rId43"/>
    <p:sldId id="898" r:id="rId44"/>
    <p:sldId id="907" r:id="rId45"/>
    <p:sldId id="889" r:id="rId46"/>
    <p:sldId id="890" r:id="rId47"/>
    <p:sldId id="892" r:id="rId48"/>
    <p:sldId id="909" r:id="rId49"/>
    <p:sldId id="910" r:id="rId50"/>
    <p:sldId id="908" r:id="rId51"/>
    <p:sldId id="911" r:id="rId52"/>
    <p:sldId id="893" r:id="rId53"/>
    <p:sldId id="894" r:id="rId54"/>
    <p:sldId id="912" r:id="rId55"/>
    <p:sldId id="891" r:id="rId56"/>
    <p:sldId id="913" r:id="rId57"/>
    <p:sldId id="895"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379" autoAdjust="0"/>
    <p:restoredTop sz="82877"/>
  </p:normalViewPr>
  <p:slideViewPr>
    <p:cSldViewPr snapToGrid="0">
      <p:cViewPr varScale="1">
        <p:scale>
          <a:sx n="104" d="100"/>
          <a:sy n="104" d="100"/>
        </p:scale>
        <p:origin x="1176"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5" Type="http://schemas.openxmlformats.org/officeDocument/2006/relationships/slide" Target="slides/slide2.xml"/><Relationship Id="rId61" Type="http://schemas.openxmlformats.org/officeDocument/2006/relationships/viewProps" Target="viewProps.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notesMaster" Target="notesMasters/notesMaster1.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s>
</file>

<file path=ppt/diagrams/_rels/data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svg"/></Relationships>
</file>

<file path=ppt/diagrams/_rels/drawing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sv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8BCA39C9-4874-4FE2-BCD3-C10EA6D33049}" type="doc">
      <dgm:prSet loTypeId="urn:microsoft.com/office/officeart/2005/8/layout/default" loCatId="list" qsTypeId="urn:microsoft.com/office/officeart/2005/8/quickstyle/simple1" qsCatId="simple" csTypeId="urn:microsoft.com/office/officeart/2005/8/colors/colorful1" csCatId="colorful"/>
      <dgm:spPr/>
      <dgm:t>
        <a:bodyPr/>
        <a:lstStyle/>
        <a:p>
          <a:endParaRPr lang="en-US"/>
        </a:p>
      </dgm:t>
    </dgm:pt>
    <dgm:pt modelId="{648587B9-9ED4-4FE4-A17C-E2DCBED332FD}">
      <dgm:prSet/>
      <dgm:spPr/>
      <dgm:t>
        <a:bodyPr/>
        <a:lstStyle/>
        <a:p>
          <a:r>
            <a:rPr lang="en-US" dirty="0"/>
            <a:t>Control Flow Testing</a:t>
          </a:r>
        </a:p>
      </dgm:t>
    </dgm:pt>
    <dgm:pt modelId="{DCF502BC-04C4-4632-A06E-B44AE092825D}" type="parTrans" cxnId="{A101D03B-7FEC-4423-B42D-3815D52FBBF7}">
      <dgm:prSet/>
      <dgm:spPr/>
      <dgm:t>
        <a:bodyPr/>
        <a:lstStyle/>
        <a:p>
          <a:endParaRPr lang="en-US"/>
        </a:p>
      </dgm:t>
    </dgm:pt>
    <dgm:pt modelId="{ADB63FB6-BA60-4847-866F-445607D36529}" type="sibTrans" cxnId="{A101D03B-7FEC-4423-B42D-3815D52FBBF7}">
      <dgm:prSet/>
      <dgm:spPr/>
      <dgm:t>
        <a:bodyPr/>
        <a:lstStyle/>
        <a:p>
          <a:endParaRPr lang="en-US"/>
        </a:p>
      </dgm:t>
    </dgm:pt>
    <dgm:pt modelId="{4D1D6302-FABE-4D31-BA64-CABE4B525FAA}">
      <dgm:prSet/>
      <dgm:spPr/>
      <dgm:t>
        <a:bodyPr/>
        <a:lstStyle/>
        <a:p>
          <a:r>
            <a:rPr lang="en-US"/>
            <a:t>Data Flow Testing</a:t>
          </a:r>
        </a:p>
      </dgm:t>
    </dgm:pt>
    <dgm:pt modelId="{3A3AAB8F-DA18-424F-996E-88EEB34DC04D}" type="parTrans" cxnId="{7D75151B-02A2-496A-9B77-D90FED2A32F7}">
      <dgm:prSet/>
      <dgm:spPr/>
      <dgm:t>
        <a:bodyPr/>
        <a:lstStyle/>
        <a:p>
          <a:endParaRPr lang="en-US"/>
        </a:p>
      </dgm:t>
    </dgm:pt>
    <dgm:pt modelId="{576F6232-B1E1-4AE0-A51A-95C816017ECF}" type="sibTrans" cxnId="{7D75151B-02A2-496A-9B77-D90FED2A32F7}">
      <dgm:prSet/>
      <dgm:spPr/>
      <dgm:t>
        <a:bodyPr/>
        <a:lstStyle/>
        <a:p>
          <a:endParaRPr lang="en-US"/>
        </a:p>
      </dgm:t>
    </dgm:pt>
    <dgm:pt modelId="{6EBFEC66-4F41-4569-A777-42DD41089370}" type="pres">
      <dgm:prSet presAssocID="{8BCA39C9-4874-4FE2-BCD3-C10EA6D33049}" presName="diagram" presStyleCnt="0">
        <dgm:presLayoutVars>
          <dgm:dir/>
          <dgm:resizeHandles val="exact"/>
        </dgm:presLayoutVars>
      </dgm:prSet>
      <dgm:spPr/>
    </dgm:pt>
    <dgm:pt modelId="{030804DD-6C78-4308-85A9-2D01B845B8B2}" type="pres">
      <dgm:prSet presAssocID="{648587B9-9ED4-4FE4-A17C-E2DCBED332FD}" presName="node" presStyleLbl="node1" presStyleIdx="0" presStyleCnt="2">
        <dgm:presLayoutVars>
          <dgm:bulletEnabled val="1"/>
        </dgm:presLayoutVars>
      </dgm:prSet>
      <dgm:spPr/>
    </dgm:pt>
    <dgm:pt modelId="{13348C72-E50F-4CC8-B225-0F8CD35AC0BD}" type="pres">
      <dgm:prSet presAssocID="{ADB63FB6-BA60-4847-866F-445607D36529}" presName="sibTrans" presStyleCnt="0"/>
      <dgm:spPr/>
    </dgm:pt>
    <dgm:pt modelId="{09E29C4A-77AF-4993-B256-68D7C977F11F}" type="pres">
      <dgm:prSet presAssocID="{4D1D6302-FABE-4D31-BA64-CABE4B525FAA}" presName="node" presStyleLbl="node1" presStyleIdx="1" presStyleCnt="2">
        <dgm:presLayoutVars>
          <dgm:bulletEnabled val="1"/>
        </dgm:presLayoutVars>
      </dgm:prSet>
      <dgm:spPr/>
    </dgm:pt>
  </dgm:ptLst>
  <dgm:cxnLst>
    <dgm:cxn modelId="{7D75151B-02A2-496A-9B77-D90FED2A32F7}" srcId="{8BCA39C9-4874-4FE2-BCD3-C10EA6D33049}" destId="{4D1D6302-FABE-4D31-BA64-CABE4B525FAA}" srcOrd="1" destOrd="0" parTransId="{3A3AAB8F-DA18-424F-996E-88EEB34DC04D}" sibTransId="{576F6232-B1E1-4AE0-A51A-95C816017ECF}"/>
    <dgm:cxn modelId="{A101D03B-7FEC-4423-B42D-3815D52FBBF7}" srcId="{8BCA39C9-4874-4FE2-BCD3-C10EA6D33049}" destId="{648587B9-9ED4-4FE4-A17C-E2DCBED332FD}" srcOrd="0" destOrd="0" parTransId="{DCF502BC-04C4-4632-A06E-B44AE092825D}" sibTransId="{ADB63FB6-BA60-4847-866F-445607D36529}"/>
    <dgm:cxn modelId="{DB477977-0242-4239-A703-070F75DD8DFD}" type="presOf" srcId="{8BCA39C9-4874-4FE2-BCD3-C10EA6D33049}" destId="{6EBFEC66-4F41-4569-A777-42DD41089370}" srcOrd="0" destOrd="0" presId="urn:microsoft.com/office/officeart/2005/8/layout/default"/>
    <dgm:cxn modelId="{1644FD82-8FCD-49F6-AD8B-39DEEEF4D4ED}" type="presOf" srcId="{648587B9-9ED4-4FE4-A17C-E2DCBED332FD}" destId="{030804DD-6C78-4308-85A9-2D01B845B8B2}" srcOrd="0" destOrd="0" presId="urn:microsoft.com/office/officeart/2005/8/layout/default"/>
    <dgm:cxn modelId="{E60F28CE-DB4A-46A9-9E1E-12E90E51E266}" type="presOf" srcId="{4D1D6302-FABE-4D31-BA64-CABE4B525FAA}" destId="{09E29C4A-77AF-4993-B256-68D7C977F11F}" srcOrd="0" destOrd="0" presId="urn:microsoft.com/office/officeart/2005/8/layout/default"/>
    <dgm:cxn modelId="{76A01BC8-D7AD-456D-ADD0-F20D1CE5780C}" type="presParOf" srcId="{6EBFEC66-4F41-4569-A777-42DD41089370}" destId="{030804DD-6C78-4308-85A9-2D01B845B8B2}" srcOrd="0" destOrd="0" presId="urn:microsoft.com/office/officeart/2005/8/layout/default"/>
    <dgm:cxn modelId="{82229ABA-34E9-4203-87C5-88B019F5FCB0}" type="presParOf" srcId="{6EBFEC66-4F41-4569-A777-42DD41089370}" destId="{13348C72-E50F-4CC8-B225-0F8CD35AC0BD}" srcOrd="1" destOrd="0" presId="urn:microsoft.com/office/officeart/2005/8/layout/default"/>
    <dgm:cxn modelId="{FAD50D63-3FB8-491B-9C8A-3A65FC4D39E5}" type="presParOf" srcId="{6EBFEC66-4F41-4569-A777-42DD41089370}" destId="{09E29C4A-77AF-4993-B256-68D7C977F11F}" srcOrd="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AC3C974-CF0C-4CAA-AEC1-35ED6F0FA937}" type="doc">
      <dgm:prSet loTypeId="urn:microsoft.com/office/officeart/2005/8/layout/list1" loCatId="list" qsTypeId="urn:microsoft.com/office/officeart/2005/8/quickstyle/simple1" qsCatId="simple" csTypeId="urn:microsoft.com/office/officeart/2005/8/colors/colorful1" csCatId="colorful"/>
      <dgm:spPr/>
      <dgm:t>
        <a:bodyPr/>
        <a:lstStyle/>
        <a:p>
          <a:endParaRPr lang="en-US"/>
        </a:p>
      </dgm:t>
    </dgm:pt>
    <dgm:pt modelId="{B5AF2D45-64A6-421F-B307-EC4A936D6BAB}">
      <dgm:prSet/>
      <dgm:spPr/>
      <dgm:t>
        <a:bodyPr/>
        <a:lstStyle/>
        <a:p>
          <a:r>
            <a:rPr lang="en-US"/>
            <a:t>Two kinds of basic program statements:</a:t>
          </a:r>
        </a:p>
      </dgm:t>
    </dgm:pt>
    <dgm:pt modelId="{23941552-AA2B-4B0F-88A9-F17C7D83256E}" type="parTrans" cxnId="{A1AAF024-A894-47A7-AB5D-5BE9CEA4CF83}">
      <dgm:prSet/>
      <dgm:spPr/>
      <dgm:t>
        <a:bodyPr/>
        <a:lstStyle/>
        <a:p>
          <a:endParaRPr lang="en-US"/>
        </a:p>
      </dgm:t>
    </dgm:pt>
    <dgm:pt modelId="{34EAC640-65EC-45E0-8F52-9C01B72C61CD}" type="sibTrans" cxnId="{A1AAF024-A894-47A7-AB5D-5BE9CEA4CF83}">
      <dgm:prSet/>
      <dgm:spPr/>
      <dgm:t>
        <a:bodyPr/>
        <a:lstStyle/>
        <a:p>
          <a:endParaRPr lang="en-US"/>
        </a:p>
      </dgm:t>
    </dgm:pt>
    <dgm:pt modelId="{3E3984B7-72ED-4133-9950-8D8F3560D08D}">
      <dgm:prSet/>
      <dgm:spPr/>
      <dgm:t>
        <a:bodyPr/>
        <a:lstStyle/>
        <a:p>
          <a:r>
            <a:rPr lang="en-US"/>
            <a:t>Assignment statements (Ex. x = 2*y; )</a:t>
          </a:r>
        </a:p>
      </dgm:t>
    </dgm:pt>
    <dgm:pt modelId="{AEAD3A0C-CFE8-4D23-A2C4-08C74912CCB7}" type="parTrans" cxnId="{84F00460-53BE-44F3-BE26-7B4AE4D39135}">
      <dgm:prSet/>
      <dgm:spPr/>
      <dgm:t>
        <a:bodyPr/>
        <a:lstStyle/>
        <a:p>
          <a:endParaRPr lang="en-US"/>
        </a:p>
      </dgm:t>
    </dgm:pt>
    <dgm:pt modelId="{4E518A6C-628C-46D0-BC68-F8C38AD4B13D}" type="sibTrans" cxnId="{84F00460-53BE-44F3-BE26-7B4AE4D39135}">
      <dgm:prSet/>
      <dgm:spPr/>
      <dgm:t>
        <a:bodyPr/>
        <a:lstStyle/>
        <a:p>
          <a:endParaRPr lang="en-US"/>
        </a:p>
      </dgm:t>
    </dgm:pt>
    <dgm:pt modelId="{1B0EBEC0-C842-485A-B8DE-43526F2DEE6E}">
      <dgm:prSet/>
      <dgm:spPr/>
      <dgm:t>
        <a:bodyPr/>
        <a:lstStyle/>
        <a:p>
          <a:r>
            <a:rPr lang="en-US" dirty="0"/>
            <a:t>Conditional statements (Ex. if(), for(), while(), …)</a:t>
          </a:r>
        </a:p>
      </dgm:t>
    </dgm:pt>
    <dgm:pt modelId="{594DAB43-3605-4692-927C-207E4D09F6B1}" type="parTrans" cxnId="{0FAE2201-1975-4D4E-A896-6C8C7E819054}">
      <dgm:prSet/>
      <dgm:spPr/>
      <dgm:t>
        <a:bodyPr/>
        <a:lstStyle/>
        <a:p>
          <a:endParaRPr lang="en-US"/>
        </a:p>
      </dgm:t>
    </dgm:pt>
    <dgm:pt modelId="{C07AF363-C36B-45C1-9282-464CB33C87F2}" type="sibTrans" cxnId="{0FAE2201-1975-4D4E-A896-6C8C7E819054}">
      <dgm:prSet/>
      <dgm:spPr/>
      <dgm:t>
        <a:bodyPr/>
        <a:lstStyle/>
        <a:p>
          <a:endParaRPr lang="en-US"/>
        </a:p>
      </dgm:t>
    </dgm:pt>
    <dgm:pt modelId="{D92ED389-387E-488B-984C-F2F571470B77}">
      <dgm:prSet/>
      <dgm:spPr/>
      <dgm:t>
        <a:bodyPr/>
        <a:lstStyle/>
        <a:p>
          <a:r>
            <a:rPr lang="en-US"/>
            <a:t>Control flow</a:t>
          </a:r>
        </a:p>
      </dgm:t>
    </dgm:pt>
    <dgm:pt modelId="{0980E96C-10C9-40A1-BA49-2AC392DA4FD5}" type="parTrans" cxnId="{F32915C8-8A78-4D88-A88C-2C02CDA2F5A9}">
      <dgm:prSet/>
      <dgm:spPr/>
      <dgm:t>
        <a:bodyPr/>
        <a:lstStyle/>
        <a:p>
          <a:endParaRPr lang="en-US"/>
        </a:p>
      </dgm:t>
    </dgm:pt>
    <dgm:pt modelId="{3B9D19C4-13C1-47B8-9F42-A0FB4B2E626E}" type="sibTrans" cxnId="{F32915C8-8A78-4D88-A88C-2C02CDA2F5A9}">
      <dgm:prSet/>
      <dgm:spPr/>
      <dgm:t>
        <a:bodyPr/>
        <a:lstStyle/>
        <a:p>
          <a:endParaRPr lang="en-US"/>
        </a:p>
      </dgm:t>
    </dgm:pt>
    <dgm:pt modelId="{5C1AAFB9-886A-440B-BAC1-67B7B90AFE5F}">
      <dgm:prSet/>
      <dgm:spPr/>
      <dgm:t>
        <a:bodyPr/>
        <a:lstStyle/>
        <a:p>
          <a:r>
            <a:rPr lang="en-US"/>
            <a:t>Successive execution of program statements is viewed as flow of control.</a:t>
          </a:r>
        </a:p>
      </dgm:t>
    </dgm:pt>
    <dgm:pt modelId="{C81F4578-B5E7-44C2-AA78-1B3669A5E8F4}" type="parTrans" cxnId="{0925CFAF-A764-4164-9C8C-229864935A47}">
      <dgm:prSet/>
      <dgm:spPr/>
      <dgm:t>
        <a:bodyPr/>
        <a:lstStyle/>
        <a:p>
          <a:endParaRPr lang="en-US"/>
        </a:p>
      </dgm:t>
    </dgm:pt>
    <dgm:pt modelId="{F60E812B-2F8A-4A7D-8A12-86183ED1C95B}" type="sibTrans" cxnId="{0925CFAF-A764-4164-9C8C-229864935A47}">
      <dgm:prSet/>
      <dgm:spPr/>
      <dgm:t>
        <a:bodyPr/>
        <a:lstStyle/>
        <a:p>
          <a:endParaRPr lang="en-US"/>
        </a:p>
      </dgm:t>
    </dgm:pt>
    <dgm:pt modelId="{23401549-0F51-4342-845D-ED08E633277B}">
      <dgm:prSet/>
      <dgm:spPr/>
      <dgm:t>
        <a:bodyPr/>
        <a:lstStyle/>
        <a:p>
          <a:r>
            <a:rPr lang="en-US"/>
            <a:t>Conditional statements alter the default flow.</a:t>
          </a:r>
        </a:p>
      </dgm:t>
    </dgm:pt>
    <dgm:pt modelId="{A0B3C32C-D67A-4475-BA72-BF5C6E59EA76}" type="parTrans" cxnId="{19B294B5-8759-45FF-A5AE-96841980CCD7}">
      <dgm:prSet/>
      <dgm:spPr/>
      <dgm:t>
        <a:bodyPr/>
        <a:lstStyle/>
        <a:p>
          <a:endParaRPr lang="en-US"/>
        </a:p>
      </dgm:t>
    </dgm:pt>
    <dgm:pt modelId="{F9B1F889-DA6C-4A3B-A165-77C688AE044E}" type="sibTrans" cxnId="{19B294B5-8759-45FF-A5AE-96841980CCD7}">
      <dgm:prSet/>
      <dgm:spPr/>
      <dgm:t>
        <a:bodyPr/>
        <a:lstStyle/>
        <a:p>
          <a:endParaRPr lang="en-US"/>
        </a:p>
      </dgm:t>
    </dgm:pt>
    <dgm:pt modelId="{22F3886A-52ED-420E-8AFB-4F25994F0936}" type="pres">
      <dgm:prSet presAssocID="{FAC3C974-CF0C-4CAA-AEC1-35ED6F0FA937}" presName="linear" presStyleCnt="0">
        <dgm:presLayoutVars>
          <dgm:dir/>
          <dgm:animLvl val="lvl"/>
          <dgm:resizeHandles val="exact"/>
        </dgm:presLayoutVars>
      </dgm:prSet>
      <dgm:spPr/>
    </dgm:pt>
    <dgm:pt modelId="{ED3DA7B0-B5D4-4A00-8894-2113845EF995}" type="pres">
      <dgm:prSet presAssocID="{B5AF2D45-64A6-421F-B307-EC4A936D6BAB}" presName="parentLin" presStyleCnt="0"/>
      <dgm:spPr/>
    </dgm:pt>
    <dgm:pt modelId="{C7C935B6-1225-48A7-B699-76D57FDFE1E5}" type="pres">
      <dgm:prSet presAssocID="{B5AF2D45-64A6-421F-B307-EC4A936D6BAB}" presName="parentLeftMargin" presStyleLbl="node1" presStyleIdx="0" presStyleCnt="2"/>
      <dgm:spPr/>
    </dgm:pt>
    <dgm:pt modelId="{CD8578AE-DC31-4D09-8CAC-39C344731C5B}" type="pres">
      <dgm:prSet presAssocID="{B5AF2D45-64A6-421F-B307-EC4A936D6BAB}" presName="parentText" presStyleLbl="node1" presStyleIdx="0" presStyleCnt="2">
        <dgm:presLayoutVars>
          <dgm:chMax val="0"/>
          <dgm:bulletEnabled val="1"/>
        </dgm:presLayoutVars>
      </dgm:prSet>
      <dgm:spPr/>
    </dgm:pt>
    <dgm:pt modelId="{2EEF50C0-9A49-459F-B8A7-5A00931F3595}" type="pres">
      <dgm:prSet presAssocID="{B5AF2D45-64A6-421F-B307-EC4A936D6BAB}" presName="negativeSpace" presStyleCnt="0"/>
      <dgm:spPr/>
    </dgm:pt>
    <dgm:pt modelId="{755FA755-5D47-4C3A-9334-2731B97521A2}" type="pres">
      <dgm:prSet presAssocID="{B5AF2D45-64A6-421F-B307-EC4A936D6BAB}" presName="childText" presStyleLbl="conFgAcc1" presStyleIdx="0" presStyleCnt="2">
        <dgm:presLayoutVars>
          <dgm:bulletEnabled val="1"/>
        </dgm:presLayoutVars>
      </dgm:prSet>
      <dgm:spPr/>
    </dgm:pt>
    <dgm:pt modelId="{41D17403-5328-4319-8CBA-D61C83E9BBA5}" type="pres">
      <dgm:prSet presAssocID="{34EAC640-65EC-45E0-8F52-9C01B72C61CD}" presName="spaceBetweenRectangles" presStyleCnt="0"/>
      <dgm:spPr/>
    </dgm:pt>
    <dgm:pt modelId="{1BD84EB8-D22B-44B4-B6C1-DACC993779B0}" type="pres">
      <dgm:prSet presAssocID="{D92ED389-387E-488B-984C-F2F571470B77}" presName="parentLin" presStyleCnt="0"/>
      <dgm:spPr/>
    </dgm:pt>
    <dgm:pt modelId="{13875F79-9C21-4D42-90D3-47C8BC1D9241}" type="pres">
      <dgm:prSet presAssocID="{D92ED389-387E-488B-984C-F2F571470B77}" presName="parentLeftMargin" presStyleLbl="node1" presStyleIdx="0" presStyleCnt="2"/>
      <dgm:spPr/>
    </dgm:pt>
    <dgm:pt modelId="{2C0D3A8C-73C0-4003-BAD1-35708C53540A}" type="pres">
      <dgm:prSet presAssocID="{D92ED389-387E-488B-984C-F2F571470B77}" presName="parentText" presStyleLbl="node1" presStyleIdx="1" presStyleCnt="2">
        <dgm:presLayoutVars>
          <dgm:chMax val="0"/>
          <dgm:bulletEnabled val="1"/>
        </dgm:presLayoutVars>
      </dgm:prSet>
      <dgm:spPr/>
    </dgm:pt>
    <dgm:pt modelId="{1C628BEF-6C94-44FE-AE87-DD9D007F3B06}" type="pres">
      <dgm:prSet presAssocID="{D92ED389-387E-488B-984C-F2F571470B77}" presName="negativeSpace" presStyleCnt="0"/>
      <dgm:spPr/>
    </dgm:pt>
    <dgm:pt modelId="{9A0B33BC-5FA2-41F0-A13C-D05614E2F613}" type="pres">
      <dgm:prSet presAssocID="{D92ED389-387E-488B-984C-F2F571470B77}" presName="childText" presStyleLbl="conFgAcc1" presStyleIdx="1" presStyleCnt="2">
        <dgm:presLayoutVars>
          <dgm:bulletEnabled val="1"/>
        </dgm:presLayoutVars>
      </dgm:prSet>
      <dgm:spPr/>
    </dgm:pt>
  </dgm:ptLst>
  <dgm:cxnLst>
    <dgm:cxn modelId="{0FAE2201-1975-4D4E-A896-6C8C7E819054}" srcId="{B5AF2D45-64A6-421F-B307-EC4A936D6BAB}" destId="{1B0EBEC0-C842-485A-B8DE-43526F2DEE6E}" srcOrd="1" destOrd="0" parTransId="{594DAB43-3605-4692-927C-207E4D09F6B1}" sibTransId="{C07AF363-C36B-45C1-9282-464CB33C87F2}"/>
    <dgm:cxn modelId="{F0321606-72B4-4C92-8B7B-3F129A59534C}" type="presOf" srcId="{FAC3C974-CF0C-4CAA-AEC1-35ED6F0FA937}" destId="{22F3886A-52ED-420E-8AFB-4F25994F0936}" srcOrd="0" destOrd="0" presId="urn:microsoft.com/office/officeart/2005/8/layout/list1"/>
    <dgm:cxn modelId="{1C76221C-3BE8-48C9-BE36-C67BB2E31531}" type="presOf" srcId="{3E3984B7-72ED-4133-9950-8D8F3560D08D}" destId="{755FA755-5D47-4C3A-9334-2731B97521A2}" srcOrd="0" destOrd="0" presId="urn:microsoft.com/office/officeart/2005/8/layout/list1"/>
    <dgm:cxn modelId="{A1AAF024-A894-47A7-AB5D-5BE9CEA4CF83}" srcId="{FAC3C974-CF0C-4CAA-AEC1-35ED6F0FA937}" destId="{B5AF2D45-64A6-421F-B307-EC4A936D6BAB}" srcOrd="0" destOrd="0" parTransId="{23941552-AA2B-4B0F-88A9-F17C7D83256E}" sibTransId="{34EAC640-65EC-45E0-8F52-9C01B72C61CD}"/>
    <dgm:cxn modelId="{CE57A42A-35E0-4685-AEEB-BC480391A1BF}" type="presOf" srcId="{B5AF2D45-64A6-421F-B307-EC4A936D6BAB}" destId="{CD8578AE-DC31-4D09-8CAC-39C344731C5B}" srcOrd="1" destOrd="0" presId="urn:microsoft.com/office/officeart/2005/8/layout/list1"/>
    <dgm:cxn modelId="{84F00460-53BE-44F3-BE26-7B4AE4D39135}" srcId="{B5AF2D45-64A6-421F-B307-EC4A936D6BAB}" destId="{3E3984B7-72ED-4133-9950-8D8F3560D08D}" srcOrd="0" destOrd="0" parTransId="{AEAD3A0C-CFE8-4D23-A2C4-08C74912CCB7}" sibTransId="{4E518A6C-628C-46D0-BC68-F8C38AD4B13D}"/>
    <dgm:cxn modelId="{D516E885-2AD5-4014-B624-3786E7E9D926}" type="presOf" srcId="{5C1AAFB9-886A-440B-BAC1-67B7B90AFE5F}" destId="{9A0B33BC-5FA2-41F0-A13C-D05614E2F613}" srcOrd="0" destOrd="0" presId="urn:microsoft.com/office/officeart/2005/8/layout/list1"/>
    <dgm:cxn modelId="{451C7C8B-2DF5-445F-83CA-9EC7FFF10270}" type="presOf" srcId="{D92ED389-387E-488B-984C-F2F571470B77}" destId="{13875F79-9C21-4D42-90D3-47C8BC1D9241}" srcOrd="0" destOrd="0" presId="urn:microsoft.com/office/officeart/2005/8/layout/list1"/>
    <dgm:cxn modelId="{F8D00F98-DD0F-4CEE-B2E8-54FA7CED3E24}" type="presOf" srcId="{B5AF2D45-64A6-421F-B307-EC4A936D6BAB}" destId="{C7C935B6-1225-48A7-B699-76D57FDFE1E5}" srcOrd="0" destOrd="0" presId="urn:microsoft.com/office/officeart/2005/8/layout/list1"/>
    <dgm:cxn modelId="{0925CFAF-A764-4164-9C8C-229864935A47}" srcId="{D92ED389-387E-488B-984C-F2F571470B77}" destId="{5C1AAFB9-886A-440B-BAC1-67B7B90AFE5F}" srcOrd="0" destOrd="0" parTransId="{C81F4578-B5E7-44C2-AA78-1B3669A5E8F4}" sibTransId="{F60E812B-2F8A-4A7D-8A12-86183ED1C95B}"/>
    <dgm:cxn modelId="{19B294B5-8759-45FF-A5AE-96841980CCD7}" srcId="{D92ED389-387E-488B-984C-F2F571470B77}" destId="{23401549-0F51-4342-845D-ED08E633277B}" srcOrd="1" destOrd="0" parTransId="{A0B3C32C-D67A-4475-BA72-BF5C6E59EA76}" sibTransId="{F9B1F889-DA6C-4A3B-A165-77C688AE044E}"/>
    <dgm:cxn modelId="{9FCE9AC7-EE76-4987-AF21-F97FF613B6A7}" type="presOf" srcId="{23401549-0F51-4342-845D-ED08E633277B}" destId="{9A0B33BC-5FA2-41F0-A13C-D05614E2F613}" srcOrd="0" destOrd="1" presId="urn:microsoft.com/office/officeart/2005/8/layout/list1"/>
    <dgm:cxn modelId="{C320D5C7-0672-46EC-A9B4-8A42DFE34052}" type="presOf" srcId="{1B0EBEC0-C842-485A-B8DE-43526F2DEE6E}" destId="{755FA755-5D47-4C3A-9334-2731B97521A2}" srcOrd="0" destOrd="1" presId="urn:microsoft.com/office/officeart/2005/8/layout/list1"/>
    <dgm:cxn modelId="{F32915C8-8A78-4D88-A88C-2C02CDA2F5A9}" srcId="{FAC3C974-CF0C-4CAA-AEC1-35ED6F0FA937}" destId="{D92ED389-387E-488B-984C-F2F571470B77}" srcOrd="1" destOrd="0" parTransId="{0980E96C-10C9-40A1-BA49-2AC392DA4FD5}" sibTransId="{3B9D19C4-13C1-47B8-9F42-A0FB4B2E626E}"/>
    <dgm:cxn modelId="{1BEC54D1-5B0E-4706-9C90-FE1DB164A046}" type="presOf" srcId="{D92ED389-387E-488B-984C-F2F571470B77}" destId="{2C0D3A8C-73C0-4003-BAD1-35708C53540A}" srcOrd="1" destOrd="0" presId="urn:microsoft.com/office/officeart/2005/8/layout/list1"/>
    <dgm:cxn modelId="{E80422A2-19E0-4643-B43D-9DCB96AC4110}" type="presParOf" srcId="{22F3886A-52ED-420E-8AFB-4F25994F0936}" destId="{ED3DA7B0-B5D4-4A00-8894-2113845EF995}" srcOrd="0" destOrd="0" presId="urn:microsoft.com/office/officeart/2005/8/layout/list1"/>
    <dgm:cxn modelId="{ABD0325A-8F06-4429-8B0A-DD9EBF257999}" type="presParOf" srcId="{ED3DA7B0-B5D4-4A00-8894-2113845EF995}" destId="{C7C935B6-1225-48A7-B699-76D57FDFE1E5}" srcOrd="0" destOrd="0" presId="urn:microsoft.com/office/officeart/2005/8/layout/list1"/>
    <dgm:cxn modelId="{37881D06-9951-4ADA-8847-E993574038F6}" type="presParOf" srcId="{ED3DA7B0-B5D4-4A00-8894-2113845EF995}" destId="{CD8578AE-DC31-4D09-8CAC-39C344731C5B}" srcOrd="1" destOrd="0" presId="urn:microsoft.com/office/officeart/2005/8/layout/list1"/>
    <dgm:cxn modelId="{97F536AD-8881-4E31-AC9D-B182CED424E7}" type="presParOf" srcId="{22F3886A-52ED-420E-8AFB-4F25994F0936}" destId="{2EEF50C0-9A49-459F-B8A7-5A00931F3595}" srcOrd="1" destOrd="0" presId="urn:microsoft.com/office/officeart/2005/8/layout/list1"/>
    <dgm:cxn modelId="{A2E03EF2-6840-4995-B5EF-8A4C73376C7D}" type="presParOf" srcId="{22F3886A-52ED-420E-8AFB-4F25994F0936}" destId="{755FA755-5D47-4C3A-9334-2731B97521A2}" srcOrd="2" destOrd="0" presId="urn:microsoft.com/office/officeart/2005/8/layout/list1"/>
    <dgm:cxn modelId="{1BEE8709-4777-4CB7-A4AC-5D12F5621B93}" type="presParOf" srcId="{22F3886A-52ED-420E-8AFB-4F25994F0936}" destId="{41D17403-5328-4319-8CBA-D61C83E9BBA5}" srcOrd="3" destOrd="0" presId="urn:microsoft.com/office/officeart/2005/8/layout/list1"/>
    <dgm:cxn modelId="{3EFD00C3-348E-4362-839D-F8CD9A8C163E}" type="presParOf" srcId="{22F3886A-52ED-420E-8AFB-4F25994F0936}" destId="{1BD84EB8-D22B-44B4-B6C1-DACC993779B0}" srcOrd="4" destOrd="0" presId="urn:microsoft.com/office/officeart/2005/8/layout/list1"/>
    <dgm:cxn modelId="{C0EFF681-CD86-4BD0-B25A-157EF0EDED03}" type="presParOf" srcId="{1BD84EB8-D22B-44B4-B6C1-DACC993779B0}" destId="{13875F79-9C21-4D42-90D3-47C8BC1D9241}" srcOrd="0" destOrd="0" presId="urn:microsoft.com/office/officeart/2005/8/layout/list1"/>
    <dgm:cxn modelId="{0DF8EF50-0037-45A1-94AC-1364458BB525}" type="presParOf" srcId="{1BD84EB8-D22B-44B4-B6C1-DACC993779B0}" destId="{2C0D3A8C-73C0-4003-BAD1-35708C53540A}" srcOrd="1" destOrd="0" presId="urn:microsoft.com/office/officeart/2005/8/layout/list1"/>
    <dgm:cxn modelId="{2E2DC261-4A25-46C9-8CB8-82C13773F377}" type="presParOf" srcId="{22F3886A-52ED-420E-8AFB-4F25994F0936}" destId="{1C628BEF-6C94-44FE-AE87-DD9D007F3B06}" srcOrd="5" destOrd="0" presId="urn:microsoft.com/office/officeart/2005/8/layout/list1"/>
    <dgm:cxn modelId="{470F7767-24AC-4C1A-9151-987B71007207}" type="presParOf" srcId="{22F3886A-52ED-420E-8AFB-4F25994F0936}" destId="{9A0B33BC-5FA2-41F0-A13C-D05614E2F613}"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D3E57D7-B36F-4014-BB6E-167F035AE35A}"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CB185394-B630-4187-9EF4-441F3C914A49}">
      <dgm:prSet custT="1"/>
      <dgm:spPr/>
      <dgm:t>
        <a:bodyPr/>
        <a:lstStyle/>
        <a:p>
          <a:r>
            <a:rPr lang="en-CA" sz="2000" dirty="0">
              <a:solidFill>
                <a:schemeClr val="tx1"/>
              </a:solidFill>
            </a:rPr>
            <a:t>The aviation standard </a:t>
          </a:r>
          <a:r>
            <a:rPr lang="en-CA" sz="2000" b="1" dirty="0">
              <a:solidFill>
                <a:schemeClr val="tx1"/>
              </a:solidFill>
            </a:rPr>
            <a:t>DO-178B </a:t>
          </a:r>
          <a:r>
            <a:rPr lang="en-CA" sz="2000" dirty="0">
              <a:solidFill>
                <a:schemeClr val="tx1"/>
              </a:solidFill>
            </a:rPr>
            <a:t>requires 100% code coverage for safety critical system</a:t>
          </a:r>
          <a:endParaRPr lang="en-US" sz="2000" dirty="0">
            <a:solidFill>
              <a:schemeClr val="tx1"/>
            </a:solidFill>
          </a:endParaRPr>
        </a:p>
      </dgm:t>
    </dgm:pt>
    <dgm:pt modelId="{529DE513-7DFA-4214-8063-C9275E1C424C}" type="parTrans" cxnId="{82D6E0C7-290E-445F-93C6-861EAA3D6ACA}">
      <dgm:prSet/>
      <dgm:spPr/>
      <dgm:t>
        <a:bodyPr/>
        <a:lstStyle/>
        <a:p>
          <a:endParaRPr lang="en-US"/>
        </a:p>
      </dgm:t>
    </dgm:pt>
    <dgm:pt modelId="{F637F367-AA3C-4974-B640-BB3BA9E74666}" type="sibTrans" cxnId="{82D6E0C7-290E-445F-93C6-861EAA3D6ACA}">
      <dgm:prSet/>
      <dgm:spPr/>
      <dgm:t>
        <a:bodyPr/>
        <a:lstStyle/>
        <a:p>
          <a:endParaRPr lang="en-US"/>
        </a:p>
      </dgm:t>
    </dgm:pt>
    <dgm:pt modelId="{D4F34A1E-729C-44A7-9626-771B9A8E689C}">
      <dgm:prSet custT="1"/>
      <dgm:spPr/>
      <dgm:t>
        <a:bodyPr/>
        <a:lstStyle/>
        <a:p>
          <a:r>
            <a:rPr lang="en-CA" sz="1800" dirty="0">
              <a:solidFill>
                <a:schemeClr val="tx1"/>
              </a:solidFill>
            </a:rPr>
            <a:t>The standard </a:t>
          </a:r>
          <a:r>
            <a:rPr lang="en-CA" sz="1800" b="1" dirty="0">
              <a:solidFill>
                <a:schemeClr val="tx1"/>
              </a:solidFill>
            </a:rPr>
            <a:t>IEC 61508:2010 </a:t>
          </a:r>
          <a:r>
            <a:rPr lang="en-CA" sz="1800" dirty="0">
              <a:solidFill>
                <a:schemeClr val="tx1"/>
              </a:solidFill>
            </a:rPr>
            <a:t>"Functional Safety of Electrical/Electronic/Programmable Electronic Safety-Related Systems" recommends 100% code coverage of several metrics, but the strenuousness of the recommendation relates to the criticality.</a:t>
          </a:r>
          <a:endParaRPr lang="en-US" sz="1800" dirty="0">
            <a:solidFill>
              <a:schemeClr val="tx1"/>
            </a:solidFill>
          </a:endParaRPr>
        </a:p>
      </dgm:t>
    </dgm:pt>
    <dgm:pt modelId="{086BA05D-24CA-4C55-9033-25718AB90A3F}" type="parTrans" cxnId="{40621528-5613-42EC-8C1E-CC2D5132E688}">
      <dgm:prSet/>
      <dgm:spPr/>
      <dgm:t>
        <a:bodyPr/>
        <a:lstStyle/>
        <a:p>
          <a:endParaRPr lang="en-US"/>
        </a:p>
      </dgm:t>
    </dgm:pt>
    <dgm:pt modelId="{AB49FD94-1DB6-4C68-ADFC-BD848A476FFB}" type="sibTrans" cxnId="{40621528-5613-42EC-8C1E-CC2D5132E688}">
      <dgm:prSet/>
      <dgm:spPr/>
      <dgm:t>
        <a:bodyPr/>
        <a:lstStyle/>
        <a:p>
          <a:endParaRPr lang="en-US"/>
        </a:p>
      </dgm:t>
    </dgm:pt>
    <dgm:pt modelId="{E4077E11-6791-460D-BA31-5C6A8A7DABA9}">
      <dgm:prSet/>
      <dgm:spPr/>
      <dgm:t>
        <a:bodyPr/>
        <a:lstStyle/>
        <a:p>
          <a:r>
            <a:rPr lang="en-CA" dirty="0">
              <a:solidFill>
                <a:schemeClr val="tx1"/>
              </a:solidFill>
            </a:rPr>
            <a:t>The </a:t>
          </a:r>
          <a:r>
            <a:rPr lang="en-CA" b="1" dirty="0">
              <a:solidFill>
                <a:schemeClr val="tx1"/>
              </a:solidFill>
            </a:rPr>
            <a:t>IEEE Standard for Software Unit Testing</a:t>
          </a:r>
          <a:r>
            <a:rPr lang="en-CA" dirty="0">
              <a:solidFill>
                <a:schemeClr val="tx1"/>
              </a:solidFill>
            </a:rPr>
            <a:t> section 3.1.2 specifies 100% statement coverage as a completeness requirement. Section A9 recommends 100% branch coverage for code that is critical or has inadequate requirements specification.</a:t>
          </a:r>
          <a:endParaRPr lang="en-US" dirty="0">
            <a:solidFill>
              <a:schemeClr val="tx1"/>
            </a:solidFill>
          </a:endParaRPr>
        </a:p>
      </dgm:t>
    </dgm:pt>
    <dgm:pt modelId="{19B46A49-6EAF-44E9-89B4-EC2EB3A6B7ED}" type="parTrans" cxnId="{DADAF081-8D7C-4CBB-9943-52540E73ECB3}">
      <dgm:prSet/>
      <dgm:spPr/>
      <dgm:t>
        <a:bodyPr/>
        <a:lstStyle/>
        <a:p>
          <a:endParaRPr lang="en-US"/>
        </a:p>
      </dgm:t>
    </dgm:pt>
    <dgm:pt modelId="{6CDB7613-86EA-4DD2-9373-432D3347F581}" type="sibTrans" cxnId="{DADAF081-8D7C-4CBB-9943-52540E73ECB3}">
      <dgm:prSet/>
      <dgm:spPr/>
      <dgm:t>
        <a:bodyPr/>
        <a:lstStyle/>
        <a:p>
          <a:endParaRPr lang="en-US"/>
        </a:p>
      </dgm:t>
    </dgm:pt>
    <dgm:pt modelId="{D72EC3E3-6E71-46FC-825C-6BD353F08CD3}" type="pres">
      <dgm:prSet presAssocID="{9D3E57D7-B36F-4014-BB6E-167F035AE35A}" presName="root" presStyleCnt="0">
        <dgm:presLayoutVars>
          <dgm:dir/>
          <dgm:resizeHandles val="exact"/>
        </dgm:presLayoutVars>
      </dgm:prSet>
      <dgm:spPr/>
    </dgm:pt>
    <dgm:pt modelId="{55552F67-7A36-41CF-B685-982CF8D26999}" type="pres">
      <dgm:prSet presAssocID="{CB185394-B630-4187-9EF4-441F3C914A49}" presName="compNode" presStyleCnt="0"/>
      <dgm:spPr/>
    </dgm:pt>
    <dgm:pt modelId="{62B8184B-F565-4AEB-922D-FAB2AA53A92B}" type="pres">
      <dgm:prSet presAssocID="{CB185394-B630-4187-9EF4-441F3C914A49}" presName="bgRect" presStyleLbl="bgShp" presStyleIdx="0" presStyleCnt="3" custLinFactNeighborX="-2302" custLinFactNeighborY="-1093"/>
      <dgm:spPr/>
    </dgm:pt>
    <dgm:pt modelId="{0AB2FE03-C64C-4410-85F5-58B1E2CDD2E9}" type="pres">
      <dgm:prSet presAssocID="{CB185394-B630-4187-9EF4-441F3C914A49}"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licopter"/>
        </a:ext>
      </dgm:extLst>
    </dgm:pt>
    <dgm:pt modelId="{3EC54341-0029-4E83-9EBC-0CBF0B660BEB}" type="pres">
      <dgm:prSet presAssocID="{CB185394-B630-4187-9EF4-441F3C914A49}" presName="spaceRect" presStyleCnt="0"/>
      <dgm:spPr/>
    </dgm:pt>
    <dgm:pt modelId="{06020845-D7F8-43EA-97F5-93B8DBA772DC}" type="pres">
      <dgm:prSet presAssocID="{CB185394-B630-4187-9EF4-441F3C914A49}" presName="parTx" presStyleLbl="revTx" presStyleIdx="0" presStyleCnt="3" custScaleX="117459">
        <dgm:presLayoutVars>
          <dgm:chMax val="0"/>
          <dgm:chPref val="0"/>
        </dgm:presLayoutVars>
      </dgm:prSet>
      <dgm:spPr/>
    </dgm:pt>
    <dgm:pt modelId="{C37FE5CC-13E4-43F2-A14F-4A8B800A70B7}" type="pres">
      <dgm:prSet presAssocID="{F637F367-AA3C-4974-B640-BB3BA9E74666}" presName="sibTrans" presStyleCnt="0"/>
      <dgm:spPr/>
    </dgm:pt>
    <dgm:pt modelId="{9F3C210C-E3FC-4DCB-B820-7ABC61B2A041}" type="pres">
      <dgm:prSet presAssocID="{D4F34A1E-729C-44A7-9626-771B9A8E689C}" presName="compNode" presStyleCnt="0"/>
      <dgm:spPr/>
    </dgm:pt>
    <dgm:pt modelId="{D825AFC5-1CE3-4ECF-B9B8-1A3417EC7D7B}" type="pres">
      <dgm:prSet presAssocID="{D4F34A1E-729C-44A7-9626-771B9A8E689C}" presName="bgRect" presStyleLbl="bgShp" presStyleIdx="1" presStyleCnt="3"/>
      <dgm:spPr/>
    </dgm:pt>
    <dgm:pt modelId="{FEE1B421-AD83-4CF4-8F1B-B298BE0A2B51}" type="pres">
      <dgm:prSet presAssocID="{D4F34A1E-729C-44A7-9626-771B9A8E689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igh Voltage"/>
        </a:ext>
      </dgm:extLst>
    </dgm:pt>
    <dgm:pt modelId="{019BA19B-BDFA-4E8E-8B86-1AD9048E085B}" type="pres">
      <dgm:prSet presAssocID="{D4F34A1E-729C-44A7-9626-771B9A8E689C}" presName="spaceRect" presStyleCnt="0"/>
      <dgm:spPr/>
    </dgm:pt>
    <dgm:pt modelId="{B1E76E88-24AD-4CBE-8F36-F9800FBFFF38}" type="pres">
      <dgm:prSet presAssocID="{D4F34A1E-729C-44A7-9626-771B9A8E689C}" presName="parTx" presStyleLbl="revTx" presStyleIdx="1" presStyleCnt="3" custScaleX="102569" custLinFactNeighborX="-4217" custLinFactNeighborY="-7504">
        <dgm:presLayoutVars>
          <dgm:chMax val="0"/>
          <dgm:chPref val="0"/>
        </dgm:presLayoutVars>
      </dgm:prSet>
      <dgm:spPr/>
    </dgm:pt>
    <dgm:pt modelId="{1F96B8F1-D8A6-4D1A-8039-AC65C9878D45}" type="pres">
      <dgm:prSet presAssocID="{AB49FD94-1DB6-4C68-ADFC-BD848A476FFB}" presName="sibTrans" presStyleCnt="0"/>
      <dgm:spPr/>
    </dgm:pt>
    <dgm:pt modelId="{32D1F69B-3DE9-442E-95EA-30837A155BFF}" type="pres">
      <dgm:prSet presAssocID="{E4077E11-6791-460D-BA31-5C6A8A7DABA9}" presName="compNode" presStyleCnt="0"/>
      <dgm:spPr/>
    </dgm:pt>
    <dgm:pt modelId="{86C3C4E6-A87C-4580-BEE8-722F03A1F5D9}" type="pres">
      <dgm:prSet presAssocID="{E4077E11-6791-460D-BA31-5C6A8A7DABA9}" presName="bgRect" presStyleLbl="bgShp" presStyleIdx="2" presStyleCnt="3"/>
      <dgm:spPr/>
    </dgm:pt>
    <dgm:pt modelId="{458382F1-1895-4520-8904-F5D0650FF7F8}" type="pres">
      <dgm:prSet presAssocID="{E4077E11-6791-460D-BA31-5C6A8A7DABA9}"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esentation with Checklist"/>
        </a:ext>
      </dgm:extLst>
    </dgm:pt>
    <dgm:pt modelId="{FC2855CB-8779-4C91-9002-36294FCF0BE5}" type="pres">
      <dgm:prSet presAssocID="{E4077E11-6791-460D-BA31-5C6A8A7DABA9}" presName="spaceRect" presStyleCnt="0"/>
      <dgm:spPr/>
    </dgm:pt>
    <dgm:pt modelId="{3E640AF5-53D6-4601-8699-B82B4E822044}" type="pres">
      <dgm:prSet presAssocID="{E4077E11-6791-460D-BA31-5C6A8A7DABA9}" presName="parTx" presStyleLbl="revTx" presStyleIdx="2" presStyleCnt="3" custScaleX="105755" custLinFactNeighborX="-1406" custLinFactNeighborY="-6627">
        <dgm:presLayoutVars>
          <dgm:chMax val="0"/>
          <dgm:chPref val="0"/>
        </dgm:presLayoutVars>
      </dgm:prSet>
      <dgm:spPr/>
    </dgm:pt>
  </dgm:ptLst>
  <dgm:cxnLst>
    <dgm:cxn modelId="{40621528-5613-42EC-8C1E-CC2D5132E688}" srcId="{9D3E57D7-B36F-4014-BB6E-167F035AE35A}" destId="{D4F34A1E-729C-44A7-9626-771B9A8E689C}" srcOrd="1" destOrd="0" parTransId="{086BA05D-24CA-4C55-9033-25718AB90A3F}" sibTransId="{AB49FD94-1DB6-4C68-ADFC-BD848A476FFB}"/>
    <dgm:cxn modelId="{C467EB55-EE92-4949-BE64-9770ED7A7A58}" type="presOf" srcId="{9D3E57D7-B36F-4014-BB6E-167F035AE35A}" destId="{D72EC3E3-6E71-46FC-825C-6BD353F08CD3}" srcOrd="0" destOrd="0" presId="urn:microsoft.com/office/officeart/2018/2/layout/IconVerticalSolidList"/>
    <dgm:cxn modelId="{37851B64-BAF8-46A4-930E-DBE9C2E73946}" type="presOf" srcId="{CB185394-B630-4187-9EF4-441F3C914A49}" destId="{06020845-D7F8-43EA-97F5-93B8DBA772DC}" srcOrd="0" destOrd="0" presId="urn:microsoft.com/office/officeart/2018/2/layout/IconVerticalSolidList"/>
    <dgm:cxn modelId="{DADAF081-8D7C-4CBB-9943-52540E73ECB3}" srcId="{9D3E57D7-B36F-4014-BB6E-167F035AE35A}" destId="{E4077E11-6791-460D-BA31-5C6A8A7DABA9}" srcOrd="2" destOrd="0" parTransId="{19B46A49-6EAF-44E9-89B4-EC2EB3A6B7ED}" sibTransId="{6CDB7613-86EA-4DD2-9373-432D3347F581}"/>
    <dgm:cxn modelId="{F41BE3A0-4AF8-4975-8B60-7B57D1868AEC}" type="presOf" srcId="{E4077E11-6791-460D-BA31-5C6A8A7DABA9}" destId="{3E640AF5-53D6-4601-8699-B82B4E822044}" srcOrd="0" destOrd="0" presId="urn:microsoft.com/office/officeart/2018/2/layout/IconVerticalSolidList"/>
    <dgm:cxn modelId="{82D6E0C7-290E-445F-93C6-861EAA3D6ACA}" srcId="{9D3E57D7-B36F-4014-BB6E-167F035AE35A}" destId="{CB185394-B630-4187-9EF4-441F3C914A49}" srcOrd="0" destOrd="0" parTransId="{529DE513-7DFA-4214-8063-C9275E1C424C}" sibTransId="{F637F367-AA3C-4974-B640-BB3BA9E74666}"/>
    <dgm:cxn modelId="{79A62EE3-8CB2-4663-92C4-346C1D4851D3}" type="presOf" srcId="{D4F34A1E-729C-44A7-9626-771B9A8E689C}" destId="{B1E76E88-24AD-4CBE-8F36-F9800FBFFF38}" srcOrd="0" destOrd="0" presId="urn:microsoft.com/office/officeart/2018/2/layout/IconVerticalSolidList"/>
    <dgm:cxn modelId="{EDCD6018-AAA0-4433-A801-AE6D35CCA4C6}" type="presParOf" srcId="{D72EC3E3-6E71-46FC-825C-6BD353F08CD3}" destId="{55552F67-7A36-41CF-B685-982CF8D26999}" srcOrd="0" destOrd="0" presId="urn:microsoft.com/office/officeart/2018/2/layout/IconVerticalSolidList"/>
    <dgm:cxn modelId="{8C9062F8-54FB-4BEA-954B-6454C130A433}" type="presParOf" srcId="{55552F67-7A36-41CF-B685-982CF8D26999}" destId="{62B8184B-F565-4AEB-922D-FAB2AA53A92B}" srcOrd="0" destOrd="0" presId="urn:microsoft.com/office/officeart/2018/2/layout/IconVerticalSolidList"/>
    <dgm:cxn modelId="{C60746FD-C8D7-4FB2-9DB3-44CA0753E930}" type="presParOf" srcId="{55552F67-7A36-41CF-B685-982CF8D26999}" destId="{0AB2FE03-C64C-4410-85F5-58B1E2CDD2E9}" srcOrd="1" destOrd="0" presId="urn:microsoft.com/office/officeart/2018/2/layout/IconVerticalSolidList"/>
    <dgm:cxn modelId="{996D0ACE-AA24-4C73-9088-8349ABBD176B}" type="presParOf" srcId="{55552F67-7A36-41CF-B685-982CF8D26999}" destId="{3EC54341-0029-4E83-9EBC-0CBF0B660BEB}" srcOrd="2" destOrd="0" presId="urn:microsoft.com/office/officeart/2018/2/layout/IconVerticalSolidList"/>
    <dgm:cxn modelId="{CBDAEE8E-23B1-4F0C-8DDC-789BDE2721C6}" type="presParOf" srcId="{55552F67-7A36-41CF-B685-982CF8D26999}" destId="{06020845-D7F8-43EA-97F5-93B8DBA772DC}" srcOrd="3" destOrd="0" presId="urn:microsoft.com/office/officeart/2018/2/layout/IconVerticalSolidList"/>
    <dgm:cxn modelId="{86BFA1EE-2EAB-4483-B65A-78951F16D2A1}" type="presParOf" srcId="{D72EC3E3-6E71-46FC-825C-6BD353F08CD3}" destId="{C37FE5CC-13E4-43F2-A14F-4A8B800A70B7}" srcOrd="1" destOrd="0" presId="urn:microsoft.com/office/officeart/2018/2/layout/IconVerticalSolidList"/>
    <dgm:cxn modelId="{20B75FCA-5077-4460-83F7-924663AA38AF}" type="presParOf" srcId="{D72EC3E3-6E71-46FC-825C-6BD353F08CD3}" destId="{9F3C210C-E3FC-4DCB-B820-7ABC61B2A041}" srcOrd="2" destOrd="0" presId="urn:microsoft.com/office/officeart/2018/2/layout/IconVerticalSolidList"/>
    <dgm:cxn modelId="{F98876AB-6D15-44E1-8B9E-B8F4EB0C9CCE}" type="presParOf" srcId="{9F3C210C-E3FC-4DCB-B820-7ABC61B2A041}" destId="{D825AFC5-1CE3-4ECF-B9B8-1A3417EC7D7B}" srcOrd="0" destOrd="0" presId="urn:microsoft.com/office/officeart/2018/2/layout/IconVerticalSolidList"/>
    <dgm:cxn modelId="{A0172569-C7AC-4163-A21E-A702DD99DE77}" type="presParOf" srcId="{9F3C210C-E3FC-4DCB-B820-7ABC61B2A041}" destId="{FEE1B421-AD83-4CF4-8F1B-B298BE0A2B51}" srcOrd="1" destOrd="0" presId="urn:microsoft.com/office/officeart/2018/2/layout/IconVerticalSolidList"/>
    <dgm:cxn modelId="{0274A53A-59A0-4939-9BC6-BEA4B98B3078}" type="presParOf" srcId="{9F3C210C-E3FC-4DCB-B820-7ABC61B2A041}" destId="{019BA19B-BDFA-4E8E-8B86-1AD9048E085B}" srcOrd="2" destOrd="0" presId="urn:microsoft.com/office/officeart/2018/2/layout/IconVerticalSolidList"/>
    <dgm:cxn modelId="{D37BCEA0-AE80-4C00-814C-55FA13D0742D}" type="presParOf" srcId="{9F3C210C-E3FC-4DCB-B820-7ABC61B2A041}" destId="{B1E76E88-24AD-4CBE-8F36-F9800FBFFF38}" srcOrd="3" destOrd="0" presId="urn:microsoft.com/office/officeart/2018/2/layout/IconVerticalSolidList"/>
    <dgm:cxn modelId="{22FBC635-5D71-484A-8409-B6A9BC5CAF95}" type="presParOf" srcId="{D72EC3E3-6E71-46FC-825C-6BD353F08CD3}" destId="{1F96B8F1-D8A6-4D1A-8039-AC65C9878D45}" srcOrd="3" destOrd="0" presId="urn:microsoft.com/office/officeart/2018/2/layout/IconVerticalSolidList"/>
    <dgm:cxn modelId="{AE18A728-7181-45A8-B58C-B899047C3BF7}" type="presParOf" srcId="{D72EC3E3-6E71-46FC-825C-6BD353F08CD3}" destId="{32D1F69B-3DE9-442E-95EA-30837A155BFF}" srcOrd="4" destOrd="0" presId="urn:microsoft.com/office/officeart/2018/2/layout/IconVerticalSolidList"/>
    <dgm:cxn modelId="{B27CCE7F-DC58-4F15-865D-5C5730C73E75}" type="presParOf" srcId="{32D1F69B-3DE9-442E-95EA-30837A155BFF}" destId="{86C3C4E6-A87C-4580-BEE8-722F03A1F5D9}" srcOrd="0" destOrd="0" presId="urn:microsoft.com/office/officeart/2018/2/layout/IconVerticalSolidList"/>
    <dgm:cxn modelId="{92160087-74CD-4D76-9A66-A53895D5711D}" type="presParOf" srcId="{32D1F69B-3DE9-442E-95EA-30837A155BFF}" destId="{458382F1-1895-4520-8904-F5D0650FF7F8}" srcOrd="1" destOrd="0" presId="urn:microsoft.com/office/officeart/2018/2/layout/IconVerticalSolidList"/>
    <dgm:cxn modelId="{ADF131A7-5935-42C4-BA28-412C7ECF9F08}" type="presParOf" srcId="{32D1F69B-3DE9-442E-95EA-30837A155BFF}" destId="{FC2855CB-8779-4C91-9002-36294FCF0BE5}" srcOrd="2" destOrd="0" presId="urn:microsoft.com/office/officeart/2018/2/layout/IconVerticalSolidList"/>
    <dgm:cxn modelId="{E8727B27-BFA3-4BD8-9422-7566F2EE624F}" type="presParOf" srcId="{32D1F69B-3DE9-442E-95EA-30837A155BFF}" destId="{3E640AF5-53D6-4601-8699-B82B4E82204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0804DD-6C78-4308-85A9-2D01B845B8B2}">
      <dsp:nvSpPr>
        <dsp:cNvPr id="0" name=""/>
        <dsp:cNvSpPr/>
      </dsp:nvSpPr>
      <dsp:spPr>
        <a:xfrm>
          <a:off x="1068514" y="2962"/>
          <a:ext cx="3825690" cy="2295414"/>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1930" tIns="201930" rIns="201930" bIns="201930" numCol="1" spcCol="1270" anchor="ctr" anchorCtr="0">
          <a:noAutofit/>
        </a:bodyPr>
        <a:lstStyle/>
        <a:p>
          <a:pPr marL="0" lvl="0" indent="0" algn="ctr" defTabSz="2355850">
            <a:lnSpc>
              <a:spcPct val="90000"/>
            </a:lnSpc>
            <a:spcBef>
              <a:spcPct val="0"/>
            </a:spcBef>
            <a:spcAft>
              <a:spcPct val="35000"/>
            </a:spcAft>
            <a:buNone/>
          </a:pPr>
          <a:r>
            <a:rPr lang="en-US" sz="5300" kern="1200" dirty="0"/>
            <a:t>Control Flow Testing</a:t>
          </a:r>
        </a:p>
      </dsp:txBody>
      <dsp:txXfrm>
        <a:off x="1068514" y="2962"/>
        <a:ext cx="3825690" cy="2295414"/>
      </dsp:txXfrm>
    </dsp:sp>
    <dsp:sp modelId="{09E29C4A-77AF-4993-B256-68D7C977F11F}">
      <dsp:nvSpPr>
        <dsp:cNvPr id="0" name=""/>
        <dsp:cNvSpPr/>
      </dsp:nvSpPr>
      <dsp:spPr>
        <a:xfrm>
          <a:off x="1068514" y="2680945"/>
          <a:ext cx="3825690" cy="2295414"/>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1930" tIns="201930" rIns="201930" bIns="201930" numCol="1" spcCol="1270" anchor="ctr" anchorCtr="0">
          <a:noAutofit/>
        </a:bodyPr>
        <a:lstStyle/>
        <a:p>
          <a:pPr marL="0" lvl="0" indent="0" algn="ctr" defTabSz="2355850">
            <a:lnSpc>
              <a:spcPct val="90000"/>
            </a:lnSpc>
            <a:spcBef>
              <a:spcPct val="0"/>
            </a:spcBef>
            <a:spcAft>
              <a:spcPct val="35000"/>
            </a:spcAft>
            <a:buNone/>
          </a:pPr>
          <a:r>
            <a:rPr lang="en-US" sz="5300" kern="1200"/>
            <a:t>Data Flow Testing</a:t>
          </a:r>
        </a:p>
      </dsp:txBody>
      <dsp:txXfrm>
        <a:off x="1068514" y="2680945"/>
        <a:ext cx="3825690" cy="229541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5FA755-5D47-4C3A-9334-2731B97521A2}">
      <dsp:nvSpPr>
        <dsp:cNvPr id="0" name=""/>
        <dsp:cNvSpPr/>
      </dsp:nvSpPr>
      <dsp:spPr>
        <a:xfrm>
          <a:off x="0" y="406044"/>
          <a:ext cx="10515600" cy="1515149"/>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16127" tIns="541528" rIns="816127" bIns="184912" numCol="1" spcCol="1270" anchor="t" anchorCtr="0">
          <a:noAutofit/>
        </a:bodyPr>
        <a:lstStyle/>
        <a:p>
          <a:pPr marL="228600" lvl="1" indent="-228600" algn="l" defTabSz="1155700">
            <a:lnSpc>
              <a:spcPct val="90000"/>
            </a:lnSpc>
            <a:spcBef>
              <a:spcPct val="0"/>
            </a:spcBef>
            <a:spcAft>
              <a:spcPct val="15000"/>
            </a:spcAft>
            <a:buChar char="•"/>
          </a:pPr>
          <a:r>
            <a:rPr lang="en-US" sz="2600" kern="1200"/>
            <a:t>Assignment statements (Ex. x = 2*y; )</a:t>
          </a:r>
        </a:p>
        <a:p>
          <a:pPr marL="228600" lvl="1" indent="-228600" algn="l" defTabSz="1155700">
            <a:lnSpc>
              <a:spcPct val="90000"/>
            </a:lnSpc>
            <a:spcBef>
              <a:spcPct val="0"/>
            </a:spcBef>
            <a:spcAft>
              <a:spcPct val="15000"/>
            </a:spcAft>
            <a:buChar char="•"/>
          </a:pPr>
          <a:r>
            <a:rPr lang="en-US" sz="2600" kern="1200" dirty="0"/>
            <a:t>Conditional statements (Ex. if(), for(), while(), …)</a:t>
          </a:r>
        </a:p>
      </dsp:txBody>
      <dsp:txXfrm>
        <a:off x="0" y="406044"/>
        <a:ext cx="10515600" cy="1515149"/>
      </dsp:txXfrm>
    </dsp:sp>
    <dsp:sp modelId="{CD8578AE-DC31-4D09-8CAC-39C344731C5B}">
      <dsp:nvSpPr>
        <dsp:cNvPr id="0" name=""/>
        <dsp:cNvSpPr/>
      </dsp:nvSpPr>
      <dsp:spPr>
        <a:xfrm>
          <a:off x="525780" y="22284"/>
          <a:ext cx="7360920" cy="76752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1155700">
            <a:lnSpc>
              <a:spcPct val="90000"/>
            </a:lnSpc>
            <a:spcBef>
              <a:spcPct val="0"/>
            </a:spcBef>
            <a:spcAft>
              <a:spcPct val="35000"/>
            </a:spcAft>
            <a:buNone/>
          </a:pPr>
          <a:r>
            <a:rPr lang="en-US" sz="2600" kern="1200"/>
            <a:t>Two kinds of basic program statements:</a:t>
          </a:r>
        </a:p>
      </dsp:txBody>
      <dsp:txXfrm>
        <a:off x="563247" y="59751"/>
        <a:ext cx="7285986" cy="692586"/>
      </dsp:txXfrm>
    </dsp:sp>
    <dsp:sp modelId="{9A0B33BC-5FA2-41F0-A13C-D05614E2F613}">
      <dsp:nvSpPr>
        <dsp:cNvPr id="0" name=""/>
        <dsp:cNvSpPr/>
      </dsp:nvSpPr>
      <dsp:spPr>
        <a:xfrm>
          <a:off x="0" y="2445354"/>
          <a:ext cx="10515600" cy="1883699"/>
        </a:xfrm>
        <a:prstGeom prst="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16127" tIns="541528" rIns="816127" bIns="184912" numCol="1" spcCol="1270" anchor="t" anchorCtr="0">
          <a:noAutofit/>
        </a:bodyPr>
        <a:lstStyle/>
        <a:p>
          <a:pPr marL="228600" lvl="1" indent="-228600" algn="l" defTabSz="1155700">
            <a:lnSpc>
              <a:spcPct val="90000"/>
            </a:lnSpc>
            <a:spcBef>
              <a:spcPct val="0"/>
            </a:spcBef>
            <a:spcAft>
              <a:spcPct val="15000"/>
            </a:spcAft>
            <a:buChar char="•"/>
          </a:pPr>
          <a:r>
            <a:rPr lang="en-US" sz="2600" kern="1200"/>
            <a:t>Successive execution of program statements is viewed as flow of control.</a:t>
          </a:r>
        </a:p>
        <a:p>
          <a:pPr marL="228600" lvl="1" indent="-228600" algn="l" defTabSz="1155700">
            <a:lnSpc>
              <a:spcPct val="90000"/>
            </a:lnSpc>
            <a:spcBef>
              <a:spcPct val="0"/>
            </a:spcBef>
            <a:spcAft>
              <a:spcPct val="15000"/>
            </a:spcAft>
            <a:buChar char="•"/>
          </a:pPr>
          <a:r>
            <a:rPr lang="en-US" sz="2600" kern="1200"/>
            <a:t>Conditional statements alter the default flow.</a:t>
          </a:r>
        </a:p>
      </dsp:txBody>
      <dsp:txXfrm>
        <a:off x="0" y="2445354"/>
        <a:ext cx="10515600" cy="1883699"/>
      </dsp:txXfrm>
    </dsp:sp>
    <dsp:sp modelId="{2C0D3A8C-73C0-4003-BAD1-35708C53540A}">
      <dsp:nvSpPr>
        <dsp:cNvPr id="0" name=""/>
        <dsp:cNvSpPr/>
      </dsp:nvSpPr>
      <dsp:spPr>
        <a:xfrm>
          <a:off x="525780" y="2061594"/>
          <a:ext cx="7360920" cy="76752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1155700">
            <a:lnSpc>
              <a:spcPct val="90000"/>
            </a:lnSpc>
            <a:spcBef>
              <a:spcPct val="0"/>
            </a:spcBef>
            <a:spcAft>
              <a:spcPct val="35000"/>
            </a:spcAft>
            <a:buNone/>
          </a:pPr>
          <a:r>
            <a:rPr lang="en-US" sz="2600" kern="1200"/>
            <a:t>Control flow</a:t>
          </a:r>
        </a:p>
      </dsp:txBody>
      <dsp:txXfrm>
        <a:off x="563247" y="2099061"/>
        <a:ext cx="7285986" cy="69258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B8184B-F565-4AEB-922D-FAB2AA53A92B}">
      <dsp:nvSpPr>
        <dsp:cNvPr id="0" name=""/>
        <dsp:cNvSpPr/>
      </dsp:nvSpPr>
      <dsp:spPr>
        <a:xfrm>
          <a:off x="-150399" y="0"/>
          <a:ext cx="6859713" cy="1382532"/>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AB2FE03-C64C-4410-85F5-58B1E2CDD2E9}">
      <dsp:nvSpPr>
        <dsp:cNvPr id="0" name=""/>
        <dsp:cNvSpPr/>
      </dsp:nvSpPr>
      <dsp:spPr>
        <a:xfrm>
          <a:off x="267816" y="319519"/>
          <a:ext cx="760392" cy="76039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6020845-D7F8-43EA-97F5-93B8DBA772DC}">
      <dsp:nvSpPr>
        <dsp:cNvPr id="0" name=""/>
        <dsp:cNvSpPr/>
      </dsp:nvSpPr>
      <dsp:spPr>
        <a:xfrm>
          <a:off x="999737" y="8449"/>
          <a:ext cx="6010374" cy="16429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3880" tIns="173880" rIns="173880" bIns="173880" numCol="1" spcCol="1270" anchor="ctr" anchorCtr="0">
          <a:noAutofit/>
        </a:bodyPr>
        <a:lstStyle/>
        <a:p>
          <a:pPr marL="0" lvl="0" indent="0" algn="l" defTabSz="889000">
            <a:lnSpc>
              <a:spcPct val="90000"/>
            </a:lnSpc>
            <a:spcBef>
              <a:spcPct val="0"/>
            </a:spcBef>
            <a:spcAft>
              <a:spcPct val="35000"/>
            </a:spcAft>
            <a:buNone/>
          </a:pPr>
          <a:r>
            <a:rPr lang="en-CA" sz="2000" kern="1200" dirty="0">
              <a:solidFill>
                <a:schemeClr val="tx1"/>
              </a:solidFill>
            </a:rPr>
            <a:t>The aviation standard </a:t>
          </a:r>
          <a:r>
            <a:rPr lang="en-CA" sz="2000" b="1" kern="1200" dirty="0">
              <a:solidFill>
                <a:schemeClr val="tx1"/>
              </a:solidFill>
            </a:rPr>
            <a:t>DO-178B </a:t>
          </a:r>
          <a:r>
            <a:rPr lang="en-CA" sz="2000" kern="1200" dirty="0">
              <a:solidFill>
                <a:schemeClr val="tx1"/>
              </a:solidFill>
            </a:rPr>
            <a:t>requires 100% code coverage for safety critical system</a:t>
          </a:r>
          <a:endParaRPr lang="en-US" sz="2000" kern="1200" dirty="0">
            <a:solidFill>
              <a:schemeClr val="tx1"/>
            </a:solidFill>
          </a:endParaRPr>
        </a:p>
      </dsp:txBody>
      <dsp:txXfrm>
        <a:off x="999737" y="8449"/>
        <a:ext cx="6010374" cy="1642964"/>
      </dsp:txXfrm>
    </dsp:sp>
    <dsp:sp modelId="{D825AFC5-1CE3-4ECF-B9B8-1A3417EC7D7B}">
      <dsp:nvSpPr>
        <dsp:cNvPr id="0" name=""/>
        <dsp:cNvSpPr/>
      </dsp:nvSpPr>
      <dsp:spPr>
        <a:xfrm>
          <a:off x="-150399" y="2006649"/>
          <a:ext cx="6859713" cy="1382532"/>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EE1B421-AD83-4CF4-8F1B-B298BE0A2B51}">
      <dsp:nvSpPr>
        <dsp:cNvPr id="0" name=""/>
        <dsp:cNvSpPr/>
      </dsp:nvSpPr>
      <dsp:spPr>
        <a:xfrm>
          <a:off x="267816" y="2317719"/>
          <a:ext cx="760392" cy="76039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1E76E88-24AD-4CBE-8F36-F9800FBFFF38}">
      <dsp:nvSpPr>
        <dsp:cNvPr id="0" name=""/>
        <dsp:cNvSpPr/>
      </dsp:nvSpPr>
      <dsp:spPr>
        <a:xfrm>
          <a:off x="1164913" y="1883361"/>
          <a:ext cx="5248453" cy="16429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3880" tIns="173880" rIns="173880" bIns="173880" numCol="1" spcCol="1270" anchor="ctr" anchorCtr="0">
          <a:noAutofit/>
        </a:bodyPr>
        <a:lstStyle/>
        <a:p>
          <a:pPr marL="0" lvl="0" indent="0" algn="l" defTabSz="800100">
            <a:lnSpc>
              <a:spcPct val="90000"/>
            </a:lnSpc>
            <a:spcBef>
              <a:spcPct val="0"/>
            </a:spcBef>
            <a:spcAft>
              <a:spcPct val="35000"/>
            </a:spcAft>
            <a:buNone/>
          </a:pPr>
          <a:r>
            <a:rPr lang="en-CA" sz="1800" kern="1200" dirty="0">
              <a:solidFill>
                <a:schemeClr val="tx1"/>
              </a:solidFill>
            </a:rPr>
            <a:t>The standard </a:t>
          </a:r>
          <a:r>
            <a:rPr lang="en-CA" sz="1800" b="1" kern="1200" dirty="0">
              <a:solidFill>
                <a:schemeClr val="tx1"/>
              </a:solidFill>
            </a:rPr>
            <a:t>IEC 61508:2010 </a:t>
          </a:r>
          <a:r>
            <a:rPr lang="en-CA" sz="1800" kern="1200" dirty="0">
              <a:solidFill>
                <a:schemeClr val="tx1"/>
              </a:solidFill>
            </a:rPr>
            <a:t>"Functional Safety of Electrical/Electronic/Programmable Electronic Safety-Related Systems" recommends 100% code coverage of several metrics, but the strenuousness of the recommendation relates to the criticality.</a:t>
          </a:r>
          <a:endParaRPr lang="en-US" sz="1800" kern="1200" dirty="0">
            <a:solidFill>
              <a:schemeClr val="tx1"/>
            </a:solidFill>
          </a:endParaRPr>
        </a:p>
      </dsp:txBody>
      <dsp:txXfrm>
        <a:off x="1164913" y="1883361"/>
        <a:ext cx="5248453" cy="1642964"/>
      </dsp:txXfrm>
    </dsp:sp>
    <dsp:sp modelId="{86C3C4E6-A87C-4580-BEE8-722F03A1F5D9}">
      <dsp:nvSpPr>
        <dsp:cNvPr id="0" name=""/>
        <dsp:cNvSpPr/>
      </dsp:nvSpPr>
      <dsp:spPr>
        <a:xfrm>
          <a:off x="-150399" y="4004849"/>
          <a:ext cx="6859713" cy="1382532"/>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58382F1-1895-4520-8904-F5D0650FF7F8}">
      <dsp:nvSpPr>
        <dsp:cNvPr id="0" name=""/>
        <dsp:cNvSpPr/>
      </dsp:nvSpPr>
      <dsp:spPr>
        <a:xfrm>
          <a:off x="267816" y="4315918"/>
          <a:ext cx="760392" cy="76039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E640AF5-53D6-4601-8699-B82B4E822044}">
      <dsp:nvSpPr>
        <dsp:cNvPr id="0" name=""/>
        <dsp:cNvSpPr/>
      </dsp:nvSpPr>
      <dsp:spPr>
        <a:xfrm>
          <a:off x="1227239" y="3895969"/>
          <a:ext cx="5411481" cy="16429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3880" tIns="173880" rIns="173880" bIns="173880" numCol="1" spcCol="1270" anchor="ctr" anchorCtr="0">
          <a:noAutofit/>
        </a:bodyPr>
        <a:lstStyle/>
        <a:p>
          <a:pPr marL="0" lvl="0" indent="0" algn="l" defTabSz="755650">
            <a:lnSpc>
              <a:spcPct val="90000"/>
            </a:lnSpc>
            <a:spcBef>
              <a:spcPct val="0"/>
            </a:spcBef>
            <a:spcAft>
              <a:spcPct val="35000"/>
            </a:spcAft>
            <a:buNone/>
          </a:pPr>
          <a:r>
            <a:rPr lang="en-CA" sz="1700" kern="1200" dirty="0">
              <a:solidFill>
                <a:schemeClr val="tx1"/>
              </a:solidFill>
            </a:rPr>
            <a:t>The </a:t>
          </a:r>
          <a:r>
            <a:rPr lang="en-CA" sz="1700" b="1" kern="1200" dirty="0">
              <a:solidFill>
                <a:schemeClr val="tx1"/>
              </a:solidFill>
            </a:rPr>
            <a:t>IEEE Standard for Software Unit Testing</a:t>
          </a:r>
          <a:r>
            <a:rPr lang="en-CA" sz="1700" kern="1200" dirty="0">
              <a:solidFill>
                <a:schemeClr val="tx1"/>
              </a:solidFill>
            </a:rPr>
            <a:t> section 3.1.2 specifies 100% statement coverage as a completeness requirement. Section A9 recommends 100% branch coverage for code that is critical or has inadequate requirements specification.</a:t>
          </a:r>
          <a:endParaRPr lang="en-US" sz="1700" kern="1200" dirty="0">
            <a:solidFill>
              <a:schemeClr val="tx1"/>
            </a:solidFill>
          </a:endParaRPr>
        </a:p>
      </dsp:txBody>
      <dsp:txXfrm>
        <a:off x="1227239" y="3895969"/>
        <a:ext cx="5411481" cy="1642964"/>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173274-F095-41D1-8F5F-EED4C92D3E0B}" type="datetimeFigureOut">
              <a:rPr lang="en-US" smtClean="0"/>
              <a:t>10/23/25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3DA8D4-41AF-493D-960F-A813B3AC6A59}" type="slidenum">
              <a:rPr lang="en-US" smtClean="0"/>
              <a:t>‹#›</a:t>
            </a:fld>
            <a:endParaRPr lang="en-US"/>
          </a:p>
        </p:txBody>
      </p:sp>
    </p:spTree>
    <p:extLst>
      <p:ext uri="{BB962C8B-B14F-4D97-AF65-F5344CB8AC3E}">
        <p14:creationId xmlns:p14="http://schemas.microsoft.com/office/powerpoint/2010/main" val="658966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B3DA8D4-41AF-493D-960F-A813B3AC6A5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2221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pPr marL="0" marR="0" lvl="0" indent="0" algn="l" defTabSz="933450" rtl="0" eaLnBrk="0" fontAlgn="base" latinLnBrk="0" hangingPunct="0">
              <a:lnSpc>
                <a:spcPct val="100000"/>
              </a:lnSpc>
              <a:spcBef>
                <a:spcPct val="0"/>
              </a:spcBef>
              <a:spcAft>
                <a:spcPct val="0"/>
              </a:spcAft>
              <a:buClrTx/>
              <a:buSzTx/>
              <a:buFontTx/>
              <a:buNone/>
              <a:tabLst/>
              <a:defRPr/>
            </a:pPr>
            <a:r>
              <a:rPr kumimoji="0" lang="en-US" sz="1100" b="0" i="1" u="none" strike="noStrike" kern="1200" cap="none" spc="0" normalizeH="0" baseline="0" noProof="0">
                <a:ln>
                  <a:noFill/>
                </a:ln>
                <a:solidFill>
                  <a:srgbClr val="000000"/>
                </a:solidFill>
                <a:effectLst/>
                <a:uLnTx/>
                <a:uFillTx/>
                <a:latin typeface="Times New Roman" pitchFamily="18" charset="0"/>
                <a:ea typeface="+mn-ea"/>
                <a:cs typeface="+mn-cs"/>
              </a:rPr>
              <a:t>Handouts</a:t>
            </a:r>
          </a:p>
        </p:txBody>
      </p:sp>
      <p:sp>
        <p:nvSpPr>
          <p:cNvPr id="5" name="Rectangle 5"/>
          <p:cNvSpPr>
            <a:spLocks noGrp="1" noChangeArrowheads="1"/>
          </p:cNvSpPr>
          <p:nvPr>
            <p:ph type="sldNum" sz="quarter" idx="5"/>
          </p:nvPr>
        </p:nvSpPr>
        <p:spPr>
          <a:ln/>
        </p:spPr>
        <p:txBody>
          <a:bodyPr/>
          <a:lstStyle/>
          <a:p>
            <a:pPr marL="0" marR="0" lvl="0" indent="0" algn="r" defTabSz="933450" rtl="0" eaLnBrk="0" fontAlgn="base" latinLnBrk="0" hangingPunct="0">
              <a:lnSpc>
                <a:spcPct val="100000"/>
              </a:lnSpc>
              <a:spcBef>
                <a:spcPct val="0"/>
              </a:spcBef>
              <a:spcAft>
                <a:spcPct val="0"/>
              </a:spcAft>
              <a:buClrTx/>
              <a:buSzTx/>
              <a:buFontTx/>
              <a:buNone/>
              <a:tabLst/>
              <a:defRPr/>
            </a:pPr>
            <a:fld id="{0E1A4AF1-4433-4760-930A-C48084E227EA}" type="slidenum">
              <a:rPr kumimoji="0" lang="en-US" sz="1100" b="0" i="1" u="none" strike="noStrike" kern="1200" cap="none" spc="0" normalizeH="0" baseline="0" noProof="0">
                <a:ln>
                  <a:noFill/>
                </a:ln>
                <a:solidFill>
                  <a:srgbClr val="000000"/>
                </a:solidFill>
                <a:effectLst/>
                <a:uLnTx/>
                <a:uFillTx/>
                <a:latin typeface="Times New Roman" pitchFamily="18" charset="0"/>
                <a:ea typeface="+mn-ea"/>
                <a:cs typeface="+mn-cs"/>
              </a:rPr>
              <a:pPr marL="0" marR="0" lvl="0" indent="0" algn="r" defTabSz="933450" rtl="0" eaLnBrk="0" fontAlgn="base" latinLnBrk="0" hangingPunct="0">
                <a:lnSpc>
                  <a:spcPct val="100000"/>
                </a:lnSpc>
                <a:spcBef>
                  <a:spcPct val="0"/>
                </a:spcBef>
                <a:spcAft>
                  <a:spcPct val="0"/>
                </a:spcAft>
                <a:buClrTx/>
                <a:buSzTx/>
                <a:buFontTx/>
                <a:buNone/>
                <a:tabLst/>
                <a:defRPr/>
              </a:pPr>
              <a:t>7</a:t>
            </a:fld>
            <a:endParaRPr kumimoji="0" lang="en-US" sz="1100" b="0" i="1"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349186" name="Rectangle 2"/>
          <p:cNvSpPr>
            <a:spLocks noGrp="1" noRot="1" noChangeAspect="1" noChangeArrowheads="1" noTextEdit="1"/>
          </p:cNvSpPr>
          <p:nvPr>
            <p:ph type="sldImg"/>
          </p:nvPr>
        </p:nvSpPr>
        <p:spPr>
          <a:ln/>
        </p:spPr>
      </p:sp>
      <p:sp>
        <p:nvSpPr>
          <p:cNvPr id="34918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90831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13685"/>
            <a:r>
              <a:rPr lang="en-US" altLang="en-US">
                <a:latin typeface="Arial" pitchFamily="34" charset="0"/>
              </a:rPr>
              <a:t>Incidence matrix</a:t>
            </a:r>
          </a:p>
          <a:p>
            <a:pPr defTabSz="913685"/>
            <a:endParaRPr lang="en-US" altLang="en-US">
              <a:latin typeface="Arial" pitchFamily="34" charset="0"/>
            </a:endParaRPr>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4956" indent="-286522" eaLnBrk="0" hangingPunct="0">
              <a:defRPr>
                <a:solidFill>
                  <a:schemeClr val="tx1"/>
                </a:solidFill>
                <a:latin typeface="Arial" pitchFamily="34" charset="0"/>
              </a:defRPr>
            </a:lvl2pPr>
            <a:lvl3pPr marL="1146086" indent="-229217" eaLnBrk="0" hangingPunct="0">
              <a:defRPr>
                <a:solidFill>
                  <a:schemeClr val="tx1"/>
                </a:solidFill>
                <a:latin typeface="Arial" pitchFamily="34" charset="0"/>
              </a:defRPr>
            </a:lvl3pPr>
            <a:lvl4pPr marL="1604521" indent="-229217" eaLnBrk="0" hangingPunct="0">
              <a:defRPr>
                <a:solidFill>
                  <a:schemeClr val="tx1"/>
                </a:solidFill>
                <a:latin typeface="Arial" pitchFamily="34" charset="0"/>
              </a:defRPr>
            </a:lvl4pPr>
            <a:lvl5pPr marL="2062955" indent="-229217" eaLnBrk="0" hangingPunct="0">
              <a:defRPr>
                <a:solidFill>
                  <a:schemeClr val="tx1"/>
                </a:solidFill>
                <a:latin typeface="Arial" pitchFamily="34" charset="0"/>
              </a:defRPr>
            </a:lvl5pPr>
            <a:lvl6pPr marL="2521389" indent="-229217" eaLnBrk="0" fontAlgn="base" hangingPunct="0">
              <a:spcBef>
                <a:spcPct val="0"/>
              </a:spcBef>
              <a:spcAft>
                <a:spcPct val="0"/>
              </a:spcAft>
              <a:defRPr>
                <a:solidFill>
                  <a:schemeClr val="tx1"/>
                </a:solidFill>
                <a:latin typeface="Arial" pitchFamily="34" charset="0"/>
              </a:defRPr>
            </a:lvl6pPr>
            <a:lvl7pPr marL="2979824" indent="-229217" eaLnBrk="0" fontAlgn="base" hangingPunct="0">
              <a:spcBef>
                <a:spcPct val="0"/>
              </a:spcBef>
              <a:spcAft>
                <a:spcPct val="0"/>
              </a:spcAft>
              <a:defRPr>
                <a:solidFill>
                  <a:schemeClr val="tx1"/>
                </a:solidFill>
                <a:latin typeface="Arial" pitchFamily="34" charset="0"/>
              </a:defRPr>
            </a:lvl7pPr>
            <a:lvl8pPr marL="3438258" indent="-229217" eaLnBrk="0" fontAlgn="base" hangingPunct="0">
              <a:spcBef>
                <a:spcPct val="0"/>
              </a:spcBef>
              <a:spcAft>
                <a:spcPct val="0"/>
              </a:spcAft>
              <a:defRPr>
                <a:solidFill>
                  <a:schemeClr val="tx1"/>
                </a:solidFill>
                <a:latin typeface="Arial" pitchFamily="34" charset="0"/>
              </a:defRPr>
            </a:lvl8pPr>
            <a:lvl9pPr marL="3896693" indent="-229217" eaLnBrk="0" fontAlgn="base" hangingPunct="0">
              <a:spcBef>
                <a:spcPct val="0"/>
              </a:spcBef>
              <a:spcAft>
                <a:spcPct val="0"/>
              </a:spcAft>
              <a:defRPr>
                <a:solidFill>
                  <a:schemeClr val="tx1"/>
                </a:solidFill>
                <a:latin typeface="Arial" pitchFamily="34" charset="0"/>
              </a:defRPr>
            </a:lvl9pPr>
          </a:lstStyle>
          <a:p>
            <a:pPr marL="0" marR="0" lvl="0" indent="0" algn="r" defTabSz="933450" rtl="0" eaLnBrk="1" fontAlgn="base" latinLnBrk="0" hangingPunct="1">
              <a:lnSpc>
                <a:spcPct val="100000"/>
              </a:lnSpc>
              <a:spcBef>
                <a:spcPct val="0"/>
              </a:spcBef>
              <a:spcAft>
                <a:spcPct val="0"/>
              </a:spcAft>
              <a:buClrTx/>
              <a:buSzTx/>
              <a:buFontTx/>
              <a:buNone/>
              <a:tabLst/>
              <a:defRPr/>
            </a:pPr>
            <a:fld id="{E8A11F98-D1F1-4D0D-BECC-48BFD1E110D1}" type="slidenum">
              <a:rPr kumimoji="0" lang="en-US" altLang="en-US" sz="1100" b="0" i="1" u="none" strike="noStrike" kern="1200" cap="none" spc="0" normalizeH="0" baseline="0" noProof="0" smtClean="0">
                <a:ln>
                  <a:noFill/>
                </a:ln>
                <a:solidFill>
                  <a:srgbClr val="000000"/>
                </a:solidFill>
                <a:effectLst/>
                <a:uLnTx/>
                <a:uFillTx/>
                <a:latin typeface="Arial" pitchFamily="34" charset="0"/>
                <a:ea typeface="+mn-ea"/>
                <a:cs typeface="+mn-cs"/>
              </a:rPr>
              <a:pPr marL="0" marR="0" lvl="0" indent="0" algn="r" defTabSz="933450" rtl="0" eaLnBrk="1" fontAlgn="base" latinLnBrk="0" hangingPunct="1">
                <a:lnSpc>
                  <a:spcPct val="100000"/>
                </a:lnSpc>
                <a:spcBef>
                  <a:spcPct val="0"/>
                </a:spcBef>
                <a:spcAft>
                  <a:spcPct val="0"/>
                </a:spcAft>
                <a:buClrTx/>
                <a:buSzTx/>
                <a:buFontTx/>
                <a:buNone/>
                <a:tabLst/>
                <a:defRPr/>
              </a:pPr>
              <a:t>9</a:t>
            </a:fld>
            <a:endParaRPr kumimoji="0" lang="en-US" altLang="en-US" sz="1100" b="0" i="1" u="none" strike="noStrike" kern="1200" cap="none" spc="0" normalizeH="0" baseline="0" noProof="0">
              <a:ln>
                <a:noFill/>
              </a:ln>
              <a:solidFill>
                <a:srgbClr val="000000"/>
              </a:solidFill>
              <a:effectLst/>
              <a:uLnTx/>
              <a:uFillTx/>
              <a:latin typeface="Arial" pitchFamily="34" charset="0"/>
              <a:ea typeface="+mn-ea"/>
              <a:cs typeface="+mn-cs"/>
            </a:endParaRPr>
          </a:p>
        </p:txBody>
      </p:sp>
    </p:spTree>
    <p:extLst>
      <p:ext uri="{BB962C8B-B14F-4D97-AF65-F5344CB8AC3E}">
        <p14:creationId xmlns:p14="http://schemas.microsoft.com/office/powerpoint/2010/main" val="41104466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itchFamily="34" charset="0"/>
            </a:endParaRPr>
          </a:p>
        </p:txBody>
      </p:sp>
      <p:sp>
        <p:nvSpPr>
          <p:cNvPr id="39940" name="Slide Number Placeholder 3"/>
          <p:cNvSpPr txBox="1">
            <a:spLocks noGrp="1"/>
          </p:cNvSpPr>
          <p:nvPr/>
        </p:nvSpPr>
        <p:spPr bwMode="auto">
          <a:xfrm>
            <a:off x="3978170" y="8841265"/>
            <a:ext cx="3041755" cy="464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9424" tIns="0" rIns="19424" bIns="0" anchor="b"/>
          <a:lstStyle>
            <a:lvl1pPr defTabSz="923925" eaLnBrk="0" hangingPunct="0">
              <a:defRPr>
                <a:solidFill>
                  <a:schemeClr val="tx1"/>
                </a:solidFill>
                <a:latin typeface="Arial" pitchFamily="34" charset="0"/>
              </a:defRPr>
            </a:lvl1pPr>
            <a:lvl2pPr marL="742950" indent="-285750" defTabSz="923925" eaLnBrk="0" hangingPunct="0">
              <a:defRPr>
                <a:solidFill>
                  <a:schemeClr val="tx1"/>
                </a:solidFill>
                <a:latin typeface="Arial" pitchFamily="34" charset="0"/>
              </a:defRPr>
            </a:lvl2pPr>
            <a:lvl3pPr marL="1143000" indent="-228600" defTabSz="923925" eaLnBrk="0" hangingPunct="0">
              <a:defRPr>
                <a:solidFill>
                  <a:schemeClr val="tx1"/>
                </a:solidFill>
                <a:latin typeface="Arial" pitchFamily="34" charset="0"/>
              </a:defRPr>
            </a:lvl3pPr>
            <a:lvl4pPr marL="1600200" indent="-228600" defTabSz="923925" eaLnBrk="0" hangingPunct="0">
              <a:defRPr>
                <a:solidFill>
                  <a:schemeClr val="tx1"/>
                </a:solidFill>
                <a:latin typeface="Arial" pitchFamily="34" charset="0"/>
              </a:defRPr>
            </a:lvl4pPr>
            <a:lvl5pPr marL="2057400" indent="-228600" defTabSz="923925" eaLnBrk="0" hangingPunct="0">
              <a:defRPr>
                <a:solidFill>
                  <a:schemeClr val="tx1"/>
                </a:solidFill>
                <a:latin typeface="Arial" pitchFamily="34" charset="0"/>
              </a:defRPr>
            </a:lvl5pPr>
            <a:lvl6pPr marL="2514600" indent="-228600" defTabSz="923925" eaLnBrk="0" fontAlgn="base" hangingPunct="0">
              <a:spcBef>
                <a:spcPct val="0"/>
              </a:spcBef>
              <a:spcAft>
                <a:spcPct val="0"/>
              </a:spcAft>
              <a:defRPr>
                <a:solidFill>
                  <a:schemeClr val="tx1"/>
                </a:solidFill>
                <a:latin typeface="Arial" pitchFamily="34" charset="0"/>
              </a:defRPr>
            </a:lvl6pPr>
            <a:lvl7pPr marL="2971800" indent="-228600" defTabSz="923925" eaLnBrk="0" fontAlgn="base" hangingPunct="0">
              <a:spcBef>
                <a:spcPct val="0"/>
              </a:spcBef>
              <a:spcAft>
                <a:spcPct val="0"/>
              </a:spcAft>
              <a:defRPr>
                <a:solidFill>
                  <a:schemeClr val="tx1"/>
                </a:solidFill>
                <a:latin typeface="Arial" pitchFamily="34" charset="0"/>
              </a:defRPr>
            </a:lvl7pPr>
            <a:lvl8pPr marL="3429000" indent="-228600" defTabSz="923925" eaLnBrk="0" fontAlgn="base" hangingPunct="0">
              <a:spcBef>
                <a:spcPct val="0"/>
              </a:spcBef>
              <a:spcAft>
                <a:spcPct val="0"/>
              </a:spcAft>
              <a:defRPr>
                <a:solidFill>
                  <a:schemeClr val="tx1"/>
                </a:solidFill>
                <a:latin typeface="Arial" pitchFamily="34" charset="0"/>
              </a:defRPr>
            </a:lvl8pPr>
            <a:lvl9pPr marL="3886200" indent="-228600" defTabSz="923925" eaLnBrk="0" fontAlgn="base" hangingPunct="0">
              <a:spcBef>
                <a:spcPct val="0"/>
              </a:spcBef>
              <a:spcAft>
                <a:spcPct val="0"/>
              </a:spcAft>
              <a:defRPr>
                <a:solidFill>
                  <a:schemeClr val="tx1"/>
                </a:solidFill>
                <a:latin typeface="Arial" pitchFamily="34" charset="0"/>
              </a:defRPr>
            </a:lvl9pPr>
          </a:lstStyle>
          <a:p>
            <a:pPr marL="0" marR="0" lvl="0" indent="0" algn="r" defTabSz="923925" rtl="0" eaLnBrk="1" fontAlgn="auto" latinLnBrk="0" hangingPunct="1">
              <a:lnSpc>
                <a:spcPct val="100000"/>
              </a:lnSpc>
              <a:spcBef>
                <a:spcPts val="0"/>
              </a:spcBef>
              <a:spcAft>
                <a:spcPts val="0"/>
              </a:spcAft>
              <a:buClrTx/>
              <a:buSzTx/>
              <a:buFontTx/>
              <a:buNone/>
              <a:tabLst/>
              <a:defRPr/>
            </a:pPr>
            <a:fld id="{8E61974A-A467-4C89-B494-52DDE27A0857}" type="slidenum">
              <a:rPr kumimoji="0" lang="en-US" altLang="en-US" sz="1100" b="0" i="1" u="none" strike="noStrike" kern="1200" cap="none" spc="0" normalizeH="0" baseline="0" noProof="0">
                <a:ln>
                  <a:noFill/>
                </a:ln>
                <a:solidFill>
                  <a:prstClr val="black"/>
                </a:solidFill>
                <a:effectLst/>
                <a:uLnTx/>
                <a:uFillTx/>
                <a:latin typeface="Arial" pitchFamily="34" charset="0"/>
                <a:ea typeface="+mn-ea"/>
                <a:cs typeface="+mn-cs"/>
              </a:rPr>
              <a:pPr marL="0" marR="0" lvl="0" indent="0" algn="r" defTabSz="923925" rtl="0" eaLnBrk="1" fontAlgn="auto" latinLnBrk="0" hangingPunct="1">
                <a:lnSpc>
                  <a:spcPct val="100000"/>
                </a:lnSpc>
                <a:spcBef>
                  <a:spcPts val="0"/>
                </a:spcBef>
                <a:spcAft>
                  <a:spcPts val="0"/>
                </a:spcAft>
                <a:buClrTx/>
                <a:buSzTx/>
                <a:buFontTx/>
                <a:buNone/>
                <a:tabLst/>
                <a:defRPr/>
              </a:pPr>
              <a:t>13</a:t>
            </a:fld>
            <a:endParaRPr kumimoji="0" lang="en-US" altLang="en-US" sz="1100" b="0" i="1" u="none" strike="noStrike" kern="1200" cap="none" spc="0" normalizeH="0" baseline="0" noProof="0">
              <a:ln>
                <a:noFill/>
              </a:ln>
              <a:solidFill>
                <a:prstClr val="black"/>
              </a:solidFill>
              <a:effectLst/>
              <a:uLnTx/>
              <a:uFillTx/>
              <a:latin typeface="Arial" pitchFamily="34" charset="0"/>
              <a:ea typeface="+mn-ea"/>
              <a:cs typeface="+mn-cs"/>
            </a:endParaRPr>
          </a:p>
        </p:txBody>
      </p:sp>
    </p:spTree>
    <p:extLst>
      <p:ext uri="{BB962C8B-B14F-4D97-AF65-F5344CB8AC3E}">
        <p14:creationId xmlns:p14="http://schemas.microsoft.com/office/powerpoint/2010/main" val="3595001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603" eaLnBrk="0" hangingPunct="0">
              <a:defRPr>
                <a:solidFill>
                  <a:schemeClr val="tx1"/>
                </a:solidFill>
                <a:latin typeface="Arial" pitchFamily="34" charset="0"/>
              </a:defRPr>
            </a:lvl1pPr>
            <a:lvl2pPr marL="744956" indent="-286522" defTabSz="929603" eaLnBrk="0" hangingPunct="0">
              <a:defRPr>
                <a:solidFill>
                  <a:schemeClr val="tx1"/>
                </a:solidFill>
                <a:latin typeface="Arial" pitchFamily="34" charset="0"/>
              </a:defRPr>
            </a:lvl2pPr>
            <a:lvl3pPr marL="1146086" indent="-229217" defTabSz="929603" eaLnBrk="0" hangingPunct="0">
              <a:defRPr>
                <a:solidFill>
                  <a:schemeClr val="tx1"/>
                </a:solidFill>
                <a:latin typeface="Arial" pitchFamily="34" charset="0"/>
              </a:defRPr>
            </a:lvl3pPr>
            <a:lvl4pPr marL="1604521" indent="-229217" defTabSz="929603" eaLnBrk="0" hangingPunct="0">
              <a:defRPr>
                <a:solidFill>
                  <a:schemeClr val="tx1"/>
                </a:solidFill>
                <a:latin typeface="Arial" pitchFamily="34" charset="0"/>
              </a:defRPr>
            </a:lvl4pPr>
            <a:lvl5pPr marL="2062955" indent="-229217" defTabSz="929603" eaLnBrk="0" hangingPunct="0">
              <a:defRPr>
                <a:solidFill>
                  <a:schemeClr val="tx1"/>
                </a:solidFill>
                <a:latin typeface="Arial" pitchFamily="34" charset="0"/>
              </a:defRPr>
            </a:lvl5pPr>
            <a:lvl6pPr marL="2521389" indent="-229217" defTabSz="929603" eaLnBrk="0" fontAlgn="base" hangingPunct="0">
              <a:spcBef>
                <a:spcPct val="0"/>
              </a:spcBef>
              <a:spcAft>
                <a:spcPct val="0"/>
              </a:spcAft>
              <a:defRPr>
                <a:solidFill>
                  <a:schemeClr val="tx1"/>
                </a:solidFill>
                <a:latin typeface="Arial" pitchFamily="34" charset="0"/>
              </a:defRPr>
            </a:lvl6pPr>
            <a:lvl7pPr marL="2979824" indent="-229217" defTabSz="929603" eaLnBrk="0" fontAlgn="base" hangingPunct="0">
              <a:spcBef>
                <a:spcPct val="0"/>
              </a:spcBef>
              <a:spcAft>
                <a:spcPct val="0"/>
              </a:spcAft>
              <a:defRPr>
                <a:solidFill>
                  <a:schemeClr val="tx1"/>
                </a:solidFill>
                <a:latin typeface="Arial" pitchFamily="34" charset="0"/>
              </a:defRPr>
            </a:lvl7pPr>
            <a:lvl8pPr marL="3438258" indent="-229217" defTabSz="929603" eaLnBrk="0" fontAlgn="base" hangingPunct="0">
              <a:spcBef>
                <a:spcPct val="0"/>
              </a:spcBef>
              <a:spcAft>
                <a:spcPct val="0"/>
              </a:spcAft>
              <a:defRPr>
                <a:solidFill>
                  <a:schemeClr val="tx1"/>
                </a:solidFill>
                <a:latin typeface="Arial" pitchFamily="34" charset="0"/>
              </a:defRPr>
            </a:lvl8pPr>
            <a:lvl9pPr marL="3896693" indent="-229217" defTabSz="929603" eaLnBrk="0" fontAlgn="base" hangingPunct="0">
              <a:spcBef>
                <a:spcPct val="0"/>
              </a:spcBef>
              <a:spcAft>
                <a:spcPct val="0"/>
              </a:spcAft>
              <a:defRPr>
                <a:solidFill>
                  <a:schemeClr val="tx1"/>
                </a:solidFill>
                <a:latin typeface="Arial" pitchFamily="34" charset="0"/>
              </a:defRPr>
            </a:lvl9pPr>
          </a:lstStyle>
          <a:p>
            <a:pPr marL="0" marR="0" lvl="0" indent="0" algn="r" defTabSz="929603" rtl="0" eaLnBrk="1" fontAlgn="base" latinLnBrk="0" hangingPunct="1">
              <a:lnSpc>
                <a:spcPct val="100000"/>
              </a:lnSpc>
              <a:spcBef>
                <a:spcPct val="0"/>
              </a:spcBef>
              <a:spcAft>
                <a:spcPct val="0"/>
              </a:spcAft>
              <a:buClrTx/>
              <a:buSzTx/>
              <a:buFontTx/>
              <a:buNone/>
              <a:tabLst/>
              <a:defRPr/>
            </a:pPr>
            <a:fld id="{25CE7EDF-E34A-4BBE-8FCD-D010135BDCB0}" type="slidenum">
              <a:rPr kumimoji="0" lang="en-CA" altLang="zh-CN" sz="1100" b="0" i="1" u="none" strike="noStrike" kern="1200" cap="none" spc="0" normalizeH="0" baseline="0" noProof="0" smtClean="0">
                <a:ln>
                  <a:noFill/>
                </a:ln>
                <a:solidFill>
                  <a:srgbClr val="000000"/>
                </a:solidFill>
                <a:effectLst/>
                <a:uLnTx/>
                <a:uFillTx/>
                <a:latin typeface="Arial" pitchFamily="34" charset="0"/>
                <a:ea typeface="宋体" panose="02010600030101010101" pitchFamily="2" charset="-122"/>
                <a:cs typeface="+mn-cs"/>
              </a:rPr>
              <a:pPr marL="0" marR="0" lvl="0" indent="0" algn="r" defTabSz="929603" rtl="0" eaLnBrk="1" fontAlgn="base" latinLnBrk="0" hangingPunct="1">
                <a:lnSpc>
                  <a:spcPct val="100000"/>
                </a:lnSpc>
                <a:spcBef>
                  <a:spcPct val="0"/>
                </a:spcBef>
                <a:spcAft>
                  <a:spcPct val="0"/>
                </a:spcAft>
                <a:buClrTx/>
                <a:buSzTx/>
                <a:buFontTx/>
                <a:buNone/>
                <a:tabLst/>
                <a:defRPr/>
              </a:pPr>
              <a:t>14</a:t>
            </a:fld>
            <a:endParaRPr kumimoji="0" lang="en-CA" altLang="zh-CN" sz="1100" b="0" i="1" u="none" strike="noStrike" kern="1200" cap="none" spc="0" normalizeH="0" baseline="0" noProof="0">
              <a:ln>
                <a:noFill/>
              </a:ln>
              <a:solidFill>
                <a:srgbClr val="000000"/>
              </a:solidFill>
              <a:effectLst/>
              <a:uLnTx/>
              <a:uFillTx/>
              <a:latin typeface="Arial" pitchFamily="34" charset="0"/>
              <a:ea typeface="宋体" panose="02010600030101010101" pitchFamily="2" charset="-122"/>
              <a:cs typeface="+mn-cs"/>
            </a:endParaRPr>
          </a:p>
        </p:txBody>
      </p:sp>
      <p:sp>
        <p:nvSpPr>
          <p:cNvPr id="53251" name="Rectangle 2"/>
          <p:cNvSpPr>
            <a:spLocks noGrp="1" noChangeArrowheads="1"/>
          </p:cNvSpPr>
          <p:nvPr>
            <p:ph type="body" idx="1"/>
          </p:nvPr>
        </p:nvSpPr>
        <p:spPr>
          <a:xfrm>
            <a:off x="468208" y="3351279"/>
            <a:ext cx="6128101" cy="5334039"/>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279" tIns="45330" rIns="92279" bIns="45330"/>
          <a:lstStyle/>
          <a:p>
            <a:endParaRPr lang="de-DE" altLang="zh-CN">
              <a:latin typeface="Arial" pitchFamily="34" charset="0"/>
            </a:endParaRPr>
          </a:p>
        </p:txBody>
      </p:sp>
      <p:sp>
        <p:nvSpPr>
          <p:cNvPr id="53252" name="Rectangle 3"/>
          <p:cNvSpPr>
            <a:spLocks noGrp="1" noRot="1" noChangeAspect="1" noChangeArrowheads="1" noTextEdit="1"/>
          </p:cNvSpPr>
          <p:nvPr>
            <p:ph type="sldImg"/>
          </p:nvPr>
        </p:nvSpPr>
        <p:spPr>
          <a:xfrm>
            <a:off x="628650" y="31750"/>
            <a:ext cx="5648325" cy="3178175"/>
          </a:xfrm>
          <a:ln w="12700" cap="flat">
            <a:solidFill>
              <a:schemeClr val="tx1"/>
            </a:solidFill>
          </a:ln>
        </p:spPr>
      </p:sp>
    </p:spTree>
    <p:extLst>
      <p:ext uri="{BB962C8B-B14F-4D97-AF65-F5344CB8AC3E}">
        <p14:creationId xmlns:p14="http://schemas.microsoft.com/office/powerpoint/2010/main" val="19742321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603" eaLnBrk="0" hangingPunct="0">
              <a:defRPr>
                <a:solidFill>
                  <a:schemeClr val="tx1"/>
                </a:solidFill>
                <a:latin typeface="Arial" pitchFamily="34" charset="0"/>
              </a:defRPr>
            </a:lvl1pPr>
            <a:lvl2pPr marL="744956" indent="-286522" defTabSz="929603" eaLnBrk="0" hangingPunct="0">
              <a:defRPr>
                <a:solidFill>
                  <a:schemeClr val="tx1"/>
                </a:solidFill>
                <a:latin typeface="Arial" pitchFamily="34" charset="0"/>
              </a:defRPr>
            </a:lvl2pPr>
            <a:lvl3pPr marL="1146086" indent="-229217" defTabSz="929603" eaLnBrk="0" hangingPunct="0">
              <a:defRPr>
                <a:solidFill>
                  <a:schemeClr val="tx1"/>
                </a:solidFill>
                <a:latin typeface="Arial" pitchFamily="34" charset="0"/>
              </a:defRPr>
            </a:lvl3pPr>
            <a:lvl4pPr marL="1604521" indent="-229217" defTabSz="929603" eaLnBrk="0" hangingPunct="0">
              <a:defRPr>
                <a:solidFill>
                  <a:schemeClr val="tx1"/>
                </a:solidFill>
                <a:latin typeface="Arial" pitchFamily="34" charset="0"/>
              </a:defRPr>
            </a:lvl4pPr>
            <a:lvl5pPr marL="2062955" indent="-229217" defTabSz="929603" eaLnBrk="0" hangingPunct="0">
              <a:defRPr>
                <a:solidFill>
                  <a:schemeClr val="tx1"/>
                </a:solidFill>
                <a:latin typeface="Arial" pitchFamily="34" charset="0"/>
              </a:defRPr>
            </a:lvl5pPr>
            <a:lvl6pPr marL="2521389" indent="-229217" defTabSz="929603" eaLnBrk="0" fontAlgn="base" hangingPunct="0">
              <a:spcBef>
                <a:spcPct val="0"/>
              </a:spcBef>
              <a:spcAft>
                <a:spcPct val="0"/>
              </a:spcAft>
              <a:defRPr>
                <a:solidFill>
                  <a:schemeClr val="tx1"/>
                </a:solidFill>
                <a:latin typeface="Arial" pitchFamily="34" charset="0"/>
              </a:defRPr>
            </a:lvl6pPr>
            <a:lvl7pPr marL="2979824" indent="-229217" defTabSz="929603" eaLnBrk="0" fontAlgn="base" hangingPunct="0">
              <a:spcBef>
                <a:spcPct val="0"/>
              </a:spcBef>
              <a:spcAft>
                <a:spcPct val="0"/>
              </a:spcAft>
              <a:defRPr>
                <a:solidFill>
                  <a:schemeClr val="tx1"/>
                </a:solidFill>
                <a:latin typeface="Arial" pitchFamily="34" charset="0"/>
              </a:defRPr>
            </a:lvl7pPr>
            <a:lvl8pPr marL="3438258" indent="-229217" defTabSz="929603" eaLnBrk="0" fontAlgn="base" hangingPunct="0">
              <a:spcBef>
                <a:spcPct val="0"/>
              </a:spcBef>
              <a:spcAft>
                <a:spcPct val="0"/>
              </a:spcAft>
              <a:defRPr>
                <a:solidFill>
                  <a:schemeClr val="tx1"/>
                </a:solidFill>
                <a:latin typeface="Arial" pitchFamily="34" charset="0"/>
              </a:defRPr>
            </a:lvl8pPr>
            <a:lvl9pPr marL="3896693" indent="-229217" defTabSz="929603" eaLnBrk="0" fontAlgn="base" hangingPunct="0">
              <a:spcBef>
                <a:spcPct val="0"/>
              </a:spcBef>
              <a:spcAft>
                <a:spcPct val="0"/>
              </a:spcAft>
              <a:defRPr>
                <a:solidFill>
                  <a:schemeClr val="tx1"/>
                </a:solidFill>
                <a:latin typeface="Arial" pitchFamily="34" charset="0"/>
              </a:defRPr>
            </a:lvl9pPr>
          </a:lstStyle>
          <a:p>
            <a:pPr marL="0" marR="0" lvl="0" indent="0" algn="r" defTabSz="929603" rtl="0" eaLnBrk="1" fontAlgn="base" latinLnBrk="0" hangingPunct="1">
              <a:lnSpc>
                <a:spcPct val="100000"/>
              </a:lnSpc>
              <a:spcBef>
                <a:spcPct val="0"/>
              </a:spcBef>
              <a:spcAft>
                <a:spcPct val="0"/>
              </a:spcAft>
              <a:buClrTx/>
              <a:buSzTx/>
              <a:buFontTx/>
              <a:buNone/>
              <a:tabLst/>
              <a:defRPr/>
            </a:pPr>
            <a:fld id="{25CE7EDF-E34A-4BBE-8FCD-D010135BDCB0}" type="slidenum">
              <a:rPr kumimoji="0" lang="en-CA" altLang="zh-CN" sz="1100" b="0" i="1" u="none" strike="noStrike" kern="1200" cap="none" spc="0" normalizeH="0" baseline="0" noProof="0" smtClean="0">
                <a:ln>
                  <a:noFill/>
                </a:ln>
                <a:solidFill>
                  <a:srgbClr val="000000"/>
                </a:solidFill>
                <a:effectLst/>
                <a:uLnTx/>
                <a:uFillTx/>
                <a:latin typeface="Arial" pitchFamily="34" charset="0"/>
                <a:ea typeface="宋体" panose="02010600030101010101" pitchFamily="2" charset="-122"/>
                <a:cs typeface="+mn-cs"/>
              </a:rPr>
              <a:pPr marL="0" marR="0" lvl="0" indent="0" algn="r" defTabSz="929603" rtl="0" eaLnBrk="1" fontAlgn="base" latinLnBrk="0" hangingPunct="1">
                <a:lnSpc>
                  <a:spcPct val="100000"/>
                </a:lnSpc>
                <a:spcBef>
                  <a:spcPct val="0"/>
                </a:spcBef>
                <a:spcAft>
                  <a:spcPct val="0"/>
                </a:spcAft>
                <a:buClrTx/>
                <a:buSzTx/>
                <a:buFontTx/>
                <a:buNone/>
                <a:tabLst/>
                <a:defRPr/>
              </a:pPr>
              <a:t>16</a:t>
            </a:fld>
            <a:endParaRPr kumimoji="0" lang="en-CA" altLang="zh-CN" sz="1100" b="0" i="1" u="none" strike="noStrike" kern="1200" cap="none" spc="0" normalizeH="0" baseline="0" noProof="0">
              <a:ln>
                <a:noFill/>
              </a:ln>
              <a:solidFill>
                <a:srgbClr val="000000"/>
              </a:solidFill>
              <a:effectLst/>
              <a:uLnTx/>
              <a:uFillTx/>
              <a:latin typeface="Arial" pitchFamily="34" charset="0"/>
              <a:ea typeface="宋体" panose="02010600030101010101" pitchFamily="2" charset="-122"/>
              <a:cs typeface="+mn-cs"/>
            </a:endParaRPr>
          </a:p>
        </p:txBody>
      </p:sp>
      <p:sp>
        <p:nvSpPr>
          <p:cNvPr id="53251" name="Rectangle 2"/>
          <p:cNvSpPr>
            <a:spLocks noGrp="1" noChangeArrowheads="1"/>
          </p:cNvSpPr>
          <p:nvPr>
            <p:ph type="body" idx="1"/>
          </p:nvPr>
        </p:nvSpPr>
        <p:spPr>
          <a:xfrm>
            <a:off x="468208" y="3351279"/>
            <a:ext cx="6128101" cy="5334039"/>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279" tIns="45330" rIns="92279" bIns="45330"/>
          <a:lstStyle/>
          <a:p>
            <a:endParaRPr lang="de-DE" altLang="zh-CN">
              <a:latin typeface="Arial" pitchFamily="34" charset="0"/>
            </a:endParaRPr>
          </a:p>
        </p:txBody>
      </p:sp>
      <p:sp>
        <p:nvSpPr>
          <p:cNvPr id="53252" name="Rectangle 3"/>
          <p:cNvSpPr>
            <a:spLocks noGrp="1" noRot="1" noChangeAspect="1" noChangeArrowheads="1" noTextEdit="1"/>
          </p:cNvSpPr>
          <p:nvPr>
            <p:ph type="sldImg"/>
          </p:nvPr>
        </p:nvSpPr>
        <p:spPr>
          <a:xfrm>
            <a:off x="628650" y="31750"/>
            <a:ext cx="5648325" cy="3178175"/>
          </a:xfrm>
          <a:ln w="12700" cap="flat">
            <a:solidFill>
              <a:schemeClr val="tx1"/>
            </a:solidFill>
          </a:ln>
        </p:spPr>
      </p:sp>
    </p:spTree>
    <p:extLst>
      <p:ext uri="{BB962C8B-B14F-4D97-AF65-F5344CB8AC3E}">
        <p14:creationId xmlns:p14="http://schemas.microsoft.com/office/powerpoint/2010/main" val="17024748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Handouts</a:t>
            </a:r>
          </a:p>
        </p:txBody>
      </p:sp>
      <p:sp>
        <p:nvSpPr>
          <p:cNvPr id="5" name="Rectangle 5"/>
          <p:cNvSpPr>
            <a:spLocks noGrp="1" noChangeArrowheads="1"/>
          </p:cNvSpPr>
          <p:nvPr>
            <p:ph type="sldNum" sz="quarter" idx="5"/>
          </p:nvPr>
        </p:nvSpPr>
        <p:spPr>
          <a:ln/>
        </p:spPr>
        <p:txBody>
          <a:bodyPr/>
          <a:lstStyle/>
          <a:p>
            <a:fld id="{FD1C85EA-6137-41D2-8589-8C0A267D134C}" type="slidenum">
              <a:rPr lang="en-US"/>
              <a:pPr/>
              <a:t>17</a:t>
            </a:fld>
            <a:endParaRPr lang="en-US"/>
          </a:p>
        </p:txBody>
      </p:sp>
      <p:sp>
        <p:nvSpPr>
          <p:cNvPr id="358402" name="Rectangle 2"/>
          <p:cNvSpPr>
            <a:spLocks noGrp="1" noRot="1" noChangeAspect="1" noChangeArrowheads="1" noTextEdit="1"/>
          </p:cNvSpPr>
          <p:nvPr>
            <p:ph type="sldImg"/>
          </p:nvPr>
        </p:nvSpPr>
        <p:spPr>
          <a:ln/>
        </p:spPr>
      </p:sp>
      <p:sp>
        <p:nvSpPr>
          <p:cNvPr id="35840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0050042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pPr marL="0" marR="0" lvl="0" indent="0" algn="l" defTabSz="933450" rtl="0" eaLnBrk="0" fontAlgn="base" latinLnBrk="0" hangingPunct="0">
              <a:lnSpc>
                <a:spcPct val="100000"/>
              </a:lnSpc>
              <a:spcBef>
                <a:spcPct val="0"/>
              </a:spcBef>
              <a:spcAft>
                <a:spcPct val="0"/>
              </a:spcAft>
              <a:buClrTx/>
              <a:buSzTx/>
              <a:buFontTx/>
              <a:buNone/>
              <a:tabLst/>
              <a:defRPr/>
            </a:pPr>
            <a:r>
              <a:rPr kumimoji="0" lang="en-US" sz="1100" b="0" i="1" u="none" strike="noStrike" kern="1200" cap="none" spc="0" normalizeH="0" baseline="0" noProof="0">
                <a:ln>
                  <a:noFill/>
                </a:ln>
                <a:solidFill>
                  <a:srgbClr val="000000"/>
                </a:solidFill>
                <a:effectLst/>
                <a:uLnTx/>
                <a:uFillTx/>
                <a:latin typeface="Times New Roman" pitchFamily="18" charset="0"/>
                <a:ea typeface="+mn-ea"/>
                <a:cs typeface="+mn-cs"/>
              </a:rPr>
              <a:t>Handouts</a:t>
            </a:r>
          </a:p>
        </p:txBody>
      </p:sp>
      <p:sp>
        <p:nvSpPr>
          <p:cNvPr id="5" name="Rectangle 5"/>
          <p:cNvSpPr>
            <a:spLocks noGrp="1" noChangeArrowheads="1"/>
          </p:cNvSpPr>
          <p:nvPr>
            <p:ph type="sldNum" sz="quarter" idx="5"/>
          </p:nvPr>
        </p:nvSpPr>
        <p:spPr>
          <a:ln/>
        </p:spPr>
        <p:txBody>
          <a:bodyPr/>
          <a:lstStyle/>
          <a:p>
            <a:pPr marL="0" marR="0" lvl="0" indent="0" algn="r" defTabSz="933450" rtl="0" eaLnBrk="0" fontAlgn="base" latinLnBrk="0" hangingPunct="0">
              <a:lnSpc>
                <a:spcPct val="100000"/>
              </a:lnSpc>
              <a:spcBef>
                <a:spcPct val="0"/>
              </a:spcBef>
              <a:spcAft>
                <a:spcPct val="0"/>
              </a:spcAft>
              <a:buClrTx/>
              <a:buSzTx/>
              <a:buFontTx/>
              <a:buNone/>
              <a:tabLst/>
              <a:defRPr/>
            </a:pPr>
            <a:fld id="{E43E612E-D0A0-455F-B6F7-D7243093A880}" type="slidenum">
              <a:rPr kumimoji="0" lang="en-US" sz="1100" b="0" i="1" u="none" strike="noStrike" kern="1200" cap="none" spc="0" normalizeH="0" baseline="0" noProof="0">
                <a:ln>
                  <a:noFill/>
                </a:ln>
                <a:solidFill>
                  <a:srgbClr val="000000"/>
                </a:solidFill>
                <a:effectLst/>
                <a:uLnTx/>
                <a:uFillTx/>
                <a:latin typeface="Times New Roman" pitchFamily="18" charset="0"/>
                <a:ea typeface="+mn-ea"/>
                <a:cs typeface="+mn-cs"/>
              </a:rPr>
              <a:pPr marL="0" marR="0" lvl="0" indent="0" algn="r" defTabSz="933450" rtl="0" eaLnBrk="0" fontAlgn="base" latinLnBrk="0" hangingPunct="0">
                <a:lnSpc>
                  <a:spcPct val="100000"/>
                </a:lnSpc>
                <a:spcBef>
                  <a:spcPct val="0"/>
                </a:spcBef>
                <a:spcAft>
                  <a:spcPct val="0"/>
                </a:spcAft>
                <a:buClrTx/>
                <a:buSzTx/>
                <a:buFontTx/>
                <a:buNone/>
                <a:tabLst/>
                <a:defRPr/>
              </a:pPr>
              <a:t>19</a:t>
            </a:fld>
            <a:endParaRPr kumimoji="0" lang="en-US" sz="1100" b="0" i="1"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350210" name="Rectangle 2"/>
          <p:cNvSpPr>
            <a:spLocks noGrp="1" noRot="1" noChangeAspect="1" noChangeArrowheads="1" noTextEdit="1"/>
          </p:cNvSpPr>
          <p:nvPr>
            <p:ph type="sldImg"/>
          </p:nvPr>
        </p:nvSpPr>
        <p:spPr>
          <a:ln/>
        </p:spPr>
      </p:sp>
      <p:sp>
        <p:nvSpPr>
          <p:cNvPr id="35021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6528866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pPr marL="0" marR="0" lvl="0" indent="0" algn="l" defTabSz="933450" rtl="0" eaLnBrk="0" fontAlgn="base" latinLnBrk="0" hangingPunct="0">
              <a:lnSpc>
                <a:spcPct val="100000"/>
              </a:lnSpc>
              <a:spcBef>
                <a:spcPct val="0"/>
              </a:spcBef>
              <a:spcAft>
                <a:spcPct val="0"/>
              </a:spcAft>
              <a:buClrTx/>
              <a:buSzTx/>
              <a:buFontTx/>
              <a:buNone/>
              <a:tabLst/>
              <a:defRPr/>
            </a:pPr>
            <a:r>
              <a:rPr kumimoji="0" lang="en-US" sz="1100" b="0" i="1" u="none" strike="noStrike" kern="1200" cap="none" spc="0" normalizeH="0" baseline="0" noProof="0">
                <a:ln>
                  <a:noFill/>
                </a:ln>
                <a:solidFill>
                  <a:srgbClr val="000000"/>
                </a:solidFill>
                <a:effectLst/>
                <a:uLnTx/>
                <a:uFillTx/>
                <a:latin typeface="Times New Roman" pitchFamily="18" charset="0"/>
                <a:ea typeface="+mn-ea"/>
                <a:cs typeface="+mn-cs"/>
              </a:rPr>
              <a:t>Handouts</a:t>
            </a:r>
          </a:p>
        </p:txBody>
      </p:sp>
      <p:sp>
        <p:nvSpPr>
          <p:cNvPr id="5" name="Rectangle 5"/>
          <p:cNvSpPr>
            <a:spLocks noGrp="1" noChangeArrowheads="1"/>
          </p:cNvSpPr>
          <p:nvPr>
            <p:ph type="sldNum" sz="quarter" idx="5"/>
          </p:nvPr>
        </p:nvSpPr>
        <p:spPr>
          <a:ln/>
        </p:spPr>
        <p:txBody>
          <a:bodyPr/>
          <a:lstStyle/>
          <a:p>
            <a:pPr marL="0" marR="0" lvl="0" indent="0" algn="r" defTabSz="933450" rtl="0" eaLnBrk="0" fontAlgn="base" latinLnBrk="0" hangingPunct="0">
              <a:lnSpc>
                <a:spcPct val="100000"/>
              </a:lnSpc>
              <a:spcBef>
                <a:spcPct val="0"/>
              </a:spcBef>
              <a:spcAft>
                <a:spcPct val="0"/>
              </a:spcAft>
              <a:buClrTx/>
              <a:buSzTx/>
              <a:buFontTx/>
              <a:buNone/>
              <a:tabLst/>
              <a:defRPr/>
            </a:pPr>
            <a:fld id="{132B72E1-495C-49AD-9719-29BCE7733ADB}" type="slidenum">
              <a:rPr kumimoji="0" lang="en-US" sz="1100" b="0" i="1" u="none" strike="noStrike" kern="1200" cap="none" spc="0" normalizeH="0" baseline="0" noProof="0">
                <a:ln>
                  <a:noFill/>
                </a:ln>
                <a:solidFill>
                  <a:srgbClr val="000000"/>
                </a:solidFill>
                <a:effectLst/>
                <a:uLnTx/>
                <a:uFillTx/>
                <a:latin typeface="Times New Roman" pitchFamily="18" charset="0"/>
                <a:ea typeface="+mn-ea"/>
                <a:cs typeface="+mn-cs"/>
              </a:rPr>
              <a:pPr marL="0" marR="0" lvl="0" indent="0" algn="r" defTabSz="933450" rtl="0" eaLnBrk="0" fontAlgn="base" latinLnBrk="0" hangingPunct="0">
                <a:lnSpc>
                  <a:spcPct val="100000"/>
                </a:lnSpc>
                <a:spcBef>
                  <a:spcPct val="0"/>
                </a:spcBef>
                <a:spcAft>
                  <a:spcPct val="0"/>
                </a:spcAft>
                <a:buClrTx/>
                <a:buSzTx/>
                <a:buFontTx/>
                <a:buNone/>
                <a:tabLst/>
                <a:defRPr/>
              </a:pPr>
              <a:t>20</a:t>
            </a:fld>
            <a:endParaRPr kumimoji="0" lang="en-US" sz="1100" b="0" i="1"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359426" name="Rectangle 2"/>
          <p:cNvSpPr>
            <a:spLocks noGrp="1" noRot="1" noChangeAspect="1" noChangeArrowheads="1" noTextEdit="1"/>
          </p:cNvSpPr>
          <p:nvPr>
            <p:ph type="sldImg"/>
          </p:nvPr>
        </p:nvSpPr>
        <p:spPr>
          <a:ln/>
        </p:spPr>
      </p:sp>
      <p:sp>
        <p:nvSpPr>
          <p:cNvPr id="35942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5794498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pPr marL="0" marR="0" lvl="0" indent="0" algn="l" defTabSz="933450" rtl="0" eaLnBrk="0" fontAlgn="base" latinLnBrk="0" hangingPunct="0">
              <a:lnSpc>
                <a:spcPct val="100000"/>
              </a:lnSpc>
              <a:spcBef>
                <a:spcPct val="0"/>
              </a:spcBef>
              <a:spcAft>
                <a:spcPct val="0"/>
              </a:spcAft>
              <a:buClrTx/>
              <a:buSzTx/>
              <a:buFontTx/>
              <a:buNone/>
              <a:tabLst/>
              <a:defRPr/>
            </a:pPr>
            <a:r>
              <a:rPr kumimoji="0" lang="en-US" sz="1100" b="0" i="1" u="none" strike="noStrike" kern="1200" cap="none" spc="0" normalizeH="0" baseline="0" noProof="0">
                <a:ln>
                  <a:noFill/>
                </a:ln>
                <a:solidFill>
                  <a:srgbClr val="000000"/>
                </a:solidFill>
                <a:effectLst/>
                <a:uLnTx/>
                <a:uFillTx/>
                <a:latin typeface="Times New Roman" pitchFamily="18" charset="0"/>
                <a:ea typeface="+mn-ea"/>
                <a:cs typeface="+mn-cs"/>
              </a:rPr>
              <a:t>Handouts</a:t>
            </a:r>
          </a:p>
        </p:txBody>
      </p:sp>
      <p:sp>
        <p:nvSpPr>
          <p:cNvPr id="5" name="Rectangle 5"/>
          <p:cNvSpPr>
            <a:spLocks noGrp="1" noChangeArrowheads="1"/>
          </p:cNvSpPr>
          <p:nvPr>
            <p:ph type="sldNum" sz="quarter" idx="5"/>
          </p:nvPr>
        </p:nvSpPr>
        <p:spPr>
          <a:ln/>
        </p:spPr>
        <p:txBody>
          <a:bodyPr/>
          <a:lstStyle/>
          <a:p>
            <a:pPr marL="0" marR="0" lvl="0" indent="0" algn="r" defTabSz="933450" rtl="0" eaLnBrk="0" fontAlgn="base" latinLnBrk="0" hangingPunct="0">
              <a:lnSpc>
                <a:spcPct val="100000"/>
              </a:lnSpc>
              <a:spcBef>
                <a:spcPct val="0"/>
              </a:spcBef>
              <a:spcAft>
                <a:spcPct val="0"/>
              </a:spcAft>
              <a:buClrTx/>
              <a:buSzTx/>
              <a:buFontTx/>
              <a:buNone/>
              <a:tabLst/>
              <a:defRPr/>
            </a:pPr>
            <a:fld id="{E0926B4F-FFF8-4B0C-9151-1A8C5BE6A91E}" type="slidenum">
              <a:rPr kumimoji="0" lang="en-US" sz="1100" b="0" i="1" u="none" strike="noStrike" kern="1200" cap="none" spc="0" normalizeH="0" baseline="0" noProof="0">
                <a:ln>
                  <a:noFill/>
                </a:ln>
                <a:solidFill>
                  <a:srgbClr val="000000"/>
                </a:solidFill>
                <a:effectLst/>
                <a:uLnTx/>
                <a:uFillTx/>
                <a:latin typeface="Times New Roman" pitchFamily="18" charset="0"/>
                <a:ea typeface="+mn-ea"/>
                <a:cs typeface="+mn-cs"/>
              </a:rPr>
              <a:pPr marL="0" marR="0" lvl="0" indent="0" algn="r" defTabSz="933450" rtl="0" eaLnBrk="0" fontAlgn="base" latinLnBrk="0" hangingPunct="0">
                <a:lnSpc>
                  <a:spcPct val="100000"/>
                </a:lnSpc>
                <a:spcBef>
                  <a:spcPct val="0"/>
                </a:spcBef>
                <a:spcAft>
                  <a:spcPct val="0"/>
                </a:spcAft>
                <a:buClrTx/>
                <a:buSzTx/>
                <a:buFontTx/>
                <a:buNone/>
                <a:tabLst/>
                <a:defRPr/>
              </a:pPr>
              <a:t>21</a:t>
            </a:fld>
            <a:endParaRPr kumimoji="0" lang="en-US" sz="1100" b="0" i="1"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362498" name="Rectangle 2"/>
          <p:cNvSpPr>
            <a:spLocks noGrp="1" noRot="1" noChangeAspect="1" noChangeArrowheads="1" noTextEdit="1"/>
          </p:cNvSpPr>
          <p:nvPr>
            <p:ph type="sldImg"/>
          </p:nvPr>
        </p:nvSpPr>
        <p:spPr>
          <a:ln/>
        </p:spPr>
      </p:sp>
      <p:sp>
        <p:nvSpPr>
          <p:cNvPr id="36249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5214732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covering problem</a:t>
            </a:r>
          </a:p>
        </p:txBody>
      </p:sp>
      <p:sp>
        <p:nvSpPr>
          <p:cNvPr id="4" name="Slide Number Placeholder 3"/>
          <p:cNvSpPr>
            <a:spLocks noGrp="1"/>
          </p:cNvSpPr>
          <p:nvPr>
            <p:ph type="sldNum" sz="quarter" idx="5"/>
          </p:nvPr>
        </p:nvSpPr>
        <p:spPr/>
        <p:txBody>
          <a:bodyPr/>
          <a:lstStyle/>
          <a:p>
            <a:fld id="{0B3DA8D4-41AF-493D-960F-A813B3AC6A59}" type="slidenum">
              <a:rPr lang="en-US" smtClean="0"/>
              <a:t>22</a:t>
            </a:fld>
            <a:endParaRPr lang="en-US"/>
          </a:p>
        </p:txBody>
      </p:sp>
    </p:spTree>
    <p:extLst>
      <p:ext uri="{BB962C8B-B14F-4D97-AF65-F5344CB8AC3E}">
        <p14:creationId xmlns:p14="http://schemas.microsoft.com/office/powerpoint/2010/main" val="13336293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pPr marL="0" marR="0" lvl="0" indent="0" algn="l" defTabSz="933450" rtl="0" eaLnBrk="0" fontAlgn="base" latinLnBrk="0" hangingPunct="0">
              <a:lnSpc>
                <a:spcPct val="100000"/>
              </a:lnSpc>
              <a:spcBef>
                <a:spcPct val="0"/>
              </a:spcBef>
              <a:spcAft>
                <a:spcPct val="0"/>
              </a:spcAft>
              <a:buClrTx/>
              <a:buSzTx/>
              <a:buFontTx/>
              <a:buNone/>
              <a:tabLst/>
              <a:defRPr/>
            </a:pPr>
            <a:r>
              <a:rPr kumimoji="0" lang="en-US" sz="1100" b="0" i="1" u="none" strike="noStrike" kern="1200" cap="none" spc="0" normalizeH="0" baseline="0" noProof="0">
                <a:ln>
                  <a:noFill/>
                </a:ln>
                <a:solidFill>
                  <a:srgbClr val="000000"/>
                </a:solidFill>
                <a:effectLst/>
                <a:uLnTx/>
                <a:uFillTx/>
                <a:latin typeface="Times New Roman" pitchFamily="18" charset="0"/>
                <a:ea typeface="+mn-ea"/>
                <a:cs typeface="+mn-cs"/>
              </a:rPr>
              <a:t>Handouts</a:t>
            </a:r>
          </a:p>
        </p:txBody>
      </p:sp>
      <p:sp>
        <p:nvSpPr>
          <p:cNvPr id="5" name="Rectangle 5"/>
          <p:cNvSpPr>
            <a:spLocks noGrp="1" noChangeArrowheads="1"/>
          </p:cNvSpPr>
          <p:nvPr>
            <p:ph type="sldNum" sz="quarter" idx="5"/>
          </p:nvPr>
        </p:nvSpPr>
        <p:spPr>
          <a:ln/>
        </p:spPr>
        <p:txBody>
          <a:bodyPr/>
          <a:lstStyle/>
          <a:p>
            <a:pPr marL="0" marR="0" lvl="0" indent="0" algn="r" defTabSz="933450" rtl="0" eaLnBrk="0" fontAlgn="base" latinLnBrk="0" hangingPunct="0">
              <a:lnSpc>
                <a:spcPct val="100000"/>
              </a:lnSpc>
              <a:spcBef>
                <a:spcPct val="0"/>
              </a:spcBef>
              <a:spcAft>
                <a:spcPct val="0"/>
              </a:spcAft>
              <a:buClrTx/>
              <a:buSzTx/>
              <a:buFontTx/>
              <a:buNone/>
              <a:tabLst/>
              <a:defRPr/>
            </a:pPr>
            <a:fld id="{D6467982-A693-4EF4-B709-139FA2170043}" type="slidenum">
              <a:rPr kumimoji="0" lang="en-US" sz="1100" b="0" i="1" u="none" strike="noStrike" kern="1200" cap="none" spc="0" normalizeH="0" baseline="0" noProof="0">
                <a:ln>
                  <a:noFill/>
                </a:ln>
                <a:solidFill>
                  <a:srgbClr val="000000"/>
                </a:solidFill>
                <a:effectLst/>
                <a:uLnTx/>
                <a:uFillTx/>
                <a:latin typeface="Times New Roman" pitchFamily="18" charset="0"/>
                <a:ea typeface="+mn-ea"/>
                <a:cs typeface="+mn-cs"/>
              </a:rPr>
              <a:pPr marL="0" marR="0" lvl="0" indent="0" algn="r" defTabSz="933450" rtl="0" eaLnBrk="0" fontAlgn="base" latinLnBrk="0" hangingPunct="0">
                <a:lnSpc>
                  <a:spcPct val="100000"/>
                </a:lnSpc>
                <a:spcBef>
                  <a:spcPct val="0"/>
                </a:spcBef>
                <a:spcAft>
                  <a:spcPct val="0"/>
                </a:spcAft>
                <a:buClrTx/>
                <a:buSzTx/>
                <a:buFontTx/>
                <a:buNone/>
                <a:tabLst/>
                <a:defRPr/>
              </a:pPr>
              <a:t>23</a:t>
            </a:fld>
            <a:endParaRPr kumimoji="0" lang="en-US" sz="1100" b="0" i="1"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363522" name="Rectangle 2"/>
          <p:cNvSpPr>
            <a:spLocks noGrp="1" noRot="1" noChangeAspect="1" noChangeArrowheads="1" noTextEdit="1"/>
          </p:cNvSpPr>
          <p:nvPr>
            <p:ph type="sldImg"/>
          </p:nvPr>
        </p:nvSpPr>
        <p:spPr>
          <a:ln/>
        </p:spPr>
      </p:sp>
      <p:sp>
        <p:nvSpPr>
          <p:cNvPr id="36352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798491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NP complete in the worst case (SAT Constraint solver).</a:t>
            </a:r>
          </a:p>
        </p:txBody>
      </p:sp>
      <p:sp>
        <p:nvSpPr>
          <p:cNvPr id="4" name="Slide Number Placeholder 3"/>
          <p:cNvSpPr>
            <a:spLocks noGrp="1"/>
          </p:cNvSpPr>
          <p:nvPr>
            <p:ph type="sldNum" sz="quarter" idx="5"/>
          </p:nvPr>
        </p:nvSpPr>
        <p:spPr/>
        <p:txBody>
          <a:bodyPr/>
          <a:lstStyle/>
          <a:p>
            <a:fld id="{0B3DA8D4-41AF-493D-960F-A813B3AC6A59}" type="slidenum">
              <a:rPr lang="en-US" smtClean="0"/>
              <a:t>24</a:t>
            </a:fld>
            <a:endParaRPr lang="en-US"/>
          </a:p>
        </p:txBody>
      </p:sp>
    </p:spTree>
    <p:extLst>
      <p:ext uri="{BB962C8B-B14F-4D97-AF65-F5344CB8AC3E}">
        <p14:creationId xmlns:p14="http://schemas.microsoft.com/office/powerpoint/2010/main" val="23914631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NP Hard algorithm</a:t>
            </a:r>
          </a:p>
        </p:txBody>
      </p:sp>
      <p:sp>
        <p:nvSpPr>
          <p:cNvPr id="4" name="Slide Number Placeholder 3"/>
          <p:cNvSpPr>
            <a:spLocks noGrp="1"/>
          </p:cNvSpPr>
          <p:nvPr>
            <p:ph type="sldNum" sz="quarter" idx="5"/>
          </p:nvPr>
        </p:nvSpPr>
        <p:spPr/>
        <p:txBody>
          <a:bodyPr/>
          <a:lstStyle/>
          <a:p>
            <a:fld id="{0B3DA8D4-41AF-493D-960F-A813B3AC6A59}" type="slidenum">
              <a:rPr lang="en-US" smtClean="0"/>
              <a:t>26</a:t>
            </a:fld>
            <a:endParaRPr lang="en-US"/>
          </a:p>
        </p:txBody>
      </p:sp>
    </p:spTree>
    <p:extLst>
      <p:ext uri="{BB962C8B-B14F-4D97-AF65-F5344CB8AC3E}">
        <p14:creationId xmlns:p14="http://schemas.microsoft.com/office/powerpoint/2010/main" val="460655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DD = Definition Definition paths.  </a:t>
            </a:r>
          </a:p>
        </p:txBody>
      </p:sp>
      <p:sp>
        <p:nvSpPr>
          <p:cNvPr id="4" name="Slide Number Placeholder 3"/>
          <p:cNvSpPr>
            <a:spLocks noGrp="1"/>
          </p:cNvSpPr>
          <p:nvPr>
            <p:ph type="sldNum" sz="quarter" idx="5"/>
          </p:nvPr>
        </p:nvSpPr>
        <p:spPr/>
        <p:txBody>
          <a:bodyPr/>
          <a:lstStyle/>
          <a:p>
            <a:fld id="{0B3DA8D4-41AF-493D-960F-A813B3AC6A59}" type="slidenum">
              <a:rPr lang="en-US" smtClean="0"/>
              <a:t>27</a:t>
            </a:fld>
            <a:endParaRPr lang="en-US"/>
          </a:p>
        </p:txBody>
      </p:sp>
    </p:spTree>
    <p:extLst>
      <p:ext uri="{BB962C8B-B14F-4D97-AF65-F5344CB8AC3E}">
        <p14:creationId xmlns:p14="http://schemas.microsoft.com/office/powerpoint/2010/main" val="21887679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a:ln/>
        </p:spPr>
      </p:sp>
      <p:sp>
        <p:nvSpPr>
          <p:cNvPr id="573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itchFamily="34" charset="0"/>
              </a:rPr>
              <a:t>If loops are nested this results in the same multiplicity of test cases we’ll find with boundary value analysis</a:t>
            </a:r>
          </a:p>
        </p:txBody>
      </p:sp>
      <p:sp>
        <p:nvSpPr>
          <p:cNvPr id="573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603" eaLnBrk="0" hangingPunct="0">
              <a:defRPr>
                <a:solidFill>
                  <a:schemeClr val="tx1"/>
                </a:solidFill>
                <a:latin typeface="Arial" pitchFamily="34" charset="0"/>
              </a:defRPr>
            </a:lvl1pPr>
            <a:lvl2pPr marL="744956" indent="-286522" defTabSz="929603" eaLnBrk="0" hangingPunct="0">
              <a:defRPr>
                <a:solidFill>
                  <a:schemeClr val="tx1"/>
                </a:solidFill>
                <a:latin typeface="Arial" pitchFamily="34" charset="0"/>
              </a:defRPr>
            </a:lvl2pPr>
            <a:lvl3pPr marL="1146086" indent="-229217" defTabSz="929603" eaLnBrk="0" hangingPunct="0">
              <a:defRPr>
                <a:solidFill>
                  <a:schemeClr val="tx1"/>
                </a:solidFill>
                <a:latin typeface="Arial" pitchFamily="34" charset="0"/>
              </a:defRPr>
            </a:lvl3pPr>
            <a:lvl4pPr marL="1604521" indent="-229217" defTabSz="929603" eaLnBrk="0" hangingPunct="0">
              <a:defRPr>
                <a:solidFill>
                  <a:schemeClr val="tx1"/>
                </a:solidFill>
                <a:latin typeface="Arial" pitchFamily="34" charset="0"/>
              </a:defRPr>
            </a:lvl4pPr>
            <a:lvl5pPr marL="2062955" indent="-229217" defTabSz="929603" eaLnBrk="0" hangingPunct="0">
              <a:defRPr>
                <a:solidFill>
                  <a:schemeClr val="tx1"/>
                </a:solidFill>
                <a:latin typeface="Arial" pitchFamily="34" charset="0"/>
              </a:defRPr>
            </a:lvl5pPr>
            <a:lvl6pPr marL="2521389" indent="-229217" defTabSz="929603" eaLnBrk="0" fontAlgn="base" hangingPunct="0">
              <a:spcBef>
                <a:spcPct val="0"/>
              </a:spcBef>
              <a:spcAft>
                <a:spcPct val="0"/>
              </a:spcAft>
              <a:defRPr>
                <a:solidFill>
                  <a:schemeClr val="tx1"/>
                </a:solidFill>
                <a:latin typeface="Arial" pitchFamily="34" charset="0"/>
              </a:defRPr>
            </a:lvl6pPr>
            <a:lvl7pPr marL="2979824" indent="-229217" defTabSz="929603" eaLnBrk="0" fontAlgn="base" hangingPunct="0">
              <a:spcBef>
                <a:spcPct val="0"/>
              </a:spcBef>
              <a:spcAft>
                <a:spcPct val="0"/>
              </a:spcAft>
              <a:defRPr>
                <a:solidFill>
                  <a:schemeClr val="tx1"/>
                </a:solidFill>
                <a:latin typeface="Arial" pitchFamily="34" charset="0"/>
              </a:defRPr>
            </a:lvl7pPr>
            <a:lvl8pPr marL="3438258" indent="-229217" defTabSz="929603" eaLnBrk="0" fontAlgn="base" hangingPunct="0">
              <a:spcBef>
                <a:spcPct val="0"/>
              </a:spcBef>
              <a:spcAft>
                <a:spcPct val="0"/>
              </a:spcAft>
              <a:defRPr>
                <a:solidFill>
                  <a:schemeClr val="tx1"/>
                </a:solidFill>
                <a:latin typeface="Arial" pitchFamily="34" charset="0"/>
              </a:defRPr>
            </a:lvl8pPr>
            <a:lvl9pPr marL="3896693" indent="-229217" defTabSz="929603" eaLnBrk="0" fontAlgn="base" hangingPunct="0">
              <a:spcBef>
                <a:spcPct val="0"/>
              </a:spcBef>
              <a:spcAft>
                <a:spcPct val="0"/>
              </a:spcAft>
              <a:defRPr>
                <a:solidFill>
                  <a:schemeClr val="tx1"/>
                </a:solidFill>
                <a:latin typeface="Arial" pitchFamily="34" charset="0"/>
              </a:defRPr>
            </a:lvl9pPr>
          </a:lstStyle>
          <a:p>
            <a:pPr marL="0" marR="0" lvl="0" indent="0" algn="r" defTabSz="929603" rtl="0" eaLnBrk="1" fontAlgn="base" latinLnBrk="0" hangingPunct="1">
              <a:lnSpc>
                <a:spcPct val="100000"/>
              </a:lnSpc>
              <a:spcBef>
                <a:spcPct val="0"/>
              </a:spcBef>
              <a:spcAft>
                <a:spcPct val="0"/>
              </a:spcAft>
              <a:buClrTx/>
              <a:buSzTx/>
              <a:buFontTx/>
              <a:buNone/>
              <a:tabLst/>
              <a:defRPr/>
            </a:pPr>
            <a:fld id="{037788DF-0AAD-4AF4-B9EE-132F5A9F00F4}" type="slidenum">
              <a:rPr kumimoji="0" lang="en-US" altLang="en-US" sz="1100" b="0" i="1" u="none" strike="noStrike" kern="1200" cap="none" spc="0" normalizeH="0" baseline="0" noProof="0" smtClean="0">
                <a:ln>
                  <a:noFill/>
                </a:ln>
                <a:solidFill>
                  <a:srgbClr val="000000"/>
                </a:solidFill>
                <a:effectLst/>
                <a:uLnTx/>
                <a:uFillTx/>
                <a:latin typeface="Arial" pitchFamily="34" charset="0"/>
                <a:ea typeface="+mn-ea"/>
                <a:cs typeface="+mn-cs"/>
              </a:rPr>
              <a:pPr marL="0" marR="0" lvl="0" indent="0" algn="r" defTabSz="929603" rtl="0" eaLnBrk="1" fontAlgn="base" latinLnBrk="0" hangingPunct="1">
                <a:lnSpc>
                  <a:spcPct val="100000"/>
                </a:lnSpc>
                <a:spcBef>
                  <a:spcPct val="0"/>
                </a:spcBef>
                <a:spcAft>
                  <a:spcPct val="0"/>
                </a:spcAft>
                <a:buClrTx/>
                <a:buSzTx/>
                <a:buFontTx/>
                <a:buNone/>
                <a:tabLst/>
                <a:defRPr/>
              </a:pPr>
              <a:t>29</a:t>
            </a:fld>
            <a:endParaRPr kumimoji="0" lang="en-US" altLang="en-US" sz="1100" b="0" i="1" u="none" strike="noStrike" kern="1200" cap="none" spc="0" normalizeH="0" baseline="0" noProof="0">
              <a:ln>
                <a:noFill/>
              </a:ln>
              <a:solidFill>
                <a:srgbClr val="000000"/>
              </a:solidFill>
              <a:effectLst/>
              <a:uLnTx/>
              <a:uFillTx/>
              <a:latin typeface="Arial" pitchFamily="34" charset="0"/>
              <a:ea typeface="+mn-ea"/>
              <a:cs typeface="+mn-cs"/>
            </a:endParaRPr>
          </a:p>
        </p:txBody>
      </p:sp>
    </p:spTree>
    <p:extLst>
      <p:ext uri="{BB962C8B-B14F-4D97-AF65-F5344CB8AC3E}">
        <p14:creationId xmlns:p14="http://schemas.microsoft.com/office/powerpoint/2010/main" val="33245097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pPr marL="0" marR="0" lvl="0" indent="0" algn="l" defTabSz="933450" rtl="0" eaLnBrk="0" fontAlgn="base" latinLnBrk="0" hangingPunct="0">
              <a:lnSpc>
                <a:spcPct val="100000"/>
              </a:lnSpc>
              <a:spcBef>
                <a:spcPct val="0"/>
              </a:spcBef>
              <a:spcAft>
                <a:spcPct val="0"/>
              </a:spcAft>
              <a:buClrTx/>
              <a:buSzTx/>
              <a:buFontTx/>
              <a:buNone/>
              <a:tabLst/>
              <a:defRPr/>
            </a:pPr>
            <a:r>
              <a:rPr kumimoji="0" lang="en-US" sz="1100" b="0" i="1" u="none" strike="noStrike" kern="1200" cap="none" spc="0" normalizeH="0" baseline="0" noProof="0">
                <a:ln>
                  <a:noFill/>
                </a:ln>
                <a:solidFill>
                  <a:srgbClr val="000000"/>
                </a:solidFill>
                <a:effectLst/>
                <a:uLnTx/>
                <a:uFillTx/>
                <a:latin typeface="Times New Roman" pitchFamily="18" charset="0"/>
                <a:ea typeface="+mn-ea"/>
                <a:cs typeface="+mn-cs"/>
              </a:rPr>
              <a:t>Handouts</a:t>
            </a:r>
          </a:p>
        </p:txBody>
      </p:sp>
      <p:sp>
        <p:nvSpPr>
          <p:cNvPr id="5" name="Rectangle 5"/>
          <p:cNvSpPr>
            <a:spLocks noGrp="1" noChangeArrowheads="1"/>
          </p:cNvSpPr>
          <p:nvPr>
            <p:ph type="sldNum" sz="quarter" idx="5"/>
          </p:nvPr>
        </p:nvSpPr>
        <p:spPr>
          <a:ln/>
        </p:spPr>
        <p:txBody>
          <a:bodyPr/>
          <a:lstStyle/>
          <a:p>
            <a:pPr marL="0" marR="0" lvl="0" indent="0" algn="r" defTabSz="933450" rtl="0" eaLnBrk="0" fontAlgn="base" latinLnBrk="0" hangingPunct="0">
              <a:lnSpc>
                <a:spcPct val="100000"/>
              </a:lnSpc>
              <a:spcBef>
                <a:spcPct val="0"/>
              </a:spcBef>
              <a:spcAft>
                <a:spcPct val="0"/>
              </a:spcAft>
              <a:buClrTx/>
              <a:buSzTx/>
              <a:buFontTx/>
              <a:buNone/>
              <a:tabLst/>
              <a:defRPr/>
            </a:pPr>
            <a:fld id="{432CE7BE-E9F0-47C7-9A56-82CEC4C18A2E}" type="slidenum">
              <a:rPr kumimoji="0" lang="en-US" sz="1100" b="0" i="1" u="none" strike="noStrike" kern="1200" cap="none" spc="0" normalizeH="0" baseline="0" noProof="0">
                <a:ln>
                  <a:noFill/>
                </a:ln>
                <a:solidFill>
                  <a:srgbClr val="000000"/>
                </a:solidFill>
                <a:effectLst/>
                <a:uLnTx/>
                <a:uFillTx/>
                <a:latin typeface="Times New Roman" pitchFamily="18" charset="0"/>
                <a:ea typeface="+mn-ea"/>
                <a:cs typeface="+mn-cs"/>
              </a:rPr>
              <a:pPr marL="0" marR="0" lvl="0" indent="0" algn="r" defTabSz="933450" rtl="0" eaLnBrk="0" fontAlgn="base" latinLnBrk="0" hangingPunct="0">
                <a:lnSpc>
                  <a:spcPct val="100000"/>
                </a:lnSpc>
                <a:spcBef>
                  <a:spcPct val="0"/>
                </a:spcBef>
                <a:spcAft>
                  <a:spcPct val="0"/>
                </a:spcAft>
                <a:buClrTx/>
                <a:buSzTx/>
                <a:buFontTx/>
                <a:buNone/>
                <a:tabLst/>
                <a:defRPr/>
              </a:pPr>
              <a:t>31</a:t>
            </a:fld>
            <a:endParaRPr kumimoji="0" lang="en-US" sz="1100" b="0" i="1"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366594" name="Rectangle 2"/>
          <p:cNvSpPr>
            <a:spLocks noGrp="1" noRot="1" noChangeAspect="1" noChangeArrowheads="1" noTextEdit="1"/>
          </p:cNvSpPr>
          <p:nvPr>
            <p:ph type="sldImg"/>
          </p:nvPr>
        </p:nvSpPr>
        <p:spPr>
          <a:ln/>
        </p:spPr>
      </p:sp>
      <p:sp>
        <p:nvSpPr>
          <p:cNvPr id="36659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6944492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itchFamily="34" charset="0"/>
            </a:endParaRPr>
          </a:p>
        </p:txBody>
      </p:sp>
      <p:sp>
        <p:nvSpPr>
          <p:cNvPr id="378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603" eaLnBrk="0" hangingPunct="0">
              <a:defRPr>
                <a:solidFill>
                  <a:schemeClr val="tx1"/>
                </a:solidFill>
                <a:latin typeface="Arial" pitchFamily="34" charset="0"/>
              </a:defRPr>
            </a:lvl1pPr>
            <a:lvl2pPr marL="744956" indent="-286522" defTabSz="929603" eaLnBrk="0" hangingPunct="0">
              <a:defRPr>
                <a:solidFill>
                  <a:schemeClr val="tx1"/>
                </a:solidFill>
                <a:latin typeface="Arial" pitchFamily="34" charset="0"/>
              </a:defRPr>
            </a:lvl2pPr>
            <a:lvl3pPr marL="1146086" indent="-229217" defTabSz="929603" eaLnBrk="0" hangingPunct="0">
              <a:defRPr>
                <a:solidFill>
                  <a:schemeClr val="tx1"/>
                </a:solidFill>
                <a:latin typeface="Arial" pitchFamily="34" charset="0"/>
              </a:defRPr>
            </a:lvl3pPr>
            <a:lvl4pPr marL="1604521" indent="-229217" defTabSz="929603" eaLnBrk="0" hangingPunct="0">
              <a:defRPr>
                <a:solidFill>
                  <a:schemeClr val="tx1"/>
                </a:solidFill>
                <a:latin typeface="Arial" pitchFamily="34" charset="0"/>
              </a:defRPr>
            </a:lvl4pPr>
            <a:lvl5pPr marL="2062955" indent="-229217" defTabSz="929603" eaLnBrk="0" hangingPunct="0">
              <a:defRPr>
                <a:solidFill>
                  <a:schemeClr val="tx1"/>
                </a:solidFill>
                <a:latin typeface="Arial" pitchFamily="34" charset="0"/>
              </a:defRPr>
            </a:lvl5pPr>
            <a:lvl6pPr marL="2521389" indent="-229217" defTabSz="929603" eaLnBrk="0" fontAlgn="base" hangingPunct="0">
              <a:spcBef>
                <a:spcPct val="0"/>
              </a:spcBef>
              <a:spcAft>
                <a:spcPct val="0"/>
              </a:spcAft>
              <a:defRPr>
                <a:solidFill>
                  <a:schemeClr val="tx1"/>
                </a:solidFill>
                <a:latin typeface="Arial" pitchFamily="34" charset="0"/>
              </a:defRPr>
            </a:lvl6pPr>
            <a:lvl7pPr marL="2979824" indent="-229217" defTabSz="929603" eaLnBrk="0" fontAlgn="base" hangingPunct="0">
              <a:spcBef>
                <a:spcPct val="0"/>
              </a:spcBef>
              <a:spcAft>
                <a:spcPct val="0"/>
              </a:spcAft>
              <a:defRPr>
                <a:solidFill>
                  <a:schemeClr val="tx1"/>
                </a:solidFill>
                <a:latin typeface="Arial" pitchFamily="34" charset="0"/>
              </a:defRPr>
            </a:lvl7pPr>
            <a:lvl8pPr marL="3438258" indent="-229217" defTabSz="929603" eaLnBrk="0" fontAlgn="base" hangingPunct="0">
              <a:spcBef>
                <a:spcPct val="0"/>
              </a:spcBef>
              <a:spcAft>
                <a:spcPct val="0"/>
              </a:spcAft>
              <a:defRPr>
                <a:solidFill>
                  <a:schemeClr val="tx1"/>
                </a:solidFill>
                <a:latin typeface="Arial" pitchFamily="34" charset="0"/>
              </a:defRPr>
            </a:lvl8pPr>
            <a:lvl9pPr marL="3896693" indent="-229217" defTabSz="929603" eaLnBrk="0" fontAlgn="base" hangingPunct="0">
              <a:spcBef>
                <a:spcPct val="0"/>
              </a:spcBef>
              <a:spcAft>
                <a:spcPct val="0"/>
              </a:spcAft>
              <a:defRPr>
                <a:solidFill>
                  <a:schemeClr val="tx1"/>
                </a:solidFill>
                <a:latin typeface="Arial" pitchFamily="34" charset="0"/>
              </a:defRPr>
            </a:lvl9pPr>
          </a:lstStyle>
          <a:p>
            <a:pPr marL="0" marR="0" lvl="0" indent="0" algn="r" defTabSz="929603" rtl="0" eaLnBrk="1" fontAlgn="base" latinLnBrk="0" hangingPunct="1">
              <a:lnSpc>
                <a:spcPct val="100000"/>
              </a:lnSpc>
              <a:spcBef>
                <a:spcPct val="0"/>
              </a:spcBef>
              <a:spcAft>
                <a:spcPct val="0"/>
              </a:spcAft>
              <a:buClrTx/>
              <a:buSzTx/>
              <a:buFontTx/>
              <a:buNone/>
              <a:tabLst/>
              <a:defRPr/>
            </a:pPr>
            <a:fld id="{CA2BA47B-8E11-42C5-8971-42F2A0F26057}" type="slidenum">
              <a:rPr kumimoji="0" lang="en-US" altLang="en-US" sz="1100" b="0" i="1" u="none" strike="noStrike" kern="1200" cap="none" spc="0" normalizeH="0" baseline="0" noProof="0" smtClean="0">
                <a:ln>
                  <a:noFill/>
                </a:ln>
                <a:solidFill>
                  <a:srgbClr val="000000"/>
                </a:solidFill>
                <a:effectLst/>
                <a:uLnTx/>
                <a:uFillTx/>
                <a:latin typeface="Arial" pitchFamily="34" charset="0"/>
                <a:ea typeface="+mn-ea"/>
                <a:cs typeface="+mn-cs"/>
              </a:rPr>
              <a:pPr marL="0" marR="0" lvl="0" indent="0" algn="r" defTabSz="929603" rtl="0" eaLnBrk="1" fontAlgn="base" latinLnBrk="0" hangingPunct="1">
                <a:lnSpc>
                  <a:spcPct val="100000"/>
                </a:lnSpc>
                <a:spcBef>
                  <a:spcPct val="0"/>
                </a:spcBef>
                <a:spcAft>
                  <a:spcPct val="0"/>
                </a:spcAft>
                <a:buClrTx/>
                <a:buSzTx/>
                <a:buFontTx/>
                <a:buNone/>
                <a:tabLst/>
                <a:defRPr/>
              </a:pPr>
              <a:t>43</a:t>
            </a:fld>
            <a:endParaRPr kumimoji="0" lang="en-US" altLang="en-US" sz="1100" b="0" i="1" u="none" strike="noStrike" kern="1200" cap="none" spc="0" normalizeH="0" baseline="0" noProof="0">
              <a:ln>
                <a:noFill/>
              </a:ln>
              <a:solidFill>
                <a:srgbClr val="000000"/>
              </a:solidFill>
              <a:effectLst/>
              <a:uLnTx/>
              <a:uFillTx/>
              <a:latin typeface="Arial" pitchFamily="34" charset="0"/>
              <a:ea typeface="+mn-ea"/>
              <a:cs typeface="+mn-cs"/>
            </a:endParaRPr>
          </a:p>
        </p:txBody>
      </p:sp>
    </p:spTree>
    <p:extLst>
      <p:ext uri="{BB962C8B-B14F-4D97-AF65-F5344CB8AC3E}">
        <p14:creationId xmlns:p14="http://schemas.microsoft.com/office/powerpoint/2010/main" val="33918113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False.  Branch coverage only requires you hit the branch conditions independently but in combination.</a:t>
            </a:r>
          </a:p>
          <a:p>
            <a:pPr marL="228600" indent="-228600">
              <a:buAutoNum type="arabicPeriod"/>
            </a:pPr>
            <a:r>
              <a:rPr lang="en-US" dirty="0"/>
              <a:t>False. There can be branch paths that do not include any statements so you might miss those (if without else)</a:t>
            </a:r>
          </a:p>
          <a:p>
            <a:pPr marL="228600" indent="-228600">
              <a:buAutoNum type="arabicPeriod"/>
            </a:pPr>
            <a:r>
              <a:rPr lang="en-US" dirty="0"/>
              <a:t>Of course not since if you can’t cover branches you can’t cover all paths</a:t>
            </a:r>
          </a:p>
          <a:p>
            <a:pPr marL="228600" indent="-228600">
              <a:buAutoNum type="arabicPeriod"/>
            </a:pPr>
            <a:r>
              <a:rPr lang="en-US" dirty="0"/>
              <a:t>True.  If you go through every path branch then you must hit all statements at least once.</a:t>
            </a:r>
          </a:p>
        </p:txBody>
      </p:sp>
      <p:sp>
        <p:nvSpPr>
          <p:cNvPr id="4" name="Slide Number Placeholder 3"/>
          <p:cNvSpPr>
            <a:spLocks noGrp="1"/>
          </p:cNvSpPr>
          <p:nvPr>
            <p:ph type="sldNum" sz="quarter" idx="5"/>
          </p:nvPr>
        </p:nvSpPr>
        <p:spPr/>
        <p:txBody>
          <a:bodyPr/>
          <a:lstStyle/>
          <a:p>
            <a:fld id="{0B3DA8D4-41AF-493D-960F-A813B3AC6A59}" type="slidenum">
              <a:rPr lang="en-US" smtClean="0"/>
              <a:t>50</a:t>
            </a:fld>
            <a:endParaRPr lang="en-US"/>
          </a:p>
        </p:txBody>
      </p:sp>
    </p:spTree>
    <p:extLst>
      <p:ext uri="{BB962C8B-B14F-4D97-AF65-F5344CB8AC3E}">
        <p14:creationId xmlns:p14="http://schemas.microsoft.com/office/powerpoint/2010/main" val="35438624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pPr marL="0" marR="0" lvl="0" indent="0" algn="l" defTabSz="933450" rtl="0" eaLnBrk="0" fontAlgn="base" latinLnBrk="0" hangingPunct="0">
              <a:lnSpc>
                <a:spcPct val="100000"/>
              </a:lnSpc>
              <a:spcBef>
                <a:spcPct val="0"/>
              </a:spcBef>
              <a:spcAft>
                <a:spcPct val="0"/>
              </a:spcAft>
              <a:buClrTx/>
              <a:buSzTx/>
              <a:buFontTx/>
              <a:buNone/>
              <a:tabLst/>
              <a:defRPr/>
            </a:pPr>
            <a:r>
              <a:rPr kumimoji="0" lang="en-US" sz="1100" b="0" i="1" u="none" strike="noStrike" kern="1200" cap="none" spc="0" normalizeH="0" baseline="0" noProof="0">
                <a:ln>
                  <a:noFill/>
                </a:ln>
                <a:solidFill>
                  <a:srgbClr val="000000"/>
                </a:solidFill>
                <a:effectLst/>
                <a:uLnTx/>
                <a:uFillTx/>
                <a:latin typeface="Times New Roman" pitchFamily="18" charset="0"/>
                <a:ea typeface="+mn-ea"/>
                <a:cs typeface="+mn-cs"/>
              </a:rPr>
              <a:t>Handouts</a:t>
            </a:r>
          </a:p>
        </p:txBody>
      </p:sp>
      <p:sp>
        <p:nvSpPr>
          <p:cNvPr id="5" name="Rectangle 5"/>
          <p:cNvSpPr>
            <a:spLocks noGrp="1" noChangeArrowheads="1"/>
          </p:cNvSpPr>
          <p:nvPr>
            <p:ph type="sldNum" sz="quarter" idx="5"/>
          </p:nvPr>
        </p:nvSpPr>
        <p:spPr>
          <a:ln/>
        </p:spPr>
        <p:txBody>
          <a:bodyPr/>
          <a:lstStyle/>
          <a:p>
            <a:pPr marL="0" marR="0" lvl="0" indent="0" algn="r" defTabSz="933450" rtl="0" eaLnBrk="0" fontAlgn="base" latinLnBrk="0" hangingPunct="0">
              <a:lnSpc>
                <a:spcPct val="100000"/>
              </a:lnSpc>
              <a:spcBef>
                <a:spcPct val="0"/>
              </a:spcBef>
              <a:spcAft>
                <a:spcPct val="0"/>
              </a:spcAft>
              <a:buClrTx/>
              <a:buSzTx/>
              <a:buFontTx/>
              <a:buNone/>
              <a:tabLst/>
              <a:defRPr/>
            </a:pPr>
            <a:fld id="{226A24B1-493E-4BD8-B391-56C2655479CA}" type="slidenum">
              <a:rPr kumimoji="0" lang="en-US" sz="1100" b="0" i="1" u="none" strike="noStrike" kern="1200" cap="none" spc="0" normalizeH="0" baseline="0" noProof="0">
                <a:ln>
                  <a:noFill/>
                </a:ln>
                <a:solidFill>
                  <a:srgbClr val="000000"/>
                </a:solidFill>
                <a:effectLst/>
                <a:uLnTx/>
                <a:uFillTx/>
                <a:latin typeface="Times New Roman" pitchFamily="18" charset="0"/>
                <a:ea typeface="+mn-ea"/>
                <a:cs typeface="+mn-cs"/>
              </a:rPr>
              <a:pPr marL="0" marR="0" lvl="0" indent="0" algn="r" defTabSz="933450" rtl="0" eaLnBrk="0" fontAlgn="base" latinLnBrk="0" hangingPunct="0">
                <a:lnSpc>
                  <a:spcPct val="100000"/>
                </a:lnSpc>
                <a:spcBef>
                  <a:spcPct val="0"/>
                </a:spcBef>
                <a:spcAft>
                  <a:spcPct val="0"/>
                </a:spcAft>
                <a:buClrTx/>
                <a:buSzTx/>
                <a:buFontTx/>
                <a:buNone/>
                <a:tabLst/>
                <a:defRPr/>
              </a:pPr>
              <a:t>53</a:t>
            </a:fld>
            <a:endParaRPr kumimoji="0" lang="en-US" sz="1100" b="0" i="1"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376834" name="Rectangle 2"/>
          <p:cNvSpPr>
            <a:spLocks noGrp="1" noRot="1" noChangeAspect="1" noChangeArrowheads="1" noTextEdit="1"/>
          </p:cNvSpPr>
          <p:nvPr>
            <p:ph type="sldImg"/>
          </p:nvPr>
        </p:nvSpPr>
        <p:spPr>
          <a:ln/>
        </p:spPr>
      </p:sp>
      <p:sp>
        <p:nvSpPr>
          <p:cNvPr id="3768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5338372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3.xml"/><Relationship Id="rId5" Type="http://schemas.microsoft.com/office/2007/relationships/hdphoto" Target="../media/hdphoto1.wdp"/><Relationship Id="rId4" Type="http://schemas.openxmlformats.org/officeDocument/2006/relationships/image" Target="../media/image3.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3.xml"/><Relationship Id="rId5" Type="http://schemas.microsoft.com/office/2007/relationships/hdphoto" Target="../media/hdphoto1.wdp"/><Relationship Id="rId4" Type="http://schemas.openxmlformats.org/officeDocument/2006/relationships/image" Target="../media/image3.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3.xml"/><Relationship Id="rId5" Type="http://schemas.microsoft.com/office/2007/relationships/hdphoto" Target="../media/hdphoto1.wdp"/><Relationship Id="rId4" Type="http://schemas.openxmlformats.org/officeDocument/2006/relationships/image" Target="../media/image2.png"/></Relationships>
</file>

<file path=ppt/slideLayouts/_rels/slideLayout3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3.xml"/><Relationship Id="rId5" Type="http://schemas.microsoft.com/office/2007/relationships/hdphoto" Target="../media/hdphoto1.wdp"/><Relationship Id="rId4" Type="http://schemas.openxmlformats.org/officeDocument/2006/relationships/image" Target="../media/image2.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30C8030-B4F1-4567-8C07-6E5BD9305FB9}" type="datetime1">
              <a:rPr lang="en-US" smtClean="0"/>
              <a:t>10/23/25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02611B-C7D4-401B-B615-A1AB963424CC}" type="slidenum">
              <a:rPr lang="en-US" smtClean="0"/>
              <a:t>‹#›</a:t>
            </a:fld>
            <a:endParaRPr lang="en-US"/>
          </a:p>
        </p:txBody>
      </p:sp>
    </p:spTree>
    <p:extLst>
      <p:ext uri="{BB962C8B-B14F-4D97-AF65-F5344CB8AC3E}">
        <p14:creationId xmlns:p14="http://schemas.microsoft.com/office/powerpoint/2010/main" val="9905243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1874834-4011-46EB-8EC0-D35D5DA8F84C}" type="datetime1">
              <a:rPr lang="en-US" smtClean="0"/>
              <a:t>10/23/25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02611B-C7D4-401B-B615-A1AB963424CC}" type="slidenum">
              <a:rPr lang="en-US" smtClean="0"/>
              <a:t>‹#›</a:t>
            </a:fld>
            <a:endParaRPr lang="en-US"/>
          </a:p>
        </p:txBody>
      </p:sp>
    </p:spTree>
    <p:extLst>
      <p:ext uri="{BB962C8B-B14F-4D97-AF65-F5344CB8AC3E}">
        <p14:creationId xmlns:p14="http://schemas.microsoft.com/office/powerpoint/2010/main" val="29200054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22BEEEE-3B5D-483D-9148-4A3F1CB5CF54}" type="datetime1">
              <a:rPr lang="en-US" smtClean="0"/>
              <a:t>10/23/25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02611B-C7D4-401B-B615-A1AB963424CC}" type="slidenum">
              <a:rPr lang="en-US" smtClean="0"/>
              <a:t>‹#›</a:t>
            </a:fld>
            <a:endParaRPr lang="en-US"/>
          </a:p>
        </p:txBody>
      </p:sp>
    </p:spTree>
    <p:extLst>
      <p:ext uri="{BB962C8B-B14F-4D97-AF65-F5344CB8AC3E}">
        <p14:creationId xmlns:p14="http://schemas.microsoft.com/office/powerpoint/2010/main" val="31426452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3E6C839-5DA0-4BB0-A56B-EC389110AFF6}" type="datetime1">
              <a:rPr lang="en-US" smtClean="0"/>
              <a:t>10/23/25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02611B-C7D4-401B-B615-A1AB963424CC}" type="slidenum">
              <a:rPr lang="en-US" smtClean="0"/>
              <a:t>‹#›</a:t>
            </a:fld>
            <a:endParaRPr lang="en-US"/>
          </a:p>
        </p:txBody>
      </p:sp>
    </p:spTree>
    <p:extLst>
      <p:ext uri="{BB962C8B-B14F-4D97-AF65-F5344CB8AC3E}">
        <p14:creationId xmlns:p14="http://schemas.microsoft.com/office/powerpoint/2010/main" val="17535010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91F6928-A2F2-4173-AFC1-EA48D83B5386}" type="datetime1">
              <a:rPr lang="en-US" smtClean="0"/>
              <a:t>10/23/25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02611B-C7D4-401B-B615-A1AB963424CC}" type="slidenum">
              <a:rPr lang="en-US" smtClean="0"/>
              <a:t>‹#›</a:t>
            </a:fld>
            <a:endParaRPr lang="en-US"/>
          </a:p>
        </p:txBody>
      </p:sp>
    </p:spTree>
    <p:extLst>
      <p:ext uri="{BB962C8B-B14F-4D97-AF65-F5344CB8AC3E}">
        <p14:creationId xmlns:p14="http://schemas.microsoft.com/office/powerpoint/2010/main" val="26215807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538BFEB-591A-4460-9AE7-C7DB5F519179}" type="datetime1">
              <a:rPr lang="en-US" smtClean="0"/>
              <a:t>10/23/25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02611B-C7D4-401B-B615-A1AB963424CC}" type="slidenum">
              <a:rPr lang="en-US" smtClean="0"/>
              <a:t>‹#›</a:t>
            </a:fld>
            <a:endParaRPr lang="en-US"/>
          </a:p>
        </p:txBody>
      </p:sp>
    </p:spTree>
    <p:extLst>
      <p:ext uri="{BB962C8B-B14F-4D97-AF65-F5344CB8AC3E}">
        <p14:creationId xmlns:p14="http://schemas.microsoft.com/office/powerpoint/2010/main" val="19196197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D3B8359-A0DB-48EE-B9A4-98349A6BC7BF}" type="datetime1">
              <a:rPr lang="en-US" smtClean="0"/>
              <a:t>10/23/25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02611B-C7D4-401B-B615-A1AB963424CC}" type="slidenum">
              <a:rPr lang="en-US" smtClean="0"/>
              <a:t>‹#›</a:t>
            </a:fld>
            <a:endParaRPr lang="en-US"/>
          </a:p>
        </p:txBody>
      </p:sp>
    </p:spTree>
    <p:extLst>
      <p:ext uri="{BB962C8B-B14F-4D97-AF65-F5344CB8AC3E}">
        <p14:creationId xmlns:p14="http://schemas.microsoft.com/office/powerpoint/2010/main" val="19225660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374A30A-9D9B-4C00-A7CE-F7041C758DC6}" type="datetime1">
              <a:rPr lang="en-US" smtClean="0"/>
              <a:t>10/23/25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02611B-C7D4-401B-B615-A1AB963424CC}" type="slidenum">
              <a:rPr lang="en-US" smtClean="0"/>
              <a:t>‹#›</a:t>
            </a:fld>
            <a:endParaRPr lang="en-US"/>
          </a:p>
        </p:txBody>
      </p:sp>
    </p:spTree>
    <p:extLst>
      <p:ext uri="{BB962C8B-B14F-4D97-AF65-F5344CB8AC3E}">
        <p14:creationId xmlns:p14="http://schemas.microsoft.com/office/powerpoint/2010/main" val="22842029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A762F76-C4D5-4114-ABA0-F6E7B505FB61}" type="datetime1">
              <a:rPr lang="en-US" smtClean="0"/>
              <a:t>10/23/25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02611B-C7D4-401B-B615-A1AB963424CC}" type="slidenum">
              <a:rPr lang="en-US" smtClean="0"/>
              <a:t>‹#›</a:t>
            </a:fld>
            <a:endParaRPr lang="en-US"/>
          </a:p>
        </p:txBody>
      </p:sp>
    </p:spTree>
    <p:extLst>
      <p:ext uri="{BB962C8B-B14F-4D97-AF65-F5344CB8AC3E}">
        <p14:creationId xmlns:p14="http://schemas.microsoft.com/office/powerpoint/2010/main" val="3569720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9AE743C-E8B0-461E-B58F-5178D7C7E391}" type="datetime1">
              <a:rPr lang="en-US" smtClean="0"/>
              <a:t>10/23/25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02611B-C7D4-401B-B615-A1AB963424CC}" type="slidenum">
              <a:rPr lang="en-US" smtClean="0"/>
              <a:t>‹#›</a:t>
            </a:fld>
            <a:endParaRPr lang="en-US"/>
          </a:p>
        </p:txBody>
      </p:sp>
    </p:spTree>
    <p:extLst>
      <p:ext uri="{BB962C8B-B14F-4D97-AF65-F5344CB8AC3E}">
        <p14:creationId xmlns:p14="http://schemas.microsoft.com/office/powerpoint/2010/main" val="15528440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D25D399-5210-4F04-9044-988AE8CCE8F2}" type="datetime1">
              <a:rPr lang="en-US" smtClean="0"/>
              <a:t>10/23/25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02611B-C7D4-401B-B615-A1AB963424CC}" type="slidenum">
              <a:rPr lang="en-US" smtClean="0"/>
              <a:t>‹#›</a:t>
            </a:fld>
            <a:endParaRPr lang="en-US"/>
          </a:p>
        </p:txBody>
      </p:sp>
    </p:spTree>
    <p:extLst>
      <p:ext uri="{BB962C8B-B14F-4D97-AF65-F5344CB8AC3E}">
        <p14:creationId xmlns:p14="http://schemas.microsoft.com/office/powerpoint/2010/main" val="30788126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42C46FB8-AE57-44C1-B663-4AE419588CFA}" type="datetimeFigureOut">
              <a:rPr lang="en-US" smtClean="0"/>
              <a:t>10/23/25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02611B-C7D4-401B-B615-A1AB963424CC}" type="slidenum">
              <a:rPr lang="en-US" smtClean="0"/>
              <a:t>‹#›</a:t>
            </a:fld>
            <a:endParaRPr lang="en-US"/>
          </a:p>
        </p:txBody>
      </p:sp>
    </p:spTree>
    <p:extLst>
      <p:ext uri="{BB962C8B-B14F-4D97-AF65-F5344CB8AC3E}">
        <p14:creationId xmlns:p14="http://schemas.microsoft.com/office/powerpoint/2010/main" val="30626249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C46FB8-AE57-44C1-B663-4AE419588CFA}" type="datetimeFigureOut">
              <a:rPr lang="en-US" smtClean="0"/>
              <a:t>10/23/25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02611B-C7D4-401B-B615-A1AB963424CC}" type="slidenum">
              <a:rPr lang="en-US" smtClean="0"/>
              <a:t>‹#›</a:t>
            </a:fld>
            <a:endParaRPr lang="en-US"/>
          </a:p>
        </p:txBody>
      </p:sp>
    </p:spTree>
    <p:extLst>
      <p:ext uri="{BB962C8B-B14F-4D97-AF65-F5344CB8AC3E}">
        <p14:creationId xmlns:p14="http://schemas.microsoft.com/office/powerpoint/2010/main" val="27503017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2C46FB8-AE57-44C1-B663-4AE419588CFA}" type="datetimeFigureOut">
              <a:rPr lang="en-US" smtClean="0"/>
              <a:t>10/23/25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02611B-C7D4-401B-B615-A1AB963424CC}" type="slidenum">
              <a:rPr lang="en-US" smtClean="0"/>
              <a:t>‹#›</a:t>
            </a:fld>
            <a:endParaRPr lang="en-US"/>
          </a:p>
        </p:txBody>
      </p:sp>
    </p:spTree>
    <p:extLst>
      <p:ext uri="{BB962C8B-B14F-4D97-AF65-F5344CB8AC3E}">
        <p14:creationId xmlns:p14="http://schemas.microsoft.com/office/powerpoint/2010/main" val="30772001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2C46FB8-AE57-44C1-B663-4AE419588CFA}" type="datetimeFigureOut">
              <a:rPr lang="en-US" smtClean="0"/>
              <a:t>10/23/25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02611B-C7D4-401B-B615-A1AB963424CC}" type="slidenum">
              <a:rPr lang="en-US" smtClean="0"/>
              <a:t>‹#›</a:t>
            </a:fld>
            <a:endParaRPr lang="en-US"/>
          </a:p>
        </p:txBody>
      </p:sp>
    </p:spTree>
    <p:extLst>
      <p:ext uri="{BB962C8B-B14F-4D97-AF65-F5344CB8AC3E}">
        <p14:creationId xmlns:p14="http://schemas.microsoft.com/office/powerpoint/2010/main" val="39725028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2C46FB8-AE57-44C1-B663-4AE419588CFA}" type="datetimeFigureOut">
              <a:rPr lang="en-US" smtClean="0"/>
              <a:t>10/23/25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02611B-C7D4-401B-B615-A1AB963424CC}" type="slidenum">
              <a:rPr lang="en-US" smtClean="0"/>
              <a:t>‹#›</a:t>
            </a:fld>
            <a:endParaRPr lang="en-US"/>
          </a:p>
        </p:txBody>
      </p:sp>
    </p:spTree>
    <p:extLst>
      <p:ext uri="{BB962C8B-B14F-4D97-AF65-F5344CB8AC3E}">
        <p14:creationId xmlns:p14="http://schemas.microsoft.com/office/powerpoint/2010/main" val="32304909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2C46FB8-AE57-44C1-B663-4AE419588CFA}" type="datetimeFigureOut">
              <a:rPr lang="en-US" smtClean="0"/>
              <a:t>10/23/25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02611B-C7D4-401B-B615-A1AB963424CC}" type="slidenum">
              <a:rPr lang="en-US" smtClean="0"/>
              <a:t>‹#›</a:t>
            </a:fld>
            <a:endParaRPr lang="en-US"/>
          </a:p>
        </p:txBody>
      </p:sp>
    </p:spTree>
    <p:extLst>
      <p:ext uri="{BB962C8B-B14F-4D97-AF65-F5344CB8AC3E}">
        <p14:creationId xmlns:p14="http://schemas.microsoft.com/office/powerpoint/2010/main" val="28566364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C46FB8-AE57-44C1-B663-4AE419588CFA}" type="datetimeFigureOut">
              <a:rPr lang="en-US" smtClean="0"/>
              <a:t>10/23/25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02611B-C7D4-401B-B615-A1AB963424CC}" type="slidenum">
              <a:rPr lang="en-US" smtClean="0"/>
              <a:t>‹#›</a:t>
            </a:fld>
            <a:endParaRPr lang="en-US"/>
          </a:p>
        </p:txBody>
      </p:sp>
    </p:spTree>
    <p:extLst>
      <p:ext uri="{BB962C8B-B14F-4D97-AF65-F5344CB8AC3E}">
        <p14:creationId xmlns:p14="http://schemas.microsoft.com/office/powerpoint/2010/main" val="211129927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2C46FB8-AE57-44C1-B663-4AE419588CFA}" type="datetimeFigureOut">
              <a:rPr lang="en-US" smtClean="0"/>
              <a:t>10/23/25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02611B-C7D4-401B-B615-A1AB963424CC}" type="slidenum">
              <a:rPr lang="en-US" smtClean="0"/>
              <a:t>‹#›</a:t>
            </a:fld>
            <a:endParaRPr lang="en-US"/>
          </a:p>
        </p:txBody>
      </p:sp>
    </p:spTree>
    <p:extLst>
      <p:ext uri="{BB962C8B-B14F-4D97-AF65-F5344CB8AC3E}">
        <p14:creationId xmlns:p14="http://schemas.microsoft.com/office/powerpoint/2010/main" val="12365453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2C46FB8-AE57-44C1-B663-4AE419588CFA}" type="datetimeFigureOut">
              <a:rPr lang="en-US" smtClean="0"/>
              <a:t>10/23/25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02611B-C7D4-401B-B615-A1AB963424CC}" type="slidenum">
              <a:rPr lang="en-US" smtClean="0"/>
              <a:t>‹#›</a:t>
            </a:fld>
            <a:endParaRPr lang="en-US"/>
          </a:p>
        </p:txBody>
      </p:sp>
    </p:spTree>
    <p:extLst>
      <p:ext uri="{BB962C8B-B14F-4D97-AF65-F5344CB8AC3E}">
        <p14:creationId xmlns:p14="http://schemas.microsoft.com/office/powerpoint/2010/main" val="41015774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C46FB8-AE57-44C1-B663-4AE419588CFA}" type="datetimeFigureOut">
              <a:rPr lang="en-US" smtClean="0"/>
              <a:t>10/23/25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02611B-C7D4-401B-B615-A1AB963424CC}" type="slidenum">
              <a:rPr lang="en-US" smtClean="0"/>
              <a:t>‹#›</a:t>
            </a:fld>
            <a:endParaRPr lang="en-US"/>
          </a:p>
        </p:txBody>
      </p:sp>
    </p:spTree>
    <p:extLst>
      <p:ext uri="{BB962C8B-B14F-4D97-AF65-F5344CB8AC3E}">
        <p14:creationId xmlns:p14="http://schemas.microsoft.com/office/powerpoint/2010/main" val="238328220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C46FB8-AE57-44C1-B663-4AE419588CFA}" type="datetimeFigureOut">
              <a:rPr lang="en-US" smtClean="0"/>
              <a:t>10/23/25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02611B-C7D4-401B-B615-A1AB963424CC}" type="slidenum">
              <a:rPr lang="en-US" smtClean="0"/>
              <a:t>‹#›</a:t>
            </a:fld>
            <a:endParaRPr lang="en-US"/>
          </a:p>
        </p:txBody>
      </p:sp>
    </p:spTree>
    <p:extLst>
      <p:ext uri="{BB962C8B-B14F-4D97-AF65-F5344CB8AC3E}">
        <p14:creationId xmlns:p14="http://schemas.microsoft.com/office/powerpoint/2010/main" val="155977982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a:t>Click to edit Master title style</a:t>
            </a:r>
          </a:p>
        </p:txBody>
      </p:sp>
      <p:sp>
        <p:nvSpPr>
          <p:cNvPr id="3" name="Text Placeholder 2"/>
          <p:cNvSpPr>
            <a:spLocks noGrp="1"/>
          </p:cNvSpPr>
          <p:nvPr>
            <p:ph type="body" sz="half" idx="1"/>
          </p:nvPr>
        </p:nvSpPr>
        <p:spPr>
          <a:xfrm>
            <a:off x="9144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981200"/>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4114800"/>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914400" y="6248400"/>
            <a:ext cx="2540000" cy="457200"/>
          </a:xfrm>
          <a:prstGeom prst="rect">
            <a:avLst/>
          </a:prstGeom>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Footer Placeholder 6"/>
          <p:cNvSpPr>
            <a:spLocks noGrp="1"/>
          </p:cNvSpPr>
          <p:nvPr>
            <p:ph type="ftr" sz="quarter" idx="11"/>
          </p:nvPr>
        </p:nvSpPr>
        <p:spPr>
          <a:xfrm>
            <a:off x="4165600" y="6248400"/>
            <a:ext cx="3860800" cy="457200"/>
          </a:xfrm>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SOEN345-W13-L7: Boundary Testing</a:t>
            </a:r>
          </a:p>
        </p:txBody>
      </p:sp>
      <p:sp>
        <p:nvSpPr>
          <p:cNvPr id="8" name="Slide Number Placeholder 7"/>
          <p:cNvSpPr>
            <a:spLocks noGrp="1"/>
          </p:cNvSpPr>
          <p:nvPr>
            <p:ph type="sldNum" sz="quarter" idx="12"/>
          </p:nvPr>
        </p:nvSpPr>
        <p:spPr>
          <a:xfrm>
            <a:off x="8737600" y="6248400"/>
            <a:ext cx="2540000" cy="457200"/>
          </a:xfr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6CFD5E0-3F8F-4BD8-AC6E-CD09E8033726}" type="slidenum">
              <a:rPr kumimoji="0" lang="en-CA"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CA"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1926802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766233" y="304801"/>
            <a:ext cx="10668000" cy="1216025"/>
          </a:xfrm>
        </p:spPr>
        <p:txBody>
          <a:bodyPr/>
          <a:lstStyle/>
          <a:p>
            <a:r>
              <a:rPr lang="en-US"/>
              <a:t>Click to edit Master title style</a:t>
            </a:r>
          </a:p>
        </p:txBody>
      </p:sp>
      <p:sp>
        <p:nvSpPr>
          <p:cNvPr id="3" name="Text Placeholder 2"/>
          <p:cNvSpPr>
            <a:spLocks noGrp="1"/>
          </p:cNvSpPr>
          <p:nvPr>
            <p:ph type="body" sz="half" idx="1"/>
          </p:nvPr>
        </p:nvSpPr>
        <p:spPr>
          <a:xfrm>
            <a:off x="755651" y="1752600"/>
            <a:ext cx="10668000" cy="2057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755651" y="3962400"/>
            <a:ext cx="10668000" cy="2057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12800" y="6245225"/>
            <a:ext cx="2641600" cy="476250"/>
          </a:xfrm>
          <a:prstGeom prst="rect">
            <a:avLst/>
          </a:prstGeom>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Footer Placeholder 5"/>
          <p:cNvSpPr>
            <a:spLocks noGrp="1"/>
          </p:cNvSpPr>
          <p:nvPr>
            <p:ph type="ftr" sz="quarter" idx="11"/>
          </p:nvPr>
        </p:nvSpPr>
        <p:spPr>
          <a:xfrm>
            <a:off x="4165600" y="6245225"/>
            <a:ext cx="3860800" cy="476250"/>
          </a:xfrm>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SOEN345-W13-L7: Boundary Testing</a:t>
            </a:r>
          </a:p>
        </p:txBody>
      </p:sp>
      <p:sp>
        <p:nvSpPr>
          <p:cNvPr id="7" name="Slide Number Placeholder 6"/>
          <p:cNvSpPr>
            <a:spLocks noGrp="1"/>
          </p:cNvSpPr>
          <p:nvPr>
            <p:ph type="sldNum" sz="quarter" idx="12"/>
          </p:nvPr>
        </p:nvSpPr>
        <p:spPr>
          <a:xfrm>
            <a:off x="8737600" y="6245225"/>
            <a:ext cx="2641600" cy="476250"/>
          </a:xfr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5942C0A-2431-4AC6-99CE-68EBA3B588DF}" type="slidenum">
              <a:rPr kumimoji="0" lang="ar-SA"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977426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8000" cap="all" baseline="0">
                <a:blipFill dpi="0" rotWithShape="1">
                  <a:blip r:embed="rId4"/>
                  <a:srcRect/>
                  <a:tile tx="6350" ty="-127000" sx="65000" sy="64000" flip="none" algn="tl"/>
                </a:blipFill>
              </a:defRPr>
            </a:lvl1pPr>
          </a:lstStyle>
          <a:p>
            <a:r>
              <a:rPr lang="en-US" dirty="0"/>
              <a:t>Click to edit Master title style</a:t>
            </a:r>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Click to edit Master subtitle style</a:t>
            </a:r>
          </a:p>
        </p:txBody>
      </p:sp>
      <p:sp>
        <p:nvSpPr>
          <p:cNvPr id="4" name="Date Placeholder 3"/>
          <p:cNvSpPr>
            <a:spLocks noGrp="1"/>
          </p:cNvSpPr>
          <p:nvPr>
            <p:ph type="dt" sz="half" idx="10"/>
          </p:nvPr>
        </p:nvSpPr>
        <p:spPr/>
        <p:txBody>
          <a:bodyPr/>
          <a:lstStyle/>
          <a:p>
            <a:fld id="{F02EF089-A624-4AB7-8B7F-2212E43B5F77}" type="datetime1">
              <a:rPr lang="en-US" smtClean="0"/>
              <a:t>10/23/25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8620917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marL="363538" indent="-363538">
              <a:tabLst/>
              <a:defRPr sz="3600"/>
            </a:lvl1pPr>
            <a:lvl2pPr marL="628650" indent="-354013">
              <a:tabLst/>
              <a:defRPr sz="3200"/>
            </a:lvl2pPr>
            <a:lvl3pPr marL="893763" indent="-346075">
              <a:tabLst/>
              <a:defRPr sz="2800"/>
            </a:lvl3pPr>
            <a:lvl4pPr marL="1158875" indent="-336550">
              <a:tabLst/>
              <a:defRPr sz="2800"/>
            </a:lvl4pPr>
            <a:lvl5pPr marL="1423988" indent="-327025">
              <a:tabLst/>
              <a:defRPr sz="2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6BFBC5EE-8023-48A0-B577-A5117191FDD2}" type="datetime1">
              <a:rPr lang="en-US" smtClean="0"/>
              <a:t>10/23/25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88724198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8593667" y="6272784"/>
            <a:ext cx="2644309" cy="365125"/>
          </a:xfrm>
        </p:spPr>
        <p:txBody>
          <a:bodyPr/>
          <a:lstStyle/>
          <a:p>
            <a:fld id="{8A247A89-8FD0-4D3F-AE44-186FA5A357B4}" type="datetime1">
              <a:rPr lang="en-US" smtClean="0"/>
              <a:t>10/23/25</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36306591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EF76F02-BBAE-414F-9EC4-5B5F51B31BDB}" type="datetime1">
              <a:rPr lang="en-US" smtClean="0"/>
              <a:t>10/23/25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28843856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2F49CE-F4FE-45C3-BBAB-CFE946522D3B}" type="datetime1">
              <a:rPr lang="en-US" smtClean="0"/>
              <a:t>10/23/25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28599109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23221F2F-1A99-4762-A6E9-3172ACF4978C}" type="datetime1">
              <a:rPr lang="en-US" smtClean="0"/>
              <a:t>10/23/25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6804599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1EA1192-0569-4FE3-B36A-F319D4D12EA7}" type="datetime1">
              <a:rPr lang="en-US" smtClean="0"/>
              <a:t>10/23/25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144396587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DC0433F-3AC1-46DB-A8F6-3397C409090D}" type="datetime1">
              <a:rPr lang="en-US" smtClean="0"/>
              <a:t>10/23/25</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11098603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p:cNvSpPr>
          <p:nvPr>
            <p:ph type="pic" idx="1"/>
          </p:nvPr>
        </p:nvSpPr>
        <p:spPr>
          <a:xfrm>
            <a:off x="0" y="0"/>
            <a:ext cx="8303740" cy="6858000"/>
          </a:xfrm>
          <a:solidFill>
            <a:schemeClr val="tx2">
              <a:lumMod val="20000"/>
              <a:lumOff val="8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71BF6D33-D9B1-481D-971E-4AEB549657B4}" type="datetime1">
              <a:rPr lang="en-US" smtClean="0"/>
              <a:t>10/23/25</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350070125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F30853F-751A-4ADE-AEBA-5696F2A13B50}" type="datetime1">
              <a:rPr lang="en-US" smtClean="0"/>
              <a:t>10/23/25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34501720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33279F3-C829-4592-BA39-957487C9EDF2}" type="datetime1">
              <a:rPr lang="en-US" smtClean="0"/>
              <a:t>10/23/25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28283319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 1 column" type="tx">
  <p:cSld name="Title + 1 column">
    <p:spTree>
      <p:nvGrpSpPr>
        <p:cNvPr id="1" name="Shape 40"/>
        <p:cNvGrpSpPr/>
        <p:nvPr/>
      </p:nvGrpSpPr>
      <p:grpSpPr>
        <a:xfrm>
          <a:off x="0" y="0"/>
          <a:ext cx="0" cy="0"/>
          <a:chOff x="0" y="0"/>
          <a:chExt cx="0" cy="0"/>
        </a:xfrm>
      </p:grpSpPr>
      <p:sp>
        <p:nvSpPr>
          <p:cNvPr id="41" name="Google Shape;41;p5"/>
          <p:cNvSpPr txBox="1">
            <a:spLocks noGrp="1"/>
          </p:cNvSpPr>
          <p:nvPr>
            <p:ph type="title"/>
          </p:nvPr>
        </p:nvSpPr>
        <p:spPr>
          <a:xfrm>
            <a:off x="1048200" y="410826"/>
            <a:ext cx="10095600" cy="936900"/>
          </a:xfrm>
          <a:prstGeom prst="rect">
            <a:avLst/>
          </a:prstGeom>
        </p:spPr>
        <p:txBody>
          <a:bodyPr spcFirstLastPara="1" wrap="square" lIns="91425" tIns="91425" rIns="91425" bIns="91425" anchor="b" anchorCtr="0"/>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42" name="Google Shape;42;p5"/>
          <p:cNvSpPr txBox="1">
            <a:spLocks noGrp="1"/>
          </p:cNvSpPr>
          <p:nvPr>
            <p:ph type="body" idx="1"/>
          </p:nvPr>
        </p:nvSpPr>
        <p:spPr>
          <a:xfrm>
            <a:off x="1048200" y="1682267"/>
            <a:ext cx="10095600" cy="4764900"/>
          </a:xfrm>
          <a:prstGeom prst="rect">
            <a:avLst/>
          </a:prstGeom>
        </p:spPr>
        <p:txBody>
          <a:bodyPr spcFirstLastPara="1" wrap="square" lIns="91425" tIns="91425" rIns="91425" bIns="91425" anchor="t" anchorCtr="0"/>
          <a:lstStyle>
            <a:lvl1pPr marL="457200" lvl="0" indent="-419100">
              <a:spcBef>
                <a:spcPts val="600"/>
              </a:spcBef>
              <a:spcAft>
                <a:spcPts val="0"/>
              </a:spcAft>
              <a:buSzPts val="3000"/>
              <a:buChar char="◎"/>
              <a:defRPr/>
            </a:lvl1pPr>
            <a:lvl2pPr marL="914400" lvl="1" indent="-381000">
              <a:spcBef>
                <a:spcPts val="0"/>
              </a:spcBef>
              <a:spcAft>
                <a:spcPts val="0"/>
              </a:spcAft>
              <a:buSzPts val="2400"/>
              <a:buChar char="○"/>
              <a:defRPr/>
            </a:lvl2pPr>
            <a:lvl3pPr marL="1371600" lvl="2" indent="-381000">
              <a:spcBef>
                <a:spcPts val="0"/>
              </a:spcBef>
              <a:spcAft>
                <a:spcPts val="0"/>
              </a:spcAft>
              <a:buSzPts val="2400"/>
              <a:buChar char="◉"/>
              <a:defRPr/>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a:p>
        </p:txBody>
      </p:sp>
      <p:sp>
        <p:nvSpPr>
          <p:cNvPr id="43" name="Google Shape;43;p5"/>
          <p:cNvSpPr txBox="1">
            <a:spLocks noGrp="1"/>
          </p:cNvSpPr>
          <p:nvPr>
            <p:ph type="sldNum" idx="12"/>
          </p:nvPr>
        </p:nvSpPr>
        <p:spPr>
          <a:xfrm>
            <a:off x="11205845" y="6333134"/>
            <a:ext cx="731600" cy="52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9574343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6" Type="http://schemas.openxmlformats.org/officeDocument/2006/relationships/image" Target="../media/image3.png"/><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microsoft.com/office/2007/relationships/hdphoto" Target="../media/hdphoto1.wdp"/><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25D435-878F-41C6-956A-1DFD63D7F89A}" type="datetime1">
              <a:rPr lang="en-US" smtClean="0"/>
              <a:t>10/23/25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02611B-C7D4-401B-B615-A1AB963424CC}" type="slidenum">
              <a:rPr lang="en-US" smtClean="0"/>
              <a:t>‹#›</a:t>
            </a:fld>
            <a:endParaRPr lang="en-US"/>
          </a:p>
        </p:txBody>
      </p:sp>
    </p:spTree>
    <p:extLst>
      <p:ext uri="{BB962C8B-B14F-4D97-AF65-F5344CB8AC3E}">
        <p14:creationId xmlns:p14="http://schemas.microsoft.com/office/powerpoint/2010/main" val="34717687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C46FB8-AE57-44C1-B663-4AE419588CFA}" type="datetimeFigureOut">
              <a:rPr lang="en-US" smtClean="0"/>
              <a:t>10/23/25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02611B-C7D4-401B-B615-A1AB963424CC}" type="slidenum">
              <a:rPr lang="en-US" smtClean="0"/>
              <a:t>‹#›</a:t>
            </a:fld>
            <a:endParaRPr lang="en-US"/>
          </a:p>
        </p:txBody>
      </p:sp>
    </p:spTree>
    <p:extLst>
      <p:ext uri="{BB962C8B-B14F-4D97-AF65-F5344CB8AC3E}">
        <p14:creationId xmlns:p14="http://schemas.microsoft.com/office/powerpoint/2010/main" val="428125031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8B3F41A-BBB1-4D5B-B4E1-5EA02F485917}" type="datetime1">
              <a:rPr lang="en-US" smtClean="0"/>
              <a:t>10/23/25</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4">
                <a:duotone>
                  <a:schemeClr val="accent1">
                    <a:shade val="45000"/>
                    <a:satMod val="135000"/>
                  </a:schemeClr>
                  <a:prstClr val="white"/>
                </a:duotone>
                <a:extLst>
                  <a:ext uri="{BEBA8EAE-BF5A-486C-A8C5-ECC9F3942E4B}">
                    <a14:imgProps xmlns:a14="http://schemas.microsoft.com/office/drawing/2010/main">
                      <a14:imgLayer r:embed="rId1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74677814"/>
      </p:ext>
    </p:extLst>
  </p:cSld>
  <p:clrMap bg1="lt1" tx1="dk1" bg2="lt2" tx2="dk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22" r:id="rId6"/>
    <p:sldLayoutId id="2147483723" r:id="rId7"/>
    <p:sldLayoutId id="2147483724" r:id="rId8"/>
    <p:sldLayoutId id="2147483725" r:id="rId9"/>
    <p:sldLayoutId id="2147483726" r:id="rId10"/>
    <p:sldLayoutId id="2147483727" r:id="rId11"/>
    <p:sldLayoutId id="2147483728" r:id="rId12"/>
  </p:sldLayoutIdLst>
  <p:hf hdr="0" ftr="0" dt="0"/>
  <p:txStyles>
    <p:titleStyle>
      <a:lvl1pPr algn="l" defTabSz="914400" rtl="0" eaLnBrk="1" latinLnBrk="0" hangingPunct="1">
        <a:lnSpc>
          <a:spcPct val="90000"/>
        </a:lnSpc>
        <a:spcBef>
          <a:spcPct val="0"/>
        </a:spcBef>
        <a:buNone/>
        <a:defRPr sz="5400" kern="1200" cap="all" baseline="0">
          <a:blipFill>
            <a:blip r:embed="rId16">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5.xml"/><Relationship Id="rId7" Type="http://schemas.openxmlformats.org/officeDocument/2006/relationships/image" Target="../media/image5.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3.png"/><Relationship Id="rId5" Type="http://schemas.microsoft.com/office/2007/relationships/hdphoto" Target="../media/hdphoto2.wdp"/><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6.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30.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0.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6.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8.xml"/><Relationship Id="rId1" Type="http://schemas.openxmlformats.org/officeDocument/2006/relationships/slideLayout" Target="../slideLayouts/slideLayout3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package" Target="../embeddings/Microsoft_PowerPoint_Slide.sldx"/><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16.gif"/><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cs.gmu.edu:8443/offutt/coverage/GraphCoverage"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4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 name="Rectangle 60">
            <a:extLst>
              <a:ext uri="{FF2B5EF4-FFF2-40B4-BE49-F238E27FC236}">
                <a16:creationId xmlns:a16="http://schemas.microsoft.com/office/drawing/2014/main" id="{EB384DB2-5DBE-4000-BBD8-68F4A6F353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2" name="Rectangle 61">
            <a:extLst>
              <a:ext uri="{FF2B5EF4-FFF2-40B4-BE49-F238E27FC236}">
                <a16:creationId xmlns:a16="http://schemas.microsoft.com/office/drawing/2014/main" id="{F8497EEB-0DDE-4044-AAB7-8995040571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772078"/>
            <a:ext cx="12192000" cy="3095754"/>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63" name="Group 62">
            <a:extLst>
              <a:ext uri="{FF2B5EF4-FFF2-40B4-BE49-F238E27FC236}">
                <a16:creationId xmlns:a16="http://schemas.microsoft.com/office/drawing/2014/main" id="{291D5588-0A43-44F8-8BF9-4BD0CB07312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45590" y="5218262"/>
            <a:ext cx="1080904" cy="1080902"/>
            <a:chOff x="9685338" y="4460675"/>
            <a:chExt cx="1080904" cy="1080902"/>
          </a:xfrm>
        </p:grpSpPr>
        <p:sp>
          <p:nvSpPr>
            <p:cNvPr id="54" name="Oval 53">
              <a:extLst>
                <a:ext uri="{FF2B5EF4-FFF2-40B4-BE49-F238E27FC236}">
                  <a16:creationId xmlns:a16="http://schemas.microsoft.com/office/drawing/2014/main" id="{C96F04B2-EA02-4F51-91CB-9399DBE724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6">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64" name="Oval 63">
              <a:extLst>
                <a:ext uri="{FF2B5EF4-FFF2-40B4-BE49-F238E27FC236}">
                  <a16:creationId xmlns:a16="http://schemas.microsoft.com/office/drawing/2014/main" id="{524F9A86-344F-4139-A831-9D8F3E0EE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4" name="Title 3"/>
          <p:cNvSpPr>
            <a:spLocks noGrp="1"/>
          </p:cNvSpPr>
          <p:nvPr>
            <p:ph type="ctrTitle" sz="quarter"/>
          </p:nvPr>
        </p:nvSpPr>
        <p:spPr>
          <a:xfrm>
            <a:off x="619432" y="3803009"/>
            <a:ext cx="10953136" cy="1080903"/>
          </a:xfrm>
        </p:spPr>
        <p:txBody>
          <a:bodyPr anchor="b">
            <a:normAutofit/>
          </a:bodyPr>
          <a:lstStyle/>
          <a:p>
            <a:pPr algn="ctr"/>
            <a:r>
              <a:rPr lang="en-US" sz="6100" dirty="0">
                <a:latin typeface="Calibri" panose="020F0502020204030204" pitchFamily="34" charset="0"/>
                <a:cs typeface="Calibri" panose="020F0502020204030204" pitchFamily="34" charset="0"/>
              </a:rPr>
              <a:t>Software ENGINEERING </a:t>
            </a:r>
            <a:endParaRPr lang="en-US" sz="6100" dirty="0"/>
          </a:p>
        </p:txBody>
      </p:sp>
      <p:sp>
        <p:nvSpPr>
          <p:cNvPr id="5" name="Subtitle 4"/>
          <p:cNvSpPr>
            <a:spLocks noGrp="1"/>
          </p:cNvSpPr>
          <p:nvPr>
            <p:ph type="subTitle" sz="quarter" idx="1"/>
          </p:nvPr>
        </p:nvSpPr>
        <p:spPr>
          <a:xfrm>
            <a:off x="1954031" y="5039833"/>
            <a:ext cx="8283940" cy="1232951"/>
          </a:xfrm>
        </p:spPr>
        <p:txBody>
          <a:bodyPr>
            <a:normAutofit/>
          </a:bodyPr>
          <a:lstStyle/>
          <a:p>
            <a:pPr algn="ctr"/>
            <a:r>
              <a:rPr lang="en-US" sz="2800" b="1" dirty="0">
                <a:solidFill>
                  <a:srgbClr val="000000"/>
                </a:solidFill>
              </a:rPr>
              <a:t>Control Flow Testing by </a:t>
            </a:r>
            <a:r>
              <a:rPr lang="en-US" sz="2800" dirty="0">
                <a:solidFill>
                  <a:srgbClr val="000000"/>
                </a:solidFill>
              </a:rPr>
              <a:t>Prof. Mohamad Kassab, Leonidas Kontothanassis  </a:t>
            </a:r>
            <a:r>
              <a:rPr lang="en-US" sz="2800" dirty="0" err="1">
                <a:solidFill>
                  <a:srgbClr val="000000"/>
                </a:solidFill>
              </a:rPr>
              <a:t>kthanasi@bu.edu</a:t>
            </a:r>
            <a:endParaRPr lang="en-US" sz="2800" dirty="0">
              <a:solidFill>
                <a:srgbClr val="000000"/>
              </a:solidFill>
            </a:endParaRPr>
          </a:p>
        </p:txBody>
      </p:sp>
      <p:pic>
        <p:nvPicPr>
          <p:cNvPr id="7" name="Video 6" descr="A white gears in a circle&#10;&#10;Description automatically generated">
            <a:extLst>
              <a:ext uri="{FF2B5EF4-FFF2-40B4-BE49-F238E27FC236}">
                <a16:creationId xmlns:a16="http://schemas.microsoft.com/office/drawing/2014/main" id="{4694D9F2-7F32-C331-7163-755981700F5D}"/>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7"/>
          <a:srcRect r="1" b="285"/>
          <a:stretch/>
        </p:blipFill>
        <p:spPr>
          <a:xfrm>
            <a:off x="3604426" y="643468"/>
            <a:ext cx="4983148" cy="2795060"/>
          </a:xfrm>
          <a:prstGeom prst="rect">
            <a:avLst/>
          </a:prstGeom>
        </p:spPr>
      </p:pic>
      <p:sp>
        <p:nvSpPr>
          <p:cNvPr id="2" name="Slide Number Placeholder 1">
            <a:extLst>
              <a:ext uri="{FF2B5EF4-FFF2-40B4-BE49-F238E27FC236}">
                <a16:creationId xmlns:a16="http://schemas.microsoft.com/office/drawing/2014/main" id="{8D3A1EA5-3A5A-E904-971A-35508953B167}"/>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4FAB73BC-B049-4115-A692-8D63A059BFB8}" type="slidenum">
              <a:rPr kumimoji="0" lang="en-US" sz="2800" b="1"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a:t>
            </a:fld>
            <a:endParaRPr kumimoji="0" lang="en-US" sz="2800" b="1"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21954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856"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7"/>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7"/>
                                        </p:tgtEl>
                                      </p:cBhvr>
                                    </p:cmd>
                                  </p:childTnLst>
                                </p:cTn>
                              </p:par>
                            </p:childTnLst>
                          </p:cTn>
                        </p:par>
                      </p:childTnLst>
                    </p:cTn>
                  </p:par>
                </p:childTnLst>
              </p:cTn>
              <p:nextCondLst>
                <p:cond evt="onClick" delay="0">
                  <p:tgtEl>
                    <p:spTgt spid="7"/>
                  </p:tgtEl>
                </p:cond>
              </p:nextCondLst>
            </p:seq>
            <p:video>
              <p:cMediaNode mute="1">
                <p:cTn id="12" repeatCount="indefinite" fill="hold" display="0">
                  <p:stCondLst>
                    <p:cond delay="indefinite"/>
                  </p:stCondLst>
                </p:cTn>
                <p:tgtEl>
                  <p:spTgt spid="7"/>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464119"/>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01952"/>
            <a:ext cx="10222992"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Rectangle 29">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2038655"/>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49A3347-8576-FA16-4B27-35AF1FDC98D0}"/>
              </a:ext>
            </a:extLst>
          </p:cNvPr>
          <p:cNvSpPr>
            <a:spLocks noGrp="1"/>
          </p:cNvSpPr>
          <p:nvPr>
            <p:ph type="title"/>
          </p:nvPr>
        </p:nvSpPr>
        <p:spPr>
          <a:xfrm>
            <a:off x="1069848" y="484632"/>
            <a:ext cx="10058400" cy="1609344"/>
          </a:xfrm>
        </p:spPr>
        <p:txBody>
          <a:bodyPr>
            <a:normAutofit/>
          </a:bodyPr>
          <a:lstStyle/>
          <a:p>
            <a:r>
              <a:rPr lang="en-US" sz="5400" dirty="0">
                <a:solidFill>
                  <a:schemeClr val="tx1"/>
                </a:solidFill>
              </a:rPr>
              <a:t>Learning Outcomes – </a:t>
            </a:r>
            <a:br>
              <a:rPr lang="en-US" sz="5400" dirty="0">
                <a:solidFill>
                  <a:schemeClr val="tx1"/>
                </a:solidFill>
              </a:rPr>
            </a:br>
            <a:r>
              <a:rPr lang="en-US" sz="5400" dirty="0">
                <a:solidFill>
                  <a:schemeClr val="tx1"/>
                </a:solidFill>
              </a:rPr>
              <a:t>Subject Mastery</a:t>
            </a:r>
            <a:endParaRPr lang="en-US" dirty="0">
              <a:solidFill>
                <a:schemeClr val="tx1"/>
              </a:solidFill>
            </a:endParaRPr>
          </a:p>
        </p:txBody>
      </p:sp>
      <p:sp>
        <p:nvSpPr>
          <p:cNvPr id="3" name="Content Placeholder 2">
            <a:extLst>
              <a:ext uri="{FF2B5EF4-FFF2-40B4-BE49-F238E27FC236}">
                <a16:creationId xmlns:a16="http://schemas.microsoft.com/office/drawing/2014/main" id="{84BD7749-20C1-909A-BE69-465D4AE59EE8}"/>
              </a:ext>
            </a:extLst>
          </p:cNvPr>
          <p:cNvSpPr>
            <a:spLocks noGrp="1"/>
          </p:cNvSpPr>
          <p:nvPr>
            <p:ph idx="1"/>
          </p:nvPr>
        </p:nvSpPr>
        <p:spPr>
          <a:xfrm>
            <a:off x="362268" y="2320412"/>
            <a:ext cx="11588939" cy="4366469"/>
          </a:xfrm>
        </p:spPr>
        <p:txBody>
          <a:bodyPr>
            <a:normAutofit/>
          </a:bodyPr>
          <a:lstStyle/>
          <a:p>
            <a:pPr algn="just">
              <a:buFont typeface="+mj-lt"/>
              <a:buAutoNum type="arabicPeriod"/>
            </a:pPr>
            <a:r>
              <a:rPr lang="en-US" b="0" i="0" dirty="0">
                <a:solidFill>
                  <a:srgbClr val="0D0D0D"/>
                </a:solidFill>
                <a:effectLst/>
                <a:latin typeface="Times New Roman" panose="02020603050405020304" pitchFamily="18" charset="0"/>
                <a:cs typeface="Times New Roman" panose="02020603050405020304" pitchFamily="18" charset="0"/>
              </a:rPr>
              <a:t>Develop practical skills in White Box (Structural) Testing, including the analysis of software internals for effective testing.</a:t>
            </a:r>
          </a:p>
          <a:p>
            <a:pPr algn="just">
              <a:buFont typeface="+mj-lt"/>
              <a:buAutoNum type="arabicPeriod"/>
            </a:pPr>
            <a:endParaRPr lang="en-US" dirty="0">
              <a:solidFill>
                <a:srgbClr val="0D0D0D"/>
              </a:solidFill>
              <a:latin typeface="Times New Roman" panose="02020603050405020304" pitchFamily="18" charset="0"/>
              <a:cs typeface="Times New Roman" panose="02020603050405020304" pitchFamily="18" charset="0"/>
            </a:endParaRPr>
          </a:p>
          <a:p>
            <a:pPr algn="just">
              <a:buFont typeface="+mj-lt"/>
              <a:buAutoNum type="arabicPeriod"/>
            </a:pPr>
            <a:r>
              <a:rPr lang="en-US" b="0" i="0" dirty="0">
                <a:solidFill>
                  <a:srgbClr val="0D0D0D"/>
                </a:solidFill>
                <a:effectLst/>
                <a:latin typeface="Times New Roman" panose="02020603050405020304" pitchFamily="18" charset="0"/>
                <a:cs typeface="Times New Roman" panose="02020603050405020304" pitchFamily="18" charset="0"/>
              </a:rPr>
              <a:t>Master Control Flow Testing as a key White Box technique, enabling systematic exploration of program paths for defect detection.</a:t>
            </a:r>
          </a:p>
          <a:p>
            <a:pPr lvl="2"/>
            <a:endParaRPr lang="en-US" dirty="0"/>
          </a:p>
          <a:p>
            <a:pPr lvl="1"/>
            <a:endParaRPr lang="en-US" dirty="0"/>
          </a:p>
          <a:p>
            <a:endParaRPr lang="en-US" dirty="0"/>
          </a:p>
          <a:p>
            <a:endParaRPr lang="en-US" dirty="0"/>
          </a:p>
          <a:p>
            <a:endParaRPr lang="en-US" dirty="0"/>
          </a:p>
        </p:txBody>
      </p:sp>
      <p:sp>
        <p:nvSpPr>
          <p:cNvPr id="32" name="Oval 31">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34" name="Oval 33">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4" name="Slide Number Placeholder 3">
            <a:extLst>
              <a:ext uri="{FF2B5EF4-FFF2-40B4-BE49-F238E27FC236}">
                <a16:creationId xmlns:a16="http://schemas.microsoft.com/office/drawing/2014/main" id="{5C70DE7D-4BAE-F41A-DF31-318F363A90B4}"/>
              </a:ext>
            </a:extLst>
          </p:cNvPr>
          <p:cNvSpPr>
            <a:spLocks noGrp="1"/>
          </p:cNvSpPr>
          <p:nvPr>
            <p:ph type="sldNum" sz="quarter" idx="12"/>
          </p:nvPr>
        </p:nvSpPr>
        <p:spPr>
          <a:xfrm>
            <a:off x="11311128" y="6272784"/>
            <a:ext cx="640080" cy="365125"/>
          </a:xfrm>
        </p:spPr>
        <p:txBody>
          <a:bodyP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fld id="{4FAB73BC-B049-4115-A692-8D63A059BFB8}" type="slidenum">
              <a:rPr kumimoji="0" lang="en-US" sz="1400" b="1"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600"/>
                </a:spcAft>
                <a:buClrTx/>
                <a:buSzTx/>
                <a:buFontTx/>
                <a:buNone/>
                <a:tabLst/>
                <a:defRPr/>
              </a:pPr>
              <a:t>2</a:t>
            </a:fld>
            <a:endParaRPr kumimoji="0" lang="en-US" sz="1400" b="1"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190414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153542" y="1385156"/>
            <a:ext cx="3786010" cy="2846070"/>
          </a:xfrm>
        </p:spPr>
        <p:txBody>
          <a:bodyPr vert="horz" lIns="91440" tIns="45720" rIns="91440" bIns="45720" rtlCol="0" anchor="ctr">
            <a:normAutofit/>
          </a:bodyPr>
          <a:lstStyle/>
          <a:p>
            <a:r>
              <a:rPr lang="en-US" sz="4900" b="1" dirty="0"/>
              <a:t>Testing Dimensions</a:t>
            </a:r>
          </a:p>
        </p:txBody>
      </p:sp>
      <p:pic>
        <p:nvPicPr>
          <p:cNvPr id="2050" name="Picture 2" descr="https://cms.psu.edu/WorldCampus/201516SP/201516SPWD___RSWENG581_002/_assoc/Course_Files/Lesson_01/image_01.jpg"/>
          <p:cNvPicPr>
            <a:picLocks noChangeAspect="1" noChangeArrowheads="1"/>
          </p:cNvPicPr>
          <p:nvPr/>
        </p:nvPicPr>
        <p:blipFill rotWithShape="1">
          <a:blip r:embed="rId3">
            <a:extLst>
              <a:ext uri="{28A0092B-C50C-407E-A947-70E740481C1C}">
                <a14:useLocalDpi xmlns:a14="http://schemas.microsoft.com/office/drawing/2010/main" val="0"/>
              </a:ext>
            </a:extLst>
          </a:blip>
          <a:srcRect t="2813" b="603"/>
          <a:stretch/>
        </p:blipFill>
        <p:spPr bwMode="auto">
          <a:xfrm>
            <a:off x="170121" y="910907"/>
            <a:ext cx="7983421" cy="5447363"/>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sz="quarter" idx="12"/>
          </p:nvPr>
        </p:nvSpPr>
        <p:spPr>
          <a:xfrm>
            <a:off x="8610599" y="6492240"/>
            <a:ext cx="3126933"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639E2EFA-D603-47EA-8839-174AA0B00B36}"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31557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iterate>
                                    <p:tmPct val="10000"/>
                                  </p:iterate>
                                  <p:childTnLst>
                                    <p:set>
                                      <p:cBhvr>
                                        <p:cTn id="6" dur="1" fill="hold">
                                          <p:stCondLst>
                                            <p:cond delay="0"/>
                                          </p:stCondLst>
                                        </p:cTn>
                                        <p:tgtEl>
                                          <p:spTgt spid="2050"/>
                                        </p:tgtEl>
                                        <p:attrNameLst>
                                          <p:attrName>style.visibility</p:attrName>
                                        </p:attrNameLst>
                                      </p:cBhvr>
                                      <p:to>
                                        <p:strVal val="visible"/>
                                      </p:to>
                                    </p:set>
                                    <p:animEffect transition="in" filter="fade">
                                      <p:cBhvr>
                                        <p:cTn id="7" dur="700"/>
                                        <p:tgtEl>
                                          <p:spTgt spid="2050"/>
                                        </p:tgtEl>
                                      </p:cBhvr>
                                    </p:animEffect>
                                  </p:childTnLst>
                                </p:cTn>
                              </p:par>
                              <p:par>
                                <p:cTn id="8" presetID="10" presetClass="entr" presetSubtype="0" fill="hold" grpId="0" nodeType="withEffect">
                                  <p:stCondLst>
                                    <p:cond delay="1000"/>
                                  </p:stCondLst>
                                  <p:iterate type="lt">
                                    <p:tmPct val="10000"/>
                                  </p:iterate>
                                  <p:childTnLst>
                                    <p:set>
                                      <p:cBhvr>
                                        <p:cTn id="9" dur="1" fill="hold">
                                          <p:stCondLst>
                                            <p:cond delay="0"/>
                                          </p:stCondLst>
                                        </p:cTn>
                                        <p:tgtEl>
                                          <p:spTgt spid="4"/>
                                        </p:tgtEl>
                                        <p:attrNameLst>
                                          <p:attrName>style.visibility</p:attrName>
                                        </p:attrNameLst>
                                      </p:cBhvr>
                                      <p:to>
                                        <p:strVal val="visible"/>
                                      </p:to>
                                    </p:set>
                                    <p:animEffect transition="in" filter="fade">
                                      <p:cBhvr>
                                        <p:cTn id="10"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712B3-773B-4DDB-83AA-D86F30D5908D}"/>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anchor="ctr">
            <a:normAutofit/>
          </a:bodyPr>
          <a:lstStyle/>
          <a:p>
            <a:pPr algn="ctr"/>
            <a:r>
              <a:rPr lang="en-US" sz="2600" dirty="0">
                <a:solidFill>
                  <a:srgbClr val="FFFFFF"/>
                </a:solidFill>
              </a:rPr>
              <a:t>Black Box / White Box Testing</a:t>
            </a:r>
          </a:p>
        </p:txBody>
      </p:sp>
      <p:pic>
        <p:nvPicPr>
          <p:cNvPr id="4" name="Picture 3">
            <a:extLst>
              <a:ext uri="{FF2B5EF4-FFF2-40B4-BE49-F238E27FC236}">
                <a16:creationId xmlns:a16="http://schemas.microsoft.com/office/drawing/2014/main" id="{A5E24AA1-DC6A-48A5-97DF-DF906505267D}"/>
              </a:ext>
            </a:extLst>
          </p:cNvPr>
          <p:cNvPicPr>
            <a:picLocks noChangeAspect="1"/>
          </p:cNvPicPr>
          <p:nvPr/>
        </p:nvPicPr>
        <p:blipFill>
          <a:blip r:embed="rId2"/>
          <a:stretch>
            <a:fillRect/>
          </a:stretch>
        </p:blipFill>
        <p:spPr>
          <a:xfrm>
            <a:off x="4097942" y="961812"/>
            <a:ext cx="7069515" cy="4930987"/>
          </a:xfrm>
          <a:prstGeom prst="rect">
            <a:avLst/>
          </a:prstGeom>
        </p:spPr>
      </p:pic>
    </p:spTree>
    <p:extLst>
      <p:ext uri="{BB962C8B-B14F-4D97-AF65-F5344CB8AC3E}">
        <p14:creationId xmlns:p14="http://schemas.microsoft.com/office/powerpoint/2010/main" val="32149716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3172E-06FC-42AF-B6D6-E8FB294468B9}"/>
              </a:ext>
            </a:extLst>
          </p:cNvPr>
          <p:cNvSpPr>
            <a:spLocks noGrp="1"/>
          </p:cNvSpPr>
          <p:nvPr>
            <p:ph type="title"/>
          </p:nvPr>
        </p:nvSpPr>
        <p:spPr>
          <a:xfrm>
            <a:off x="687595" y="2158340"/>
            <a:ext cx="3796306" cy="2690949"/>
          </a:xfrm>
        </p:spPr>
        <p:txBody>
          <a:bodyPr anchor="t">
            <a:normAutofit/>
          </a:bodyPr>
          <a:lstStyle/>
          <a:p>
            <a:r>
              <a:rPr lang="en-US" sz="4800" dirty="0"/>
              <a:t>White Box Testing Techniques</a:t>
            </a:r>
          </a:p>
        </p:txBody>
      </p:sp>
      <p:graphicFrame>
        <p:nvGraphicFramePr>
          <p:cNvPr id="5" name="Content Placeholder 2">
            <a:extLst>
              <a:ext uri="{FF2B5EF4-FFF2-40B4-BE49-F238E27FC236}">
                <a16:creationId xmlns:a16="http://schemas.microsoft.com/office/drawing/2014/main" id="{20D1FC48-390F-4AAB-B6DE-E1C94BF153AB}"/>
              </a:ext>
            </a:extLst>
          </p:cNvPr>
          <p:cNvGraphicFramePr>
            <a:graphicFrameLocks noGrp="1"/>
          </p:cNvGraphicFramePr>
          <p:nvPr>
            <p:ph idx="1"/>
          </p:nvPr>
        </p:nvGraphicFramePr>
        <p:xfrm>
          <a:off x="5407705" y="1014154"/>
          <a:ext cx="5962720" cy="49793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a:extLst>
              <a:ext uri="{FF2B5EF4-FFF2-40B4-BE49-F238E27FC236}">
                <a16:creationId xmlns:a16="http://schemas.microsoft.com/office/drawing/2014/main" id="{97378FE9-C66A-47BE-8A31-EEF8CD1762FB}"/>
              </a:ext>
            </a:extLst>
          </p:cNvPr>
          <p:cNvSpPr>
            <a:spLocks noGrp="1"/>
          </p:cNvSpPr>
          <p:nvPr>
            <p:ph type="sldNum" sz="quarter" idx="12"/>
          </p:nvPr>
        </p:nvSpPr>
        <p:spPr/>
        <p:txBody>
          <a:bodyPr/>
          <a:lstStyle/>
          <a:p>
            <a:fld id="{4802611B-C7D4-401B-B615-A1AB963424CC}" type="slidenum">
              <a:rPr lang="en-US" smtClean="0"/>
              <a:t>5</a:t>
            </a:fld>
            <a:endParaRPr lang="en-US"/>
          </a:p>
        </p:txBody>
      </p:sp>
    </p:spTree>
    <p:extLst>
      <p:ext uri="{BB962C8B-B14F-4D97-AF65-F5344CB8AC3E}">
        <p14:creationId xmlns:p14="http://schemas.microsoft.com/office/powerpoint/2010/main" val="11500308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AE508-3E80-4EEF-7CE3-BE69CBB28F48}"/>
              </a:ext>
            </a:extLst>
          </p:cNvPr>
          <p:cNvSpPr>
            <a:spLocks noGrp="1"/>
          </p:cNvSpPr>
          <p:nvPr>
            <p:ph type="title"/>
          </p:nvPr>
        </p:nvSpPr>
        <p:spPr/>
        <p:txBody>
          <a:bodyPr/>
          <a:lstStyle/>
          <a:p>
            <a:r>
              <a:rPr lang="en-US" dirty="0"/>
              <a:t>what IS Control flow graph?</a:t>
            </a:r>
          </a:p>
        </p:txBody>
      </p:sp>
      <p:sp>
        <p:nvSpPr>
          <p:cNvPr id="3" name="Content Placeholder 2">
            <a:extLst>
              <a:ext uri="{FF2B5EF4-FFF2-40B4-BE49-F238E27FC236}">
                <a16:creationId xmlns:a16="http://schemas.microsoft.com/office/drawing/2014/main" id="{9DA3A73C-4688-5CBC-5C4A-72BED8EFB33D}"/>
              </a:ext>
            </a:extLst>
          </p:cNvPr>
          <p:cNvSpPr>
            <a:spLocks noGrp="1"/>
          </p:cNvSpPr>
          <p:nvPr>
            <p:ph idx="1"/>
          </p:nvPr>
        </p:nvSpPr>
        <p:spPr>
          <a:xfrm>
            <a:off x="426720" y="2121408"/>
            <a:ext cx="11524488" cy="4050792"/>
          </a:xfrm>
        </p:spPr>
        <p:txBody>
          <a:bodyPr>
            <a:normAutofit/>
          </a:bodyPr>
          <a:lstStyle/>
          <a:p>
            <a:pPr algn="just"/>
            <a:r>
              <a:rPr lang="en-US" sz="3800" dirty="0">
                <a:solidFill>
                  <a:srgbClr val="0D0D0D"/>
                </a:solidFill>
                <a:latin typeface="Söhne"/>
              </a:rPr>
              <a:t>A </a:t>
            </a:r>
            <a:r>
              <a:rPr lang="en-US" sz="3800" b="0" i="0" dirty="0">
                <a:solidFill>
                  <a:srgbClr val="0D0D0D"/>
                </a:solidFill>
                <a:effectLst/>
                <a:latin typeface="Söhne"/>
              </a:rPr>
              <a:t>graphical representation of a program's control flow structure.</a:t>
            </a:r>
          </a:p>
          <a:p>
            <a:pPr marL="0" indent="0" algn="just">
              <a:buNone/>
            </a:pPr>
            <a:endParaRPr lang="en-US" sz="3800" b="0" i="0" dirty="0">
              <a:solidFill>
                <a:srgbClr val="0D0D0D"/>
              </a:solidFill>
              <a:effectLst/>
              <a:latin typeface="Söhne"/>
            </a:endParaRPr>
          </a:p>
          <a:p>
            <a:pPr algn="just"/>
            <a:r>
              <a:rPr lang="en-US" sz="3800" b="0" i="0" dirty="0">
                <a:solidFill>
                  <a:srgbClr val="0D0D0D"/>
                </a:solidFill>
                <a:effectLst/>
                <a:latin typeface="Söhne"/>
              </a:rPr>
              <a:t> It illustrates the flow of control among the various statements, functions, and modules within a program.</a:t>
            </a:r>
            <a:endParaRPr lang="en-US" sz="3800" dirty="0"/>
          </a:p>
        </p:txBody>
      </p:sp>
      <p:sp>
        <p:nvSpPr>
          <p:cNvPr id="4" name="Slide Number Placeholder 3">
            <a:extLst>
              <a:ext uri="{FF2B5EF4-FFF2-40B4-BE49-F238E27FC236}">
                <a16:creationId xmlns:a16="http://schemas.microsoft.com/office/drawing/2014/main" id="{1E8EFEFD-6F7E-4330-F33C-CB74C13103C7}"/>
              </a:ext>
            </a:extLst>
          </p:cNvPr>
          <p:cNvSpPr>
            <a:spLocks noGrp="1"/>
          </p:cNvSpPr>
          <p:nvPr>
            <p:ph type="sldNum" sz="quarter" idx="12"/>
          </p:nvPr>
        </p:nvSpPr>
        <p:spPr/>
        <p:txBody>
          <a:bodyPr/>
          <a:lstStyle/>
          <a:p>
            <a:fld id="{4FAB73BC-B049-4115-A692-8D63A059BFB8}" type="slidenum">
              <a:rPr lang="en-US" smtClean="0"/>
              <a:pPr/>
              <a:t>6</a:t>
            </a:fld>
            <a:endParaRPr lang="en-US" dirty="0"/>
          </a:p>
        </p:txBody>
      </p:sp>
    </p:spTree>
    <p:extLst>
      <p:ext uri="{BB962C8B-B14F-4D97-AF65-F5344CB8AC3E}">
        <p14:creationId xmlns:p14="http://schemas.microsoft.com/office/powerpoint/2010/main" val="14152765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2"/>
          <p:cNvSpPr>
            <a:spLocks noGrp="1" noChangeArrowheads="1"/>
          </p:cNvSpPr>
          <p:nvPr>
            <p:ph type="title"/>
          </p:nvPr>
        </p:nvSpPr>
        <p:spPr>
          <a:xfrm>
            <a:off x="276447" y="35392"/>
            <a:ext cx="11226209" cy="1133693"/>
          </a:xfrm>
        </p:spPr>
        <p:txBody>
          <a:bodyPr>
            <a:normAutofit fontScale="90000"/>
          </a:bodyPr>
          <a:lstStyle/>
          <a:p>
            <a:r>
              <a:rPr lang="en-US" sz="5200" dirty="0">
                <a:latin typeface="Times New Roman" pitchFamily="18" charset="0"/>
              </a:rPr>
              <a:t>Control Flow Testing: Basic Idea</a:t>
            </a:r>
          </a:p>
        </p:txBody>
      </p:sp>
      <p:sp>
        <p:nvSpPr>
          <p:cNvPr id="4" name="Rectangle 19"/>
          <p:cNvSpPr>
            <a:spLocks noGrp="1" noChangeArrowheads="1"/>
          </p:cNvSpPr>
          <p:nvPr>
            <p:ph type="sldNum" sz="quarter" idx="12"/>
          </p:nvPr>
        </p:nvSpPr>
        <p:spPr>
          <a:xfrm>
            <a:off x="8610600" y="6356350"/>
            <a:ext cx="2743200" cy="365125"/>
          </a:xfrm>
        </p:spPr>
        <p:txBody>
          <a:bodyPr>
            <a:normAutofit/>
          </a:bodyPr>
          <a:lstStyle/>
          <a:p>
            <a:pPr marL="0" marR="0" lvl="0" indent="0" algn="r" defTabSz="914400" rtl="0" eaLnBrk="1" fontAlgn="base" latinLnBrk="0" hangingPunct="1">
              <a:lnSpc>
                <a:spcPct val="100000"/>
              </a:lnSpc>
              <a:spcBef>
                <a:spcPct val="0"/>
              </a:spcBef>
              <a:spcAft>
                <a:spcPts val="600"/>
              </a:spcAft>
              <a:buClrTx/>
              <a:buSzTx/>
              <a:buFontTx/>
              <a:buNone/>
              <a:tabLst/>
              <a:defRPr/>
            </a:pPr>
            <a:fld id="{3F5527CF-A0A0-4D41-9901-A0456573CBEA}" type="slidenum">
              <a:rPr kumimoji="0" lang="en-US" sz="1200" b="1" i="0" u="none" strike="noStrike" kern="1200" cap="none" spc="0" normalizeH="0" baseline="0" noProof="0">
                <a:ln>
                  <a:noFill/>
                </a:ln>
                <a:solidFill>
                  <a:prstClr val="black">
                    <a:tint val="75000"/>
                  </a:prstClr>
                </a:solidFill>
                <a:effectLst/>
                <a:uLnTx/>
                <a:uFillTx/>
                <a:latin typeface="Times New Roman" pitchFamily="18" charset="0"/>
                <a:ea typeface="+mn-ea"/>
                <a:cs typeface="+mn-cs"/>
              </a:rPr>
              <a:pPr marL="0" marR="0" lvl="0" indent="0" algn="r" defTabSz="914400" rtl="0" eaLnBrk="1" fontAlgn="base" latinLnBrk="0" hangingPunct="1">
                <a:lnSpc>
                  <a:spcPct val="100000"/>
                </a:lnSpc>
                <a:spcBef>
                  <a:spcPct val="0"/>
                </a:spcBef>
                <a:spcAft>
                  <a:spcPts val="600"/>
                </a:spcAft>
                <a:buClrTx/>
                <a:buSzTx/>
                <a:buFontTx/>
                <a:buNone/>
                <a:tabLst/>
                <a:defRPr/>
              </a:pPr>
              <a:t>7</a:t>
            </a:fld>
            <a:endParaRPr kumimoji="0" lang="en-US" sz="1200" b="1" i="0" u="none" strike="noStrike" kern="1200" cap="none" spc="0" normalizeH="0" baseline="0" noProof="0">
              <a:ln>
                <a:noFill/>
              </a:ln>
              <a:solidFill>
                <a:prstClr val="black">
                  <a:tint val="75000"/>
                </a:prstClr>
              </a:solidFill>
              <a:effectLst/>
              <a:uLnTx/>
              <a:uFillTx/>
              <a:latin typeface="Times New Roman" pitchFamily="18" charset="0"/>
              <a:ea typeface="+mn-ea"/>
              <a:cs typeface="+mn-cs"/>
            </a:endParaRPr>
          </a:p>
        </p:txBody>
      </p:sp>
      <p:graphicFrame>
        <p:nvGraphicFramePr>
          <p:cNvPr id="310279" name="Rectangle 3">
            <a:extLst>
              <a:ext uri="{FF2B5EF4-FFF2-40B4-BE49-F238E27FC236}">
                <a16:creationId xmlns:a16="http://schemas.microsoft.com/office/drawing/2014/main" id="{51962A9C-0D72-4096-A951-8B201A72058A}"/>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16080057"/>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026"/>
          <p:cNvSpPr>
            <a:spLocks noGrp="1" noChangeArrowheads="1"/>
          </p:cNvSpPr>
          <p:nvPr>
            <p:ph type="title"/>
          </p:nvPr>
        </p:nvSpPr>
        <p:spPr>
          <a:xfrm>
            <a:off x="213360" y="151130"/>
            <a:ext cx="11125200" cy="889000"/>
          </a:xfrm>
        </p:spPr>
        <p:txBody>
          <a:bodyPr>
            <a:noAutofit/>
          </a:bodyPr>
          <a:lstStyle/>
          <a:p>
            <a:r>
              <a:rPr lang="en-US" sz="4700" cap="all" dirty="0">
                <a:blipFill>
                  <a:blip r:embed="rId2">
                    <a:extLst>
                      <a:ext uri="{28A0092B-C50C-407E-A947-70E740481C1C}">
                        <a14:useLocalDpi xmlns:a14="http://schemas.microsoft.com/office/drawing/2010/main" val="0"/>
                      </a:ext>
                    </a:extLst>
                  </a:blip>
                  <a:tile tx="6350" ty="-127000" sx="65000" sy="64000" flip="none" algn="tl"/>
                </a:blipFill>
                <a:latin typeface="Times New Roman" pitchFamily="18" charset="0"/>
              </a:rPr>
              <a:t>Control Flow Testing: Basic Idea</a:t>
            </a:r>
            <a:endParaRPr lang="en-US" altLang="en-US" sz="4700" cap="all" dirty="0">
              <a:blipFill>
                <a:blip r:embed="rId2">
                  <a:extLst>
                    <a:ext uri="{28A0092B-C50C-407E-A947-70E740481C1C}">
                      <a14:useLocalDpi xmlns:a14="http://schemas.microsoft.com/office/drawing/2010/main" val="0"/>
                    </a:ext>
                  </a:extLst>
                </a:blip>
                <a:tile tx="6350" ty="-127000" sx="65000" sy="64000" flip="none" algn="tl"/>
              </a:blipFill>
              <a:latin typeface="Times New Roman" pitchFamily="18" charset="0"/>
            </a:endParaRPr>
          </a:p>
        </p:txBody>
      </p:sp>
      <p:sp>
        <p:nvSpPr>
          <p:cNvPr id="21507" name="Rectangle 1027"/>
          <p:cNvSpPr>
            <a:spLocks noGrp="1" noChangeArrowheads="1"/>
          </p:cNvSpPr>
          <p:nvPr>
            <p:ph idx="1"/>
          </p:nvPr>
        </p:nvSpPr>
        <p:spPr>
          <a:xfrm>
            <a:off x="107317" y="1935479"/>
            <a:ext cx="6872603" cy="4785995"/>
          </a:xfrm>
        </p:spPr>
        <p:txBody>
          <a:bodyPr>
            <a:normAutofit fontScale="77500" lnSpcReduction="20000"/>
          </a:bodyPr>
          <a:lstStyle/>
          <a:p>
            <a:pPr>
              <a:spcBef>
                <a:spcPts val="1200"/>
              </a:spcBef>
              <a:buClr>
                <a:schemeClr val="accent1">
                  <a:lumMod val="75000"/>
                </a:schemeClr>
              </a:buClr>
              <a:buSzPct val="85000"/>
            </a:pPr>
            <a:r>
              <a:rPr lang="en-US" altLang="en-US" dirty="0">
                <a:solidFill>
                  <a:srgbClr val="2D3B45"/>
                </a:solidFill>
                <a:latin typeface="Lato Extended"/>
              </a:rPr>
              <a:t> </a:t>
            </a:r>
            <a:r>
              <a:rPr lang="en-US" altLang="en-US" b="1" dirty="0">
                <a:solidFill>
                  <a:schemeClr val="accent1">
                    <a:lumMod val="60000"/>
                    <a:lumOff val="40000"/>
                  </a:schemeClr>
                </a:solidFill>
                <a:latin typeface="Lato Extended"/>
              </a:rPr>
              <a:t>Quadruple (E, N, s, t)</a:t>
            </a:r>
          </a:p>
          <a:p>
            <a:pPr lvl="1">
              <a:spcBef>
                <a:spcPts val="1200"/>
              </a:spcBef>
              <a:buClr>
                <a:schemeClr val="accent1">
                  <a:lumMod val="75000"/>
                </a:schemeClr>
              </a:buClr>
              <a:buSzPct val="85000"/>
            </a:pPr>
            <a:r>
              <a:rPr lang="en-US" altLang="en-US" sz="2800" dirty="0">
                <a:solidFill>
                  <a:srgbClr val="2D3B45"/>
                </a:solidFill>
                <a:latin typeface="Lato Extended"/>
              </a:rPr>
              <a:t>N : set of nodes</a:t>
            </a:r>
          </a:p>
          <a:p>
            <a:pPr lvl="1">
              <a:spcBef>
                <a:spcPts val="1200"/>
              </a:spcBef>
              <a:buClr>
                <a:schemeClr val="accent1">
                  <a:lumMod val="75000"/>
                </a:schemeClr>
              </a:buClr>
              <a:buSzPct val="85000"/>
            </a:pPr>
            <a:r>
              <a:rPr lang="en-US" altLang="en-US" sz="2800" dirty="0">
                <a:solidFill>
                  <a:srgbClr val="2D3B45"/>
                </a:solidFill>
                <a:latin typeface="Lato Extended"/>
              </a:rPr>
              <a:t>s: Start node </a:t>
            </a:r>
          </a:p>
          <a:p>
            <a:pPr lvl="1">
              <a:spcBef>
                <a:spcPts val="1200"/>
              </a:spcBef>
              <a:buClr>
                <a:schemeClr val="accent1">
                  <a:lumMod val="75000"/>
                </a:schemeClr>
              </a:buClr>
              <a:buSzPct val="85000"/>
            </a:pPr>
            <a:r>
              <a:rPr lang="en-US" altLang="en-US" sz="2800" dirty="0">
                <a:solidFill>
                  <a:srgbClr val="2D3B45"/>
                </a:solidFill>
                <a:latin typeface="Lato Extended"/>
              </a:rPr>
              <a:t>t: Terminal node </a:t>
            </a:r>
          </a:p>
          <a:p>
            <a:pPr lvl="1">
              <a:spcBef>
                <a:spcPts val="1200"/>
              </a:spcBef>
              <a:buClr>
                <a:schemeClr val="accent1">
                  <a:lumMod val="75000"/>
                </a:schemeClr>
              </a:buClr>
              <a:buSzPct val="85000"/>
            </a:pPr>
            <a:r>
              <a:rPr lang="en-US" altLang="en-US" sz="2800" dirty="0">
                <a:solidFill>
                  <a:srgbClr val="2D3B45"/>
                </a:solidFill>
                <a:latin typeface="Lato Extended"/>
              </a:rPr>
              <a:t>E : set of edges </a:t>
            </a:r>
          </a:p>
          <a:p>
            <a:pPr marL="457200" lvl="1" indent="0">
              <a:spcBef>
                <a:spcPts val="1200"/>
              </a:spcBef>
              <a:buClr>
                <a:schemeClr val="accent1">
                  <a:lumMod val="75000"/>
                </a:schemeClr>
              </a:buClr>
              <a:buSzPct val="85000"/>
              <a:buNone/>
            </a:pPr>
            <a:endParaRPr lang="en-US" altLang="en-US" sz="2800" dirty="0">
              <a:solidFill>
                <a:srgbClr val="2D3B45"/>
              </a:solidFill>
              <a:latin typeface="Lato Extended"/>
            </a:endParaRPr>
          </a:p>
          <a:p>
            <a:pPr>
              <a:spcBef>
                <a:spcPts val="1200"/>
              </a:spcBef>
              <a:buClr>
                <a:schemeClr val="accent1">
                  <a:lumMod val="75000"/>
                </a:schemeClr>
              </a:buClr>
              <a:buSzPct val="85000"/>
            </a:pPr>
            <a:r>
              <a:rPr lang="en-US" altLang="en-US" b="1" dirty="0">
                <a:solidFill>
                  <a:schemeClr val="accent1">
                    <a:lumMod val="60000"/>
                    <a:lumOff val="40000"/>
                  </a:schemeClr>
                </a:solidFill>
                <a:latin typeface="Lato Extended"/>
              </a:rPr>
              <a:t>In-degree</a:t>
            </a:r>
            <a:r>
              <a:rPr lang="en-US" altLang="en-US" dirty="0">
                <a:solidFill>
                  <a:srgbClr val="2D3B45"/>
                </a:solidFill>
                <a:latin typeface="Lato Extended"/>
              </a:rPr>
              <a:t> (FAN-IN): number of edges arriving at node.</a:t>
            </a:r>
          </a:p>
          <a:p>
            <a:pPr marL="0" indent="0">
              <a:spcBef>
                <a:spcPts val="1200"/>
              </a:spcBef>
              <a:buClr>
                <a:schemeClr val="accent1">
                  <a:lumMod val="75000"/>
                </a:schemeClr>
              </a:buClr>
              <a:buSzPct val="85000"/>
              <a:buNone/>
            </a:pPr>
            <a:endParaRPr lang="en-US" altLang="en-US" dirty="0">
              <a:solidFill>
                <a:srgbClr val="2D3B45"/>
              </a:solidFill>
              <a:latin typeface="Lato Extended"/>
            </a:endParaRPr>
          </a:p>
          <a:p>
            <a:pPr>
              <a:spcBef>
                <a:spcPts val="1200"/>
              </a:spcBef>
              <a:buClr>
                <a:schemeClr val="accent1">
                  <a:lumMod val="75000"/>
                </a:schemeClr>
              </a:buClr>
              <a:buSzPct val="85000"/>
            </a:pPr>
            <a:r>
              <a:rPr lang="en-US" altLang="en-US" b="1" dirty="0">
                <a:solidFill>
                  <a:schemeClr val="accent1">
                    <a:lumMod val="60000"/>
                    <a:lumOff val="40000"/>
                  </a:schemeClr>
                </a:solidFill>
                <a:latin typeface="Lato Extended"/>
              </a:rPr>
              <a:t>Out-degree</a:t>
            </a:r>
            <a:r>
              <a:rPr lang="en-US" altLang="en-US" dirty="0">
                <a:solidFill>
                  <a:srgbClr val="2D3B45"/>
                </a:solidFill>
                <a:latin typeface="Lato Extended"/>
              </a:rPr>
              <a:t> (FAN-OUT): number of edges leaving the node.</a:t>
            </a:r>
          </a:p>
          <a:p>
            <a:pPr>
              <a:spcBef>
                <a:spcPts val="1200"/>
              </a:spcBef>
              <a:buClr>
                <a:schemeClr val="accent1">
                  <a:lumMod val="75000"/>
                </a:schemeClr>
              </a:buClr>
              <a:buSzPct val="85000"/>
            </a:pPr>
            <a:endParaRPr lang="en-US" altLang="en-US" dirty="0">
              <a:solidFill>
                <a:srgbClr val="2D3B45"/>
              </a:solidFill>
              <a:latin typeface="Lato Extended"/>
            </a:endParaRPr>
          </a:p>
          <a:p>
            <a:pPr>
              <a:spcBef>
                <a:spcPts val="1200"/>
              </a:spcBef>
              <a:buClr>
                <a:schemeClr val="accent1">
                  <a:lumMod val="75000"/>
                </a:schemeClr>
              </a:buClr>
              <a:buSzPct val="85000"/>
            </a:pPr>
            <a:r>
              <a:rPr lang="en-US" altLang="en-US" b="1" dirty="0">
                <a:solidFill>
                  <a:schemeClr val="accent1">
                    <a:lumMod val="60000"/>
                    <a:lumOff val="40000"/>
                  </a:schemeClr>
                </a:solidFill>
                <a:latin typeface="Lato Extended"/>
              </a:rPr>
              <a:t>Path</a:t>
            </a:r>
            <a:r>
              <a:rPr lang="en-US" altLang="en-US" dirty="0">
                <a:solidFill>
                  <a:srgbClr val="2D3B45"/>
                </a:solidFill>
                <a:latin typeface="Lato Extended"/>
              </a:rPr>
              <a:t>: Sequence of consecutive edges</a:t>
            </a:r>
          </a:p>
        </p:txBody>
      </p:sp>
      <p:sp>
        <p:nvSpPr>
          <p:cNvPr id="21509" name="Oval 1028"/>
          <p:cNvSpPr>
            <a:spLocks noChangeArrowheads="1"/>
          </p:cNvSpPr>
          <p:nvPr/>
        </p:nvSpPr>
        <p:spPr bwMode="auto">
          <a:xfrm>
            <a:off x="8732520" y="1905000"/>
            <a:ext cx="533400" cy="533400"/>
          </a:xfrm>
          <a:prstGeom prst="ellipse">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1510" name="Oval 1029"/>
          <p:cNvSpPr>
            <a:spLocks noChangeArrowheads="1"/>
          </p:cNvSpPr>
          <p:nvPr/>
        </p:nvSpPr>
        <p:spPr bwMode="auto">
          <a:xfrm>
            <a:off x="8732520" y="2743200"/>
            <a:ext cx="533400" cy="533400"/>
          </a:xfrm>
          <a:prstGeom prst="ellipse">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1511" name="Oval 1030"/>
          <p:cNvSpPr>
            <a:spLocks noChangeArrowheads="1"/>
          </p:cNvSpPr>
          <p:nvPr/>
        </p:nvSpPr>
        <p:spPr bwMode="auto">
          <a:xfrm>
            <a:off x="8732520" y="3505200"/>
            <a:ext cx="533400" cy="533400"/>
          </a:xfrm>
          <a:prstGeom prst="ellipse">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1512" name="Oval 1031"/>
          <p:cNvSpPr>
            <a:spLocks noChangeArrowheads="1"/>
          </p:cNvSpPr>
          <p:nvPr/>
        </p:nvSpPr>
        <p:spPr bwMode="auto">
          <a:xfrm>
            <a:off x="7818120" y="4191000"/>
            <a:ext cx="533400" cy="533400"/>
          </a:xfrm>
          <a:prstGeom prst="ellipse">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1513" name="Oval 1032"/>
          <p:cNvSpPr>
            <a:spLocks noChangeArrowheads="1"/>
          </p:cNvSpPr>
          <p:nvPr/>
        </p:nvSpPr>
        <p:spPr bwMode="auto">
          <a:xfrm>
            <a:off x="9646920" y="4191000"/>
            <a:ext cx="533400" cy="533400"/>
          </a:xfrm>
          <a:prstGeom prst="ellipse">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1514" name="Oval 1033"/>
          <p:cNvSpPr>
            <a:spLocks noChangeArrowheads="1"/>
          </p:cNvSpPr>
          <p:nvPr/>
        </p:nvSpPr>
        <p:spPr bwMode="auto">
          <a:xfrm>
            <a:off x="8732520" y="4876800"/>
            <a:ext cx="533400" cy="533400"/>
          </a:xfrm>
          <a:prstGeom prst="ellipse">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1515" name="Oval 1034"/>
          <p:cNvSpPr>
            <a:spLocks noChangeArrowheads="1"/>
          </p:cNvSpPr>
          <p:nvPr/>
        </p:nvSpPr>
        <p:spPr bwMode="auto">
          <a:xfrm>
            <a:off x="8732520" y="5791200"/>
            <a:ext cx="533400" cy="533400"/>
          </a:xfrm>
          <a:prstGeom prst="ellipse">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1516" name="Line 1035"/>
          <p:cNvSpPr>
            <a:spLocks noChangeShapeType="1"/>
          </p:cNvSpPr>
          <p:nvPr/>
        </p:nvSpPr>
        <p:spPr bwMode="auto">
          <a:xfrm>
            <a:off x="9027795" y="2438400"/>
            <a:ext cx="0" cy="3048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sp>
        <p:nvSpPr>
          <p:cNvPr id="21517" name="Line 1036"/>
          <p:cNvSpPr>
            <a:spLocks noChangeShapeType="1"/>
          </p:cNvSpPr>
          <p:nvPr/>
        </p:nvSpPr>
        <p:spPr bwMode="auto">
          <a:xfrm>
            <a:off x="9015095" y="3276600"/>
            <a:ext cx="0" cy="2286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sp>
        <p:nvSpPr>
          <p:cNvPr id="21518" name="Line 1037"/>
          <p:cNvSpPr>
            <a:spLocks noChangeShapeType="1"/>
          </p:cNvSpPr>
          <p:nvPr/>
        </p:nvSpPr>
        <p:spPr bwMode="auto">
          <a:xfrm flipH="1">
            <a:off x="8307070" y="3886200"/>
            <a:ext cx="457200" cy="4572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sp>
        <p:nvSpPr>
          <p:cNvPr id="21519" name="Line 1038"/>
          <p:cNvSpPr>
            <a:spLocks noChangeShapeType="1"/>
          </p:cNvSpPr>
          <p:nvPr/>
        </p:nvSpPr>
        <p:spPr bwMode="auto">
          <a:xfrm>
            <a:off x="9265920" y="3886200"/>
            <a:ext cx="457200" cy="4572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sp>
        <p:nvSpPr>
          <p:cNvPr id="21520" name="Line 1039"/>
          <p:cNvSpPr>
            <a:spLocks noChangeShapeType="1"/>
          </p:cNvSpPr>
          <p:nvPr/>
        </p:nvSpPr>
        <p:spPr bwMode="auto">
          <a:xfrm>
            <a:off x="8351520" y="4495800"/>
            <a:ext cx="685800" cy="3810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sp>
        <p:nvSpPr>
          <p:cNvPr id="21521" name="Line 1040"/>
          <p:cNvSpPr>
            <a:spLocks noChangeShapeType="1"/>
          </p:cNvSpPr>
          <p:nvPr/>
        </p:nvSpPr>
        <p:spPr bwMode="auto">
          <a:xfrm flipH="1">
            <a:off x="9037320" y="4572000"/>
            <a:ext cx="609600" cy="3048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sp>
        <p:nvSpPr>
          <p:cNvPr id="21522" name="Line 1041"/>
          <p:cNvSpPr>
            <a:spLocks noChangeShapeType="1"/>
          </p:cNvSpPr>
          <p:nvPr/>
        </p:nvSpPr>
        <p:spPr bwMode="auto">
          <a:xfrm>
            <a:off x="8992870" y="5410200"/>
            <a:ext cx="0" cy="3810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sp>
        <p:nvSpPr>
          <p:cNvPr id="21523" name="Text Box 1042"/>
          <p:cNvSpPr txBox="1">
            <a:spLocks noChangeArrowheads="1"/>
          </p:cNvSpPr>
          <p:nvPr/>
        </p:nvSpPr>
        <p:spPr bwMode="auto">
          <a:xfrm>
            <a:off x="8884920" y="1905000"/>
            <a:ext cx="304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s</a:t>
            </a:r>
          </a:p>
        </p:txBody>
      </p:sp>
      <p:sp>
        <p:nvSpPr>
          <p:cNvPr id="21524" name="Text Box 1043"/>
          <p:cNvSpPr txBox="1">
            <a:spLocks noChangeArrowheads="1"/>
          </p:cNvSpPr>
          <p:nvPr/>
        </p:nvSpPr>
        <p:spPr bwMode="auto">
          <a:xfrm>
            <a:off x="8808720" y="5867400"/>
            <a:ext cx="381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t</a:t>
            </a:r>
          </a:p>
        </p:txBody>
      </p:sp>
      <p:grpSp>
        <p:nvGrpSpPr>
          <p:cNvPr id="2" name="Group 36"/>
          <p:cNvGrpSpPr>
            <a:grpSpLocks/>
          </p:cNvGrpSpPr>
          <p:nvPr/>
        </p:nvGrpSpPr>
        <p:grpSpPr bwMode="auto">
          <a:xfrm>
            <a:off x="9189720" y="2819400"/>
            <a:ext cx="2667000" cy="863600"/>
            <a:chOff x="6477000" y="2819400"/>
            <a:chExt cx="2667000" cy="863600"/>
          </a:xfrm>
        </p:grpSpPr>
        <p:sp>
          <p:nvSpPr>
            <p:cNvPr id="21540" name="Text Box 1044"/>
            <p:cNvSpPr txBox="1">
              <a:spLocks noChangeArrowheads="1"/>
            </p:cNvSpPr>
            <p:nvPr/>
          </p:nvSpPr>
          <p:spPr bwMode="auto">
            <a:xfrm>
              <a:off x="6934200" y="2819400"/>
              <a:ext cx="2209800" cy="863600"/>
            </a:xfrm>
            <a:prstGeom prst="rect">
              <a:avLst/>
            </a:prstGeom>
            <a:solidFill>
              <a:srgbClr val="FFFF00"/>
            </a:solidFill>
            <a:ln w="9525">
              <a:solidFill>
                <a:schemeClr val="tx1"/>
              </a:solidFill>
              <a:miter lim="800000"/>
              <a:headEnd/>
              <a:tailEnd/>
            </a:ln>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000" b="1" i="0" u="none" strike="noStrike" kern="1200" cap="none" spc="0" normalizeH="0" baseline="0" noProof="0" dirty="0">
                  <a:ln>
                    <a:noFill/>
                  </a:ln>
                  <a:solidFill>
                    <a:prstClr val="black"/>
                  </a:solidFill>
                  <a:effectLst/>
                  <a:uLnTx/>
                  <a:uFillTx/>
                  <a:latin typeface="Arial" pitchFamily="34" charset="0"/>
                  <a:ea typeface="+mn-ea"/>
                  <a:cs typeface="+mn-cs"/>
                </a:rPr>
                <a:t>Decision node</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000" b="1" i="0" u="none" strike="noStrike" kern="1200" cap="none" spc="0" normalizeH="0" baseline="0" noProof="0" dirty="0">
                  <a:ln>
                    <a:noFill/>
                  </a:ln>
                  <a:solidFill>
                    <a:prstClr val="black"/>
                  </a:solidFill>
                  <a:effectLst/>
                  <a:uLnTx/>
                  <a:uFillTx/>
                  <a:latin typeface="Arial" pitchFamily="34" charset="0"/>
                  <a:ea typeface="+mn-ea"/>
                  <a:cs typeface="+mn-cs"/>
                </a:rPr>
                <a:t>(out-degree&gt;1)</a:t>
              </a:r>
            </a:p>
          </p:txBody>
        </p:sp>
        <p:sp>
          <p:nvSpPr>
            <p:cNvPr id="21541" name="Line 1045"/>
            <p:cNvSpPr>
              <a:spLocks noChangeShapeType="1"/>
            </p:cNvSpPr>
            <p:nvPr/>
          </p:nvSpPr>
          <p:spPr bwMode="auto">
            <a:xfrm flipH="1">
              <a:off x="6477000" y="3200400"/>
              <a:ext cx="457200" cy="381000"/>
            </a:xfrm>
            <a:prstGeom prst="line">
              <a:avLst/>
            </a:prstGeom>
            <a:noFill/>
            <a:ln w="9525">
              <a:solidFill>
                <a:srgbClr val="FF0000"/>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grpSp>
      <p:grpSp>
        <p:nvGrpSpPr>
          <p:cNvPr id="3" name="Group 37"/>
          <p:cNvGrpSpPr>
            <a:grpSpLocks/>
          </p:cNvGrpSpPr>
          <p:nvPr/>
        </p:nvGrpSpPr>
        <p:grpSpPr bwMode="auto">
          <a:xfrm>
            <a:off x="9265920" y="5181600"/>
            <a:ext cx="2514600" cy="861774"/>
            <a:chOff x="6553200" y="5181600"/>
            <a:chExt cx="2514600" cy="861774"/>
          </a:xfrm>
        </p:grpSpPr>
        <p:sp>
          <p:nvSpPr>
            <p:cNvPr id="21538" name="Text Box 1047"/>
            <p:cNvSpPr txBox="1">
              <a:spLocks noChangeArrowheads="1"/>
            </p:cNvSpPr>
            <p:nvPr/>
          </p:nvSpPr>
          <p:spPr bwMode="auto">
            <a:xfrm>
              <a:off x="6934200" y="5181600"/>
              <a:ext cx="2133600" cy="861774"/>
            </a:xfrm>
            <a:prstGeom prst="rect">
              <a:avLst/>
            </a:prstGeom>
            <a:solidFill>
              <a:srgbClr val="FFFF00"/>
            </a:solidFill>
            <a:ln w="9525">
              <a:solidFill>
                <a:schemeClr val="tx1"/>
              </a:solidFill>
              <a:miter lim="800000"/>
              <a:headEnd/>
              <a:tailEnd/>
            </a:ln>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  Terminal node</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(out-degree=0)</a:t>
              </a:r>
            </a:p>
          </p:txBody>
        </p:sp>
        <p:sp>
          <p:nvSpPr>
            <p:cNvPr id="21539" name="Line 1048"/>
            <p:cNvSpPr>
              <a:spLocks noChangeShapeType="1"/>
            </p:cNvSpPr>
            <p:nvPr/>
          </p:nvSpPr>
          <p:spPr bwMode="auto">
            <a:xfrm flipH="1">
              <a:off x="6553200" y="5943600"/>
              <a:ext cx="381000" cy="76200"/>
            </a:xfrm>
            <a:prstGeom prst="line">
              <a:avLst/>
            </a:prstGeom>
            <a:noFill/>
            <a:ln w="9525">
              <a:solidFill>
                <a:srgbClr val="FF0000"/>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grpSp>
      <p:grpSp>
        <p:nvGrpSpPr>
          <p:cNvPr id="4" name="Group 34"/>
          <p:cNvGrpSpPr>
            <a:grpSpLocks/>
          </p:cNvGrpSpPr>
          <p:nvPr/>
        </p:nvGrpSpPr>
        <p:grpSpPr bwMode="auto">
          <a:xfrm>
            <a:off x="9189720" y="1752600"/>
            <a:ext cx="2438400" cy="863600"/>
            <a:chOff x="6477000" y="1752600"/>
            <a:chExt cx="2438400" cy="863600"/>
          </a:xfrm>
        </p:grpSpPr>
        <p:sp>
          <p:nvSpPr>
            <p:cNvPr id="21536" name="Text Box 1046"/>
            <p:cNvSpPr txBox="1">
              <a:spLocks noChangeArrowheads="1"/>
            </p:cNvSpPr>
            <p:nvPr/>
          </p:nvSpPr>
          <p:spPr bwMode="auto">
            <a:xfrm>
              <a:off x="6781800" y="1752600"/>
              <a:ext cx="2133600" cy="863600"/>
            </a:xfrm>
            <a:prstGeom prst="rect">
              <a:avLst/>
            </a:prstGeom>
            <a:solidFill>
              <a:srgbClr val="FFFF00"/>
            </a:solidFill>
            <a:ln w="9525">
              <a:solidFill>
                <a:schemeClr val="tx1"/>
              </a:solidFill>
              <a:miter lim="800000"/>
              <a:headEnd/>
              <a:tailEnd/>
            </a:ln>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 Start node</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(in-degree=0)</a:t>
              </a:r>
            </a:p>
          </p:txBody>
        </p:sp>
        <p:sp>
          <p:nvSpPr>
            <p:cNvPr id="21537" name="Line 1049"/>
            <p:cNvSpPr>
              <a:spLocks noChangeShapeType="1"/>
            </p:cNvSpPr>
            <p:nvPr/>
          </p:nvSpPr>
          <p:spPr bwMode="auto">
            <a:xfrm flipH="1">
              <a:off x="6477000" y="2057400"/>
              <a:ext cx="304800" cy="152400"/>
            </a:xfrm>
            <a:prstGeom prst="line">
              <a:avLst/>
            </a:prstGeom>
            <a:noFill/>
            <a:ln w="9525">
              <a:solidFill>
                <a:srgbClr val="FF0000"/>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grpSp>
      <p:grpSp>
        <p:nvGrpSpPr>
          <p:cNvPr id="5" name="Group 38"/>
          <p:cNvGrpSpPr>
            <a:grpSpLocks/>
          </p:cNvGrpSpPr>
          <p:nvPr/>
        </p:nvGrpSpPr>
        <p:grpSpPr bwMode="auto">
          <a:xfrm>
            <a:off x="6522720" y="1828800"/>
            <a:ext cx="3124200" cy="3276600"/>
            <a:chOff x="3810000" y="1828800"/>
            <a:chExt cx="3124200" cy="3276600"/>
          </a:xfrm>
        </p:grpSpPr>
        <p:sp>
          <p:nvSpPr>
            <p:cNvPr id="21529" name="Line 1052"/>
            <p:cNvSpPr>
              <a:spLocks noChangeShapeType="1"/>
            </p:cNvSpPr>
            <p:nvPr/>
          </p:nvSpPr>
          <p:spPr bwMode="auto">
            <a:xfrm flipH="1">
              <a:off x="4572000" y="3276600"/>
              <a:ext cx="533400" cy="1676400"/>
            </a:xfrm>
            <a:prstGeom prst="line">
              <a:avLst/>
            </a:prstGeom>
            <a:noFill/>
            <a:ln w="9525">
              <a:solidFill>
                <a:srgbClr val="FF0000"/>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grpSp>
          <p:nvGrpSpPr>
            <p:cNvPr id="21530" name="Group 35"/>
            <p:cNvGrpSpPr>
              <a:grpSpLocks/>
            </p:cNvGrpSpPr>
            <p:nvPr/>
          </p:nvGrpSpPr>
          <p:grpSpPr bwMode="auto">
            <a:xfrm>
              <a:off x="3810000" y="1828800"/>
              <a:ext cx="3124200" cy="3276600"/>
              <a:chOff x="3810000" y="1828800"/>
              <a:chExt cx="3124200" cy="3276600"/>
            </a:xfrm>
          </p:grpSpPr>
          <p:sp>
            <p:nvSpPr>
              <p:cNvPr id="21531" name="Text Box 1050"/>
              <p:cNvSpPr txBox="1">
                <a:spLocks noChangeArrowheads="1"/>
              </p:cNvSpPr>
              <p:nvPr/>
            </p:nvSpPr>
            <p:spPr bwMode="auto">
              <a:xfrm>
                <a:off x="3810000" y="1828800"/>
                <a:ext cx="1600200" cy="1477328"/>
              </a:xfrm>
              <a:prstGeom prst="rect">
                <a:avLst/>
              </a:prstGeom>
              <a:solidFill>
                <a:srgbClr val="FFFF00"/>
              </a:solidFill>
              <a:ln w="9525">
                <a:solidFill>
                  <a:schemeClr val="tx1"/>
                </a:solidFill>
                <a:miter lim="800000"/>
                <a:headEnd/>
                <a:tailEnd/>
              </a:ln>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Procedure node</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(out-degree=1)</a:t>
                </a:r>
              </a:p>
            </p:txBody>
          </p:sp>
          <p:sp>
            <p:nvSpPr>
              <p:cNvPr id="21532" name="Line 1051"/>
              <p:cNvSpPr>
                <a:spLocks noChangeShapeType="1"/>
              </p:cNvSpPr>
              <p:nvPr/>
            </p:nvSpPr>
            <p:spPr bwMode="auto">
              <a:xfrm flipV="1">
                <a:off x="5105400" y="2971800"/>
                <a:ext cx="914400" cy="304800"/>
              </a:xfrm>
              <a:prstGeom prst="line">
                <a:avLst/>
              </a:prstGeom>
              <a:noFill/>
              <a:ln w="9525">
                <a:solidFill>
                  <a:srgbClr val="FF0000"/>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sp>
            <p:nvSpPr>
              <p:cNvPr id="21533" name="Line 1053"/>
              <p:cNvSpPr>
                <a:spLocks noChangeShapeType="1"/>
              </p:cNvSpPr>
              <p:nvPr/>
            </p:nvSpPr>
            <p:spPr bwMode="auto">
              <a:xfrm>
                <a:off x="4572000" y="4953000"/>
                <a:ext cx="1447800" cy="152400"/>
              </a:xfrm>
              <a:prstGeom prst="line">
                <a:avLst/>
              </a:prstGeom>
              <a:noFill/>
              <a:ln w="9525">
                <a:solidFill>
                  <a:srgbClr val="FF0000"/>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sp>
            <p:nvSpPr>
              <p:cNvPr id="21534" name="Line 1054"/>
              <p:cNvSpPr>
                <a:spLocks noChangeShapeType="1"/>
              </p:cNvSpPr>
              <p:nvPr/>
            </p:nvSpPr>
            <p:spPr bwMode="auto">
              <a:xfrm>
                <a:off x="5105400" y="3276600"/>
                <a:ext cx="152400" cy="914400"/>
              </a:xfrm>
              <a:prstGeom prst="line">
                <a:avLst/>
              </a:prstGeom>
              <a:noFill/>
              <a:ln w="9525">
                <a:solidFill>
                  <a:srgbClr val="FF0000"/>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sp>
            <p:nvSpPr>
              <p:cNvPr id="21535" name="Line 1055"/>
              <p:cNvSpPr>
                <a:spLocks noChangeShapeType="1"/>
              </p:cNvSpPr>
              <p:nvPr/>
            </p:nvSpPr>
            <p:spPr bwMode="auto">
              <a:xfrm>
                <a:off x="5105400" y="3276600"/>
                <a:ext cx="1828800" cy="1143000"/>
              </a:xfrm>
              <a:prstGeom prst="line">
                <a:avLst/>
              </a:prstGeom>
              <a:noFill/>
              <a:ln w="9525">
                <a:solidFill>
                  <a:srgbClr val="FF0000"/>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grpSp>
      </p:grpSp>
      <p:sp>
        <p:nvSpPr>
          <p:cNvPr id="6" name="Slide Number Placeholder 5">
            <a:extLst>
              <a:ext uri="{FF2B5EF4-FFF2-40B4-BE49-F238E27FC236}">
                <a16:creationId xmlns:a16="http://schemas.microsoft.com/office/drawing/2014/main" id="{B5EADE40-D7F1-4A29-942F-A20705469F8B}"/>
              </a:ext>
            </a:extLst>
          </p:cNvPr>
          <p:cNvSpPr>
            <a:spLocks noGrp="1"/>
          </p:cNvSpPr>
          <p:nvPr>
            <p:ph type="sldNum" sz="quarter" idx="12"/>
          </p:nvPr>
        </p:nvSpPr>
        <p:spPr>
          <a:xfrm>
            <a:off x="979932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02611B-C7D4-401B-B615-A1AB963424CC}"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0389631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396239" y="81914"/>
            <a:ext cx="11102023" cy="1143000"/>
          </a:xfrm>
        </p:spPr>
        <p:txBody>
          <a:bodyPr>
            <a:normAutofit fontScale="90000"/>
          </a:bodyPr>
          <a:lstStyle/>
          <a:p>
            <a:r>
              <a:rPr lang="en-US" altLang="en-US" sz="4700" cap="all" dirty="0">
                <a:blipFill>
                  <a:blip r:embed="rId3">
                    <a:extLst>
                      <a:ext uri="{28A0092B-C50C-407E-A947-70E740481C1C}">
                        <a14:useLocalDpi xmlns:a14="http://schemas.microsoft.com/office/drawing/2010/main" val="0"/>
                      </a:ext>
                    </a:extLst>
                  </a:blip>
                  <a:tile tx="6350" ty="-127000" sx="65000" sy="64000" flip="none" algn="tl"/>
                </a:blipFill>
                <a:latin typeface="Times New Roman" pitchFamily="18" charset="0"/>
              </a:rPr>
              <a:t>Control flow graph (CFG) Examples</a:t>
            </a:r>
          </a:p>
        </p:txBody>
      </p:sp>
      <p:pic>
        <p:nvPicPr>
          <p:cNvPr id="40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3125" y="1342073"/>
            <a:ext cx="2354263"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7" name="Picture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64613" y="1432561"/>
            <a:ext cx="2533650" cy="477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831019C5-D8B0-4321-B215-2D7FEEEA89F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02611B-C7D4-401B-B615-A1AB963424CC}"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8908725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checkerboard(across)">
                                      <p:cBhvr>
                                        <p:cTn id="7" dur="500"/>
                                        <p:tgtEl>
                                          <p:spTgt spid="4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a:xfrm>
            <a:off x="355656" y="183528"/>
            <a:ext cx="11353800" cy="1325563"/>
          </a:xfrm>
        </p:spPr>
        <p:txBody>
          <a:bodyPr/>
          <a:lstStyle/>
          <a:p>
            <a:r>
              <a:rPr lang="en-US" altLang="en-US" sz="4400" cap="all" dirty="0">
                <a:blipFill>
                  <a:blip r:embed="rId3">
                    <a:extLst>
                      <a:ext uri="{28A0092B-C50C-407E-A947-70E740481C1C}">
                        <a14:useLocalDpi xmlns:a14="http://schemas.microsoft.com/office/drawing/2010/main" val="0"/>
                      </a:ext>
                    </a:extLst>
                  </a:blip>
                  <a:tile tx="6350" ty="-127000" sx="65000" sy="64000" flip="none" algn="tl"/>
                </a:blipFill>
                <a:latin typeface="Times New Roman" pitchFamily="18" charset="0"/>
              </a:rPr>
              <a:t>Control flow graph (CFG) Examples</a:t>
            </a:r>
            <a:endParaRPr lang="en-US" altLang="en-US" dirty="0"/>
          </a:p>
        </p:txBody>
      </p:sp>
      <p:sp>
        <p:nvSpPr>
          <p:cNvPr id="3" name="Slide Number Placeholder 2">
            <a:extLst>
              <a:ext uri="{FF2B5EF4-FFF2-40B4-BE49-F238E27FC236}">
                <a16:creationId xmlns:a16="http://schemas.microsoft.com/office/drawing/2014/main" id="{EC9AA2F5-8340-4BBE-97F4-DD51AC64CB8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02611B-C7D4-401B-B615-A1AB963424CC}"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24580" name="Text Box 3"/>
          <p:cNvSpPr txBox="1">
            <a:spLocks noChangeArrowheads="1"/>
          </p:cNvSpPr>
          <p:nvPr/>
        </p:nvSpPr>
        <p:spPr bwMode="auto">
          <a:xfrm>
            <a:off x="1676401" y="2133600"/>
            <a:ext cx="1577975" cy="2586038"/>
          </a:xfrm>
          <a:prstGeom prst="rect">
            <a:avLst/>
          </a:prstGeom>
          <a:solidFill>
            <a:schemeClr val="accent2"/>
          </a:solidFill>
          <a:ln w="12700">
            <a:solidFill>
              <a:schemeClr val="tx1"/>
            </a:solidFill>
            <a:miter lim="800000"/>
            <a:headEnd type="none" w="sm" len="sm"/>
            <a:tailEnd type="none" w="sm" len="sm"/>
          </a:ln>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if (x &lt; y)</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   y = 0;</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   x = x + 1;</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else</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   x = y;</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a:t>
            </a:r>
          </a:p>
        </p:txBody>
      </p:sp>
      <p:grpSp>
        <p:nvGrpSpPr>
          <p:cNvPr id="2" name="Group 4"/>
          <p:cNvGrpSpPr>
            <a:grpSpLocks/>
          </p:cNvGrpSpPr>
          <p:nvPr/>
        </p:nvGrpSpPr>
        <p:grpSpPr bwMode="auto">
          <a:xfrm>
            <a:off x="3276600" y="1790700"/>
            <a:ext cx="3875088" cy="2324100"/>
            <a:chOff x="1256" y="873"/>
            <a:chExt cx="2036" cy="1464"/>
          </a:xfrm>
        </p:grpSpPr>
        <p:grpSp>
          <p:nvGrpSpPr>
            <p:cNvPr id="24600" name="Group 5"/>
            <p:cNvGrpSpPr>
              <a:grpSpLocks/>
            </p:cNvGrpSpPr>
            <p:nvPr/>
          </p:nvGrpSpPr>
          <p:grpSpPr bwMode="auto">
            <a:xfrm>
              <a:off x="1811" y="873"/>
              <a:ext cx="1080" cy="1464"/>
              <a:chOff x="1811" y="873"/>
              <a:chExt cx="1080" cy="1464"/>
            </a:xfrm>
          </p:grpSpPr>
          <p:grpSp>
            <p:nvGrpSpPr>
              <p:cNvPr id="24605" name="Group 6"/>
              <p:cNvGrpSpPr>
                <a:grpSpLocks/>
              </p:cNvGrpSpPr>
              <p:nvPr/>
            </p:nvGrpSpPr>
            <p:grpSpPr bwMode="auto">
              <a:xfrm>
                <a:off x="2176" y="2041"/>
                <a:ext cx="350" cy="296"/>
                <a:chOff x="4738" y="2684"/>
                <a:chExt cx="350" cy="296"/>
              </a:xfrm>
            </p:grpSpPr>
            <p:sp>
              <p:nvSpPr>
                <p:cNvPr id="24621" name="Oval 7"/>
                <p:cNvSpPr>
                  <a:spLocks noChangeArrowheads="1"/>
                </p:cNvSpPr>
                <p:nvPr/>
              </p:nvSpPr>
              <p:spPr bwMode="auto">
                <a:xfrm>
                  <a:off x="4738" y="2684"/>
                  <a:ext cx="350" cy="296"/>
                </a:xfrm>
                <a:prstGeom prst="ellipse">
                  <a:avLst/>
                </a:prstGeom>
                <a:solidFill>
                  <a:srgbClr val="0066FF"/>
                </a:solidFill>
                <a:ln w="57150">
                  <a:solidFill>
                    <a:schemeClr val="tx1"/>
                  </a:solidFill>
                  <a:round/>
                  <a:headEnd type="none" w="sm" len="sm"/>
                  <a:tailEnd type="none" w="sm" len="sm"/>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4622" name="Text Box 8"/>
                <p:cNvSpPr txBox="1">
                  <a:spLocks noChangeArrowheads="1"/>
                </p:cNvSpPr>
                <p:nvPr/>
              </p:nvSpPr>
              <p:spPr bwMode="auto">
                <a:xfrm>
                  <a:off x="4815" y="2707"/>
                  <a:ext cx="17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4</a:t>
                  </a:r>
                </a:p>
              </p:txBody>
            </p:sp>
          </p:grpSp>
          <p:grpSp>
            <p:nvGrpSpPr>
              <p:cNvPr id="24606" name="Group 9"/>
              <p:cNvGrpSpPr>
                <a:grpSpLocks/>
              </p:cNvGrpSpPr>
              <p:nvPr/>
            </p:nvGrpSpPr>
            <p:grpSpPr bwMode="auto">
              <a:xfrm>
                <a:off x="2176" y="1067"/>
                <a:ext cx="350" cy="296"/>
                <a:chOff x="3838" y="2684"/>
                <a:chExt cx="350" cy="296"/>
              </a:xfrm>
            </p:grpSpPr>
            <p:sp>
              <p:nvSpPr>
                <p:cNvPr id="24619" name="Oval 10"/>
                <p:cNvSpPr>
                  <a:spLocks noChangeArrowheads="1"/>
                </p:cNvSpPr>
                <p:nvPr/>
              </p:nvSpPr>
              <p:spPr bwMode="auto">
                <a:xfrm>
                  <a:off x="3838" y="2684"/>
                  <a:ext cx="350" cy="296"/>
                </a:xfrm>
                <a:prstGeom prst="ellipse">
                  <a:avLst/>
                </a:prstGeom>
                <a:solidFill>
                  <a:srgbClr val="0066FF"/>
                </a:solidFill>
                <a:ln w="19050">
                  <a:solidFill>
                    <a:schemeClr val="tx1"/>
                  </a:solidFill>
                  <a:round/>
                  <a:headEnd type="none" w="sm" len="sm"/>
                  <a:tailEnd type="none" w="sm" len="sm"/>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4620" name="Text Box 11"/>
                <p:cNvSpPr txBox="1">
                  <a:spLocks noChangeArrowheads="1"/>
                </p:cNvSpPr>
                <p:nvPr/>
              </p:nvSpPr>
              <p:spPr bwMode="auto">
                <a:xfrm>
                  <a:off x="3915" y="2707"/>
                  <a:ext cx="17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1</a:t>
                  </a:r>
                </a:p>
              </p:txBody>
            </p:sp>
          </p:grpSp>
          <p:sp>
            <p:nvSpPr>
              <p:cNvPr id="24607" name="Line 12"/>
              <p:cNvSpPr>
                <a:spLocks noChangeShapeType="1"/>
              </p:cNvSpPr>
              <p:nvPr/>
            </p:nvSpPr>
            <p:spPr bwMode="auto">
              <a:xfrm flipV="1">
                <a:off x="2098" y="1352"/>
                <a:ext cx="194" cy="235"/>
              </a:xfrm>
              <a:prstGeom prst="line">
                <a:avLst/>
              </a:prstGeom>
              <a:noFill/>
              <a:ln w="19050">
                <a:solidFill>
                  <a:schemeClr val="tx1"/>
                </a:solidFill>
                <a:round/>
                <a:headEnd type="arrow" w="med" len="me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sp>
            <p:nvSpPr>
              <p:cNvPr id="24608" name="Line 13"/>
              <p:cNvSpPr>
                <a:spLocks noChangeShapeType="1"/>
              </p:cNvSpPr>
              <p:nvPr/>
            </p:nvSpPr>
            <p:spPr bwMode="auto">
              <a:xfrm>
                <a:off x="2106" y="1826"/>
                <a:ext cx="146" cy="225"/>
              </a:xfrm>
              <a:prstGeom prst="line">
                <a:avLst/>
              </a:prstGeom>
              <a:noFill/>
              <a:ln w="19050">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sp>
            <p:nvSpPr>
              <p:cNvPr id="24609" name="Line 14"/>
              <p:cNvSpPr>
                <a:spLocks noChangeShapeType="1"/>
              </p:cNvSpPr>
              <p:nvPr/>
            </p:nvSpPr>
            <p:spPr bwMode="auto">
              <a:xfrm>
                <a:off x="2448" y="1347"/>
                <a:ext cx="144" cy="246"/>
              </a:xfrm>
              <a:prstGeom prst="line">
                <a:avLst/>
              </a:prstGeom>
              <a:noFill/>
              <a:ln w="19050">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sp>
            <p:nvSpPr>
              <p:cNvPr id="24610" name="Line 15"/>
              <p:cNvSpPr>
                <a:spLocks noChangeShapeType="1"/>
              </p:cNvSpPr>
              <p:nvPr/>
            </p:nvSpPr>
            <p:spPr bwMode="auto">
              <a:xfrm>
                <a:off x="2351" y="873"/>
                <a:ext cx="0" cy="186"/>
              </a:xfrm>
              <a:prstGeom prst="line">
                <a:avLst/>
              </a:prstGeom>
              <a:noFill/>
              <a:ln w="19050">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grpSp>
            <p:nvGrpSpPr>
              <p:cNvPr id="24611" name="Group 16"/>
              <p:cNvGrpSpPr>
                <a:grpSpLocks/>
              </p:cNvGrpSpPr>
              <p:nvPr/>
            </p:nvGrpSpPr>
            <p:grpSpPr bwMode="auto">
              <a:xfrm>
                <a:off x="1811" y="1554"/>
                <a:ext cx="1080" cy="296"/>
                <a:chOff x="1567" y="1522"/>
                <a:chExt cx="1080" cy="296"/>
              </a:xfrm>
            </p:grpSpPr>
            <p:grpSp>
              <p:nvGrpSpPr>
                <p:cNvPr id="24613" name="Group 17"/>
                <p:cNvGrpSpPr>
                  <a:grpSpLocks/>
                </p:cNvGrpSpPr>
                <p:nvPr/>
              </p:nvGrpSpPr>
              <p:grpSpPr bwMode="auto">
                <a:xfrm>
                  <a:off x="1567" y="1522"/>
                  <a:ext cx="350" cy="296"/>
                  <a:chOff x="4288" y="1746"/>
                  <a:chExt cx="350" cy="296"/>
                </a:xfrm>
              </p:grpSpPr>
              <p:sp>
                <p:nvSpPr>
                  <p:cNvPr id="24617" name="Oval 18"/>
                  <p:cNvSpPr>
                    <a:spLocks noChangeArrowheads="1"/>
                  </p:cNvSpPr>
                  <p:nvPr/>
                </p:nvSpPr>
                <p:spPr bwMode="auto">
                  <a:xfrm>
                    <a:off x="4288" y="1746"/>
                    <a:ext cx="350" cy="296"/>
                  </a:xfrm>
                  <a:prstGeom prst="ellipse">
                    <a:avLst/>
                  </a:prstGeom>
                  <a:solidFill>
                    <a:srgbClr val="0066FF"/>
                  </a:solidFill>
                  <a:ln w="19050">
                    <a:solidFill>
                      <a:schemeClr val="tx1"/>
                    </a:solidFill>
                    <a:round/>
                    <a:headEnd type="none" w="sm" len="sm"/>
                    <a:tailEnd type="none" w="sm" len="sm"/>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4618" name="Text Box 19"/>
                  <p:cNvSpPr txBox="1">
                    <a:spLocks noChangeArrowheads="1"/>
                  </p:cNvSpPr>
                  <p:nvPr/>
                </p:nvSpPr>
                <p:spPr bwMode="auto">
                  <a:xfrm>
                    <a:off x="4389" y="1769"/>
                    <a:ext cx="17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2</a:t>
                    </a:r>
                  </a:p>
                </p:txBody>
              </p:sp>
            </p:grpSp>
            <p:grpSp>
              <p:nvGrpSpPr>
                <p:cNvPr id="24614" name="Group 20"/>
                <p:cNvGrpSpPr>
                  <a:grpSpLocks/>
                </p:cNvGrpSpPr>
                <p:nvPr/>
              </p:nvGrpSpPr>
              <p:grpSpPr bwMode="auto">
                <a:xfrm>
                  <a:off x="2297" y="1522"/>
                  <a:ext cx="350" cy="296"/>
                  <a:chOff x="4288" y="1746"/>
                  <a:chExt cx="350" cy="296"/>
                </a:xfrm>
              </p:grpSpPr>
              <p:sp>
                <p:nvSpPr>
                  <p:cNvPr id="24615" name="Oval 21"/>
                  <p:cNvSpPr>
                    <a:spLocks noChangeArrowheads="1"/>
                  </p:cNvSpPr>
                  <p:nvPr/>
                </p:nvSpPr>
                <p:spPr bwMode="auto">
                  <a:xfrm>
                    <a:off x="4288" y="1746"/>
                    <a:ext cx="350" cy="296"/>
                  </a:xfrm>
                  <a:prstGeom prst="ellipse">
                    <a:avLst/>
                  </a:prstGeom>
                  <a:solidFill>
                    <a:srgbClr val="0066FF"/>
                  </a:solidFill>
                  <a:ln w="19050">
                    <a:solidFill>
                      <a:schemeClr val="tx1"/>
                    </a:solidFill>
                    <a:round/>
                    <a:headEnd type="none" w="sm" len="sm"/>
                    <a:tailEnd type="none" w="sm" len="sm"/>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4616" name="Text Box 22"/>
                  <p:cNvSpPr txBox="1">
                    <a:spLocks noChangeArrowheads="1"/>
                  </p:cNvSpPr>
                  <p:nvPr/>
                </p:nvSpPr>
                <p:spPr bwMode="auto">
                  <a:xfrm>
                    <a:off x="4389" y="1769"/>
                    <a:ext cx="17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3</a:t>
                    </a:r>
                  </a:p>
                </p:txBody>
              </p:sp>
            </p:grpSp>
          </p:grpSp>
          <p:sp>
            <p:nvSpPr>
              <p:cNvPr id="24612" name="Line 23"/>
              <p:cNvSpPr>
                <a:spLocks noChangeShapeType="1"/>
              </p:cNvSpPr>
              <p:nvPr/>
            </p:nvSpPr>
            <p:spPr bwMode="auto">
              <a:xfrm flipH="1">
                <a:off x="2452" y="1814"/>
                <a:ext cx="134" cy="245"/>
              </a:xfrm>
              <a:prstGeom prst="line">
                <a:avLst/>
              </a:prstGeom>
              <a:noFill/>
              <a:ln w="19050">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grpSp>
        <p:sp>
          <p:nvSpPr>
            <p:cNvPr id="24601" name="Text Box 24"/>
            <p:cNvSpPr txBox="1">
              <a:spLocks noChangeArrowheads="1"/>
            </p:cNvSpPr>
            <p:nvPr/>
          </p:nvSpPr>
          <p:spPr bwMode="auto">
            <a:xfrm>
              <a:off x="2468" y="1300"/>
              <a:ext cx="47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Arial" pitchFamily="34" charset="0"/>
                  <a:ea typeface="+mn-ea"/>
                  <a:cs typeface="+mn-cs"/>
                </a:rPr>
                <a:t>x &gt;= y</a:t>
              </a:r>
            </a:p>
          </p:txBody>
        </p:sp>
        <p:sp>
          <p:nvSpPr>
            <p:cNvPr id="24602" name="Text Box 25"/>
            <p:cNvSpPr txBox="1">
              <a:spLocks noChangeArrowheads="1"/>
            </p:cNvSpPr>
            <p:nvPr/>
          </p:nvSpPr>
          <p:spPr bwMode="auto">
            <a:xfrm>
              <a:off x="1804" y="1300"/>
              <a:ext cx="47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Arial" pitchFamily="34" charset="0"/>
                  <a:ea typeface="+mn-ea"/>
                  <a:cs typeface="+mn-cs"/>
                </a:rPr>
                <a:t>x &lt; y</a:t>
              </a:r>
            </a:p>
          </p:txBody>
        </p:sp>
        <p:sp>
          <p:nvSpPr>
            <p:cNvPr id="24603" name="Text Box 26"/>
            <p:cNvSpPr txBox="1">
              <a:spLocks noChangeArrowheads="1"/>
            </p:cNvSpPr>
            <p:nvPr/>
          </p:nvSpPr>
          <p:spPr bwMode="auto">
            <a:xfrm>
              <a:off x="2820" y="1598"/>
              <a:ext cx="47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Arial" pitchFamily="34" charset="0"/>
                  <a:ea typeface="+mn-ea"/>
                  <a:cs typeface="+mn-cs"/>
                </a:rPr>
                <a:t>x = y</a:t>
              </a:r>
            </a:p>
          </p:txBody>
        </p:sp>
        <p:sp>
          <p:nvSpPr>
            <p:cNvPr id="24604" name="Text Box 27"/>
            <p:cNvSpPr txBox="1">
              <a:spLocks noChangeArrowheads="1"/>
            </p:cNvSpPr>
            <p:nvPr/>
          </p:nvSpPr>
          <p:spPr bwMode="auto">
            <a:xfrm>
              <a:off x="1256" y="1560"/>
              <a:ext cx="592"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base" latinLnBrk="0" hangingPunct="1">
                <a:lnSpc>
                  <a:spcPct val="50000"/>
                </a:lnSpc>
                <a:spcBef>
                  <a:spcPct val="50000"/>
                </a:spcBef>
                <a:spcAft>
                  <a:spcPct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Arial" pitchFamily="34" charset="0"/>
                  <a:ea typeface="+mn-ea"/>
                  <a:cs typeface="+mn-cs"/>
                </a:rPr>
                <a:t>y = 0</a:t>
              </a:r>
            </a:p>
            <a:p>
              <a:pPr marL="0" marR="0" lvl="0" indent="0" algn="ctr" defTabSz="914400" rtl="0" eaLnBrk="1" fontAlgn="base" latinLnBrk="0" hangingPunct="1">
                <a:lnSpc>
                  <a:spcPct val="50000"/>
                </a:lnSpc>
                <a:spcBef>
                  <a:spcPct val="50000"/>
                </a:spcBef>
                <a:spcAft>
                  <a:spcPct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Arial" pitchFamily="34" charset="0"/>
                  <a:ea typeface="+mn-ea"/>
                  <a:cs typeface="+mn-cs"/>
                </a:rPr>
                <a:t>x = x + 1</a:t>
              </a:r>
            </a:p>
          </p:txBody>
        </p:sp>
      </p:grpSp>
      <p:sp>
        <p:nvSpPr>
          <p:cNvPr id="230428" name="Text Box 28"/>
          <p:cNvSpPr txBox="1">
            <a:spLocks noChangeArrowheads="1"/>
          </p:cNvSpPr>
          <p:nvPr/>
        </p:nvSpPr>
        <p:spPr bwMode="auto">
          <a:xfrm>
            <a:off x="5486401" y="4431958"/>
            <a:ext cx="1577975" cy="1477963"/>
          </a:xfrm>
          <a:prstGeom prst="rect">
            <a:avLst/>
          </a:prstGeom>
          <a:solidFill>
            <a:schemeClr val="accent2"/>
          </a:solidFill>
          <a:ln w="12700">
            <a:solidFill>
              <a:schemeClr val="tx1"/>
            </a:solidFill>
            <a:miter lim="800000"/>
            <a:headEnd type="none" w="sm" len="sm"/>
            <a:tailEnd type="none" w="sm" len="sm"/>
          </a:ln>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if (x &lt; y)</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   y = 0;</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   x = x + 1;</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a:t>
            </a:r>
          </a:p>
        </p:txBody>
      </p:sp>
      <p:grpSp>
        <p:nvGrpSpPr>
          <p:cNvPr id="9" name="Group 29"/>
          <p:cNvGrpSpPr>
            <a:grpSpLocks/>
          </p:cNvGrpSpPr>
          <p:nvPr/>
        </p:nvGrpSpPr>
        <p:grpSpPr bwMode="auto">
          <a:xfrm>
            <a:off x="7391400" y="3824288"/>
            <a:ext cx="2916238" cy="2324100"/>
            <a:chOff x="3159" y="2035"/>
            <a:chExt cx="1533" cy="1464"/>
          </a:xfrm>
        </p:grpSpPr>
        <p:grpSp>
          <p:nvGrpSpPr>
            <p:cNvPr id="24584" name="Group 30"/>
            <p:cNvGrpSpPr>
              <a:grpSpLocks/>
            </p:cNvGrpSpPr>
            <p:nvPr/>
          </p:nvGrpSpPr>
          <p:grpSpPr bwMode="auto">
            <a:xfrm>
              <a:off x="4079" y="3203"/>
              <a:ext cx="350" cy="296"/>
              <a:chOff x="4738" y="2684"/>
              <a:chExt cx="350" cy="296"/>
            </a:xfrm>
          </p:grpSpPr>
          <p:sp>
            <p:nvSpPr>
              <p:cNvPr id="24598" name="Oval 31"/>
              <p:cNvSpPr>
                <a:spLocks noChangeArrowheads="1"/>
              </p:cNvSpPr>
              <p:nvPr/>
            </p:nvSpPr>
            <p:spPr bwMode="auto">
              <a:xfrm>
                <a:off x="4738" y="2684"/>
                <a:ext cx="350" cy="296"/>
              </a:xfrm>
              <a:prstGeom prst="ellipse">
                <a:avLst/>
              </a:prstGeom>
              <a:solidFill>
                <a:srgbClr val="0066FF"/>
              </a:solidFill>
              <a:ln w="57150">
                <a:solidFill>
                  <a:schemeClr val="tx1"/>
                </a:solidFill>
                <a:round/>
                <a:headEnd type="none" w="sm" len="sm"/>
                <a:tailEnd type="none" w="sm" len="sm"/>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4599" name="Text Box 32"/>
              <p:cNvSpPr txBox="1">
                <a:spLocks noChangeArrowheads="1"/>
              </p:cNvSpPr>
              <p:nvPr/>
            </p:nvSpPr>
            <p:spPr bwMode="auto">
              <a:xfrm>
                <a:off x="4815" y="2707"/>
                <a:ext cx="17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3</a:t>
                </a:r>
              </a:p>
            </p:txBody>
          </p:sp>
        </p:grpSp>
        <p:grpSp>
          <p:nvGrpSpPr>
            <p:cNvPr id="24585" name="Group 33"/>
            <p:cNvGrpSpPr>
              <a:grpSpLocks/>
            </p:cNvGrpSpPr>
            <p:nvPr/>
          </p:nvGrpSpPr>
          <p:grpSpPr bwMode="auto">
            <a:xfrm>
              <a:off x="4079" y="2229"/>
              <a:ext cx="350" cy="296"/>
              <a:chOff x="3838" y="2684"/>
              <a:chExt cx="350" cy="296"/>
            </a:xfrm>
          </p:grpSpPr>
          <p:sp>
            <p:nvSpPr>
              <p:cNvPr id="24596" name="Oval 34"/>
              <p:cNvSpPr>
                <a:spLocks noChangeArrowheads="1"/>
              </p:cNvSpPr>
              <p:nvPr/>
            </p:nvSpPr>
            <p:spPr bwMode="auto">
              <a:xfrm>
                <a:off x="3838" y="2684"/>
                <a:ext cx="350" cy="296"/>
              </a:xfrm>
              <a:prstGeom prst="ellipse">
                <a:avLst/>
              </a:prstGeom>
              <a:solidFill>
                <a:srgbClr val="0066FF"/>
              </a:solidFill>
              <a:ln w="19050">
                <a:solidFill>
                  <a:schemeClr val="tx1"/>
                </a:solidFill>
                <a:round/>
                <a:headEnd type="none" w="sm" len="sm"/>
                <a:tailEnd type="none" w="sm" len="sm"/>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4597" name="Text Box 35"/>
              <p:cNvSpPr txBox="1">
                <a:spLocks noChangeArrowheads="1"/>
              </p:cNvSpPr>
              <p:nvPr/>
            </p:nvSpPr>
            <p:spPr bwMode="auto">
              <a:xfrm>
                <a:off x="3915" y="2707"/>
                <a:ext cx="17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1</a:t>
                </a:r>
              </a:p>
            </p:txBody>
          </p:sp>
        </p:grpSp>
        <p:sp>
          <p:nvSpPr>
            <p:cNvPr id="24586" name="Line 36"/>
            <p:cNvSpPr>
              <a:spLocks noChangeShapeType="1"/>
            </p:cNvSpPr>
            <p:nvPr/>
          </p:nvSpPr>
          <p:spPr bwMode="auto">
            <a:xfrm flipV="1">
              <a:off x="4001" y="2514"/>
              <a:ext cx="194" cy="235"/>
            </a:xfrm>
            <a:prstGeom prst="line">
              <a:avLst/>
            </a:prstGeom>
            <a:noFill/>
            <a:ln w="19050">
              <a:solidFill>
                <a:schemeClr val="tx1"/>
              </a:solidFill>
              <a:round/>
              <a:headEnd type="arrow" w="med" len="me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sp>
          <p:nvSpPr>
            <p:cNvPr id="24587" name="Line 37"/>
            <p:cNvSpPr>
              <a:spLocks noChangeShapeType="1"/>
            </p:cNvSpPr>
            <p:nvPr/>
          </p:nvSpPr>
          <p:spPr bwMode="auto">
            <a:xfrm>
              <a:off x="4009" y="2988"/>
              <a:ext cx="146" cy="225"/>
            </a:xfrm>
            <a:prstGeom prst="line">
              <a:avLst/>
            </a:prstGeom>
            <a:noFill/>
            <a:ln w="19050">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sp>
          <p:nvSpPr>
            <p:cNvPr id="24588" name="Line 38"/>
            <p:cNvSpPr>
              <a:spLocks noChangeShapeType="1"/>
            </p:cNvSpPr>
            <p:nvPr/>
          </p:nvSpPr>
          <p:spPr bwMode="auto">
            <a:xfrm>
              <a:off x="4254" y="2035"/>
              <a:ext cx="0" cy="186"/>
            </a:xfrm>
            <a:prstGeom prst="line">
              <a:avLst/>
            </a:prstGeom>
            <a:noFill/>
            <a:ln w="19050">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grpSp>
          <p:nvGrpSpPr>
            <p:cNvPr id="24589" name="Group 39"/>
            <p:cNvGrpSpPr>
              <a:grpSpLocks/>
            </p:cNvGrpSpPr>
            <p:nvPr/>
          </p:nvGrpSpPr>
          <p:grpSpPr bwMode="auto">
            <a:xfrm>
              <a:off x="3714" y="2716"/>
              <a:ext cx="350" cy="296"/>
              <a:chOff x="4288" y="1746"/>
              <a:chExt cx="350" cy="296"/>
            </a:xfrm>
          </p:grpSpPr>
          <p:sp>
            <p:nvSpPr>
              <p:cNvPr id="24594" name="Oval 40"/>
              <p:cNvSpPr>
                <a:spLocks noChangeArrowheads="1"/>
              </p:cNvSpPr>
              <p:nvPr/>
            </p:nvSpPr>
            <p:spPr bwMode="auto">
              <a:xfrm>
                <a:off x="4288" y="1746"/>
                <a:ext cx="350" cy="296"/>
              </a:xfrm>
              <a:prstGeom prst="ellipse">
                <a:avLst/>
              </a:prstGeom>
              <a:solidFill>
                <a:srgbClr val="0066FF"/>
              </a:solidFill>
              <a:ln w="19050">
                <a:solidFill>
                  <a:schemeClr val="tx1"/>
                </a:solidFill>
                <a:round/>
                <a:headEnd type="none" w="sm" len="sm"/>
                <a:tailEnd type="none" w="sm" len="sm"/>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4595" name="Text Box 41"/>
              <p:cNvSpPr txBox="1">
                <a:spLocks noChangeArrowheads="1"/>
              </p:cNvSpPr>
              <p:nvPr/>
            </p:nvSpPr>
            <p:spPr bwMode="auto">
              <a:xfrm>
                <a:off x="4389" y="1769"/>
                <a:ext cx="17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2</a:t>
                </a:r>
              </a:p>
            </p:txBody>
          </p:sp>
        </p:grpSp>
        <p:sp>
          <p:nvSpPr>
            <p:cNvPr id="24590" name="Line 42"/>
            <p:cNvSpPr>
              <a:spLocks noChangeShapeType="1"/>
            </p:cNvSpPr>
            <p:nvPr/>
          </p:nvSpPr>
          <p:spPr bwMode="auto">
            <a:xfrm>
              <a:off x="4253" y="2537"/>
              <a:ext cx="2" cy="656"/>
            </a:xfrm>
            <a:prstGeom prst="line">
              <a:avLst/>
            </a:prstGeom>
            <a:noFill/>
            <a:ln w="19050">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sp>
          <p:nvSpPr>
            <p:cNvPr id="24591" name="Text Box 43"/>
            <p:cNvSpPr txBox="1">
              <a:spLocks noChangeArrowheads="1"/>
            </p:cNvSpPr>
            <p:nvPr/>
          </p:nvSpPr>
          <p:spPr bwMode="auto">
            <a:xfrm>
              <a:off x="4220" y="2664"/>
              <a:ext cx="47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Arial" pitchFamily="34" charset="0"/>
                  <a:ea typeface="+mn-ea"/>
                  <a:cs typeface="+mn-cs"/>
                </a:rPr>
                <a:t>x &gt;= y</a:t>
              </a:r>
            </a:p>
          </p:txBody>
        </p:sp>
        <p:sp>
          <p:nvSpPr>
            <p:cNvPr id="24592" name="Text Box 44"/>
            <p:cNvSpPr txBox="1">
              <a:spLocks noChangeArrowheads="1"/>
            </p:cNvSpPr>
            <p:nvPr/>
          </p:nvSpPr>
          <p:spPr bwMode="auto">
            <a:xfrm>
              <a:off x="3707" y="2462"/>
              <a:ext cx="47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Arial" pitchFamily="34" charset="0"/>
                  <a:ea typeface="+mn-ea"/>
                  <a:cs typeface="+mn-cs"/>
                </a:rPr>
                <a:t>x &lt; y</a:t>
              </a:r>
            </a:p>
          </p:txBody>
        </p:sp>
        <p:sp>
          <p:nvSpPr>
            <p:cNvPr id="24593" name="Text Box 45"/>
            <p:cNvSpPr txBox="1">
              <a:spLocks noChangeArrowheads="1"/>
            </p:cNvSpPr>
            <p:nvPr/>
          </p:nvSpPr>
          <p:spPr bwMode="auto">
            <a:xfrm>
              <a:off x="3159" y="2722"/>
              <a:ext cx="592"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base" latinLnBrk="0" hangingPunct="1">
                <a:lnSpc>
                  <a:spcPct val="50000"/>
                </a:lnSpc>
                <a:spcBef>
                  <a:spcPct val="50000"/>
                </a:spcBef>
                <a:spcAft>
                  <a:spcPct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Arial" pitchFamily="34" charset="0"/>
                  <a:ea typeface="+mn-ea"/>
                  <a:cs typeface="+mn-cs"/>
                </a:rPr>
                <a:t>y = 0</a:t>
              </a:r>
            </a:p>
            <a:p>
              <a:pPr marL="0" marR="0" lvl="0" indent="0" algn="ctr" defTabSz="914400" rtl="0" eaLnBrk="1" fontAlgn="base" latinLnBrk="0" hangingPunct="1">
                <a:lnSpc>
                  <a:spcPct val="50000"/>
                </a:lnSpc>
                <a:spcBef>
                  <a:spcPct val="50000"/>
                </a:spcBef>
                <a:spcAft>
                  <a:spcPct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Arial" pitchFamily="34" charset="0"/>
                  <a:ea typeface="+mn-ea"/>
                  <a:cs typeface="+mn-cs"/>
                </a:rPr>
                <a:t>x = x + 1</a:t>
              </a:r>
            </a:p>
          </p:txBody>
        </p:sp>
      </p:grpSp>
    </p:spTree>
    <p:extLst>
      <p:ext uri="{BB962C8B-B14F-4D97-AF65-F5344CB8AC3E}">
        <p14:creationId xmlns:p14="http://schemas.microsoft.com/office/powerpoint/2010/main" val="29886175"/>
      </p:ext>
    </p:extLst>
  </p:cSld>
  <p:clrMapOvr>
    <a:overrideClrMapping bg1="lt1" tx1="dk1" bg2="lt2" tx2="dk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30428"/>
                                        </p:tgtEl>
                                        <p:attrNameLst>
                                          <p:attrName>style.visibility</p:attrName>
                                        </p:attrNameLst>
                                      </p:cBhvr>
                                      <p:to>
                                        <p:strVal val="visible"/>
                                      </p:to>
                                    </p:set>
                                    <p:animEffect transition="in" filter="dissolve">
                                      <p:cBhvr>
                                        <p:cTn id="12" dur="500"/>
                                        <p:tgtEl>
                                          <p:spTgt spid="23042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dissolv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42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a:xfrm>
            <a:off x="482108" y="17146"/>
            <a:ext cx="11628116" cy="1143000"/>
          </a:xfrm>
        </p:spPr>
        <p:txBody>
          <a:bodyPr>
            <a:normAutofit/>
          </a:bodyPr>
          <a:lstStyle/>
          <a:p>
            <a:r>
              <a:rPr lang="en-US" altLang="en-US" sz="4400" cap="all" dirty="0">
                <a:blipFill>
                  <a:blip r:embed="rId2">
                    <a:extLst>
                      <a:ext uri="{28A0092B-C50C-407E-A947-70E740481C1C}">
                        <a14:useLocalDpi xmlns:a14="http://schemas.microsoft.com/office/drawing/2010/main" val="0"/>
                      </a:ext>
                    </a:extLst>
                  </a:blip>
                  <a:tile tx="6350" ty="-127000" sx="65000" sy="64000" flip="none" algn="tl"/>
                </a:blipFill>
                <a:latin typeface="Times New Roman" pitchFamily="18" charset="0"/>
              </a:rPr>
              <a:t>Control flow graph (CFG) Examples</a:t>
            </a:r>
            <a:endParaRPr lang="en-US" altLang="en-US" dirty="0"/>
          </a:p>
        </p:txBody>
      </p:sp>
      <p:sp>
        <p:nvSpPr>
          <p:cNvPr id="25604" name="Text Box 4"/>
          <p:cNvSpPr txBox="1">
            <a:spLocks noChangeArrowheads="1"/>
          </p:cNvSpPr>
          <p:nvPr/>
        </p:nvSpPr>
        <p:spPr bwMode="auto">
          <a:xfrm>
            <a:off x="92462" y="1540513"/>
            <a:ext cx="1668463" cy="1754187"/>
          </a:xfrm>
          <a:prstGeom prst="rect">
            <a:avLst/>
          </a:prstGeom>
          <a:solidFill>
            <a:schemeClr val="accent2"/>
          </a:solidFill>
          <a:ln w="12700">
            <a:solidFill>
              <a:schemeClr val="tx1"/>
            </a:solidFill>
            <a:miter lim="800000"/>
            <a:headEnd type="none" w="sm" len="sm"/>
            <a:tailEnd type="none" w="sm" len="sm"/>
          </a:ln>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x = 0;</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while (x &lt; y)</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   y = f (x, y);</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   x = x + 1;</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a:t>
            </a:r>
          </a:p>
        </p:txBody>
      </p:sp>
      <p:grpSp>
        <p:nvGrpSpPr>
          <p:cNvPr id="2" name="Group 63"/>
          <p:cNvGrpSpPr>
            <a:grpSpLocks/>
          </p:cNvGrpSpPr>
          <p:nvPr/>
        </p:nvGrpSpPr>
        <p:grpSpPr bwMode="auto">
          <a:xfrm>
            <a:off x="1877060" y="1332549"/>
            <a:ext cx="1182688" cy="777875"/>
            <a:chOff x="1904" y="888"/>
            <a:chExt cx="745" cy="490"/>
          </a:xfrm>
        </p:grpSpPr>
        <p:grpSp>
          <p:nvGrpSpPr>
            <p:cNvPr id="25660" name="Group 10"/>
            <p:cNvGrpSpPr>
              <a:grpSpLocks/>
            </p:cNvGrpSpPr>
            <p:nvPr/>
          </p:nvGrpSpPr>
          <p:grpSpPr bwMode="auto">
            <a:xfrm>
              <a:off x="2299" y="1082"/>
              <a:ext cx="350" cy="296"/>
              <a:chOff x="3838" y="2684"/>
              <a:chExt cx="350" cy="296"/>
            </a:xfrm>
          </p:grpSpPr>
          <p:sp>
            <p:nvSpPr>
              <p:cNvPr id="25663" name="Oval 11"/>
              <p:cNvSpPr>
                <a:spLocks noChangeArrowheads="1"/>
              </p:cNvSpPr>
              <p:nvPr/>
            </p:nvSpPr>
            <p:spPr bwMode="auto">
              <a:xfrm>
                <a:off x="3838" y="2684"/>
                <a:ext cx="350" cy="296"/>
              </a:xfrm>
              <a:prstGeom prst="ellipse">
                <a:avLst/>
              </a:prstGeom>
              <a:solidFill>
                <a:srgbClr val="0066FF"/>
              </a:solidFill>
              <a:ln w="19050">
                <a:solidFill>
                  <a:schemeClr val="tx1"/>
                </a:solidFill>
                <a:round/>
                <a:headEnd type="none" w="sm" len="sm"/>
                <a:tailEnd type="none" w="sm" len="sm"/>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5664" name="Text Box 12"/>
              <p:cNvSpPr txBox="1">
                <a:spLocks noChangeArrowheads="1"/>
              </p:cNvSpPr>
              <p:nvPr/>
            </p:nvSpPr>
            <p:spPr bwMode="auto">
              <a:xfrm>
                <a:off x="3915" y="2707"/>
                <a:ext cx="2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1</a:t>
                </a:r>
              </a:p>
            </p:txBody>
          </p:sp>
        </p:grpSp>
        <p:sp>
          <p:nvSpPr>
            <p:cNvPr id="25661" name="Line 16"/>
            <p:cNvSpPr>
              <a:spLocks noChangeShapeType="1"/>
            </p:cNvSpPr>
            <p:nvPr/>
          </p:nvSpPr>
          <p:spPr bwMode="auto">
            <a:xfrm>
              <a:off x="2474" y="888"/>
              <a:ext cx="0" cy="186"/>
            </a:xfrm>
            <a:prstGeom prst="line">
              <a:avLst/>
            </a:prstGeom>
            <a:noFill/>
            <a:ln w="19050">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sp>
          <p:nvSpPr>
            <p:cNvPr id="25662" name="Text Box 27"/>
            <p:cNvSpPr txBox="1">
              <a:spLocks noChangeArrowheads="1"/>
            </p:cNvSpPr>
            <p:nvPr/>
          </p:nvSpPr>
          <p:spPr bwMode="auto">
            <a:xfrm>
              <a:off x="1904" y="1123"/>
              <a:ext cx="47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Arial" pitchFamily="34" charset="0"/>
                  <a:ea typeface="+mn-ea"/>
                  <a:cs typeface="+mn-cs"/>
                </a:rPr>
                <a:t>x = 0</a:t>
              </a:r>
            </a:p>
          </p:txBody>
        </p:sp>
      </p:grpSp>
      <p:grpSp>
        <p:nvGrpSpPr>
          <p:cNvPr id="4" name="Group 69"/>
          <p:cNvGrpSpPr>
            <a:grpSpLocks/>
          </p:cNvGrpSpPr>
          <p:nvPr/>
        </p:nvGrpSpPr>
        <p:grpSpPr bwMode="auto">
          <a:xfrm>
            <a:off x="2224403" y="3259773"/>
            <a:ext cx="1562100" cy="1011237"/>
            <a:chOff x="1999" y="2112"/>
            <a:chExt cx="984" cy="637"/>
          </a:xfrm>
        </p:grpSpPr>
        <p:grpSp>
          <p:nvGrpSpPr>
            <p:cNvPr id="25652" name="Group 21"/>
            <p:cNvGrpSpPr>
              <a:grpSpLocks/>
            </p:cNvGrpSpPr>
            <p:nvPr/>
          </p:nvGrpSpPr>
          <p:grpSpPr bwMode="auto">
            <a:xfrm>
              <a:off x="2633" y="2112"/>
              <a:ext cx="350" cy="296"/>
              <a:chOff x="4288" y="1746"/>
              <a:chExt cx="350" cy="296"/>
            </a:xfrm>
          </p:grpSpPr>
          <p:sp>
            <p:nvSpPr>
              <p:cNvPr id="25658" name="Oval 22"/>
              <p:cNvSpPr>
                <a:spLocks noChangeArrowheads="1"/>
              </p:cNvSpPr>
              <p:nvPr/>
            </p:nvSpPr>
            <p:spPr bwMode="auto">
              <a:xfrm>
                <a:off x="4288" y="1746"/>
                <a:ext cx="350" cy="296"/>
              </a:xfrm>
              <a:prstGeom prst="ellipse">
                <a:avLst/>
              </a:prstGeom>
              <a:solidFill>
                <a:srgbClr val="0066FF"/>
              </a:solidFill>
              <a:ln w="57150">
                <a:solidFill>
                  <a:schemeClr val="tx1"/>
                </a:solidFill>
                <a:round/>
                <a:headEnd type="none" w="sm" len="sm"/>
                <a:tailEnd type="none" w="sm" len="sm"/>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5659" name="Text Box 23"/>
              <p:cNvSpPr txBox="1">
                <a:spLocks noChangeArrowheads="1"/>
              </p:cNvSpPr>
              <p:nvPr/>
            </p:nvSpPr>
            <p:spPr bwMode="auto">
              <a:xfrm>
                <a:off x="4355" y="1769"/>
                <a:ext cx="2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4</a:t>
                </a:r>
              </a:p>
            </p:txBody>
          </p:sp>
        </p:grpSp>
        <p:grpSp>
          <p:nvGrpSpPr>
            <p:cNvPr id="25653" name="Group 65"/>
            <p:cNvGrpSpPr>
              <a:grpSpLocks/>
            </p:cNvGrpSpPr>
            <p:nvPr/>
          </p:nvGrpSpPr>
          <p:grpSpPr bwMode="auto">
            <a:xfrm>
              <a:off x="1999" y="2112"/>
              <a:ext cx="729" cy="637"/>
              <a:chOff x="1999" y="2112"/>
              <a:chExt cx="729" cy="637"/>
            </a:xfrm>
          </p:grpSpPr>
          <p:grpSp>
            <p:nvGrpSpPr>
              <p:cNvPr id="25654" name="Group 18"/>
              <p:cNvGrpSpPr>
                <a:grpSpLocks/>
              </p:cNvGrpSpPr>
              <p:nvPr/>
            </p:nvGrpSpPr>
            <p:grpSpPr bwMode="auto">
              <a:xfrm>
                <a:off x="2023" y="2112"/>
                <a:ext cx="350" cy="296"/>
                <a:chOff x="4288" y="1746"/>
                <a:chExt cx="350" cy="296"/>
              </a:xfrm>
            </p:grpSpPr>
            <p:sp>
              <p:nvSpPr>
                <p:cNvPr id="25656" name="Oval 19"/>
                <p:cNvSpPr>
                  <a:spLocks noChangeArrowheads="1"/>
                </p:cNvSpPr>
                <p:nvPr/>
              </p:nvSpPr>
              <p:spPr bwMode="auto">
                <a:xfrm>
                  <a:off x="4288" y="1746"/>
                  <a:ext cx="350" cy="296"/>
                </a:xfrm>
                <a:prstGeom prst="ellipse">
                  <a:avLst/>
                </a:prstGeom>
                <a:solidFill>
                  <a:srgbClr val="0066FF"/>
                </a:solidFill>
                <a:ln w="19050">
                  <a:solidFill>
                    <a:schemeClr val="tx1"/>
                  </a:solidFill>
                  <a:round/>
                  <a:headEnd type="none" w="sm" len="sm"/>
                  <a:tailEnd type="none" w="sm" len="sm"/>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5657" name="Text Box 20"/>
                <p:cNvSpPr txBox="1">
                  <a:spLocks noChangeArrowheads="1"/>
                </p:cNvSpPr>
                <p:nvPr/>
              </p:nvSpPr>
              <p:spPr bwMode="auto">
                <a:xfrm>
                  <a:off x="4355" y="1769"/>
                  <a:ext cx="2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3</a:t>
                  </a:r>
                </a:p>
              </p:txBody>
            </p:sp>
          </p:grpSp>
          <p:sp>
            <p:nvSpPr>
              <p:cNvPr id="25655" name="Text Box 28"/>
              <p:cNvSpPr txBox="1">
                <a:spLocks noChangeArrowheads="1"/>
              </p:cNvSpPr>
              <p:nvPr/>
            </p:nvSpPr>
            <p:spPr bwMode="auto">
              <a:xfrm>
                <a:off x="1999" y="2448"/>
                <a:ext cx="729"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base" latinLnBrk="0" hangingPunct="1">
                  <a:lnSpc>
                    <a:spcPct val="50000"/>
                  </a:lnSpc>
                  <a:spcBef>
                    <a:spcPct val="50000"/>
                  </a:spcBef>
                  <a:spcAft>
                    <a:spcPct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Arial" pitchFamily="34" charset="0"/>
                    <a:ea typeface="+mn-ea"/>
                    <a:cs typeface="+mn-cs"/>
                  </a:rPr>
                  <a:t>y =f(x,y)</a:t>
                </a:r>
              </a:p>
              <a:p>
                <a:pPr marL="0" marR="0" lvl="0" indent="0" algn="ctr" defTabSz="914400" rtl="0" eaLnBrk="1" fontAlgn="base" latinLnBrk="0" hangingPunct="1">
                  <a:lnSpc>
                    <a:spcPct val="50000"/>
                  </a:lnSpc>
                  <a:spcBef>
                    <a:spcPct val="50000"/>
                  </a:spcBef>
                  <a:spcAft>
                    <a:spcPct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Arial" pitchFamily="34" charset="0"/>
                    <a:ea typeface="+mn-ea"/>
                    <a:cs typeface="+mn-cs"/>
                  </a:rPr>
                  <a:t>x = x + 1</a:t>
                </a:r>
              </a:p>
            </p:txBody>
          </p:sp>
        </p:grpSp>
      </p:grpSp>
      <p:grpSp>
        <p:nvGrpSpPr>
          <p:cNvPr id="8" name="Group 68"/>
          <p:cNvGrpSpPr>
            <a:grpSpLocks/>
          </p:cNvGrpSpPr>
          <p:nvPr/>
        </p:nvGrpSpPr>
        <p:grpSpPr bwMode="auto">
          <a:xfrm>
            <a:off x="1954848" y="2742248"/>
            <a:ext cx="1992312" cy="752475"/>
            <a:chOff x="1953" y="1776"/>
            <a:chExt cx="1099" cy="474"/>
          </a:xfrm>
        </p:grpSpPr>
        <p:sp>
          <p:nvSpPr>
            <p:cNvPr id="25647" name="Line 14"/>
            <p:cNvSpPr>
              <a:spLocks noChangeShapeType="1"/>
            </p:cNvSpPr>
            <p:nvPr/>
          </p:nvSpPr>
          <p:spPr bwMode="auto">
            <a:xfrm>
              <a:off x="2566" y="1910"/>
              <a:ext cx="146" cy="225"/>
            </a:xfrm>
            <a:prstGeom prst="line">
              <a:avLst/>
            </a:prstGeom>
            <a:noFill/>
            <a:ln w="19050">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sp>
          <p:nvSpPr>
            <p:cNvPr id="25648" name="Line 24"/>
            <p:cNvSpPr>
              <a:spLocks noChangeShapeType="1"/>
            </p:cNvSpPr>
            <p:nvPr/>
          </p:nvSpPr>
          <p:spPr bwMode="auto">
            <a:xfrm flipH="1">
              <a:off x="2296" y="1918"/>
              <a:ext cx="114" cy="217"/>
            </a:xfrm>
            <a:prstGeom prst="line">
              <a:avLst/>
            </a:prstGeom>
            <a:noFill/>
            <a:ln w="19050">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sp>
          <p:nvSpPr>
            <p:cNvPr id="25649" name="Text Box 25"/>
            <p:cNvSpPr txBox="1">
              <a:spLocks noChangeArrowheads="1"/>
            </p:cNvSpPr>
            <p:nvPr/>
          </p:nvSpPr>
          <p:spPr bwMode="auto">
            <a:xfrm>
              <a:off x="2580" y="1850"/>
              <a:ext cx="47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Arial" pitchFamily="34" charset="0"/>
                  <a:ea typeface="+mn-ea"/>
                  <a:cs typeface="+mn-cs"/>
                </a:rPr>
                <a:t>x &gt;= y</a:t>
              </a:r>
            </a:p>
          </p:txBody>
        </p:sp>
        <p:sp>
          <p:nvSpPr>
            <p:cNvPr id="25650" name="Text Box 26"/>
            <p:cNvSpPr txBox="1">
              <a:spLocks noChangeArrowheads="1"/>
            </p:cNvSpPr>
            <p:nvPr/>
          </p:nvSpPr>
          <p:spPr bwMode="auto">
            <a:xfrm>
              <a:off x="1953" y="1850"/>
              <a:ext cx="47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Arial" pitchFamily="34" charset="0"/>
                  <a:ea typeface="+mn-ea"/>
                  <a:cs typeface="+mn-cs"/>
                </a:rPr>
                <a:t>x &lt; y</a:t>
              </a:r>
            </a:p>
          </p:txBody>
        </p:sp>
        <p:cxnSp>
          <p:nvCxnSpPr>
            <p:cNvPr id="25651" name="AutoShape 30"/>
            <p:cNvCxnSpPr>
              <a:cxnSpLocks noChangeShapeType="1"/>
              <a:stCxn id="25656" idx="2"/>
              <a:endCxn id="25621" idx="2"/>
            </p:cNvCxnSpPr>
            <p:nvPr/>
          </p:nvCxnSpPr>
          <p:spPr bwMode="auto">
            <a:xfrm rot="10800000" flipH="1">
              <a:off x="2123" y="1776"/>
              <a:ext cx="176" cy="474"/>
            </a:xfrm>
            <a:prstGeom prst="curvedConnector3">
              <a:avLst>
                <a:gd name="adj1" fmla="val -71570"/>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cxnSp>
      </p:grpSp>
      <p:sp>
        <p:nvSpPr>
          <p:cNvPr id="195616" name="Text Box 32"/>
          <p:cNvSpPr txBox="1">
            <a:spLocks noChangeArrowheads="1"/>
          </p:cNvSpPr>
          <p:nvPr/>
        </p:nvSpPr>
        <p:spPr bwMode="auto">
          <a:xfrm>
            <a:off x="4768834" y="3793173"/>
            <a:ext cx="2662238" cy="1200150"/>
          </a:xfrm>
          <a:prstGeom prst="rect">
            <a:avLst/>
          </a:prstGeom>
          <a:solidFill>
            <a:schemeClr val="accent2"/>
          </a:solidFill>
          <a:ln w="12700">
            <a:solidFill>
              <a:schemeClr val="tx1"/>
            </a:solidFill>
            <a:miter lim="800000"/>
            <a:headEnd type="none" w="sm" len="sm"/>
            <a:tailEnd type="none" w="sm" len="sm"/>
          </a:ln>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for (x = 0; x &lt; y; x++)</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   y = f (x, y);</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a:t>
            </a:r>
          </a:p>
        </p:txBody>
      </p:sp>
      <p:grpSp>
        <p:nvGrpSpPr>
          <p:cNvPr id="9" name="Group 77"/>
          <p:cNvGrpSpPr>
            <a:grpSpLocks/>
          </p:cNvGrpSpPr>
          <p:nvPr/>
        </p:nvGrpSpPr>
        <p:grpSpPr bwMode="auto">
          <a:xfrm>
            <a:off x="9274176" y="2631123"/>
            <a:ext cx="555625" cy="1162050"/>
            <a:chOff x="4746" y="1706"/>
            <a:chExt cx="350" cy="732"/>
          </a:xfrm>
        </p:grpSpPr>
        <p:grpSp>
          <p:nvGrpSpPr>
            <p:cNvPr id="25642" name="Group 37"/>
            <p:cNvGrpSpPr>
              <a:grpSpLocks/>
            </p:cNvGrpSpPr>
            <p:nvPr/>
          </p:nvGrpSpPr>
          <p:grpSpPr bwMode="auto">
            <a:xfrm>
              <a:off x="4746" y="1900"/>
              <a:ext cx="350" cy="296"/>
              <a:chOff x="3838" y="2684"/>
              <a:chExt cx="350" cy="296"/>
            </a:xfrm>
          </p:grpSpPr>
          <p:sp>
            <p:nvSpPr>
              <p:cNvPr id="25645" name="Oval 38" descr="Light downward diagonal"/>
              <p:cNvSpPr>
                <a:spLocks noChangeArrowheads="1"/>
              </p:cNvSpPr>
              <p:nvPr/>
            </p:nvSpPr>
            <p:spPr bwMode="auto">
              <a:xfrm>
                <a:off x="3838" y="2684"/>
                <a:ext cx="350" cy="296"/>
              </a:xfrm>
              <a:prstGeom prst="ellipse">
                <a:avLst/>
              </a:prstGeom>
              <a:pattFill prst="ltDnDiag">
                <a:fgClr>
                  <a:srgbClr val="3399FF"/>
                </a:fgClr>
                <a:bgClr>
                  <a:schemeClr val="bg1"/>
                </a:bgClr>
              </a:pattFill>
              <a:ln w="19050">
                <a:solidFill>
                  <a:schemeClr val="tx1"/>
                </a:solidFill>
                <a:round/>
                <a:headEnd type="none" w="sm" len="sm"/>
                <a:tailEnd type="none" w="sm" len="sm"/>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5646" name="Text Box 39" descr="Light downward diagonal"/>
              <p:cNvSpPr txBox="1">
                <a:spLocks noChangeArrowheads="1"/>
              </p:cNvSpPr>
              <p:nvPr/>
            </p:nvSpPr>
            <p:spPr bwMode="auto">
              <a:xfrm>
                <a:off x="3915" y="2707"/>
                <a:ext cx="206" cy="252"/>
              </a:xfrm>
              <a:prstGeom prst="rect">
                <a:avLst/>
              </a:prstGeom>
              <a:pattFill prst="ltDnDiag">
                <a:fgClr>
                  <a:srgbClr val="3399FF"/>
                </a:fgClr>
                <a:bgClr>
                  <a:schemeClr val="bg1"/>
                </a:bgClr>
              </a:patt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1</a:t>
                </a:r>
              </a:p>
            </p:txBody>
          </p:sp>
        </p:grpSp>
        <p:sp>
          <p:nvSpPr>
            <p:cNvPr id="25643" name="Line 41"/>
            <p:cNvSpPr>
              <a:spLocks noChangeShapeType="1"/>
            </p:cNvSpPr>
            <p:nvPr/>
          </p:nvSpPr>
          <p:spPr bwMode="auto">
            <a:xfrm flipH="1">
              <a:off x="4921" y="2193"/>
              <a:ext cx="1" cy="245"/>
            </a:xfrm>
            <a:prstGeom prst="line">
              <a:avLst/>
            </a:prstGeom>
            <a:noFill/>
            <a:ln w="19050">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sp>
          <p:nvSpPr>
            <p:cNvPr id="25644" name="Line 42"/>
            <p:cNvSpPr>
              <a:spLocks noChangeShapeType="1"/>
            </p:cNvSpPr>
            <p:nvPr/>
          </p:nvSpPr>
          <p:spPr bwMode="auto">
            <a:xfrm>
              <a:off x="4921" y="1706"/>
              <a:ext cx="0" cy="186"/>
            </a:xfrm>
            <a:prstGeom prst="line">
              <a:avLst/>
            </a:prstGeom>
            <a:noFill/>
            <a:ln w="19050">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grpSp>
      <p:sp>
        <p:nvSpPr>
          <p:cNvPr id="195639" name="Text Box 55"/>
          <p:cNvSpPr txBox="1">
            <a:spLocks noChangeArrowheads="1"/>
          </p:cNvSpPr>
          <p:nvPr/>
        </p:nvSpPr>
        <p:spPr bwMode="auto">
          <a:xfrm>
            <a:off x="9296401" y="5623561"/>
            <a:ext cx="1160463"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base" latinLnBrk="0" hangingPunct="1">
              <a:lnSpc>
                <a:spcPct val="50000"/>
              </a:lnSpc>
              <a:spcBef>
                <a:spcPct val="50000"/>
              </a:spcBef>
              <a:spcAft>
                <a:spcPct val="0"/>
              </a:spcAft>
              <a:buClrTx/>
              <a:buSzTx/>
              <a:buFontTx/>
              <a:buNone/>
              <a:tabLst/>
              <a:defRPr/>
            </a:pPr>
            <a:r>
              <a:rPr kumimoji="0" lang="en-US" altLang="en-US" sz="1600" b="1" i="0" u="none" strike="noStrike" kern="1200" cap="none" spc="0" normalizeH="0" baseline="0" noProof="0">
                <a:ln>
                  <a:noFill/>
                </a:ln>
                <a:solidFill>
                  <a:srgbClr val="04617B"/>
                </a:solidFill>
                <a:effectLst/>
                <a:uLnTx/>
                <a:uFillTx/>
                <a:latin typeface="Arial" pitchFamily="34" charset="0"/>
                <a:ea typeface="+mn-ea"/>
                <a:cs typeface="+mn-cs"/>
              </a:rPr>
              <a:t>x = x + 1</a:t>
            </a:r>
          </a:p>
        </p:txBody>
      </p:sp>
      <p:grpSp>
        <p:nvGrpSpPr>
          <p:cNvPr id="11" name="Group 71"/>
          <p:cNvGrpSpPr>
            <a:grpSpLocks/>
          </p:cNvGrpSpPr>
          <p:nvPr/>
        </p:nvGrpSpPr>
        <p:grpSpPr bwMode="auto">
          <a:xfrm>
            <a:off x="7612064" y="3805874"/>
            <a:ext cx="3055937" cy="2122487"/>
            <a:chOff x="3835" y="2446"/>
            <a:chExt cx="1733" cy="1337"/>
          </a:xfrm>
        </p:grpSpPr>
        <p:grpSp>
          <p:nvGrpSpPr>
            <p:cNvPr id="25623" name="Group 34"/>
            <p:cNvGrpSpPr>
              <a:grpSpLocks/>
            </p:cNvGrpSpPr>
            <p:nvPr/>
          </p:nvGrpSpPr>
          <p:grpSpPr bwMode="auto">
            <a:xfrm>
              <a:off x="4747" y="2446"/>
              <a:ext cx="350" cy="296"/>
              <a:chOff x="4738" y="2684"/>
              <a:chExt cx="350" cy="296"/>
            </a:xfrm>
          </p:grpSpPr>
          <p:sp>
            <p:nvSpPr>
              <p:cNvPr id="25640" name="Oval 35"/>
              <p:cNvSpPr>
                <a:spLocks noChangeArrowheads="1"/>
              </p:cNvSpPr>
              <p:nvPr/>
            </p:nvSpPr>
            <p:spPr bwMode="auto">
              <a:xfrm>
                <a:off x="4738" y="2684"/>
                <a:ext cx="350" cy="296"/>
              </a:xfrm>
              <a:prstGeom prst="ellipse">
                <a:avLst/>
              </a:prstGeom>
              <a:solidFill>
                <a:srgbClr val="0066FF"/>
              </a:solidFill>
              <a:ln w="19050">
                <a:solidFill>
                  <a:schemeClr val="tx1"/>
                </a:solidFill>
                <a:round/>
                <a:headEnd type="none" w="sm" len="sm"/>
                <a:tailEnd type="none" w="sm" len="sm"/>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5641" name="Text Box 36"/>
              <p:cNvSpPr txBox="1">
                <a:spLocks noChangeArrowheads="1"/>
              </p:cNvSpPr>
              <p:nvPr/>
            </p:nvSpPr>
            <p:spPr bwMode="auto">
              <a:xfrm>
                <a:off x="4815" y="2707"/>
                <a:ext cx="186" cy="252"/>
              </a:xfrm>
              <a:prstGeom prst="rect">
                <a:avLst/>
              </a:prstGeom>
              <a:solidFill>
                <a:srgbClr val="0066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2</a:t>
                </a:r>
              </a:p>
            </p:txBody>
          </p:sp>
        </p:grpSp>
        <p:sp>
          <p:nvSpPr>
            <p:cNvPr id="25624" name="Line 40"/>
            <p:cNvSpPr>
              <a:spLocks noChangeShapeType="1"/>
            </p:cNvSpPr>
            <p:nvPr/>
          </p:nvSpPr>
          <p:spPr bwMode="auto">
            <a:xfrm>
              <a:off x="5013" y="2728"/>
              <a:ext cx="146" cy="225"/>
            </a:xfrm>
            <a:prstGeom prst="line">
              <a:avLst/>
            </a:prstGeom>
            <a:noFill/>
            <a:ln w="19050">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grpSp>
          <p:nvGrpSpPr>
            <p:cNvPr id="25625" name="Group 43"/>
            <p:cNvGrpSpPr>
              <a:grpSpLocks/>
            </p:cNvGrpSpPr>
            <p:nvPr/>
          </p:nvGrpSpPr>
          <p:grpSpPr bwMode="auto">
            <a:xfrm>
              <a:off x="4468" y="2930"/>
              <a:ext cx="350" cy="296"/>
              <a:chOff x="4288" y="1746"/>
              <a:chExt cx="350" cy="296"/>
            </a:xfrm>
          </p:grpSpPr>
          <p:sp>
            <p:nvSpPr>
              <p:cNvPr id="25638" name="Oval 44"/>
              <p:cNvSpPr>
                <a:spLocks noChangeArrowheads="1"/>
              </p:cNvSpPr>
              <p:nvPr/>
            </p:nvSpPr>
            <p:spPr bwMode="auto">
              <a:xfrm>
                <a:off x="4288" y="1746"/>
                <a:ext cx="350" cy="296"/>
              </a:xfrm>
              <a:prstGeom prst="ellipse">
                <a:avLst/>
              </a:prstGeom>
              <a:solidFill>
                <a:srgbClr val="0066FF"/>
              </a:solidFill>
              <a:ln w="19050">
                <a:solidFill>
                  <a:schemeClr val="tx1"/>
                </a:solidFill>
                <a:round/>
                <a:headEnd type="none" w="sm" len="sm"/>
                <a:tailEnd type="none" w="sm" len="sm"/>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5639" name="Text Box 45"/>
              <p:cNvSpPr txBox="1">
                <a:spLocks noChangeArrowheads="1"/>
              </p:cNvSpPr>
              <p:nvPr/>
            </p:nvSpPr>
            <p:spPr bwMode="auto">
              <a:xfrm>
                <a:off x="4375" y="1769"/>
                <a:ext cx="18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3</a:t>
                </a:r>
              </a:p>
            </p:txBody>
          </p:sp>
        </p:grpSp>
        <p:grpSp>
          <p:nvGrpSpPr>
            <p:cNvPr id="25626" name="Group 46"/>
            <p:cNvGrpSpPr>
              <a:grpSpLocks/>
            </p:cNvGrpSpPr>
            <p:nvPr/>
          </p:nvGrpSpPr>
          <p:grpSpPr bwMode="auto">
            <a:xfrm>
              <a:off x="5080" y="2930"/>
              <a:ext cx="350" cy="296"/>
              <a:chOff x="4288" y="1746"/>
              <a:chExt cx="350" cy="296"/>
            </a:xfrm>
          </p:grpSpPr>
          <p:sp>
            <p:nvSpPr>
              <p:cNvPr id="25636" name="Oval 47"/>
              <p:cNvSpPr>
                <a:spLocks noChangeArrowheads="1"/>
              </p:cNvSpPr>
              <p:nvPr/>
            </p:nvSpPr>
            <p:spPr bwMode="auto">
              <a:xfrm>
                <a:off x="4288" y="1746"/>
                <a:ext cx="350" cy="296"/>
              </a:xfrm>
              <a:prstGeom prst="ellipse">
                <a:avLst/>
              </a:prstGeom>
              <a:solidFill>
                <a:srgbClr val="0066FF"/>
              </a:solidFill>
              <a:ln w="57150">
                <a:solidFill>
                  <a:schemeClr val="tx1"/>
                </a:solidFill>
                <a:round/>
                <a:headEnd type="none" w="sm" len="sm"/>
                <a:tailEnd type="none" w="sm" len="sm"/>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5637" name="Text Box 48"/>
              <p:cNvSpPr txBox="1">
                <a:spLocks noChangeArrowheads="1"/>
              </p:cNvSpPr>
              <p:nvPr/>
            </p:nvSpPr>
            <p:spPr bwMode="auto">
              <a:xfrm>
                <a:off x="4375" y="1769"/>
                <a:ext cx="18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5</a:t>
                </a:r>
              </a:p>
            </p:txBody>
          </p:sp>
        </p:grpSp>
        <p:sp>
          <p:nvSpPr>
            <p:cNvPr id="25627" name="Line 49"/>
            <p:cNvSpPr>
              <a:spLocks noChangeShapeType="1"/>
            </p:cNvSpPr>
            <p:nvPr/>
          </p:nvSpPr>
          <p:spPr bwMode="auto">
            <a:xfrm flipH="1">
              <a:off x="4743" y="2736"/>
              <a:ext cx="114" cy="217"/>
            </a:xfrm>
            <a:prstGeom prst="line">
              <a:avLst/>
            </a:prstGeom>
            <a:noFill/>
            <a:ln w="19050">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sp>
          <p:nvSpPr>
            <p:cNvPr id="25628" name="Text Box 50"/>
            <p:cNvSpPr txBox="1">
              <a:spLocks noChangeArrowheads="1"/>
            </p:cNvSpPr>
            <p:nvPr/>
          </p:nvSpPr>
          <p:spPr bwMode="auto">
            <a:xfrm>
              <a:off x="5027" y="2668"/>
              <a:ext cx="541"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Arial" pitchFamily="34" charset="0"/>
                  <a:ea typeface="+mn-ea"/>
                  <a:cs typeface="+mn-cs"/>
                </a:rPr>
                <a:t>x &gt;= y</a:t>
              </a:r>
            </a:p>
          </p:txBody>
        </p:sp>
        <p:sp>
          <p:nvSpPr>
            <p:cNvPr id="25629" name="Text Box 51"/>
            <p:cNvSpPr txBox="1">
              <a:spLocks noChangeArrowheads="1"/>
            </p:cNvSpPr>
            <p:nvPr/>
          </p:nvSpPr>
          <p:spPr bwMode="auto">
            <a:xfrm>
              <a:off x="4400" y="2668"/>
              <a:ext cx="47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Arial" pitchFamily="34" charset="0"/>
                  <a:ea typeface="+mn-ea"/>
                  <a:cs typeface="+mn-cs"/>
                </a:rPr>
                <a:t>x &lt; y</a:t>
              </a:r>
            </a:p>
          </p:txBody>
        </p:sp>
        <p:sp>
          <p:nvSpPr>
            <p:cNvPr id="25630" name="Text Box 53"/>
            <p:cNvSpPr txBox="1">
              <a:spLocks noChangeArrowheads="1"/>
            </p:cNvSpPr>
            <p:nvPr/>
          </p:nvSpPr>
          <p:spPr bwMode="auto">
            <a:xfrm>
              <a:off x="3835" y="3028"/>
              <a:ext cx="686" cy="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base" latinLnBrk="0" hangingPunct="1">
                <a:lnSpc>
                  <a:spcPct val="50000"/>
                </a:lnSpc>
                <a:spcBef>
                  <a:spcPct val="50000"/>
                </a:spcBef>
                <a:spcAft>
                  <a:spcPct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Arial" pitchFamily="34" charset="0"/>
                  <a:ea typeface="+mn-ea"/>
                  <a:cs typeface="+mn-cs"/>
                </a:rPr>
                <a:t>y = f (x, y)</a:t>
              </a:r>
            </a:p>
          </p:txBody>
        </p:sp>
        <p:cxnSp>
          <p:nvCxnSpPr>
            <p:cNvPr id="25631" name="AutoShape 54"/>
            <p:cNvCxnSpPr>
              <a:cxnSpLocks noChangeShapeType="1"/>
              <a:stCxn id="25634" idx="3"/>
              <a:endCxn id="25640" idx="1"/>
            </p:cNvCxnSpPr>
            <p:nvPr/>
          </p:nvCxnSpPr>
          <p:spPr bwMode="auto">
            <a:xfrm rot="5400000" flipH="1" flipV="1">
              <a:off x="4027" y="2975"/>
              <a:ext cx="1263" cy="279"/>
            </a:xfrm>
            <a:prstGeom prst="curvedConnector5">
              <a:avLst>
                <a:gd name="adj1" fmla="val -9"/>
                <a:gd name="adj2" fmla="val -164162"/>
                <a:gd name="adj3" fmla="val 114329"/>
              </a:avLst>
            </a:prstGeom>
            <a:noFill/>
            <a:ln w="1270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grpSp>
          <p:nvGrpSpPr>
            <p:cNvPr id="25632" name="Group 56"/>
            <p:cNvGrpSpPr>
              <a:grpSpLocks/>
            </p:cNvGrpSpPr>
            <p:nvPr/>
          </p:nvGrpSpPr>
          <p:grpSpPr bwMode="auto">
            <a:xfrm>
              <a:off x="4468" y="3487"/>
              <a:ext cx="350" cy="296"/>
              <a:chOff x="4288" y="1746"/>
              <a:chExt cx="350" cy="296"/>
            </a:xfrm>
          </p:grpSpPr>
          <p:sp>
            <p:nvSpPr>
              <p:cNvPr id="25634" name="Oval 57"/>
              <p:cNvSpPr>
                <a:spLocks noChangeArrowheads="1"/>
              </p:cNvSpPr>
              <p:nvPr/>
            </p:nvSpPr>
            <p:spPr bwMode="auto">
              <a:xfrm>
                <a:off x="4288" y="1746"/>
                <a:ext cx="350" cy="296"/>
              </a:xfrm>
              <a:prstGeom prst="ellipse">
                <a:avLst/>
              </a:prstGeom>
              <a:solidFill>
                <a:srgbClr val="0066FF"/>
              </a:solidFill>
              <a:ln w="19050">
                <a:solidFill>
                  <a:schemeClr val="tx1"/>
                </a:solidFill>
                <a:round/>
                <a:headEnd type="none" w="sm" len="sm"/>
                <a:tailEnd type="none" w="sm" len="sm"/>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5635" name="Text Box 58"/>
              <p:cNvSpPr txBox="1">
                <a:spLocks noChangeArrowheads="1"/>
              </p:cNvSpPr>
              <p:nvPr/>
            </p:nvSpPr>
            <p:spPr bwMode="auto">
              <a:xfrm>
                <a:off x="4375" y="1769"/>
                <a:ext cx="18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4</a:t>
                </a:r>
              </a:p>
            </p:txBody>
          </p:sp>
        </p:grpSp>
        <p:sp>
          <p:nvSpPr>
            <p:cNvPr id="25633" name="Line 59"/>
            <p:cNvSpPr>
              <a:spLocks noChangeShapeType="1"/>
            </p:cNvSpPr>
            <p:nvPr/>
          </p:nvSpPr>
          <p:spPr bwMode="auto">
            <a:xfrm flipH="1">
              <a:off x="4642" y="3232"/>
              <a:ext cx="1" cy="245"/>
            </a:xfrm>
            <a:prstGeom prst="line">
              <a:avLst/>
            </a:prstGeom>
            <a:noFill/>
            <a:ln w="19050">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grpSp>
      <p:grpSp>
        <p:nvGrpSpPr>
          <p:cNvPr id="16" name="Group 70"/>
          <p:cNvGrpSpPr>
            <a:grpSpLocks/>
          </p:cNvGrpSpPr>
          <p:nvPr/>
        </p:nvGrpSpPr>
        <p:grpSpPr bwMode="auto">
          <a:xfrm>
            <a:off x="2581910" y="1931036"/>
            <a:ext cx="2736850" cy="1046163"/>
            <a:chOff x="2300" y="1265"/>
            <a:chExt cx="1724" cy="659"/>
          </a:xfrm>
        </p:grpSpPr>
        <p:sp>
          <p:nvSpPr>
            <p:cNvPr id="25617" name="Line 15"/>
            <p:cNvSpPr>
              <a:spLocks noChangeShapeType="1"/>
            </p:cNvSpPr>
            <p:nvPr/>
          </p:nvSpPr>
          <p:spPr bwMode="auto">
            <a:xfrm flipH="1">
              <a:off x="2474" y="1375"/>
              <a:ext cx="1" cy="245"/>
            </a:xfrm>
            <a:prstGeom prst="line">
              <a:avLst/>
            </a:prstGeom>
            <a:noFill/>
            <a:ln w="19050">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grpSp>
          <p:nvGrpSpPr>
            <p:cNvPr id="25618" name="Group 67"/>
            <p:cNvGrpSpPr>
              <a:grpSpLocks/>
            </p:cNvGrpSpPr>
            <p:nvPr/>
          </p:nvGrpSpPr>
          <p:grpSpPr bwMode="auto">
            <a:xfrm>
              <a:off x="2300" y="1265"/>
              <a:ext cx="1724" cy="659"/>
              <a:chOff x="2300" y="1265"/>
              <a:chExt cx="1724" cy="659"/>
            </a:xfrm>
          </p:grpSpPr>
          <p:grpSp>
            <p:nvGrpSpPr>
              <p:cNvPr id="25619" name="Group 7"/>
              <p:cNvGrpSpPr>
                <a:grpSpLocks/>
              </p:cNvGrpSpPr>
              <p:nvPr/>
            </p:nvGrpSpPr>
            <p:grpSpPr bwMode="auto">
              <a:xfrm>
                <a:off x="2300" y="1628"/>
                <a:ext cx="350" cy="296"/>
                <a:chOff x="4738" y="2684"/>
                <a:chExt cx="350" cy="296"/>
              </a:xfrm>
            </p:grpSpPr>
            <p:sp>
              <p:nvSpPr>
                <p:cNvPr id="25621" name="Oval 8" descr="Dark downward diagonal"/>
                <p:cNvSpPr>
                  <a:spLocks noChangeArrowheads="1"/>
                </p:cNvSpPr>
                <p:nvPr/>
              </p:nvSpPr>
              <p:spPr bwMode="auto">
                <a:xfrm>
                  <a:off x="4738" y="2684"/>
                  <a:ext cx="350" cy="296"/>
                </a:xfrm>
                <a:prstGeom prst="ellipse">
                  <a:avLst/>
                </a:prstGeom>
                <a:pattFill prst="dkDnDiag">
                  <a:fgClr>
                    <a:srgbClr val="0066FF"/>
                  </a:fgClr>
                  <a:bgClr>
                    <a:schemeClr val="bg1"/>
                  </a:bgClr>
                </a:pattFill>
                <a:ln w="19050">
                  <a:solidFill>
                    <a:schemeClr val="tx1"/>
                  </a:solidFill>
                  <a:round/>
                  <a:headEnd type="none" w="sm" len="sm"/>
                  <a:tailEnd type="none" w="sm" len="sm"/>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5622" name="Text Box 9"/>
                <p:cNvSpPr txBox="1">
                  <a:spLocks noChangeArrowheads="1"/>
                </p:cNvSpPr>
                <p:nvPr/>
              </p:nvSpPr>
              <p:spPr bwMode="auto">
                <a:xfrm>
                  <a:off x="4815" y="2707"/>
                  <a:ext cx="2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2</a:t>
                  </a:r>
                </a:p>
              </p:txBody>
            </p:sp>
          </p:grpSp>
          <p:sp>
            <p:nvSpPr>
              <p:cNvPr id="25620" name="AutoShape 66"/>
              <p:cNvSpPr>
                <a:spLocks/>
              </p:cNvSpPr>
              <p:nvPr/>
            </p:nvSpPr>
            <p:spPr bwMode="auto">
              <a:xfrm>
                <a:off x="2950" y="1265"/>
                <a:ext cx="1074" cy="262"/>
              </a:xfrm>
              <a:prstGeom prst="borderCallout2">
                <a:avLst>
                  <a:gd name="adj1" fmla="val 27481"/>
                  <a:gd name="adj2" fmla="val -4796"/>
                  <a:gd name="adj3" fmla="val 27481"/>
                  <a:gd name="adj4" fmla="val -23676"/>
                  <a:gd name="adj5" fmla="val 134731"/>
                  <a:gd name="adj6" fmla="val -35065"/>
                </a:avLst>
              </a:prstGeom>
              <a:solidFill>
                <a:schemeClr val="accent2"/>
              </a:solidFill>
              <a:ln w="12700">
                <a:solidFill>
                  <a:schemeClr val="tx1"/>
                </a:solidFill>
                <a:miter lim="800000"/>
                <a:headEnd type="none" w="sm" len="sm"/>
                <a:tailEnd type="none" w="sm" len="sm"/>
              </a:ln>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2000" b="1" i="1" u="none" strike="noStrike" kern="1200" cap="none" spc="0" normalizeH="0" baseline="0" noProof="0" dirty="0">
                    <a:ln>
                      <a:noFill/>
                    </a:ln>
                    <a:solidFill>
                      <a:prstClr val="black"/>
                    </a:solidFill>
                    <a:effectLst/>
                    <a:uLnTx/>
                    <a:uFillTx/>
                    <a:latin typeface="Arial" pitchFamily="34" charset="0"/>
                    <a:ea typeface="+mn-ea"/>
                    <a:cs typeface="+mn-cs"/>
                  </a:rPr>
                  <a:t>dummy</a:t>
                </a:r>
                <a:r>
                  <a:rPr kumimoji="0" lang="en-US" altLang="en-US" sz="2000" b="1" i="0" u="none" strike="noStrike" kern="1200" cap="none" spc="0" normalizeH="0" baseline="0" noProof="0" dirty="0">
                    <a:ln>
                      <a:noFill/>
                    </a:ln>
                    <a:solidFill>
                      <a:prstClr val="black"/>
                    </a:solidFill>
                    <a:effectLst/>
                    <a:uLnTx/>
                    <a:uFillTx/>
                    <a:latin typeface="Arial" pitchFamily="34" charset="0"/>
                    <a:ea typeface="+mn-ea"/>
                    <a:cs typeface="+mn-cs"/>
                  </a:rPr>
                  <a:t> node</a:t>
                </a:r>
              </a:p>
            </p:txBody>
          </p:sp>
        </p:grpSp>
      </p:grpSp>
      <p:grpSp>
        <p:nvGrpSpPr>
          <p:cNvPr id="19" name="Group 78"/>
          <p:cNvGrpSpPr>
            <a:grpSpLocks/>
          </p:cNvGrpSpPr>
          <p:nvPr/>
        </p:nvGrpSpPr>
        <p:grpSpPr bwMode="auto">
          <a:xfrm>
            <a:off x="6529388" y="2804160"/>
            <a:ext cx="2690812" cy="655638"/>
            <a:chOff x="3272" y="1814"/>
            <a:chExt cx="1551" cy="413"/>
          </a:xfrm>
        </p:grpSpPr>
        <p:sp>
          <p:nvSpPr>
            <p:cNvPr id="25615" name="Text Box 52"/>
            <p:cNvSpPr txBox="1">
              <a:spLocks noChangeArrowheads="1"/>
            </p:cNvSpPr>
            <p:nvPr/>
          </p:nvSpPr>
          <p:spPr bwMode="auto">
            <a:xfrm>
              <a:off x="4351" y="1941"/>
              <a:ext cx="47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en-US" sz="1600" b="1" i="0" u="none" strike="noStrike" kern="1200" cap="none" spc="0" normalizeH="0" baseline="0" noProof="0">
                  <a:ln>
                    <a:noFill/>
                  </a:ln>
                  <a:solidFill>
                    <a:srgbClr val="04617B"/>
                  </a:solidFill>
                  <a:effectLst/>
                  <a:uLnTx/>
                  <a:uFillTx/>
                  <a:latin typeface="Arial" pitchFamily="34" charset="0"/>
                  <a:ea typeface="+mn-ea"/>
                  <a:cs typeface="+mn-cs"/>
                </a:rPr>
                <a:t>x = 0</a:t>
              </a:r>
            </a:p>
          </p:txBody>
        </p:sp>
        <p:sp>
          <p:nvSpPr>
            <p:cNvPr id="25616" name="AutoShape 72"/>
            <p:cNvSpPr>
              <a:spLocks/>
            </p:cNvSpPr>
            <p:nvPr/>
          </p:nvSpPr>
          <p:spPr bwMode="auto">
            <a:xfrm>
              <a:off x="3272" y="1814"/>
              <a:ext cx="1116" cy="413"/>
            </a:xfrm>
            <a:prstGeom prst="borderCallout2">
              <a:avLst>
                <a:gd name="adj1" fmla="val 17435"/>
                <a:gd name="adj2" fmla="val 104301"/>
                <a:gd name="adj3" fmla="val 17435"/>
                <a:gd name="adj4" fmla="val 123926"/>
                <a:gd name="adj5" fmla="val 47218"/>
                <a:gd name="adj6" fmla="val 144264"/>
              </a:avLst>
            </a:prstGeom>
            <a:solidFill>
              <a:schemeClr val="accent2"/>
            </a:solidFill>
            <a:ln w="12700">
              <a:solidFill>
                <a:schemeClr val="tx1"/>
              </a:solidFill>
              <a:miter lim="800000"/>
              <a:headEnd type="none" w="sm" len="sm"/>
              <a:tailEnd type="none" w="sm" len="sm"/>
            </a:ln>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implicitly initializes loop</a:t>
              </a:r>
            </a:p>
          </p:txBody>
        </p:sp>
      </p:grpSp>
      <p:sp>
        <p:nvSpPr>
          <p:cNvPr id="195660" name="AutoShape 76"/>
          <p:cNvSpPr>
            <a:spLocks/>
          </p:cNvSpPr>
          <p:nvPr/>
        </p:nvSpPr>
        <p:spPr bwMode="auto">
          <a:xfrm>
            <a:off x="5181600" y="6080760"/>
            <a:ext cx="2312988" cy="685800"/>
          </a:xfrm>
          <a:prstGeom prst="borderCallout2">
            <a:avLst>
              <a:gd name="adj1" fmla="val 49870"/>
              <a:gd name="adj2" fmla="val 101190"/>
              <a:gd name="adj3" fmla="val 57977"/>
              <a:gd name="adj4" fmla="val 144014"/>
              <a:gd name="adj5" fmla="val -21606"/>
              <a:gd name="adj6" fmla="val 163565"/>
            </a:avLst>
          </a:prstGeom>
          <a:solidFill>
            <a:schemeClr val="accent2"/>
          </a:solidFill>
          <a:ln w="12700">
            <a:solidFill>
              <a:schemeClr val="tx1"/>
            </a:solidFill>
            <a:miter lim="800000"/>
            <a:headEnd type="none" w="sm" len="sm"/>
            <a:tailEnd type="none" w="sm" len="sm"/>
          </a:ln>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implicitly increments loop</a:t>
            </a:r>
          </a:p>
        </p:txBody>
      </p:sp>
      <p:sp>
        <p:nvSpPr>
          <p:cNvPr id="3" name="Slide Number Placeholder 2">
            <a:extLst>
              <a:ext uri="{FF2B5EF4-FFF2-40B4-BE49-F238E27FC236}">
                <a16:creationId xmlns:a16="http://schemas.microsoft.com/office/drawing/2014/main" id="{D65C56F7-CC87-461D-ADDB-9A0880E93A19}"/>
              </a:ext>
            </a:extLst>
          </p:cNvPr>
          <p:cNvSpPr>
            <a:spLocks noGrp="1"/>
          </p:cNvSpPr>
          <p:nvPr>
            <p:ph type="sldNum" sz="quarter" idx="12"/>
          </p:nvPr>
        </p:nvSpPr>
        <p:spPr>
          <a:xfrm>
            <a:off x="8610600" y="664591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02611B-C7D4-401B-B615-A1AB963424CC}"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6353189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left)">
                                      <p:cBhvr>
                                        <p:cTn id="17" dur="500"/>
                                        <p:tgtEl>
                                          <p:spTgt spid="1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dissolve">
                                      <p:cBhvr>
                                        <p:cTn id="22" dur="500"/>
                                        <p:tgtEl>
                                          <p:spTgt spid="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95616"/>
                                        </p:tgtEl>
                                        <p:attrNameLst>
                                          <p:attrName>style.visibility</p:attrName>
                                        </p:attrNameLst>
                                      </p:cBhvr>
                                      <p:to>
                                        <p:strVal val="visible"/>
                                      </p:to>
                                    </p:set>
                                    <p:animEffect transition="in" filter="dissolve">
                                      <p:cBhvr>
                                        <p:cTn id="27" dur="500"/>
                                        <p:tgtEl>
                                          <p:spTgt spid="19561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dissolve">
                                      <p:cBhvr>
                                        <p:cTn id="32" dur="500"/>
                                        <p:tgtEl>
                                          <p:spTgt spid="1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95639"/>
                                        </p:tgtEl>
                                        <p:attrNameLst>
                                          <p:attrName>style.visibility</p:attrName>
                                        </p:attrNameLst>
                                      </p:cBhvr>
                                      <p:to>
                                        <p:strVal val="visible"/>
                                      </p:to>
                                    </p:set>
                                  </p:childTnLst>
                                </p:cTn>
                              </p:par>
                            </p:childTnLst>
                          </p:cTn>
                        </p:par>
                        <p:par>
                          <p:cTn id="37" fill="hold" nodeType="afterGroup">
                            <p:stCondLst>
                              <p:cond delay="0"/>
                            </p:stCondLst>
                            <p:childTnLst>
                              <p:par>
                                <p:cTn id="38" presetID="22" presetClass="entr" presetSubtype="2" fill="hold" grpId="0" nodeType="afterEffect">
                                  <p:stCondLst>
                                    <p:cond delay="500"/>
                                  </p:stCondLst>
                                  <p:childTnLst>
                                    <p:set>
                                      <p:cBhvr>
                                        <p:cTn id="39" dur="1" fill="hold">
                                          <p:stCondLst>
                                            <p:cond delay="0"/>
                                          </p:stCondLst>
                                        </p:cTn>
                                        <p:tgtEl>
                                          <p:spTgt spid="195660"/>
                                        </p:tgtEl>
                                        <p:attrNameLst>
                                          <p:attrName>style.visibility</p:attrName>
                                        </p:attrNameLst>
                                      </p:cBhvr>
                                      <p:to>
                                        <p:strVal val="visible"/>
                                      </p:to>
                                    </p:set>
                                    <p:animEffect transition="in" filter="wipe(right)">
                                      <p:cBhvr>
                                        <p:cTn id="40" dur="500"/>
                                        <p:tgtEl>
                                          <p:spTgt spid="195660"/>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9" presetClass="entr" presetSubtype="0" fill="hold" nodeType="clickEffect">
                                  <p:stCondLst>
                                    <p:cond delay="0"/>
                                  </p:stCondLst>
                                  <p:childTnLst>
                                    <p:set>
                                      <p:cBhvr>
                                        <p:cTn id="44" dur="1" fill="hold">
                                          <p:stCondLst>
                                            <p:cond delay="0"/>
                                          </p:stCondLst>
                                        </p:cTn>
                                        <p:tgtEl>
                                          <p:spTgt spid="9"/>
                                        </p:tgtEl>
                                        <p:attrNameLst>
                                          <p:attrName>style.visibility</p:attrName>
                                        </p:attrNameLst>
                                      </p:cBhvr>
                                      <p:to>
                                        <p:strVal val="visible"/>
                                      </p:to>
                                    </p:set>
                                    <p:animEffect transition="in" filter="dissolve">
                                      <p:cBhvr>
                                        <p:cTn id="45" dur="500"/>
                                        <p:tgtEl>
                                          <p:spTgt spid="9"/>
                                        </p:tgtEl>
                                      </p:cBhvr>
                                    </p:animEffect>
                                  </p:childTnLst>
                                </p:cTn>
                              </p:par>
                            </p:childTnLst>
                          </p:cTn>
                        </p:par>
                        <p:par>
                          <p:cTn id="46" fill="hold" nodeType="afterGroup">
                            <p:stCondLst>
                              <p:cond delay="500"/>
                            </p:stCondLst>
                            <p:childTnLst>
                              <p:par>
                                <p:cTn id="47" presetID="22" presetClass="entr" presetSubtype="2" fill="hold" nodeType="after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wipe(right)">
                                      <p:cBhvr>
                                        <p:cTn id="4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616" grpId="0" animBg="1"/>
      <p:bldP spid="195639" grpId="0"/>
      <p:bldP spid="19566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a:xfrm>
            <a:off x="87473" y="35487"/>
            <a:ext cx="11460479" cy="1325563"/>
          </a:xfrm>
        </p:spPr>
        <p:txBody>
          <a:bodyPr>
            <a:normAutofit/>
          </a:bodyPr>
          <a:lstStyle/>
          <a:p>
            <a:r>
              <a:rPr lang="en-US" altLang="en-US" sz="4400" cap="all" dirty="0">
                <a:blipFill>
                  <a:blip r:embed="rId2">
                    <a:extLst>
                      <a:ext uri="{28A0092B-C50C-407E-A947-70E740481C1C}">
                        <a14:useLocalDpi xmlns:a14="http://schemas.microsoft.com/office/drawing/2010/main" val="0"/>
                      </a:ext>
                    </a:extLst>
                  </a:blip>
                  <a:tile tx="6350" ty="-127000" sx="65000" sy="64000" flip="none" algn="tl"/>
                </a:blipFill>
                <a:latin typeface="Times New Roman" pitchFamily="18" charset="0"/>
              </a:rPr>
              <a:t>Control flow graph (CFG) Examples</a:t>
            </a:r>
            <a:endParaRPr lang="en-US" altLang="en-US" dirty="0"/>
          </a:p>
        </p:txBody>
      </p:sp>
      <p:sp>
        <p:nvSpPr>
          <p:cNvPr id="26628" name="Text Box 4"/>
          <p:cNvSpPr txBox="1">
            <a:spLocks noChangeArrowheads="1"/>
          </p:cNvSpPr>
          <p:nvPr/>
        </p:nvSpPr>
        <p:spPr bwMode="auto">
          <a:xfrm>
            <a:off x="2819400" y="1905000"/>
            <a:ext cx="1841500" cy="3970338"/>
          </a:xfrm>
          <a:prstGeom prst="rect">
            <a:avLst/>
          </a:prstGeom>
          <a:solidFill>
            <a:schemeClr val="accent2"/>
          </a:solidFill>
          <a:ln w="12700">
            <a:solidFill>
              <a:schemeClr val="tx1"/>
            </a:solidFill>
            <a:miter lim="800000"/>
            <a:headEnd type="none" w="sm" len="sm"/>
            <a:tailEnd type="none" w="sm" len="sm"/>
          </a:ln>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read ( c)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switch ( c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   case ‘N’:</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      y = 25;</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      break;</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   case ‘Y’:</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      y = 50;</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      break;</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   default: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      y = 0;</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      break;</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print (y);</a:t>
            </a:r>
          </a:p>
        </p:txBody>
      </p:sp>
      <p:grpSp>
        <p:nvGrpSpPr>
          <p:cNvPr id="2" name="Group 46"/>
          <p:cNvGrpSpPr>
            <a:grpSpLocks/>
          </p:cNvGrpSpPr>
          <p:nvPr/>
        </p:nvGrpSpPr>
        <p:grpSpPr bwMode="auto">
          <a:xfrm>
            <a:off x="5334000" y="2195514"/>
            <a:ext cx="4495800" cy="3478355"/>
            <a:chOff x="2734" y="1383"/>
            <a:chExt cx="2305" cy="1945"/>
          </a:xfrm>
        </p:grpSpPr>
        <p:grpSp>
          <p:nvGrpSpPr>
            <p:cNvPr id="26630" name="Group 7"/>
            <p:cNvGrpSpPr>
              <a:grpSpLocks/>
            </p:cNvGrpSpPr>
            <p:nvPr/>
          </p:nvGrpSpPr>
          <p:grpSpPr bwMode="auto">
            <a:xfrm>
              <a:off x="3679" y="2950"/>
              <a:ext cx="350" cy="296"/>
              <a:chOff x="4738" y="2684"/>
              <a:chExt cx="350" cy="296"/>
            </a:xfrm>
          </p:grpSpPr>
          <p:sp>
            <p:nvSpPr>
              <p:cNvPr id="26659" name="Oval 8"/>
              <p:cNvSpPr>
                <a:spLocks noChangeArrowheads="1"/>
              </p:cNvSpPr>
              <p:nvPr/>
            </p:nvSpPr>
            <p:spPr bwMode="auto">
              <a:xfrm>
                <a:off x="4738" y="2684"/>
                <a:ext cx="350" cy="296"/>
              </a:xfrm>
              <a:prstGeom prst="ellipse">
                <a:avLst/>
              </a:prstGeom>
              <a:solidFill>
                <a:srgbClr val="0066FF"/>
              </a:solidFill>
              <a:ln w="57150">
                <a:solidFill>
                  <a:schemeClr val="tx1"/>
                </a:solidFill>
                <a:round/>
                <a:headEnd type="none" w="sm" len="sm"/>
                <a:tailEnd type="none" w="sm" len="sm"/>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6660" name="Text Box 9"/>
              <p:cNvSpPr txBox="1">
                <a:spLocks noChangeArrowheads="1"/>
              </p:cNvSpPr>
              <p:nvPr/>
            </p:nvSpPr>
            <p:spPr bwMode="auto">
              <a:xfrm>
                <a:off x="4843" y="2707"/>
                <a:ext cx="168"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5</a:t>
                </a:r>
              </a:p>
            </p:txBody>
          </p:sp>
        </p:grpSp>
        <p:grpSp>
          <p:nvGrpSpPr>
            <p:cNvPr id="26631" name="Group 10"/>
            <p:cNvGrpSpPr>
              <a:grpSpLocks/>
            </p:cNvGrpSpPr>
            <p:nvPr/>
          </p:nvGrpSpPr>
          <p:grpSpPr bwMode="auto">
            <a:xfrm>
              <a:off x="3679" y="1577"/>
              <a:ext cx="350" cy="296"/>
              <a:chOff x="3838" y="2684"/>
              <a:chExt cx="350" cy="296"/>
            </a:xfrm>
          </p:grpSpPr>
          <p:sp>
            <p:nvSpPr>
              <p:cNvPr id="26657" name="Oval 11"/>
              <p:cNvSpPr>
                <a:spLocks noChangeArrowheads="1"/>
              </p:cNvSpPr>
              <p:nvPr/>
            </p:nvSpPr>
            <p:spPr bwMode="auto">
              <a:xfrm>
                <a:off x="3838" y="2684"/>
                <a:ext cx="350" cy="296"/>
              </a:xfrm>
              <a:prstGeom prst="ellipse">
                <a:avLst/>
              </a:prstGeom>
              <a:solidFill>
                <a:srgbClr val="0066FF"/>
              </a:solidFill>
              <a:ln w="19050">
                <a:solidFill>
                  <a:schemeClr val="tx1"/>
                </a:solidFill>
                <a:round/>
                <a:headEnd type="none" w="sm" len="sm"/>
                <a:tailEnd type="none" w="sm" len="sm"/>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6658" name="Text Box 12"/>
              <p:cNvSpPr txBox="1">
                <a:spLocks noChangeArrowheads="1"/>
              </p:cNvSpPr>
              <p:nvPr/>
            </p:nvSpPr>
            <p:spPr bwMode="auto">
              <a:xfrm>
                <a:off x="3943" y="2707"/>
                <a:ext cx="168"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1</a:t>
                </a:r>
              </a:p>
            </p:txBody>
          </p:sp>
        </p:grpSp>
        <p:sp>
          <p:nvSpPr>
            <p:cNvPr id="26632" name="Line 13"/>
            <p:cNvSpPr>
              <a:spLocks noChangeShapeType="1"/>
            </p:cNvSpPr>
            <p:nvPr/>
          </p:nvSpPr>
          <p:spPr bwMode="auto">
            <a:xfrm flipV="1">
              <a:off x="3438" y="1827"/>
              <a:ext cx="292" cy="500"/>
            </a:xfrm>
            <a:prstGeom prst="line">
              <a:avLst/>
            </a:prstGeom>
            <a:noFill/>
            <a:ln w="19050">
              <a:solidFill>
                <a:schemeClr val="tx1"/>
              </a:solidFill>
              <a:round/>
              <a:headEnd type="arrow" w="med" len="me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sp>
          <p:nvSpPr>
            <p:cNvPr id="26633" name="Line 14"/>
            <p:cNvSpPr>
              <a:spLocks noChangeShapeType="1"/>
            </p:cNvSpPr>
            <p:nvPr/>
          </p:nvSpPr>
          <p:spPr bwMode="auto">
            <a:xfrm>
              <a:off x="3428" y="2485"/>
              <a:ext cx="301" cy="493"/>
            </a:xfrm>
            <a:prstGeom prst="line">
              <a:avLst/>
            </a:prstGeom>
            <a:noFill/>
            <a:ln w="19050">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sp>
          <p:nvSpPr>
            <p:cNvPr id="26634" name="Line 15"/>
            <p:cNvSpPr>
              <a:spLocks noChangeShapeType="1"/>
            </p:cNvSpPr>
            <p:nvPr/>
          </p:nvSpPr>
          <p:spPr bwMode="auto">
            <a:xfrm>
              <a:off x="3964" y="1836"/>
              <a:ext cx="293" cy="514"/>
            </a:xfrm>
            <a:prstGeom prst="line">
              <a:avLst/>
            </a:prstGeom>
            <a:noFill/>
            <a:ln w="19050">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sp>
          <p:nvSpPr>
            <p:cNvPr id="26635" name="Line 16"/>
            <p:cNvSpPr>
              <a:spLocks noChangeShapeType="1"/>
            </p:cNvSpPr>
            <p:nvPr/>
          </p:nvSpPr>
          <p:spPr bwMode="auto">
            <a:xfrm>
              <a:off x="3854" y="1383"/>
              <a:ext cx="0" cy="186"/>
            </a:xfrm>
            <a:prstGeom prst="line">
              <a:avLst/>
            </a:prstGeom>
            <a:noFill/>
            <a:ln w="19050">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sp>
          <p:nvSpPr>
            <p:cNvPr id="26636" name="Line 24"/>
            <p:cNvSpPr>
              <a:spLocks noChangeShapeType="1"/>
            </p:cNvSpPr>
            <p:nvPr/>
          </p:nvSpPr>
          <p:spPr bwMode="auto">
            <a:xfrm flipH="1">
              <a:off x="3960" y="2484"/>
              <a:ext cx="311" cy="485"/>
            </a:xfrm>
            <a:prstGeom prst="line">
              <a:avLst/>
            </a:prstGeom>
            <a:noFill/>
            <a:ln w="19050">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sp>
          <p:nvSpPr>
            <p:cNvPr id="26637" name="Text Box 25"/>
            <p:cNvSpPr txBox="1">
              <a:spLocks noChangeArrowheads="1"/>
            </p:cNvSpPr>
            <p:nvPr/>
          </p:nvSpPr>
          <p:spPr bwMode="auto">
            <a:xfrm>
              <a:off x="3964" y="1598"/>
              <a:ext cx="688"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Arial" pitchFamily="34" charset="0"/>
                  <a:ea typeface="+mn-ea"/>
                  <a:cs typeface="+mn-cs"/>
                </a:rPr>
                <a:t>read ( c );</a:t>
              </a:r>
            </a:p>
          </p:txBody>
        </p:sp>
        <p:sp>
          <p:nvSpPr>
            <p:cNvPr id="26638" name="Text Box 26"/>
            <p:cNvSpPr txBox="1">
              <a:spLocks noChangeArrowheads="1"/>
            </p:cNvSpPr>
            <p:nvPr/>
          </p:nvSpPr>
          <p:spPr bwMode="auto">
            <a:xfrm>
              <a:off x="3057" y="1811"/>
              <a:ext cx="564"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Arial" pitchFamily="34" charset="0"/>
                  <a:ea typeface="+mn-ea"/>
                  <a:cs typeface="+mn-cs"/>
                </a:rPr>
                <a:t>c == ‘N’</a:t>
              </a:r>
            </a:p>
          </p:txBody>
        </p:sp>
        <p:sp>
          <p:nvSpPr>
            <p:cNvPr id="26639" name="Text Box 27"/>
            <p:cNvSpPr txBox="1">
              <a:spLocks noChangeArrowheads="1"/>
            </p:cNvSpPr>
            <p:nvPr/>
          </p:nvSpPr>
          <p:spPr bwMode="auto">
            <a:xfrm>
              <a:off x="4502" y="2489"/>
              <a:ext cx="537"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base" latinLnBrk="0" hangingPunct="1">
                <a:lnSpc>
                  <a:spcPct val="50000"/>
                </a:lnSpc>
                <a:spcBef>
                  <a:spcPct val="50000"/>
                </a:spcBef>
                <a:spcAft>
                  <a:spcPct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Arial" pitchFamily="34" charset="0"/>
                  <a:ea typeface="+mn-ea"/>
                  <a:cs typeface="+mn-cs"/>
                </a:rPr>
                <a:t>y = 0;</a:t>
              </a:r>
            </a:p>
            <a:p>
              <a:pPr marL="0" marR="0" lvl="0" indent="0" algn="ctr" defTabSz="914400" rtl="0" eaLnBrk="1" fontAlgn="base" latinLnBrk="0" hangingPunct="1">
                <a:lnSpc>
                  <a:spcPct val="50000"/>
                </a:lnSpc>
                <a:spcBef>
                  <a:spcPct val="50000"/>
                </a:spcBef>
                <a:spcAft>
                  <a:spcPct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Arial" pitchFamily="34" charset="0"/>
                  <a:ea typeface="+mn-ea"/>
                  <a:cs typeface="+mn-cs"/>
                </a:rPr>
                <a:t>break;</a:t>
              </a:r>
            </a:p>
          </p:txBody>
        </p:sp>
        <p:grpSp>
          <p:nvGrpSpPr>
            <p:cNvPr id="26640" name="Group 32"/>
            <p:cNvGrpSpPr>
              <a:grpSpLocks/>
            </p:cNvGrpSpPr>
            <p:nvPr/>
          </p:nvGrpSpPr>
          <p:grpSpPr bwMode="auto">
            <a:xfrm>
              <a:off x="3111" y="2263"/>
              <a:ext cx="1486" cy="296"/>
              <a:chOff x="3329" y="1774"/>
              <a:chExt cx="1486" cy="296"/>
            </a:xfrm>
          </p:grpSpPr>
          <p:grpSp>
            <p:nvGrpSpPr>
              <p:cNvPr id="26648" name="Group 18"/>
              <p:cNvGrpSpPr>
                <a:grpSpLocks/>
              </p:cNvGrpSpPr>
              <p:nvPr/>
            </p:nvGrpSpPr>
            <p:grpSpPr bwMode="auto">
              <a:xfrm>
                <a:off x="3329" y="1774"/>
                <a:ext cx="350" cy="296"/>
                <a:chOff x="4288" y="1746"/>
                <a:chExt cx="350" cy="296"/>
              </a:xfrm>
            </p:grpSpPr>
            <p:sp>
              <p:nvSpPr>
                <p:cNvPr id="26655" name="Oval 19"/>
                <p:cNvSpPr>
                  <a:spLocks noChangeArrowheads="1"/>
                </p:cNvSpPr>
                <p:nvPr/>
              </p:nvSpPr>
              <p:spPr bwMode="auto">
                <a:xfrm>
                  <a:off x="4288" y="1746"/>
                  <a:ext cx="350" cy="296"/>
                </a:xfrm>
                <a:prstGeom prst="ellipse">
                  <a:avLst/>
                </a:prstGeom>
                <a:solidFill>
                  <a:srgbClr val="0066FF"/>
                </a:solidFill>
                <a:ln w="19050">
                  <a:solidFill>
                    <a:schemeClr val="tx1"/>
                  </a:solidFill>
                  <a:round/>
                  <a:headEnd type="none" w="sm" len="sm"/>
                  <a:tailEnd type="none" w="sm" len="sm"/>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6656" name="Text Box 20"/>
                <p:cNvSpPr txBox="1">
                  <a:spLocks noChangeArrowheads="1"/>
                </p:cNvSpPr>
                <p:nvPr/>
              </p:nvSpPr>
              <p:spPr bwMode="auto">
                <a:xfrm>
                  <a:off x="4393" y="1769"/>
                  <a:ext cx="168"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2</a:t>
                  </a:r>
                </a:p>
              </p:txBody>
            </p:sp>
          </p:grpSp>
          <p:grpSp>
            <p:nvGrpSpPr>
              <p:cNvPr id="26649" name="Group 21"/>
              <p:cNvGrpSpPr>
                <a:grpSpLocks/>
              </p:cNvGrpSpPr>
              <p:nvPr/>
            </p:nvGrpSpPr>
            <p:grpSpPr bwMode="auto">
              <a:xfrm>
                <a:off x="4465" y="1774"/>
                <a:ext cx="350" cy="296"/>
                <a:chOff x="4288" y="1746"/>
                <a:chExt cx="350" cy="296"/>
              </a:xfrm>
            </p:grpSpPr>
            <p:sp>
              <p:nvSpPr>
                <p:cNvPr id="26653" name="Oval 22"/>
                <p:cNvSpPr>
                  <a:spLocks noChangeArrowheads="1"/>
                </p:cNvSpPr>
                <p:nvPr/>
              </p:nvSpPr>
              <p:spPr bwMode="auto">
                <a:xfrm>
                  <a:off x="4288" y="1746"/>
                  <a:ext cx="350" cy="296"/>
                </a:xfrm>
                <a:prstGeom prst="ellipse">
                  <a:avLst/>
                </a:prstGeom>
                <a:solidFill>
                  <a:srgbClr val="0066FF"/>
                </a:solidFill>
                <a:ln w="19050">
                  <a:solidFill>
                    <a:schemeClr val="tx1"/>
                  </a:solidFill>
                  <a:round/>
                  <a:headEnd type="none" w="sm" len="sm"/>
                  <a:tailEnd type="none" w="sm" len="sm"/>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6654" name="Text Box 23"/>
                <p:cNvSpPr txBox="1">
                  <a:spLocks noChangeArrowheads="1"/>
                </p:cNvSpPr>
                <p:nvPr/>
              </p:nvSpPr>
              <p:spPr bwMode="auto">
                <a:xfrm>
                  <a:off x="4393" y="1769"/>
                  <a:ext cx="168"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4</a:t>
                  </a:r>
                </a:p>
              </p:txBody>
            </p:sp>
          </p:grpSp>
          <p:grpSp>
            <p:nvGrpSpPr>
              <p:cNvPr id="26650" name="Group 29"/>
              <p:cNvGrpSpPr>
                <a:grpSpLocks/>
              </p:cNvGrpSpPr>
              <p:nvPr/>
            </p:nvGrpSpPr>
            <p:grpSpPr bwMode="auto">
              <a:xfrm>
                <a:off x="3897" y="1774"/>
                <a:ext cx="350" cy="296"/>
                <a:chOff x="4288" y="1746"/>
                <a:chExt cx="350" cy="296"/>
              </a:xfrm>
            </p:grpSpPr>
            <p:sp>
              <p:nvSpPr>
                <p:cNvPr id="26651" name="Oval 30"/>
                <p:cNvSpPr>
                  <a:spLocks noChangeArrowheads="1"/>
                </p:cNvSpPr>
                <p:nvPr/>
              </p:nvSpPr>
              <p:spPr bwMode="auto">
                <a:xfrm>
                  <a:off x="4288" y="1746"/>
                  <a:ext cx="350" cy="296"/>
                </a:xfrm>
                <a:prstGeom prst="ellipse">
                  <a:avLst/>
                </a:prstGeom>
                <a:solidFill>
                  <a:srgbClr val="0066FF"/>
                </a:solidFill>
                <a:ln w="19050">
                  <a:solidFill>
                    <a:schemeClr val="tx1"/>
                  </a:solidFill>
                  <a:round/>
                  <a:headEnd type="none" w="sm" len="sm"/>
                  <a:tailEnd type="none" w="sm" len="sm"/>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6652" name="Text Box 31"/>
                <p:cNvSpPr txBox="1">
                  <a:spLocks noChangeArrowheads="1"/>
                </p:cNvSpPr>
                <p:nvPr/>
              </p:nvSpPr>
              <p:spPr bwMode="auto">
                <a:xfrm>
                  <a:off x="4393" y="1769"/>
                  <a:ext cx="168"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3</a:t>
                  </a:r>
                </a:p>
              </p:txBody>
            </p:sp>
          </p:grpSp>
        </p:grpSp>
        <p:sp>
          <p:nvSpPr>
            <p:cNvPr id="26641" name="Line 33"/>
            <p:cNvSpPr>
              <a:spLocks noChangeShapeType="1"/>
            </p:cNvSpPr>
            <p:nvPr/>
          </p:nvSpPr>
          <p:spPr bwMode="auto">
            <a:xfrm flipH="1">
              <a:off x="3852" y="1873"/>
              <a:ext cx="4" cy="388"/>
            </a:xfrm>
            <a:prstGeom prst="line">
              <a:avLst/>
            </a:prstGeom>
            <a:noFill/>
            <a:ln w="19050">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sp>
          <p:nvSpPr>
            <p:cNvPr id="26642" name="Line 34"/>
            <p:cNvSpPr>
              <a:spLocks noChangeShapeType="1"/>
            </p:cNvSpPr>
            <p:nvPr/>
          </p:nvSpPr>
          <p:spPr bwMode="auto">
            <a:xfrm flipH="1">
              <a:off x="3856" y="2563"/>
              <a:ext cx="0" cy="380"/>
            </a:xfrm>
            <a:prstGeom prst="line">
              <a:avLst/>
            </a:prstGeom>
            <a:noFill/>
            <a:ln w="19050">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sp>
          <p:nvSpPr>
            <p:cNvPr id="26643" name="Text Box 39"/>
            <p:cNvSpPr txBox="1">
              <a:spLocks noChangeArrowheads="1"/>
            </p:cNvSpPr>
            <p:nvPr/>
          </p:nvSpPr>
          <p:spPr bwMode="auto">
            <a:xfrm>
              <a:off x="3557" y="1953"/>
              <a:ext cx="564"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Arial" pitchFamily="34" charset="0"/>
                  <a:ea typeface="+mn-ea"/>
                  <a:cs typeface="+mn-cs"/>
                </a:rPr>
                <a:t>c == ‘Y’</a:t>
              </a:r>
            </a:p>
          </p:txBody>
        </p:sp>
        <p:sp>
          <p:nvSpPr>
            <p:cNvPr id="26644" name="Text Box 40"/>
            <p:cNvSpPr txBox="1">
              <a:spLocks noChangeArrowheads="1"/>
            </p:cNvSpPr>
            <p:nvPr/>
          </p:nvSpPr>
          <p:spPr bwMode="auto">
            <a:xfrm>
              <a:off x="4048" y="1936"/>
              <a:ext cx="564"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Arial" pitchFamily="34" charset="0"/>
                  <a:ea typeface="+mn-ea"/>
                  <a:cs typeface="+mn-cs"/>
                </a:rPr>
                <a:t>default</a:t>
              </a:r>
            </a:p>
          </p:txBody>
        </p:sp>
        <p:sp>
          <p:nvSpPr>
            <p:cNvPr id="26645" name="Text Box 41"/>
            <p:cNvSpPr txBox="1">
              <a:spLocks noChangeArrowheads="1"/>
            </p:cNvSpPr>
            <p:nvPr/>
          </p:nvSpPr>
          <p:spPr bwMode="auto">
            <a:xfrm>
              <a:off x="3594" y="2583"/>
              <a:ext cx="508"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base" latinLnBrk="0" hangingPunct="1">
                <a:lnSpc>
                  <a:spcPct val="50000"/>
                </a:lnSpc>
                <a:spcBef>
                  <a:spcPct val="50000"/>
                </a:spcBef>
                <a:spcAft>
                  <a:spcPct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Arial" pitchFamily="34" charset="0"/>
                  <a:ea typeface="+mn-ea"/>
                  <a:cs typeface="+mn-cs"/>
                </a:rPr>
                <a:t>y = 50;</a:t>
              </a:r>
            </a:p>
            <a:p>
              <a:pPr marL="0" marR="0" lvl="0" indent="0" algn="ctr" defTabSz="914400" rtl="0" eaLnBrk="1" fontAlgn="base" latinLnBrk="0" hangingPunct="1">
                <a:lnSpc>
                  <a:spcPct val="50000"/>
                </a:lnSpc>
                <a:spcBef>
                  <a:spcPct val="50000"/>
                </a:spcBef>
                <a:spcAft>
                  <a:spcPct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Arial" pitchFamily="34" charset="0"/>
                  <a:ea typeface="+mn-ea"/>
                  <a:cs typeface="+mn-cs"/>
                </a:rPr>
                <a:t>break;</a:t>
              </a:r>
            </a:p>
          </p:txBody>
        </p:sp>
        <p:sp>
          <p:nvSpPr>
            <p:cNvPr id="26646" name="Text Box 42"/>
            <p:cNvSpPr txBox="1">
              <a:spLocks noChangeArrowheads="1"/>
            </p:cNvSpPr>
            <p:nvPr/>
          </p:nvSpPr>
          <p:spPr bwMode="auto">
            <a:xfrm>
              <a:off x="2734" y="2489"/>
              <a:ext cx="496"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base" latinLnBrk="0" hangingPunct="1">
                <a:lnSpc>
                  <a:spcPct val="50000"/>
                </a:lnSpc>
                <a:spcBef>
                  <a:spcPct val="50000"/>
                </a:spcBef>
                <a:spcAft>
                  <a:spcPct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Arial" pitchFamily="34" charset="0"/>
                  <a:ea typeface="+mn-ea"/>
                  <a:cs typeface="+mn-cs"/>
                </a:rPr>
                <a:t>y = 25;</a:t>
              </a:r>
            </a:p>
            <a:p>
              <a:pPr marL="0" marR="0" lvl="0" indent="0" algn="ctr" defTabSz="914400" rtl="0" eaLnBrk="1" fontAlgn="base" latinLnBrk="0" hangingPunct="1">
                <a:lnSpc>
                  <a:spcPct val="50000"/>
                </a:lnSpc>
                <a:spcBef>
                  <a:spcPct val="50000"/>
                </a:spcBef>
                <a:spcAft>
                  <a:spcPct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Arial" pitchFamily="34" charset="0"/>
                  <a:ea typeface="+mn-ea"/>
                  <a:cs typeface="+mn-cs"/>
                </a:rPr>
                <a:t>break;</a:t>
              </a:r>
            </a:p>
          </p:txBody>
        </p:sp>
        <p:sp>
          <p:nvSpPr>
            <p:cNvPr id="26647" name="Text Box 43"/>
            <p:cNvSpPr txBox="1">
              <a:spLocks noChangeArrowheads="1"/>
            </p:cNvSpPr>
            <p:nvPr/>
          </p:nvSpPr>
          <p:spPr bwMode="auto">
            <a:xfrm>
              <a:off x="3886" y="3139"/>
              <a:ext cx="664"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Arial" pitchFamily="34" charset="0"/>
                  <a:ea typeface="+mn-ea"/>
                  <a:cs typeface="+mn-cs"/>
                </a:rPr>
                <a:t>print (y);</a:t>
              </a:r>
            </a:p>
          </p:txBody>
        </p:sp>
      </p:grpSp>
      <p:sp>
        <p:nvSpPr>
          <p:cNvPr id="3" name="Slide Number Placeholder 2">
            <a:extLst>
              <a:ext uri="{FF2B5EF4-FFF2-40B4-BE49-F238E27FC236}">
                <a16:creationId xmlns:a16="http://schemas.microsoft.com/office/drawing/2014/main" id="{6477DBDD-689E-48F2-8965-993AEA5986A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02611B-C7D4-401B-B615-A1AB963424CC}"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0565061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Date Placeholder 3"/>
          <p:cNvSpPr txBox="1">
            <a:spLocks noGrp="1"/>
          </p:cNvSpPr>
          <p:nvPr/>
        </p:nvSpPr>
        <p:spPr bwMode="auto">
          <a:xfrm>
            <a:off x="1619250" y="6499860"/>
            <a:ext cx="3760788"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900" b="0" i="0" u="none" strike="noStrike" kern="1200" cap="none" spc="0" normalizeH="0" baseline="0" noProof="0">
                <a:ln>
                  <a:noFill/>
                </a:ln>
                <a:solidFill>
                  <a:prstClr val="black"/>
                </a:solidFill>
                <a:effectLst/>
                <a:uLnTx/>
                <a:uFillTx/>
                <a:latin typeface="Arial" pitchFamily="34" charset="0"/>
                <a:ea typeface="+mn-ea"/>
                <a:cs typeface="+mn-cs"/>
              </a:rPr>
              <a:t>Introduction to Software Testing  (Ch 2), www.introsoftwaretesting.com</a:t>
            </a:r>
          </a:p>
        </p:txBody>
      </p:sp>
      <p:sp>
        <p:nvSpPr>
          <p:cNvPr id="18435" name="Footer Placeholder 4"/>
          <p:cNvSpPr txBox="1">
            <a:spLocks noGrp="1"/>
          </p:cNvSpPr>
          <p:nvPr/>
        </p:nvSpPr>
        <p:spPr bwMode="auto">
          <a:xfrm>
            <a:off x="5629275" y="6488748"/>
            <a:ext cx="289560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0" i="0" u="none" strike="noStrike" kern="1200" cap="none" spc="0" normalizeH="0" baseline="0" noProof="0">
                <a:ln>
                  <a:noFill/>
                </a:ln>
                <a:solidFill>
                  <a:prstClr val="black"/>
                </a:solidFill>
                <a:effectLst/>
                <a:uLnTx/>
                <a:uFillTx/>
                <a:latin typeface="Arial" pitchFamily="34" charset="0"/>
                <a:ea typeface="+mn-ea"/>
                <a:cs typeface="+mn-cs"/>
              </a:rPr>
              <a:t>© Ammann &amp; Offutt</a:t>
            </a:r>
          </a:p>
        </p:txBody>
      </p:sp>
      <p:sp>
        <p:nvSpPr>
          <p:cNvPr id="18436" name="Slide Number Placeholder 5"/>
          <p:cNvSpPr txBox="1">
            <a:spLocks noGrp="1"/>
          </p:cNvSpPr>
          <p:nvPr/>
        </p:nvSpPr>
        <p:spPr bwMode="auto">
          <a:xfrm>
            <a:off x="8683625" y="6477636"/>
            <a:ext cx="1905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DB12EF41-4285-4819-B001-D3CA311B7D75}" type="slidenum">
              <a:rPr kumimoji="0" lang="en-US" altLang="en-US" sz="900" b="0" i="0" u="none" strike="noStrike" kern="1200" cap="none" spc="0" normalizeH="0" baseline="0" noProof="0">
                <a:ln>
                  <a:noFill/>
                </a:ln>
                <a:solidFill>
                  <a:prstClr val="black"/>
                </a:solidFill>
                <a:effectLst/>
                <a:uLnTx/>
                <a:uFillTx/>
                <a:latin typeface="Arial"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altLang="en-US" sz="9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8437" name="Rectangle 2"/>
          <p:cNvSpPr>
            <a:spLocks noGrp="1" noChangeArrowheads="1"/>
          </p:cNvSpPr>
          <p:nvPr>
            <p:ph type="title" idx="4294967295"/>
          </p:nvPr>
        </p:nvSpPr>
        <p:spPr>
          <a:xfrm>
            <a:off x="600718" y="-77544"/>
            <a:ext cx="9540240" cy="1143000"/>
          </a:xfrm>
        </p:spPr>
        <p:txBody>
          <a:bodyPr>
            <a:normAutofit fontScale="90000"/>
          </a:bodyPr>
          <a:lstStyle/>
          <a:p>
            <a:r>
              <a:rPr lang="en-US" altLang="en-US" cap="all" dirty="0">
                <a:blipFill>
                  <a:blip r:embed="rId3">
                    <a:extLst>
                      <a:ext uri="{28A0092B-C50C-407E-A947-70E740481C1C}">
                        <a14:useLocalDpi xmlns:a14="http://schemas.microsoft.com/office/drawing/2010/main" val="0"/>
                      </a:ext>
                    </a:extLst>
                  </a:blip>
                  <a:tile tx="6350" ty="-127000" sx="65000" sy="64000" flip="none" algn="tl"/>
                </a:blipFill>
                <a:latin typeface="Times New Roman" pitchFamily="18" charset="0"/>
              </a:rPr>
              <a:t>Example: CFG for </a:t>
            </a:r>
            <a:r>
              <a:rPr lang="en-US" altLang="en-US" cap="all" dirty="0" err="1">
                <a:blipFill>
                  <a:blip r:embed="rId3">
                    <a:extLst>
                      <a:ext uri="{28A0092B-C50C-407E-A947-70E740481C1C}">
                        <a14:useLocalDpi xmlns:a14="http://schemas.microsoft.com/office/drawing/2010/main" val="0"/>
                      </a:ext>
                    </a:extLst>
                  </a:blip>
                  <a:tile tx="6350" ty="-127000" sx="65000" sy="64000" flip="none" algn="tl"/>
                </a:blipFill>
                <a:latin typeface="Times New Roman" pitchFamily="18" charset="0"/>
              </a:rPr>
              <a:t>ComputeStats</a:t>
            </a:r>
            <a:endParaRPr lang="en-US" altLang="en-US" cap="all" dirty="0">
              <a:blipFill>
                <a:blip r:embed="rId3">
                  <a:extLst>
                    <a:ext uri="{28A0092B-C50C-407E-A947-70E740481C1C}">
                      <a14:useLocalDpi xmlns:a14="http://schemas.microsoft.com/office/drawing/2010/main" val="0"/>
                    </a:ext>
                  </a:extLst>
                </a:blip>
                <a:tile tx="6350" ty="-127000" sx="65000" sy="64000" flip="none" algn="tl"/>
              </a:blipFill>
              <a:latin typeface="Times New Roman" pitchFamily="18" charset="0"/>
            </a:endParaRPr>
          </a:p>
        </p:txBody>
      </p:sp>
      <p:sp>
        <p:nvSpPr>
          <p:cNvPr id="18438" name="Text Box 4"/>
          <p:cNvSpPr txBox="1">
            <a:spLocks noChangeArrowheads="1"/>
          </p:cNvSpPr>
          <p:nvPr/>
        </p:nvSpPr>
        <p:spPr bwMode="auto">
          <a:xfrm>
            <a:off x="2541589" y="1581785"/>
            <a:ext cx="63658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8439" name="Text Box 6"/>
          <p:cNvSpPr txBox="1">
            <a:spLocks noChangeArrowheads="1"/>
          </p:cNvSpPr>
          <p:nvPr/>
        </p:nvSpPr>
        <p:spPr bwMode="auto">
          <a:xfrm>
            <a:off x="1752600" y="897574"/>
            <a:ext cx="6781800" cy="5953125"/>
          </a:xfrm>
          <a:prstGeom prst="rect">
            <a:avLst/>
          </a:prstGeom>
          <a:solidFill>
            <a:schemeClr val="bg1"/>
          </a:solidFill>
          <a:ln w="12700">
            <a:solidFill>
              <a:schemeClr val="tx1"/>
            </a:solidFill>
            <a:miter lim="800000"/>
            <a:headEnd type="none" w="sm" len="sm"/>
            <a:tailEnd type="none" w="sm" len="sm"/>
          </a:ln>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Helvetica" pitchFamily="34" charset="0"/>
                <a:ea typeface="+mn-ea"/>
                <a:cs typeface="+mn-cs"/>
              </a:rPr>
              <a:t>public static void </a:t>
            </a:r>
            <a:r>
              <a:rPr kumimoji="0" lang="en-US" altLang="en-US" sz="1600" b="0" i="0" u="none" strike="noStrike" kern="1200" cap="none" spc="0" normalizeH="0" baseline="0" noProof="0" dirty="0" err="1">
                <a:ln>
                  <a:noFill/>
                </a:ln>
                <a:solidFill>
                  <a:prstClr val="black"/>
                </a:solidFill>
                <a:effectLst/>
                <a:uLnTx/>
                <a:uFillTx/>
                <a:latin typeface="Helvetica" pitchFamily="34" charset="0"/>
                <a:ea typeface="+mn-ea"/>
                <a:cs typeface="+mn-cs"/>
              </a:rPr>
              <a:t>computeStats</a:t>
            </a:r>
            <a:r>
              <a:rPr kumimoji="0" lang="en-US" altLang="en-US" sz="1600" b="0" i="0" u="none" strike="noStrike" kern="1200" cap="none" spc="0" normalizeH="0" baseline="0" noProof="0" dirty="0">
                <a:ln>
                  <a:noFill/>
                </a:ln>
                <a:solidFill>
                  <a:prstClr val="black"/>
                </a:solidFill>
                <a:effectLst/>
                <a:uLnTx/>
                <a:uFillTx/>
                <a:latin typeface="Helvetica" pitchFamily="34" charset="0"/>
                <a:ea typeface="+mn-ea"/>
                <a:cs typeface="+mn-cs"/>
              </a:rPr>
              <a:t> (int [ ] numbers)</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Helvetica" pitchFamily="34" charset="0"/>
                <a:ea typeface="+mn-ea"/>
                <a:cs typeface="+mn-cs"/>
              </a:rPr>
              <a:t>{</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Helvetica" pitchFamily="34" charset="0"/>
                <a:ea typeface="+mn-ea"/>
                <a:cs typeface="+mn-cs"/>
              </a:rPr>
              <a:t>     int length = </a:t>
            </a:r>
            <a:r>
              <a:rPr kumimoji="0" lang="en-US" altLang="en-US" sz="1600" b="0" i="0" u="none" strike="noStrike" kern="1200" cap="none" spc="0" normalizeH="0" baseline="0" noProof="0" dirty="0" err="1">
                <a:ln>
                  <a:noFill/>
                </a:ln>
                <a:solidFill>
                  <a:prstClr val="black"/>
                </a:solidFill>
                <a:effectLst/>
                <a:uLnTx/>
                <a:uFillTx/>
                <a:latin typeface="Helvetica" pitchFamily="34" charset="0"/>
                <a:ea typeface="+mn-ea"/>
                <a:cs typeface="+mn-cs"/>
              </a:rPr>
              <a:t>numbers.length</a:t>
            </a:r>
            <a:r>
              <a:rPr kumimoji="0" lang="en-US" altLang="en-US" sz="1600" b="0" i="0" u="none" strike="noStrike" kern="1200" cap="none" spc="0" normalizeH="0" baseline="0" noProof="0" dirty="0">
                <a:ln>
                  <a:noFill/>
                </a:ln>
                <a:solidFill>
                  <a:prstClr val="black"/>
                </a:solidFill>
                <a:effectLst/>
                <a:uLnTx/>
                <a:uFillTx/>
                <a:latin typeface="Helvetica" pitchFamily="34" charset="0"/>
                <a:ea typeface="+mn-ea"/>
                <a:cs typeface="+mn-cs"/>
              </a:rPr>
              <a:t>;</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Helvetica" pitchFamily="34" charset="0"/>
                <a:ea typeface="+mn-ea"/>
                <a:cs typeface="+mn-cs"/>
              </a:rPr>
              <a:t>     double med, var, </a:t>
            </a:r>
            <a:r>
              <a:rPr kumimoji="0" lang="en-US" altLang="en-US" sz="1600" b="0" i="0" u="none" strike="noStrike" kern="1200" cap="none" spc="0" normalizeH="0" baseline="0" noProof="0" dirty="0" err="1">
                <a:ln>
                  <a:noFill/>
                </a:ln>
                <a:solidFill>
                  <a:prstClr val="black"/>
                </a:solidFill>
                <a:effectLst/>
                <a:uLnTx/>
                <a:uFillTx/>
                <a:latin typeface="Helvetica" pitchFamily="34" charset="0"/>
                <a:ea typeface="+mn-ea"/>
                <a:cs typeface="+mn-cs"/>
              </a:rPr>
              <a:t>sd</a:t>
            </a:r>
            <a:r>
              <a:rPr kumimoji="0" lang="en-US" altLang="en-US" sz="1600" b="0" i="0" u="none" strike="noStrike" kern="1200" cap="none" spc="0" normalizeH="0" baseline="0" noProof="0" dirty="0">
                <a:ln>
                  <a:noFill/>
                </a:ln>
                <a:solidFill>
                  <a:prstClr val="black"/>
                </a:solidFill>
                <a:effectLst/>
                <a:uLnTx/>
                <a:uFillTx/>
                <a:latin typeface="Helvetica" pitchFamily="34" charset="0"/>
                <a:ea typeface="+mn-ea"/>
                <a:cs typeface="+mn-cs"/>
              </a:rPr>
              <a:t>, mean, sum, </a:t>
            </a:r>
            <a:r>
              <a:rPr kumimoji="0" lang="en-US" altLang="en-US" sz="1600" b="0" i="0" u="none" strike="noStrike" kern="1200" cap="none" spc="0" normalizeH="0" baseline="0" noProof="0" dirty="0" err="1">
                <a:ln>
                  <a:noFill/>
                </a:ln>
                <a:solidFill>
                  <a:prstClr val="black"/>
                </a:solidFill>
                <a:effectLst/>
                <a:uLnTx/>
                <a:uFillTx/>
                <a:latin typeface="Helvetica" pitchFamily="34" charset="0"/>
                <a:ea typeface="+mn-ea"/>
                <a:cs typeface="+mn-cs"/>
              </a:rPr>
              <a:t>varsum</a:t>
            </a:r>
            <a:r>
              <a:rPr kumimoji="0" lang="en-US" altLang="en-US" sz="1600" b="0" i="0" u="none" strike="noStrike" kern="1200" cap="none" spc="0" normalizeH="0" baseline="0" noProof="0" dirty="0">
                <a:ln>
                  <a:noFill/>
                </a:ln>
                <a:solidFill>
                  <a:prstClr val="black"/>
                </a:solidFill>
                <a:effectLst/>
                <a:uLnTx/>
                <a:uFillTx/>
                <a:latin typeface="Helvetica" pitchFamily="34" charset="0"/>
                <a:ea typeface="+mn-ea"/>
                <a:cs typeface="+mn-cs"/>
              </a:rPr>
              <a:t>;</a:t>
            </a:r>
          </a:p>
          <a:p>
            <a:pPr marL="0" marR="0" lvl="0" indent="0" algn="l" defTabSz="914400" rtl="0" eaLnBrk="1" fontAlgn="auto" latinLnBrk="0" hangingPunct="1">
              <a:lnSpc>
                <a:spcPct val="85000"/>
              </a:lnSpc>
              <a:spcBef>
                <a:spcPts val="0"/>
              </a:spcBef>
              <a:spcAft>
                <a:spcPts val="0"/>
              </a:spcAft>
              <a:buClrTx/>
              <a:buSzTx/>
              <a:buFontTx/>
              <a:buNone/>
              <a:tabLst/>
              <a:defRPr/>
            </a:pPr>
            <a:endParaRPr kumimoji="0" lang="en-US" altLang="en-US" sz="1600" b="0" i="0" u="none" strike="noStrike" kern="1200" cap="none" spc="0" normalizeH="0" baseline="0" noProof="0" dirty="0">
              <a:ln>
                <a:noFill/>
              </a:ln>
              <a:solidFill>
                <a:prstClr val="black"/>
              </a:solidFill>
              <a:effectLst/>
              <a:uLnTx/>
              <a:uFillTx/>
              <a:latin typeface="Helvetica" pitchFamily="34" charset="0"/>
              <a:ea typeface="+mn-ea"/>
              <a:cs typeface="+mn-cs"/>
            </a:endParaRP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Helvetica" pitchFamily="34" charset="0"/>
                <a:ea typeface="+mn-ea"/>
                <a:cs typeface="+mn-cs"/>
              </a:rPr>
              <a:t>     sum = 0;</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Helvetica" pitchFamily="34" charset="0"/>
                <a:ea typeface="+mn-ea"/>
                <a:cs typeface="+mn-cs"/>
              </a:rPr>
              <a:t>     </a:t>
            </a:r>
            <a:r>
              <a:rPr kumimoji="0" lang="en-US" altLang="en-US" sz="1600" b="0" i="0" u="none" strike="noStrike" kern="1200" cap="none" spc="0" normalizeH="0" baseline="0" noProof="0" dirty="0">
                <a:ln>
                  <a:noFill/>
                </a:ln>
                <a:solidFill>
                  <a:srgbClr val="44546A"/>
                </a:solidFill>
                <a:effectLst/>
                <a:uLnTx/>
                <a:uFillTx/>
                <a:latin typeface="Helvetica" pitchFamily="34" charset="0"/>
                <a:ea typeface="+mn-ea"/>
                <a:cs typeface="+mn-cs"/>
              </a:rPr>
              <a:t>for (int </a:t>
            </a:r>
            <a:r>
              <a:rPr kumimoji="0" lang="en-US" altLang="en-US" sz="1600" b="0" i="0" u="none" strike="noStrike" kern="1200" cap="none" spc="0" normalizeH="0" baseline="0" noProof="0" dirty="0" err="1">
                <a:ln>
                  <a:noFill/>
                </a:ln>
                <a:solidFill>
                  <a:srgbClr val="44546A"/>
                </a:solidFill>
                <a:effectLst/>
                <a:uLnTx/>
                <a:uFillTx/>
                <a:latin typeface="Helvetica" pitchFamily="34" charset="0"/>
                <a:ea typeface="+mn-ea"/>
                <a:cs typeface="+mn-cs"/>
              </a:rPr>
              <a:t>i</a:t>
            </a:r>
            <a:r>
              <a:rPr kumimoji="0" lang="en-US" altLang="en-US" sz="1600" b="0" i="0" u="none" strike="noStrike" kern="1200" cap="none" spc="0" normalizeH="0" baseline="0" noProof="0" dirty="0">
                <a:ln>
                  <a:noFill/>
                </a:ln>
                <a:solidFill>
                  <a:srgbClr val="44546A"/>
                </a:solidFill>
                <a:effectLst/>
                <a:uLnTx/>
                <a:uFillTx/>
                <a:latin typeface="Helvetica" pitchFamily="34" charset="0"/>
                <a:ea typeface="+mn-ea"/>
                <a:cs typeface="+mn-cs"/>
              </a:rPr>
              <a:t> = 0; </a:t>
            </a:r>
            <a:r>
              <a:rPr kumimoji="0" lang="en-US" altLang="en-US" sz="1600" b="0" i="0" u="none" strike="noStrike" kern="1200" cap="none" spc="0" normalizeH="0" baseline="0" noProof="0" dirty="0" err="1">
                <a:ln>
                  <a:noFill/>
                </a:ln>
                <a:solidFill>
                  <a:srgbClr val="44546A"/>
                </a:solidFill>
                <a:effectLst/>
                <a:uLnTx/>
                <a:uFillTx/>
                <a:latin typeface="Helvetica" pitchFamily="34" charset="0"/>
                <a:ea typeface="+mn-ea"/>
                <a:cs typeface="+mn-cs"/>
              </a:rPr>
              <a:t>i</a:t>
            </a:r>
            <a:r>
              <a:rPr kumimoji="0" lang="en-US" altLang="en-US" sz="1600" b="0" i="0" u="none" strike="noStrike" kern="1200" cap="none" spc="0" normalizeH="0" baseline="0" noProof="0" dirty="0">
                <a:ln>
                  <a:noFill/>
                </a:ln>
                <a:solidFill>
                  <a:srgbClr val="44546A"/>
                </a:solidFill>
                <a:effectLst/>
                <a:uLnTx/>
                <a:uFillTx/>
                <a:latin typeface="Helvetica" pitchFamily="34" charset="0"/>
                <a:ea typeface="+mn-ea"/>
                <a:cs typeface="+mn-cs"/>
              </a:rPr>
              <a:t> &lt; length; </a:t>
            </a:r>
            <a:r>
              <a:rPr kumimoji="0" lang="en-US" altLang="en-US" sz="1600" b="0" i="0" u="none" strike="noStrike" kern="1200" cap="none" spc="0" normalizeH="0" baseline="0" noProof="0" dirty="0" err="1">
                <a:ln>
                  <a:noFill/>
                </a:ln>
                <a:solidFill>
                  <a:srgbClr val="44546A"/>
                </a:solidFill>
                <a:effectLst/>
                <a:uLnTx/>
                <a:uFillTx/>
                <a:latin typeface="Helvetica" pitchFamily="34" charset="0"/>
                <a:ea typeface="+mn-ea"/>
                <a:cs typeface="+mn-cs"/>
              </a:rPr>
              <a:t>i</a:t>
            </a:r>
            <a:r>
              <a:rPr kumimoji="0" lang="en-US" altLang="en-US" sz="1600" b="0" i="0" u="none" strike="noStrike" kern="1200" cap="none" spc="0" normalizeH="0" baseline="0" noProof="0" dirty="0">
                <a:ln>
                  <a:noFill/>
                </a:ln>
                <a:solidFill>
                  <a:srgbClr val="44546A"/>
                </a:solidFill>
                <a:effectLst/>
                <a:uLnTx/>
                <a:uFillTx/>
                <a:latin typeface="Helvetica" pitchFamily="34" charset="0"/>
                <a:ea typeface="+mn-ea"/>
                <a:cs typeface="+mn-cs"/>
              </a:rPr>
              <a:t>++)</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Helvetica" pitchFamily="34" charset="0"/>
                <a:ea typeface="+mn-ea"/>
                <a:cs typeface="+mn-cs"/>
              </a:rPr>
              <a:t>     {</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Helvetica" pitchFamily="34" charset="0"/>
                <a:ea typeface="+mn-ea"/>
                <a:cs typeface="+mn-cs"/>
              </a:rPr>
              <a:t>          sum += numbers [ </a:t>
            </a:r>
            <a:r>
              <a:rPr kumimoji="0" lang="en-US" altLang="en-US" sz="1600" b="0" i="0" u="none" strike="noStrike" kern="1200" cap="none" spc="0" normalizeH="0" baseline="0" noProof="0" dirty="0" err="1">
                <a:ln>
                  <a:noFill/>
                </a:ln>
                <a:solidFill>
                  <a:prstClr val="black"/>
                </a:solidFill>
                <a:effectLst/>
                <a:uLnTx/>
                <a:uFillTx/>
                <a:latin typeface="Helvetica" pitchFamily="34" charset="0"/>
                <a:ea typeface="+mn-ea"/>
                <a:cs typeface="+mn-cs"/>
              </a:rPr>
              <a:t>i</a:t>
            </a:r>
            <a:r>
              <a:rPr kumimoji="0" lang="en-US" altLang="en-US" sz="1600" b="0" i="0" u="none" strike="noStrike" kern="1200" cap="none" spc="0" normalizeH="0" baseline="0" noProof="0" dirty="0">
                <a:ln>
                  <a:noFill/>
                </a:ln>
                <a:solidFill>
                  <a:prstClr val="black"/>
                </a:solidFill>
                <a:effectLst/>
                <a:uLnTx/>
                <a:uFillTx/>
                <a:latin typeface="Helvetica" pitchFamily="34" charset="0"/>
                <a:ea typeface="+mn-ea"/>
                <a:cs typeface="+mn-cs"/>
              </a:rPr>
              <a:t> ];</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Helvetica" pitchFamily="34" charset="0"/>
                <a:ea typeface="+mn-ea"/>
                <a:cs typeface="+mn-cs"/>
              </a:rPr>
              <a:t>     } </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Helvetica" pitchFamily="34" charset="0"/>
                <a:ea typeface="+mn-ea"/>
                <a:cs typeface="+mn-cs"/>
              </a:rPr>
              <a:t>     med   = numbers [ length / 2 ];</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Helvetica" pitchFamily="34" charset="0"/>
                <a:ea typeface="+mn-ea"/>
                <a:cs typeface="+mn-cs"/>
              </a:rPr>
              <a:t>     mean = sum / (double) length;</a:t>
            </a:r>
          </a:p>
          <a:p>
            <a:pPr marL="0" marR="0" lvl="0" indent="0" algn="l" defTabSz="914400" rtl="0" eaLnBrk="1" fontAlgn="auto" latinLnBrk="0" hangingPunct="1">
              <a:lnSpc>
                <a:spcPct val="85000"/>
              </a:lnSpc>
              <a:spcBef>
                <a:spcPts val="0"/>
              </a:spcBef>
              <a:spcAft>
                <a:spcPts val="0"/>
              </a:spcAft>
              <a:buClrTx/>
              <a:buSzTx/>
              <a:buFontTx/>
              <a:buNone/>
              <a:tabLst/>
              <a:defRPr/>
            </a:pPr>
            <a:endParaRPr kumimoji="0" lang="en-US" altLang="en-US" sz="1600" b="0" i="0" u="none" strike="noStrike" kern="1200" cap="none" spc="0" normalizeH="0" baseline="0" noProof="0" dirty="0">
              <a:ln>
                <a:noFill/>
              </a:ln>
              <a:solidFill>
                <a:prstClr val="black"/>
              </a:solidFill>
              <a:effectLst/>
              <a:uLnTx/>
              <a:uFillTx/>
              <a:latin typeface="Helvetica" pitchFamily="34" charset="0"/>
              <a:ea typeface="+mn-ea"/>
              <a:cs typeface="+mn-cs"/>
            </a:endParaRP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Helvetica" pitchFamily="34" charset="0"/>
                <a:ea typeface="+mn-ea"/>
                <a:cs typeface="+mn-cs"/>
              </a:rPr>
              <a:t>     </a:t>
            </a:r>
            <a:r>
              <a:rPr kumimoji="0" lang="en-US" altLang="en-US" sz="1600" b="0" i="0" u="none" strike="noStrike" kern="1200" cap="none" spc="0" normalizeH="0" baseline="0" noProof="0" dirty="0" err="1">
                <a:ln>
                  <a:noFill/>
                </a:ln>
                <a:solidFill>
                  <a:prstClr val="black"/>
                </a:solidFill>
                <a:effectLst/>
                <a:uLnTx/>
                <a:uFillTx/>
                <a:latin typeface="Helvetica" pitchFamily="34" charset="0"/>
                <a:ea typeface="+mn-ea"/>
                <a:cs typeface="+mn-cs"/>
              </a:rPr>
              <a:t>varsum</a:t>
            </a:r>
            <a:r>
              <a:rPr kumimoji="0" lang="en-US" altLang="en-US" sz="1600" b="0" i="0" u="none" strike="noStrike" kern="1200" cap="none" spc="0" normalizeH="0" baseline="0" noProof="0" dirty="0">
                <a:ln>
                  <a:noFill/>
                </a:ln>
                <a:solidFill>
                  <a:prstClr val="black"/>
                </a:solidFill>
                <a:effectLst/>
                <a:uLnTx/>
                <a:uFillTx/>
                <a:latin typeface="Helvetica" pitchFamily="34" charset="0"/>
                <a:ea typeface="+mn-ea"/>
                <a:cs typeface="+mn-cs"/>
              </a:rPr>
              <a:t> = 0;</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Helvetica" pitchFamily="34" charset="0"/>
                <a:ea typeface="+mn-ea"/>
                <a:cs typeface="+mn-cs"/>
              </a:rPr>
              <a:t>     </a:t>
            </a:r>
            <a:r>
              <a:rPr kumimoji="0" lang="en-US" altLang="en-US" sz="1600" b="0" i="0" u="none" strike="noStrike" kern="1200" cap="none" spc="0" normalizeH="0" baseline="0" noProof="0" dirty="0">
                <a:ln>
                  <a:noFill/>
                </a:ln>
                <a:solidFill>
                  <a:srgbClr val="44546A"/>
                </a:solidFill>
                <a:effectLst/>
                <a:uLnTx/>
                <a:uFillTx/>
                <a:latin typeface="Helvetica" pitchFamily="34" charset="0"/>
                <a:ea typeface="+mn-ea"/>
                <a:cs typeface="+mn-cs"/>
              </a:rPr>
              <a:t>for (int </a:t>
            </a:r>
            <a:r>
              <a:rPr kumimoji="0" lang="en-US" altLang="en-US" sz="1600" b="0" i="0" u="none" strike="noStrike" kern="1200" cap="none" spc="0" normalizeH="0" baseline="0" noProof="0" dirty="0" err="1">
                <a:ln>
                  <a:noFill/>
                </a:ln>
                <a:solidFill>
                  <a:srgbClr val="44546A"/>
                </a:solidFill>
                <a:effectLst/>
                <a:uLnTx/>
                <a:uFillTx/>
                <a:latin typeface="Helvetica" pitchFamily="34" charset="0"/>
                <a:ea typeface="+mn-ea"/>
                <a:cs typeface="+mn-cs"/>
              </a:rPr>
              <a:t>i</a:t>
            </a:r>
            <a:r>
              <a:rPr kumimoji="0" lang="en-US" altLang="en-US" sz="1600" b="0" i="0" u="none" strike="noStrike" kern="1200" cap="none" spc="0" normalizeH="0" baseline="0" noProof="0" dirty="0">
                <a:ln>
                  <a:noFill/>
                </a:ln>
                <a:solidFill>
                  <a:srgbClr val="44546A"/>
                </a:solidFill>
                <a:effectLst/>
                <a:uLnTx/>
                <a:uFillTx/>
                <a:latin typeface="Helvetica" pitchFamily="34" charset="0"/>
                <a:ea typeface="+mn-ea"/>
                <a:cs typeface="+mn-cs"/>
              </a:rPr>
              <a:t> = 0; </a:t>
            </a:r>
            <a:r>
              <a:rPr kumimoji="0" lang="en-US" altLang="en-US" sz="1600" b="0" i="0" u="none" strike="noStrike" kern="1200" cap="none" spc="0" normalizeH="0" baseline="0" noProof="0" dirty="0" err="1">
                <a:ln>
                  <a:noFill/>
                </a:ln>
                <a:solidFill>
                  <a:srgbClr val="44546A"/>
                </a:solidFill>
                <a:effectLst/>
                <a:uLnTx/>
                <a:uFillTx/>
                <a:latin typeface="Helvetica" pitchFamily="34" charset="0"/>
                <a:ea typeface="+mn-ea"/>
                <a:cs typeface="+mn-cs"/>
              </a:rPr>
              <a:t>i</a:t>
            </a:r>
            <a:r>
              <a:rPr kumimoji="0" lang="en-US" altLang="en-US" sz="1600" b="0" i="0" u="none" strike="noStrike" kern="1200" cap="none" spc="0" normalizeH="0" baseline="0" noProof="0" dirty="0">
                <a:ln>
                  <a:noFill/>
                </a:ln>
                <a:solidFill>
                  <a:srgbClr val="44546A"/>
                </a:solidFill>
                <a:effectLst/>
                <a:uLnTx/>
                <a:uFillTx/>
                <a:latin typeface="Helvetica" pitchFamily="34" charset="0"/>
                <a:ea typeface="+mn-ea"/>
                <a:cs typeface="+mn-cs"/>
              </a:rPr>
              <a:t> &lt; length; </a:t>
            </a:r>
            <a:r>
              <a:rPr kumimoji="0" lang="en-US" altLang="en-US" sz="1600" b="0" i="0" u="none" strike="noStrike" kern="1200" cap="none" spc="0" normalizeH="0" baseline="0" noProof="0" dirty="0" err="1">
                <a:ln>
                  <a:noFill/>
                </a:ln>
                <a:solidFill>
                  <a:srgbClr val="44546A"/>
                </a:solidFill>
                <a:effectLst/>
                <a:uLnTx/>
                <a:uFillTx/>
                <a:latin typeface="Helvetica" pitchFamily="34" charset="0"/>
                <a:ea typeface="+mn-ea"/>
                <a:cs typeface="+mn-cs"/>
              </a:rPr>
              <a:t>i</a:t>
            </a:r>
            <a:r>
              <a:rPr kumimoji="0" lang="en-US" altLang="en-US" sz="1600" b="0" i="0" u="none" strike="noStrike" kern="1200" cap="none" spc="0" normalizeH="0" baseline="0" noProof="0" dirty="0">
                <a:ln>
                  <a:noFill/>
                </a:ln>
                <a:solidFill>
                  <a:srgbClr val="44546A"/>
                </a:solidFill>
                <a:effectLst/>
                <a:uLnTx/>
                <a:uFillTx/>
                <a:latin typeface="Helvetica" pitchFamily="34" charset="0"/>
                <a:ea typeface="+mn-ea"/>
                <a:cs typeface="+mn-cs"/>
              </a:rPr>
              <a:t>++)</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Helvetica" pitchFamily="34" charset="0"/>
                <a:ea typeface="+mn-ea"/>
                <a:cs typeface="+mn-cs"/>
              </a:rPr>
              <a:t>     {</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Helvetica" pitchFamily="34" charset="0"/>
                <a:ea typeface="+mn-ea"/>
                <a:cs typeface="+mn-cs"/>
              </a:rPr>
              <a:t>      	</a:t>
            </a:r>
            <a:r>
              <a:rPr kumimoji="0" lang="en-US" altLang="en-US" sz="1200" b="0" i="0" u="none" strike="noStrike" kern="1200" cap="none" spc="0" normalizeH="0" baseline="0" noProof="0" dirty="0" err="1">
                <a:ln>
                  <a:noFill/>
                </a:ln>
                <a:solidFill>
                  <a:prstClr val="black"/>
                </a:solidFill>
                <a:effectLst/>
                <a:uLnTx/>
                <a:uFillTx/>
                <a:latin typeface="Helvetica" pitchFamily="34" charset="0"/>
                <a:ea typeface="+mn-ea"/>
                <a:cs typeface="+mn-cs"/>
              </a:rPr>
              <a:t>varsum</a:t>
            </a:r>
            <a:r>
              <a:rPr kumimoji="0" lang="en-US" altLang="en-US" sz="1200" b="0" i="0" u="none" strike="noStrike" kern="1200" cap="none" spc="0" normalizeH="0" baseline="0" noProof="0" dirty="0">
                <a:ln>
                  <a:noFill/>
                </a:ln>
                <a:solidFill>
                  <a:prstClr val="black"/>
                </a:solidFill>
                <a:effectLst/>
                <a:uLnTx/>
                <a:uFillTx/>
                <a:latin typeface="Helvetica" pitchFamily="34" charset="0"/>
                <a:ea typeface="+mn-ea"/>
                <a:cs typeface="+mn-cs"/>
              </a:rPr>
              <a:t> = </a:t>
            </a:r>
            <a:r>
              <a:rPr kumimoji="0" lang="en-US" altLang="en-US" sz="1200" b="0" i="0" u="none" strike="noStrike" kern="1200" cap="none" spc="0" normalizeH="0" baseline="0" noProof="0" dirty="0" err="1">
                <a:ln>
                  <a:noFill/>
                </a:ln>
                <a:solidFill>
                  <a:prstClr val="black"/>
                </a:solidFill>
                <a:effectLst/>
                <a:uLnTx/>
                <a:uFillTx/>
                <a:latin typeface="Helvetica" pitchFamily="34" charset="0"/>
                <a:ea typeface="+mn-ea"/>
                <a:cs typeface="+mn-cs"/>
              </a:rPr>
              <a:t>varsum</a:t>
            </a:r>
            <a:r>
              <a:rPr kumimoji="0" lang="en-US" altLang="en-US" sz="1200" b="0" i="0" u="none" strike="noStrike" kern="1200" cap="none" spc="0" normalizeH="0" baseline="0" noProof="0" dirty="0">
                <a:ln>
                  <a:noFill/>
                </a:ln>
                <a:solidFill>
                  <a:prstClr val="black"/>
                </a:solidFill>
                <a:effectLst/>
                <a:uLnTx/>
                <a:uFillTx/>
                <a:latin typeface="Helvetica" pitchFamily="34" charset="0"/>
                <a:ea typeface="+mn-ea"/>
                <a:cs typeface="+mn-cs"/>
              </a:rPr>
              <a:t>  + ((numbers [ I ] - mean) * (numbers [ I ] - mean));</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Helvetica" pitchFamily="34" charset="0"/>
                <a:ea typeface="+mn-ea"/>
                <a:cs typeface="+mn-cs"/>
              </a:rPr>
              <a:t>     }</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Helvetica" pitchFamily="34" charset="0"/>
                <a:ea typeface="+mn-ea"/>
                <a:cs typeface="+mn-cs"/>
              </a:rPr>
              <a:t>     var = </a:t>
            </a:r>
            <a:r>
              <a:rPr kumimoji="0" lang="en-US" altLang="en-US" sz="1600" b="0" i="0" u="none" strike="noStrike" kern="1200" cap="none" spc="0" normalizeH="0" baseline="0" noProof="0" dirty="0" err="1">
                <a:ln>
                  <a:noFill/>
                </a:ln>
                <a:solidFill>
                  <a:prstClr val="black"/>
                </a:solidFill>
                <a:effectLst/>
                <a:uLnTx/>
                <a:uFillTx/>
                <a:latin typeface="Helvetica" pitchFamily="34" charset="0"/>
                <a:ea typeface="+mn-ea"/>
                <a:cs typeface="+mn-cs"/>
              </a:rPr>
              <a:t>varsum</a:t>
            </a:r>
            <a:r>
              <a:rPr kumimoji="0" lang="en-US" altLang="en-US" sz="1600" b="0" i="0" u="none" strike="noStrike" kern="1200" cap="none" spc="0" normalizeH="0" baseline="0" noProof="0" dirty="0">
                <a:ln>
                  <a:noFill/>
                </a:ln>
                <a:solidFill>
                  <a:prstClr val="black"/>
                </a:solidFill>
                <a:effectLst/>
                <a:uLnTx/>
                <a:uFillTx/>
                <a:latin typeface="Helvetica" pitchFamily="34" charset="0"/>
                <a:ea typeface="+mn-ea"/>
                <a:cs typeface="+mn-cs"/>
              </a:rPr>
              <a:t> / ( length - 1.0 );</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Helvetica" pitchFamily="34" charset="0"/>
                <a:ea typeface="+mn-ea"/>
                <a:cs typeface="+mn-cs"/>
              </a:rPr>
              <a:t>     </a:t>
            </a:r>
            <a:r>
              <a:rPr kumimoji="0" lang="en-US" altLang="en-US" sz="1600" b="0" i="0" u="none" strike="noStrike" kern="1200" cap="none" spc="0" normalizeH="0" baseline="0" noProof="0" dirty="0" err="1">
                <a:ln>
                  <a:noFill/>
                </a:ln>
                <a:solidFill>
                  <a:prstClr val="black"/>
                </a:solidFill>
                <a:effectLst/>
                <a:uLnTx/>
                <a:uFillTx/>
                <a:latin typeface="Helvetica" pitchFamily="34" charset="0"/>
                <a:ea typeface="+mn-ea"/>
                <a:cs typeface="+mn-cs"/>
              </a:rPr>
              <a:t>sd</a:t>
            </a:r>
            <a:r>
              <a:rPr kumimoji="0" lang="en-US" altLang="en-US" sz="1600" b="0" i="0" u="none" strike="noStrike" kern="1200" cap="none" spc="0" normalizeH="0" baseline="0" noProof="0" dirty="0">
                <a:ln>
                  <a:noFill/>
                </a:ln>
                <a:solidFill>
                  <a:prstClr val="black"/>
                </a:solidFill>
                <a:effectLst/>
                <a:uLnTx/>
                <a:uFillTx/>
                <a:latin typeface="Helvetica" pitchFamily="34" charset="0"/>
                <a:ea typeface="+mn-ea"/>
                <a:cs typeface="+mn-cs"/>
              </a:rPr>
              <a:t>  = </a:t>
            </a:r>
            <a:r>
              <a:rPr kumimoji="0" lang="en-US" altLang="en-US" sz="1600" b="0" i="0" u="none" strike="noStrike" kern="1200" cap="none" spc="0" normalizeH="0" baseline="0" noProof="0" dirty="0" err="1">
                <a:ln>
                  <a:noFill/>
                </a:ln>
                <a:solidFill>
                  <a:prstClr val="black"/>
                </a:solidFill>
                <a:effectLst/>
                <a:uLnTx/>
                <a:uFillTx/>
                <a:latin typeface="Helvetica" pitchFamily="34" charset="0"/>
                <a:ea typeface="+mn-ea"/>
                <a:cs typeface="+mn-cs"/>
              </a:rPr>
              <a:t>Math.sqrt</a:t>
            </a:r>
            <a:r>
              <a:rPr kumimoji="0" lang="en-US" altLang="en-US" sz="1600" b="0" i="0" u="none" strike="noStrike" kern="1200" cap="none" spc="0" normalizeH="0" baseline="0" noProof="0" dirty="0">
                <a:ln>
                  <a:noFill/>
                </a:ln>
                <a:solidFill>
                  <a:prstClr val="black"/>
                </a:solidFill>
                <a:effectLst/>
                <a:uLnTx/>
                <a:uFillTx/>
                <a:latin typeface="Helvetica" pitchFamily="34" charset="0"/>
                <a:ea typeface="+mn-ea"/>
                <a:cs typeface="+mn-cs"/>
              </a:rPr>
              <a:t> ( var );</a:t>
            </a:r>
          </a:p>
          <a:p>
            <a:pPr marL="0" marR="0" lvl="0" indent="0" algn="l" defTabSz="914400" rtl="0" eaLnBrk="1" fontAlgn="auto" latinLnBrk="0" hangingPunct="1">
              <a:lnSpc>
                <a:spcPct val="85000"/>
              </a:lnSpc>
              <a:spcBef>
                <a:spcPts val="0"/>
              </a:spcBef>
              <a:spcAft>
                <a:spcPts val="0"/>
              </a:spcAft>
              <a:buClrTx/>
              <a:buSzTx/>
              <a:buFontTx/>
              <a:buNone/>
              <a:tabLst/>
              <a:defRPr/>
            </a:pPr>
            <a:endParaRPr kumimoji="0" lang="en-US" altLang="en-US" sz="1600" b="0" i="0" u="none" strike="noStrike" kern="1200" cap="none" spc="0" normalizeH="0" baseline="0" noProof="0" dirty="0">
              <a:ln>
                <a:noFill/>
              </a:ln>
              <a:solidFill>
                <a:prstClr val="black"/>
              </a:solidFill>
              <a:effectLst/>
              <a:uLnTx/>
              <a:uFillTx/>
              <a:latin typeface="Helvetica" pitchFamily="34" charset="0"/>
              <a:ea typeface="+mn-ea"/>
              <a:cs typeface="+mn-cs"/>
            </a:endParaRP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Helvetica" pitchFamily="34" charset="0"/>
                <a:ea typeface="+mn-ea"/>
                <a:cs typeface="+mn-cs"/>
              </a:rPr>
              <a:t>     </a:t>
            </a:r>
            <a:r>
              <a:rPr kumimoji="0" lang="en-US" altLang="en-US" sz="1600" b="0" i="0" u="none" strike="noStrike" kern="1200" cap="none" spc="0" normalizeH="0" baseline="0" noProof="0" dirty="0" err="1">
                <a:ln>
                  <a:noFill/>
                </a:ln>
                <a:solidFill>
                  <a:prstClr val="black"/>
                </a:solidFill>
                <a:effectLst/>
                <a:uLnTx/>
                <a:uFillTx/>
                <a:latin typeface="Helvetica" pitchFamily="34" charset="0"/>
                <a:ea typeface="+mn-ea"/>
                <a:cs typeface="+mn-cs"/>
              </a:rPr>
              <a:t>System.out.println</a:t>
            </a:r>
            <a:r>
              <a:rPr kumimoji="0" lang="en-US" altLang="en-US" sz="1600" b="0" i="0" u="none" strike="noStrike" kern="1200" cap="none" spc="0" normalizeH="0" baseline="0" noProof="0" dirty="0">
                <a:ln>
                  <a:noFill/>
                </a:ln>
                <a:solidFill>
                  <a:prstClr val="black"/>
                </a:solidFill>
                <a:effectLst/>
                <a:uLnTx/>
                <a:uFillTx/>
                <a:latin typeface="Helvetica" pitchFamily="34" charset="0"/>
                <a:ea typeface="+mn-ea"/>
                <a:cs typeface="+mn-cs"/>
              </a:rPr>
              <a:t> ("length:                   " + length);</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Helvetica" pitchFamily="34" charset="0"/>
                <a:ea typeface="+mn-ea"/>
                <a:cs typeface="+mn-cs"/>
              </a:rPr>
              <a:t>     </a:t>
            </a:r>
            <a:r>
              <a:rPr kumimoji="0" lang="en-US" altLang="en-US" sz="1600" b="0" i="0" u="none" strike="noStrike" kern="1200" cap="none" spc="0" normalizeH="0" baseline="0" noProof="0" dirty="0" err="1">
                <a:ln>
                  <a:noFill/>
                </a:ln>
                <a:solidFill>
                  <a:prstClr val="black"/>
                </a:solidFill>
                <a:effectLst/>
                <a:uLnTx/>
                <a:uFillTx/>
                <a:latin typeface="Helvetica" pitchFamily="34" charset="0"/>
                <a:ea typeface="+mn-ea"/>
                <a:cs typeface="+mn-cs"/>
              </a:rPr>
              <a:t>System.out.println</a:t>
            </a:r>
            <a:r>
              <a:rPr kumimoji="0" lang="en-US" altLang="en-US" sz="1600" b="0" i="0" u="none" strike="noStrike" kern="1200" cap="none" spc="0" normalizeH="0" baseline="0" noProof="0" dirty="0">
                <a:ln>
                  <a:noFill/>
                </a:ln>
                <a:solidFill>
                  <a:prstClr val="black"/>
                </a:solidFill>
                <a:effectLst/>
                <a:uLnTx/>
                <a:uFillTx/>
                <a:latin typeface="Helvetica" pitchFamily="34" charset="0"/>
                <a:ea typeface="+mn-ea"/>
                <a:cs typeface="+mn-cs"/>
              </a:rPr>
              <a:t> ("mean:                    " + mean);</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Helvetica" pitchFamily="34" charset="0"/>
                <a:ea typeface="+mn-ea"/>
                <a:cs typeface="+mn-cs"/>
              </a:rPr>
              <a:t>     </a:t>
            </a:r>
            <a:r>
              <a:rPr kumimoji="0" lang="en-US" altLang="en-US" sz="1600" b="0" i="0" u="none" strike="noStrike" kern="1200" cap="none" spc="0" normalizeH="0" baseline="0" noProof="0" dirty="0" err="1">
                <a:ln>
                  <a:noFill/>
                </a:ln>
                <a:solidFill>
                  <a:prstClr val="black"/>
                </a:solidFill>
                <a:effectLst/>
                <a:uLnTx/>
                <a:uFillTx/>
                <a:latin typeface="Helvetica" pitchFamily="34" charset="0"/>
                <a:ea typeface="+mn-ea"/>
                <a:cs typeface="+mn-cs"/>
              </a:rPr>
              <a:t>System.out.println</a:t>
            </a:r>
            <a:r>
              <a:rPr kumimoji="0" lang="en-US" altLang="en-US" sz="1600" b="0" i="0" u="none" strike="noStrike" kern="1200" cap="none" spc="0" normalizeH="0" baseline="0" noProof="0" dirty="0">
                <a:ln>
                  <a:noFill/>
                </a:ln>
                <a:solidFill>
                  <a:prstClr val="black"/>
                </a:solidFill>
                <a:effectLst/>
                <a:uLnTx/>
                <a:uFillTx/>
                <a:latin typeface="Helvetica" pitchFamily="34" charset="0"/>
                <a:ea typeface="+mn-ea"/>
                <a:cs typeface="+mn-cs"/>
              </a:rPr>
              <a:t> ("median:                 " + med);</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Helvetica" pitchFamily="34" charset="0"/>
                <a:ea typeface="+mn-ea"/>
                <a:cs typeface="+mn-cs"/>
              </a:rPr>
              <a:t>     </a:t>
            </a:r>
            <a:r>
              <a:rPr kumimoji="0" lang="en-US" altLang="en-US" sz="1600" b="0" i="0" u="none" strike="noStrike" kern="1200" cap="none" spc="0" normalizeH="0" baseline="0" noProof="0" dirty="0" err="1">
                <a:ln>
                  <a:noFill/>
                </a:ln>
                <a:solidFill>
                  <a:prstClr val="black"/>
                </a:solidFill>
                <a:effectLst/>
                <a:uLnTx/>
                <a:uFillTx/>
                <a:latin typeface="Helvetica" pitchFamily="34" charset="0"/>
                <a:ea typeface="+mn-ea"/>
                <a:cs typeface="+mn-cs"/>
              </a:rPr>
              <a:t>System.out.println</a:t>
            </a:r>
            <a:r>
              <a:rPr kumimoji="0" lang="en-US" altLang="en-US" sz="1600" b="0" i="0" u="none" strike="noStrike" kern="1200" cap="none" spc="0" normalizeH="0" baseline="0" noProof="0" dirty="0">
                <a:ln>
                  <a:noFill/>
                </a:ln>
                <a:solidFill>
                  <a:prstClr val="black"/>
                </a:solidFill>
                <a:effectLst/>
                <a:uLnTx/>
                <a:uFillTx/>
                <a:latin typeface="Helvetica" pitchFamily="34" charset="0"/>
                <a:ea typeface="+mn-ea"/>
                <a:cs typeface="+mn-cs"/>
              </a:rPr>
              <a:t> ("variance:                " + var);</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Helvetica" pitchFamily="34" charset="0"/>
                <a:ea typeface="+mn-ea"/>
                <a:cs typeface="+mn-cs"/>
              </a:rPr>
              <a:t>     </a:t>
            </a:r>
            <a:r>
              <a:rPr kumimoji="0" lang="en-US" altLang="en-US" sz="1600" b="0" i="0" u="none" strike="noStrike" kern="1200" cap="none" spc="0" normalizeH="0" baseline="0" noProof="0" dirty="0" err="1">
                <a:ln>
                  <a:noFill/>
                </a:ln>
                <a:solidFill>
                  <a:prstClr val="black"/>
                </a:solidFill>
                <a:effectLst/>
                <a:uLnTx/>
                <a:uFillTx/>
                <a:latin typeface="Helvetica" pitchFamily="34" charset="0"/>
                <a:ea typeface="+mn-ea"/>
                <a:cs typeface="+mn-cs"/>
              </a:rPr>
              <a:t>System.out.println</a:t>
            </a:r>
            <a:r>
              <a:rPr kumimoji="0" lang="en-US" altLang="en-US" sz="1600" b="0" i="0" u="none" strike="noStrike" kern="1200" cap="none" spc="0" normalizeH="0" baseline="0" noProof="0" dirty="0">
                <a:ln>
                  <a:noFill/>
                </a:ln>
                <a:solidFill>
                  <a:prstClr val="black"/>
                </a:solidFill>
                <a:effectLst/>
                <a:uLnTx/>
                <a:uFillTx/>
                <a:latin typeface="Helvetica" pitchFamily="34" charset="0"/>
                <a:ea typeface="+mn-ea"/>
                <a:cs typeface="+mn-cs"/>
              </a:rPr>
              <a:t> ("standard deviation: " + </a:t>
            </a:r>
            <a:r>
              <a:rPr kumimoji="0" lang="en-US" altLang="en-US" sz="1600" b="0" i="0" u="none" strike="noStrike" kern="1200" cap="none" spc="0" normalizeH="0" baseline="0" noProof="0" dirty="0" err="1">
                <a:ln>
                  <a:noFill/>
                </a:ln>
                <a:solidFill>
                  <a:prstClr val="black"/>
                </a:solidFill>
                <a:effectLst/>
                <a:uLnTx/>
                <a:uFillTx/>
                <a:latin typeface="Helvetica" pitchFamily="34" charset="0"/>
                <a:ea typeface="+mn-ea"/>
                <a:cs typeface="+mn-cs"/>
              </a:rPr>
              <a:t>sd</a:t>
            </a:r>
            <a:r>
              <a:rPr kumimoji="0" lang="en-US" altLang="en-US" sz="1600" b="0" i="0" u="none" strike="noStrike" kern="1200" cap="none" spc="0" normalizeH="0" baseline="0" noProof="0" dirty="0">
                <a:ln>
                  <a:noFill/>
                </a:ln>
                <a:solidFill>
                  <a:prstClr val="black"/>
                </a:solidFill>
                <a:effectLst/>
                <a:uLnTx/>
                <a:uFillTx/>
                <a:latin typeface="Helvetica" pitchFamily="34" charset="0"/>
                <a:ea typeface="+mn-ea"/>
                <a:cs typeface="+mn-cs"/>
              </a:rPr>
              <a:t>);</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Helvetica" pitchFamily="34" charset="0"/>
                <a:ea typeface="+mn-ea"/>
                <a:cs typeface="+mn-cs"/>
              </a:rPr>
              <a:t>}</a:t>
            </a:r>
          </a:p>
        </p:txBody>
      </p:sp>
      <p:sp>
        <p:nvSpPr>
          <p:cNvPr id="202811" name="Text Box 59"/>
          <p:cNvSpPr txBox="1">
            <a:spLocks noChangeArrowheads="1"/>
          </p:cNvSpPr>
          <p:nvPr/>
        </p:nvSpPr>
        <p:spPr bwMode="auto">
          <a:xfrm>
            <a:off x="9174164" y="2259649"/>
            <a:ext cx="1112837" cy="266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auto" latinLnBrk="0" hangingPunct="1">
              <a:lnSpc>
                <a:spcPct val="50000"/>
              </a:lnSpc>
              <a:spcBef>
                <a:spcPct val="50000"/>
              </a:spcBef>
              <a:spcAft>
                <a:spcPts val="0"/>
              </a:spcAft>
              <a:buClrTx/>
              <a:buSzTx/>
              <a:buFontTx/>
              <a:buNone/>
              <a:tabLst/>
              <a:defRPr/>
            </a:pPr>
            <a:r>
              <a:rPr kumimoji="0" lang="en-US" altLang="en-US" sz="2000" b="0" i="0" u="none" strike="noStrike" kern="1200" cap="none" spc="0" normalizeH="0" baseline="0" noProof="0">
                <a:ln>
                  <a:noFill/>
                </a:ln>
                <a:solidFill>
                  <a:srgbClr val="FF3300"/>
                </a:solidFill>
                <a:effectLst/>
                <a:uLnTx/>
                <a:uFillTx/>
                <a:latin typeface="Arial" pitchFamily="34" charset="0"/>
                <a:ea typeface="+mn-ea"/>
                <a:cs typeface="+mn-cs"/>
              </a:rPr>
              <a:t>i = 0</a:t>
            </a:r>
          </a:p>
        </p:txBody>
      </p:sp>
      <p:grpSp>
        <p:nvGrpSpPr>
          <p:cNvPr id="4" name="Group 9"/>
          <p:cNvGrpSpPr>
            <a:grpSpLocks/>
          </p:cNvGrpSpPr>
          <p:nvPr/>
        </p:nvGrpSpPr>
        <p:grpSpPr bwMode="auto">
          <a:xfrm>
            <a:off x="8229600" y="3413761"/>
            <a:ext cx="2438400" cy="549275"/>
            <a:chOff x="4224" y="2112"/>
            <a:chExt cx="1536" cy="346"/>
          </a:xfrm>
        </p:grpSpPr>
        <p:sp>
          <p:nvSpPr>
            <p:cNvPr id="18514" name="Text Box 62"/>
            <p:cNvSpPr txBox="1">
              <a:spLocks noChangeArrowheads="1"/>
            </p:cNvSpPr>
            <p:nvPr/>
          </p:nvSpPr>
          <p:spPr bwMode="auto">
            <a:xfrm>
              <a:off x="4992" y="2112"/>
              <a:ext cx="768"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auto" latinLnBrk="0" hangingPunct="1">
                <a:lnSpc>
                  <a:spcPct val="50000"/>
                </a:lnSpc>
                <a:spcBef>
                  <a:spcPct val="50000"/>
                </a:spcBef>
                <a:spcAft>
                  <a:spcPts val="0"/>
                </a:spcAft>
                <a:buClrTx/>
                <a:buSzTx/>
                <a:buFontTx/>
                <a:buNone/>
                <a:tabLst/>
                <a:defRPr/>
              </a:pPr>
              <a:r>
                <a:rPr kumimoji="0" lang="en-US" altLang="en-US" sz="1600" b="0" i="0" u="none" strike="noStrike" kern="1200" cap="none" spc="0" normalizeH="0" baseline="0" noProof="0">
                  <a:ln>
                    <a:noFill/>
                  </a:ln>
                  <a:solidFill>
                    <a:srgbClr val="FF3300"/>
                  </a:solidFill>
                  <a:effectLst/>
                  <a:uLnTx/>
                  <a:uFillTx/>
                  <a:latin typeface="Arial" pitchFamily="34" charset="0"/>
                  <a:ea typeface="+mn-ea"/>
                  <a:cs typeface="+mn-cs"/>
                </a:rPr>
                <a:t>i &gt;= </a:t>
              </a:r>
            </a:p>
            <a:p>
              <a:pPr marL="0" marR="0" lvl="0" indent="0" algn="l" defTabSz="914400" rtl="0" eaLnBrk="1" fontAlgn="auto" latinLnBrk="0" hangingPunct="1">
                <a:lnSpc>
                  <a:spcPct val="50000"/>
                </a:lnSpc>
                <a:spcBef>
                  <a:spcPct val="50000"/>
                </a:spcBef>
                <a:spcAft>
                  <a:spcPts val="0"/>
                </a:spcAft>
                <a:buClrTx/>
                <a:buSzTx/>
                <a:buFontTx/>
                <a:buNone/>
                <a:tabLst/>
                <a:defRPr/>
              </a:pPr>
              <a:r>
                <a:rPr kumimoji="0" lang="en-US" altLang="en-US" sz="1600" b="0" i="0" u="none" strike="noStrike" kern="1200" cap="none" spc="0" normalizeH="0" baseline="0" noProof="0">
                  <a:ln>
                    <a:noFill/>
                  </a:ln>
                  <a:solidFill>
                    <a:srgbClr val="FF3300"/>
                  </a:solidFill>
                  <a:effectLst/>
                  <a:uLnTx/>
                  <a:uFillTx/>
                  <a:latin typeface="Arial" pitchFamily="34" charset="0"/>
                  <a:ea typeface="+mn-ea"/>
                  <a:cs typeface="+mn-cs"/>
                </a:rPr>
                <a:t>length</a:t>
              </a:r>
            </a:p>
          </p:txBody>
        </p:sp>
        <p:sp>
          <p:nvSpPr>
            <p:cNvPr id="18515" name="Text Box 63"/>
            <p:cNvSpPr txBox="1">
              <a:spLocks noChangeArrowheads="1"/>
            </p:cNvSpPr>
            <p:nvPr/>
          </p:nvSpPr>
          <p:spPr bwMode="auto">
            <a:xfrm>
              <a:off x="4224" y="2160"/>
              <a:ext cx="576"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auto" latinLnBrk="0" hangingPunct="1">
                <a:lnSpc>
                  <a:spcPct val="50000"/>
                </a:lnSpc>
                <a:spcBef>
                  <a:spcPct val="50000"/>
                </a:spcBef>
                <a:spcAft>
                  <a:spcPts val="0"/>
                </a:spcAft>
                <a:buClrTx/>
                <a:buSzTx/>
                <a:buFontTx/>
                <a:buNone/>
                <a:tabLst/>
                <a:defRPr/>
              </a:pPr>
              <a:r>
                <a:rPr kumimoji="0" lang="en-US" altLang="en-US" sz="1600" b="0" i="0" u="none" strike="noStrike" kern="1200" cap="none" spc="0" normalizeH="0" baseline="0" noProof="0">
                  <a:ln>
                    <a:noFill/>
                  </a:ln>
                  <a:solidFill>
                    <a:srgbClr val="FF3300"/>
                  </a:solidFill>
                  <a:effectLst/>
                  <a:uLnTx/>
                  <a:uFillTx/>
                  <a:latin typeface="Arial" pitchFamily="34" charset="0"/>
                  <a:ea typeface="+mn-ea"/>
                  <a:cs typeface="+mn-cs"/>
                </a:rPr>
                <a:t>i &lt; </a:t>
              </a:r>
            </a:p>
            <a:p>
              <a:pPr marL="0" marR="0" lvl="0" indent="0" algn="l" defTabSz="914400" rtl="0" eaLnBrk="1" fontAlgn="auto" latinLnBrk="0" hangingPunct="1">
                <a:lnSpc>
                  <a:spcPct val="50000"/>
                </a:lnSpc>
                <a:spcBef>
                  <a:spcPct val="50000"/>
                </a:spcBef>
                <a:spcAft>
                  <a:spcPts val="0"/>
                </a:spcAft>
                <a:buClrTx/>
                <a:buSzTx/>
                <a:buFontTx/>
                <a:buNone/>
                <a:tabLst/>
                <a:defRPr/>
              </a:pPr>
              <a:r>
                <a:rPr kumimoji="0" lang="en-US" altLang="en-US" sz="1600" b="0" i="0" u="none" strike="noStrike" kern="1200" cap="none" spc="0" normalizeH="0" baseline="0" noProof="0">
                  <a:ln>
                    <a:noFill/>
                  </a:ln>
                  <a:solidFill>
                    <a:srgbClr val="FF3300"/>
                  </a:solidFill>
                  <a:effectLst/>
                  <a:uLnTx/>
                  <a:uFillTx/>
                  <a:latin typeface="Arial" pitchFamily="34" charset="0"/>
                  <a:ea typeface="+mn-ea"/>
                  <a:cs typeface="+mn-cs"/>
                </a:rPr>
                <a:t>length</a:t>
              </a:r>
            </a:p>
          </p:txBody>
        </p:sp>
      </p:grpSp>
      <p:sp>
        <p:nvSpPr>
          <p:cNvPr id="202816" name="Text Box 64"/>
          <p:cNvSpPr txBox="1">
            <a:spLocks noChangeArrowheads="1"/>
          </p:cNvSpPr>
          <p:nvPr/>
        </p:nvSpPr>
        <p:spPr bwMode="auto">
          <a:xfrm>
            <a:off x="7772401" y="4251960"/>
            <a:ext cx="631825" cy="248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auto" latinLnBrk="0" hangingPunct="1">
              <a:lnSpc>
                <a:spcPct val="50000"/>
              </a:lnSpc>
              <a:spcBef>
                <a:spcPct val="50000"/>
              </a:spcBef>
              <a:spcAft>
                <a:spcPts val="0"/>
              </a:spcAft>
              <a:buClrTx/>
              <a:buSzTx/>
              <a:buFontTx/>
              <a:buNone/>
              <a:tabLst/>
              <a:defRPr/>
            </a:pPr>
            <a:r>
              <a:rPr kumimoji="0" lang="en-US" altLang="en-US" sz="1800" b="0" i="0" u="none" strike="noStrike" kern="1200" cap="none" spc="0" normalizeH="0" baseline="0" noProof="0">
                <a:ln>
                  <a:noFill/>
                </a:ln>
                <a:solidFill>
                  <a:srgbClr val="FF3300"/>
                </a:solidFill>
                <a:effectLst/>
                <a:uLnTx/>
                <a:uFillTx/>
                <a:latin typeface="Arial" pitchFamily="34" charset="0"/>
                <a:ea typeface="+mn-ea"/>
                <a:cs typeface="+mn-cs"/>
              </a:rPr>
              <a:t>i++</a:t>
            </a:r>
          </a:p>
        </p:txBody>
      </p:sp>
      <p:grpSp>
        <p:nvGrpSpPr>
          <p:cNvPr id="5" name="Group 13"/>
          <p:cNvGrpSpPr>
            <a:grpSpLocks/>
          </p:cNvGrpSpPr>
          <p:nvPr/>
        </p:nvGrpSpPr>
        <p:grpSpPr bwMode="auto">
          <a:xfrm>
            <a:off x="8686801" y="5471161"/>
            <a:ext cx="2308225" cy="549275"/>
            <a:chOff x="4512" y="3408"/>
            <a:chExt cx="1454" cy="346"/>
          </a:xfrm>
        </p:grpSpPr>
        <p:sp>
          <p:nvSpPr>
            <p:cNvPr id="18512" name="Text Box 66"/>
            <p:cNvSpPr txBox="1">
              <a:spLocks noChangeArrowheads="1"/>
            </p:cNvSpPr>
            <p:nvPr/>
          </p:nvSpPr>
          <p:spPr bwMode="auto">
            <a:xfrm>
              <a:off x="5088" y="3456"/>
              <a:ext cx="878"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auto" latinLnBrk="0" hangingPunct="1">
                <a:lnSpc>
                  <a:spcPct val="50000"/>
                </a:lnSpc>
                <a:spcBef>
                  <a:spcPct val="50000"/>
                </a:spcBef>
                <a:spcAft>
                  <a:spcPts val="0"/>
                </a:spcAft>
                <a:buClrTx/>
                <a:buSzTx/>
                <a:buFontTx/>
                <a:buNone/>
                <a:tabLst/>
                <a:defRPr/>
              </a:pPr>
              <a:r>
                <a:rPr kumimoji="0" lang="en-US" altLang="en-US" sz="1600" b="0" i="0" u="none" strike="noStrike" kern="1200" cap="none" spc="0" normalizeH="0" baseline="0" noProof="0">
                  <a:ln>
                    <a:noFill/>
                  </a:ln>
                  <a:solidFill>
                    <a:srgbClr val="FF3300"/>
                  </a:solidFill>
                  <a:effectLst/>
                  <a:uLnTx/>
                  <a:uFillTx/>
                  <a:latin typeface="Arial" pitchFamily="34" charset="0"/>
                  <a:ea typeface="+mn-ea"/>
                  <a:cs typeface="+mn-cs"/>
                </a:rPr>
                <a:t>i &gt;= </a:t>
              </a:r>
            </a:p>
            <a:p>
              <a:pPr marL="0" marR="0" lvl="0" indent="0" algn="ctr" defTabSz="914400" rtl="0" eaLnBrk="1" fontAlgn="auto" latinLnBrk="0" hangingPunct="1">
                <a:lnSpc>
                  <a:spcPct val="50000"/>
                </a:lnSpc>
                <a:spcBef>
                  <a:spcPct val="50000"/>
                </a:spcBef>
                <a:spcAft>
                  <a:spcPts val="0"/>
                </a:spcAft>
                <a:buClrTx/>
                <a:buSzTx/>
                <a:buFontTx/>
                <a:buNone/>
                <a:tabLst/>
                <a:defRPr/>
              </a:pPr>
              <a:r>
                <a:rPr kumimoji="0" lang="en-US" altLang="en-US" sz="1600" b="0" i="0" u="none" strike="noStrike" kern="1200" cap="none" spc="0" normalizeH="0" baseline="0" noProof="0">
                  <a:ln>
                    <a:noFill/>
                  </a:ln>
                  <a:solidFill>
                    <a:srgbClr val="FF3300"/>
                  </a:solidFill>
                  <a:effectLst/>
                  <a:uLnTx/>
                  <a:uFillTx/>
                  <a:latin typeface="Arial" pitchFamily="34" charset="0"/>
                  <a:ea typeface="+mn-ea"/>
                  <a:cs typeface="+mn-cs"/>
                </a:rPr>
                <a:t>length</a:t>
              </a:r>
            </a:p>
          </p:txBody>
        </p:sp>
        <p:sp>
          <p:nvSpPr>
            <p:cNvPr id="18513" name="Text Box 67"/>
            <p:cNvSpPr txBox="1">
              <a:spLocks noChangeArrowheads="1"/>
            </p:cNvSpPr>
            <p:nvPr/>
          </p:nvSpPr>
          <p:spPr bwMode="auto">
            <a:xfrm>
              <a:off x="4512" y="3408"/>
              <a:ext cx="812"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auto" latinLnBrk="0" hangingPunct="1">
                <a:lnSpc>
                  <a:spcPct val="50000"/>
                </a:lnSpc>
                <a:spcBef>
                  <a:spcPct val="50000"/>
                </a:spcBef>
                <a:spcAft>
                  <a:spcPts val="0"/>
                </a:spcAft>
                <a:buClrTx/>
                <a:buSzTx/>
                <a:buFontTx/>
                <a:buNone/>
                <a:tabLst/>
                <a:defRPr/>
              </a:pPr>
              <a:r>
                <a:rPr kumimoji="0" lang="en-US" altLang="en-US" sz="1600" b="0" i="0" u="none" strike="noStrike" kern="1200" cap="none" spc="0" normalizeH="0" baseline="0" noProof="0">
                  <a:ln>
                    <a:noFill/>
                  </a:ln>
                  <a:solidFill>
                    <a:srgbClr val="FF3300"/>
                  </a:solidFill>
                  <a:effectLst/>
                  <a:uLnTx/>
                  <a:uFillTx/>
                  <a:latin typeface="Arial" pitchFamily="34" charset="0"/>
                  <a:ea typeface="+mn-ea"/>
                  <a:cs typeface="+mn-cs"/>
                </a:rPr>
                <a:t>i &lt; </a:t>
              </a:r>
            </a:p>
            <a:p>
              <a:pPr marL="0" marR="0" lvl="0" indent="0" algn="ctr" defTabSz="914400" rtl="0" eaLnBrk="1" fontAlgn="auto" latinLnBrk="0" hangingPunct="1">
                <a:lnSpc>
                  <a:spcPct val="50000"/>
                </a:lnSpc>
                <a:spcBef>
                  <a:spcPct val="50000"/>
                </a:spcBef>
                <a:spcAft>
                  <a:spcPts val="0"/>
                </a:spcAft>
                <a:buClrTx/>
                <a:buSzTx/>
                <a:buFontTx/>
                <a:buNone/>
                <a:tabLst/>
                <a:defRPr/>
              </a:pPr>
              <a:r>
                <a:rPr kumimoji="0" lang="en-US" altLang="en-US" sz="1600" b="0" i="0" u="none" strike="noStrike" kern="1200" cap="none" spc="0" normalizeH="0" baseline="0" noProof="0">
                  <a:ln>
                    <a:noFill/>
                  </a:ln>
                  <a:solidFill>
                    <a:srgbClr val="FF3300"/>
                  </a:solidFill>
                  <a:effectLst/>
                  <a:uLnTx/>
                  <a:uFillTx/>
                  <a:latin typeface="Arial" pitchFamily="34" charset="0"/>
                  <a:ea typeface="+mn-ea"/>
                  <a:cs typeface="+mn-cs"/>
                </a:rPr>
                <a:t>length</a:t>
              </a:r>
            </a:p>
          </p:txBody>
        </p:sp>
      </p:grpSp>
      <p:sp>
        <p:nvSpPr>
          <p:cNvPr id="2" name="Text Box 59"/>
          <p:cNvSpPr txBox="1">
            <a:spLocks noChangeArrowheads="1"/>
          </p:cNvSpPr>
          <p:nvPr/>
        </p:nvSpPr>
        <p:spPr bwMode="auto">
          <a:xfrm>
            <a:off x="9728200" y="4480560"/>
            <a:ext cx="939800" cy="248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auto" latinLnBrk="0" hangingPunct="1">
              <a:lnSpc>
                <a:spcPct val="50000"/>
              </a:lnSpc>
              <a:spcBef>
                <a:spcPct val="50000"/>
              </a:spcBef>
              <a:spcAft>
                <a:spcPts val="0"/>
              </a:spcAft>
              <a:buClrTx/>
              <a:buSzTx/>
              <a:buFontTx/>
              <a:buNone/>
              <a:tabLst/>
              <a:defRPr/>
            </a:pPr>
            <a:r>
              <a:rPr kumimoji="0" lang="en-US" altLang="en-US" sz="1800" b="0" i="0" u="none" strike="noStrike" kern="1200" cap="none" spc="0" normalizeH="0" baseline="0" noProof="0">
                <a:ln>
                  <a:noFill/>
                </a:ln>
                <a:solidFill>
                  <a:srgbClr val="FF3300"/>
                </a:solidFill>
                <a:effectLst/>
                <a:uLnTx/>
                <a:uFillTx/>
                <a:latin typeface="Arial" pitchFamily="34" charset="0"/>
                <a:ea typeface="+mn-ea"/>
                <a:cs typeface="+mn-cs"/>
              </a:rPr>
              <a:t>i = 0</a:t>
            </a:r>
          </a:p>
        </p:txBody>
      </p:sp>
      <p:sp>
        <p:nvSpPr>
          <p:cNvPr id="3" name="Text Box 64"/>
          <p:cNvSpPr txBox="1">
            <a:spLocks noChangeArrowheads="1"/>
          </p:cNvSpPr>
          <p:nvPr/>
        </p:nvSpPr>
        <p:spPr bwMode="auto">
          <a:xfrm>
            <a:off x="8610601" y="6461760"/>
            <a:ext cx="955675" cy="248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auto" latinLnBrk="0" hangingPunct="1">
              <a:lnSpc>
                <a:spcPct val="50000"/>
              </a:lnSpc>
              <a:spcBef>
                <a:spcPct val="50000"/>
              </a:spcBef>
              <a:spcAft>
                <a:spcPts val="0"/>
              </a:spcAft>
              <a:buClrTx/>
              <a:buSzTx/>
              <a:buFontTx/>
              <a:buNone/>
              <a:tabLst/>
              <a:defRPr/>
            </a:pPr>
            <a:r>
              <a:rPr kumimoji="0" lang="en-US" altLang="en-US" sz="1800" b="0" i="0" u="none" strike="noStrike" kern="1200" cap="none" spc="0" normalizeH="0" baseline="0" noProof="0">
                <a:ln>
                  <a:noFill/>
                </a:ln>
                <a:solidFill>
                  <a:srgbClr val="FF3300"/>
                </a:solidFill>
                <a:effectLst/>
                <a:uLnTx/>
                <a:uFillTx/>
                <a:latin typeface="Arial" pitchFamily="34" charset="0"/>
                <a:ea typeface="+mn-ea"/>
                <a:cs typeface="+mn-cs"/>
              </a:rPr>
              <a:t>i++</a:t>
            </a:r>
          </a:p>
        </p:txBody>
      </p:sp>
      <p:grpSp>
        <p:nvGrpSpPr>
          <p:cNvPr id="6" name="Group 18"/>
          <p:cNvGrpSpPr>
            <a:grpSpLocks/>
          </p:cNvGrpSpPr>
          <p:nvPr/>
        </p:nvGrpSpPr>
        <p:grpSpPr bwMode="auto">
          <a:xfrm>
            <a:off x="1676400" y="1203960"/>
            <a:ext cx="6864350" cy="1011238"/>
            <a:chOff x="16" y="720"/>
            <a:chExt cx="4404" cy="637"/>
          </a:xfrm>
        </p:grpSpPr>
        <p:sp>
          <p:nvSpPr>
            <p:cNvPr id="18510" name="Oval 19"/>
            <p:cNvSpPr>
              <a:spLocks noChangeArrowheads="1"/>
            </p:cNvSpPr>
            <p:nvPr/>
          </p:nvSpPr>
          <p:spPr bwMode="auto">
            <a:xfrm>
              <a:off x="16" y="720"/>
              <a:ext cx="2479" cy="637"/>
            </a:xfrm>
            <a:prstGeom prst="ellipse">
              <a:avLst/>
            </a:prstGeom>
            <a:noFill/>
            <a:ln w="12700">
              <a:solidFill>
                <a:srgbClr val="FFC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8511" name="Line 20"/>
            <p:cNvSpPr>
              <a:spLocks noChangeShapeType="1"/>
            </p:cNvSpPr>
            <p:nvPr/>
          </p:nvSpPr>
          <p:spPr bwMode="auto">
            <a:xfrm flipV="1">
              <a:off x="2500" y="855"/>
              <a:ext cx="1920" cy="179"/>
            </a:xfrm>
            <a:prstGeom prst="line">
              <a:avLst/>
            </a:prstGeom>
            <a:noFill/>
            <a:ln w="12700">
              <a:solidFill>
                <a:srgbClr val="FFC000"/>
              </a:solidFill>
              <a:round/>
              <a:headEnd type="none" w="sm" len="sm"/>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7" name="Group 21"/>
          <p:cNvGrpSpPr>
            <a:grpSpLocks/>
          </p:cNvGrpSpPr>
          <p:nvPr/>
        </p:nvGrpSpPr>
        <p:grpSpPr bwMode="auto">
          <a:xfrm>
            <a:off x="2667000" y="2140585"/>
            <a:ext cx="5943600" cy="319088"/>
            <a:chOff x="388" y="1310"/>
            <a:chExt cx="4006" cy="201"/>
          </a:xfrm>
        </p:grpSpPr>
        <p:sp>
          <p:nvSpPr>
            <p:cNvPr id="18508" name="Oval 22"/>
            <p:cNvSpPr>
              <a:spLocks noChangeArrowheads="1"/>
            </p:cNvSpPr>
            <p:nvPr/>
          </p:nvSpPr>
          <p:spPr bwMode="auto">
            <a:xfrm>
              <a:off x="388" y="1310"/>
              <a:ext cx="341" cy="201"/>
            </a:xfrm>
            <a:prstGeom prst="ellipse">
              <a:avLst/>
            </a:prstGeom>
            <a:noFill/>
            <a:ln w="12700">
              <a:solidFill>
                <a:srgbClr val="FFC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8509" name="Line 23"/>
            <p:cNvSpPr>
              <a:spLocks noChangeShapeType="1"/>
            </p:cNvSpPr>
            <p:nvPr/>
          </p:nvSpPr>
          <p:spPr bwMode="auto">
            <a:xfrm>
              <a:off x="733" y="1414"/>
              <a:ext cx="3661" cy="9"/>
            </a:xfrm>
            <a:prstGeom prst="line">
              <a:avLst/>
            </a:prstGeom>
            <a:noFill/>
            <a:ln w="12700">
              <a:solidFill>
                <a:srgbClr val="FFC000"/>
              </a:solidFill>
              <a:round/>
              <a:headEnd type="none" w="sm" len="sm"/>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8448" name="Group 9"/>
          <p:cNvGrpSpPr>
            <a:grpSpLocks/>
          </p:cNvGrpSpPr>
          <p:nvPr/>
        </p:nvGrpSpPr>
        <p:grpSpPr bwMode="auto">
          <a:xfrm>
            <a:off x="8632826" y="1154748"/>
            <a:ext cx="555625" cy="469900"/>
            <a:chOff x="3838" y="2684"/>
            <a:chExt cx="350" cy="296"/>
          </a:xfrm>
        </p:grpSpPr>
        <p:sp>
          <p:nvSpPr>
            <p:cNvPr id="18506" name="Oval 10"/>
            <p:cNvSpPr>
              <a:spLocks noChangeArrowheads="1"/>
            </p:cNvSpPr>
            <p:nvPr/>
          </p:nvSpPr>
          <p:spPr bwMode="auto">
            <a:xfrm>
              <a:off x="3838" y="2684"/>
              <a:ext cx="350" cy="296"/>
            </a:xfrm>
            <a:prstGeom prst="ellipse">
              <a:avLst/>
            </a:prstGeom>
            <a:solidFill>
              <a:srgbClr val="0066FF"/>
            </a:solidFill>
            <a:ln w="19050">
              <a:solidFill>
                <a:schemeClr val="tx1"/>
              </a:solidFill>
              <a:round/>
              <a:headEnd type="none" w="sm" len="sm"/>
              <a:tailEnd type="none" w="sm" len="sm"/>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8507" name="Text Box 11"/>
            <p:cNvSpPr txBox="1">
              <a:spLocks noChangeArrowheads="1"/>
            </p:cNvSpPr>
            <p:nvPr/>
          </p:nvSpPr>
          <p:spPr bwMode="auto">
            <a:xfrm>
              <a:off x="3914" y="2707"/>
              <a:ext cx="1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itchFamily="34" charset="0"/>
                  <a:ea typeface="+mn-ea"/>
                  <a:cs typeface="+mn-cs"/>
                </a:rPr>
                <a:t>1</a:t>
              </a:r>
            </a:p>
          </p:txBody>
        </p:sp>
      </p:grpSp>
      <p:grpSp>
        <p:nvGrpSpPr>
          <p:cNvPr id="9" name="Group 29"/>
          <p:cNvGrpSpPr>
            <a:grpSpLocks/>
          </p:cNvGrpSpPr>
          <p:nvPr/>
        </p:nvGrpSpPr>
        <p:grpSpPr bwMode="auto">
          <a:xfrm>
            <a:off x="8632826" y="1608774"/>
            <a:ext cx="555625" cy="973137"/>
            <a:chOff x="4478" y="975"/>
            <a:chExt cx="350" cy="613"/>
          </a:xfrm>
        </p:grpSpPr>
        <p:grpSp>
          <p:nvGrpSpPr>
            <p:cNvPr id="18502" name="Group 21"/>
            <p:cNvGrpSpPr>
              <a:grpSpLocks/>
            </p:cNvGrpSpPr>
            <p:nvPr/>
          </p:nvGrpSpPr>
          <p:grpSpPr bwMode="auto">
            <a:xfrm>
              <a:off x="4478" y="1292"/>
              <a:ext cx="350" cy="296"/>
              <a:chOff x="4288" y="1746"/>
              <a:chExt cx="350" cy="296"/>
            </a:xfrm>
          </p:grpSpPr>
          <p:sp>
            <p:nvSpPr>
              <p:cNvPr id="18504" name="Oval 22"/>
              <p:cNvSpPr>
                <a:spLocks noChangeArrowheads="1"/>
              </p:cNvSpPr>
              <p:nvPr/>
            </p:nvSpPr>
            <p:spPr bwMode="auto">
              <a:xfrm>
                <a:off x="4288" y="1746"/>
                <a:ext cx="350" cy="296"/>
              </a:xfrm>
              <a:prstGeom prst="ellipse">
                <a:avLst/>
              </a:prstGeom>
              <a:solidFill>
                <a:srgbClr val="0066FF"/>
              </a:solidFill>
              <a:ln w="19050">
                <a:solidFill>
                  <a:schemeClr val="tx1"/>
                </a:solidFill>
                <a:round/>
                <a:headEnd type="none" w="sm" len="sm"/>
                <a:tailEnd type="none" w="sm" len="sm"/>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8505" name="Text Box 23"/>
              <p:cNvSpPr txBox="1">
                <a:spLocks noChangeArrowheads="1"/>
              </p:cNvSpPr>
              <p:nvPr/>
            </p:nvSpPr>
            <p:spPr bwMode="auto">
              <a:xfrm>
                <a:off x="4364" y="1769"/>
                <a:ext cx="1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itchFamily="34" charset="0"/>
                    <a:ea typeface="+mn-ea"/>
                    <a:cs typeface="+mn-cs"/>
                  </a:rPr>
                  <a:t>2</a:t>
                </a:r>
              </a:p>
            </p:txBody>
          </p:sp>
        </p:grpSp>
        <p:cxnSp>
          <p:nvCxnSpPr>
            <p:cNvPr id="18503" name="AutoShape 48"/>
            <p:cNvCxnSpPr>
              <a:cxnSpLocks noChangeShapeType="1"/>
              <a:stCxn id="18506" idx="4"/>
              <a:endCxn id="18504" idx="0"/>
            </p:cNvCxnSpPr>
            <p:nvPr/>
          </p:nvCxnSpPr>
          <p:spPr bwMode="auto">
            <a:xfrm>
              <a:off x="4653" y="975"/>
              <a:ext cx="0" cy="317"/>
            </a:xfrm>
            <a:prstGeom prst="straightConnector1">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cxnSp>
      </p:grpSp>
      <p:grpSp>
        <p:nvGrpSpPr>
          <p:cNvPr id="11" name="Group 34"/>
          <p:cNvGrpSpPr>
            <a:grpSpLocks/>
          </p:cNvGrpSpPr>
          <p:nvPr/>
        </p:nvGrpSpPr>
        <p:grpSpPr bwMode="auto">
          <a:xfrm>
            <a:off x="8632826" y="2566036"/>
            <a:ext cx="555625" cy="974725"/>
            <a:chOff x="4478" y="1578"/>
            <a:chExt cx="350" cy="614"/>
          </a:xfrm>
        </p:grpSpPr>
        <p:grpSp>
          <p:nvGrpSpPr>
            <p:cNvPr id="18498" name="Group 27"/>
            <p:cNvGrpSpPr>
              <a:grpSpLocks/>
            </p:cNvGrpSpPr>
            <p:nvPr/>
          </p:nvGrpSpPr>
          <p:grpSpPr bwMode="auto">
            <a:xfrm>
              <a:off x="4478" y="1896"/>
              <a:ext cx="350" cy="296"/>
              <a:chOff x="4288" y="1746"/>
              <a:chExt cx="350" cy="296"/>
            </a:xfrm>
          </p:grpSpPr>
          <p:sp>
            <p:nvSpPr>
              <p:cNvPr id="18500" name="Oval 28"/>
              <p:cNvSpPr>
                <a:spLocks noChangeArrowheads="1"/>
              </p:cNvSpPr>
              <p:nvPr/>
            </p:nvSpPr>
            <p:spPr bwMode="auto">
              <a:xfrm>
                <a:off x="4288" y="1746"/>
                <a:ext cx="350" cy="296"/>
              </a:xfrm>
              <a:prstGeom prst="ellipse">
                <a:avLst/>
              </a:prstGeom>
              <a:solidFill>
                <a:srgbClr val="0000FF"/>
              </a:solidFill>
              <a:ln w="19050">
                <a:solidFill>
                  <a:schemeClr val="tx1"/>
                </a:solidFill>
                <a:round/>
                <a:headEnd type="none" w="sm" len="sm"/>
                <a:tailEnd type="none" w="sm" len="sm"/>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8501" name="Text Box 29"/>
              <p:cNvSpPr txBox="1">
                <a:spLocks noChangeArrowheads="1"/>
              </p:cNvSpPr>
              <p:nvPr/>
            </p:nvSpPr>
            <p:spPr bwMode="auto">
              <a:xfrm>
                <a:off x="4364" y="1769"/>
                <a:ext cx="1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itchFamily="34" charset="0"/>
                    <a:ea typeface="+mn-ea"/>
                    <a:cs typeface="+mn-cs"/>
                  </a:rPr>
                  <a:t>3</a:t>
                </a:r>
              </a:p>
            </p:txBody>
          </p:sp>
        </p:grpSp>
        <p:cxnSp>
          <p:nvCxnSpPr>
            <p:cNvPr id="18499" name="AutoShape 49"/>
            <p:cNvCxnSpPr>
              <a:cxnSpLocks noChangeShapeType="1"/>
              <a:stCxn id="18504" idx="4"/>
              <a:endCxn id="18500" idx="0"/>
            </p:cNvCxnSpPr>
            <p:nvPr/>
          </p:nvCxnSpPr>
          <p:spPr bwMode="auto">
            <a:xfrm>
              <a:off x="4653" y="1578"/>
              <a:ext cx="0" cy="318"/>
            </a:xfrm>
            <a:prstGeom prst="straightConnector1">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cxnSp>
      </p:grpSp>
      <p:grpSp>
        <p:nvGrpSpPr>
          <p:cNvPr id="13" name="Group 39"/>
          <p:cNvGrpSpPr>
            <a:grpSpLocks/>
          </p:cNvGrpSpPr>
          <p:nvPr/>
        </p:nvGrpSpPr>
        <p:grpSpPr bwMode="auto">
          <a:xfrm>
            <a:off x="9188451" y="3289936"/>
            <a:ext cx="814388" cy="1206500"/>
            <a:chOff x="4828" y="2034"/>
            <a:chExt cx="513" cy="760"/>
          </a:xfrm>
        </p:grpSpPr>
        <p:grpSp>
          <p:nvGrpSpPr>
            <p:cNvPr id="18494" name="Group 37"/>
            <p:cNvGrpSpPr>
              <a:grpSpLocks/>
            </p:cNvGrpSpPr>
            <p:nvPr/>
          </p:nvGrpSpPr>
          <p:grpSpPr bwMode="auto">
            <a:xfrm>
              <a:off x="4991" y="2498"/>
              <a:ext cx="350" cy="296"/>
              <a:chOff x="4288" y="1746"/>
              <a:chExt cx="350" cy="296"/>
            </a:xfrm>
          </p:grpSpPr>
          <p:sp>
            <p:nvSpPr>
              <p:cNvPr id="18496" name="Oval 38"/>
              <p:cNvSpPr>
                <a:spLocks noChangeArrowheads="1"/>
              </p:cNvSpPr>
              <p:nvPr/>
            </p:nvSpPr>
            <p:spPr bwMode="auto">
              <a:xfrm>
                <a:off x="4288" y="1746"/>
                <a:ext cx="350" cy="296"/>
              </a:xfrm>
              <a:prstGeom prst="ellipse">
                <a:avLst/>
              </a:prstGeom>
              <a:solidFill>
                <a:srgbClr val="0066FF"/>
              </a:solidFill>
              <a:ln w="19050">
                <a:solidFill>
                  <a:schemeClr val="tx1"/>
                </a:solidFill>
                <a:round/>
                <a:headEnd type="none" w="sm" len="sm"/>
                <a:tailEnd type="none" w="sm" len="sm"/>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8497" name="Text Box 39"/>
              <p:cNvSpPr txBox="1">
                <a:spLocks noChangeArrowheads="1"/>
              </p:cNvSpPr>
              <p:nvPr/>
            </p:nvSpPr>
            <p:spPr bwMode="auto">
              <a:xfrm>
                <a:off x="4364" y="1769"/>
                <a:ext cx="1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itchFamily="34" charset="0"/>
                    <a:ea typeface="+mn-ea"/>
                    <a:cs typeface="+mn-cs"/>
                  </a:rPr>
                  <a:t>5</a:t>
                </a:r>
              </a:p>
            </p:txBody>
          </p:sp>
        </p:grpSp>
        <p:cxnSp>
          <p:nvCxnSpPr>
            <p:cNvPr id="18495" name="AutoShape 52"/>
            <p:cNvCxnSpPr>
              <a:cxnSpLocks noChangeShapeType="1"/>
              <a:stCxn id="18500" idx="6"/>
              <a:endCxn id="18496" idx="0"/>
            </p:cNvCxnSpPr>
            <p:nvPr/>
          </p:nvCxnSpPr>
          <p:spPr bwMode="auto">
            <a:xfrm>
              <a:off x="4828" y="2034"/>
              <a:ext cx="338" cy="464"/>
            </a:xfrm>
            <a:prstGeom prst="curvedConnector2">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cxnSp>
      </p:grpSp>
      <p:grpSp>
        <p:nvGrpSpPr>
          <p:cNvPr id="15" name="Group 44"/>
          <p:cNvGrpSpPr>
            <a:grpSpLocks/>
          </p:cNvGrpSpPr>
          <p:nvPr/>
        </p:nvGrpSpPr>
        <p:grpSpPr bwMode="auto">
          <a:xfrm>
            <a:off x="7727954" y="3289935"/>
            <a:ext cx="987426" cy="950913"/>
            <a:chOff x="3908" y="2034"/>
            <a:chExt cx="622" cy="599"/>
          </a:xfrm>
        </p:grpSpPr>
        <p:grpSp>
          <p:nvGrpSpPr>
            <p:cNvPr id="18489" name="Group 24"/>
            <p:cNvGrpSpPr>
              <a:grpSpLocks/>
            </p:cNvGrpSpPr>
            <p:nvPr/>
          </p:nvGrpSpPr>
          <p:grpSpPr bwMode="auto">
            <a:xfrm>
              <a:off x="3908" y="2337"/>
              <a:ext cx="350" cy="296"/>
              <a:chOff x="4288" y="1746"/>
              <a:chExt cx="350" cy="296"/>
            </a:xfrm>
          </p:grpSpPr>
          <p:sp>
            <p:nvSpPr>
              <p:cNvPr id="18492" name="Oval 25"/>
              <p:cNvSpPr>
                <a:spLocks noChangeArrowheads="1"/>
              </p:cNvSpPr>
              <p:nvPr/>
            </p:nvSpPr>
            <p:spPr bwMode="auto">
              <a:xfrm>
                <a:off x="4288" y="1746"/>
                <a:ext cx="350" cy="296"/>
              </a:xfrm>
              <a:prstGeom prst="ellipse">
                <a:avLst/>
              </a:prstGeom>
              <a:solidFill>
                <a:srgbClr val="0066FF"/>
              </a:solidFill>
              <a:ln w="19050">
                <a:solidFill>
                  <a:schemeClr val="tx1"/>
                </a:solidFill>
                <a:round/>
                <a:headEnd type="none" w="sm" len="sm"/>
                <a:tailEnd type="none" w="sm" len="sm"/>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8493" name="Text Box 26"/>
              <p:cNvSpPr txBox="1">
                <a:spLocks noChangeArrowheads="1"/>
              </p:cNvSpPr>
              <p:nvPr/>
            </p:nvSpPr>
            <p:spPr bwMode="auto">
              <a:xfrm>
                <a:off x="4364" y="1769"/>
                <a:ext cx="1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itchFamily="34" charset="0"/>
                    <a:ea typeface="+mn-ea"/>
                    <a:cs typeface="+mn-cs"/>
                  </a:rPr>
                  <a:t>4</a:t>
                </a:r>
              </a:p>
            </p:txBody>
          </p:sp>
        </p:grpSp>
        <p:cxnSp>
          <p:nvCxnSpPr>
            <p:cNvPr id="18490" name="AutoShape 50"/>
            <p:cNvCxnSpPr>
              <a:cxnSpLocks noChangeShapeType="1"/>
              <a:stCxn id="18500" idx="3"/>
              <a:endCxn id="18492" idx="7"/>
            </p:cNvCxnSpPr>
            <p:nvPr/>
          </p:nvCxnSpPr>
          <p:spPr bwMode="auto">
            <a:xfrm flipH="1">
              <a:off x="4207" y="2139"/>
              <a:ext cx="323" cy="241"/>
            </a:xfrm>
            <a:prstGeom prst="straightConnector1">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cxnSp>
        <p:cxnSp>
          <p:nvCxnSpPr>
            <p:cNvPr id="18491" name="AutoShape 53"/>
            <p:cNvCxnSpPr>
              <a:cxnSpLocks noChangeShapeType="1"/>
              <a:stCxn id="18492" idx="2"/>
              <a:endCxn id="18500" idx="2"/>
            </p:cNvCxnSpPr>
            <p:nvPr/>
          </p:nvCxnSpPr>
          <p:spPr bwMode="auto">
            <a:xfrm rot="10800000" flipH="1">
              <a:off x="3908" y="2034"/>
              <a:ext cx="570" cy="451"/>
            </a:xfrm>
            <a:prstGeom prst="curvedConnector3">
              <a:avLst>
                <a:gd name="adj1" fmla="val -25263"/>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cxnSp>
      </p:grpSp>
      <p:grpSp>
        <p:nvGrpSpPr>
          <p:cNvPr id="17" name="Group 50"/>
          <p:cNvGrpSpPr>
            <a:grpSpLocks/>
          </p:cNvGrpSpPr>
          <p:nvPr/>
        </p:nvGrpSpPr>
        <p:grpSpPr bwMode="auto">
          <a:xfrm>
            <a:off x="9447214" y="4480561"/>
            <a:ext cx="555625" cy="976313"/>
            <a:chOff x="4991" y="2784"/>
            <a:chExt cx="350" cy="615"/>
          </a:xfrm>
        </p:grpSpPr>
        <p:grpSp>
          <p:nvGrpSpPr>
            <p:cNvPr id="18485" name="Group 40"/>
            <p:cNvGrpSpPr>
              <a:grpSpLocks/>
            </p:cNvGrpSpPr>
            <p:nvPr/>
          </p:nvGrpSpPr>
          <p:grpSpPr bwMode="auto">
            <a:xfrm>
              <a:off x="4991" y="3103"/>
              <a:ext cx="350" cy="296"/>
              <a:chOff x="4288" y="1746"/>
              <a:chExt cx="350" cy="296"/>
            </a:xfrm>
          </p:grpSpPr>
          <p:sp>
            <p:nvSpPr>
              <p:cNvPr id="18487" name="Oval 41"/>
              <p:cNvSpPr>
                <a:spLocks noChangeArrowheads="1"/>
              </p:cNvSpPr>
              <p:nvPr/>
            </p:nvSpPr>
            <p:spPr bwMode="auto">
              <a:xfrm>
                <a:off x="4288" y="1746"/>
                <a:ext cx="350" cy="296"/>
              </a:xfrm>
              <a:prstGeom prst="ellipse">
                <a:avLst/>
              </a:prstGeom>
              <a:solidFill>
                <a:srgbClr val="0000FF"/>
              </a:solidFill>
              <a:ln w="19050">
                <a:solidFill>
                  <a:schemeClr val="tx1"/>
                </a:solidFill>
                <a:round/>
                <a:headEnd type="none" w="sm" len="sm"/>
                <a:tailEnd type="none" w="sm" len="sm"/>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8488" name="Text Box 42"/>
              <p:cNvSpPr txBox="1">
                <a:spLocks noChangeArrowheads="1"/>
              </p:cNvSpPr>
              <p:nvPr/>
            </p:nvSpPr>
            <p:spPr bwMode="auto">
              <a:xfrm>
                <a:off x="4364" y="1769"/>
                <a:ext cx="1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itchFamily="34" charset="0"/>
                    <a:ea typeface="+mn-ea"/>
                    <a:cs typeface="+mn-cs"/>
                  </a:rPr>
                  <a:t>6</a:t>
                </a:r>
              </a:p>
            </p:txBody>
          </p:sp>
        </p:grpSp>
        <p:cxnSp>
          <p:nvCxnSpPr>
            <p:cNvPr id="18486" name="AutoShape 54"/>
            <p:cNvCxnSpPr>
              <a:cxnSpLocks noChangeShapeType="1"/>
              <a:stCxn id="18496" idx="4"/>
              <a:endCxn id="18487" idx="0"/>
            </p:cNvCxnSpPr>
            <p:nvPr/>
          </p:nvCxnSpPr>
          <p:spPr bwMode="auto">
            <a:xfrm>
              <a:off x="5166" y="2784"/>
              <a:ext cx="0" cy="319"/>
            </a:xfrm>
            <a:prstGeom prst="straightConnector1">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cxnSp>
      </p:grpSp>
      <p:grpSp>
        <p:nvGrpSpPr>
          <p:cNvPr id="19" name="Group 55"/>
          <p:cNvGrpSpPr>
            <a:grpSpLocks/>
          </p:cNvGrpSpPr>
          <p:nvPr/>
        </p:nvGrpSpPr>
        <p:grpSpPr bwMode="auto">
          <a:xfrm>
            <a:off x="10002845" y="5206049"/>
            <a:ext cx="573088" cy="1282700"/>
            <a:chOff x="5346" y="3189"/>
            <a:chExt cx="361" cy="808"/>
          </a:xfrm>
        </p:grpSpPr>
        <p:grpSp>
          <p:nvGrpSpPr>
            <p:cNvPr id="18481" name="Group 6"/>
            <p:cNvGrpSpPr>
              <a:grpSpLocks/>
            </p:cNvGrpSpPr>
            <p:nvPr/>
          </p:nvGrpSpPr>
          <p:grpSpPr bwMode="auto">
            <a:xfrm>
              <a:off x="5357" y="3701"/>
              <a:ext cx="350" cy="296"/>
              <a:chOff x="4738" y="2684"/>
              <a:chExt cx="350" cy="296"/>
            </a:xfrm>
          </p:grpSpPr>
          <p:sp>
            <p:nvSpPr>
              <p:cNvPr id="18483" name="Oval 7"/>
              <p:cNvSpPr>
                <a:spLocks noChangeArrowheads="1"/>
              </p:cNvSpPr>
              <p:nvPr/>
            </p:nvSpPr>
            <p:spPr bwMode="auto">
              <a:xfrm>
                <a:off x="4738" y="2684"/>
                <a:ext cx="350" cy="296"/>
              </a:xfrm>
              <a:prstGeom prst="ellipse">
                <a:avLst/>
              </a:prstGeom>
              <a:solidFill>
                <a:srgbClr val="0066FF"/>
              </a:solidFill>
              <a:ln w="57150">
                <a:solidFill>
                  <a:schemeClr val="tx1"/>
                </a:solidFill>
                <a:round/>
                <a:headEnd type="none" w="sm" len="sm"/>
                <a:tailEnd type="none" w="sm" len="sm"/>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8484" name="Text Box 8"/>
              <p:cNvSpPr txBox="1">
                <a:spLocks noChangeArrowheads="1"/>
              </p:cNvSpPr>
              <p:nvPr/>
            </p:nvSpPr>
            <p:spPr bwMode="auto">
              <a:xfrm>
                <a:off x="4814" y="2707"/>
                <a:ext cx="1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itchFamily="34" charset="0"/>
                    <a:ea typeface="+mn-ea"/>
                    <a:cs typeface="+mn-cs"/>
                  </a:rPr>
                  <a:t>8</a:t>
                </a:r>
              </a:p>
            </p:txBody>
          </p:sp>
        </p:grpSp>
        <p:cxnSp>
          <p:nvCxnSpPr>
            <p:cNvPr id="18482" name="AutoShape 55"/>
            <p:cNvCxnSpPr>
              <a:cxnSpLocks noChangeShapeType="1"/>
              <a:stCxn id="18487" idx="6"/>
              <a:endCxn id="18483" idx="0"/>
            </p:cNvCxnSpPr>
            <p:nvPr/>
          </p:nvCxnSpPr>
          <p:spPr bwMode="auto">
            <a:xfrm>
              <a:off x="5346" y="3189"/>
              <a:ext cx="186" cy="512"/>
            </a:xfrm>
            <a:prstGeom prst="curvedConnector2">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cxnSp>
      </p:grpSp>
      <p:grpSp>
        <p:nvGrpSpPr>
          <p:cNvPr id="21" name="Group 60"/>
          <p:cNvGrpSpPr>
            <a:grpSpLocks/>
          </p:cNvGrpSpPr>
          <p:nvPr/>
        </p:nvGrpSpPr>
        <p:grpSpPr bwMode="auto">
          <a:xfrm>
            <a:off x="8634410" y="5206048"/>
            <a:ext cx="895349" cy="1209675"/>
            <a:chOff x="4479" y="3241"/>
            <a:chExt cx="564" cy="762"/>
          </a:xfrm>
        </p:grpSpPr>
        <p:grpSp>
          <p:nvGrpSpPr>
            <p:cNvPr id="18476" name="Group 43"/>
            <p:cNvGrpSpPr>
              <a:grpSpLocks/>
            </p:cNvGrpSpPr>
            <p:nvPr/>
          </p:nvGrpSpPr>
          <p:grpSpPr bwMode="auto">
            <a:xfrm>
              <a:off x="4479" y="3707"/>
              <a:ext cx="350" cy="296"/>
              <a:chOff x="4288" y="1746"/>
              <a:chExt cx="350" cy="296"/>
            </a:xfrm>
          </p:grpSpPr>
          <p:sp>
            <p:nvSpPr>
              <p:cNvPr id="18479" name="Oval 44"/>
              <p:cNvSpPr>
                <a:spLocks noChangeArrowheads="1"/>
              </p:cNvSpPr>
              <p:nvPr/>
            </p:nvSpPr>
            <p:spPr bwMode="auto">
              <a:xfrm>
                <a:off x="4288" y="1746"/>
                <a:ext cx="350" cy="296"/>
              </a:xfrm>
              <a:prstGeom prst="ellipse">
                <a:avLst/>
              </a:prstGeom>
              <a:solidFill>
                <a:srgbClr val="0066FF"/>
              </a:solidFill>
              <a:ln w="19050">
                <a:solidFill>
                  <a:schemeClr val="tx1"/>
                </a:solidFill>
                <a:round/>
                <a:headEnd type="none" w="sm" len="sm"/>
                <a:tailEnd type="none" w="sm" len="sm"/>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8480" name="Text Box 45"/>
              <p:cNvSpPr txBox="1">
                <a:spLocks noChangeArrowheads="1"/>
              </p:cNvSpPr>
              <p:nvPr/>
            </p:nvSpPr>
            <p:spPr bwMode="auto">
              <a:xfrm>
                <a:off x="4364" y="1769"/>
                <a:ext cx="1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itchFamily="34" charset="0"/>
                    <a:ea typeface="+mn-ea"/>
                    <a:cs typeface="+mn-cs"/>
                  </a:rPr>
                  <a:t>7</a:t>
                </a:r>
              </a:p>
            </p:txBody>
          </p:sp>
        </p:grpSp>
        <p:cxnSp>
          <p:nvCxnSpPr>
            <p:cNvPr id="18477" name="AutoShape 56"/>
            <p:cNvCxnSpPr>
              <a:cxnSpLocks noChangeShapeType="1"/>
              <a:stCxn id="18487" idx="3"/>
              <a:endCxn id="18479" idx="7"/>
            </p:cNvCxnSpPr>
            <p:nvPr/>
          </p:nvCxnSpPr>
          <p:spPr bwMode="auto">
            <a:xfrm flipH="1">
              <a:off x="4778" y="3346"/>
              <a:ext cx="265" cy="404"/>
            </a:xfrm>
            <a:prstGeom prst="straightConnector1">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cxnSp>
        <p:cxnSp>
          <p:nvCxnSpPr>
            <p:cNvPr id="18478" name="AutoShape 57"/>
            <p:cNvCxnSpPr>
              <a:cxnSpLocks noChangeShapeType="1"/>
              <a:stCxn id="18479" idx="2"/>
              <a:endCxn id="18487" idx="2"/>
            </p:cNvCxnSpPr>
            <p:nvPr/>
          </p:nvCxnSpPr>
          <p:spPr bwMode="auto">
            <a:xfrm rot="10800000" flipH="1">
              <a:off x="4479" y="3241"/>
              <a:ext cx="512" cy="614"/>
            </a:xfrm>
            <a:prstGeom prst="curvedConnector3">
              <a:avLst>
                <a:gd name="adj1" fmla="val -28125"/>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cxnSp>
      </p:grpSp>
      <p:grpSp>
        <p:nvGrpSpPr>
          <p:cNvPr id="23" name="Group 66"/>
          <p:cNvGrpSpPr>
            <a:grpSpLocks/>
          </p:cNvGrpSpPr>
          <p:nvPr/>
        </p:nvGrpSpPr>
        <p:grpSpPr bwMode="auto">
          <a:xfrm>
            <a:off x="1981200" y="2529523"/>
            <a:ext cx="5741988" cy="1333500"/>
            <a:chOff x="165" y="1555"/>
            <a:chExt cx="3714" cy="967"/>
          </a:xfrm>
        </p:grpSpPr>
        <p:sp>
          <p:nvSpPr>
            <p:cNvPr id="18474" name="Oval 67"/>
            <p:cNvSpPr>
              <a:spLocks noChangeArrowheads="1"/>
            </p:cNvSpPr>
            <p:nvPr/>
          </p:nvSpPr>
          <p:spPr bwMode="auto">
            <a:xfrm>
              <a:off x="165" y="1555"/>
              <a:ext cx="1380" cy="249"/>
            </a:xfrm>
            <a:prstGeom prst="ellipse">
              <a:avLst/>
            </a:prstGeom>
            <a:noFill/>
            <a:ln w="12700">
              <a:solidFill>
                <a:srgbClr val="FFC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8475" name="Line 68"/>
            <p:cNvSpPr>
              <a:spLocks noChangeShapeType="1"/>
            </p:cNvSpPr>
            <p:nvPr/>
          </p:nvSpPr>
          <p:spPr bwMode="auto">
            <a:xfrm>
              <a:off x="1540" y="1684"/>
              <a:ext cx="2339" cy="838"/>
            </a:xfrm>
            <a:prstGeom prst="line">
              <a:avLst/>
            </a:prstGeom>
            <a:noFill/>
            <a:ln w="12700">
              <a:solidFill>
                <a:srgbClr val="FFC000"/>
              </a:solidFill>
              <a:round/>
              <a:headEnd type="none" w="sm" len="sm"/>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4" name="Group 69"/>
          <p:cNvGrpSpPr>
            <a:grpSpLocks/>
          </p:cNvGrpSpPr>
          <p:nvPr/>
        </p:nvGrpSpPr>
        <p:grpSpPr bwMode="auto">
          <a:xfrm>
            <a:off x="1676401" y="3012124"/>
            <a:ext cx="7751763" cy="1239837"/>
            <a:chOff x="12" y="1859"/>
            <a:chExt cx="4967" cy="781"/>
          </a:xfrm>
        </p:grpSpPr>
        <p:sp>
          <p:nvSpPr>
            <p:cNvPr id="18472" name="Oval 70"/>
            <p:cNvSpPr>
              <a:spLocks noChangeArrowheads="1"/>
            </p:cNvSpPr>
            <p:nvPr/>
          </p:nvSpPr>
          <p:spPr bwMode="auto">
            <a:xfrm>
              <a:off x="12" y="1859"/>
              <a:ext cx="1942" cy="537"/>
            </a:xfrm>
            <a:prstGeom prst="ellipse">
              <a:avLst/>
            </a:prstGeom>
            <a:noFill/>
            <a:ln w="12700">
              <a:solidFill>
                <a:srgbClr val="FFC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8473" name="Line 71"/>
            <p:cNvSpPr>
              <a:spLocks noChangeShapeType="1"/>
            </p:cNvSpPr>
            <p:nvPr/>
          </p:nvSpPr>
          <p:spPr bwMode="auto">
            <a:xfrm>
              <a:off x="1946" y="2138"/>
              <a:ext cx="3033" cy="502"/>
            </a:xfrm>
            <a:prstGeom prst="line">
              <a:avLst/>
            </a:prstGeom>
            <a:noFill/>
            <a:ln w="12700">
              <a:solidFill>
                <a:srgbClr val="FFC000"/>
              </a:solidFill>
              <a:round/>
              <a:headEnd type="none" w="sm" len="sm"/>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5" name="Group 72"/>
          <p:cNvGrpSpPr>
            <a:grpSpLocks/>
          </p:cNvGrpSpPr>
          <p:nvPr/>
        </p:nvGrpSpPr>
        <p:grpSpPr bwMode="auto">
          <a:xfrm>
            <a:off x="2667000" y="3810635"/>
            <a:ext cx="6781800" cy="539750"/>
            <a:chOff x="402" y="2362"/>
            <a:chExt cx="4542" cy="340"/>
          </a:xfrm>
        </p:grpSpPr>
        <p:sp>
          <p:nvSpPr>
            <p:cNvPr id="18470" name="Oval 73"/>
            <p:cNvSpPr>
              <a:spLocks noChangeArrowheads="1"/>
            </p:cNvSpPr>
            <p:nvPr/>
          </p:nvSpPr>
          <p:spPr bwMode="auto">
            <a:xfrm>
              <a:off x="402" y="2362"/>
              <a:ext cx="341" cy="201"/>
            </a:xfrm>
            <a:prstGeom prst="ellipse">
              <a:avLst/>
            </a:prstGeom>
            <a:noFill/>
            <a:ln w="12700">
              <a:solidFill>
                <a:srgbClr val="FFC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8471" name="Line 74"/>
            <p:cNvSpPr>
              <a:spLocks noChangeShapeType="1"/>
            </p:cNvSpPr>
            <p:nvPr/>
          </p:nvSpPr>
          <p:spPr bwMode="auto">
            <a:xfrm>
              <a:off x="750" y="2475"/>
              <a:ext cx="4194" cy="227"/>
            </a:xfrm>
            <a:prstGeom prst="line">
              <a:avLst/>
            </a:prstGeom>
            <a:noFill/>
            <a:ln w="12700">
              <a:solidFill>
                <a:srgbClr val="FFC000"/>
              </a:solidFill>
              <a:round/>
              <a:headEnd type="none" w="sm" len="sm"/>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6" name="Group 75"/>
          <p:cNvGrpSpPr>
            <a:grpSpLocks/>
          </p:cNvGrpSpPr>
          <p:nvPr/>
        </p:nvGrpSpPr>
        <p:grpSpPr bwMode="auto">
          <a:xfrm>
            <a:off x="1751014" y="4212274"/>
            <a:ext cx="7045325" cy="1717675"/>
            <a:chOff x="143" y="2615"/>
            <a:chExt cx="4438" cy="1082"/>
          </a:xfrm>
        </p:grpSpPr>
        <p:sp>
          <p:nvSpPr>
            <p:cNvPr id="18468" name="Oval 76"/>
            <p:cNvSpPr>
              <a:spLocks noChangeArrowheads="1"/>
            </p:cNvSpPr>
            <p:nvPr/>
          </p:nvSpPr>
          <p:spPr bwMode="auto">
            <a:xfrm>
              <a:off x="143" y="2615"/>
              <a:ext cx="3933" cy="249"/>
            </a:xfrm>
            <a:prstGeom prst="ellipse">
              <a:avLst/>
            </a:prstGeom>
            <a:noFill/>
            <a:ln w="12700">
              <a:solidFill>
                <a:srgbClr val="FFC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8469" name="Line 77"/>
            <p:cNvSpPr>
              <a:spLocks noChangeShapeType="1"/>
            </p:cNvSpPr>
            <p:nvPr/>
          </p:nvSpPr>
          <p:spPr bwMode="auto">
            <a:xfrm>
              <a:off x="3909" y="2780"/>
              <a:ext cx="672" cy="917"/>
            </a:xfrm>
            <a:prstGeom prst="line">
              <a:avLst/>
            </a:prstGeom>
            <a:noFill/>
            <a:ln w="12700">
              <a:solidFill>
                <a:srgbClr val="FFC000"/>
              </a:solidFill>
              <a:round/>
              <a:headEnd type="none" w="sm" len="sm"/>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7" name="Group 78"/>
          <p:cNvGrpSpPr>
            <a:grpSpLocks/>
          </p:cNvGrpSpPr>
          <p:nvPr/>
        </p:nvGrpSpPr>
        <p:grpSpPr bwMode="auto">
          <a:xfrm>
            <a:off x="1905000" y="4674236"/>
            <a:ext cx="8153400" cy="1808163"/>
            <a:chOff x="12" y="2906"/>
            <a:chExt cx="5329" cy="1139"/>
          </a:xfrm>
        </p:grpSpPr>
        <p:sp>
          <p:nvSpPr>
            <p:cNvPr id="18466" name="Oval 79"/>
            <p:cNvSpPr>
              <a:spLocks noChangeArrowheads="1"/>
            </p:cNvSpPr>
            <p:nvPr/>
          </p:nvSpPr>
          <p:spPr bwMode="auto">
            <a:xfrm>
              <a:off x="12" y="2906"/>
              <a:ext cx="2936" cy="1139"/>
            </a:xfrm>
            <a:prstGeom prst="ellipse">
              <a:avLst/>
            </a:prstGeom>
            <a:noFill/>
            <a:ln w="12700">
              <a:solidFill>
                <a:srgbClr val="FFC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8467" name="Line 80"/>
            <p:cNvSpPr>
              <a:spLocks noChangeShapeType="1"/>
            </p:cNvSpPr>
            <p:nvPr/>
          </p:nvSpPr>
          <p:spPr bwMode="auto">
            <a:xfrm>
              <a:off x="2940" y="3491"/>
              <a:ext cx="2401" cy="336"/>
            </a:xfrm>
            <a:prstGeom prst="line">
              <a:avLst/>
            </a:prstGeom>
            <a:noFill/>
            <a:ln w="12700">
              <a:solidFill>
                <a:srgbClr val="FFC000"/>
              </a:solidFill>
              <a:round/>
              <a:headEnd type="none" w="sm" len="sm"/>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81" name="Text Box 59"/>
          <p:cNvSpPr txBox="1">
            <a:spLocks noChangeArrowheads="1"/>
          </p:cNvSpPr>
          <p:nvPr/>
        </p:nvSpPr>
        <p:spPr bwMode="auto">
          <a:xfrm>
            <a:off x="9372600" y="1127761"/>
            <a:ext cx="1112838" cy="266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auto" latinLnBrk="0" hangingPunct="1">
              <a:lnSpc>
                <a:spcPct val="50000"/>
              </a:lnSpc>
              <a:spcBef>
                <a:spcPct val="50000"/>
              </a:spcBef>
              <a:spcAft>
                <a:spcPts val="0"/>
              </a:spcAft>
              <a:buClrTx/>
              <a:buSzTx/>
              <a:buFontTx/>
              <a:buNone/>
              <a:tabLst/>
              <a:defRPr/>
            </a:pPr>
            <a:r>
              <a:rPr kumimoji="0" lang="en-US" altLang="en-US" sz="2000" b="0" i="0" u="none" strike="noStrike" kern="1200" cap="none" spc="0" normalizeH="0" baseline="0" noProof="0">
                <a:ln>
                  <a:noFill/>
                </a:ln>
                <a:solidFill>
                  <a:srgbClr val="FF3300"/>
                </a:solidFill>
                <a:effectLst/>
                <a:uLnTx/>
                <a:uFillTx/>
                <a:latin typeface="Arial" pitchFamily="34" charset="0"/>
                <a:ea typeface="+mn-ea"/>
                <a:cs typeface="+mn-cs"/>
              </a:rPr>
              <a:t>start</a:t>
            </a:r>
          </a:p>
        </p:txBody>
      </p:sp>
      <p:grpSp>
        <p:nvGrpSpPr>
          <p:cNvPr id="28" name="Group 21"/>
          <p:cNvGrpSpPr>
            <a:grpSpLocks/>
          </p:cNvGrpSpPr>
          <p:nvPr/>
        </p:nvGrpSpPr>
        <p:grpSpPr bwMode="auto">
          <a:xfrm rot="485629">
            <a:off x="3406776" y="2454910"/>
            <a:ext cx="5313363" cy="319088"/>
            <a:chOff x="388" y="1310"/>
            <a:chExt cx="4006" cy="201"/>
          </a:xfrm>
        </p:grpSpPr>
        <p:sp>
          <p:nvSpPr>
            <p:cNvPr id="18464" name="Oval 22"/>
            <p:cNvSpPr>
              <a:spLocks noChangeArrowheads="1"/>
            </p:cNvSpPr>
            <p:nvPr/>
          </p:nvSpPr>
          <p:spPr bwMode="auto">
            <a:xfrm>
              <a:off x="388" y="1310"/>
              <a:ext cx="341" cy="201"/>
            </a:xfrm>
            <a:prstGeom prst="ellipse">
              <a:avLst/>
            </a:prstGeom>
            <a:noFill/>
            <a:ln w="12700">
              <a:solidFill>
                <a:srgbClr val="FFC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8465" name="Line 23"/>
            <p:cNvSpPr>
              <a:spLocks noChangeShapeType="1"/>
            </p:cNvSpPr>
            <p:nvPr/>
          </p:nvSpPr>
          <p:spPr bwMode="auto">
            <a:xfrm>
              <a:off x="733" y="1414"/>
              <a:ext cx="3661" cy="9"/>
            </a:xfrm>
            <a:prstGeom prst="line">
              <a:avLst/>
            </a:prstGeom>
            <a:noFill/>
            <a:ln w="12700">
              <a:solidFill>
                <a:srgbClr val="FFC000"/>
              </a:solidFill>
              <a:round/>
              <a:headEnd type="none" w="sm" len="sm"/>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391861369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10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1"/>
                                        </p:tgtEl>
                                        <p:attrNameLst>
                                          <p:attrName>style.visibility</p:attrName>
                                        </p:attrNameLst>
                                      </p:cBhvr>
                                      <p:to>
                                        <p:strVal val="visible"/>
                                      </p:to>
                                    </p:set>
                                    <p:animEffect transition="in" filter="wipe(left)">
                                      <p:cBhvr>
                                        <p:cTn id="12" dur="1000"/>
                                        <p:tgtEl>
                                          <p:spTgt spid="8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1000"/>
                                        <p:tgtEl>
                                          <p:spTgt spid="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wipe(left)">
                                      <p:cBhvr>
                                        <p:cTn id="22" dur="1000"/>
                                        <p:tgtEl>
                                          <p:spTgt spid="28"/>
                                        </p:tgtEl>
                                      </p:cBhvr>
                                    </p:animEffect>
                                  </p:childTnLst>
                                </p:cTn>
                              </p:par>
                            </p:childTnLst>
                          </p:cTn>
                        </p:par>
                        <p:par>
                          <p:cTn id="23" fill="hold" nodeType="afterGroup">
                            <p:stCondLst>
                              <p:cond delay="1000"/>
                            </p:stCondLst>
                            <p:childTnLst>
                              <p:par>
                                <p:cTn id="24" presetID="9" presetClass="entr" presetSubtype="0" fill="hold" nodeType="after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dissolve">
                                      <p:cBhvr>
                                        <p:cTn id="26" dur="500"/>
                                        <p:tgtEl>
                                          <p:spTgt spid="9"/>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9" presetClass="entr" presetSubtype="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dissolve">
                                      <p:cBhvr>
                                        <p:cTn id="31" dur="1000"/>
                                        <p:tgtEl>
                                          <p:spTgt spid="11"/>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23"/>
                                        </p:tgtEl>
                                        <p:attrNameLst>
                                          <p:attrName>style.visibility</p:attrName>
                                        </p:attrNameLst>
                                      </p:cBhvr>
                                      <p:to>
                                        <p:strVal val="visible"/>
                                      </p:to>
                                    </p:set>
                                    <p:animEffect transition="in" filter="wipe(left)">
                                      <p:cBhvr>
                                        <p:cTn id="36" dur="1000"/>
                                        <p:tgtEl>
                                          <p:spTgt spid="23"/>
                                        </p:tgtEl>
                                      </p:cBhvr>
                                    </p:animEffect>
                                  </p:childTnLst>
                                </p:cTn>
                              </p:par>
                            </p:childTnLst>
                          </p:cTn>
                        </p:par>
                        <p:par>
                          <p:cTn id="37" fill="hold" nodeType="afterGroup">
                            <p:stCondLst>
                              <p:cond delay="1000"/>
                            </p:stCondLst>
                            <p:childTnLst>
                              <p:par>
                                <p:cTn id="38" presetID="9" presetClass="entr" presetSubtype="0" fill="hold"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dissolve">
                                      <p:cBhvr>
                                        <p:cTn id="40" dur="500"/>
                                        <p:tgtEl>
                                          <p:spTgt spid="15"/>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wipe(left)">
                                      <p:cBhvr>
                                        <p:cTn id="45" dur="1000"/>
                                        <p:tgtEl>
                                          <p:spTgt spid="24"/>
                                        </p:tgtEl>
                                      </p:cBhvr>
                                    </p:animEffect>
                                  </p:childTnLst>
                                </p:cTn>
                              </p:par>
                            </p:childTnLst>
                          </p:cTn>
                        </p:par>
                        <p:par>
                          <p:cTn id="46" fill="hold" nodeType="afterGroup">
                            <p:stCondLst>
                              <p:cond delay="1000"/>
                            </p:stCondLst>
                            <p:childTnLst>
                              <p:par>
                                <p:cTn id="47" presetID="9" presetClass="entr" presetSubtype="0" fill="hold" nodeType="after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dissolve">
                                      <p:cBhvr>
                                        <p:cTn id="49" dur="500"/>
                                        <p:tgtEl>
                                          <p:spTgt spid="13"/>
                                        </p:tgtEl>
                                      </p:cBhvr>
                                    </p:animEffect>
                                  </p:childTnLst>
                                </p:cTn>
                              </p:par>
                            </p:childTnLst>
                          </p:cTn>
                        </p:par>
                        <p:par>
                          <p:cTn id="50" fill="hold" nodeType="afterGroup">
                            <p:stCondLst>
                              <p:cond delay="1500"/>
                            </p:stCondLst>
                            <p:childTnLst>
                              <p:par>
                                <p:cTn id="51" presetID="22" presetClass="entr" presetSubtype="8" fill="hold" nodeType="after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wipe(left)">
                                      <p:cBhvr>
                                        <p:cTn id="53" dur="500"/>
                                        <p:tgtEl>
                                          <p:spTgt spid="25"/>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9" presetClass="entr" presetSubtype="0" fill="hold" nodeType="click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dissolve">
                                      <p:cBhvr>
                                        <p:cTn id="58" dur="1000"/>
                                        <p:tgtEl>
                                          <p:spTgt spid="17"/>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nodeType="clickEffect">
                                  <p:stCondLst>
                                    <p:cond delay="0"/>
                                  </p:stCondLst>
                                  <p:childTnLst>
                                    <p:set>
                                      <p:cBhvr>
                                        <p:cTn id="62" dur="1" fill="hold">
                                          <p:stCondLst>
                                            <p:cond delay="0"/>
                                          </p:stCondLst>
                                        </p:cTn>
                                        <p:tgtEl>
                                          <p:spTgt spid="26"/>
                                        </p:tgtEl>
                                        <p:attrNameLst>
                                          <p:attrName>style.visibility</p:attrName>
                                        </p:attrNameLst>
                                      </p:cBhvr>
                                      <p:to>
                                        <p:strVal val="visible"/>
                                      </p:to>
                                    </p:set>
                                    <p:animEffect transition="in" filter="wipe(left)">
                                      <p:cBhvr>
                                        <p:cTn id="63" dur="1000"/>
                                        <p:tgtEl>
                                          <p:spTgt spid="26"/>
                                        </p:tgtEl>
                                      </p:cBhvr>
                                    </p:animEffect>
                                  </p:childTnLst>
                                </p:cTn>
                              </p:par>
                            </p:childTnLst>
                          </p:cTn>
                        </p:par>
                        <p:par>
                          <p:cTn id="64" fill="hold" nodeType="afterGroup">
                            <p:stCondLst>
                              <p:cond delay="1000"/>
                            </p:stCondLst>
                            <p:childTnLst>
                              <p:par>
                                <p:cTn id="65" presetID="9" presetClass="entr" presetSubtype="0" fill="hold" nodeType="after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dissolve">
                                      <p:cBhvr>
                                        <p:cTn id="67" dur="500"/>
                                        <p:tgtEl>
                                          <p:spTgt spid="21"/>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27"/>
                                        </p:tgtEl>
                                        <p:attrNameLst>
                                          <p:attrName>style.visibility</p:attrName>
                                        </p:attrNameLst>
                                      </p:cBhvr>
                                      <p:to>
                                        <p:strVal val="visible"/>
                                      </p:to>
                                    </p:set>
                                    <p:animEffect transition="in" filter="wipe(left)">
                                      <p:cBhvr>
                                        <p:cTn id="72" dur="1000"/>
                                        <p:tgtEl>
                                          <p:spTgt spid="27"/>
                                        </p:tgtEl>
                                      </p:cBhvr>
                                    </p:animEffect>
                                  </p:childTnLst>
                                </p:cTn>
                              </p:par>
                            </p:childTnLst>
                          </p:cTn>
                        </p:par>
                        <p:par>
                          <p:cTn id="73" fill="hold" nodeType="afterGroup">
                            <p:stCondLst>
                              <p:cond delay="1000"/>
                            </p:stCondLst>
                            <p:childTnLst>
                              <p:par>
                                <p:cTn id="74" presetID="9" presetClass="entr" presetSubtype="0" fill="hold" nodeType="afterEffect">
                                  <p:stCondLst>
                                    <p:cond delay="0"/>
                                  </p:stCondLst>
                                  <p:childTnLst>
                                    <p:set>
                                      <p:cBhvr>
                                        <p:cTn id="75" dur="1" fill="hold">
                                          <p:stCondLst>
                                            <p:cond delay="0"/>
                                          </p:stCondLst>
                                        </p:cTn>
                                        <p:tgtEl>
                                          <p:spTgt spid="19"/>
                                        </p:tgtEl>
                                        <p:attrNameLst>
                                          <p:attrName>style.visibility</p:attrName>
                                        </p:attrNameLst>
                                      </p:cBhvr>
                                      <p:to>
                                        <p:strVal val="visible"/>
                                      </p:to>
                                    </p:set>
                                    <p:animEffect transition="in" filter="dissolve">
                                      <p:cBhvr>
                                        <p:cTn id="76" dur="500"/>
                                        <p:tgtEl>
                                          <p:spTgt spid="19"/>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202811"/>
                                        </p:tgtEl>
                                        <p:attrNameLst>
                                          <p:attrName>style.visibility</p:attrName>
                                        </p:attrNameLst>
                                      </p:cBhvr>
                                      <p:to>
                                        <p:strVal val="visible"/>
                                      </p:to>
                                    </p:set>
                                    <p:animEffect transition="in" filter="wipe(left)">
                                      <p:cBhvr>
                                        <p:cTn id="81" dur="1000"/>
                                        <p:tgtEl>
                                          <p:spTgt spid="202811"/>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8" fill="hold" nodeType="clickEffect">
                                  <p:stCondLst>
                                    <p:cond delay="0"/>
                                  </p:stCondLst>
                                  <p:childTnLst>
                                    <p:set>
                                      <p:cBhvr>
                                        <p:cTn id="85" dur="1" fill="hold">
                                          <p:stCondLst>
                                            <p:cond delay="0"/>
                                          </p:stCondLst>
                                        </p:cTn>
                                        <p:tgtEl>
                                          <p:spTgt spid="4"/>
                                        </p:tgtEl>
                                        <p:attrNameLst>
                                          <p:attrName>style.visibility</p:attrName>
                                        </p:attrNameLst>
                                      </p:cBhvr>
                                      <p:to>
                                        <p:strVal val="visible"/>
                                      </p:to>
                                    </p:set>
                                    <p:animEffect transition="in" filter="wipe(left)">
                                      <p:cBhvr>
                                        <p:cTn id="86" dur="1000"/>
                                        <p:tgtEl>
                                          <p:spTgt spid="4"/>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22" presetClass="entr" presetSubtype="8" fill="hold" grpId="0" nodeType="clickEffect">
                                  <p:stCondLst>
                                    <p:cond delay="0"/>
                                  </p:stCondLst>
                                  <p:childTnLst>
                                    <p:set>
                                      <p:cBhvr>
                                        <p:cTn id="90" dur="1" fill="hold">
                                          <p:stCondLst>
                                            <p:cond delay="0"/>
                                          </p:stCondLst>
                                        </p:cTn>
                                        <p:tgtEl>
                                          <p:spTgt spid="202816"/>
                                        </p:tgtEl>
                                        <p:attrNameLst>
                                          <p:attrName>style.visibility</p:attrName>
                                        </p:attrNameLst>
                                      </p:cBhvr>
                                      <p:to>
                                        <p:strVal val="visible"/>
                                      </p:to>
                                    </p:set>
                                    <p:animEffect transition="in" filter="wipe(left)">
                                      <p:cBhvr>
                                        <p:cTn id="91" dur="1000"/>
                                        <p:tgtEl>
                                          <p:spTgt spid="202816"/>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22" presetClass="entr" presetSubtype="8" fill="hold" grpId="0" nodeType="clickEffect">
                                  <p:stCondLst>
                                    <p:cond delay="0"/>
                                  </p:stCondLst>
                                  <p:childTnLst>
                                    <p:set>
                                      <p:cBhvr>
                                        <p:cTn id="95" dur="1" fill="hold">
                                          <p:stCondLst>
                                            <p:cond delay="0"/>
                                          </p:stCondLst>
                                        </p:cTn>
                                        <p:tgtEl>
                                          <p:spTgt spid="2"/>
                                        </p:tgtEl>
                                        <p:attrNameLst>
                                          <p:attrName>style.visibility</p:attrName>
                                        </p:attrNameLst>
                                      </p:cBhvr>
                                      <p:to>
                                        <p:strVal val="visible"/>
                                      </p:to>
                                    </p:set>
                                    <p:animEffect transition="in" filter="wipe(left)">
                                      <p:cBhvr>
                                        <p:cTn id="96" dur="1000"/>
                                        <p:tgtEl>
                                          <p:spTgt spid="2"/>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22" presetClass="entr" presetSubtype="8" fill="hold" nodeType="clickEffect">
                                  <p:stCondLst>
                                    <p:cond delay="0"/>
                                  </p:stCondLst>
                                  <p:childTnLst>
                                    <p:set>
                                      <p:cBhvr>
                                        <p:cTn id="100" dur="1" fill="hold">
                                          <p:stCondLst>
                                            <p:cond delay="0"/>
                                          </p:stCondLst>
                                        </p:cTn>
                                        <p:tgtEl>
                                          <p:spTgt spid="5"/>
                                        </p:tgtEl>
                                        <p:attrNameLst>
                                          <p:attrName>style.visibility</p:attrName>
                                        </p:attrNameLst>
                                      </p:cBhvr>
                                      <p:to>
                                        <p:strVal val="visible"/>
                                      </p:to>
                                    </p:set>
                                    <p:animEffect transition="in" filter="wipe(left)">
                                      <p:cBhvr>
                                        <p:cTn id="101" dur="1000"/>
                                        <p:tgtEl>
                                          <p:spTgt spid="5"/>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22" presetClass="entr" presetSubtype="8" fill="hold" grpId="0" nodeType="clickEffect">
                                  <p:stCondLst>
                                    <p:cond delay="0"/>
                                  </p:stCondLst>
                                  <p:childTnLst>
                                    <p:set>
                                      <p:cBhvr>
                                        <p:cTn id="105" dur="1" fill="hold">
                                          <p:stCondLst>
                                            <p:cond delay="0"/>
                                          </p:stCondLst>
                                        </p:cTn>
                                        <p:tgtEl>
                                          <p:spTgt spid="3"/>
                                        </p:tgtEl>
                                        <p:attrNameLst>
                                          <p:attrName>style.visibility</p:attrName>
                                        </p:attrNameLst>
                                      </p:cBhvr>
                                      <p:to>
                                        <p:strVal val="visible"/>
                                      </p:to>
                                    </p:set>
                                    <p:animEffect transition="in" filter="wipe(left)">
                                      <p:cBhvr>
                                        <p:cTn id="106"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811" grpId="0"/>
      <p:bldP spid="202816" grpId="0"/>
      <p:bldP spid="2" grpId="0"/>
      <p:bldP spid="3" grpId="0"/>
      <p:bldP spid="8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Rectangle 3"/>
          <p:cNvSpPr>
            <a:spLocks noGrp="1" noChangeArrowheads="1"/>
          </p:cNvSpPr>
          <p:nvPr>
            <p:ph type="body" idx="1"/>
          </p:nvPr>
        </p:nvSpPr>
        <p:spPr>
          <a:xfrm>
            <a:off x="292533" y="187004"/>
            <a:ext cx="3846639" cy="5604402"/>
          </a:xfrm>
        </p:spPr>
        <p:txBody>
          <a:bodyPr anchor="t">
            <a:noAutofit/>
          </a:bodyPr>
          <a:lstStyle/>
          <a:p>
            <a:pPr marL="0" indent="0" algn="l">
              <a:buNone/>
            </a:pPr>
            <a:r>
              <a:rPr lang="en-US" sz="2600" b="0" i="0" dirty="0">
                <a:solidFill>
                  <a:srgbClr val="2D3B45"/>
                </a:solidFill>
                <a:effectLst/>
                <a:latin typeface="Lato Extended"/>
              </a:rPr>
              <a:t>read(a, b, c, d);</a:t>
            </a:r>
            <a:br>
              <a:rPr lang="en-US" sz="2600" b="0" i="0" dirty="0">
                <a:solidFill>
                  <a:srgbClr val="2D3B45"/>
                </a:solidFill>
                <a:effectLst/>
                <a:latin typeface="Lato Extended"/>
              </a:rPr>
            </a:br>
            <a:r>
              <a:rPr lang="en-US" sz="2600" b="0" i="0" dirty="0">
                <a:solidFill>
                  <a:srgbClr val="2D3B45"/>
                </a:solidFill>
                <a:effectLst/>
                <a:latin typeface="Lato Extended"/>
              </a:rPr>
              <a:t>if a &lt; b then</a:t>
            </a:r>
            <a:br>
              <a:rPr lang="en-US" sz="2600" b="0" i="0" dirty="0">
                <a:solidFill>
                  <a:srgbClr val="2D3B45"/>
                </a:solidFill>
                <a:effectLst/>
                <a:latin typeface="Lato Extended"/>
              </a:rPr>
            </a:br>
            <a:r>
              <a:rPr lang="en-US" sz="2600" b="0" i="0" dirty="0">
                <a:solidFill>
                  <a:srgbClr val="2D3B45"/>
                </a:solidFill>
                <a:effectLst/>
                <a:latin typeface="Lato Extended"/>
              </a:rPr>
              <a:t>    if c &gt; d then</a:t>
            </a:r>
            <a:br>
              <a:rPr lang="en-US" sz="2600" b="0" i="0" dirty="0">
                <a:solidFill>
                  <a:srgbClr val="2D3B45"/>
                </a:solidFill>
                <a:effectLst/>
                <a:latin typeface="Lato Extended"/>
              </a:rPr>
            </a:br>
            <a:r>
              <a:rPr lang="en-US" sz="2600" b="0" i="0" dirty="0">
                <a:solidFill>
                  <a:srgbClr val="2D3B45"/>
                </a:solidFill>
                <a:effectLst/>
                <a:latin typeface="Lato Extended"/>
              </a:rPr>
              <a:t>        x := 1</a:t>
            </a:r>
            <a:br>
              <a:rPr lang="en-US" sz="2600" b="0" i="0" dirty="0">
                <a:solidFill>
                  <a:srgbClr val="2D3B45"/>
                </a:solidFill>
                <a:effectLst/>
                <a:latin typeface="Lato Extended"/>
              </a:rPr>
            </a:br>
            <a:r>
              <a:rPr lang="en-US" sz="2600" b="0" i="0" dirty="0">
                <a:solidFill>
                  <a:srgbClr val="2D3B45"/>
                </a:solidFill>
                <a:effectLst/>
                <a:latin typeface="Lato Extended"/>
              </a:rPr>
              <a:t>    else</a:t>
            </a:r>
            <a:br>
              <a:rPr lang="en-US" sz="2600" b="0" i="0" dirty="0">
                <a:solidFill>
                  <a:srgbClr val="2D3B45"/>
                </a:solidFill>
                <a:effectLst/>
                <a:latin typeface="Lato Extended"/>
              </a:rPr>
            </a:br>
            <a:r>
              <a:rPr lang="en-US" sz="2600" b="0" i="0" dirty="0">
                <a:solidFill>
                  <a:srgbClr val="2D3B45"/>
                </a:solidFill>
                <a:effectLst/>
                <a:latin typeface="Lato Extended"/>
              </a:rPr>
              <a:t>        if c = d then</a:t>
            </a:r>
            <a:br>
              <a:rPr lang="en-US" sz="2600" b="0" i="0" dirty="0">
                <a:solidFill>
                  <a:srgbClr val="2D3B45"/>
                </a:solidFill>
                <a:effectLst/>
                <a:latin typeface="Lato Extended"/>
              </a:rPr>
            </a:br>
            <a:r>
              <a:rPr lang="en-US" sz="2600" b="0" i="0" dirty="0">
                <a:solidFill>
                  <a:srgbClr val="2D3B45"/>
                </a:solidFill>
                <a:effectLst/>
                <a:latin typeface="Lato Extended"/>
              </a:rPr>
              <a:t>            x := 2</a:t>
            </a:r>
            <a:br>
              <a:rPr lang="en-US" sz="2600" b="0" i="0" dirty="0">
                <a:solidFill>
                  <a:srgbClr val="2D3B45"/>
                </a:solidFill>
                <a:effectLst/>
                <a:latin typeface="Lato Extended"/>
              </a:rPr>
            </a:br>
            <a:r>
              <a:rPr lang="en-US" sz="2600" b="0" i="0" dirty="0">
                <a:solidFill>
                  <a:srgbClr val="2D3B45"/>
                </a:solidFill>
                <a:effectLst/>
                <a:latin typeface="Lato Extended"/>
              </a:rPr>
              <a:t>        else</a:t>
            </a:r>
            <a:br>
              <a:rPr lang="en-US" sz="2600" b="0" i="0" dirty="0">
                <a:solidFill>
                  <a:srgbClr val="2D3B45"/>
                </a:solidFill>
                <a:effectLst/>
                <a:latin typeface="Lato Extended"/>
              </a:rPr>
            </a:br>
            <a:r>
              <a:rPr lang="en-US" sz="2600" b="0" i="0" dirty="0">
                <a:solidFill>
                  <a:srgbClr val="2D3B45"/>
                </a:solidFill>
                <a:effectLst/>
                <a:latin typeface="Lato Extended"/>
              </a:rPr>
              <a:t>            x := 3</a:t>
            </a:r>
            <a:br>
              <a:rPr lang="en-US" sz="2600" b="0" i="0" dirty="0">
                <a:solidFill>
                  <a:srgbClr val="2D3B45"/>
                </a:solidFill>
                <a:effectLst/>
                <a:latin typeface="Lato Extended"/>
              </a:rPr>
            </a:br>
            <a:r>
              <a:rPr lang="en-US" sz="2600" b="0" i="0" dirty="0">
                <a:solidFill>
                  <a:srgbClr val="2D3B45"/>
                </a:solidFill>
                <a:effectLst/>
                <a:latin typeface="Lato Extended"/>
              </a:rPr>
              <a:t>else</a:t>
            </a:r>
            <a:br>
              <a:rPr lang="en-US" sz="2600" b="0" i="0" dirty="0">
                <a:solidFill>
                  <a:srgbClr val="2D3B45"/>
                </a:solidFill>
                <a:effectLst/>
                <a:latin typeface="Lato Extended"/>
              </a:rPr>
            </a:br>
            <a:r>
              <a:rPr lang="en-US" sz="2600" b="0" i="0" dirty="0">
                <a:solidFill>
                  <a:srgbClr val="2D3B45"/>
                </a:solidFill>
                <a:effectLst/>
                <a:latin typeface="Lato Extended"/>
              </a:rPr>
              <a:t>    if a = b then</a:t>
            </a:r>
            <a:br>
              <a:rPr lang="en-US" sz="2600" b="0" i="0" dirty="0">
                <a:solidFill>
                  <a:srgbClr val="2D3B45"/>
                </a:solidFill>
                <a:effectLst/>
                <a:latin typeface="Lato Extended"/>
              </a:rPr>
            </a:br>
            <a:r>
              <a:rPr lang="en-US" sz="2600" b="0" i="0" dirty="0">
                <a:solidFill>
                  <a:srgbClr val="2D3B45"/>
                </a:solidFill>
                <a:effectLst/>
                <a:latin typeface="Lato Extended"/>
              </a:rPr>
              <a:t>        x := 4</a:t>
            </a:r>
            <a:br>
              <a:rPr lang="en-US" sz="2600" b="0" i="0" dirty="0">
                <a:solidFill>
                  <a:srgbClr val="2D3B45"/>
                </a:solidFill>
                <a:effectLst/>
                <a:latin typeface="Lato Extended"/>
              </a:rPr>
            </a:br>
            <a:r>
              <a:rPr lang="en-US" sz="2600" b="0" i="0" dirty="0">
                <a:solidFill>
                  <a:srgbClr val="2D3B45"/>
                </a:solidFill>
                <a:effectLst/>
                <a:latin typeface="Lato Extended"/>
              </a:rPr>
              <a:t>    else</a:t>
            </a:r>
            <a:br>
              <a:rPr lang="en-US" sz="2600" b="0" i="0" dirty="0">
                <a:solidFill>
                  <a:srgbClr val="2D3B45"/>
                </a:solidFill>
                <a:effectLst/>
                <a:latin typeface="Lato Extended"/>
              </a:rPr>
            </a:br>
            <a:r>
              <a:rPr lang="en-US" sz="2600" b="0" i="0" dirty="0">
                <a:solidFill>
                  <a:srgbClr val="2D3B45"/>
                </a:solidFill>
                <a:effectLst/>
                <a:latin typeface="Lato Extended"/>
              </a:rPr>
              <a:t>        if c = d then</a:t>
            </a:r>
            <a:br>
              <a:rPr lang="en-US" sz="2600" b="0" i="0" dirty="0">
                <a:solidFill>
                  <a:srgbClr val="2D3B45"/>
                </a:solidFill>
                <a:effectLst/>
                <a:latin typeface="Lato Extended"/>
              </a:rPr>
            </a:br>
            <a:r>
              <a:rPr lang="en-US" sz="2600" b="0" i="0" dirty="0">
                <a:solidFill>
                  <a:srgbClr val="2D3B45"/>
                </a:solidFill>
                <a:effectLst/>
                <a:latin typeface="Lato Extended"/>
              </a:rPr>
              <a:t>            x := 5</a:t>
            </a:r>
            <a:br>
              <a:rPr lang="en-US" sz="2600" b="0" i="0" dirty="0">
                <a:solidFill>
                  <a:srgbClr val="2D3B45"/>
                </a:solidFill>
                <a:effectLst/>
                <a:latin typeface="Lato Extended"/>
              </a:rPr>
            </a:br>
            <a:r>
              <a:rPr lang="en-US" sz="2600" b="0" i="0" dirty="0">
                <a:solidFill>
                  <a:srgbClr val="2D3B45"/>
                </a:solidFill>
                <a:effectLst/>
                <a:latin typeface="Lato Extended"/>
              </a:rPr>
              <a:t>        else</a:t>
            </a:r>
            <a:br>
              <a:rPr lang="en-US" sz="2600" b="0" i="0" dirty="0">
                <a:solidFill>
                  <a:srgbClr val="2D3B45"/>
                </a:solidFill>
                <a:effectLst/>
                <a:latin typeface="Lato Extended"/>
              </a:rPr>
            </a:br>
            <a:r>
              <a:rPr lang="en-US" sz="2600" b="0" i="0" dirty="0">
                <a:solidFill>
                  <a:srgbClr val="2D3B45"/>
                </a:solidFill>
                <a:effectLst/>
                <a:latin typeface="Lato Extended"/>
              </a:rPr>
              <a:t>            x := 6;</a:t>
            </a:r>
          </a:p>
          <a:p>
            <a:pPr marL="0" indent="0" algn="l">
              <a:buNone/>
            </a:pPr>
            <a:r>
              <a:rPr lang="en-US" sz="2600" b="0" i="0" dirty="0">
                <a:solidFill>
                  <a:srgbClr val="2D3B45"/>
                </a:solidFill>
                <a:effectLst/>
                <a:latin typeface="Lato Extended"/>
              </a:rPr>
              <a:t>write(x);</a:t>
            </a:r>
          </a:p>
        </p:txBody>
      </p:sp>
      <p:pic>
        <p:nvPicPr>
          <p:cNvPr id="7" name="Picture 7">
            <a:extLst>
              <a:ext uri="{FF2B5EF4-FFF2-40B4-BE49-F238E27FC236}">
                <a16:creationId xmlns:a16="http://schemas.microsoft.com/office/drawing/2014/main" id="{7A984D01-3D07-4500-B8E8-54B6972644BB}"/>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703214" y="1028220"/>
            <a:ext cx="6903720" cy="529860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2" name="灯片编号占位符 5"/>
          <p:cNvSpPr>
            <a:spLocks noGrp="1"/>
          </p:cNvSpPr>
          <p:nvPr>
            <p:ph type="sldNum" sz="quarter" idx="12"/>
          </p:nvPr>
        </p:nvSpPr>
        <p:spPr>
          <a:xfrm>
            <a:off x="8610600" y="65087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base" latinLnBrk="0" hangingPunct="1">
              <a:lnSpc>
                <a:spcPct val="100000"/>
              </a:lnSpc>
              <a:spcBef>
                <a:spcPct val="0"/>
              </a:spcBef>
              <a:spcAft>
                <a:spcPts val="600"/>
              </a:spcAft>
              <a:buClrTx/>
              <a:buSzTx/>
              <a:buFontTx/>
              <a:buNone/>
              <a:tabLst/>
              <a:defRPr/>
            </a:pPr>
            <a:fld id="{71C540F3-9746-461E-86EA-4973D3ABD5D3}" type="slidenum">
              <a:rPr kumimoji="0" lang="en-CA" altLang="zh-CN" sz="1200" b="1" i="0" u="none" strike="noStrike" kern="1200" cap="none" spc="0" normalizeH="0" baseline="0" noProof="0">
                <a:ln>
                  <a:noFill/>
                </a:ln>
                <a:solidFill>
                  <a:prstClr val="black"/>
                </a:solidFill>
                <a:effectLst/>
                <a:uLnTx/>
                <a:uFillTx/>
                <a:latin typeface="Arial" pitchFamily="34" charset="0"/>
                <a:ea typeface="SimSun" pitchFamily="2" charset="-122"/>
                <a:cs typeface="+mn-cs"/>
              </a:rPr>
              <a:pPr marL="0" marR="0" lvl="0" indent="0" algn="r" defTabSz="914400" rtl="0" eaLnBrk="1" fontAlgn="base" latinLnBrk="0" hangingPunct="1">
                <a:lnSpc>
                  <a:spcPct val="100000"/>
                </a:lnSpc>
                <a:spcBef>
                  <a:spcPct val="0"/>
                </a:spcBef>
                <a:spcAft>
                  <a:spcPts val="600"/>
                </a:spcAft>
                <a:buClrTx/>
                <a:buSzTx/>
                <a:buFontTx/>
                <a:buNone/>
                <a:tabLst/>
                <a:defRPr/>
              </a:pPr>
              <a:t>14</a:t>
            </a:fld>
            <a:endParaRPr kumimoji="0" lang="en-CA" altLang="zh-CN" sz="1200" b="1" i="0" u="none" strike="noStrike" kern="1200" cap="none" spc="0" normalizeH="0" baseline="0" noProof="0" dirty="0">
              <a:ln>
                <a:noFill/>
              </a:ln>
              <a:solidFill>
                <a:prstClr val="black"/>
              </a:solidFill>
              <a:effectLst/>
              <a:uLnTx/>
              <a:uFillTx/>
              <a:latin typeface="Arial" pitchFamily="34" charset="0"/>
              <a:ea typeface="SimSun" pitchFamily="2" charset="-122"/>
              <a:cs typeface="+mn-cs"/>
            </a:endParaRPr>
          </a:p>
        </p:txBody>
      </p:sp>
      <p:sp>
        <p:nvSpPr>
          <p:cNvPr id="18" name="Text Box 1046">
            <a:extLst>
              <a:ext uri="{FF2B5EF4-FFF2-40B4-BE49-F238E27FC236}">
                <a16:creationId xmlns:a16="http://schemas.microsoft.com/office/drawing/2014/main" id="{24DBD860-B0A3-45B4-B81C-4FA78035ACC1}"/>
              </a:ext>
            </a:extLst>
          </p:cNvPr>
          <p:cNvSpPr txBox="1">
            <a:spLocks noChangeArrowheads="1"/>
          </p:cNvSpPr>
          <p:nvPr/>
        </p:nvSpPr>
        <p:spPr bwMode="auto">
          <a:xfrm>
            <a:off x="9390580" y="522610"/>
            <a:ext cx="1963220" cy="400110"/>
          </a:xfrm>
          <a:prstGeom prst="rect">
            <a:avLst/>
          </a:prstGeom>
          <a:solidFill>
            <a:srgbClr val="FFFF00"/>
          </a:solidFill>
          <a:ln w="9525">
            <a:solidFill>
              <a:schemeClr val="tx1"/>
            </a:solidFill>
            <a:miter lim="800000"/>
            <a:headEnd/>
            <a:tailEnd/>
          </a:ln>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 </a:t>
            </a:r>
            <a:r>
              <a:rPr lang="en-US" altLang="en-US" sz="2000" b="1">
                <a:solidFill>
                  <a:prstClr val="black"/>
                </a:solidFill>
              </a:rPr>
              <a:t>Initial </a:t>
            </a: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node</a:t>
            </a:r>
            <a:endParaRPr kumimoji="0" lang="en-US" altLang="en-US" sz="2000" b="1" i="0" u="none" strike="noStrike" kern="1200" cap="none" spc="0" normalizeH="0" baseline="0" noProof="0" dirty="0">
              <a:ln>
                <a:noFill/>
              </a:ln>
              <a:solidFill>
                <a:prstClr val="black"/>
              </a:solidFill>
              <a:effectLst/>
              <a:uLnTx/>
              <a:uFillTx/>
              <a:latin typeface="Arial" pitchFamily="34" charset="0"/>
              <a:ea typeface="+mn-ea"/>
              <a:cs typeface="+mn-cs"/>
            </a:endParaRPr>
          </a:p>
        </p:txBody>
      </p:sp>
      <p:cxnSp>
        <p:nvCxnSpPr>
          <p:cNvPr id="5" name="Straight Connector 4">
            <a:extLst>
              <a:ext uri="{FF2B5EF4-FFF2-40B4-BE49-F238E27FC236}">
                <a16:creationId xmlns:a16="http://schemas.microsoft.com/office/drawing/2014/main" id="{C45B5572-6D5D-43B9-A277-4898346B3702}"/>
              </a:ext>
            </a:extLst>
          </p:cNvPr>
          <p:cNvCxnSpPr>
            <a:stCxn id="18" idx="1"/>
          </p:cNvCxnSpPr>
          <p:nvPr/>
        </p:nvCxnSpPr>
        <p:spPr>
          <a:xfrm flipH="1">
            <a:off x="8293629" y="722665"/>
            <a:ext cx="1096951" cy="541843"/>
          </a:xfrm>
          <a:prstGeom prst="line">
            <a:avLst/>
          </a:prstGeom>
        </p:spPr>
        <p:style>
          <a:lnRef idx="1">
            <a:schemeClr val="accent2"/>
          </a:lnRef>
          <a:fillRef idx="0">
            <a:schemeClr val="accent2"/>
          </a:fillRef>
          <a:effectRef idx="0">
            <a:schemeClr val="accent2"/>
          </a:effectRef>
          <a:fontRef idx="minor">
            <a:schemeClr val="tx1"/>
          </a:fontRef>
        </p:style>
      </p:cxnSp>
      <p:sp>
        <p:nvSpPr>
          <p:cNvPr id="22" name="Text Box 1046">
            <a:extLst>
              <a:ext uri="{FF2B5EF4-FFF2-40B4-BE49-F238E27FC236}">
                <a16:creationId xmlns:a16="http://schemas.microsoft.com/office/drawing/2014/main" id="{5813C675-844B-412E-978E-EF312F1E790B}"/>
              </a:ext>
            </a:extLst>
          </p:cNvPr>
          <p:cNvSpPr txBox="1">
            <a:spLocks noChangeArrowheads="1"/>
          </p:cNvSpPr>
          <p:nvPr/>
        </p:nvSpPr>
        <p:spPr bwMode="auto">
          <a:xfrm>
            <a:off x="3960873" y="6141878"/>
            <a:ext cx="2347459" cy="400110"/>
          </a:xfrm>
          <a:prstGeom prst="rect">
            <a:avLst/>
          </a:prstGeom>
          <a:solidFill>
            <a:srgbClr val="FFFF00"/>
          </a:solidFill>
          <a:ln w="9525">
            <a:solidFill>
              <a:schemeClr val="tx1"/>
            </a:solidFill>
            <a:miter lim="800000"/>
            <a:headEnd/>
            <a:tailEnd/>
          </a:ln>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Final node</a:t>
            </a:r>
            <a:endParaRPr kumimoji="0" lang="en-US" altLang="en-US" sz="2000" b="1" i="0" u="none" strike="noStrike" kern="1200" cap="none" spc="0" normalizeH="0" baseline="0" noProof="0" dirty="0">
              <a:ln>
                <a:noFill/>
              </a:ln>
              <a:solidFill>
                <a:prstClr val="black"/>
              </a:solidFill>
              <a:effectLst/>
              <a:uLnTx/>
              <a:uFillTx/>
              <a:latin typeface="Arial" pitchFamily="34" charset="0"/>
              <a:ea typeface="+mn-ea"/>
              <a:cs typeface="+mn-cs"/>
            </a:endParaRPr>
          </a:p>
        </p:txBody>
      </p:sp>
      <p:cxnSp>
        <p:nvCxnSpPr>
          <p:cNvPr id="23" name="Straight Connector 22">
            <a:extLst>
              <a:ext uri="{FF2B5EF4-FFF2-40B4-BE49-F238E27FC236}">
                <a16:creationId xmlns:a16="http://schemas.microsoft.com/office/drawing/2014/main" id="{FB771284-5D11-4C6F-9FB4-382690AF98B3}"/>
              </a:ext>
            </a:extLst>
          </p:cNvPr>
          <p:cNvCxnSpPr>
            <a:cxnSpLocks/>
          </p:cNvCxnSpPr>
          <p:nvPr/>
        </p:nvCxnSpPr>
        <p:spPr>
          <a:xfrm flipH="1">
            <a:off x="6292923" y="6214153"/>
            <a:ext cx="1196938" cy="156167"/>
          </a:xfrm>
          <a:prstGeom prst="line">
            <a:avLst/>
          </a:prstGeom>
        </p:spPr>
        <p:style>
          <a:lnRef idx="1">
            <a:schemeClr val="accent2"/>
          </a:lnRef>
          <a:fillRef idx="0">
            <a:schemeClr val="accent2"/>
          </a:fillRef>
          <a:effectRef idx="0">
            <a:schemeClr val="accent2"/>
          </a:effectRef>
          <a:fontRef idx="minor">
            <a:schemeClr val="tx1"/>
          </a:fontRef>
        </p:style>
      </p:cxnSp>
      <p:sp>
        <p:nvSpPr>
          <p:cNvPr id="27" name="Text Box 1050">
            <a:extLst>
              <a:ext uri="{FF2B5EF4-FFF2-40B4-BE49-F238E27FC236}">
                <a16:creationId xmlns:a16="http://schemas.microsoft.com/office/drawing/2014/main" id="{289070E6-33A8-4437-ADF6-FD192CD56463}"/>
              </a:ext>
            </a:extLst>
          </p:cNvPr>
          <p:cNvSpPr txBox="1">
            <a:spLocks noChangeArrowheads="1"/>
          </p:cNvSpPr>
          <p:nvPr/>
        </p:nvSpPr>
        <p:spPr bwMode="auto">
          <a:xfrm>
            <a:off x="9729627" y="1405998"/>
            <a:ext cx="2169840" cy="400110"/>
          </a:xfrm>
          <a:prstGeom prst="rect">
            <a:avLst/>
          </a:prstGeom>
          <a:solidFill>
            <a:srgbClr val="FFFF00"/>
          </a:solidFill>
          <a:ln w="9525">
            <a:solidFill>
              <a:schemeClr val="tx1"/>
            </a:solidFill>
            <a:miter lim="800000"/>
            <a:headEnd/>
            <a:tailEnd/>
          </a:ln>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Procedure node</a:t>
            </a:r>
            <a:endParaRPr kumimoji="0" lang="en-US" altLang="en-US" sz="2000" b="1" i="0" u="none" strike="noStrike" kern="1200" cap="none" spc="0" normalizeH="0" baseline="0" noProof="0" dirty="0">
              <a:ln>
                <a:noFill/>
              </a:ln>
              <a:solidFill>
                <a:prstClr val="black"/>
              </a:solidFill>
              <a:effectLst/>
              <a:uLnTx/>
              <a:uFillTx/>
              <a:latin typeface="Arial" pitchFamily="34" charset="0"/>
              <a:ea typeface="+mn-ea"/>
              <a:cs typeface="+mn-cs"/>
            </a:endParaRPr>
          </a:p>
        </p:txBody>
      </p:sp>
      <p:cxnSp>
        <p:nvCxnSpPr>
          <p:cNvPr id="28" name="Straight Connector 27">
            <a:extLst>
              <a:ext uri="{FF2B5EF4-FFF2-40B4-BE49-F238E27FC236}">
                <a16:creationId xmlns:a16="http://schemas.microsoft.com/office/drawing/2014/main" id="{7E95747C-6AA2-4FB2-B696-8D0C8C3E760E}"/>
              </a:ext>
            </a:extLst>
          </p:cNvPr>
          <p:cNvCxnSpPr>
            <a:cxnSpLocks/>
          </p:cNvCxnSpPr>
          <p:nvPr/>
        </p:nvCxnSpPr>
        <p:spPr>
          <a:xfrm flipH="1">
            <a:off x="8989888" y="1747786"/>
            <a:ext cx="739739" cy="1833614"/>
          </a:xfrm>
          <a:prstGeom prst="line">
            <a:avLst/>
          </a:prstGeom>
        </p:spPr>
        <p:style>
          <a:lnRef idx="1">
            <a:schemeClr val="accent2"/>
          </a:lnRef>
          <a:fillRef idx="0">
            <a:schemeClr val="accent2"/>
          </a:fillRef>
          <a:effectRef idx="0">
            <a:schemeClr val="accent2"/>
          </a:effectRef>
          <a:fontRef idx="minor">
            <a:schemeClr val="tx1"/>
          </a:fontRef>
        </p:style>
      </p:cxnSp>
      <p:cxnSp>
        <p:nvCxnSpPr>
          <p:cNvPr id="31" name="Straight Connector 30">
            <a:extLst>
              <a:ext uri="{FF2B5EF4-FFF2-40B4-BE49-F238E27FC236}">
                <a16:creationId xmlns:a16="http://schemas.microsoft.com/office/drawing/2014/main" id="{D81BC3C4-7405-4A06-87F7-762B5E95AE5C}"/>
              </a:ext>
            </a:extLst>
          </p:cNvPr>
          <p:cNvCxnSpPr>
            <a:cxnSpLocks/>
          </p:cNvCxnSpPr>
          <p:nvPr/>
        </p:nvCxnSpPr>
        <p:spPr>
          <a:xfrm>
            <a:off x="9728491" y="1798540"/>
            <a:ext cx="1672258" cy="2381330"/>
          </a:xfrm>
          <a:prstGeom prst="line">
            <a:avLst/>
          </a:prstGeom>
        </p:spPr>
        <p:style>
          <a:lnRef idx="1">
            <a:schemeClr val="accent2"/>
          </a:lnRef>
          <a:fillRef idx="0">
            <a:schemeClr val="accent2"/>
          </a:fillRef>
          <a:effectRef idx="0">
            <a:schemeClr val="accent2"/>
          </a:effectRef>
          <a:fontRef idx="minor">
            <a:schemeClr val="tx1"/>
          </a:fontRef>
        </p:style>
      </p:cxnSp>
      <p:sp>
        <p:nvSpPr>
          <p:cNvPr id="36" name="Text Box 1050">
            <a:extLst>
              <a:ext uri="{FF2B5EF4-FFF2-40B4-BE49-F238E27FC236}">
                <a16:creationId xmlns:a16="http://schemas.microsoft.com/office/drawing/2014/main" id="{7589F8AB-378E-4BAA-BAA1-18A7EB38DB64}"/>
              </a:ext>
            </a:extLst>
          </p:cNvPr>
          <p:cNvSpPr txBox="1">
            <a:spLocks noChangeArrowheads="1"/>
          </p:cNvSpPr>
          <p:nvPr/>
        </p:nvSpPr>
        <p:spPr bwMode="auto">
          <a:xfrm>
            <a:off x="5011080" y="1508961"/>
            <a:ext cx="2169840" cy="400110"/>
          </a:xfrm>
          <a:prstGeom prst="rect">
            <a:avLst/>
          </a:prstGeom>
          <a:solidFill>
            <a:srgbClr val="FFFF00"/>
          </a:solidFill>
          <a:ln w="9525">
            <a:solidFill>
              <a:schemeClr val="tx1"/>
            </a:solidFill>
            <a:miter lim="800000"/>
            <a:headEnd/>
            <a:tailEnd/>
          </a:ln>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Decision node</a:t>
            </a:r>
            <a:endParaRPr kumimoji="0" lang="en-US" altLang="en-US" sz="2000" b="1" i="0" u="none" strike="noStrike" kern="1200" cap="none" spc="0" normalizeH="0" baseline="0" noProof="0" dirty="0">
              <a:ln>
                <a:noFill/>
              </a:ln>
              <a:solidFill>
                <a:prstClr val="black"/>
              </a:solidFill>
              <a:effectLst/>
              <a:uLnTx/>
              <a:uFillTx/>
              <a:latin typeface="Arial" pitchFamily="34" charset="0"/>
              <a:ea typeface="+mn-ea"/>
              <a:cs typeface="+mn-cs"/>
            </a:endParaRPr>
          </a:p>
        </p:txBody>
      </p:sp>
      <p:cxnSp>
        <p:nvCxnSpPr>
          <p:cNvPr id="37" name="Straight Connector 36">
            <a:extLst>
              <a:ext uri="{FF2B5EF4-FFF2-40B4-BE49-F238E27FC236}">
                <a16:creationId xmlns:a16="http://schemas.microsoft.com/office/drawing/2014/main" id="{BC38DF7D-3C9C-469E-8593-5DC53A80D99C}"/>
              </a:ext>
            </a:extLst>
          </p:cNvPr>
          <p:cNvCxnSpPr>
            <a:cxnSpLocks/>
            <a:endCxn id="36" idx="3"/>
          </p:cNvCxnSpPr>
          <p:nvPr/>
        </p:nvCxnSpPr>
        <p:spPr>
          <a:xfrm flipH="1" flipV="1">
            <a:off x="7180920" y="1709016"/>
            <a:ext cx="637714" cy="344103"/>
          </a:xfrm>
          <a:prstGeom prst="line">
            <a:avLst/>
          </a:prstGeom>
        </p:spPr>
        <p:style>
          <a:lnRef idx="1">
            <a:schemeClr val="accent2"/>
          </a:lnRef>
          <a:fillRef idx="0">
            <a:schemeClr val="accent2"/>
          </a:fillRef>
          <a:effectRef idx="0">
            <a:schemeClr val="accent2"/>
          </a:effectRef>
          <a:fontRef idx="minor">
            <a:schemeClr val="tx1"/>
          </a:fontRef>
        </p:style>
      </p:cxnSp>
      <p:cxnSp>
        <p:nvCxnSpPr>
          <p:cNvPr id="40" name="Straight Connector 39">
            <a:extLst>
              <a:ext uri="{FF2B5EF4-FFF2-40B4-BE49-F238E27FC236}">
                <a16:creationId xmlns:a16="http://schemas.microsoft.com/office/drawing/2014/main" id="{6C0A185D-A742-442E-AD16-843C0E0E9D02}"/>
              </a:ext>
            </a:extLst>
          </p:cNvPr>
          <p:cNvCxnSpPr>
            <a:cxnSpLocks/>
          </p:cNvCxnSpPr>
          <p:nvPr/>
        </p:nvCxnSpPr>
        <p:spPr>
          <a:xfrm flipV="1">
            <a:off x="6513816" y="1909071"/>
            <a:ext cx="563013" cy="755522"/>
          </a:xfrm>
          <a:prstGeom prst="line">
            <a:avLst/>
          </a:prstGeom>
        </p:spPr>
        <p:style>
          <a:lnRef idx="1">
            <a:schemeClr val="accent2"/>
          </a:lnRef>
          <a:fillRef idx="0">
            <a:schemeClr val="accent2"/>
          </a:fillRef>
          <a:effectRef idx="0">
            <a:schemeClr val="accent2"/>
          </a:effectRef>
          <a:fontRef idx="minor">
            <a:schemeClr val="tx1"/>
          </a:fontRef>
        </p:style>
      </p:cxnSp>
      <p:sp>
        <p:nvSpPr>
          <p:cNvPr id="2" name="Rectangle 2">
            <a:extLst>
              <a:ext uri="{FF2B5EF4-FFF2-40B4-BE49-F238E27FC236}">
                <a16:creationId xmlns:a16="http://schemas.microsoft.com/office/drawing/2014/main" id="{4D0A0839-1B7B-3C9F-97E5-226369A09BA9}"/>
              </a:ext>
            </a:extLst>
          </p:cNvPr>
          <p:cNvSpPr txBox="1">
            <a:spLocks noChangeArrowheads="1"/>
          </p:cNvSpPr>
          <p:nvPr/>
        </p:nvSpPr>
        <p:spPr>
          <a:xfrm>
            <a:off x="5733535" y="-260007"/>
            <a:ext cx="8497329" cy="114300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5400" kern="1200" cap="all" baseline="0">
                <a:blipFill>
                  <a:blip r:embed="rId4">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r>
              <a:rPr lang="en-US" altLang="en-US" sz="4500" dirty="0">
                <a:latin typeface="Times New Roman" pitchFamily="18" charset="0"/>
              </a:rPr>
              <a:t>DRAW A CFG !</a:t>
            </a:r>
          </a:p>
        </p:txBody>
      </p:sp>
    </p:spTree>
    <p:extLst>
      <p:ext uri="{BB962C8B-B14F-4D97-AF65-F5344CB8AC3E}">
        <p14:creationId xmlns:p14="http://schemas.microsoft.com/office/powerpoint/2010/main" val="278517518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
                                        </p:tgtEl>
                                      </p:cBhvr>
                                    </p:animEffect>
                                    <p:set>
                                      <p:cBhvr>
                                        <p:cTn id="7" dur="1" fill="hold">
                                          <p:stCondLst>
                                            <p:cond delay="499"/>
                                          </p:stCondLst>
                                        </p:cTn>
                                        <p:tgtEl>
                                          <p:spTgt spid="2"/>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42" presetClass="entr" presetSubtype="0" fill="hold" grpId="0" nodeType="click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1000"/>
                                        <p:tgtEl>
                                          <p:spTgt spid="18"/>
                                        </p:tgtEl>
                                      </p:cBhvr>
                                    </p:animEffect>
                                    <p:anim calcmode="lin" valueType="num">
                                      <p:cBhvr>
                                        <p:cTn id="17" dur="1000" fill="hold"/>
                                        <p:tgtEl>
                                          <p:spTgt spid="18"/>
                                        </p:tgtEl>
                                        <p:attrNameLst>
                                          <p:attrName>ppt_x</p:attrName>
                                        </p:attrNameLst>
                                      </p:cBhvr>
                                      <p:tavLst>
                                        <p:tav tm="0">
                                          <p:val>
                                            <p:strVal val="#ppt_x"/>
                                          </p:val>
                                        </p:tav>
                                        <p:tav tm="100000">
                                          <p:val>
                                            <p:strVal val="#ppt_x"/>
                                          </p:val>
                                        </p:tav>
                                      </p:tavLst>
                                    </p:anim>
                                    <p:anim calcmode="lin" valueType="num">
                                      <p:cBhvr>
                                        <p:cTn id="18" dur="1000" fill="hold"/>
                                        <p:tgtEl>
                                          <p:spTgt spid="18"/>
                                        </p:tgtEl>
                                        <p:attrNameLst>
                                          <p:attrName>ppt_y</p:attrName>
                                        </p:attrNameLst>
                                      </p:cBhvr>
                                      <p:tavLst>
                                        <p:tav tm="0">
                                          <p:val>
                                            <p:strVal val="#ppt_y+.1"/>
                                          </p:val>
                                        </p:tav>
                                        <p:tav tm="100000">
                                          <p:val>
                                            <p:strVal val="#ppt_y"/>
                                          </p:val>
                                        </p:tav>
                                      </p:tavLst>
                                    </p:anim>
                                  </p:childTnLst>
                                </p:cTn>
                              </p:par>
                              <p:par>
                                <p:cTn id="19" presetID="42"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1000"/>
                                        <p:tgtEl>
                                          <p:spTgt spid="5"/>
                                        </p:tgtEl>
                                      </p:cBhvr>
                                    </p:animEffect>
                                    <p:anim calcmode="lin" valueType="num">
                                      <p:cBhvr>
                                        <p:cTn id="22" dur="1000" fill="hold"/>
                                        <p:tgtEl>
                                          <p:spTgt spid="5"/>
                                        </p:tgtEl>
                                        <p:attrNameLst>
                                          <p:attrName>ppt_x</p:attrName>
                                        </p:attrNameLst>
                                      </p:cBhvr>
                                      <p:tavLst>
                                        <p:tav tm="0">
                                          <p:val>
                                            <p:strVal val="#ppt_x"/>
                                          </p:val>
                                        </p:tav>
                                        <p:tav tm="100000">
                                          <p:val>
                                            <p:strVal val="#ppt_x"/>
                                          </p:val>
                                        </p:tav>
                                      </p:tavLst>
                                    </p:anim>
                                    <p:anim calcmode="lin" valueType="num">
                                      <p:cBhvr>
                                        <p:cTn id="2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1000"/>
                                        <p:tgtEl>
                                          <p:spTgt spid="22"/>
                                        </p:tgtEl>
                                      </p:cBhvr>
                                    </p:animEffect>
                                    <p:anim calcmode="lin" valueType="num">
                                      <p:cBhvr>
                                        <p:cTn id="29" dur="1000" fill="hold"/>
                                        <p:tgtEl>
                                          <p:spTgt spid="22"/>
                                        </p:tgtEl>
                                        <p:attrNameLst>
                                          <p:attrName>ppt_x</p:attrName>
                                        </p:attrNameLst>
                                      </p:cBhvr>
                                      <p:tavLst>
                                        <p:tav tm="0">
                                          <p:val>
                                            <p:strVal val="#ppt_x"/>
                                          </p:val>
                                        </p:tav>
                                        <p:tav tm="100000">
                                          <p:val>
                                            <p:strVal val="#ppt_x"/>
                                          </p:val>
                                        </p:tav>
                                      </p:tavLst>
                                    </p:anim>
                                    <p:anim calcmode="lin" valueType="num">
                                      <p:cBhvr>
                                        <p:cTn id="30" dur="1000" fill="hold"/>
                                        <p:tgtEl>
                                          <p:spTgt spid="22"/>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fade">
                                      <p:cBhvr>
                                        <p:cTn id="33" dur="1000"/>
                                        <p:tgtEl>
                                          <p:spTgt spid="23"/>
                                        </p:tgtEl>
                                      </p:cBhvr>
                                    </p:animEffect>
                                    <p:anim calcmode="lin" valueType="num">
                                      <p:cBhvr>
                                        <p:cTn id="34" dur="1000" fill="hold"/>
                                        <p:tgtEl>
                                          <p:spTgt spid="23"/>
                                        </p:tgtEl>
                                        <p:attrNameLst>
                                          <p:attrName>ppt_x</p:attrName>
                                        </p:attrNameLst>
                                      </p:cBhvr>
                                      <p:tavLst>
                                        <p:tav tm="0">
                                          <p:val>
                                            <p:strVal val="#ppt_x"/>
                                          </p:val>
                                        </p:tav>
                                        <p:tav tm="100000">
                                          <p:val>
                                            <p:strVal val="#ppt_x"/>
                                          </p:val>
                                        </p:tav>
                                      </p:tavLst>
                                    </p:anim>
                                    <p:anim calcmode="lin" valueType="num">
                                      <p:cBhvr>
                                        <p:cTn id="35"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fade">
                                      <p:cBhvr>
                                        <p:cTn id="40" dur="1000"/>
                                        <p:tgtEl>
                                          <p:spTgt spid="27"/>
                                        </p:tgtEl>
                                      </p:cBhvr>
                                    </p:animEffect>
                                    <p:anim calcmode="lin" valueType="num">
                                      <p:cBhvr>
                                        <p:cTn id="41" dur="1000" fill="hold"/>
                                        <p:tgtEl>
                                          <p:spTgt spid="27"/>
                                        </p:tgtEl>
                                        <p:attrNameLst>
                                          <p:attrName>ppt_x</p:attrName>
                                        </p:attrNameLst>
                                      </p:cBhvr>
                                      <p:tavLst>
                                        <p:tav tm="0">
                                          <p:val>
                                            <p:strVal val="#ppt_x"/>
                                          </p:val>
                                        </p:tav>
                                        <p:tav tm="100000">
                                          <p:val>
                                            <p:strVal val="#ppt_x"/>
                                          </p:val>
                                        </p:tav>
                                      </p:tavLst>
                                    </p:anim>
                                    <p:anim calcmode="lin" valueType="num">
                                      <p:cBhvr>
                                        <p:cTn id="42" dur="1000" fill="hold"/>
                                        <p:tgtEl>
                                          <p:spTgt spid="27"/>
                                        </p:tgtEl>
                                        <p:attrNameLst>
                                          <p:attrName>ppt_y</p:attrName>
                                        </p:attrNameLst>
                                      </p:cBhvr>
                                      <p:tavLst>
                                        <p:tav tm="0">
                                          <p:val>
                                            <p:strVal val="#ppt_y+.1"/>
                                          </p:val>
                                        </p:tav>
                                        <p:tav tm="100000">
                                          <p:val>
                                            <p:strVal val="#ppt_y"/>
                                          </p:val>
                                        </p:tav>
                                      </p:tavLst>
                                    </p:anim>
                                  </p:childTnLst>
                                </p:cTn>
                              </p:par>
                              <p:par>
                                <p:cTn id="43" presetID="42" presetClass="entr" presetSubtype="0" fill="hold" nodeType="withEffect">
                                  <p:stCondLst>
                                    <p:cond delay="0"/>
                                  </p:stCondLst>
                                  <p:childTnLst>
                                    <p:set>
                                      <p:cBhvr>
                                        <p:cTn id="44" dur="1" fill="hold">
                                          <p:stCondLst>
                                            <p:cond delay="0"/>
                                          </p:stCondLst>
                                        </p:cTn>
                                        <p:tgtEl>
                                          <p:spTgt spid="31"/>
                                        </p:tgtEl>
                                        <p:attrNameLst>
                                          <p:attrName>style.visibility</p:attrName>
                                        </p:attrNameLst>
                                      </p:cBhvr>
                                      <p:to>
                                        <p:strVal val="visible"/>
                                      </p:to>
                                    </p:set>
                                    <p:animEffect transition="in" filter="fade">
                                      <p:cBhvr>
                                        <p:cTn id="45" dur="1000"/>
                                        <p:tgtEl>
                                          <p:spTgt spid="31"/>
                                        </p:tgtEl>
                                      </p:cBhvr>
                                    </p:animEffect>
                                    <p:anim calcmode="lin" valueType="num">
                                      <p:cBhvr>
                                        <p:cTn id="46" dur="1000" fill="hold"/>
                                        <p:tgtEl>
                                          <p:spTgt spid="31"/>
                                        </p:tgtEl>
                                        <p:attrNameLst>
                                          <p:attrName>ppt_x</p:attrName>
                                        </p:attrNameLst>
                                      </p:cBhvr>
                                      <p:tavLst>
                                        <p:tav tm="0">
                                          <p:val>
                                            <p:strVal val="#ppt_x"/>
                                          </p:val>
                                        </p:tav>
                                        <p:tav tm="100000">
                                          <p:val>
                                            <p:strVal val="#ppt_x"/>
                                          </p:val>
                                        </p:tav>
                                      </p:tavLst>
                                    </p:anim>
                                    <p:anim calcmode="lin" valueType="num">
                                      <p:cBhvr>
                                        <p:cTn id="47" dur="1000" fill="hold"/>
                                        <p:tgtEl>
                                          <p:spTgt spid="31"/>
                                        </p:tgtEl>
                                        <p:attrNameLst>
                                          <p:attrName>ppt_y</p:attrName>
                                        </p:attrNameLst>
                                      </p:cBhvr>
                                      <p:tavLst>
                                        <p:tav tm="0">
                                          <p:val>
                                            <p:strVal val="#ppt_y+.1"/>
                                          </p:val>
                                        </p:tav>
                                        <p:tav tm="100000">
                                          <p:val>
                                            <p:strVal val="#ppt_y"/>
                                          </p:val>
                                        </p:tav>
                                      </p:tavLst>
                                    </p:anim>
                                  </p:childTnLst>
                                </p:cTn>
                              </p:par>
                              <p:par>
                                <p:cTn id="48" presetID="42" presetClass="entr" presetSubtype="0" fill="hold" nodeType="withEffect">
                                  <p:stCondLst>
                                    <p:cond delay="0"/>
                                  </p:stCondLst>
                                  <p:childTnLst>
                                    <p:set>
                                      <p:cBhvr>
                                        <p:cTn id="49" dur="1" fill="hold">
                                          <p:stCondLst>
                                            <p:cond delay="0"/>
                                          </p:stCondLst>
                                        </p:cTn>
                                        <p:tgtEl>
                                          <p:spTgt spid="28"/>
                                        </p:tgtEl>
                                        <p:attrNameLst>
                                          <p:attrName>style.visibility</p:attrName>
                                        </p:attrNameLst>
                                      </p:cBhvr>
                                      <p:to>
                                        <p:strVal val="visible"/>
                                      </p:to>
                                    </p:set>
                                    <p:animEffect transition="in" filter="fade">
                                      <p:cBhvr>
                                        <p:cTn id="50" dur="1000"/>
                                        <p:tgtEl>
                                          <p:spTgt spid="28"/>
                                        </p:tgtEl>
                                      </p:cBhvr>
                                    </p:animEffect>
                                    <p:anim calcmode="lin" valueType="num">
                                      <p:cBhvr>
                                        <p:cTn id="51" dur="1000" fill="hold"/>
                                        <p:tgtEl>
                                          <p:spTgt spid="28"/>
                                        </p:tgtEl>
                                        <p:attrNameLst>
                                          <p:attrName>ppt_x</p:attrName>
                                        </p:attrNameLst>
                                      </p:cBhvr>
                                      <p:tavLst>
                                        <p:tav tm="0">
                                          <p:val>
                                            <p:strVal val="#ppt_x"/>
                                          </p:val>
                                        </p:tav>
                                        <p:tav tm="100000">
                                          <p:val>
                                            <p:strVal val="#ppt_x"/>
                                          </p:val>
                                        </p:tav>
                                      </p:tavLst>
                                    </p:anim>
                                    <p:anim calcmode="lin" valueType="num">
                                      <p:cBhvr>
                                        <p:cTn id="52"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grpId="0" nodeType="clickEffect">
                                  <p:stCondLst>
                                    <p:cond delay="0"/>
                                  </p:stCondLst>
                                  <p:childTnLst>
                                    <p:set>
                                      <p:cBhvr>
                                        <p:cTn id="56" dur="1" fill="hold">
                                          <p:stCondLst>
                                            <p:cond delay="0"/>
                                          </p:stCondLst>
                                        </p:cTn>
                                        <p:tgtEl>
                                          <p:spTgt spid="36"/>
                                        </p:tgtEl>
                                        <p:attrNameLst>
                                          <p:attrName>style.visibility</p:attrName>
                                        </p:attrNameLst>
                                      </p:cBhvr>
                                      <p:to>
                                        <p:strVal val="visible"/>
                                      </p:to>
                                    </p:set>
                                    <p:animEffect transition="in" filter="fade">
                                      <p:cBhvr>
                                        <p:cTn id="57" dur="1000"/>
                                        <p:tgtEl>
                                          <p:spTgt spid="36"/>
                                        </p:tgtEl>
                                      </p:cBhvr>
                                    </p:animEffect>
                                    <p:anim calcmode="lin" valueType="num">
                                      <p:cBhvr>
                                        <p:cTn id="58" dur="1000" fill="hold"/>
                                        <p:tgtEl>
                                          <p:spTgt spid="36"/>
                                        </p:tgtEl>
                                        <p:attrNameLst>
                                          <p:attrName>ppt_x</p:attrName>
                                        </p:attrNameLst>
                                      </p:cBhvr>
                                      <p:tavLst>
                                        <p:tav tm="0">
                                          <p:val>
                                            <p:strVal val="#ppt_x"/>
                                          </p:val>
                                        </p:tav>
                                        <p:tav tm="100000">
                                          <p:val>
                                            <p:strVal val="#ppt_x"/>
                                          </p:val>
                                        </p:tav>
                                      </p:tavLst>
                                    </p:anim>
                                    <p:anim calcmode="lin" valueType="num">
                                      <p:cBhvr>
                                        <p:cTn id="59" dur="1000" fill="hold"/>
                                        <p:tgtEl>
                                          <p:spTgt spid="36"/>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61" dur="1" fill="hold">
                                          <p:stCondLst>
                                            <p:cond delay="0"/>
                                          </p:stCondLst>
                                        </p:cTn>
                                        <p:tgtEl>
                                          <p:spTgt spid="37"/>
                                        </p:tgtEl>
                                        <p:attrNameLst>
                                          <p:attrName>style.visibility</p:attrName>
                                        </p:attrNameLst>
                                      </p:cBhvr>
                                      <p:to>
                                        <p:strVal val="visible"/>
                                      </p:to>
                                    </p:set>
                                    <p:animEffect transition="in" filter="fade">
                                      <p:cBhvr>
                                        <p:cTn id="62" dur="1000"/>
                                        <p:tgtEl>
                                          <p:spTgt spid="37"/>
                                        </p:tgtEl>
                                      </p:cBhvr>
                                    </p:animEffect>
                                    <p:anim calcmode="lin" valueType="num">
                                      <p:cBhvr>
                                        <p:cTn id="63" dur="1000" fill="hold"/>
                                        <p:tgtEl>
                                          <p:spTgt spid="37"/>
                                        </p:tgtEl>
                                        <p:attrNameLst>
                                          <p:attrName>ppt_x</p:attrName>
                                        </p:attrNameLst>
                                      </p:cBhvr>
                                      <p:tavLst>
                                        <p:tav tm="0">
                                          <p:val>
                                            <p:strVal val="#ppt_x"/>
                                          </p:val>
                                        </p:tav>
                                        <p:tav tm="100000">
                                          <p:val>
                                            <p:strVal val="#ppt_x"/>
                                          </p:val>
                                        </p:tav>
                                      </p:tavLst>
                                    </p:anim>
                                    <p:anim calcmode="lin" valueType="num">
                                      <p:cBhvr>
                                        <p:cTn id="64" dur="1000" fill="hold"/>
                                        <p:tgtEl>
                                          <p:spTgt spid="37"/>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0"/>
                                  </p:stCondLst>
                                  <p:childTnLst>
                                    <p:set>
                                      <p:cBhvr>
                                        <p:cTn id="66" dur="1" fill="hold">
                                          <p:stCondLst>
                                            <p:cond delay="0"/>
                                          </p:stCondLst>
                                        </p:cTn>
                                        <p:tgtEl>
                                          <p:spTgt spid="40"/>
                                        </p:tgtEl>
                                        <p:attrNameLst>
                                          <p:attrName>style.visibility</p:attrName>
                                        </p:attrNameLst>
                                      </p:cBhvr>
                                      <p:to>
                                        <p:strVal val="visible"/>
                                      </p:to>
                                    </p:set>
                                    <p:animEffect transition="in" filter="fade">
                                      <p:cBhvr>
                                        <p:cTn id="67" dur="1000"/>
                                        <p:tgtEl>
                                          <p:spTgt spid="40"/>
                                        </p:tgtEl>
                                      </p:cBhvr>
                                    </p:animEffect>
                                    <p:anim calcmode="lin" valueType="num">
                                      <p:cBhvr>
                                        <p:cTn id="68" dur="1000" fill="hold"/>
                                        <p:tgtEl>
                                          <p:spTgt spid="40"/>
                                        </p:tgtEl>
                                        <p:attrNameLst>
                                          <p:attrName>ppt_x</p:attrName>
                                        </p:attrNameLst>
                                      </p:cBhvr>
                                      <p:tavLst>
                                        <p:tav tm="0">
                                          <p:val>
                                            <p:strVal val="#ppt_x"/>
                                          </p:val>
                                        </p:tav>
                                        <p:tav tm="100000">
                                          <p:val>
                                            <p:strVal val="#ppt_x"/>
                                          </p:val>
                                        </p:tav>
                                      </p:tavLst>
                                    </p:anim>
                                    <p:anim calcmode="lin" valueType="num">
                                      <p:cBhvr>
                                        <p:cTn id="69"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2" grpId="0" animBg="1"/>
      <p:bldP spid="27" grpId="0" animBg="1"/>
      <p:bldP spid="36" grpId="0" animBg="1"/>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458EB-28A0-4405-B5FA-A346C7CEDE15}"/>
              </a:ext>
            </a:extLst>
          </p:cNvPr>
          <p:cNvSpPr>
            <a:spLocks noGrp="1"/>
          </p:cNvSpPr>
          <p:nvPr>
            <p:ph type="title"/>
          </p:nvPr>
        </p:nvSpPr>
        <p:spPr>
          <a:xfrm>
            <a:off x="82193" y="199318"/>
            <a:ext cx="10515600" cy="1325563"/>
          </a:xfrm>
        </p:spPr>
        <p:txBody>
          <a:bodyPr>
            <a:normAutofit/>
          </a:bodyPr>
          <a:lstStyle/>
          <a:p>
            <a:r>
              <a:rPr lang="en-US" sz="5000" dirty="0">
                <a:latin typeface="Times New Roman" pitchFamily="18" charset="0"/>
              </a:rPr>
              <a:t>PROGRAM Path</a:t>
            </a:r>
          </a:p>
        </p:txBody>
      </p:sp>
      <p:sp>
        <p:nvSpPr>
          <p:cNvPr id="3" name="Content Placeholder 2">
            <a:extLst>
              <a:ext uri="{FF2B5EF4-FFF2-40B4-BE49-F238E27FC236}">
                <a16:creationId xmlns:a16="http://schemas.microsoft.com/office/drawing/2014/main" id="{4CA36C6B-6C03-425B-B2A2-35EC9A6C8255}"/>
              </a:ext>
            </a:extLst>
          </p:cNvPr>
          <p:cNvSpPr>
            <a:spLocks noGrp="1"/>
          </p:cNvSpPr>
          <p:nvPr>
            <p:ph idx="1"/>
          </p:nvPr>
        </p:nvSpPr>
        <p:spPr>
          <a:xfrm>
            <a:off x="0" y="1798002"/>
            <a:ext cx="7272670" cy="4518379"/>
          </a:xfrm>
        </p:spPr>
        <p:txBody>
          <a:bodyPr anchor="ctr">
            <a:normAutofit/>
          </a:bodyPr>
          <a:lstStyle/>
          <a:p>
            <a:r>
              <a:rPr lang="en-US" sz="2400" dirty="0">
                <a:latin typeface="Times New Roman" pitchFamily="18" charset="0"/>
              </a:rPr>
              <a:t>A program path is a sequence of statements from entry to exit. </a:t>
            </a:r>
          </a:p>
          <a:p>
            <a:r>
              <a:rPr lang="en-US" sz="2400" dirty="0">
                <a:latin typeface="Times New Roman" pitchFamily="18" charset="0"/>
              </a:rPr>
              <a:t>There can be a large number of paths in a program.</a:t>
            </a:r>
          </a:p>
          <a:p>
            <a:r>
              <a:rPr lang="en-US" sz="2400" dirty="0">
                <a:latin typeface="Times New Roman" pitchFamily="18" charset="0"/>
              </a:rPr>
              <a:t>There is an (input, expected output) pair for each path.</a:t>
            </a:r>
          </a:p>
          <a:p>
            <a:r>
              <a:rPr lang="en-US" sz="2400" dirty="0">
                <a:latin typeface="Times New Roman" pitchFamily="18" charset="0"/>
              </a:rPr>
              <a:t>Executing a path requires invoking the program unit with the right test input.</a:t>
            </a:r>
          </a:p>
          <a:p>
            <a:r>
              <a:rPr lang="en-US" sz="2400" dirty="0">
                <a:latin typeface="Times New Roman" pitchFamily="18" charset="0"/>
              </a:rPr>
              <a:t>Paths are chosen by using the concepts of path </a:t>
            </a:r>
            <a:r>
              <a:rPr lang="en-US" sz="2400" u="sng" dirty="0">
                <a:latin typeface="Times New Roman" pitchFamily="18" charset="0"/>
              </a:rPr>
              <a:t>selection criteria</a:t>
            </a:r>
            <a:r>
              <a:rPr lang="en-US" sz="2400" dirty="0">
                <a:latin typeface="Times New Roman" pitchFamily="18" charset="0"/>
              </a:rPr>
              <a:t>.</a:t>
            </a:r>
          </a:p>
          <a:p>
            <a:endParaRPr lang="en-US" sz="2400" dirty="0">
              <a:latin typeface="Times New Roman" pitchFamily="18" charset="0"/>
            </a:endParaRPr>
          </a:p>
          <a:p>
            <a:r>
              <a:rPr lang="en-US" sz="2000" dirty="0">
                <a:latin typeface="Times New Roman" pitchFamily="18" charset="0"/>
              </a:rPr>
              <a:t>Tools: Automatically generate test inputs from program paths.</a:t>
            </a:r>
            <a:endParaRPr lang="en-US" sz="2000" dirty="0"/>
          </a:p>
          <a:p>
            <a:endParaRPr lang="en-US" sz="2000" dirty="0"/>
          </a:p>
        </p:txBody>
      </p:sp>
      <p:pic>
        <p:nvPicPr>
          <p:cNvPr id="6" name="Picture 7">
            <a:extLst>
              <a:ext uri="{FF2B5EF4-FFF2-40B4-BE49-F238E27FC236}">
                <a16:creationId xmlns:a16="http://schemas.microsoft.com/office/drawing/2014/main" id="{F70475B2-C090-4CD6-9A5A-1D8D21C4144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301" r="1" b="1"/>
          <a:stretch/>
        </p:blipFill>
        <p:spPr bwMode="auto">
          <a:xfrm>
            <a:off x="7176516" y="1524881"/>
            <a:ext cx="5015484" cy="390010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59293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8" name="Rectangle 77">
            <a:extLst>
              <a:ext uri="{FF2B5EF4-FFF2-40B4-BE49-F238E27FC236}">
                <a16:creationId xmlns:a16="http://schemas.microsoft.com/office/drawing/2014/main" id="{AC5782D3-6CED-43A7-BE35-09C48F809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Freeform 6">
            <a:extLst>
              <a:ext uri="{FF2B5EF4-FFF2-40B4-BE49-F238E27FC236}">
                <a16:creationId xmlns:a16="http://schemas.microsoft.com/office/drawing/2014/main" id="{6721F593-ECD2-4B5B-AAE4-0866A4CDC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989586" y="1070835"/>
            <a:ext cx="687754"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2" name="Freeform 7">
            <a:extLst>
              <a:ext uri="{FF2B5EF4-FFF2-40B4-BE49-F238E27FC236}">
                <a16:creationId xmlns:a16="http://schemas.microsoft.com/office/drawing/2014/main" id="{71DEE99F-D18C-4025-BA3F-CEBF5258E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988949" y="803186"/>
            <a:ext cx="409371"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4" name="Rectangle 8">
            <a:extLst>
              <a:ext uri="{FF2B5EF4-FFF2-40B4-BE49-F238E27FC236}">
                <a16:creationId xmlns:a16="http://schemas.microsoft.com/office/drawing/2014/main" id="{976FA5D9-3A7C-4FA7-9BA8-1905D703F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7513372" y="804101"/>
            <a:ext cx="3880238"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Rectangle 3">
            <a:extLst>
              <a:ext uri="{FF2B5EF4-FFF2-40B4-BE49-F238E27FC236}">
                <a16:creationId xmlns:a16="http://schemas.microsoft.com/office/drawing/2014/main" id="{29C8933E-46F2-4BF5-938E-CA462EB559D9}"/>
              </a:ext>
            </a:extLst>
          </p:cNvPr>
          <p:cNvSpPr txBox="1">
            <a:spLocks noChangeArrowheads="1"/>
          </p:cNvSpPr>
          <p:nvPr/>
        </p:nvSpPr>
        <p:spPr>
          <a:xfrm>
            <a:off x="7835104" y="1213968"/>
            <a:ext cx="3220127" cy="1055987"/>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ct val="0"/>
              </a:spcBef>
              <a:spcAft>
                <a:spcPts val="600"/>
              </a:spcAft>
              <a:buClrTx/>
              <a:buSzTx/>
              <a:buFont typeface="Arial" panose="020B0604020202020204" pitchFamily="34" charset="0"/>
              <a:buNone/>
              <a:tabLst/>
              <a:defRPr/>
            </a:pPr>
            <a:r>
              <a:rPr kumimoji="0" lang="en-US" altLang="en-US" sz="3600" b="1" i="0" u="none" strike="noStrike" kern="1200" cap="none" spc="0" normalizeH="0" baseline="0" noProof="0" dirty="0">
                <a:ln>
                  <a:noFill/>
                </a:ln>
                <a:solidFill>
                  <a:srgbClr val="FFFFFF"/>
                </a:solidFill>
                <a:effectLst/>
                <a:uLnTx/>
                <a:uFillTx/>
                <a:latin typeface="Calibri Light" panose="020F0302020204030204"/>
                <a:ea typeface="+mn-ea"/>
                <a:cs typeface="+mn-cs"/>
              </a:rPr>
              <a:t>Exercise</a:t>
            </a:r>
          </a:p>
        </p:txBody>
      </p:sp>
      <p:pic>
        <p:nvPicPr>
          <p:cNvPr id="7" name="Picture 7">
            <a:extLst>
              <a:ext uri="{FF2B5EF4-FFF2-40B4-BE49-F238E27FC236}">
                <a16:creationId xmlns:a16="http://schemas.microsoft.com/office/drawing/2014/main" id="{7A984D01-3D07-4500-B8E8-54B6972644B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02" r="-2" b="-2"/>
          <a:stretch/>
        </p:blipFill>
        <p:spPr bwMode="auto">
          <a:xfrm>
            <a:off x="391408" y="806818"/>
            <a:ext cx="6730556" cy="524979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a:extLst>
              <a:ext uri="{FF2B5EF4-FFF2-40B4-BE49-F238E27FC236}">
                <a16:creationId xmlns:a16="http://schemas.microsoft.com/office/drawing/2014/main" id="{3E96250C-20EC-4946-9D02-7EFFCD6D2E6F}"/>
              </a:ext>
            </a:extLst>
          </p:cNvPr>
          <p:cNvSpPr>
            <a:spLocks noGrp="1"/>
          </p:cNvSpPr>
          <p:nvPr>
            <p:ph idx="1"/>
          </p:nvPr>
        </p:nvSpPr>
        <p:spPr>
          <a:xfrm>
            <a:off x="7835105" y="2536689"/>
            <a:ext cx="3264916" cy="3196203"/>
          </a:xfrm>
        </p:spPr>
        <p:txBody>
          <a:bodyPr vert="horz" lIns="91440" tIns="45720" rIns="91440" bIns="45720" rtlCol="0" anchor="t">
            <a:normAutofit lnSpcReduction="10000"/>
          </a:bodyPr>
          <a:lstStyle/>
          <a:p>
            <a:r>
              <a:rPr lang="en-US" altLang="en-US" sz="2300" dirty="0">
                <a:solidFill>
                  <a:srgbClr val="FFFFFF"/>
                </a:solidFill>
              </a:rPr>
              <a:t>What is a possible input for the above program to make it execute the path </a:t>
            </a:r>
          </a:p>
          <a:p>
            <a:pPr marL="0" indent="0">
              <a:buNone/>
            </a:pPr>
            <a:endParaRPr lang="en-US" altLang="en-US" sz="2300" dirty="0">
              <a:solidFill>
                <a:srgbClr val="FFFFFF"/>
              </a:solidFill>
            </a:endParaRPr>
          </a:p>
          <a:p>
            <a:pPr marL="0" indent="0">
              <a:buNone/>
            </a:pPr>
            <a:r>
              <a:rPr lang="en-US" altLang="en-US" sz="2300" b="1" u="sng" dirty="0">
                <a:solidFill>
                  <a:srgbClr val="FFFFFF"/>
                </a:solidFill>
              </a:rPr>
              <a:t> (1,10,12,13,17,18,20)</a:t>
            </a:r>
          </a:p>
          <a:p>
            <a:endParaRPr lang="en-US" altLang="en-US" sz="2300" dirty="0">
              <a:solidFill>
                <a:srgbClr val="FFFFFF"/>
              </a:solidFill>
            </a:endParaRPr>
          </a:p>
          <a:p>
            <a:r>
              <a:rPr lang="en-US" altLang="en-US" sz="2300" dirty="0">
                <a:solidFill>
                  <a:srgbClr val="FFFFFF"/>
                </a:solidFill>
              </a:rPr>
              <a:t>What is the expected output?</a:t>
            </a:r>
          </a:p>
        </p:txBody>
      </p:sp>
      <p:sp>
        <p:nvSpPr>
          <p:cNvPr id="25602" name="灯片编号占位符 5"/>
          <p:cNvSpPr>
            <a:spLocks noGrp="1"/>
          </p:cNvSpPr>
          <p:nvPr>
            <p:ph type="sldNum" sz="quarter" idx="12"/>
          </p:nvPr>
        </p:nvSpPr>
        <p:spPr>
          <a:xfrm>
            <a:off x="10546795" y="6383066"/>
            <a:ext cx="682311" cy="315931"/>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auto" latinLnBrk="0" hangingPunct="1">
              <a:lnSpc>
                <a:spcPct val="100000"/>
              </a:lnSpc>
              <a:spcBef>
                <a:spcPts val="0"/>
              </a:spcBef>
              <a:spcAft>
                <a:spcPts val="600"/>
              </a:spcAft>
              <a:buClrTx/>
              <a:buSzTx/>
              <a:buFontTx/>
              <a:buNone/>
              <a:tabLst/>
              <a:defRPr/>
            </a:pPr>
            <a:fld id="{71C540F3-9746-461E-86EA-4973D3ABD5D3}" type="slidenum">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600"/>
                </a:spcAft>
                <a:buClrTx/>
                <a:buSzTx/>
                <a:buFontTx/>
                <a:buNone/>
                <a:tabLst/>
                <a:defRPr/>
              </a:pPr>
              <a:t>16</a:t>
            </a:fld>
            <a:endPar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6" name="Rectangle 8">
            <a:extLst>
              <a:ext uri="{FF2B5EF4-FFF2-40B4-BE49-F238E27FC236}">
                <a16:creationId xmlns:a16="http://schemas.microsoft.com/office/drawing/2014/main" id="{4652D57C-331F-43B8-9C07-69FBA9C027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671258" y="1530154"/>
            <a:ext cx="520741"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5453367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Rectangle 2"/>
          <p:cNvSpPr>
            <a:spLocks noGrp="1" noChangeArrowheads="1"/>
          </p:cNvSpPr>
          <p:nvPr>
            <p:ph type="title"/>
          </p:nvPr>
        </p:nvSpPr>
        <p:spPr>
          <a:xfrm>
            <a:off x="473573" y="153288"/>
            <a:ext cx="11243268" cy="1325563"/>
          </a:xfrm>
        </p:spPr>
        <p:txBody>
          <a:bodyPr>
            <a:noAutofit/>
          </a:bodyPr>
          <a:lstStyle/>
          <a:p>
            <a:r>
              <a:rPr lang="en-US" sz="5000" cap="all" dirty="0">
                <a:blipFill>
                  <a:blip r:embed="rId3">
                    <a:extLst>
                      <a:ext uri="{28A0092B-C50C-407E-A947-70E740481C1C}">
                        <a14:useLocalDpi xmlns:a14="http://schemas.microsoft.com/office/drawing/2010/main" val="0"/>
                      </a:ext>
                    </a:extLst>
                  </a:blip>
                  <a:tile tx="6350" ty="-127000" sx="65000" sy="64000" flip="none" algn="tl"/>
                </a:blipFill>
                <a:latin typeface="Times New Roman" pitchFamily="18" charset="0"/>
              </a:rPr>
              <a:t>Paths in a Control Flow Graph</a:t>
            </a:r>
          </a:p>
        </p:txBody>
      </p:sp>
      <p:sp>
        <p:nvSpPr>
          <p:cNvPr id="324611" name="Rectangle 3"/>
          <p:cNvSpPr>
            <a:spLocks noGrp="1" noChangeArrowheads="1"/>
          </p:cNvSpPr>
          <p:nvPr>
            <p:ph idx="1"/>
          </p:nvPr>
        </p:nvSpPr>
        <p:spPr>
          <a:xfrm>
            <a:off x="361741" y="1923123"/>
            <a:ext cx="11083332" cy="4389120"/>
          </a:xfrm>
        </p:spPr>
        <p:txBody>
          <a:bodyPr/>
          <a:lstStyle/>
          <a:p>
            <a:pPr marL="363538" indent="-363538">
              <a:spcBef>
                <a:spcPts val="1200"/>
              </a:spcBef>
              <a:buClr>
                <a:schemeClr val="accent1">
                  <a:lumMod val="75000"/>
                </a:schemeClr>
              </a:buClr>
              <a:buSzPct val="85000"/>
              <a:buFont typeface="Wingdings" pitchFamily="2" charset="2"/>
              <a:buChar char="§"/>
            </a:pPr>
            <a:r>
              <a:rPr lang="en-US" sz="3000" dirty="0">
                <a:solidFill>
                  <a:schemeClr val="accent1">
                    <a:lumMod val="75000"/>
                  </a:schemeClr>
                </a:solidFill>
                <a:latin typeface="Times New Roman" pitchFamily="18" charset="0"/>
              </a:rPr>
              <a:t>A few paths:</a:t>
            </a:r>
          </a:p>
          <a:p>
            <a:pPr lvl="1"/>
            <a:endParaRPr lang="en-US" dirty="0">
              <a:latin typeface="Times New Roman" pitchFamily="18" charset="0"/>
            </a:endParaRPr>
          </a:p>
        </p:txBody>
      </p:sp>
      <p:sp>
        <p:nvSpPr>
          <p:cNvPr id="4" name="Rectangle 19"/>
          <p:cNvSpPr>
            <a:spLocks noGrp="1" noChangeArrowheads="1"/>
          </p:cNvSpPr>
          <p:nvPr>
            <p:ph type="sldNum" sz="quarter" idx="12"/>
          </p:nvPr>
        </p:nvSpPr>
        <p:spPr/>
        <p:txBody>
          <a:bodyPr/>
          <a:lstStyle/>
          <a:p>
            <a:fld id="{022B3DEA-145A-4210-8567-80420AB49536}" type="slidenum">
              <a:rPr lang="en-US"/>
              <a:pPr/>
              <a:t>17</a:t>
            </a:fld>
            <a:endParaRPr lang="en-US"/>
          </a:p>
        </p:txBody>
      </p:sp>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30451" y="2360142"/>
            <a:ext cx="7529513" cy="37193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28D31E1B-0407-4223-9642-0B642CBF57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28" name="Group 27">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29" name="Rectangle 28">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Rectangle 29">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 name="Rectangle 30">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33" name="Rectangle 32">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67266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00F3654-5540-45F5-A26E-5F58F9BB78E5}"/>
              </a:ext>
            </a:extLst>
          </p:cNvPr>
          <p:cNvSpPr>
            <a:spLocks noGrp="1"/>
          </p:cNvSpPr>
          <p:nvPr>
            <p:ph type="title"/>
          </p:nvPr>
        </p:nvSpPr>
        <p:spPr>
          <a:xfrm>
            <a:off x="1043631" y="873940"/>
            <a:ext cx="5052369" cy="1035781"/>
          </a:xfrm>
        </p:spPr>
        <p:txBody>
          <a:bodyPr anchor="ctr">
            <a:noAutofit/>
          </a:bodyPr>
          <a:lstStyle/>
          <a:p>
            <a:r>
              <a:rPr lang="en-US" sz="3000" cap="all" dirty="0">
                <a:blipFill>
                  <a:blip r:embed="rId2">
                    <a:extLst>
                      <a:ext uri="{28A0092B-C50C-407E-A947-70E740481C1C}">
                        <a14:useLocalDpi xmlns:a14="http://schemas.microsoft.com/office/drawing/2010/main" val="0"/>
                      </a:ext>
                    </a:extLst>
                  </a:blip>
                  <a:tile tx="6350" ty="-127000" sx="65000" sy="64000" flip="none" algn="tl"/>
                </a:blipFill>
                <a:latin typeface="Times New Roman" pitchFamily="18" charset="0"/>
              </a:rPr>
              <a:t>Feasible vs. Infeasible Paths</a:t>
            </a:r>
          </a:p>
        </p:txBody>
      </p:sp>
      <p:sp>
        <p:nvSpPr>
          <p:cNvPr id="7" name="Content Placeholder 6">
            <a:extLst>
              <a:ext uri="{FF2B5EF4-FFF2-40B4-BE49-F238E27FC236}">
                <a16:creationId xmlns:a16="http://schemas.microsoft.com/office/drawing/2014/main" id="{59E428C9-0467-43FB-BC39-6B0E7A0DD618}"/>
              </a:ext>
            </a:extLst>
          </p:cNvPr>
          <p:cNvSpPr>
            <a:spLocks noGrp="1"/>
          </p:cNvSpPr>
          <p:nvPr>
            <p:ph idx="1"/>
          </p:nvPr>
        </p:nvSpPr>
        <p:spPr>
          <a:xfrm>
            <a:off x="267838" y="2378136"/>
            <a:ext cx="6175826" cy="4114093"/>
          </a:xfrm>
        </p:spPr>
        <p:txBody>
          <a:bodyPr anchor="ctr">
            <a:normAutofit lnSpcReduction="10000"/>
          </a:bodyPr>
          <a:lstStyle/>
          <a:p>
            <a:pPr marL="363538" indent="-363538">
              <a:spcBef>
                <a:spcPts val="1200"/>
              </a:spcBef>
              <a:buClr>
                <a:schemeClr val="accent1">
                  <a:lumMod val="75000"/>
                </a:schemeClr>
              </a:buClr>
              <a:buSzPct val="85000"/>
              <a:buFont typeface="Wingdings" pitchFamily="2" charset="2"/>
              <a:buChar char="§"/>
            </a:pPr>
            <a:r>
              <a:rPr lang="en-US" sz="2400" dirty="0">
                <a:latin typeface="Times New Roman" pitchFamily="18" charset="0"/>
              </a:rPr>
              <a:t>Two kinds of paths:</a:t>
            </a:r>
          </a:p>
          <a:p>
            <a:pPr marL="363538" indent="-363538">
              <a:spcBef>
                <a:spcPts val="1200"/>
              </a:spcBef>
              <a:buClr>
                <a:schemeClr val="accent1">
                  <a:lumMod val="75000"/>
                </a:schemeClr>
              </a:buClr>
              <a:buSzPct val="85000"/>
              <a:buFont typeface="Wingdings" pitchFamily="2" charset="2"/>
              <a:buChar char="§"/>
            </a:pPr>
            <a:endParaRPr lang="en-US" sz="2400" dirty="0">
              <a:latin typeface="Times New Roman" pitchFamily="18" charset="0"/>
            </a:endParaRPr>
          </a:p>
          <a:p>
            <a:pPr marL="363538" indent="-363538">
              <a:spcBef>
                <a:spcPts val="1200"/>
              </a:spcBef>
              <a:buClr>
                <a:schemeClr val="accent1">
                  <a:lumMod val="75000"/>
                </a:schemeClr>
              </a:buClr>
              <a:buSzPct val="85000"/>
              <a:buFont typeface="Wingdings" pitchFamily="2" charset="2"/>
              <a:buChar char="§"/>
            </a:pPr>
            <a:r>
              <a:rPr lang="en-US" sz="2400" b="1" dirty="0">
                <a:solidFill>
                  <a:schemeClr val="accent1">
                    <a:lumMod val="75000"/>
                  </a:schemeClr>
                </a:solidFill>
                <a:latin typeface="Times New Roman" pitchFamily="18" charset="0"/>
              </a:rPr>
              <a:t>Executable path</a:t>
            </a:r>
            <a:r>
              <a:rPr lang="en-US" sz="2400" dirty="0">
                <a:latin typeface="Times New Roman" pitchFamily="18" charset="0"/>
              </a:rPr>
              <a:t>: There exists input so that the path is executed.</a:t>
            </a:r>
          </a:p>
          <a:p>
            <a:pPr marL="363538" indent="-363538">
              <a:spcBef>
                <a:spcPts val="1200"/>
              </a:spcBef>
              <a:buClr>
                <a:schemeClr val="accent1">
                  <a:lumMod val="75000"/>
                </a:schemeClr>
              </a:buClr>
              <a:buSzPct val="85000"/>
              <a:buFont typeface="Wingdings" pitchFamily="2" charset="2"/>
              <a:buChar char="§"/>
            </a:pPr>
            <a:r>
              <a:rPr lang="en-US" sz="2400" b="1" dirty="0">
                <a:solidFill>
                  <a:schemeClr val="accent1">
                    <a:lumMod val="75000"/>
                  </a:schemeClr>
                </a:solidFill>
                <a:latin typeface="Times New Roman" pitchFamily="18" charset="0"/>
              </a:rPr>
              <a:t>Infeasible path</a:t>
            </a:r>
            <a:r>
              <a:rPr lang="en-US" sz="2400" dirty="0">
                <a:latin typeface="Times New Roman" pitchFamily="18" charset="0"/>
              </a:rPr>
              <a:t>: There is no input to execute the path.</a:t>
            </a:r>
          </a:p>
          <a:p>
            <a:pPr marL="363538" lvl="2" indent="-363538">
              <a:spcBef>
                <a:spcPts val="1200"/>
              </a:spcBef>
              <a:buClr>
                <a:schemeClr val="accent1">
                  <a:lumMod val="75000"/>
                </a:schemeClr>
              </a:buClr>
              <a:buSzPct val="85000"/>
              <a:buFont typeface="Wingdings" pitchFamily="2" charset="2"/>
              <a:buChar char="§"/>
            </a:pPr>
            <a:endParaRPr lang="en-US" sz="2400" dirty="0">
              <a:latin typeface="Times New Roman" pitchFamily="18" charset="0"/>
            </a:endParaRPr>
          </a:p>
          <a:p>
            <a:pPr marL="363538" indent="-363538">
              <a:spcBef>
                <a:spcPts val="1200"/>
              </a:spcBef>
              <a:spcAft>
                <a:spcPts val="600"/>
              </a:spcAft>
              <a:buClr>
                <a:schemeClr val="accent1">
                  <a:lumMod val="75000"/>
                </a:schemeClr>
              </a:buClr>
              <a:buSzPct val="85000"/>
              <a:buFont typeface="Wingdings" pitchFamily="2" charset="2"/>
              <a:buChar char="§"/>
            </a:pPr>
            <a:r>
              <a:rPr lang="en-US" sz="2400" dirty="0">
                <a:latin typeface="Times New Roman" pitchFamily="18" charset="0"/>
              </a:rPr>
              <a:t>Consider the control flow graph shown where: A, B, J, C, D and K are computation nodes that do not affect the value of x. </a:t>
            </a:r>
          </a:p>
        </p:txBody>
      </p:sp>
      <p:sp>
        <p:nvSpPr>
          <p:cNvPr id="35" name="Rectangle 34">
            <a:extLst>
              <a:ext uri="{FF2B5EF4-FFF2-40B4-BE49-F238E27FC236}">
                <a16:creationId xmlns:a16="http://schemas.microsoft.com/office/drawing/2014/main" id="{70E96339-907C-46C3-99AC-31179B6F0E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16299" y="608401"/>
            <a:ext cx="4637502" cy="559344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4E9FEF31-5081-4474-842B-EE0E7FE913F4}"/>
              </a:ext>
            </a:extLst>
          </p:cNvPr>
          <p:cNvPicPr>
            <a:picLocks noChangeAspect="1"/>
          </p:cNvPicPr>
          <p:nvPr/>
        </p:nvPicPr>
        <p:blipFill>
          <a:blip r:embed="rId3"/>
          <a:stretch>
            <a:fillRect/>
          </a:stretch>
        </p:blipFill>
        <p:spPr>
          <a:xfrm>
            <a:off x="7559727" y="901032"/>
            <a:ext cx="2964783" cy="5116220"/>
          </a:xfrm>
          <a:prstGeom prst="rect">
            <a:avLst/>
          </a:prstGeom>
        </p:spPr>
      </p:pic>
      <p:cxnSp>
        <p:nvCxnSpPr>
          <p:cNvPr id="37" name="Straight Connector 3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8AC077A-8E9D-471F-88FB-21996CDDA684}"/>
              </a:ext>
            </a:extLst>
          </p:cNvPr>
          <p:cNvSpPr txBox="1"/>
          <p:nvPr/>
        </p:nvSpPr>
        <p:spPr>
          <a:xfrm>
            <a:off x="267838" y="4314830"/>
            <a:ext cx="6175826" cy="1887014"/>
          </a:xfrm>
          <a:prstGeom prst="rect">
            <a:avLst/>
          </a:prstGeom>
        </p:spPr>
        <p:txBody>
          <a:bodyPr vert="horz" lIns="91440" tIns="45720" rIns="91440" bIns="45720" rtlCol="0" anchor="ctr">
            <a:normAutofit/>
          </a:bodyPr>
          <a:lstStyle/>
          <a:p>
            <a:pPr marL="0" marR="0" lvl="0" indent="0" algn="just" defTabSz="914400" rtl="0" eaLnBrk="1" fontAlgn="auto" latinLnBrk="0" hangingPunct="1">
              <a:lnSpc>
                <a:spcPct val="90000"/>
              </a:lnSpc>
              <a:spcBef>
                <a:spcPts val="0"/>
              </a:spcBef>
              <a:spcAft>
                <a:spcPts val="60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lide Number Placeholder 2">
            <a:extLst>
              <a:ext uri="{FF2B5EF4-FFF2-40B4-BE49-F238E27FC236}">
                <a16:creationId xmlns:a16="http://schemas.microsoft.com/office/drawing/2014/main" id="{76CD19CD-BE54-45EE-B760-033B33E3887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02611B-C7D4-401B-B615-A1AB963424CC}"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27707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Rectangle 2"/>
          <p:cNvSpPr>
            <a:spLocks noGrp="1" noChangeArrowheads="1"/>
          </p:cNvSpPr>
          <p:nvPr>
            <p:ph type="title"/>
          </p:nvPr>
        </p:nvSpPr>
        <p:spPr>
          <a:xfrm>
            <a:off x="409302" y="31857"/>
            <a:ext cx="11373395" cy="1143000"/>
          </a:xfrm>
        </p:spPr>
        <p:txBody>
          <a:bodyPr>
            <a:normAutofit/>
          </a:bodyPr>
          <a:lstStyle/>
          <a:p>
            <a:r>
              <a:rPr lang="en-US" sz="4500" dirty="0">
                <a:latin typeface="Times New Roman" pitchFamily="18" charset="0"/>
              </a:rPr>
              <a:t>Outline of Control Flow Testing</a:t>
            </a:r>
          </a:p>
        </p:txBody>
      </p:sp>
      <p:sp>
        <p:nvSpPr>
          <p:cNvPr id="313347" name="Rectangle 3"/>
          <p:cNvSpPr>
            <a:spLocks noGrp="1" noChangeArrowheads="1"/>
          </p:cNvSpPr>
          <p:nvPr>
            <p:ph type="body" orient="vert" idx="1"/>
          </p:nvPr>
        </p:nvSpPr>
        <p:spPr>
          <a:xfrm>
            <a:off x="1069848" y="2441448"/>
            <a:ext cx="10058400" cy="4050792"/>
          </a:xfrm>
        </p:spPr>
        <p:txBody>
          <a:bodyPr/>
          <a:lstStyle/>
          <a:p>
            <a:pPr>
              <a:buFontTx/>
              <a:buNone/>
            </a:pPr>
            <a:endParaRPr lang="en-US" dirty="0">
              <a:latin typeface="Times New Roman" pitchFamily="18" charset="0"/>
            </a:endParaRPr>
          </a:p>
          <a:p>
            <a:pPr>
              <a:buFontTx/>
              <a:buNone/>
            </a:pPr>
            <a:endParaRPr lang="en-US" dirty="0">
              <a:latin typeface="Times New Roman" pitchFamily="18" charset="0"/>
            </a:endParaRPr>
          </a:p>
          <a:p>
            <a:pPr>
              <a:buFontTx/>
              <a:buNone/>
            </a:pPr>
            <a:endParaRPr lang="en-US" dirty="0">
              <a:latin typeface="Times New Roman" pitchFamily="18" charset="0"/>
            </a:endParaRPr>
          </a:p>
          <a:p>
            <a:pPr>
              <a:buFontTx/>
              <a:buNone/>
            </a:pPr>
            <a:endParaRPr lang="en-US" dirty="0">
              <a:latin typeface="Times New Roman" pitchFamily="18" charset="0"/>
            </a:endParaRPr>
          </a:p>
          <a:p>
            <a:pPr>
              <a:buFontTx/>
              <a:buNone/>
            </a:pPr>
            <a:endParaRPr lang="en-US" dirty="0">
              <a:latin typeface="Times New Roman" pitchFamily="18" charset="0"/>
            </a:endParaRPr>
          </a:p>
          <a:p>
            <a:pPr>
              <a:buFontTx/>
              <a:buNone/>
            </a:pPr>
            <a:endParaRPr lang="en-US" dirty="0">
              <a:latin typeface="Times New Roman" pitchFamily="18" charset="0"/>
            </a:endParaRPr>
          </a:p>
          <a:p>
            <a:pPr>
              <a:buFontTx/>
              <a:buNone/>
            </a:pPr>
            <a:endParaRPr lang="en-US" dirty="0">
              <a:latin typeface="Times New Roman" pitchFamily="18" charset="0"/>
            </a:endParaRPr>
          </a:p>
          <a:p>
            <a:pPr>
              <a:buFontTx/>
              <a:buNone/>
            </a:pPr>
            <a:endParaRPr lang="en-US" dirty="0">
              <a:latin typeface="Times New Roman" pitchFamily="18" charset="0"/>
            </a:endParaRPr>
          </a:p>
          <a:p>
            <a:pPr>
              <a:buFontTx/>
              <a:buNone/>
            </a:pPr>
            <a:endParaRPr lang="en-US" dirty="0">
              <a:latin typeface="Times New Roman" pitchFamily="18" charset="0"/>
            </a:endParaRPr>
          </a:p>
          <a:p>
            <a:pPr>
              <a:buFontTx/>
              <a:buNone/>
            </a:pPr>
            <a:endParaRPr lang="en-US" dirty="0">
              <a:latin typeface="Times New Roman" pitchFamily="18" charset="0"/>
            </a:endParaRPr>
          </a:p>
          <a:p>
            <a:pPr>
              <a:buFontTx/>
              <a:buNone/>
            </a:pPr>
            <a:endParaRPr lang="en-US" dirty="0">
              <a:latin typeface="Times New Roman" pitchFamily="18" charset="0"/>
            </a:endParaRPr>
          </a:p>
          <a:p>
            <a:pPr>
              <a:buFontTx/>
              <a:buNone/>
            </a:pPr>
            <a:endParaRPr lang="en-US" dirty="0">
              <a:latin typeface="Times New Roman" pitchFamily="18" charset="0"/>
            </a:endParaRPr>
          </a:p>
        </p:txBody>
      </p:sp>
      <p:sp>
        <p:nvSpPr>
          <p:cNvPr id="6" name="Rectangle 19"/>
          <p:cNvSpPr>
            <a:spLocks noGrp="1" noChangeArrowheads="1"/>
          </p:cNvSpPr>
          <p:nvPr>
            <p:ph type="sldNum" sz="quarter" idx="12"/>
          </p:nvPr>
        </p:nvSpPr>
        <p:spPr>
          <a:xfrm>
            <a:off x="11311128" y="6592824"/>
            <a:ext cx="640080" cy="365125"/>
          </a:xfr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06D2A39-4241-44F9-84E5-1BD2D39FD6A9}" type="slidenum">
              <a:rPr kumimoji="0" lang="en-US" sz="1200" b="1" i="0" u="none" strike="noStrike" kern="1200" cap="none" spc="0" normalizeH="0" baseline="0" noProof="0">
                <a:ln>
                  <a:noFill/>
                </a:ln>
                <a:solidFill>
                  <a:srgbClr val="04617B">
                    <a:shade val="90000"/>
                  </a:srgbClr>
                </a:solidFill>
                <a:effectLst/>
                <a:uLnTx/>
                <a:uFillTx/>
                <a:latin typeface="Times New Roman"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sz="1200" b="1" i="0" u="none" strike="noStrike" kern="1200" cap="none" spc="0" normalizeH="0" baseline="0" noProof="0">
              <a:ln>
                <a:noFill/>
              </a:ln>
              <a:solidFill>
                <a:srgbClr val="04617B">
                  <a:shade val="90000"/>
                </a:srgbClr>
              </a:solidFill>
              <a:effectLst/>
              <a:uLnTx/>
              <a:uFillTx/>
              <a:latin typeface="Times New Roman" pitchFamily="18" charset="0"/>
              <a:ea typeface="+mn-ea"/>
              <a:cs typeface="+mn-cs"/>
            </a:endParaRPr>
          </a:p>
        </p:txBody>
      </p:sp>
      <p:pic>
        <p:nvPicPr>
          <p:cNvPr id="313348" name="Picture 4" descr="pathoutline"/>
          <p:cNvPicPr>
            <a:picLocks noChangeAspect="1" noChangeArrowheads="1"/>
          </p:cNvPicPr>
          <p:nvPr/>
        </p:nvPicPr>
        <p:blipFill>
          <a:blip r:embed="rId3" cstate="print"/>
          <a:srcRect/>
          <a:stretch>
            <a:fillRect/>
          </a:stretch>
        </p:blipFill>
        <p:spPr bwMode="auto">
          <a:xfrm>
            <a:off x="850605" y="1444399"/>
            <a:ext cx="9473609" cy="4843462"/>
          </a:xfrm>
          <a:prstGeom prst="rect">
            <a:avLst/>
          </a:prstGeom>
          <a:noFill/>
        </p:spPr>
      </p:pic>
      <p:sp>
        <p:nvSpPr>
          <p:cNvPr id="313349" name="Text Box 5"/>
          <p:cNvSpPr txBox="1">
            <a:spLocks noChangeArrowheads="1"/>
          </p:cNvSpPr>
          <p:nvPr/>
        </p:nvSpPr>
        <p:spPr bwMode="auto">
          <a:xfrm>
            <a:off x="2854338" y="6287861"/>
            <a:ext cx="6830716" cy="400110"/>
          </a:xfrm>
          <a:prstGeom prst="rect">
            <a:avLst/>
          </a:prstGeom>
          <a:noFill/>
          <a:ln w="12700">
            <a:noFill/>
            <a:miter lim="800000"/>
            <a:headEnd type="none" w="sm" len="sm"/>
            <a:tailEnd type="none" w="sm" len="sm"/>
          </a:ln>
          <a:effectLst/>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Times New Roman" pitchFamily="18" charset="0"/>
                <a:ea typeface="+mn-ea"/>
                <a:cs typeface="+mn-cs"/>
              </a:rPr>
              <a:t>The process of generating test input data for control flow testing.</a:t>
            </a:r>
          </a:p>
        </p:txBody>
      </p:sp>
    </p:spTree>
    <p:extLst>
      <p:ext uri="{BB962C8B-B14F-4D97-AF65-F5344CB8AC3E}">
        <p14:creationId xmlns:p14="http://schemas.microsoft.com/office/powerpoint/2010/main" val="1059214657"/>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6428" name="Rectangle 71">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16429" name="Rectangle 73">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6430" name="Rectangle 75">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Rectangle 77">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Rectangle 79">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2" name="Freeform: Shape 81">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4" name="Rectangle 83">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6418" name="Rectangle 2"/>
          <p:cNvSpPr>
            <a:spLocks noGrp="1" noChangeArrowheads="1"/>
          </p:cNvSpPr>
          <p:nvPr>
            <p:ph type="title"/>
          </p:nvPr>
        </p:nvSpPr>
        <p:spPr>
          <a:xfrm>
            <a:off x="0" y="586855"/>
            <a:ext cx="3668088" cy="3387497"/>
          </a:xfrm>
        </p:spPr>
        <p:txBody>
          <a:bodyPr anchor="b">
            <a:normAutofit/>
          </a:bodyPr>
          <a:lstStyle/>
          <a:p>
            <a:r>
              <a:rPr lang="en-US" sz="4500" cap="all" dirty="0">
                <a:solidFill>
                  <a:schemeClr val="bg2"/>
                </a:solidFill>
                <a:latin typeface="Times New Roman" pitchFamily="18" charset="0"/>
              </a:rPr>
              <a:t>Path Selection Criteria</a:t>
            </a:r>
          </a:p>
        </p:txBody>
      </p:sp>
      <p:sp>
        <p:nvSpPr>
          <p:cNvPr id="316419" name="Rectangle 3"/>
          <p:cNvSpPr>
            <a:spLocks noGrp="1" noChangeArrowheads="1"/>
          </p:cNvSpPr>
          <p:nvPr>
            <p:ph idx="1"/>
          </p:nvPr>
        </p:nvSpPr>
        <p:spPr>
          <a:xfrm>
            <a:off x="4367695" y="178762"/>
            <a:ext cx="7619518" cy="6520752"/>
          </a:xfrm>
        </p:spPr>
        <p:txBody>
          <a:bodyPr anchor="ctr">
            <a:normAutofit/>
          </a:bodyPr>
          <a:lstStyle/>
          <a:p>
            <a:r>
              <a:rPr lang="en-US" sz="2000" dirty="0">
                <a:latin typeface="Times New Roman" pitchFamily="18" charset="0"/>
              </a:rPr>
              <a:t>Program paths are selectively executed.</a:t>
            </a:r>
          </a:p>
          <a:p>
            <a:r>
              <a:rPr lang="en-US" sz="2000" dirty="0">
                <a:solidFill>
                  <a:schemeClr val="accent5"/>
                </a:solidFill>
                <a:latin typeface="Times New Roman" pitchFamily="18" charset="0"/>
              </a:rPr>
              <a:t>Question</a:t>
            </a:r>
            <a:r>
              <a:rPr lang="en-US" sz="2000" dirty="0">
                <a:latin typeface="Times New Roman" pitchFamily="18" charset="0"/>
              </a:rPr>
              <a:t>: </a:t>
            </a:r>
            <a:r>
              <a:rPr lang="en-US" sz="2000" b="1" dirty="0">
                <a:latin typeface="Times New Roman" pitchFamily="18" charset="0"/>
              </a:rPr>
              <a:t>What paths do I select for testing?</a:t>
            </a:r>
          </a:p>
          <a:p>
            <a:r>
              <a:rPr lang="en-US" sz="2000" dirty="0">
                <a:latin typeface="Times New Roman" pitchFamily="18" charset="0"/>
              </a:rPr>
              <a:t>The concept of </a:t>
            </a:r>
            <a:r>
              <a:rPr lang="en-US" sz="2000" i="1" dirty="0">
                <a:solidFill>
                  <a:srgbClr val="00B050"/>
                </a:solidFill>
                <a:latin typeface="Times New Roman" pitchFamily="18" charset="0"/>
              </a:rPr>
              <a:t>path selection criteria</a:t>
            </a:r>
            <a:r>
              <a:rPr lang="en-US" sz="2000" dirty="0">
                <a:solidFill>
                  <a:srgbClr val="00B050"/>
                </a:solidFill>
                <a:latin typeface="Times New Roman" pitchFamily="18" charset="0"/>
              </a:rPr>
              <a:t> </a:t>
            </a:r>
            <a:r>
              <a:rPr lang="en-US" sz="2000" dirty="0">
                <a:latin typeface="Times New Roman" pitchFamily="18" charset="0"/>
              </a:rPr>
              <a:t>is used to answer the question.</a:t>
            </a:r>
          </a:p>
          <a:p>
            <a:r>
              <a:rPr lang="en-US" sz="2000" dirty="0">
                <a:latin typeface="Times New Roman" pitchFamily="18" charset="0"/>
              </a:rPr>
              <a:t>Advantages of selecting paths based on defined criteria:</a:t>
            </a:r>
          </a:p>
          <a:p>
            <a:pPr lvl="1"/>
            <a:r>
              <a:rPr lang="en-US" sz="2000" dirty="0">
                <a:latin typeface="Times New Roman" pitchFamily="18" charset="0"/>
              </a:rPr>
              <a:t>Ensure that all program constructs are executed at least once.</a:t>
            </a:r>
          </a:p>
          <a:p>
            <a:pPr lvl="1"/>
            <a:r>
              <a:rPr lang="en-US" sz="2000" dirty="0">
                <a:latin typeface="Times New Roman" pitchFamily="18" charset="0"/>
              </a:rPr>
              <a:t>Repeated selection of the same path is avoided.</a:t>
            </a:r>
          </a:p>
          <a:p>
            <a:pPr lvl="1"/>
            <a:r>
              <a:rPr lang="en-US" sz="2000" dirty="0">
                <a:latin typeface="Times New Roman" pitchFamily="18" charset="0"/>
              </a:rPr>
              <a:t>One can easily identify what features have been tested and what not. </a:t>
            </a:r>
          </a:p>
          <a:p>
            <a:r>
              <a:rPr lang="en-US" sz="2000" b="1" dirty="0">
                <a:solidFill>
                  <a:srgbClr val="00B050"/>
                </a:solidFill>
                <a:latin typeface="Times New Roman" pitchFamily="18" charset="0"/>
              </a:rPr>
              <a:t>Path selection criteria</a:t>
            </a:r>
          </a:p>
          <a:p>
            <a:pPr lvl="1"/>
            <a:r>
              <a:rPr lang="en-US" sz="2000" dirty="0">
                <a:latin typeface="Times New Roman" pitchFamily="18" charset="0"/>
              </a:rPr>
              <a:t>Select paths to achieve </a:t>
            </a:r>
            <a:r>
              <a:rPr lang="en-US" sz="2000" b="1" dirty="0">
                <a:latin typeface="Times New Roman" pitchFamily="18" charset="0"/>
              </a:rPr>
              <a:t>complete statement coverage.</a:t>
            </a:r>
          </a:p>
          <a:p>
            <a:pPr lvl="1"/>
            <a:r>
              <a:rPr lang="en-US" sz="2000" dirty="0">
                <a:latin typeface="Times New Roman" pitchFamily="18" charset="0"/>
              </a:rPr>
              <a:t>Select paths to achieve </a:t>
            </a:r>
            <a:r>
              <a:rPr lang="en-US" sz="2000" b="1" dirty="0">
                <a:latin typeface="Times New Roman" pitchFamily="18" charset="0"/>
              </a:rPr>
              <a:t>complete branch coverage.</a:t>
            </a:r>
          </a:p>
          <a:p>
            <a:pPr lvl="1"/>
            <a:r>
              <a:rPr lang="en-US" sz="2000" b="1" dirty="0">
                <a:latin typeface="Times New Roman" pitchFamily="18" charset="0"/>
              </a:rPr>
              <a:t>Simple Path coverage</a:t>
            </a:r>
            <a:r>
              <a:rPr lang="en-US" sz="2000" dirty="0">
                <a:latin typeface="Times New Roman" pitchFamily="18" charset="0"/>
              </a:rPr>
              <a:t>.</a:t>
            </a:r>
          </a:p>
          <a:p>
            <a:pPr lvl="1"/>
            <a:r>
              <a:rPr lang="en-US" sz="2000" b="1" dirty="0">
                <a:latin typeface="Times New Roman" pitchFamily="18" charset="0"/>
              </a:rPr>
              <a:t>All Path coverage</a:t>
            </a:r>
            <a:r>
              <a:rPr lang="en-US" sz="2000" dirty="0">
                <a:latin typeface="Times New Roman" pitchFamily="18" charset="0"/>
              </a:rPr>
              <a:t>.</a:t>
            </a:r>
          </a:p>
          <a:p>
            <a:pPr lvl="1"/>
            <a:r>
              <a:rPr lang="en-US" sz="2000" b="1" dirty="0">
                <a:latin typeface="Times New Roman" pitchFamily="18" charset="0"/>
              </a:rPr>
              <a:t>Visit each loop</a:t>
            </a:r>
          </a:p>
          <a:p>
            <a:pPr lvl="1"/>
            <a:r>
              <a:rPr lang="en-US" sz="2000" dirty="0">
                <a:latin typeface="Times New Roman" pitchFamily="18" charset="0"/>
              </a:rPr>
              <a:t>Linearly Independent Paths</a:t>
            </a:r>
          </a:p>
        </p:txBody>
      </p:sp>
      <p:sp>
        <p:nvSpPr>
          <p:cNvPr id="4" name="Rectangle 19"/>
          <p:cNvSpPr>
            <a:spLocks noGrp="1" noChangeArrowheads="1"/>
          </p:cNvSpPr>
          <p:nvPr>
            <p:ph type="sldNum" sz="quarter" idx="12"/>
          </p:nvPr>
        </p:nvSpPr>
        <p:spPr>
          <a:xfrm>
            <a:off x="11704320" y="6455664"/>
            <a:ext cx="448056" cy="365125"/>
          </a:xfrm>
        </p:spPr>
        <p:txBody>
          <a:bodyPr>
            <a:normAutofit/>
          </a:bodyPr>
          <a:lstStyle/>
          <a:p>
            <a:pPr marL="0" marR="0" lvl="0" indent="0" algn="r" defTabSz="914400" rtl="0" eaLnBrk="1" fontAlgn="base" latinLnBrk="0" hangingPunct="1">
              <a:lnSpc>
                <a:spcPct val="100000"/>
              </a:lnSpc>
              <a:spcBef>
                <a:spcPct val="0"/>
              </a:spcBef>
              <a:spcAft>
                <a:spcPts val="600"/>
              </a:spcAft>
              <a:buClrTx/>
              <a:buSzTx/>
              <a:buFontTx/>
              <a:buNone/>
              <a:tabLst/>
              <a:defRPr/>
            </a:pPr>
            <a:fld id="{8FA42B7D-09FF-4F95-8666-FC5041748E2B}" type="slidenum">
              <a:rPr kumimoji="0" lang="en-US" sz="1100" b="1" i="0" u="none" strike="noStrike" kern="1200" cap="none" spc="0" normalizeH="0" baseline="0" noProof="0">
                <a:ln>
                  <a:noFill/>
                </a:ln>
                <a:solidFill>
                  <a:prstClr val="black">
                    <a:lumMod val="50000"/>
                    <a:lumOff val="50000"/>
                  </a:prstClr>
                </a:solidFill>
                <a:effectLst/>
                <a:uLnTx/>
                <a:uFillTx/>
                <a:latin typeface="Times New Roman" pitchFamily="18" charset="0"/>
                <a:ea typeface="+mn-ea"/>
                <a:cs typeface="+mn-cs"/>
              </a:rPr>
              <a:pPr marL="0" marR="0" lvl="0" indent="0" algn="r" defTabSz="914400" rtl="0" eaLnBrk="1" fontAlgn="base" latinLnBrk="0" hangingPunct="1">
                <a:lnSpc>
                  <a:spcPct val="100000"/>
                </a:lnSpc>
                <a:spcBef>
                  <a:spcPct val="0"/>
                </a:spcBef>
                <a:spcAft>
                  <a:spcPts val="600"/>
                </a:spcAft>
                <a:buClrTx/>
                <a:buSzTx/>
                <a:buFontTx/>
                <a:buNone/>
                <a:tabLst/>
                <a:defRPr/>
              </a:pPr>
              <a:t>20</a:t>
            </a:fld>
            <a:endParaRPr kumimoji="0" lang="en-US" sz="1100" b="1" i="0" u="none" strike="noStrike" kern="1200" cap="none" spc="0" normalizeH="0" baseline="0" noProof="0">
              <a:ln>
                <a:noFill/>
              </a:ln>
              <a:solidFill>
                <a:prstClr val="black">
                  <a:lumMod val="50000"/>
                  <a:lumOff val="50000"/>
                </a:prstClr>
              </a:solidFill>
              <a:effectLst/>
              <a:uLnTx/>
              <a:uFillTx/>
              <a:latin typeface="Times New Roman" pitchFamily="18" charset="0"/>
              <a:ea typeface="+mn-ea"/>
              <a:cs typeface="+mn-cs"/>
            </a:endParaRPr>
          </a:p>
        </p:txBody>
      </p:sp>
    </p:spTree>
    <p:extLst>
      <p:ext uri="{BB962C8B-B14F-4D97-AF65-F5344CB8AC3E}">
        <p14:creationId xmlns:p14="http://schemas.microsoft.com/office/powerpoint/2010/main" val="149443255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6419">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6419">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16419">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16419">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16419">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6419">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16419">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16419">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16419">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16419">
                                            <p:txEl>
                                              <p:pRg st="11" end="1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16419">
                                            <p:txEl>
                                              <p:pRg st="12" end="1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16419">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74" name="Rectangle 73">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Rectangle 75">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Rectangle 77">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Rectangle 79">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2" name="Freeform: Shape 81">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4" name="Rectangle 83">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4850" name="Rectangle 2"/>
          <p:cNvSpPr>
            <a:spLocks noGrp="1" noChangeArrowheads="1"/>
          </p:cNvSpPr>
          <p:nvPr>
            <p:ph type="title"/>
          </p:nvPr>
        </p:nvSpPr>
        <p:spPr>
          <a:xfrm>
            <a:off x="184388" y="707754"/>
            <a:ext cx="3765073" cy="3387497"/>
          </a:xfrm>
        </p:spPr>
        <p:txBody>
          <a:bodyPr anchor="b">
            <a:noAutofit/>
          </a:bodyPr>
          <a:lstStyle/>
          <a:p>
            <a:r>
              <a:rPr lang="en-US" sz="4500" cap="all" dirty="0">
                <a:solidFill>
                  <a:schemeClr val="bg2"/>
                </a:solidFill>
                <a:latin typeface="Times New Roman" pitchFamily="18" charset="0"/>
              </a:rPr>
              <a:t>Statement coverage criterion</a:t>
            </a:r>
          </a:p>
        </p:txBody>
      </p:sp>
      <p:sp>
        <p:nvSpPr>
          <p:cNvPr id="334851" name="Rectangle 3"/>
          <p:cNvSpPr>
            <a:spLocks noGrp="1" noChangeArrowheads="1"/>
          </p:cNvSpPr>
          <p:nvPr>
            <p:ph type="body" orient="vert" idx="4294967295"/>
          </p:nvPr>
        </p:nvSpPr>
        <p:spPr>
          <a:xfrm>
            <a:off x="3657606" y="1025234"/>
            <a:ext cx="8350006" cy="6400800"/>
          </a:xfrm>
        </p:spPr>
        <p:txBody>
          <a:bodyPr anchor="ctr">
            <a:normAutofit/>
          </a:bodyPr>
          <a:lstStyle/>
          <a:p>
            <a:pPr marL="0" indent="0" algn="just">
              <a:buNone/>
            </a:pPr>
            <a:endParaRPr lang="en-US" sz="3000" dirty="0">
              <a:latin typeface="Times New Roman" pitchFamily="18" charset="0"/>
            </a:endParaRPr>
          </a:p>
          <a:p>
            <a:pPr lvl="1" algn="just"/>
            <a:r>
              <a:rPr lang="en-US" sz="3000" dirty="0">
                <a:latin typeface="Times New Roman" pitchFamily="18" charset="0"/>
              </a:rPr>
              <a:t>Statement coverage means executing individual program statements and observing the output.</a:t>
            </a:r>
          </a:p>
          <a:p>
            <a:pPr marL="457200" lvl="1" indent="0" algn="just">
              <a:buNone/>
            </a:pPr>
            <a:endParaRPr lang="en-US" sz="3000" dirty="0">
              <a:latin typeface="Times New Roman" pitchFamily="18" charset="0"/>
            </a:endParaRPr>
          </a:p>
          <a:p>
            <a:pPr lvl="1" algn="just"/>
            <a:r>
              <a:rPr lang="en-US" sz="3000" dirty="0">
                <a:latin typeface="Times New Roman" pitchFamily="18" charset="0"/>
              </a:rPr>
              <a:t>100% statement coverage means all the statements have been executed at least once.</a:t>
            </a:r>
          </a:p>
          <a:p>
            <a:pPr lvl="1" algn="just"/>
            <a:endParaRPr lang="en-US" sz="3000" dirty="0">
              <a:latin typeface="Times New Roman" pitchFamily="18" charset="0"/>
            </a:endParaRPr>
          </a:p>
          <a:p>
            <a:pPr lvl="2" algn="just"/>
            <a:r>
              <a:rPr lang="en-US" sz="3000" dirty="0">
                <a:latin typeface="Times New Roman" pitchFamily="18" charset="0"/>
              </a:rPr>
              <a:t>Cover all assignment statements.</a:t>
            </a:r>
          </a:p>
          <a:p>
            <a:pPr lvl="2" algn="just"/>
            <a:r>
              <a:rPr lang="en-US" sz="3000" dirty="0">
                <a:latin typeface="Times New Roman" pitchFamily="18" charset="0"/>
              </a:rPr>
              <a:t>Cover all conditional statements.</a:t>
            </a:r>
          </a:p>
          <a:p>
            <a:pPr marL="914400" lvl="2" indent="0" algn="just">
              <a:buNone/>
            </a:pPr>
            <a:endParaRPr lang="en-US" sz="3000" dirty="0">
              <a:latin typeface="Times New Roman" pitchFamily="18" charset="0"/>
            </a:endParaRPr>
          </a:p>
          <a:p>
            <a:pPr lvl="1" algn="just"/>
            <a:r>
              <a:rPr lang="en-US" sz="3000" dirty="0">
                <a:latin typeface="Times New Roman" pitchFamily="18" charset="0"/>
              </a:rPr>
              <a:t>Less than 100% statement coverage is unacceptable.</a:t>
            </a:r>
          </a:p>
          <a:p>
            <a:pPr lvl="1"/>
            <a:endParaRPr lang="en-US" sz="3000" dirty="0">
              <a:latin typeface="Times New Roman" pitchFamily="18" charset="0"/>
            </a:endParaRPr>
          </a:p>
          <a:p>
            <a:pPr lvl="1"/>
            <a:endParaRPr lang="en-US" sz="3000" dirty="0">
              <a:latin typeface="Times New Roman" pitchFamily="18" charset="0"/>
            </a:endParaRPr>
          </a:p>
          <a:p>
            <a:pPr lvl="1">
              <a:buFontTx/>
              <a:buNone/>
            </a:pPr>
            <a:endParaRPr lang="en-US" sz="3000" dirty="0">
              <a:latin typeface="Times New Roman" pitchFamily="18" charset="0"/>
            </a:endParaRPr>
          </a:p>
          <a:p>
            <a:pPr lvl="1"/>
            <a:endParaRPr lang="en-US" sz="3000" dirty="0">
              <a:latin typeface="Times New Roman" pitchFamily="18" charset="0"/>
            </a:endParaRPr>
          </a:p>
        </p:txBody>
      </p:sp>
      <p:sp>
        <p:nvSpPr>
          <p:cNvPr id="15" name="Rectangle 19"/>
          <p:cNvSpPr>
            <a:spLocks noGrp="1" noChangeArrowheads="1"/>
          </p:cNvSpPr>
          <p:nvPr>
            <p:ph type="sldNum" sz="quarter" idx="12"/>
          </p:nvPr>
        </p:nvSpPr>
        <p:spPr>
          <a:xfrm>
            <a:off x="11704320" y="6455664"/>
            <a:ext cx="448056" cy="365125"/>
          </a:xfrm>
        </p:spPr>
        <p:txBody>
          <a:bodyPr>
            <a:normAutofit/>
          </a:bodyPr>
          <a:lstStyle/>
          <a:p>
            <a:pPr marL="0" marR="0" lvl="0" indent="0" algn="r" defTabSz="914400" rtl="0" eaLnBrk="1" fontAlgn="base" latinLnBrk="0" hangingPunct="1">
              <a:lnSpc>
                <a:spcPct val="100000"/>
              </a:lnSpc>
              <a:spcBef>
                <a:spcPct val="0"/>
              </a:spcBef>
              <a:spcAft>
                <a:spcPts val="600"/>
              </a:spcAft>
              <a:buClrTx/>
              <a:buSzTx/>
              <a:buFontTx/>
              <a:buNone/>
              <a:tabLst/>
              <a:defRPr/>
            </a:pPr>
            <a:fld id="{55AD5CD3-2EA4-4BAE-8223-67622F9B04F6}" type="slidenum">
              <a:rPr kumimoji="0" lang="en-US" sz="1100" b="1" i="0" u="none" strike="noStrike" kern="1200" cap="none" spc="0" normalizeH="0" baseline="0" noProof="0">
                <a:ln>
                  <a:noFill/>
                </a:ln>
                <a:solidFill>
                  <a:prstClr val="black">
                    <a:lumMod val="50000"/>
                    <a:lumOff val="50000"/>
                  </a:prstClr>
                </a:solidFill>
                <a:effectLst/>
                <a:uLnTx/>
                <a:uFillTx/>
                <a:latin typeface="Times New Roman" pitchFamily="18" charset="0"/>
                <a:ea typeface="+mn-ea"/>
                <a:cs typeface="+mn-cs"/>
              </a:rPr>
              <a:pPr marL="0" marR="0" lvl="0" indent="0" algn="r" defTabSz="914400" rtl="0" eaLnBrk="1" fontAlgn="base" latinLnBrk="0" hangingPunct="1">
                <a:lnSpc>
                  <a:spcPct val="100000"/>
                </a:lnSpc>
                <a:spcBef>
                  <a:spcPct val="0"/>
                </a:spcBef>
                <a:spcAft>
                  <a:spcPts val="600"/>
                </a:spcAft>
                <a:buClrTx/>
                <a:buSzTx/>
                <a:buFontTx/>
                <a:buNone/>
                <a:tabLst/>
                <a:defRPr/>
              </a:pPr>
              <a:t>21</a:t>
            </a:fld>
            <a:endParaRPr kumimoji="0" lang="en-US" sz="1100" b="1" i="0" u="none" strike="noStrike" kern="1200" cap="none" spc="0" normalizeH="0" baseline="0" noProof="0">
              <a:ln>
                <a:noFill/>
              </a:ln>
              <a:solidFill>
                <a:prstClr val="black">
                  <a:lumMod val="50000"/>
                  <a:lumOff val="50000"/>
                </a:prstClr>
              </a:solidFill>
              <a:effectLst/>
              <a:uLnTx/>
              <a:uFillTx/>
              <a:latin typeface="Times New Roman" pitchFamily="18" charset="0"/>
              <a:ea typeface="+mn-ea"/>
              <a:cs typeface="+mn-cs"/>
            </a:endParaRPr>
          </a:p>
        </p:txBody>
      </p:sp>
    </p:spTree>
    <p:extLst>
      <p:ext uri="{BB962C8B-B14F-4D97-AF65-F5344CB8AC3E}">
        <p14:creationId xmlns:p14="http://schemas.microsoft.com/office/powerpoint/2010/main" val="2038457216"/>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5" name="Rectangle 74">
            <a:extLst>
              <a:ext uri="{FF2B5EF4-FFF2-40B4-BE49-F238E27FC236}">
                <a16:creationId xmlns:a16="http://schemas.microsoft.com/office/drawing/2014/main" id="{28D31E1B-0407-4223-9642-0B642CBF57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77" name="Group 76">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78" name="Rectangle 77">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9" name="Rectangle 78">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Rectangle 79">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82" name="Rectangle 81">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67266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51" name="Rectangle 2"/>
          <p:cNvSpPr>
            <a:spLocks noGrp="1" noChangeArrowheads="1"/>
          </p:cNvSpPr>
          <p:nvPr>
            <p:ph type="title"/>
          </p:nvPr>
        </p:nvSpPr>
        <p:spPr>
          <a:xfrm>
            <a:off x="1043631" y="873940"/>
            <a:ext cx="5052369" cy="1035781"/>
          </a:xfrm>
        </p:spPr>
        <p:txBody>
          <a:bodyPr anchor="ctr">
            <a:normAutofit/>
          </a:bodyPr>
          <a:lstStyle/>
          <a:p>
            <a:r>
              <a:rPr lang="en-US" altLang="en-US" sz="2500" cap="all" dirty="0">
                <a:latin typeface="Times New Roman" pitchFamily="18" charset="0"/>
              </a:rPr>
              <a:t>Statement Coverage: Example</a:t>
            </a:r>
          </a:p>
        </p:txBody>
      </p:sp>
      <p:sp>
        <p:nvSpPr>
          <p:cNvPr id="537603" name="Rectangle 3"/>
          <p:cNvSpPr>
            <a:spLocks noGrp="1" noChangeArrowheads="1"/>
          </p:cNvSpPr>
          <p:nvPr>
            <p:ph idx="1"/>
          </p:nvPr>
        </p:nvSpPr>
        <p:spPr>
          <a:xfrm>
            <a:off x="463693" y="2316421"/>
            <a:ext cx="6052550" cy="3885424"/>
          </a:xfrm>
        </p:spPr>
        <p:txBody>
          <a:bodyPr anchor="ctr">
            <a:normAutofit/>
          </a:bodyPr>
          <a:lstStyle/>
          <a:p>
            <a:pPr marL="457200" lvl="1" indent="0">
              <a:buNone/>
              <a:defRPr/>
            </a:pPr>
            <a:endParaRPr lang="en-US" sz="2600" u="sng" dirty="0"/>
          </a:p>
          <a:p>
            <a:pPr lvl="1">
              <a:defRPr/>
            </a:pPr>
            <a:r>
              <a:rPr lang="en-US" sz="2600" u="sng" dirty="0"/>
              <a:t>Minimum number  of test cases</a:t>
            </a:r>
            <a:r>
              <a:rPr lang="en-US" sz="2600" dirty="0"/>
              <a:t>: </a:t>
            </a:r>
            <a:r>
              <a:rPr lang="en-US" sz="2600" b="1" dirty="0">
                <a:effectLst>
                  <a:outerShdw blurRad="38100" dist="38100" dir="2700000" algn="tl">
                    <a:srgbClr val="C0C0C0"/>
                  </a:outerShdw>
                </a:effectLst>
              </a:rPr>
              <a:t>2 </a:t>
            </a:r>
          </a:p>
          <a:p>
            <a:pPr lvl="1">
              <a:buFont typeface="Wingdings" pitchFamily="2" charset="2"/>
              <a:buNone/>
              <a:defRPr/>
            </a:pPr>
            <a:endParaRPr lang="en-US" sz="2600" b="1" dirty="0">
              <a:effectLst>
                <a:outerShdw blurRad="38100" dist="38100" dir="2700000" algn="tl">
                  <a:srgbClr val="C0C0C0"/>
                </a:outerShdw>
              </a:effectLst>
            </a:endParaRPr>
          </a:p>
          <a:p>
            <a:pPr lvl="1">
              <a:defRPr/>
            </a:pPr>
            <a:r>
              <a:rPr lang="en-US" sz="2600" u="sng" dirty="0"/>
              <a:t>Paths:</a:t>
            </a:r>
            <a:r>
              <a:rPr lang="en-US" sz="2600" dirty="0"/>
              <a:t>  &lt;2 10 12 14&gt;, &lt;1 3 5 6 7 8 9 15&gt;</a:t>
            </a:r>
          </a:p>
          <a:p>
            <a:pPr lvl="1">
              <a:buFont typeface="Wingdings" pitchFamily="2" charset="2"/>
              <a:buNone/>
              <a:defRPr/>
            </a:pPr>
            <a:endParaRPr lang="en-US" sz="1800" dirty="0"/>
          </a:p>
        </p:txBody>
      </p:sp>
      <p:sp>
        <p:nvSpPr>
          <p:cNvPr id="84" name="Rectangle 83">
            <a:extLst>
              <a:ext uri="{FF2B5EF4-FFF2-40B4-BE49-F238E27FC236}">
                <a16:creationId xmlns:a16="http://schemas.microsoft.com/office/drawing/2014/main" id="{70E96339-907C-46C3-99AC-31179B6F0E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16299" y="608401"/>
            <a:ext cx="4637502" cy="559344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2056" name="Picture 9"/>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930493" y="1509383"/>
            <a:ext cx="4223252" cy="389951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6" name="Straight Connector 85">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054" name="Slide Number Placeholder 5"/>
          <p:cNvSpPr>
            <a:spLocks noGrp="1"/>
          </p:cNvSpPr>
          <p:nvPr>
            <p:ph type="sldNum" sz="quarter" idx="12"/>
          </p:nvPr>
        </p:nvSpPr>
        <p:spPr>
          <a:xfrm>
            <a:off x="8610600" y="649224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base" latinLnBrk="0" hangingPunct="1">
              <a:lnSpc>
                <a:spcPct val="100000"/>
              </a:lnSpc>
              <a:spcBef>
                <a:spcPct val="0"/>
              </a:spcBef>
              <a:spcAft>
                <a:spcPts val="600"/>
              </a:spcAft>
              <a:buClrTx/>
              <a:buSzTx/>
              <a:buFontTx/>
              <a:buNone/>
              <a:tabLst/>
              <a:defRPr/>
            </a:pPr>
            <a:fld id="{45774DD4-459A-4394-96F2-0E412C6E1997}" type="slidenum">
              <a:rPr kumimoji="0" lang="en-US" altLang="en-US" sz="1200" b="1" i="0" u="none" strike="noStrike" kern="1200" cap="none" spc="0" normalizeH="0" baseline="0" noProof="0">
                <a:ln>
                  <a:noFill/>
                </a:ln>
                <a:solidFill>
                  <a:prstClr val="black"/>
                </a:solidFill>
                <a:effectLst/>
                <a:uLnTx/>
                <a:uFillTx/>
                <a:latin typeface="Arial" pitchFamily="34" charset="0"/>
                <a:ea typeface="+mn-ea"/>
                <a:cs typeface="+mn-cs"/>
              </a:rPr>
              <a:pPr marL="0" marR="0" lvl="0" indent="0" algn="r" defTabSz="914400" rtl="0" eaLnBrk="1" fontAlgn="base" latinLnBrk="0" hangingPunct="1">
                <a:lnSpc>
                  <a:spcPct val="100000"/>
                </a:lnSpc>
                <a:spcBef>
                  <a:spcPct val="0"/>
                </a:spcBef>
                <a:spcAft>
                  <a:spcPts val="600"/>
                </a:spcAft>
                <a:buClrTx/>
                <a:buSzTx/>
                <a:buFontTx/>
                <a:buNone/>
                <a:tabLst/>
                <a:defRPr/>
              </a:pPr>
              <a:t>22</a:t>
            </a:fld>
            <a:endParaRPr kumimoji="0" lang="en-US" altLang="en-US" sz="1200" b="1" i="0" u="none" strike="noStrike" kern="1200" cap="none" spc="0" normalizeH="0" baseline="0" noProof="0">
              <a:ln>
                <a:noFill/>
              </a:ln>
              <a:solidFill>
                <a:prstClr val="black"/>
              </a:solidFill>
              <a:effectLst/>
              <a:uLnTx/>
              <a:uFillTx/>
              <a:latin typeface="Arial" pitchFamily="34" charset="0"/>
              <a:ea typeface="+mn-ea"/>
              <a:cs typeface="+mn-cs"/>
            </a:endParaRPr>
          </a:p>
        </p:txBody>
      </p:sp>
    </p:spTree>
    <p:extLst>
      <p:ext uri="{BB962C8B-B14F-4D97-AF65-F5344CB8AC3E}">
        <p14:creationId xmlns:p14="http://schemas.microsoft.com/office/powerpoint/2010/main" val="8430033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3760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3760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74" name="Rectangle 73">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Rectangle 75">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Rectangle 77">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Rectangle 79">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2" name="Freeform: Shape 81">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4" name="Rectangle 83">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6898" name="Rectangle 2"/>
          <p:cNvSpPr>
            <a:spLocks noGrp="1" noChangeArrowheads="1"/>
          </p:cNvSpPr>
          <p:nvPr>
            <p:ph type="title"/>
          </p:nvPr>
        </p:nvSpPr>
        <p:spPr>
          <a:xfrm>
            <a:off x="159488" y="586855"/>
            <a:ext cx="3508600" cy="3387497"/>
          </a:xfrm>
        </p:spPr>
        <p:txBody>
          <a:bodyPr anchor="b">
            <a:normAutofit/>
          </a:bodyPr>
          <a:lstStyle/>
          <a:p>
            <a:r>
              <a:rPr lang="en-US" sz="4500" cap="all" dirty="0">
                <a:solidFill>
                  <a:schemeClr val="bg2"/>
                </a:solidFill>
                <a:latin typeface="Times New Roman" pitchFamily="18" charset="0"/>
              </a:rPr>
              <a:t>Branch coverage criterion</a:t>
            </a:r>
          </a:p>
        </p:txBody>
      </p:sp>
      <p:sp>
        <p:nvSpPr>
          <p:cNvPr id="336899" name="Rectangle 3"/>
          <p:cNvSpPr>
            <a:spLocks noGrp="1" noChangeArrowheads="1"/>
          </p:cNvSpPr>
          <p:nvPr>
            <p:ph idx="1"/>
          </p:nvPr>
        </p:nvSpPr>
        <p:spPr>
          <a:xfrm>
            <a:off x="4134810" y="242888"/>
            <a:ext cx="7723815" cy="6400800"/>
          </a:xfrm>
        </p:spPr>
        <p:txBody>
          <a:bodyPr anchor="ctr">
            <a:normAutofit fontScale="92500" lnSpcReduction="20000"/>
          </a:bodyPr>
          <a:lstStyle/>
          <a:p>
            <a:pPr algn="just"/>
            <a:r>
              <a:rPr lang="en-US" sz="3200" dirty="0">
                <a:latin typeface="Times New Roman" panose="02020603050405020304" pitchFamily="18" charset="0"/>
                <a:cs typeface="Times New Roman" panose="02020603050405020304" pitchFamily="18" charset="0"/>
              </a:rPr>
              <a:t>A branch is an outgoing edge from a node in a CFG.</a:t>
            </a:r>
          </a:p>
          <a:p>
            <a:pPr lvl="1" algn="just"/>
            <a:endParaRPr lang="en-US" sz="2800" dirty="0">
              <a:latin typeface="Times New Roman" panose="02020603050405020304" pitchFamily="18" charset="0"/>
              <a:cs typeface="Times New Roman" panose="02020603050405020304" pitchFamily="18" charset="0"/>
            </a:endParaRPr>
          </a:p>
          <a:p>
            <a:pPr algn="just"/>
            <a:r>
              <a:rPr lang="en-US" sz="3600" dirty="0">
                <a:latin typeface="Times New Roman" panose="02020603050405020304" pitchFamily="18" charset="0"/>
                <a:cs typeface="Times New Roman" panose="02020603050405020304" pitchFamily="18" charset="0"/>
              </a:rPr>
              <a:t>A condition node has two outgoing branches corresponding to the True and False values of the condition.</a:t>
            </a:r>
          </a:p>
          <a:p>
            <a:pPr lvl="2" algn="just"/>
            <a:endParaRPr lang="en-US" sz="28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Covering a branch means executing a path that contains the branch.</a:t>
            </a:r>
          </a:p>
          <a:p>
            <a:pPr lvl="1" algn="just"/>
            <a:endParaRPr lang="en-US" sz="2800" dirty="0">
              <a:latin typeface="Times New Roman" panose="02020603050405020304" pitchFamily="18" charset="0"/>
              <a:cs typeface="Times New Roman" panose="02020603050405020304" pitchFamily="18" charset="0"/>
            </a:endParaRPr>
          </a:p>
          <a:p>
            <a:pPr algn="just"/>
            <a:r>
              <a:rPr lang="en-US" altLang="en-US" sz="3200" dirty="0">
                <a:latin typeface="Times New Roman" panose="02020603050405020304" pitchFamily="18" charset="0"/>
                <a:cs typeface="Times New Roman" panose="02020603050405020304" pitchFamily="18" charset="0"/>
              </a:rPr>
              <a:t>Find a set of paths such that every edge lies on at least one path</a:t>
            </a:r>
          </a:p>
          <a:p>
            <a:pPr lvl="1" algn="just"/>
            <a:endParaRPr lang="en-US" sz="28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100% branch coverage means selecting a set of paths such that each branch is included on some path.</a:t>
            </a:r>
          </a:p>
        </p:txBody>
      </p:sp>
      <p:sp>
        <p:nvSpPr>
          <p:cNvPr id="4" name="Rectangle 19"/>
          <p:cNvSpPr>
            <a:spLocks noGrp="1" noChangeArrowheads="1"/>
          </p:cNvSpPr>
          <p:nvPr>
            <p:ph type="sldNum" sz="quarter" idx="12"/>
          </p:nvPr>
        </p:nvSpPr>
        <p:spPr>
          <a:xfrm>
            <a:off x="11704320" y="6455664"/>
            <a:ext cx="448056" cy="365125"/>
          </a:xfrm>
        </p:spPr>
        <p:txBody>
          <a:bodyPr>
            <a:normAutofit/>
          </a:bodyPr>
          <a:lstStyle/>
          <a:p>
            <a:pPr marL="0" marR="0" lvl="0" indent="0" algn="r" defTabSz="914400" rtl="0" eaLnBrk="1" fontAlgn="base" latinLnBrk="0" hangingPunct="1">
              <a:lnSpc>
                <a:spcPct val="100000"/>
              </a:lnSpc>
              <a:spcBef>
                <a:spcPct val="0"/>
              </a:spcBef>
              <a:spcAft>
                <a:spcPts val="600"/>
              </a:spcAft>
              <a:buClrTx/>
              <a:buSzTx/>
              <a:buFontTx/>
              <a:buNone/>
              <a:tabLst/>
              <a:defRPr/>
            </a:pPr>
            <a:fld id="{498DF661-8EB3-48F9-9335-F493F3587C2F}" type="slidenum">
              <a:rPr kumimoji="0" lang="en-US" sz="1100" b="1" i="0" u="none" strike="noStrike" kern="1200" cap="none" spc="0" normalizeH="0" baseline="0" noProof="0">
                <a:ln>
                  <a:noFill/>
                </a:ln>
                <a:solidFill>
                  <a:prstClr val="black">
                    <a:lumMod val="50000"/>
                    <a:lumOff val="50000"/>
                  </a:prstClr>
                </a:solidFill>
                <a:effectLst/>
                <a:uLnTx/>
                <a:uFillTx/>
                <a:latin typeface="Times New Roman" pitchFamily="18" charset="0"/>
                <a:ea typeface="+mn-ea"/>
                <a:cs typeface="+mn-cs"/>
              </a:rPr>
              <a:pPr marL="0" marR="0" lvl="0" indent="0" algn="r" defTabSz="914400" rtl="0" eaLnBrk="1" fontAlgn="base" latinLnBrk="0" hangingPunct="1">
                <a:lnSpc>
                  <a:spcPct val="100000"/>
                </a:lnSpc>
                <a:spcBef>
                  <a:spcPct val="0"/>
                </a:spcBef>
                <a:spcAft>
                  <a:spcPts val="600"/>
                </a:spcAft>
                <a:buClrTx/>
                <a:buSzTx/>
                <a:buFontTx/>
                <a:buNone/>
                <a:tabLst/>
                <a:defRPr/>
              </a:pPr>
              <a:t>23</a:t>
            </a:fld>
            <a:endParaRPr kumimoji="0" lang="en-US" sz="1100" b="1" i="0" u="none" strike="noStrike" kern="1200" cap="none" spc="0" normalizeH="0" baseline="0" noProof="0">
              <a:ln>
                <a:noFill/>
              </a:ln>
              <a:solidFill>
                <a:prstClr val="black">
                  <a:lumMod val="50000"/>
                  <a:lumOff val="50000"/>
                </a:prstClr>
              </a:solidFill>
              <a:effectLst/>
              <a:uLnTx/>
              <a:uFillTx/>
              <a:latin typeface="Times New Roman" pitchFamily="18" charset="0"/>
              <a:ea typeface="+mn-ea"/>
              <a:cs typeface="+mn-cs"/>
            </a:endParaRPr>
          </a:p>
        </p:txBody>
      </p:sp>
    </p:spTree>
    <p:extLst>
      <p:ext uri="{BB962C8B-B14F-4D97-AF65-F5344CB8AC3E}">
        <p14:creationId xmlns:p14="http://schemas.microsoft.com/office/powerpoint/2010/main" val="173616827"/>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6" name="Rectangle 75">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219" name="Rectangle 2"/>
          <p:cNvSpPr>
            <a:spLocks noGrp="1" noChangeArrowheads="1"/>
          </p:cNvSpPr>
          <p:nvPr>
            <p:ph type="title"/>
          </p:nvPr>
        </p:nvSpPr>
        <p:spPr>
          <a:xfrm>
            <a:off x="589560" y="856180"/>
            <a:ext cx="4560584" cy="1128068"/>
          </a:xfrm>
        </p:spPr>
        <p:txBody>
          <a:bodyPr anchor="ctr">
            <a:normAutofit/>
          </a:bodyPr>
          <a:lstStyle/>
          <a:p>
            <a:r>
              <a:rPr lang="en-US" altLang="en-US" sz="2500" cap="all" dirty="0">
                <a:latin typeface="Times New Roman" pitchFamily="18" charset="0"/>
              </a:rPr>
              <a:t>Branch Coverage: Example</a:t>
            </a:r>
          </a:p>
        </p:txBody>
      </p:sp>
      <p:grpSp>
        <p:nvGrpSpPr>
          <p:cNvPr id="78" name="Group 77">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79" name="Rectangle 78">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Rectangle 79">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82" name="Rectangle 81">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220" name="Rectangle 3"/>
          <p:cNvSpPr>
            <a:spLocks noGrp="1" noChangeArrowheads="1"/>
          </p:cNvSpPr>
          <p:nvPr>
            <p:ph idx="1"/>
          </p:nvPr>
        </p:nvSpPr>
        <p:spPr>
          <a:xfrm>
            <a:off x="312653" y="2224322"/>
            <a:ext cx="5081179" cy="4161735"/>
          </a:xfrm>
        </p:spPr>
        <p:txBody>
          <a:bodyPr anchor="ctr">
            <a:normAutofit/>
          </a:bodyPr>
          <a:lstStyle/>
          <a:p>
            <a:pPr>
              <a:buFont typeface="Wingdings" pitchFamily="2" charset="2"/>
              <a:buNone/>
            </a:pPr>
            <a:endParaRPr lang="en-US" altLang="en-US" sz="3200" dirty="0"/>
          </a:p>
          <a:p>
            <a:r>
              <a:rPr lang="en-US" altLang="en-US" sz="3600" u="sng" dirty="0"/>
              <a:t>Minimum number of test cases</a:t>
            </a:r>
            <a:r>
              <a:rPr lang="en-US" altLang="en-US" sz="3600" dirty="0"/>
              <a:t>:  4</a:t>
            </a:r>
          </a:p>
          <a:p>
            <a:endParaRPr lang="en-US" altLang="en-US" sz="3600" dirty="0"/>
          </a:p>
          <a:p>
            <a:r>
              <a:rPr lang="en-US" altLang="en-US" sz="3600" u="sng" dirty="0"/>
              <a:t>Paths:</a:t>
            </a:r>
            <a:r>
              <a:rPr lang="en-US" altLang="en-US" sz="3600" dirty="0"/>
              <a:t> &lt;2 11&gt;, &lt;2 10 12 13 12 14&gt;,  &lt;1 3 5 6 7 15&gt;, &lt;1 4 6 7 8 9 15&gt;  </a:t>
            </a:r>
          </a:p>
        </p:txBody>
      </p:sp>
      <p:sp>
        <p:nvSpPr>
          <p:cNvPr id="84" name="Rectangle 83">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6" name="Rectangle 85">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9223" name="Picture 8"/>
          <p:cNvPicPr>
            <a:picLocks noChangeAspect="1" noChangeArrowheads="1"/>
          </p:cNvPicPr>
          <p:nvPr/>
        </p:nvPicPr>
        <p:blipFill rotWithShape="1">
          <a:blip r:embed="rId3">
            <a:extLst>
              <a:ext uri="{28A0092B-C50C-407E-A947-70E740481C1C}">
                <a14:useLocalDpi xmlns:a14="http://schemas.microsoft.com/office/drawing/2010/main" val="0"/>
              </a:ext>
            </a:extLst>
          </a:blip>
          <a:srcRect l="4749" r="-2" b="-2"/>
          <a:stretch/>
        </p:blipFill>
        <p:spPr bwMode="auto">
          <a:xfrm>
            <a:off x="5977788" y="1191802"/>
            <a:ext cx="4943641" cy="486684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2" name="Slide Number Placeholder 5"/>
          <p:cNvSpPr>
            <a:spLocks noGrp="1"/>
          </p:cNvSpPr>
          <p:nvPr>
            <p:ph type="sldNum" sz="quarter" idx="12"/>
          </p:nvPr>
        </p:nvSpPr>
        <p:spPr>
          <a:xfrm>
            <a:off x="9385070" y="6492240"/>
            <a:ext cx="1055716"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base" latinLnBrk="0" hangingPunct="1">
              <a:lnSpc>
                <a:spcPct val="100000"/>
              </a:lnSpc>
              <a:spcBef>
                <a:spcPct val="0"/>
              </a:spcBef>
              <a:spcAft>
                <a:spcPts val="600"/>
              </a:spcAft>
              <a:buClrTx/>
              <a:buSzTx/>
              <a:buFontTx/>
              <a:buNone/>
              <a:tabLst/>
              <a:defRPr/>
            </a:pPr>
            <a:fld id="{520312C9-0F05-45CD-AE43-AD5E5E77EA3B}" type="slidenum">
              <a:rPr kumimoji="0" lang="en-US" altLang="en-US" sz="1200" b="1" i="0" u="none" strike="noStrike" kern="1200" cap="none" spc="0" normalizeH="0" baseline="0" noProof="0">
                <a:ln>
                  <a:noFill/>
                </a:ln>
                <a:solidFill>
                  <a:prstClr val="black"/>
                </a:solidFill>
                <a:effectLst/>
                <a:uLnTx/>
                <a:uFillTx/>
                <a:latin typeface="Arial" pitchFamily="34" charset="0"/>
                <a:ea typeface="+mn-ea"/>
                <a:cs typeface="+mn-cs"/>
              </a:rPr>
              <a:pPr marL="0" marR="0" lvl="0" indent="0" algn="r" defTabSz="914400" rtl="0" eaLnBrk="1" fontAlgn="base" latinLnBrk="0" hangingPunct="1">
                <a:lnSpc>
                  <a:spcPct val="100000"/>
                </a:lnSpc>
                <a:spcBef>
                  <a:spcPct val="0"/>
                </a:spcBef>
                <a:spcAft>
                  <a:spcPts val="600"/>
                </a:spcAft>
                <a:buClrTx/>
                <a:buSzTx/>
                <a:buFontTx/>
                <a:buNone/>
                <a:tabLst/>
                <a:defRPr/>
              </a:pPr>
              <a:t>24</a:t>
            </a:fld>
            <a:endParaRPr kumimoji="0" lang="en-US" altLang="en-US" sz="1200" b="1" i="0" u="none" strike="noStrike" kern="1200" cap="none" spc="0" normalizeH="0" baseline="0" noProof="0">
              <a:ln>
                <a:noFill/>
              </a:ln>
              <a:solidFill>
                <a:prstClr val="black"/>
              </a:solidFill>
              <a:effectLst/>
              <a:uLnTx/>
              <a:uFillTx/>
              <a:latin typeface="Arial" pitchFamily="34" charset="0"/>
              <a:ea typeface="+mn-ea"/>
              <a:cs typeface="+mn-cs"/>
            </a:endParaRPr>
          </a:p>
        </p:txBody>
      </p:sp>
    </p:spTree>
    <p:extLst>
      <p:ext uri="{BB962C8B-B14F-4D97-AF65-F5344CB8AC3E}">
        <p14:creationId xmlns:p14="http://schemas.microsoft.com/office/powerpoint/2010/main" val="3282709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2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2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75" name="Rectangle 74">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7" name="Rectangle 76">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9" name="Rectangle 78">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1" name="Rectangle 80">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3" name="Freeform: Shape 82">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5" name="Rectangle 84">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1698" name="Rectangle 2"/>
          <p:cNvSpPr>
            <a:spLocks noGrp="1" noChangeArrowheads="1"/>
          </p:cNvSpPr>
          <p:nvPr>
            <p:ph type="title"/>
          </p:nvPr>
        </p:nvSpPr>
        <p:spPr>
          <a:xfrm>
            <a:off x="85060" y="586855"/>
            <a:ext cx="3583028" cy="3387497"/>
          </a:xfrm>
        </p:spPr>
        <p:txBody>
          <a:bodyPr anchor="b">
            <a:normAutofit/>
          </a:bodyPr>
          <a:lstStyle/>
          <a:p>
            <a:pPr>
              <a:defRPr/>
            </a:pPr>
            <a:r>
              <a:rPr lang="en-US" sz="4500" cap="all" dirty="0">
                <a:solidFill>
                  <a:schemeClr val="bg2"/>
                </a:solidFill>
                <a:latin typeface="Times New Roman" pitchFamily="18" charset="0"/>
              </a:rPr>
              <a:t>Simple Path Coverage</a:t>
            </a:r>
          </a:p>
        </p:txBody>
      </p:sp>
      <p:sp>
        <p:nvSpPr>
          <p:cNvPr id="41987" name="Rectangle 3"/>
          <p:cNvSpPr>
            <a:spLocks noGrp="1" noChangeArrowheads="1"/>
          </p:cNvSpPr>
          <p:nvPr>
            <p:ph idx="1"/>
          </p:nvPr>
        </p:nvSpPr>
        <p:spPr>
          <a:xfrm>
            <a:off x="4810259" y="649480"/>
            <a:ext cx="6555347" cy="5546047"/>
          </a:xfrm>
        </p:spPr>
        <p:txBody>
          <a:bodyPr anchor="ctr">
            <a:normAutofit/>
          </a:bodyPr>
          <a:lstStyle/>
          <a:p>
            <a:r>
              <a:rPr lang="en-US" altLang="en-US" sz="4000" b="1" u="sng" dirty="0"/>
              <a:t>Strategy:</a:t>
            </a:r>
            <a:r>
              <a:rPr lang="en-US" altLang="en-US" sz="4000" dirty="0"/>
              <a:t> </a:t>
            </a:r>
          </a:p>
          <a:p>
            <a:pPr lvl="1" algn="just"/>
            <a:r>
              <a:rPr lang="en-US" altLang="en-US" sz="4000" dirty="0"/>
              <a:t>every simple path (which </a:t>
            </a:r>
            <a:r>
              <a:rPr lang="en-US" altLang="en-US" sz="4000" i="1" dirty="0"/>
              <a:t>does not contain the same edge more than once</a:t>
            </a:r>
            <a:r>
              <a:rPr lang="en-US" altLang="en-US" sz="4000" dirty="0"/>
              <a:t>) is executed once</a:t>
            </a:r>
          </a:p>
          <a:p>
            <a:endParaRPr lang="en-US" altLang="en-US" sz="2000" u="sng" dirty="0"/>
          </a:p>
          <a:p>
            <a:endParaRPr lang="en-US" altLang="en-US" sz="2000" dirty="0"/>
          </a:p>
        </p:txBody>
      </p:sp>
      <p:sp>
        <p:nvSpPr>
          <p:cNvPr id="41989" name="Slide Number Placeholder 5"/>
          <p:cNvSpPr>
            <a:spLocks noGrp="1"/>
          </p:cNvSpPr>
          <p:nvPr>
            <p:ph type="sldNum" sz="quarter" idx="12"/>
          </p:nvPr>
        </p:nvSpPr>
        <p:spPr>
          <a:xfrm>
            <a:off x="11704320" y="6455664"/>
            <a:ext cx="448056"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base" latinLnBrk="0" hangingPunct="1">
              <a:lnSpc>
                <a:spcPct val="100000"/>
              </a:lnSpc>
              <a:spcBef>
                <a:spcPct val="0"/>
              </a:spcBef>
              <a:spcAft>
                <a:spcPts val="600"/>
              </a:spcAft>
              <a:buClrTx/>
              <a:buSzTx/>
              <a:buFontTx/>
              <a:buNone/>
              <a:tabLst/>
              <a:defRPr/>
            </a:pPr>
            <a:fld id="{F8E5E25E-3E66-400D-95F7-03E7E336C86D}" type="slidenum">
              <a:rPr kumimoji="0" lang="en-US" altLang="en-US" sz="1100" b="1" i="0" u="none" strike="noStrike" kern="1200" cap="none" spc="0" normalizeH="0" baseline="0" noProof="0">
                <a:ln>
                  <a:noFill/>
                </a:ln>
                <a:solidFill>
                  <a:prstClr val="black">
                    <a:lumMod val="50000"/>
                    <a:lumOff val="50000"/>
                  </a:prstClr>
                </a:solidFill>
                <a:effectLst/>
                <a:uLnTx/>
                <a:uFillTx/>
                <a:latin typeface="Arial" pitchFamily="34" charset="0"/>
                <a:ea typeface="+mn-ea"/>
                <a:cs typeface="+mn-cs"/>
              </a:rPr>
              <a:pPr marL="0" marR="0" lvl="0" indent="0" algn="r" defTabSz="914400" rtl="0" eaLnBrk="1" fontAlgn="base" latinLnBrk="0" hangingPunct="1">
                <a:lnSpc>
                  <a:spcPct val="100000"/>
                </a:lnSpc>
                <a:spcBef>
                  <a:spcPct val="0"/>
                </a:spcBef>
                <a:spcAft>
                  <a:spcPts val="600"/>
                </a:spcAft>
                <a:buClrTx/>
                <a:buSzTx/>
                <a:buFontTx/>
                <a:buNone/>
                <a:tabLst/>
                <a:defRPr/>
              </a:pPr>
              <a:t>25</a:t>
            </a:fld>
            <a:endParaRPr kumimoji="0" lang="en-US" altLang="en-US" sz="1100" b="1" i="0" u="none" strike="noStrike" kern="1200" cap="none" spc="0" normalizeH="0" baseline="0" noProof="0">
              <a:ln>
                <a:noFill/>
              </a:ln>
              <a:solidFill>
                <a:prstClr val="black">
                  <a:lumMod val="50000"/>
                  <a:lumOff val="50000"/>
                </a:prstClr>
              </a:solidFill>
              <a:effectLst/>
              <a:uLnTx/>
              <a:uFillTx/>
              <a:latin typeface="Arial" pitchFamily="34" charset="0"/>
              <a:ea typeface="+mn-ea"/>
              <a:cs typeface="+mn-cs"/>
            </a:endParaRPr>
          </a:p>
        </p:txBody>
      </p:sp>
    </p:spTree>
    <p:extLst>
      <p:ext uri="{BB962C8B-B14F-4D97-AF65-F5344CB8AC3E}">
        <p14:creationId xmlns:p14="http://schemas.microsoft.com/office/powerpoint/2010/main" val="1218976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5" name="Rectangle 74">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171" name="Rectangle 2"/>
          <p:cNvSpPr>
            <a:spLocks noGrp="1" noChangeArrowheads="1"/>
          </p:cNvSpPr>
          <p:nvPr>
            <p:ph type="title"/>
          </p:nvPr>
        </p:nvSpPr>
        <p:spPr>
          <a:xfrm>
            <a:off x="589560" y="856180"/>
            <a:ext cx="4560584" cy="1128068"/>
          </a:xfrm>
        </p:spPr>
        <p:txBody>
          <a:bodyPr anchor="ctr">
            <a:normAutofit/>
          </a:bodyPr>
          <a:lstStyle/>
          <a:p>
            <a:r>
              <a:rPr lang="en-US" altLang="en-US" sz="2500" cap="all" dirty="0">
                <a:latin typeface="Times New Roman" pitchFamily="18" charset="0"/>
              </a:rPr>
              <a:t>Simple Path Coverage: Example</a:t>
            </a:r>
          </a:p>
        </p:txBody>
      </p:sp>
      <p:grpSp>
        <p:nvGrpSpPr>
          <p:cNvPr id="77" name="Group 76">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78" name="Rectangle 77">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9" name="Rectangle 78">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81" name="Rectangle 80">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172" name="Rectangle 3"/>
          <p:cNvSpPr>
            <a:spLocks noGrp="1" noChangeArrowheads="1"/>
          </p:cNvSpPr>
          <p:nvPr>
            <p:ph idx="1"/>
          </p:nvPr>
        </p:nvSpPr>
        <p:spPr>
          <a:xfrm>
            <a:off x="159341" y="2364137"/>
            <a:ext cx="5095090" cy="3979585"/>
          </a:xfrm>
        </p:spPr>
        <p:txBody>
          <a:bodyPr anchor="ctr">
            <a:normAutofit lnSpcReduction="10000"/>
          </a:bodyPr>
          <a:lstStyle/>
          <a:p>
            <a:pPr lvl="1">
              <a:buFont typeface="Wingdings" pitchFamily="2" charset="2"/>
              <a:buNone/>
            </a:pPr>
            <a:endParaRPr lang="en-US" altLang="en-US" sz="3200" dirty="0"/>
          </a:p>
          <a:p>
            <a:r>
              <a:rPr lang="en-US" altLang="en-US" sz="3600" u="sng" dirty="0"/>
              <a:t>Minimum number of test cases</a:t>
            </a:r>
            <a:r>
              <a:rPr lang="en-US" altLang="en-US" sz="3600" dirty="0"/>
              <a:t>:  6</a:t>
            </a:r>
          </a:p>
          <a:p>
            <a:pPr lvl="1"/>
            <a:endParaRPr lang="en-US" altLang="en-US" sz="3200" dirty="0"/>
          </a:p>
          <a:p>
            <a:r>
              <a:rPr lang="en-US" altLang="en-US" sz="3600" u="sng" dirty="0"/>
              <a:t>Paths:</a:t>
            </a:r>
            <a:r>
              <a:rPr lang="en-US" altLang="en-US" sz="3600" dirty="0"/>
              <a:t> &lt;2 11&gt;, &lt;2 10 12 14&gt;,  &lt;1 3 5 6 7 15&gt;, &lt; 1 4 6 7 15&gt;, &lt;1 3 5 6 7 8 9 15&gt;,   &lt;1 4 6 7 8 9 15&gt;  </a:t>
            </a:r>
          </a:p>
        </p:txBody>
      </p:sp>
      <p:sp>
        <p:nvSpPr>
          <p:cNvPr id="83" name="Rectangle 82">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5" name="Rectangle 84">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174" name="Picture 8"/>
          <p:cNvPicPr>
            <a:picLocks noChangeAspect="1" noChangeArrowheads="1"/>
          </p:cNvPicPr>
          <p:nvPr/>
        </p:nvPicPr>
        <p:blipFill rotWithShape="1">
          <a:blip r:embed="rId3">
            <a:extLst>
              <a:ext uri="{28A0092B-C50C-407E-A947-70E740481C1C}">
                <a14:useLocalDpi xmlns:a14="http://schemas.microsoft.com/office/drawing/2010/main" val="0"/>
              </a:ext>
            </a:extLst>
          </a:blip>
          <a:srcRect l="4749" r="-2" b="-2"/>
          <a:stretch/>
        </p:blipFill>
        <p:spPr bwMode="auto">
          <a:xfrm>
            <a:off x="5977788" y="799352"/>
            <a:ext cx="5425410" cy="525929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3" name="Slide Number Placeholder 5"/>
          <p:cNvSpPr>
            <a:spLocks noGrp="1"/>
          </p:cNvSpPr>
          <p:nvPr>
            <p:ph type="sldNum" sz="quarter" idx="12"/>
          </p:nvPr>
        </p:nvSpPr>
        <p:spPr>
          <a:xfrm>
            <a:off x="9385070" y="6492240"/>
            <a:ext cx="1055716"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base" latinLnBrk="0" hangingPunct="1">
              <a:lnSpc>
                <a:spcPct val="100000"/>
              </a:lnSpc>
              <a:spcBef>
                <a:spcPct val="0"/>
              </a:spcBef>
              <a:spcAft>
                <a:spcPts val="600"/>
              </a:spcAft>
              <a:buClrTx/>
              <a:buSzTx/>
              <a:buFontTx/>
              <a:buNone/>
              <a:tabLst/>
              <a:defRPr/>
            </a:pPr>
            <a:fld id="{83CAA59B-8BD5-4512-94EA-11179F0860E9}" type="slidenum">
              <a:rPr kumimoji="0" lang="en-US" altLang="en-US" sz="1200" b="1" i="0" u="none" strike="noStrike" kern="1200" cap="none" spc="0" normalizeH="0" baseline="0" noProof="0">
                <a:ln>
                  <a:noFill/>
                </a:ln>
                <a:solidFill>
                  <a:prstClr val="black"/>
                </a:solidFill>
                <a:effectLst/>
                <a:uLnTx/>
                <a:uFillTx/>
                <a:latin typeface="Arial" pitchFamily="34" charset="0"/>
                <a:ea typeface="+mn-ea"/>
                <a:cs typeface="+mn-cs"/>
              </a:rPr>
              <a:pPr marL="0" marR="0" lvl="0" indent="0" algn="r" defTabSz="914400" rtl="0" eaLnBrk="1" fontAlgn="base" latinLnBrk="0" hangingPunct="1">
                <a:lnSpc>
                  <a:spcPct val="100000"/>
                </a:lnSpc>
                <a:spcBef>
                  <a:spcPct val="0"/>
                </a:spcBef>
                <a:spcAft>
                  <a:spcPts val="600"/>
                </a:spcAft>
                <a:buClrTx/>
                <a:buSzTx/>
                <a:buFontTx/>
                <a:buNone/>
                <a:tabLst/>
                <a:defRPr/>
              </a:pPr>
              <a:t>26</a:t>
            </a:fld>
            <a:endParaRPr kumimoji="0" lang="en-US" altLang="en-US" sz="1200" b="1" i="0" u="none" strike="noStrike" kern="1200" cap="none" spc="0" normalizeH="0" baseline="0" noProof="0">
              <a:ln>
                <a:noFill/>
              </a:ln>
              <a:solidFill>
                <a:prstClr val="black"/>
              </a:solidFill>
              <a:effectLst/>
              <a:uLnTx/>
              <a:uFillTx/>
              <a:latin typeface="Arial" pitchFamily="34" charset="0"/>
              <a:ea typeface="+mn-ea"/>
              <a:cs typeface="+mn-cs"/>
            </a:endParaRPr>
          </a:p>
        </p:txBody>
      </p:sp>
    </p:spTree>
    <p:extLst>
      <p:ext uri="{BB962C8B-B14F-4D97-AF65-F5344CB8AC3E}">
        <p14:creationId xmlns:p14="http://schemas.microsoft.com/office/powerpoint/2010/main" val="8286334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76" name="Rectangle 75">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Rectangle 77">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Rectangle 79">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2" name="Rectangle 81">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4" name="Freeform: Shape 83">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6" name="Rectangle 85">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4034" name="Rectangle 2"/>
          <p:cNvSpPr>
            <a:spLocks noGrp="1" noChangeArrowheads="1"/>
          </p:cNvSpPr>
          <p:nvPr>
            <p:ph type="title"/>
          </p:nvPr>
        </p:nvSpPr>
        <p:spPr>
          <a:xfrm>
            <a:off x="232885" y="649480"/>
            <a:ext cx="3668088" cy="3387497"/>
          </a:xfrm>
        </p:spPr>
        <p:txBody>
          <a:bodyPr anchor="b">
            <a:normAutofit/>
          </a:bodyPr>
          <a:lstStyle/>
          <a:p>
            <a:pPr>
              <a:defRPr/>
            </a:pPr>
            <a:r>
              <a:rPr lang="en-US" altLang="en-US" sz="4500" cap="all" dirty="0">
                <a:solidFill>
                  <a:schemeClr val="bg2"/>
                </a:solidFill>
                <a:latin typeface="Times New Roman" pitchFamily="18" charset="0"/>
              </a:rPr>
              <a:t>All Path Coverage</a:t>
            </a:r>
          </a:p>
        </p:txBody>
      </p:sp>
      <p:sp>
        <p:nvSpPr>
          <p:cNvPr id="44035" name="Rectangle 3"/>
          <p:cNvSpPr>
            <a:spLocks noGrp="1" noChangeArrowheads="1"/>
          </p:cNvSpPr>
          <p:nvPr>
            <p:ph idx="1"/>
          </p:nvPr>
        </p:nvSpPr>
        <p:spPr>
          <a:xfrm>
            <a:off x="4270711" y="649480"/>
            <a:ext cx="7688404" cy="5546047"/>
          </a:xfrm>
        </p:spPr>
        <p:txBody>
          <a:bodyPr anchor="ctr">
            <a:normAutofit/>
          </a:bodyPr>
          <a:lstStyle/>
          <a:p>
            <a:r>
              <a:rPr lang="en-US" altLang="en-US" sz="4000" b="1" u="sng" dirty="0"/>
              <a:t>Strategy:</a:t>
            </a:r>
            <a:r>
              <a:rPr lang="en-US" altLang="en-US" sz="4000" dirty="0"/>
              <a:t> </a:t>
            </a:r>
          </a:p>
          <a:p>
            <a:endParaRPr lang="en-US" altLang="en-US" sz="4000" dirty="0"/>
          </a:p>
          <a:p>
            <a:pPr lvl="1"/>
            <a:r>
              <a:rPr lang="en-US" altLang="en-US" sz="4000" dirty="0"/>
              <a:t>every possible program path is executed at least once</a:t>
            </a:r>
          </a:p>
          <a:p>
            <a:pPr marL="457200" lvl="1" indent="0">
              <a:buNone/>
            </a:pPr>
            <a:endParaRPr lang="en-US" altLang="en-US" sz="4000" dirty="0"/>
          </a:p>
          <a:p>
            <a:pPr lvl="1"/>
            <a:r>
              <a:rPr lang="en-US" altLang="en-US" sz="4000" dirty="0"/>
              <a:t>In terms of flowgraph: find all DD-paths through the flowgraph  </a:t>
            </a:r>
          </a:p>
          <a:p>
            <a:endParaRPr lang="en-US" altLang="en-US" sz="2000" dirty="0"/>
          </a:p>
          <a:p>
            <a:r>
              <a:rPr lang="en-US" altLang="en-US" sz="2000" u="sng" dirty="0"/>
              <a:t> </a:t>
            </a:r>
            <a:endParaRPr lang="en-US" altLang="en-US" sz="2000" dirty="0"/>
          </a:p>
        </p:txBody>
      </p:sp>
      <p:sp>
        <p:nvSpPr>
          <p:cNvPr id="44037" name="Slide Number Placeholder 5"/>
          <p:cNvSpPr>
            <a:spLocks noGrp="1"/>
          </p:cNvSpPr>
          <p:nvPr>
            <p:ph type="sldNum" sz="quarter" idx="12"/>
          </p:nvPr>
        </p:nvSpPr>
        <p:spPr>
          <a:xfrm>
            <a:off x="11704320" y="6455664"/>
            <a:ext cx="448056"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base" latinLnBrk="0" hangingPunct="1">
              <a:lnSpc>
                <a:spcPct val="100000"/>
              </a:lnSpc>
              <a:spcBef>
                <a:spcPct val="0"/>
              </a:spcBef>
              <a:spcAft>
                <a:spcPts val="600"/>
              </a:spcAft>
              <a:buClrTx/>
              <a:buSzTx/>
              <a:buFontTx/>
              <a:buNone/>
              <a:tabLst/>
              <a:defRPr/>
            </a:pPr>
            <a:fld id="{11239FD8-802F-4999-9AFC-4FB968DA3040}" type="slidenum">
              <a:rPr kumimoji="0" lang="en-US" altLang="en-US" sz="1100" b="1" i="0" u="none" strike="noStrike" kern="1200" cap="none" spc="0" normalizeH="0" baseline="0" noProof="0">
                <a:ln>
                  <a:noFill/>
                </a:ln>
                <a:solidFill>
                  <a:prstClr val="black">
                    <a:lumMod val="50000"/>
                    <a:lumOff val="50000"/>
                  </a:prstClr>
                </a:solidFill>
                <a:effectLst/>
                <a:uLnTx/>
                <a:uFillTx/>
                <a:latin typeface="Arial" pitchFamily="34" charset="0"/>
                <a:ea typeface="+mn-ea"/>
                <a:cs typeface="+mn-cs"/>
              </a:rPr>
              <a:pPr marL="0" marR="0" lvl="0" indent="0" algn="r" defTabSz="914400" rtl="0" eaLnBrk="1" fontAlgn="base" latinLnBrk="0" hangingPunct="1">
                <a:lnSpc>
                  <a:spcPct val="100000"/>
                </a:lnSpc>
                <a:spcBef>
                  <a:spcPct val="0"/>
                </a:spcBef>
                <a:spcAft>
                  <a:spcPts val="600"/>
                </a:spcAft>
                <a:buClrTx/>
                <a:buSzTx/>
                <a:buFontTx/>
                <a:buNone/>
                <a:tabLst/>
                <a:defRPr/>
              </a:pPr>
              <a:t>27</a:t>
            </a:fld>
            <a:endParaRPr kumimoji="0" lang="en-US" altLang="en-US" sz="1100" b="1" i="0" u="none" strike="noStrike" kern="1200" cap="none" spc="0" normalizeH="0" baseline="0" noProof="0">
              <a:ln>
                <a:noFill/>
              </a:ln>
              <a:solidFill>
                <a:prstClr val="black">
                  <a:lumMod val="50000"/>
                  <a:lumOff val="50000"/>
                </a:prstClr>
              </a:solidFill>
              <a:effectLst/>
              <a:uLnTx/>
              <a:uFillTx/>
              <a:latin typeface="Arial" pitchFamily="34" charset="0"/>
              <a:ea typeface="+mn-ea"/>
              <a:cs typeface="+mn-cs"/>
            </a:endParaRPr>
          </a:p>
        </p:txBody>
      </p:sp>
    </p:spTree>
    <p:extLst>
      <p:ext uri="{BB962C8B-B14F-4D97-AF65-F5344CB8AC3E}">
        <p14:creationId xmlns:p14="http://schemas.microsoft.com/office/powerpoint/2010/main" val="42465021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5" name="Rectangle 74">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267" name="Rectangle 2"/>
          <p:cNvSpPr>
            <a:spLocks noGrp="1" noChangeArrowheads="1"/>
          </p:cNvSpPr>
          <p:nvPr>
            <p:ph type="title"/>
          </p:nvPr>
        </p:nvSpPr>
        <p:spPr>
          <a:xfrm>
            <a:off x="589560" y="856180"/>
            <a:ext cx="4560584" cy="1128068"/>
          </a:xfrm>
        </p:spPr>
        <p:txBody>
          <a:bodyPr anchor="ctr">
            <a:normAutofit/>
          </a:bodyPr>
          <a:lstStyle/>
          <a:p>
            <a:r>
              <a:rPr lang="en-US" altLang="en-US" sz="2500" cap="all" dirty="0">
                <a:latin typeface="Times New Roman" pitchFamily="18" charset="0"/>
              </a:rPr>
              <a:t>All Path Coverage: Example</a:t>
            </a:r>
          </a:p>
        </p:txBody>
      </p:sp>
      <p:grpSp>
        <p:nvGrpSpPr>
          <p:cNvPr id="77" name="Group 76">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78" name="Rectangle 77">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9" name="Rectangle 78">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81" name="Rectangle 80">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268" name="Rectangle 3"/>
          <p:cNvSpPr>
            <a:spLocks noGrp="1" noChangeArrowheads="1"/>
          </p:cNvSpPr>
          <p:nvPr>
            <p:ph idx="1"/>
          </p:nvPr>
        </p:nvSpPr>
        <p:spPr>
          <a:xfrm>
            <a:off x="590719" y="2330505"/>
            <a:ext cx="4559425" cy="3979585"/>
          </a:xfrm>
        </p:spPr>
        <p:txBody>
          <a:bodyPr anchor="ctr">
            <a:normAutofit lnSpcReduction="10000"/>
          </a:bodyPr>
          <a:lstStyle/>
          <a:p>
            <a:r>
              <a:rPr lang="en-US" altLang="en-US" sz="3200" u="sng" dirty="0"/>
              <a:t>Minimum number of test cases</a:t>
            </a:r>
            <a:r>
              <a:rPr lang="en-US" altLang="en-US" sz="3200" dirty="0"/>
              <a:t>:  Infinite</a:t>
            </a:r>
          </a:p>
          <a:p>
            <a:pPr lvl="1"/>
            <a:endParaRPr lang="en-US" altLang="en-US" sz="2800" dirty="0"/>
          </a:p>
          <a:p>
            <a:r>
              <a:rPr lang="en-US" altLang="en-US" sz="3200" u="sng" dirty="0"/>
              <a:t>Paths:</a:t>
            </a:r>
            <a:r>
              <a:rPr lang="en-US" altLang="en-US" sz="3200" dirty="0"/>
              <a:t> &lt;2 11&gt;, &lt;2 10 12 14&gt;, &lt;2 10 12 (13 12)</a:t>
            </a:r>
            <a:r>
              <a:rPr lang="en-US" altLang="en-US" sz="3200" baseline="30000" dirty="0"/>
              <a:t>n</a:t>
            </a:r>
            <a:r>
              <a:rPr lang="en-US" altLang="en-US" sz="3200" dirty="0"/>
              <a:t> 14&gt;, &lt;1 3 5 6 7 15&gt;, &lt; 1 4 6 7 15&gt;, &lt;1 3 5 6 7 (8 9)</a:t>
            </a:r>
            <a:r>
              <a:rPr lang="en-US" altLang="en-US" sz="3200" baseline="30000" dirty="0"/>
              <a:t>n</a:t>
            </a:r>
            <a:r>
              <a:rPr lang="en-US" altLang="en-US" sz="3200" dirty="0"/>
              <a:t> 15&gt;, &lt;1 4 6 7 (8 9)</a:t>
            </a:r>
            <a:r>
              <a:rPr lang="en-US" altLang="en-US" sz="3200" baseline="30000" dirty="0"/>
              <a:t>n</a:t>
            </a:r>
            <a:r>
              <a:rPr lang="en-US" altLang="en-US" sz="3200" dirty="0"/>
              <a:t> 15&gt; (any n&gt;0)</a:t>
            </a:r>
          </a:p>
        </p:txBody>
      </p:sp>
      <p:sp>
        <p:nvSpPr>
          <p:cNvPr id="83" name="Rectangle 82">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5" name="Rectangle 84">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1270" name="Picture 7"/>
          <p:cNvPicPr>
            <a:picLocks noChangeAspect="1" noChangeArrowheads="1"/>
          </p:cNvPicPr>
          <p:nvPr/>
        </p:nvPicPr>
        <p:blipFill rotWithShape="1">
          <a:blip r:embed="rId2">
            <a:extLst>
              <a:ext uri="{28A0092B-C50C-407E-A947-70E740481C1C}">
                <a14:useLocalDpi xmlns:a14="http://schemas.microsoft.com/office/drawing/2010/main" val="0"/>
              </a:ext>
            </a:extLst>
          </a:blip>
          <a:srcRect l="4749" r="-2" b="-2"/>
          <a:stretch/>
        </p:blipFill>
        <p:spPr bwMode="auto">
          <a:xfrm>
            <a:off x="5977788" y="799352"/>
            <a:ext cx="5425410" cy="525929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9" name="Slide Number Placeholder 5"/>
          <p:cNvSpPr>
            <a:spLocks noGrp="1"/>
          </p:cNvSpPr>
          <p:nvPr>
            <p:ph type="sldNum" sz="quarter" idx="12"/>
          </p:nvPr>
        </p:nvSpPr>
        <p:spPr>
          <a:xfrm>
            <a:off x="9385070" y="6492240"/>
            <a:ext cx="1055716"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base" latinLnBrk="0" hangingPunct="1">
              <a:lnSpc>
                <a:spcPct val="100000"/>
              </a:lnSpc>
              <a:spcBef>
                <a:spcPct val="0"/>
              </a:spcBef>
              <a:spcAft>
                <a:spcPts val="600"/>
              </a:spcAft>
              <a:buClrTx/>
              <a:buSzTx/>
              <a:buFontTx/>
              <a:buNone/>
              <a:tabLst/>
              <a:defRPr/>
            </a:pPr>
            <a:fld id="{D0188147-444A-4A9F-A327-FB543BDCF3CB}" type="slidenum">
              <a:rPr kumimoji="0" lang="en-US" altLang="en-US" sz="1200" b="1" i="0" u="none" strike="noStrike" kern="1200" cap="none" spc="0" normalizeH="0" baseline="0" noProof="0">
                <a:ln>
                  <a:noFill/>
                </a:ln>
                <a:solidFill>
                  <a:prstClr val="black"/>
                </a:solidFill>
                <a:effectLst/>
                <a:uLnTx/>
                <a:uFillTx/>
                <a:latin typeface="Arial" pitchFamily="34" charset="0"/>
                <a:ea typeface="+mn-ea"/>
                <a:cs typeface="+mn-cs"/>
              </a:rPr>
              <a:pPr marL="0" marR="0" lvl="0" indent="0" algn="r" defTabSz="914400" rtl="0" eaLnBrk="1" fontAlgn="base" latinLnBrk="0" hangingPunct="1">
                <a:lnSpc>
                  <a:spcPct val="100000"/>
                </a:lnSpc>
                <a:spcBef>
                  <a:spcPct val="0"/>
                </a:spcBef>
                <a:spcAft>
                  <a:spcPts val="600"/>
                </a:spcAft>
                <a:buClrTx/>
                <a:buSzTx/>
                <a:buFontTx/>
                <a:buNone/>
                <a:tabLst/>
                <a:defRPr/>
              </a:pPr>
              <a:t>28</a:t>
            </a:fld>
            <a:endParaRPr kumimoji="0" lang="en-US" altLang="en-US" sz="1200" b="1" i="0" u="none" strike="noStrike" kern="1200" cap="none" spc="0" normalizeH="0" baseline="0" noProof="0">
              <a:ln>
                <a:noFill/>
              </a:ln>
              <a:solidFill>
                <a:prstClr val="black"/>
              </a:solidFill>
              <a:effectLst/>
              <a:uLnTx/>
              <a:uFillTx/>
              <a:latin typeface="Arial" pitchFamily="34" charset="0"/>
              <a:ea typeface="+mn-ea"/>
              <a:cs typeface="+mn-cs"/>
            </a:endParaRPr>
          </a:p>
        </p:txBody>
      </p:sp>
    </p:spTree>
    <p:extLst>
      <p:ext uri="{BB962C8B-B14F-4D97-AF65-F5344CB8AC3E}">
        <p14:creationId xmlns:p14="http://schemas.microsoft.com/office/powerpoint/2010/main" val="33860376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6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26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8"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6" name="Rectangle 135">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8" name="Rectangle 137">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0" name="Rectangle 139">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2" name="Rectangle 141">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4" name="Rectangle 143">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6" name="Freeform: Shape 145">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8" name="Rectangle 147">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38626" name="Rectangle 2"/>
          <p:cNvSpPr>
            <a:spLocks noGrp="1" noChangeArrowheads="1"/>
          </p:cNvSpPr>
          <p:nvPr>
            <p:ph type="title"/>
          </p:nvPr>
        </p:nvSpPr>
        <p:spPr>
          <a:xfrm>
            <a:off x="-3057" y="586855"/>
            <a:ext cx="3989970" cy="3387497"/>
          </a:xfrm>
        </p:spPr>
        <p:txBody>
          <a:bodyPr anchor="b">
            <a:normAutofit/>
          </a:bodyPr>
          <a:lstStyle/>
          <a:p>
            <a:pPr>
              <a:spcAft>
                <a:spcPts val="600"/>
              </a:spcAft>
              <a:buClr>
                <a:srgbClr val="0BD0D9"/>
              </a:buClr>
              <a:buSzPct val="95000"/>
              <a:defRPr/>
            </a:pPr>
            <a:r>
              <a:rPr lang="en-US" sz="4500" cap="all" dirty="0">
                <a:solidFill>
                  <a:schemeClr val="bg2"/>
                </a:solidFill>
                <a:latin typeface="Times New Roman" pitchFamily="18" charset="0"/>
              </a:rPr>
              <a:t> Visit-Each-Loop Coverage </a:t>
            </a:r>
          </a:p>
        </p:txBody>
      </p:sp>
      <p:sp>
        <p:nvSpPr>
          <p:cNvPr id="54275" name="Rectangle 3"/>
          <p:cNvSpPr>
            <a:spLocks noGrp="1" noChangeArrowheads="1"/>
          </p:cNvSpPr>
          <p:nvPr>
            <p:ph idx="1"/>
          </p:nvPr>
        </p:nvSpPr>
        <p:spPr>
          <a:xfrm>
            <a:off x="4810259" y="649480"/>
            <a:ext cx="6555347" cy="5546047"/>
          </a:xfrm>
        </p:spPr>
        <p:txBody>
          <a:bodyPr anchor="ctr">
            <a:normAutofit/>
          </a:bodyPr>
          <a:lstStyle/>
          <a:p>
            <a:pPr>
              <a:defRPr/>
            </a:pPr>
            <a:r>
              <a:rPr lang="en-US" sz="3600" b="1" u="sng" dirty="0"/>
              <a:t>Strategy:</a:t>
            </a:r>
            <a:r>
              <a:rPr lang="en-US" sz="3600" dirty="0"/>
              <a:t> </a:t>
            </a:r>
          </a:p>
          <a:p>
            <a:pPr lvl="1">
              <a:defRPr/>
            </a:pPr>
            <a:r>
              <a:rPr lang="en-US" sz="3600" dirty="0">
                <a:effectLst>
                  <a:outerShdw blurRad="38100" dist="38100" dir="2700000" algn="tl">
                    <a:srgbClr val="C0C0C0"/>
                  </a:outerShdw>
                </a:effectLst>
                <a:latin typeface="Helvetica" pitchFamily="34" charset="0"/>
              </a:rPr>
              <a:t>skip the loop entirely </a:t>
            </a:r>
          </a:p>
          <a:p>
            <a:pPr lvl="1">
              <a:defRPr/>
            </a:pPr>
            <a:r>
              <a:rPr lang="en-US" sz="3600" dirty="0">
                <a:effectLst>
                  <a:outerShdw blurRad="38100" dist="38100" dir="2700000" algn="tl">
                    <a:srgbClr val="C0C0C0"/>
                  </a:outerShdw>
                </a:effectLst>
                <a:latin typeface="Helvetica" pitchFamily="34" charset="0"/>
              </a:rPr>
              <a:t>only one pass through the loop </a:t>
            </a:r>
          </a:p>
          <a:p>
            <a:pPr lvl="1">
              <a:defRPr/>
            </a:pPr>
            <a:endParaRPr lang="en-US" sz="2000" u="sng" dirty="0">
              <a:effectLst>
                <a:outerShdw blurRad="38100" dist="38100" dir="2700000" algn="tl">
                  <a:srgbClr val="C0C0C0"/>
                </a:outerShdw>
              </a:effectLst>
              <a:latin typeface="Helvetica" pitchFamily="34" charset="0"/>
            </a:endParaRPr>
          </a:p>
          <a:p>
            <a:pPr>
              <a:defRPr/>
            </a:pPr>
            <a:endParaRPr lang="en-US" sz="2000" dirty="0"/>
          </a:p>
        </p:txBody>
      </p:sp>
      <p:sp>
        <p:nvSpPr>
          <p:cNvPr id="40965" name="Slide Number Placeholder 5"/>
          <p:cNvSpPr>
            <a:spLocks noGrp="1"/>
          </p:cNvSpPr>
          <p:nvPr>
            <p:ph type="sldNum" sz="quarter" idx="12"/>
          </p:nvPr>
        </p:nvSpPr>
        <p:spPr>
          <a:xfrm>
            <a:off x="11704320" y="6455664"/>
            <a:ext cx="448056"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base" latinLnBrk="0" hangingPunct="1">
              <a:lnSpc>
                <a:spcPct val="100000"/>
              </a:lnSpc>
              <a:spcBef>
                <a:spcPct val="0"/>
              </a:spcBef>
              <a:spcAft>
                <a:spcPts val="600"/>
              </a:spcAft>
              <a:buClrTx/>
              <a:buSzTx/>
              <a:buFontTx/>
              <a:buNone/>
              <a:tabLst/>
              <a:defRPr/>
            </a:pPr>
            <a:fld id="{841347CC-7B7D-40EA-A54A-E72EDDF3A978}" type="slidenum">
              <a:rPr kumimoji="0" lang="en-US" altLang="en-US" sz="1100" b="1" i="0" u="none" strike="noStrike" kern="1200" cap="none" spc="0" normalizeH="0" baseline="0" noProof="0">
                <a:ln>
                  <a:noFill/>
                </a:ln>
                <a:solidFill>
                  <a:prstClr val="black">
                    <a:lumMod val="50000"/>
                    <a:lumOff val="50000"/>
                  </a:prstClr>
                </a:solidFill>
                <a:effectLst/>
                <a:uLnTx/>
                <a:uFillTx/>
                <a:latin typeface="Arial" pitchFamily="34" charset="0"/>
                <a:ea typeface="+mn-ea"/>
                <a:cs typeface="+mn-cs"/>
              </a:rPr>
              <a:pPr marL="0" marR="0" lvl="0" indent="0" algn="r" defTabSz="914400" rtl="0" eaLnBrk="1" fontAlgn="base" latinLnBrk="0" hangingPunct="1">
                <a:lnSpc>
                  <a:spcPct val="100000"/>
                </a:lnSpc>
                <a:spcBef>
                  <a:spcPct val="0"/>
                </a:spcBef>
                <a:spcAft>
                  <a:spcPts val="600"/>
                </a:spcAft>
                <a:buClrTx/>
                <a:buSzTx/>
                <a:buFontTx/>
                <a:buNone/>
                <a:tabLst/>
                <a:defRPr/>
              </a:pPr>
              <a:t>29</a:t>
            </a:fld>
            <a:endParaRPr kumimoji="0" lang="en-US" altLang="en-US" sz="1100" b="1" i="0" u="none" strike="noStrike" kern="1200" cap="none" spc="0" normalizeH="0" baseline="0" noProof="0">
              <a:ln>
                <a:noFill/>
              </a:ln>
              <a:solidFill>
                <a:prstClr val="black">
                  <a:lumMod val="50000"/>
                  <a:lumOff val="50000"/>
                </a:prstClr>
              </a:solidFill>
              <a:effectLst/>
              <a:uLnTx/>
              <a:uFillTx/>
              <a:latin typeface="Arial" pitchFamily="34" charset="0"/>
              <a:ea typeface="+mn-ea"/>
              <a:cs typeface="+mn-cs"/>
            </a:endParaRPr>
          </a:p>
        </p:txBody>
      </p:sp>
    </p:spTree>
    <p:extLst>
      <p:ext uri="{BB962C8B-B14F-4D97-AF65-F5344CB8AC3E}">
        <p14:creationId xmlns:p14="http://schemas.microsoft.com/office/powerpoint/2010/main" val="1271301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6" name="Rectangle 135">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0674" name="Rectangle 1026"/>
          <p:cNvSpPr>
            <a:spLocks noGrp="1" noChangeArrowheads="1"/>
          </p:cNvSpPr>
          <p:nvPr>
            <p:ph type="title"/>
          </p:nvPr>
        </p:nvSpPr>
        <p:spPr>
          <a:xfrm>
            <a:off x="589560" y="856180"/>
            <a:ext cx="4560584" cy="1128068"/>
          </a:xfrm>
        </p:spPr>
        <p:txBody>
          <a:bodyPr anchor="ctr">
            <a:normAutofit/>
          </a:bodyPr>
          <a:lstStyle/>
          <a:p>
            <a:pPr>
              <a:defRPr/>
            </a:pPr>
            <a:r>
              <a:rPr lang="en-US" sz="3700"/>
              <a:t>  Visit-Each-Loop Coverage: Example</a:t>
            </a:r>
          </a:p>
        </p:txBody>
      </p:sp>
      <p:grpSp>
        <p:nvGrpSpPr>
          <p:cNvPr id="138" name="Group 137">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39" name="Rectangle 138">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0" name="Rectangle 139">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42" name="Rectangle 141">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0675" name="Rectangle 1027"/>
          <p:cNvSpPr>
            <a:spLocks noGrp="1" noChangeArrowheads="1"/>
          </p:cNvSpPr>
          <p:nvPr>
            <p:ph idx="1"/>
          </p:nvPr>
        </p:nvSpPr>
        <p:spPr>
          <a:xfrm>
            <a:off x="590719" y="2330505"/>
            <a:ext cx="4559425" cy="3979585"/>
          </a:xfrm>
        </p:spPr>
        <p:txBody>
          <a:bodyPr anchor="ctr">
            <a:normAutofit/>
          </a:bodyPr>
          <a:lstStyle/>
          <a:p>
            <a:pPr>
              <a:defRPr/>
            </a:pPr>
            <a:r>
              <a:rPr lang="en-US" u="sng" dirty="0"/>
              <a:t>Minimum number of test cases</a:t>
            </a:r>
            <a:r>
              <a:rPr lang="en-US" dirty="0"/>
              <a:t>:  </a:t>
            </a:r>
            <a:r>
              <a:rPr lang="en-US" b="1" dirty="0">
                <a:effectLst>
                  <a:outerShdw blurRad="38100" dist="38100" dir="2700000" algn="tl">
                    <a:srgbClr val="C0C0C0"/>
                  </a:outerShdw>
                </a:effectLst>
              </a:rPr>
              <a:t>7</a:t>
            </a:r>
            <a:endParaRPr lang="en-US" dirty="0"/>
          </a:p>
          <a:p>
            <a:pPr lvl="1">
              <a:defRPr/>
            </a:pPr>
            <a:endParaRPr lang="en-US" sz="2800" dirty="0"/>
          </a:p>
          <a:p>
            <a:pPr>
              <a:defRPr/>
            </a:pPr>
            <a:r>
              <a:rPr lang="en-US" u="sng" dirty="0"/>
              <a:t>Paths:</a:t>
            </a:r>
            <a:r>
              <a:rPr lang="en-US" dirty="0"/>
              <a:t> &lt;2 11&gt;, &lt;2 10 12 14&gt;, &lt;2 10 12 13 12 14&gt;,  &lt;1 3 5 6 7 15&gt;, &lt; 1 4 6 7 15&gt;, &lt;1 3 5 6 7 8 9 15&gt;,  &lt;1 4 6 7 8 9 15&gt;</a:t>
            </a:r>
            <a:endParaRPr lang="en-US" u="sng" dirty="0"/>
          </a:p>
        </p:txBody>
      </p:sp>
      <p:sp>
        <p:nvSpPr>
          <p:cNvPr id="144" name="Rectangle 143">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6" name="Rectangle 145">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128" name="Picture 9"/>
          <p:cNvPicPr>
            <a:picLocks noChangeAspect="1" noChangeArrowheads="1"/>
          </p:cNvPicPr>
          <p:nvPr/>
        </p:nvPicPr>
        <p:blipFill rotWithShape="1">
          <a:blip r:embed="rId2">
            <a:extLst>
              <a:ext uri="{28A0092B-C50C-407E-A947-70E740481C1C}">
                <a14:useLocalDpi xmlns:a14="http://schemas.microsoft.com/office/drawing/2010/main" val="0"/>
              </a:ext>
            </a:extLst>
          </a:blip>
          <a:srcRect l="4749" r="-2" b="-2"/>
          <a:stretch/>
        </p:blipFill>
        <p:spPr bwMode="auto">
          <a:xfrm>
            <a:off x="5977788" y="799352"/>
            <a:ext cx="5425410" cy="525929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6" name="Slide Number Placeholder 5"/>
          <p:cNvSpPr>
            <a:spLocks noGrp="1"/>
          </p:cNvSpPr>
          <p:nvPr>
            <p:ph type="sldNum" sz="quarter" idx="12"/>
          </p:nvPr>
        </p:nvSpPr>
        <p:spPr>
          <a:xfrm>
            <a:off x="9385070" y="6492240"/>
            <a:ext cx="1055716"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base" latinLnBrk="0" hangingPunct="1">
              <a:lnSpc>
                <a:spcPct val="100000"/>
              </a:lnSpc>
              <a:spcBef>
                <a:spcPct val="0"/>
              </a:spcBef>
              <a:spcAft>
                <a:spcPts val="600"/>
              </a:spcAft>
              <a:buClrTx/>
              <a:buSzTx/>
              <a:buFontTx/>
              <a:buNone/>
              <a:tabLst/>
              <a:defRPr/>
            </a:pPr>
            <a:fld id="{5870183D-DF3C-4CC4-839E-8DE7636D4298}" type="slidenum">
              <a:rPr kumimoji="0" lang="en-US" altLang="en-US" sz="1200" b="1" i="0" u="none" strike="noStrike" kern="1200" cap="none" spc="0" normalizeH="0" baseline="0" noProof="0">
                <a:ln>
                  <a:noFill/>
                </a:ln>
                <a:solidFill>
                  <a:prstClr val="black"/>
                </a:solidFill>
                <a:effectLst/>
                <a:uLnTx/>
                <a:uFillTx/>
                <a:latin typeface="Arial" pitchFamily="34" charset="0"/>
                <a:ea typeface="+mn-ea"/>
                <a:cs typeface="+mn-cs"/>
              </a:rPr>
              <a:pPr marL="0" marR="0" lvl="0" indent="0" algn="r" defTabSz="914400" rtl="0" eaLnBrk="1" fontAlgn="base" latinLnBrk="0" hangingPunct="1">
                <a:lnSpc>
                  <a:spcPct val="100000"/>
                </a:lnSpc>
                <a:spcBef>
                  <a:spcPct val="0"/>
                </a:spcBef>
                <a:spcAft>
                  <a:spcPts val="600"/>
                </a:spcAft>
                <a:buClrTx/>
                <a:buSzTx/>
                <a:buFontTx/>
                <a:buNone/>
                <a:tabLst/>
                <a:defRPr/>
              </a:pPr>
              <a:t>30</a:t>
            </a:fld>
            <a:endParaRPr kumimoji="0" lang="en-US" altLang="en-US" sz="1200" b="1" i="0" u="none" strike="noStrike" kern="1200" cap="none" spc="0" normalizeH="0" baseline="0" noProof="0">
              <a:ln>
                <a:noFill/>
              </a:ln>
              <a:solidFill>
                <a:prstClr val="black"/>
              </a:solidFill>
              <a:effectLst/>
              <a:uLnTx/>
              <a:uFillTx/>
              <a:latin typeface="Arial" pitchFamily="34" charset="0"/>
              <a:ea typeface="+mn-ea"/>
              <a:cs typeface="+mn-cs"/>
            </a:endParaRPr>
          </a:p>
        </p:txBody>
      </p:sp>
    </p:spTree>
    <p:extLst>
      <p:ext uri="{BB962C8B-B14F-4D97-AF65-F5344CB8AC3E}">
        <p14:creationId xmlns:p14="http://schemas.microsoft.com/office/powerpoint/2010/main" val="3009852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74" name="Rectangle 73">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Rectangle 75">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Rectangle 77">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Rectangle 79">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2" name="Freeform: Shape 81">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4" name="Rectangle 83">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Rectangle 3"/>
          <p:cNvSpPr txBox="1">
            <a:spLocks noChangeArrowheads="1"/>
          </p:cNvSpPr>
          <p:nvPr/>
        </p:nvSpPr>
        <p:spPr>
          <a:xfrm>
            <a:off x="95693" y="586855"/>
            <a:ext cx="3572395" cy="3387497"/>
          </a:xfrm>
          <a:prstGeom prst="rect">
            <a:avLst/>
          </a:prstGeom>
        </p:spPr>
        <p:txBody>
          <a:bodyPr vert="horz" lIns="91440" tIns="45720" rIns="91440" bIns="45720" rtlCol="0" anchor="b">
            <a:noAutofit/>
          </a:bodyPr>
          <a:lst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marL="0" marR="0" lvl="0" indent="0" algn="l" defTabSz="914400" rtl="0" eaLnBrk="1" fontAlgn="auto" latinLnBrk="0" hangingPunct="1">
              <a:lnSpc>
                <a:spcPct val="90000"/>
              </a:lnSpc>
              <a:spcBef>
                <a:spcPct val="0"/>
              </a:spcBef>
              <a:spcAft>
                <a:spcPts val="600"/>
              </a:spcAft>
              <a:buClr>
                <a:srgbClr val="0BD0D9"/>
              </a:buClr>
              <a:buSzPct val="95000"/>
              <a:buFont typeface="Wingdings 2"/>
              <a:buNone/>
              <a:tabLst/>
              <a:defRPr/>
            </a:pPr>
            <a:r>
              <a:rPr kumimoji="0" lang="en-US" sz="4500" b="0" i="0" u="none" strike="noStrike" kern="1200" cap="all" spc="0" normalizeH="0" baseline="0" noProof="0" dirty="0">
                <a:ln>
                  <a:noFill/>
                </a:ln>
                <a:solidFill>
                  <a:srgbClr val="E7E6E6"/>
                </a:solidFill>
                <a:effectLst/>
                <a:uLnTx/>
                <a:uFillTx/>
                <a:latin typeface="Times New Roman" pitchFamily="18" charset="0"/>
                <a:ea typeface="+mn-ea"/>
                <a:cs typeface="+mn-cs"/>
              </a:rPr>
              <a:t>Linearly INDEPENDENT PATHS coverage</a:t>
            </a:r>
          </a:p>
        </p:txBody>
      </p:sp>
      <p:sp>
        <p:nvSpPr>
          <p:cNvPr id="340995" name="Rectangle 3"/>
          <p:cNvSpPr>
            <a:spLocks noGrp="1" noChangeArrowheads="1"/>
          </p:cNvSpPr>
          <p:nvPr>
            <p:ph idx="1"/>
          </p:nvPr>
        </p:nvSpPr>
        <p:spPr>
          <a:xfrm>
            <a:off x="4037827" y="649480"/>
            <a:ext cx="8058480" cy="5546047"/>
          </a:xfrm>
        </p:spPr>
        <p:txBody>
          <a:bodyPr vert="horz" lIns="91440" tIns="45720" rIns="91440" bIns="45720" rtlCol="0" anchor="ctr">
            <a:normAutofit/>
          </a:bodyPr>
          <a:lstStyle/>
          <a:p>
            <a:pPr marL="0" indent="0">
              <a:buNone/>
            </a:pPr>
            <a:endParaRPr lang="en-US" sz="3600" b="0" i="0" dirty="0">
              <a:solidFill>
                <a:srgbClr val="0D0D0D"/>
              </a:solidFill>
              <a:effectLst/>
              <a:latin typeface="Söhne"/>
            </a:endParaRPr>
          </a:p>
          <a:p>
            <a:pPr marL="0" indent="0" algn="just">
              <a:buNone/>
            </a:pPr>
            <a:r>
              <a:rPr lang="en-US" sz="3600" b="0" i="0" dirty="0">
                <a:solidFill>
                  <a:srgbClr val="0D0D0D"/>
                </a:solidFill>
                <a:effectLst/>
                <a:latin typeface="Söhne"/>
              </a:rPr>
              <a:t>Two or more paths are considered independent if one cannot be derived from the other. In other words, each path represents a unique combination of decisions and conditions within the program.</a:t>
            </a:r>
          </a:p>
          <a:p>
            <a:endParaRPr lang="en-US" sz="3600" dirty="0">
              <a:solidFill>
                <a:srgbClr val="0D0D0D"/>
              </a:solidFill>
              <a:latin typeface="Söhne"/>
            </a:endParaRPr>
          </a:p>
          <a:p>
            <a:pPr marL="0" indent="0">
              <a:buNone/>
            </a:pPr>
            <a:endParaRPr lang="en-US" sz="3600" dirty="0"/>
          </a:p>
        </p:txBody>
      </p:sp>
      <p:sp>
        <p:nvSpPr>
          <p:cNvPr id="4" name="Rectangle 19"/>
          <p:cNvSpPr>
            <a:spLocks noGrp="1" noChangeArrowheads="1"/>
          </p:cNvSpPr>
          <p:nvPr>
            <p:ph type="sldNum" sz="quarter" idx="12"/>
          </p:nvPr>
        </p:nvSpPr>
        <p:spPr>
          <a:xfrm>
            <a:off x="11704320" y="6455664"/>
            <a:ext cx="448056" cy="365125"/>
          </a:xfrm>
        </p:spPr>
        <p:txBody>
          <a:bodyPr vert="horz" lIns="91440" tIns="45720" rIns="91440" bIns="45720" rtlCol="0" anchor="ctr">
            <a:normAutofit/>
          </a:bodyPr>
          <a:lstStyle/>
          <a:p>
            <a:pPr marL="0" marR="0" lvl="0" indent="0" algn="r" defTabSz="914400" rtl="0" eaLnBrk="1" fontAlgn="base" latinLnBrk="0" hangingPunct="1">
              <a:lnSpc>
                <a:spcPct val="100000"/>
              </a:lnSpc>
              <a:spcBef>
                <a:spcPct val="0"/>
              </a:spcBef>
              <a:spcAft>
                <a:spcPts val="600"/>
              </a:spcAft>
              <a:buClrTx/>
              <a:buSzTx/>
              <a:buFontTx/>
              <a:buNone/>
              <a:tabLst/>
              <a:defRPr/>
            </a:pPr>
            <a:fld id="{3A002DC8-72A8-4A30-942F-EA8FBF594529}" type="slidenum">
              <a:rPr kumimoji="0" lang="en-US" sz="1100" b="1" i="0" u="none" strike="noStrike" kern="1200" cap="none" spc="0" normalizeH="0" baseline="0" noProof="0">
                <a:ln>
                  <a:noFill/>
                </a:ln>
                <a:solidFill>
                  <a:prstClr val="black">
                    <a:lumMod val="50000"/>
                    <a:lumOff val="50000"/>
                  </a:prstClr>
                </a:solidFill>
                <a:effectLst/>
                <a:uLnTx/>
                <a:uFillTx/>
                <a:latin typeface="Calibri" panose="020F0502020204030204"/>
                <a:ea typeface="+mn-ea"/>
                <a:cs typeface="+mn-cs"/>
              </a:rPr>
              <a:pPr marL="0" marR="0" lvl="0" indent="0" algn="r" defTabSz="914400" rtl="0" eaLnBrk="1" fontAlgn="base" latinLnBrk="0" hangingPunct="1">
                <a:lnSpc>
                  <a:spcPct val="100000"/>
                </a:lnSpc>
                <a:spcBef>
                  <a:spcPct val="0"/>
                </a:spcBef>
                <a:spcAft>
                  <a:spcPts val="600"/>
                </a:spcAft>
                <a:buClrTx/>
                <a:buSzTx/>
                <a:buFontTx/>
                <a:buNone/>
                <a:tabLst/>
                <a:defRPr/>
              </a:pPr>
              <a:t>31</a:t>
            </a:fld>
            <a:endParaRPr kumimoji="0" lang="en-US" sz="1100" b="1" i="0" u="none" strike="noStrike" kern="1200" cap="none" spc="0" normalizeH="0" baseline="0" noProof="0">
              <a:ln>
                <a:noFill/>
              </a:ln>
              <a:solidFill>
                <a:prstClr val="black">
                  <a:lumMod val="50000"/>
                  <a:lumOff val="50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60170905"/>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E3C3D2-90ED-FD6A-5C81-6F656A8FE72F}"/>
              </a:ext>
            </a:extLst>
          </p:cNvPr>
          <p:cNvSpPr>
            <a:spLocks noGrp="1"/>
          </p:cNvSpPr>
          <p:nvPr>
            <p:ph type="title"/>
          </p:nvPr>
        </p:nvSpPr>
        <p:spPr>
          <a:xfrm>
            <a:off x="838200" y="365125"/>
            <a:ext cx="10515600" cy="1325563"/>
          </a:xfrm>
        </p:spPr>
        <p:txBody>
          <a:bodyPr>
            <a:normAutofit/>
          </a:bodyPr>
          <a:lstStyle/>
          <a:p>
            <a:r>
              <a:rPr lang="en-US" sz="5000" cap="all" dirty="0">
                <a:latin typeface="Times New Roman" pitchFamily="18" charset="0"/>
              </a:rPr>
              <a:t>Linearly Independent Paths</a:t>
            </a:r>
          </a:p>
        </p:txBody>
      </p:sp>
      <p:sp>
        <p:nvSpPr>
          <p:cNvPr id="1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E67F721-F1E1-1513-995B-3D2B4D4816FC}"/>
              </a:ext>
            </a:extLst>
          </p:cNvPr>
          <p:cNvSpPr>
            <a:spLocks noGrp="1"/>
          </p:cNvSpPr>
          <p:nvPr>
            <p:ph idx="1"/>
          </p:nvPr>
        </p:nvSpPr>
        <p:spPr>
          <a:xfrm>
            <a:off x="838200" y="1929384"/>
            <a:ext cx="10515600" cy="4251960"/>
          </a:xfrm>
        </p:spPr>
        <p:txBody>
          <a:bodyPr>
            <a:normAutofit fontScale="77500" lnSpcReduction="20000"/>
          </a:bodyPr>
          <a:lstStyle/>
          <a:p>
            <a:pPr marL="0" indent="0">
              <a:buNone/>
            </a:pPr>
            <a:r>
              <a:rPr lang="en-US" sz="2500" dirty="0"/>
              <a:t>def </a:t>
            </a:r>
            <a:r>
              <a:rPr lang="en-US" sz="2500" dirty="0" err="1"/>
              <a:t>example_function</a:t>
            </a:r>
            <a:r>
              <a:rPr lang="en-US" sz="2500" dirty="0"/>
              <a:t>(a, b):</a:t>
            </a:r>
          </a:p>
          <a:p>
            <a:pPr marL="0" indent="0">
              <a:buNone/>
            </a:pPr>
            <a:r>
              <a:rPr lang="en-US" sz="2500" dirty="0"/>
              <a:t>    if a &gt; 0:</a:t>
            </a:r>
          </a:p>
          <a:p>
            <a:pPr marL="0" indent="0">
              <a:buNone/>
            </a:pPr>
            <a:r>
              <a:rPr lang="en-US" sz="2500" b="1" dirty="0"/>
              <a:t>        # Path A</a:t>
            </a:r>
          </a:p>
          <a:p>
            <a:pPr marL="0" indent="0">
              <a:buNone/>
            </a:pPr>
            <a:r>
              <a:rPr lang="en-US" sz="2500" dirty="0"/>
              <a:t>        print("Path A: a is greater than 0")</a:t>
            </a:r>
          </a:p>
          <a:p>
            <a:pPr marL="0" indent="0">
              <a:buNone/>
            </a:pPr>
            <a:r>
              <a:rPr lang="en-US" sz="2500" dirty="0"/>
              <a:t>        if b &gt; 0:</a:t>
            </a:r>
          </a:p>
          <a:p>
            <a:pPr marL="0" indent="0">
              <a:buNone/>
            </a:pPr>
            <a:r>
              <a:rPr lang="en-US" sz="2500" b="1" dirty="0"/>
              <a:t>            # Path C</a:t>
            </a:r>
          </a:p>
          <a:p>
            <a:pPr marL="0" indent="0">
              <a:buNone/>
            </a:pPr>
            <a:r>
              <a:rPr lang="en-US" sz="2500" dirty="0"/>
              <a:t>            print("Path C: b is greater than 0")</a:t>
            </a:r>
          </a:p>
          <a:p>
            <a:pPr marL="0" indent="0">
              <a:buNone/>
            </a:pPr>
            <a:r>
              <a:rPr lang="en-US" sz="2500" dirty="0"/>
              <a:t>        else:</a:t>
            </a:r>
          </a:p>
          <a:p>
            <a:pPr marL="0" indent="0">
              <a:buNone/>
            </a:pPr>
            <a:r>
              <a:rPr lang="en-US" sz="2500" b="1" dirty="0"/>
              <a:t>            # Path D</a:t>
            </a:r>
          </a:p>
          <a:p>
            <a:pPr marL="0" indent="0">
              <a:buNone/>
            </a:pPr>
            <a:r>
              <a:rPr lang="en-US" sz="2500" dirty="0"/>
              <a:t>            print("Path D: b is less than or equal to 0")</a:t>
            </a:r>
          </a:p>
          <a:p>
            <a:pPr marL="0" indent="0">
              <a:buNone/>
            </a:pPr>
            <a:r>
              <a:rPr lang="en-US" sz="2500" dirty="0"/>
              <a:t>    else:</a:t>
            </a:r>
          </a:p>
          <a:p>
            <a:pPr marL="0" indent="0">
              <a:buNone/>
            </a:pPr>
            <a:r>
              <a:rPr lang="en-US" sz="2500" b="1" dirty="0"/>
              <a:t>        # Path B</a:t>
            </a:r>
          </a:p>
          <a:p>
            <a:pPr marL="0" indent="0">
              <a:buNone/>
            </a:pPr>
            <a:r>
              <a:rPr lang="en-US" sz="2500" dirty="0"/>
              <a:t>        print("Path B: a is less than or equal to 0")</a:t>
            </a:r>
          </a:p>
          <a:p>
            <a:endParaRPr lang="en-US" sz="1400" dirty="0"/>
          </a:p>
        </p:txBody>
      </p:sp>
      <p:sp>
        <p:nvSpPr>
          <p:cNvPr id="4" name="Slide Number Placeholder 3">
            <a:extLst>
              <a:ext uri="{FF2B5EF4-FFF2-40B4-BE49-F238E27FC236}">
                <a16:creationId xmlns:a16="http://schemas.microsoft.com/office/drawing/2014/main" id="{2A962C69-66C3-1EB4-DF93-A12C07A7875F}"/>
              </a:ext>
            </a:extLst>
          </p:cNvPr>
          <p:cNvSpPr>
            <a:spLocks noGrp="1"/>
          </p:cNvSpPr>
          <p:nvPr>
            <p:ph type="sldNum" sz="quarter" idx="12"/>
          </p:nvPr>
        </p:nvSpPr>
        <p:spPr>
          <a:xfrm>
            <a:off x="8610600" y="6356350"/>
            <a:ext cx="2743200" cy="365125"/>
          </a:xfrm>
        </p:spPr>
        <p:txBody>
          <a:bodyPr>
            <a:normAutofit/>
          </a:bodyPr>
          <a:lstStyle/>
          <a:p>
            <a:pPr>
              <a:spcAft>
                <a:spcPts val="600"/>
              </a:spcAft>
            </a:pPr>
            <a:fld id="{4802611B-C7D4-401B-B615-A1AB963424CC}" type="slidenum">
              <a:rPr lang="en-US" smtClean="0"/>
              <a:pPr>
                <a:spcAft>
                  <a:spcPts val="600"/>
                </a:spcAft>
              </a:pPr>
              <a:t>32</a:t>
            </a:fld>
            <a:endParaRPr lang="en-US"/>
          </a:p>
        </p:txBody>
      </p:sp>
    </p:spTree>
    <p:extLst>
      <p:ext uri="{BB962C8B-B14F-4D97-AF65-F5344CB8AC3E}">
        <p14:creationId xmlns:p14="http://schemas.microsoft.com/office/powerpoint/2010/main" val="34199583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McCabe’s </a:t>
            </a:r>
            <a:r>
              <a:rPr lang="en-US" dirty="0" err="1"/>
              <a:t>Cyclomatic</a:t>
            </a:r>
            <a:r>
              <a:rPr lang="en-US" dirty="0"/>
              <a:t> Complexity</a:t>
            </a: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9C617E-4B7E-4AE2-8B7C-CB4469A334C1}"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026" name="Rectangle 2"/>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1025" name="Object 1"/>
          <p:cNvGraphicFramePr>
            <a:graphicFrameLocks noChangeAspect="1"/>
          </p:cNvGraphicFramePr>
          <p:nvPr/>
        </p:nvGraphicFramePr>
        <p:xfrm>
          <a:off x="3328417" y="2157984"/>
          <a:ext cx="5400675" cy="4038600"/>
        </p:xfrm>
        <a:graphic>
          <a:graphicData uri="http://schemas.openxmlformats.org/presentationml/2006/ole">
            <mc:AlternateContent xmlns:mc="http://schemas.openxmlformats.org/markup-compatibility/2006">
              <mc:Choice xmlns:v="urn:schemas-microsoft-com:vml" Requires="v">
                <p:oleObj name="Slide" r:id="rId2" imgW="4375508" imgH="3281296" progId="PowerPoint.Slide.12">
                  <p:embed/>
                </p:oleObj>
              </mc:Choice>
              <mc:Fallback>
                <p:oleObj name="Slide" r:id="rId2" imgW="4375508" imgH="3281296" progId="PowerPoint.Slide.12">
                  <p:embed/>
                  <p:pic>
                    <p:nvPicPr>
                      <p:cNvPr id="1025"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28417" y="2157984"/>
                        <a:ext cx="5400675" cy="403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0117155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4352" y="204216"/>
            <a:ext cx="8229600" cy="1143000"/>
          </a:xfrm>
        </p:spPr>
        <p:txBody>
          <a:bodyPr/>
          <a:lstStyle/>
          <a:p>
            <a:r>
              <a:rPr lang="en-US" dirty="0"/>
              <a:t>McCabe Example</a:t>
            </a:r>
          </a:p>
        </p:txBody>
      </p:sp>
      <p:sp>
        <p:nvSpPr>
          <p:cNvPr id="3" name="Content Placeholder 2"/>
          <p:cNvSpPr>
            <a:spLocks noGrp="1"/>
          </p:cNvSpPr>
          <p:nvPr>
            <p:ph idx="1"/>
          </p:nvPr>
        </p:nvSpPr>
        <p:spPr/>
        <p:txBody>
          <a:bodyPr>
            <a:normAutofit fontScale="47500" lnSpcReduction="20000"/>
          </a:bodyPr>
          <a:lstStyle/>
          <a:p>
            <a:pPr lvl="0">
              <a:buNone/>
            </a:pPr>
            <a:r>
              <a:rPr lang="en-US" dirty="0"/>
              <a:t>1.	</a:t>
            </a:r>
            <a:r>
              <a:rPr lang="en-US" dirty="0" err="1"/>
              <a:t>i</a:t>
            </a:r>
            <a:r>
              <a:rPr lang="en-US" dirty="0"/>
              <a:t>=1;</a:t>
            </a:r>
          </a:p>
          <a:p>
            <a:pPr>
              <a:buNone/>
            </a:pPr>
            <a:r>
              <a:rPr lang="en-US" dirty="0"/>
              <a:t>2	if  (a&lt; b) </a:t>
            </a:r>
          </a:p>
          <a:p>
            <a:pPr>
              <a:buNone/>
            </a:pPr>
            <a:r>
              <a:rPr lang="en-US" dirty="0"/>
              <a:t>3		a=</a:t>
            </a:r>
            <a:r>
              <a:rPr lang="en-US" dirty="0" err="1"/>
              <a:t>a+b</a:t>
            </a:r>
            <a:r>
              <a:rPr lang="en-US" dirty="0"/>
              <a:t>;</a:t>
            </a:r>
          </a:p>
          <a:p>
            <a:pPr>
              <a:buNone/>
            </a:pPr>
            <a:r>
              <a:rPr lang="en-US" dirty="0"/>
              <a:t>4	else</a:t>
            </a:r>
          </a:p>
          <a:p>
            <a:pPr>
              <a:buNone/>
            </a:pPr>
            <a:r>
              <a:rPr lang="en-US" dirty="0"/>
              <a:t>5		b=</a:t>
            </a:r>
            <a:r>
              <a:rPr lang="en-US" dirty="0" err="1"/>
              <a:t>a+c</a:t>
            </a:r>
            <a:r>
              <a:rPr lang="en-US" dirty="0"/>
              <a:t>;</a:t>
            </a:r>
          </a:p>
          <a:p>
            <a:pPr>
              <a:buNone/>
            </a:pPr>
            <a:r>
              <a:rPr lang="en-US" dirty="0"/>
              <a:t>6	while (</a:t>
            </a:r>
            <a:r>
              <a:rPr lang="en-US" dirty="0" err="1"/>
              <a:t>i</a:t>
            </a:r>
            <a:r>
              <a:rPr lang="en-US" dirty="0"/>
              <a:t>&lt;20) </a:t>
            </a:r>
          </a:p>
          <a:p>
            <a:pPr>
              <a:buNone/>
            </a:pPr>
            <a:r>
              <a:rPr lang="en-US" dirty="0"/>
              <a:t>7	{</a:t>
            </a:r>
          </a:p>
          <a:p>
            <a:pPr>
              <a:buNone/>
            </a:pPr>
            <a:r>
              <a:rPr lang="en-US" dirty="0"/>
              <a:t>8	if (b&lt;c) </a:t>
            </a:r>
          </a:p>
          <a:p>
            <a:pPr>
              <a:buNone/>
            </a:pPr>
            <a:r>
              <a:rPr lang="en-US" dirty="0"/>
              <a:t>9	{</a:t>
            </a:r>
          </a:p>
          <a:p>
            <a:pPr>
              <a:buNone/>
            </a:pPr>
            <a:r>
              <a:rPr lang="en-US" dirty="0"/>
              <a:t>10		if (b&gt;c) </a:t>
            </a:r>
          </a:p>
          <a:p>
            <a:pPr>
              <a:buNone/>
            </a:pPr>
            <a:r>
              <a:rPr lang="en-US" dirty="0"/>
              <a:t>11			b=</a:t>
            </a:r>
            <a:r>
              <a:rPr lang="en-US" dirty="0" err="1"/>
              <a:t>b+a</a:t>
            </a:r>
            <a:r>
              <a:rPr lang="en-US" dirty="0"/>
              <a:t>;</a:t>
            </a:r>
          </a:p>
          <a:p>
            <a:pPr>
              <a:buNone/>
            </a:pPr>
            <a:r>
              <a:rPr lang="en-US" dirty="0"/>
              <a:t>12	  }</a:t>
            </a:r>
          </a:p>
          <a:p>
            <a:pPr>
              <a:buNone/>
            </a:pPr>
            <a:r>
              <a:rPr lang="en-US" dirty="0"/>
              <a:t>13		else</a:t>
            </a:r>
          </a:p>
          <a:p>
            <a:pPr>
              <a:buNone/>
            </a:pPr>
            <a:r>
              <a:rPr lang="en-US" dirty="0"/>
              <a:t>14			c=</a:t>
            </a:r>
            <a:r>
              <a:rPr lang="en-US" dirty="0" err="1"/>
              <a:t>b+a</a:t>
            </a:r>
            <a:r>
              <a:rPr lang="en-US" dirty="0"/>
              <a:t>;</a:t>
            </a:r>
          </a:p>
          <a:p>
            <a:pPr>
              <a:buNone/>
            </a:pPr>
            <a:r>
              <a:rPr lang="en-US" dirty="0"/>
              <a:t>15		</a:t>
            </a:r>
            <a:r>
              <a:rPr lang="en-US" dirty="0" err="1"/>
              <a:t>i</a:t>
            </a:r>
            <a:r>
              <a:rPr lang="en-US" dirty="0"/>
              <a:t>++;</a:t>
            </a:r>
          </a:p>
          <a:p>
            <a:pPr>
              <a:buNone/>
            </a:pPr>
            <a:r>
              <a:rPr lang="en-US" dirty="0"/>
              <a:t>16	}</a:t>
            </a:r>
          </a:p>
          <a:p>
            <a:pPr>
              <a:buNone/>
            </a:pPr>
            <a:endParaRPr lang="en-US" dirty="0"/>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9C617E-4B7E-4AE2-8B7C-CB4469A334C1}"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TextBox 5"/>
          <p:cNvSpPr txBox="1"/>
          <p:nvPr/>
        </p:nvSpPr>
        <p:spPr>
          <a:xfrm>
            <a:off x="1914144" y="1475232"/>
            <a:ext cx="401603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accent2">
                    <a:lumMod val="75000"/>
                  </a:schemeClr>
                </a:solidFill>
                <a:effectLst/>
                <a:uLnTx/>
                <a:uFillTx/>
                <a:latin typeface="Calibri" panose="020F0502020204030204"/>
                <a:ea typeface="+mn-ea"/>
                <a:cs typeface="+mn-cs"/>
              </a:rPr>
              <a:t>A program fragment : all variables are </a:t>
            </a:r>
            <a:r>
              <a:rPr kumimoji="0" lang="en-US" sz="1800" b="0" i="0" u="none" strike="noStrike" kern="1200" cap="none" spc="0" normalizeH="0" baseline="0" noProof="0" dirty="0" err="1">
                <a:ln>
                  <a:noFill/>
                </a:ln>
                <a:solidFill>
                  <a:schemeClr val="accent2">
                    <a:lumMod val="75000"/>
                  </a:schemeClr>
                </a:solidFill>
                <a:effectLst/>
                <a:uLnTx/>
                <a:uFillTx/>
                <a:latin typeface="Calibri" panose="020F0502020204030204"/>
                <a:ea typeface="+mn-ea"/>
                <a:cs typeface="+mn-cs"/>
              </a:rPr>
              <a:t>int</a:t>
            </a:r>
            <a:endParaRPr kumimoji="0" lang="en-US" sz="1800" b="0" i="0" u="none" strike="noStrike" kern="1200" cap="none" spc="0" normalizeH="0" baseline="0" noProof="0" dirty="0">
              <a:ln>
                <a:noFill/>
              </a:ln>
              <a:solidFill>
                <a:schemeClr val="accent2">
                  <a:lumMod val="75000"/>
                </a:schemeClr>
              </a:solidFill>
              <a:effectLst/>
              <a:uLnTx/>
              <a:uFillTx/>
              <a:latin typeface="Calibri" panose="020F0502020204030204"/>
              <a:ea typeface="+mn-ea"/>
              <a:cs typeface="+mn-cs"/>
            </a:endParaRPr>
          </a:p>
        </p:txBody>
      </p:sp>
      <p:sp>
        <p:nvSpPr>
          <p:cNvPr id="7" name="TextBox 6"/>
          <p:cNvSpPr txBox="1"/>
          <p:nvPr/>
        </p:nvSpPr>
        <p:spPr>
          <a:xfrm>
            <a:off x="2011680" y="5937504"/>
            <a:ext cx="646176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alibri" panose="020F0502020204030204"/>
                <a:ea typeface="+mn-ea"/>
                <a:cs typeface="+mn-cs"/>
              </a:rPr>
              <a:t>I added line numbers for ease of analysis</a:t>
            </a:r>
          </a:p>
        </p:txBody>
      </p:sp>
    </p:spTree>
    <p:extLst>
      <p:ext uri="{BB962C8B-B14F-4D97-AF65-F5344CB8AC3E}">
        <p14:creationId xmlns:p14="http://schemas.microsoft.com/office/powerpoint/2010/main" val="18059043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9C617E-4B7E-4AE2-8B7C-CB4469A334C1}"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3" name="Rectangle 62"/>
          <p:cNvSpPr/>
          <p:nvPr/>
        </p:nvSpPr>
        <p:spPr>
          <a:xfrm>
            <a:off x="66099" y="95888"/>
            <a:ext cx="4581782" cy="286232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accent1">
                    <a:lumMod val="75000"/>
                  </a:schemeClr>
                </a:solidFill>
                <a:effectLst/>
                <a:uLnTx/>
                <a:uFillTx/>
                <a:latin typeface="Calibri" panose="020F0502020204030204"/>
                <a:ea typeface="+mn-ea"/>
                <a:cs typeface="+mn-cs"/>
              </a:rPr>
              <a:t>Condense line numbers together as follows: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accent1">
                  <a:lumMod val="75000"/>
                </a:schemeClr>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accent1">
                    <a:lumMod val="75000"/>
                  </a:schemeClr>
                </a:solidFill>
                <a:effectLst/>
                <a:uLnTx/>
                <a:uFillTx/>
                <a:latin typeface="Calibri" panose="020F0502020204030204"/>
                <a:ea typeface="+mn-ea"/>
                <a:cs typeface="+mn-cs"/>
              </a:rPr>
              <a:t>A=1,2;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accent1">
                    <a:lumMod val="75000"/>
                  </a:schemeClr>
                </a:solidFill>
                <a:effectLst/>
                <a:uLnTx/>
                <a:uFillTx/>
                <a:latin typeface="Calibri" panose="020F0502020204030204"/>
                <a:ea typeface="+mn-ea"/>
                <a:cs typeface="+mn-cs"/>
              </a:rPr>
              <a:t>B=3;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accent1">
                    <a:lumMod val="75000"/>
                  </a:schemeClr>
                </a:solidFill>
                <a:effectLst/>
                <a:uLnTx/>
                <a:uFillTx/>
                <a:latin typeface="Calibri" panose="020F0502020204030204"/>
                <a:ea typeface="+mn-ea"/>
                <a:cs typeface="+mn-cs"/>
              </a:rPr>
              <a:t>C=4,5;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accent1">
                    <a:lumMod val="75000"/>
                  </a:schemeClr>
                </a:solidFill>
                <a:effectLst/>
                <a:uLnTx/>
                <a:uFillTx/>
                <a:latin typeface="Calibri" panose="020F0502020204030204"/>
                <a:ea typeface="+mn-ea"/>
                <a:cs typeface="+mn-cs"/>
              </a:rPr>
              <a:t>D=6,7,8;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accent1">
                    <a:lumMod val="75000"/>
                  </a:schemeClr>
                </a:solidFill>
                <a:effectLst/>
                <a:uLnTx/>
                <a:uFillTx/>
                <a:latin typeface="Calibri" panose="020F0502020204030204"/>
                <a:ea typeface="+mn-ea"/>
                <a:cs typeface="+mn-cs"/>
              </a:rPr>
              <a:t>E=9,10;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accent1">
                    <a:lumMod val="75000"/>
                  </a:schemeClr>
                </a:solidFill>
                <a:effectLst/>
                <a:uLnTx/>
                <a:uFillTx/>
                <a:latin typeface="Calibri" panose="020F0502020204030204"/>
                <a:ea typeface="+mn-ea"/>
                <a:cs typeface="+mn-cs"/>
              </a:rPr>
              <a:t>F=11;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accent1">
                    <a:lumMod val="75000"/>
                  </a:schemeClr>
                </a:solidFill>
                <a:effectLst/>
                <a:uLnTx/>
                <a:uFillTx/>
                <a:latin typeface="Calibri" panose="020F0502020204030204"/>
                <a:ea typeface="+mn-ea"/>
                <a:cs typeface="+mn-cs"/>
              </a:rPr>
              <a:t>G=12,15,16, and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accent1">
                    <a:lumMod val="75000"/>
                  </a:schemeClr>
                </a:solidFill>
                <a:effectLst/>
                <a:uLnTx/>
                <a:uFillTx/>
                <a:latin typeface="Calibri" panose="020F0502020204030204"/>
                <a:ea typeface="+mn-ea"/>
                <a:cs typeface="+mn-cs"/>
              </a:rPr>
              <a:t>H=13,14</a:t>
            </a:r>
            <a:endParaRPr kumimoji="0" lang="en-US" sz="1800" b="0" i="0" u="none" strike="noStrike" kern="1200" cap="none" spc="0" normalizeH="0" baseline="0" noProof="0" dirty="0">
              <a:ln>
                <a:noFill/>
              </a:ln>
              <a:solidFill>
                <a:schemeClr val="accent1">
                  <a:lumMod val="75000"/>
                </a:schemeClr>
              </a:solidFill>
              <a:effectLst/>
              <a:uLnTx/>
              <a:uFillTx/>
              <a:latin typeface="Calibri" panose="020F0502020204030204"/>
              <a:ea typeface="+mn-ea"/>
              <a:cs typeface="+mn-cs"/>
              <a:sym typeface="Wingdings" pitchFamily="2" charset="2"/>
            </a:endParaRPr>
          </a:p>
        </p:txBody>
      </p:sp>
      <p:sp>
        <p:nvSpPr>
          <p:cNvPr id="64" name="Oval 63"/>
          <p:cNvSpPr/>
          <p:nvPr/>
        </p:nvSpPr>
        <p:spPr>
          <a:xfrm>
            <a:off x="5348404" y="240474"/>
            <a:ext cx="762000" cy="762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5" name="Oval 64"/>
          <p:cNvSpPr/>
          <p:nvPr/>
        </p:nvSpPr>
        <p:spPr>
          <a:xfrm>
            <a:off x="4510204" y="1231074"/>
            <a:ext cx="762000" cy="762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6" name="Oval 65"/>
          <p:cNvSpPr/>
          <p:nvPr/>
        </p:nvSpPr>
        <p:spPr>
          <a:xfrm>
            <a:off x="6262804" y="1231074"/>
            <a:ext cx="762000" cy="762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7" name="Oval 66"/>
          <p:cNvSpPr/>
          <p:nvPr/>
        </p:nvSpPr>
        <p:spPr>
          <a:xfrm>
            <a:off x="5424604" y="2297874"/>
            <a:ext cx="762000" cy="762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8" name="Oval 67"/>
          <p:cNvSpPr/>
          <p:nvPr/>
        </p:nvSpPr>
        <p:spPr>
          <a:xfrm>
            <a:off x="4815004" y="3517074"/>
            <a:ext cx="762000" cy="762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9" name="Oval 68"/>
          <p:cNvSpPr/>
          <p:nvPr/>
        </p:nvSpPr>
        <p:spPr>
          <a:xfrm>
            <a:off x="4357804" y="4736274"/>
            <a:ext cx="762000" cy="762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0" name="Oval 69"/>
          <p:cNvSpPr/>
          <p:nvPr/>
        </p:nvSpPr>
        <p:spPr>
          <a:xfrm>
            <a:off x="5577004" y="5422074"/>
            <a:ext cx="762000" cy="762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1" name="TextBox 10"/>
          <p:cNvSpPr txBox="1"/>
          <p:nvPr/>
        </p:nvSpPr>
        <p:spPr>
          <a:xfrm>
            <a:off x="5500804" y="392875"/>
            <a:ext cx="457200"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a:t>
            </a:r>
          </a:p>
        </p:txBody>
      </p:sp>
      <p:sp>
        <p:nvSpPr>
          <p:cNvPr id="72" name="TextBox 12"/>
          <p:cNvSpPr txBox="1"/>
          <p:nvPr/>
        </p:nvSpPr>
        <p:spPr>
          <a:xfrm>
            <a:off x="4662604" y="1307275"/>
            <a:ext cx="457200"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B</a:t>
            </a:r>
          </a:p>
        </p:txBody>
      </p:sp>
      <p:sp>
        <p:nvSpPr>
          <p:cNvPr id="73" name="TextBox 13"/>
          <p:cNvSpPr txBox="1"/>
          <p:nvPr/>
        </p:nvSpPr>
        <p:spPr>
          <a:xfrm>
            <a:off x="6491404" y="1383475"/>
            <a:ext cx="457200"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C</a:t>
            </a:r>
          </a:p>
        </p:txBody>
      </p:sp>
      <p:sp>
        <p:nvSpPr>
          <p:cNvPr id="74" name="TextBox 14"/>
          <p:cNvSpPr txBox="1"/>
          <p:nvPr/>
        </p:nvSpPr>
        <p:spPr>
          <a:xfrm>
            <a:off x="5577004" y="2450275"/>
            <a:ext cx="457200"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D</a:t>
            </a:r>
          </a:p>
        </p:txBody>
      </p:sp>
      <p:sp>
        <p:nvSpPr>
          <p:cNvPr id="75" name="TextBox 15"/>
          <p:cNvSpPr txBox="1"/>
          <p:nvPr/>
        </p:nvSpPr>
        <p:spPr>
          <a:xfrm>
            <a:off x="5043604" y="3669475"/>
            <a:ext cx="457200"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E</a:t>
            </a:r>
          </a:p>
        </p:txBody>
      </p:sp>
      <p:sp>
        <p:nvSpPr>
          <p:cNvPr id="76" name="TextBox 16"/>
          <p:cNvSpPr txBox="1"/>
          <p:nvPr/>
        </p:nvSpPr>
        <p:spPr>
          <a:xfrm>
            <a:off x="4586404" y="4888675"/>
            <a:ext cx="457200"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F</a:t>
            </a:r>
          </a:p>
        </p:txBody>
      </p:sp>
      <p:sp>
        <p:nvSpPr>
          <p:cNvPr id="77" name="TextBox 17"/>
          <p:cNvSpPr txBox="1"/>
          <p:nvPr/>
        </p:nvSpPr>
        <p:spPr>
          <a:xfrm>
            <a:off x="5729404" y="5574475"/>
            <a:ext cx="457200"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G</a:t>
            </a:r>
          </a:p>
        </p:txBody>
      </p:sp>
      <p:cxnSp>
        <p:nvCxnSpPr>
          <p:cNvPr id="78" name="Straight Arrow Connector 77"/>
          <p:cNvCxnSpPr>
            <a:endCxn id="65" idx="0"/>
          </p:cNvCxnSpPr>
          <p:nvPr/>
        </p:nvCxnSpPr>
        <p:spPr>
          <a:xfrm rot="5400000">
            <a:off x="4891204" y="773874"/>
            <a:ext cx="457200" cy="457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a:stCxn id="65" idx="4"/>
          </p:cNvCxnSpPr>
          <p:nvPr/>
        </p:nvCxnSpPr>
        <p:spPr>
          <a:xfrm rot="16200000" flipH="1">
            <a:off x="4891204" y="1993074"/>
            <a:ext cx="53340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0" name="Straight Arrow Connector 79"/>
          <p:cNvCxnSpPr/>
          <p:nvPr/>
        </p:nvCxnSpPr>
        <p:spPr>
          <a:xfrm rot="16200000" flipH="1">
            <a:off x="6034204" y="773874"/>
            <a:ext cx="492592" cy="49259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p:nvPr/>
        </p:nvCxnSpPr>
        <p:spPr>
          <a:xfrm rot="5400000">
            <a:off x="6054608" y="2048870"/>
            <a:ext cx="492592" cy="381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p:nvPr/>
        </p:nvCxnSpPr>
        <p:spPr>
          <a:xfrm rot="5400000">
            <a:off x="5234104" y="3097974"/>
            <a:ext cx="5334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a:endCxn id="69" idx="0"/>
          </p:cNvCxnSpPr>
          <p:nvPr/>
        </p:nvCxnSpPr>
        <p:spPr>
          <a:xfrm rot="5400000">
            <a:off x="4662604" y="4355274"/>
            <a:ext cx="4572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4" name="Straight Arrow Connector 83"/>
          <p:cNvCxnSpPr>
            <a:stCxn id="69" idx="5"/>
            <a:endCxn id="70" idx="2"/>
          </p:cNvCxnSpPr>
          <p:nvPr/>
        </p:nvCxnSpPr>
        <p:spPr>
          <a:xfrm rot="16200000" flipH="1">
            <a:off x="5084412" y="5310482"/>
            <a:ext cx="416392" cy="56879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5" name="Straight Arrow Connector 84"/>
          <p:cNvCxnSpPr>
            <a:endCxn id="70" idx="1"/>
          </p:cNvCxnSpPr>
          <p:nvPr/>
        </p:nvCxnSpPr>
        <p:spPr>
          <a:xfrm rot="16200000" flipH="1">
            <a:off x="4853104" y="4698174"/>
            <a:ext cx="1330792" cy="34019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6" name="Oval 85"/>
          <p:cNvSpPr/>
          <p:nvPr/>
        </p:nvSpPr>
        <p:spPr>
          <a:xfrm>
            <a:off x="6415204" y="3669474"/>
            <a:ext cx="762000" cy="762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7" name="TextBox 27"/>
          <p:cNvSpPr txBox="1"/>
          <p:nvPr/>
        </p:nvSpPr>
        <p:spPr>
          <a:xfrm>
            <a:off x="6567604" y="3821875"/>
            <a:ext cx="457200"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H</a:t>
            </a:r>
          </a:p>
        </p:txBody>
      </p:sp>
      <p:cxnSp>
        <p:nvCxnSpPr>
          <p:cNvPr id="88" name="Straight Arrow Connector 87"/>
          <p:cNvCxnSpPr>
            <a:endCxn id="86" idx="1"/>
          </p:cNvCxnSpPr>
          <p:nvPr/>
        </p:nvCxnSpPr>
        <p:spPr>
          <a:xfrm rot="16200000" flipH="1">
            <a:off x="5881804" y="3136074"/>
            <a:ext cx="721192" cy="56879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9" name="Straight Arrow Connector 88"/>
          <p:cNvCxnSpPr>
            <a:stCxn id="86" idx="4"/>
          </p:cNvCxnSpPr>
          <p:nvPr/>
        </p:nvCxnSpPr>
        <p:spPr>
          <a:xfrm rot="5400000">
            <a:off x="5919904" y="4621974"/>
            <a:ext cx="1066800" cy="685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0" name="Curved Connector 50"/>
          <p:cNvCxnSpPr>
            <a:stCxn id="67" idx="2"/>
          </p:cNvCxnSpPr>
          <p:nvPr/>
        </p:nvCxnSpPr>
        <p:spPr>
          <a:xfrm rot="10800000" flipH="1" flipV="1">
            <a:off x="5424604" y="2678874"/>
            <a:ext cx="152400" cy="3276600"/>
          </a:xfrm>
          <a:prstGeom prst="curvedConnector4">
            <a:avLst>
              <a:gd name="adj1" fmla="val -1507895"/>
              <a:gd name="adj2" fmla="val 101836"/>
            </a:avLst>
          </a:prstGeom>
          <a:ln>
            <a:headEnd type="triangle"/>
            <a:tailEnd type="none"/>
          </a:ln>
        </p:spPr>
        <p:style>
          <a:lnRef idx="1">
            <a:schemeClr val="accent1"/>
          </a:lnRef>
          <a:fillRef idx="0">
            <a:schemeClr val="accent1"/>
          </a:fillRef>
          <a:effectRef idx="0">
            <a:schemeClr val="accent1"/>
          </a:effectRef>
          <a:fontRef idx="minor">
            <a:schemeClr val="tx1"/>
          </a:fontRef>
        </p:style>
      </p:cxnSp>
      <p:sp>
        <p:nvSpPr>
          <p:cNvPr id="95" name="Rectangle 94"/>
          <p:cNvSpPr/>
          <p:nvPr/>
        </p:nvSpPr>
        <p:spPr>
          <a:xfrm>
            <a:off x="66099" y="3453152"/>
            <a:ext cx="3072809" cy="193899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Noted: You can draw a graph that assigns a node to each syntactic element of the program (including { and }, which had 16 nodes and 19 edges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This is a perfectly correct approach, and you are less likely to make mistakes this way.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For efficiency, however, I chose to condense line numbers.)</a:t>
            </a:r>
          </a:p>
        </p:txBody>
      </p:sp>
      <p:sp>
        <p:nvSpPr>
          <p:cNvPr id="96" name="Rectangle 95"/>
          <p:cNvSpPr/>
          <p:nvPr/>
        </p:nvSpPr>
        <p:spPr>
          <a:xfrm>
            <a:off x="6242400" y="181300"/>
            <a:ext cx="2859384"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accent2">
                    <a:lumMod val="75000"/>
                  </a:schemeClr>
                </a:solidFill>
                <a:effectLst/>
                <a:uLnTx/>
                <a:uFillTx/>
                <a:latin typeface="Calibri" panose="020F0502020204030204"/>
                <a:ea typeface="+mn-ea"/>
                <a:cs typeface="+mn-cs"/>
                <a:sym typeface="Wingdings" pitchFamily="2" charset="2"/>
              </a:rPr>
              <a:t>11 edges </a:t>
            </a:r>
            <a:endParaRPr lang="en-US" dirty="0">
              <a:solidFill>
                <a:schemeClr val="accent2">
                  <a:lumMod val="75000"/>
                </a:schemeClr>
              </a:solidFill>
              <a:latin typeface="Calibri" panose="020F0502020204030204"/>
              <a:sym typeface="Wingdings"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accent2">
                    <a:lumMod val="75000"/>
                  </a:schemeClr>
                </a:solidFill>
                <a:effectLst/>
                <a:uLnTx/>
                <a:uFillTx/>
                <a:latin typeface="Calibri" panose="020F0502020204030204"/>
                <a:ea typeface="+mn-ea"/>
                <a:cs typeface="+mn-cs"/>
                <a:sym typeface="Wingdings" pitchFamily="2" charset="2"/>
              </a:rPr>
              <a:t>8 nodes</a:t>
            </a:r>
            <a:endParaRPr kumimoji="0" lang="en-US" sz="1800" b="0" i="0" u="none" strike="noStrike" kern="1200" cap="none" spc="0" normalizeH="0" baseline="0" noProof="0" dirty="0">
              <a:ln>
                <a:noFill/>
              </a:ln>
              <a:solidFill>
                <a:schemeClr val="accent2">
                  <a:lumMod val="75000"/>
                </a:schemeClr>
              </a:solidFill>
              <a:effectLst/>
              <a:uLnTx/>
              <a:uFillTx/>
              <a:latin typeface="Calibri" panose="020F0502020204030204"/>
              <a:ea typeface="+mn-ea"/>
              <a:cs typeface="+mn-cs"/>
            </a:endParaRPr>
          </a:p>
        </p:txBody>
      </p:sp>
      <p:sp>
        <p:nvSpPr>
          <p:cNvPr id="2" name="Content Placeholder 2">
            <a:extLst>
              <a:ext uri="{FF2B5EF4-FFF2-40B4-BE49-F238E27FC236}">
                <a16:creationId xmlns:a16="http://schemas.microsoft.com/office/drawing/2014/main" id="{384910B1-01C0-E84C-A6B2-F91126EAB1CC}"/>
              </a:ext>
            </a:extLst>
          </p:cNvPr>
          <p:cNvSpPr txBox="1">
            <a:spLocks/>
          </p:cNvSpPr>
          <p:nvPr/>
        </p:nvSpPr>
        <p:spPr>
          <a:xfrm>
            <a:off x="7903812" y="309997"/>
            <a:ext cx="4148607" cy="4351338"/>
          </a:xfrm>
          <a:prstGeom prst="rect">
            <a:avLst/>
          </a:prstGeom>
        </p:spPr>
        <p:txBody>
          <a:bodyPr>
            <a:normAutofit fontScale="4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en-US"/>
              <a:t>1.	i=1;</a:t>
            </a:r>
          </a:p>
          <a:p>
            <a:pPr>
              <a:buFont typeface="Arial" panose="020B0604020202020204" pitchFamily="34" charset="0"/>
              <a:buNone/>
            </a:pPr>
            <a:r>
              <a:rPr lang="en-US"/>
              <a:t>2	if  (a&lt; b) </a:t>
            </a:r>
          </a:p>
          <a:p>
            <a:pPr>
              <a:buFont typeface="Arial" panose="020B0604020202020204" pitchFamily="34" charset="0"/>
              <a:buNone/>
            </a:pPr>
            <a:r>
              <a:rPr lang="en-US"/>
              <a:t>3		a=a+b;</a:t>
            </a:r>
          </a:p>
          <a:p>
            <a:pPr>
              <a:buFont typeface="Arial" panose="020B0604020202020204" pitchFamily="34" charset="0"/>
              <a:buNone/>
            </a:pPr>
            <a:r>
              <a:rPr lang="en-US"/>
              <a:t>4	else</a:t>
            </a:r>
          </a:p>
          <a:p>
            <a:pPr>
              <a:buFont typeface="Arial" panose="020B0604020202020204" pitchFamily="34" charset="0"/>
              <a:buNone/>
            </a:pPr>
            <a:r>
              <a:rPr lang="en-US"/>
              <a:t>5		b=a+c;</a:t>
            </a:r>
          </a:p>
          <a:p>
            <a:pPr>
              <a:buFont typeface="Arial" panose="020B0604020202020204" pitchFamily="34" charset="0"/>
              <a:buNone/>
            </a:pPr>
            <a:r>
              <a:rPr lang="en-US"/>
              <a:t>6	while (i&lt;20) </a:t>
            </a:r>
          </a:p>
          <a:p>
            <a:pPr>
              <a:buFont typeface="Arial" panose="020B0604020202020204" pitchFamily="34" charset="0"/>
              <a:buNone/>
            </a:pPr>
            <a:r>
              <a:rPr lang="en-US"/>
              <a:t>7	{</a:t>
            </a:r>
          </a:p>
          <a:p>
            <a:pPr>
              <a:buFont typeface="Arial" panose="020B0604020202020204" pitchFamily="34" charset="0"/>
              <a:buNone/>
            </a:pPr>
            <a:r>
              <a:rPr lang="en-US"/>
              <a:t>8	if (b&lt;c) </a:t>
            </a:r>
          </a:p>
          <a:p>
            <a:pPr>
              <a:buFont typeface="Arial" panose="020B0604020202020204" pitchFamily="34" charset="0"/>
              <a:buNone/>
            </a:pPr>
            <a:r>
              <a:rPr lang="en-US"/>
              <a:t>9	{</a:t>
            </a:r>
          </a:p>
          <a:p>
            <a:pPr>
              <a:buFont typeface="Arial" panose="020B0604020202020204" pitchFamily="34" charset="0"/>
              <a:buNone/>
            </a:pPr>
            <a:r>
              <a:rPr lang="en-US"/>
              <a:t>10		if (b&gt;c) </a:t>
            </a:r>
          </a:p>
          <a:p>
            <a:pPr>
              <a:buFont typeface="Arial" panose="020B0604020202020204" pitchFamily="34" charset="0"/>
              <a:buNone/>
            </a:pPr>
            <a:r>
              <a:rPr lang="en-US"/>
              <a:t>11			b=b+a;</a:t>
            </a:r>
          </a:p>
          <a:p>
            <a:pPr>
              <a:buFont typeface="Arial" panose="020B0604020202020204" pitchFamily="34" charset="0"/>
              <a:buNone/>
            </a:pPr>
            <a:r>
              <a:rPr lang="en-US"/>
              <a:t>12	  }</a:t>
            </a:r>
          </a:p>
          <a:p>
            <a:pPr>
              <a:buFont typeface="Arial" panose="020B0604020202020204" pitchFamily="34" charset="0"/>
              <a:buNone/>
            </a:pPr>
            <a:r>
              <a:rPr lang="en-US"/>
              <a:t>13		else</a:t>
            </a:r>
          </a:p>
          <a:p>
            <a:pPr>
              <a:buFont typeface="Arial" panose="020B0604020202020204" pitchFamily="34" charset="0"/>
              <a:buNone/>
            </a:pPr>
            <a:r>
              <a:rPr lang="en-US"/>
              <a:t>14			c=b+a;</a:t>
            </a:r>
          </a:p>
          <a:p>
            <a:pPr>
              <a:buFont typeface="Arial" panose="020B0604020202020204" pitchFamily="34" charset="0"/>
              <a:buNone/>
            </a:pPr>
            <a:r>
              <a:rPr lang="en-US"/>
              <a:t>15		i++;</a:t>
            </a:r>
          </a:p>
          <a:p>
            <a:pPr>
              <a:buFont typeface="Arial" panose="020B0604020202020204" pitchFamily="34" charset="0"/>
              <a:buNone/>
            </a:pPr>
            <a:r>
              <a:rPr lang="en-US"/>
              <a:t>16	}</a:t>
            </a:r>
          </a:p>
          <a:p>
            <a:pPr>
              <a:buFont typeface="Arial" panose="020B0604020202020204" pitchFamily="34" charset="0"/>
              <a:buNone/>
            </a:pPr>
            <a:endParaRPr lang="en-US" dirty="0"/>
          </a:p>
        </p:txBody>
      </p:sp>
    </p:spTree>
    <p:extLst>
      <p:ext uri="{BB962C8B-B14F-4D97-AF65-F5344CB8AC3E}">
        <p14:creationId xmlns:p14="http://schemas.microsoft.com/office/powerpoint/2010/main" val="16026169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vert="horz" lIns="91440" tIns="45720" rIns="91440" bIns="45720" rtlCol="0" anchor="ctr">
            <a:normAutofit/>
          </a:bodyPr>
          <a:lstStyle/>
          <a:p>
            <a:r>
              <a:rPr lang="en-US" sz="5400" kern="1200">
                <a:solidFill>
                  <a:schemeClr val="tx1"/>
                </a:solidFill>
                <a:latin typeface="+mj-lt"/>
                <a:ea typeface="+mj-ea"/>
                <a:cs typeface="+mj-cs"/>
              </a:rPr>
              <a:t>Example, Continued</a:t>
            </a:r>
          </a:p>
        </p:txBody>
      </p:sp>
      <p:sp>
        <p:nvSpPr>
          <p:cNvPr id="22"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1929384"/>
            <a:ext cx="10515600" cy="4251960"/>
          </a:xfrm>
          <a:prstGeom prst="rect">
            <a:avLst/>
          </a:prstGeom>
        </p:spPr>
        <p:txBody>
          <a:bodyPr vert="horz" lIns="91440" tIns="45720" rIns="91440" bIns="45720" rtlCol="0">
            <a:normAutofit/>
          </a:bodyPr>
          <a:lstStyle/>
          <a:p>
            <a:pPr marL="0" marR="0" lvl="0" indent="-228600" algn="just" fontAlgn="auto">
              <a:lnSpc>
                <a:spcPct val="90000"/>
              </a:lnSpc>
              <a:spcBef>
                <a:spcPts val="0"/>
              </a:spcBef>
              <a:spcAft>
                <a:spcPts val="600"/>
              </a:spcAft>
              <a:buClrTx/>
              <a:buSzTx/>
              <a:buFont typeface="Arial" panose="020B0604020202020204" pitchFamily="34" charset="0"/>
              <a:buChar char="•"/>
              <a:tabLst/>
              <a:defRPr/>
            </a:pPr>
            <a:r>
              <a:rPr kumimoji="0" lang="en-US" sz="2600" b="0" i="0" u="none" strike="noStrike" cap="none" spc="0" normalizeH="0" baseline="0" noProof="0" dirty="0">
                <a:ln>
                  <a:noFill/>
                </a:ln>
                <a:effectLst/>
                <a:uLnTx/>
                <a:uFillTx/>
              </a:rPr>
              <a:t>From the graph we can see that e=11 and n=8. </a:t>
            </a:r>
          </a:p>
          <a:p>
            <a:pPr marL="0" marR="0" lvl="0" indent="-228600" algn="just" fontAlgn="auto">
              <a:lnSpc>
                <a:spcPct val="90000"/>
              </a:lnSpc>
              <a:spcBef>
                <a:spcPts val="0"/>
              </a:spcBef>
              <a:spcAft>
                <a:spcPts val="600"/>
              </a:spcAft>
              <a:buClrTx/>
              <a:buSzTx/>
              <a:buFont typeface="Arial" panose="020B0604020202020204" pitchFamily="34" charset="0"/>
              <a:buChar char="•"/>
              <a:tabLst/>
              <a:defRPr/>
            </a:pPr>
            <a:endParaRPr kumimoji="0" lang="en-US" sz="2600" b="0" i="0" u="none" strike="noStrike" cap="none" spc="0" normalizeH="0" baseline="0" noProof="0" dirty="0">
              <a:ln>
                <a:noFill/>
              </a:ln>
              <a:effectLst/>
              <a:uLnTx/>
              <a:uFillTx/>
            </a:endParaRPr>
          </a:p>
          <a:p>
            <a:pPr marL="0" marR="0" lvl="0" indent="-228600" algn="just" fontAlgn="auto">
              <a:lnSpc>
                <a:spcPct val="90000"/>
              </a:lnSpc>
              <a:spcBef>
                <a:spcPts val="0"/>
              </a:spcBef>
              <a:spcAft>
                <a:spcPts val="600"/>
              </a:spcAft>
              <a:buClrTx/>
              <a:buSzTx/>
              <a:buFont typeface="Arial" panose="020B0604020202020204" pitchFamily="34" charset="0"/>
              <a:buChar char="•"/>
              <a:tabLst/>
              <a:defRPr/>
            </a:pPr>
            <a:r>
              <a:rPr kumimoji="0" lang="en-US" sz="2600" b="0" i="0" u="none" strike="noStrike" cap="none" spc="0" normalizeH="0" baseline="0" noProof="0" dirty="0">
                <a:ln>
                  <a:noFill/>
                </a:ln>
                <a:effectLst/>
                <a:uLnTx/>
                <a:uFillTx/>
              </a:rPr>
              <a:t>Now with c=e-n+2 we have c=11-8+2 = 5.</a:t>
            </a:r>
          </a:p>
          <a:p>
            <a:pPr marL="0" marR="0" lvl="0" indent="-228600" algn="just" fontAlgn="auto">
              <a:lnSpc>
                <a:spcPct val="90000"/>
              </a:lnSpc>
              <a:spcBef>
                <a:spcPts val="0"/>
              </a:spcBef>
              <a:spcAft>
                <a:spcPts val="600"/>
              </a:spcAft>
              <a:buClrTx/>
              <a:buSzTx/>
              <a:buFont typeface="Arial" panose="020B0604020202020204" pitchFamily="34" charset="0"/>
              <a:buChar char="•"/>
              <a:tabLst/>
              <a:defRPr/>
            </a:pPr>
            <a:endParaRPr kumimoji="0" lang="en-US" sz="2600" b="0" i="0" u="none" strike="noStrike" cap="none" spc="0" normalizeH="0" baseline="0" noProof="0" dirty="0">
              <a:ln>
                <a:noFill/>
              </a:ln>
              <a:effectLst/>
              <a:uLnTx/>
              <a:uFillTx/>
            </a:endParaRPr>
          </a:p>
          <a:p>
            <a:pPr marL="0" marR="0" lvl="0" indent="-228600" algn="just" fontAlgn="auto">
              <a:lnSpc>
                <a:spcPct val="90000"/>
              </a:lnSpc>
              <a:spcBef>
                <a:spcPts val="0"/>
              </a:spcBef>
              <a:spcAft>
                <a:spcPts val="600"/>
              </a:spcAft>
              <a:buClrTx/>
              <a:buSzTx/>
              <a:buFont typeface="Arial" panose="020B0604020202020204" pitchFamily="34" charset="0"/>
              <a:buChar char="•"/>
              <a:tabLst/>
              <a:defRPr/>
            </a:pPr>
            <a:r>
              <a:rPr kumimoji="0" lang="en-US" sz="2600" b="0" i="0" u="none" strike="noStrike" cap="none" spc="0" normalizeH="0" baseline="0" noProof="0" dirty="0">
                <a:ln>
                  <a:noFill/>
                </a:ln>
                <a:effectLst/>
                <a:uLnTx/>
                <a:uFillTx/>
              </a:rPr>
              <a:t>As a check, you can count the number of simple branches (if and while statements without complex predicates) and add one to it. There are 4 simple branches so c=4 + 1 = 5. </a:t>
            </a:r>
          </a:p>
        </p:txBody>
      </p:sp>
      <p:sp>
        <p:nvSpPr>
          <p:cNvPr id="5" name="Slide Number Placeholder 4"/>
          <p:cNvSpPr>
            <a:spLocks noGrp="1"/>
          </p:cNvSpPr>
          <p:nvPr>
            <p:ph type="sldNum" sz="quarter" idx="12"/>
          </p:nvPr>
        </p:nvSpPr>
        <p:spPr>
          <a:xfrm>
            <a:off x="8610600" y="6356350"/>
            <a:ext cx="2743200" cy="365125"/>
          </a:xfrm>
        </p:spPr>
        <p:txBody>
          <a:bodyPr vert="horz" lIns="91440" tIns="45720" rIns="91440" bIns="45720" rtlCol="0" anchor="ctr">
            <a:normAutofit/>
          </a:bodyPr>
          <a:lstStyle/>
          <a:p>
            <a:pPr marR="0" lvl="0" indent="0" fontAlgn="auto">
              <a:spcBef>
                <a:spcPts val="0"/>
              </a:spcBef>
              <a:spcAft>
                <a:spcPts val="600"/>
              </a:spcAft>
              <a:buClrTx/>
              <a:buSzTx/>
              <a:buFontTx/>
              <a:buNone/>
              <a:tabLst/>
              <a:defRPr/>
            </a:pPr>
            <a:fld id="{4D9C617E-4B7E-4AE2-8B7C-CB4469A334C1}" type="slidenum">
              <a:rPr kumimoji="0" lang="en-US" b="0" i="0" u="none" strike="noStrike" cap="none" spc="0" normalizeH="0" baseline="0" noProof="0" smtClean="0">
                <a:ln>
                  <a:noFill/>
                </a:ln>
                <a:effectLst/>
                <a:uLnTx/>
                <a:uFillTx/>
              </a:rPr>
              <a:pPr marR="0" lvl="0" indent="0" fontAlgn="auto">
                <a:spcBef>
                  <a:spcPts val="0"/>
                </a:spcBef>
                <a:spcAft>
                  <a:spcPts val="600"/>
                </a:spcAft>
                <a:buClrTx/>
                <a:buSzTx/>
                <a:buFontTx/>
                <a:buNone/>
                <a:tabLst/>
                <a:defRPr/>
              </a:pPr>
              <a:t>36</a:t>
            </a:fld>
            <a:endParaRPr kumimoji="0" lang="en-US" b="0" i="0" u="none" strike="noStrike" cap="none" spc="0" normalizeH="0" baseline="0" noProof="0">
              <a:ln>
                <a:noFill/>
              </a:ln>
              <a:effectLst/>
              <a:uLnTx/>
              <a:uFillTx/>
            </a:endParaRPr>
          </a:p>
        </p:txBody>
      </p:sp>
    </p:spTree>
    <p:extLst>
      <p:ext uri="{BB962C8B-B14F-4D97-AF65-F5344CB8AC3E}">
        <p14:creationId xmlns:p14="http://schemas.microsoft.com/office/powerpoint/2010/main" val="3554180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7677" y="8360"/>
            <a:ext cx="10515600" cy="1325563"/>
          </a:xfrm>
        </p:spPr>
        <p:txBody>
          <a:bodyPr/>
          <a:lstStyle/>
          <a:p>
            <a:r>
              <a:rPr lang="en-US" dirty="0"/>
              <a:t>Linearly Independent Paths</a:t>
            </a: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9C617E-4B7E-4AE2-8B7C-CB4469A334C1}"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TextBox 5"/>
          <p:cNvSpPr txBox="1"/>
          <p:nvPr/>
        </p:nvSpPr>
        <p:spPr>
          <a:xfrm>
            <a:off x="287677" y="3506385"/>
            <a:ext cx="2755392"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accent2">
                    <a:lumMod val="75000"/>
                  </a:schemeClr>
                </a:solidFill>
                <a:effectLst/>
                <a:uLnTx/>
                <a:uFillTx/>
                <a:latin typeface="Calibri" panose="020F0502020204030204"/>
                <a:ea typeface="+mn-ea"/>
                <a:cs typeface="+mn-cs"/>
              </a:rPr>
              <a:t>List the independent code paths in this code.  </a:t>
            </a:r>
          </a:p>
        </p:txBody>
      </p:sp>
      <p:sp>
        <p:nvSpPr>
          <p:cNvPr id="7" name="Rectangle 6"/>
          <p:cNvSpPr/>
          <p:nvPr/>
        </p:nvSpPr>
        <p:spPr>
          <a:xfrm>
            <a:off x="3146119" y="2812695"/>
            <a:ext cx="4572000" cy="1754326"/>
          </a:xfrm>
          <a:prstGeom prst="rect">
            <a:avLst/>
          </a:prstGeom>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tx2"/>
                </a:solidFill>
                <a:effectLst/>
                <a:uLnTx/>
                <a:uFillTx/>
                <a:latin typeface="Calibri" panose="020F0502020204030204"/>
                <a:ea typeface="+mn-ea"/>
                <a:cs typeface="+mn-cs"/>
              </a:rPr>
              <a:t>One set of 5 independent paths is: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tx2"/>
                </a:solidFill>
                <a:effectLst/>
                <a:uLnTx/>
                <a:uFillTx/>
                <a:latin typeface="Calibri" panose="020F0502020204030204"/>
                <a:ea typeface="+mn-ea"/>
                <a:cs typeface="+mn-cs"/>
              </a:rPr>
              <a:t>1: ABDEFGD…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tx2"/>
                </a:solidFill>
                <a:effectLst/>
                <a:uLnTx/>
                <a:uFillTx/>
                <a:latin typeface="Calibri" panose="020F0502020204030204"/>
                <a:ea typeface="+mn-ea"/>
                <a:cs typeface="+mn-cs"/>
              </a:rPr>
              <a:t>2: ABDEG…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tx2"/>
                </a:solidFill>
                <a:effectLst/>
                <a:uLnTx/>
                <a:uFillTx/>
                <a:latin typeface="Calibri" panose="020F0502020204030204"/>
                <a:ea typeface="+mn-ea"/>
                <a:cs typeface="+mn-cs"/>
              </a:rPr>
              <a:t>3: ABDHG…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tx2"/>
                </a:solidFill>
                <a:effectLst/>
                <a:uLnTx/>
                <a:uFillTx/>
                <a:latin typeface="Calibri" panose="020F0502020204030204"/>
                <a:ea typeface="+mn-ea"/>
                <a:cs typeface="+mn-cs"/>
              </a:rPr>
              <a:t>4: ACDE…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tx2"/>
                </a:solidFill>
                <a:effectLst/>
                <a:uLnTx/>
                <a:uFillTx/>
                <a:latin typeface="Calibri" panose="020F0502020204030204"/>
                <a:ea typeface="+mn-ea"/>
                <a:cs typeface="+mn-cs"/>
              </a:rPr>
              <a:t>5: ACDHG…</a:t>
            </a:r>
          </a:p>
        </p:txBody>
      </p:sp>
      <p:pic>
        <p:nvPicPr>
          <p:cNvPr id="92162" name="Picture 2"/>
          <p:cNvPicPr>
            <a:picLocks noChangeAspect="1" noChangeArrowheads="1"/>
          </p:cNvPicPr>
          <p:nvPr/>
        </p:nvPicPr>
        <p:blipFill>
          <a:blip r:embed="rId2" cstate="print"/>
          <a:srcRect/>
          <a:stretch>
            <a:fillRect/>
          </a:stretch>
        </p:blipFill>
        <p:spPr bwMode="auto">
          <a:xfrm>
            <a:off x="7084135" y="1497004"/>
            <a:ext cx="2554595" cy="3745548"/>
          </a:xfrm>
          <a:prstGeom prst="rect">
            <a:avLst/>
          </a:prstGeom>
          <a:noFill/>
          <a:ln w="9525">
            <a:noFill/>
            <a:miter lim="800000"/>
            <a:headEnd/>
            <a:tailEnd/>
          </a:ln>
          <a:effectLst/>
        </p:spPr>
      </p:pic>
      <p:sp>
        <p:nvSpPr>
          <p:cNvPr id="9" name="Rectangle 8"/>
          <p:cNvSpPr/>
          <p:nvPr/>
        </p:nvSpPr>
        <p:spPr>
          <a:xfrm>
            <a:off x="187486" y="5405633"/>
            <a:ext cx="7125059" cy="1015663"/>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70C0"/>
                </a:solidFill>
                <a:effectLst/>
                <a:uLnTx/>
                <a:uFillTx/>
                <a:latin typeface="Calibri" panose="020F0502020204030204"/>
                <a:ea typeface="+mn-ea"/>
                <a:cs typeface="+mn-cs"/>
              </a:rPr>
              <a:t>Note that path 4 covers both ACDEFGD…and ACDEG …because DEFGD and DEG are in paths 1 and 2. Now, converting A-G to their corresponding line numbers gives the test paths in terms of the code.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0C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70C0"/>
                </a:solidFill>
                <a:effectLst/>
                <a:uLnTx/>
                <a:uFillTx/>
                <a:latin typeface="Calibri" panose="020F0502020204030204"/>
                <a:ea typeface="+mn-ea"/>
                <a:cs typeface="+mn-cs"/>
              </a:rPr>
              <a:t>Note: you can get a different set that is also correct – for a code graph vector space there can be more than one basis set.</a:t>
            </a:r>
          </a:p>
        </p:txBody>
      </p:sp>
      <p:sp>
        <p:nvSpPr>
          <p:cNvPr id="10" name="TextBox 9">
            <a:extLst>
              <a:ext uri="{FF2B5EF4-FFF2-40B4-BE49-F238E27FC236}">
                <a16:creationId xmlns:a16="http://schemas.microsoft.com/office/drawing/2014/main" id="{2487C68B-000B-40C1-99DD-091D3938A302}"/>
              </a:ext>
            </a:extLst>
          </p:cNvPr>
          <p:cNvSpPr txBox="1"/>
          <p:nvPr/>
        </p:nvSpPr>
        <p:spPr>
          <a:xfrm>
            <a:off x="287676" y="1290658"/>
            <a:ext cx="7335867"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02124"/>
                </a:solidFill>
                <a:effectLst/>
                <a:uLnTx/>
                <a:uFillTx/>
                <a:latin typeface="Roboto" panose="02000000000000000000" pitchFamily="2" charset="0"/>
                <a:ea typeface="+mn-ea"/>
                <a:cs typeface="+mn-cs"/>
              </a:rPr>
              <a:t>The cyclomatic complexity of a section of source code is the maximum number of linearly independent paths within it—where "linearly independent" means that </a:t>
            </a:r>
            <a:r>
              <a:rPr kumimoji="0" lang="en-US" sz="1800" b="1" i="0" u="none" strike="noStrike" kern="1200" cap="none" spc="0" normalizeH="0" baseline="0" noProof="0" dirty="0">
                <a:ln>
                  <a:noFill/>
                </a:ln>
                <a:solidFill>
                  <a:srgbClr val="202124"/>
                </a:solidFill>
                <a:effectLst/>
                <a:uLnTx/>
                <a:uFillTx/>
                <a:latin typeface="Roboto" panose="02000000000000000000" pitchFamily="2" charset="0"/>
                <a:ea typeface="+mn-ea"/>
                <a:cs typeface="+mn-cs"/>
              </a:rPr>
              <a:t>each path has at least one edge that is not in one of the other paths</a:t>
            </a:r>
            <a:r>
              <a:rPr kumimoji="0" lang="en-US" sz="1800" b="0" i="0" u="none" strike="noStrike" kern="1200" cap="none" spc="0" normalizeH="0" baseline="0" noProof="0" dirty="0">
                <a:ln>
                  <a:noFill/>
                </a:ln>
                <a:solidFill>
                  <a:srgbClr val="202124"/>
                </a:solidFill>
                <a:effectLst/>
                <a:uLnTx/>
                <a:uFillTx/>
                <a:latin typeface="Roboto" panose="02000000000000000000" pitchFamily="2" charset="0"/>
                <a:ea typeface="+mn-ea"/>
                <a:cs typeface="+mn-cs"/>
              </a:rPr>
              <a: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957178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A96361-57A5-239F-405B-BF8E39E33039}"/>
              </a:ext>
            </a:extLst>
          </p:cNvPr>
          <p:cNvSpPr>
            <a:spLocks noGrp="1"/>
          </p:cNvSpPr>
          <p:nvPr>
            <p:ph type="title"/>
          </p:nvPr>
        </p:nvSpPr>
        <p:spPr>
          <a:xfrm>
            <a:off x="630936" y="502920"/>
            <a:ext cx="3419856" cy="1463040"/>
          </a:xfrm>
        </p:spPr>
        <p:txBody>
          <a:bodyPr anchor="ctr">
            <a:normAutofit/>
          </a:bodyPr>
          <a:lstStyle/>
          <a:p>
            <a:r>
              <a:rPr lang="en-US" sz="3000" b="0" i="0">
                <a:effectLst/>
                <a:latin typeface="Lato Extended"/>
              </a:rPr>
              <a:t>Graph Coverage Web Application</a:t>
            </a:r>
            <a:br>
              <a:rPr lang="en-US" sz="3000" b="0" i="0">
                <a:effectLst/>
                <a:latin typeface="Lato Extended"/>
              </a:rPr>
            </a:br>
            <a:endParaRPr lang="en-US" sz="3000"/>
          </a:p>
        </p:txBody>
      </p:sp>
      <p:sp>
        <p:nvSpPr>
          <p:cNvPr id="12"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66159" y="1225296"/>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A0C91B8-199B-BE09-6A8A-20FD542E0EDD}"/>
              </a:ext>
            </a:extLst>
          </p:cNvPr>
          <p:cNvSpPr>
            <a:spLocks noGrp="1"/>
          </p:cNvSpPr>
          <p:nvPr>
            <p:ph idx="1"/>
          </p:nvPr>
        </p:nvSpPr>
        <p:spPr>
          <a:xfrm>
            <a:off x="4654295" y="502920"/>
            <a:ext cx="6894576" cy="1463040"/>
          </a:xfrm>
        </p:spPr>
        <p:txBody>
          <a:bodyPr anchor="ctr">
            <a:normAutofit/>
          </a:bodyPr>
          <a:lstStyle/>
          <a:p>
            <a:r>
              <a:rPr lang="en-US" sz="1700" dirty="0">
                <a:latin typeface="Times New Roman" panose="02020603050405020304" pitchFamily="18" charset="0"/>
                <a:cs typeface="Times New Roman" panose="02020603050405020304" pitchFamily="18" charset="0"/>
              </a:rPr>
              <a:t>S</a:t>
            </a:r>
            <a:r>
              <a:rPr lang="en-US" sz="1700" b="0" i="0" dirty="0">
                <a:effectLst/>
                <a:latin typeface="Times New Roman" panose="02020603050405020304" pitchFamily="18" charset="0"/>
                <a:cs typeface="Times New Roman" panose="02020603050405020304" pitchFamily="18" charset="0"/>
              </a:rPr>
              <a:t>everal powerful tools are available to assist in graph testing.</a:t>
            </a:r>
          </a:p>
          <a:p>
            <a:r>
              <a:rPr lang="en-US" sz="1700" b="0" i="0" dirty="0">
                <a:effectLst/>
                <a:latin typeface="Times New Roman" panose="02020603050405020304" pitchFamily="18" charset="0"/>
                <a:cs typeface="Times New Roman" panose="02020603050405020304" pitchFamily="18" charset="0"/>
              </a:rPr>
              <a:t>For example, one tool is provided by the authors of the book for free through the web at: </a:t>
            </a:r>
            <a:r>
              <a:rPr lang="en-US" sz="1700" b="0" i="0" u="sng" dirty="0">
                <a:effectLst/>
                <a:latin typeface="Times New Roman" panose="02020603050405020304" pitchFamily="18" charset="0"/>
                <a:cs typeface="Times New Roman" panose="02020603050405020304" pitchFamily="18" charset="0"/>
                <a:hlinkClick r:id="rId2"/>
              </a:rPr>
              <a:t>https://cs.gmu.edu:8443/offutt/coverage/GraphCoverageLinks to an external site.</a:t>
            </a:r>
            <a:endParaRPr lang="en-US" sz="1700" b="0" i="0" dirty="0">
              <a:effectLst/>
              <a:latin typeface="Times New Roman" panose="02020603050405020304" pitchFamily="18" charset="0"/>
              <a:cs typeface="Times New Roman" panose="02020603050405020304" pitchFamily="18" charset="0"/>
            </a:endParaRPr>
          </a:p>
          <a:p>
            <a:endParaRPr lang="en-US" sz="1700" dirty="0"/>
          </a:p>
        </p:txBody>
      </p:sp>
      <p:pic>
        <p:nvPicPr>
          <p:cNvPr id="5" name="Picture 4">
            <a:extLst>
              <a:ext uri="{FF2B5EF4-FFF2-40B4-BE49-F238E27FC236}">
                <a16:creationId xmlns:a16="http://schemas.microsoft.com/office/drawing/2014/main" id="{F398BF2B-D768-28A8-CA0D-6C02ADF50174}"/>
              </a:ext>
            </a:extLst>
          </p:cNvPr>
          <p:cNvPicPr>
            <a:picLocks noChangeAspect="1"/>
          </p:cNvPicPr>
          <p:nvPr/>
        </p:nvPicPr>
        <p:blipFill>
          <a:blip r:embed="rId3"/>
          <a:stretch>
            <a:fillRect/>
          </a:stretch>
        </p:blipFill>
        <p:spPr>
          <a:xfrm>
            <a:off x="630936" y="2482799"/>
            <a:ext cx="10917936" cy="3575625"/>
          </a:xfrm>
          <a:prstGeom prst="rect">
            <a:avLst/>
          </a:prstGeom>
        </p:spPr>
      </p:pic>
      <p:sp>
        <p:nvSpPr>
          <p:cNvPr id="4" name="Slide Number Placeholder 3">
            <a:extLst>
              <a:ext uri="{FF2B5EF4-FFF2-40B4-BE49-F238E27FC236}">
                <a16:creationId xmlns:a16="http://schemas.microsoft.com/office/drawing/2014/main" id="{90CE40D6-729D-9185-202B-CF7B718A2216}"/>
              </a:ext>
            </a:extLst>
          </p:cNvPr>
          <p:cNvSpPr>
            <a:spLocks noGrp="1"/>
          </p:cNvSpPr>
          <p:nvPr>
            <p:ph type="sldNum" sz="quarter" idx="12"/>
          </p:nvPr>
        </p:nvSpPr>
        <p:spPr>
          <a:xfrm>
            <a:off x="8610600" y="6356350"/>
            <a:ext cx="2743200" cy="365125"/>
          </a:xfrm>
        </p:spPr>
        <p:txBody>
          <a:bodyPr>
            <a:normAutofit/>
          </a:bodyPr>
          <a:lstStyle/>
          <a:p>
            <a:pPr>
              <a:spcAft>
                <a:spcPts val="600"/>
              </a:spcAft>
            </a:pPr>
            <a:fld id="{4802611B-C7D4-401B-B615-A1AB963424CC}" type="slidenum">
              <a:rPr lang="en-US" smtClean="0"/>
              <a:pPr>
                <a:spcAft>
                  <a:spcPts val="600"/>
                </a:spcAft>
              </a:pPr>
              <a:t>38</a:t>
            </a:fld>
            <a:endParaRPr lang="en-US"/>
          </a:p>
        </p:txBody>
      </p:sp>
    </p:spTree>
    <p:extLst>
      <p:ext uri="{BB962C8B-B14F-4D97-AF65-F5344CB8AC3E}">
        <p14:creationId xmlns:p14="http://schemas.microsoft.com/office/powerpoint/2010/main" val="36939429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E33D5A-FFF3-A8ED-E397-E36A51F999C3}"/>
              </a:ext>
            </a:extLst>
          </p:cNvPr>
          <p:cNvSpPr>
            <a:spLocks noGrp="1"/>
          </p:cNvSpPr>
          <p:nvPr>
            <p:ph type="title"/>
          </p:nvPr>
        </p:nvSpPr>
        <p:spPr>
          <a:xfrm>
            <a:off x="630936" y="640080"/>
            <a:ext cx="4818888" cy="1481328"/>
          </a:xfrm>
        </p:spPr>
        <p:txBody>
          <a:bodyPr anchor="b">
            <a:normAutofit/>
          </a:bodyPr>
          <a:lstStyle/>
          <a:p>
            <a:r>
              <a:rPr lang="en-US" sz="4200" dirty="0">
                <a:latin typeface="Lato Extended"/>
              </a:rPr>
              <a:t>GRAPH COVERAGE WEB APPLICATION</a:t>
            </a:r>
          </a:p>
        </p:txBody>
      </p:sp>
      <p:sp>
        <p:nvSpPr>
          <p:cNvPr id="13"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A2EC557-F5E5-1054-D709-DA6E8C303C12}"/>
              </a:ext>
            </a:extLst>
          </p:cNvPr>
          <p:cNvSpPr>
            <a:spLocks noGrp="1"/>
          </p:cNvSpPr>
          <p:nvPr>
            <p:ph idx="1"/>
          </p:nvPr>
        </p:nvSpPr>
        <p:spPr>
          <a:xfrm>
            <a:off x="630936" y="2660904"/>
            <a:ext cx="4818888" cy="3547872"/>
          </a:xfrm>
        </p:spPr>
        <p:txBody>
          <a:bodyPr anchor="t">
            <a:normAutofit/>
          </a:bodyPr>
          <a:lstStyle/>
          <a:p>
            <a:pPr marL="0" indent="0">
              <a:buNone/>
            </a:pPr>
            <a:r>
              <a:rPr lang="en-US" sz="1200" b="0" i="0">
                <a:effectLst/>
                <a:latin typeface="Lato Extended"/>
              </a:rPr>
              <a:t>try {</a:t>
            </a:r>
          </a:p>
          <a:p>
            <a:pPr marL="0" indent="0">
              <a:buNone/>
            </a:pPr>
            <a:r>
              <a:rPr lang="en-US" sz="1200" b="0" i="0">
                <a:effectLst/>
                <a:latin typeface="Lato Extended"/>
              </a:rPr>
              <a:t>    s = br.readLine();</a:t>
            </a:r>
          </a:p>
          <a:p>
            <a:pPr marL="0" indent="0">
              <a:buNone/>
            </a:pPr>
            <a:r>
              <a:rPr lang="en-US" sz="1200" b="0" i="0">
                <a:effectLst/>
                <a:latin typeface="Lato Extended"/>
              </a:rPr>
              <a:t>    if (s.length() &gt; 96)</a:t>
            </a:r>
          </a:p>
          <a:p>
            <a:pPr marL="0" indent="0">
              <a:buNone/>
            </a:pPr>
            <a:r>
              <a:rPr lang="en-US" sz="1200" b="0" i="0">
                <a:effectLst/>
                <a:latin typeface="Lato Extended"/>
              </a:rPr>
              <a:t>        throw new Exception (“too long”);</a:t>
            </a:r>
          </a:p>
          <a:p>
            <a:pPr marL="0" indent="0">
              <a:buNone/>
            </a:pPr>
            <a:r>
              <a:rPr lang="en-US" sz="1200" b="0" i="0">
                <a:effectLst/>
                <a:latin typeface="Lato Extended"/>
              </a:rPr>
              <a:t>    if (s.length() == 0)</a:t>
            </a:r>
          </a:p>
          <a:p>
            <a:pPr marL="0" indent="0">
              <a:buNone/>
            </a:pPr>
            <a:r>
              <a:rPr lang="en-US" sz="1200" b="0" i="0">
                <a:effectLst/>
                <a:latin typeface="Lato Extended"/>
              </a:rPr>
              <a:t>        throw new Exception (“too short”);</a:t>
            </a:r>
          </a:p>
          <a:p>
            <a:pPr marL="0" indent="0">
              <a:buNone/>
            </a:pPr>
            <a:r>
              <a:rPr lang="en-US" sz="1200" b="0" i="0">
                <a:effectLst/>
                <a:latin typeface="Lato Extended"/>
              </a:rPr>
              <a:t>} (catch IOException e) { e.printStackTrace();</a:t>
            </a:r>
          </a:p>
          <a:p>
            <a:pPr marL="0" indent="0">
              <a:buNone/>
            </a:pPr>
            <a:r>
              <a:rPr lang="en-US" sz="1200" b="0" i="0">
                <a:effectLst/>
                <a:latin typeface="Lato Extended"/>
              </a:rPr>
              <a:t>} (catch Exception e) {</a:t>
            </a:r>
          </a:p>
          <a:p>
            <a:pPr marL="0" indent="0">
              <a:buNone/>
            </a:pPr>
            <a:r>
              <a:rPr lang="en-US" sz="1200" b="0" i="0">
                <a:effectLst/>
                <a:latin typeface="Lato Extended"/>
              </a:rPr>
              <a:t>    e.getMessage();</a:t>
            </a:r>
          </a:p>
          <a:p>
            <a:pPr marL="0" indent="0">
              <a:buNone/>
            </a:pPr>
            <a:r>
              <a:rPr lang="en-US" sz="1200" b="0" i="0">
                <a:effectLst/>
                <a:latin typeface="Lato Extended"/>
              </a:rPr>
              <a:t>}</a:t>
            </a:r>
          </a:p>
          <a:p>
            <a:pPr marL="0" indent="0">
              <a:buNone/>
            </a:pPr>
            <a:r>
              <a:rPr lang="en-US" sz="1200" b="0" i="0">
                <a:effectLst/>
                <a:latin typeface="Lato Extended"/>
              </a:rPr>
              <a:t>return (s);</a:t>
            </a:r>
          </a:p>
          <a:p>
            <a:pPr marL="0" indent="0">
              <a:buNone/>
            </a:pPr>
            <a:r>
              <a:rPr lang="en-US" sz="1200" b="0" i="0">
                <a:effectLst/>
                <a:latin typeface="Lato Extended"/>
              </a:rPr>
              <a:t> </a:t>
            </a:r>
          </a:p>
          <a:p>
            <a:endParaRPr lang="en-US" sz="1200"/>
          </a:p>
        </p:txBody>
      </p:sp>
      <p:pic>
        <p:nvPicPr>
          <p:cNvPr id="6" name="Picture 5">
            <a:extLst>
              <a:ext uri="{FF2B5EF4-FFF2-40B4-BE49-F238E27FC236}">
                <a16:creationId xmlns:a16="http://schemas.microsoft.com/office/drawing/2014/main" id="{556AD9F9-EBB8-5F7D-465C-A7D4EDC3C951}"/>
              </a:ext>
            </a:extLst>
          </p:cNvPr>
          <p:cNvPicPr>
            <a:picLocks noChangeAspect="1"/>
          </p:cNvPicPr>
          <p:nvPr/>
        </p:nvPicPr>
        <p:blipFill>
          <a:blip r:embed="rId2"/>
          <a:stretch>
            <a:fillRect/>
          </a:stretch>
        </p:blipFill>
        <p:spPr>
          <a:xfrm>
            <a:off x="7029679" y="640080"/>
            <a:ext cx="3597706" cy="5577840"/>
          </a:xfrm>
          <a:prstGeom prst="rect">
            <a:avLst/>
          </a:prstGeom>
        </p:spPr>
      </p:pic>
      <p:sp>
        <p:nvSpPr>
          <p:cNvPr id="4" name="Slide Number Placeholder 3">
            <a:extLst>
              <a:ext uri="{FF2B5EF4-FFF2-40B4-BE49-F238E27FC236}">
                <a16:creationId xmlns:a16="http://schemas.microsoft.com/office/drawing/2014/main" id="{33518641-BC05-B39D-6F69-4BF4C511169D}"/>
              </a:ext>
            </a:extLst>
          </p:cNvPr>
          <p:cNvSpPr>
            <a:spLocks noGrp="1"/>
          </p:cNvSpPr>
          <p:nvPr>
            <p:ph type="sldNum" sz="quarter" idx="12"/>
          </p:nvPr>
        </p:nvSpPr>
        <p:spPr>
          <a:xfrm>
            <a:off x="8610600" y="6356350"/>
            <a:ext cx="2743200" cy="365125"/>
          </a:xfrm>
        </p:spPr>
        <p:txBody>
          <a:bodyPr>
            <a:normAutofit/>
          </a:bodyPr>
          <a:lstStyle/>
          <a:p>
            <a:pPr>
              <a:spcAft>
                <a:spcPts val="600"/>
              </a:spcAft>
            </a:pPr>
            <a:fld id="{4802611B-C7D4-401B-B615-A1AB963424CC}" type="slidenum">
              <a:rPr lang="en-US" smtClean="0"/>
              <a:pPr>
                <a:spcAft>
                  <a:spcPts val="600"/>
                </a:spcAft>
              </a:pPr>
              <a:t>39</a:t>
            </a:fld>
            <a:endParaRPr lang="en-US"/>
          </a:p>
        </p:txBody>
      </p:sp>
    </p:spTree>
    <p:extLst>
      <p:ext uri="{BB962C8B-B14F-4D97-AF65-F5344CB8AC3E}">
        <p14:creationId xmlns:p14="http://schemas.microsoft.com/office/powerpoint/2010/main" val="35551169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880B779-AAD5-0F30-EBEC-5892F0B98CA9}"/>
              </a:ext>
            </a:extLst>
          </p:cNvPr>
          <p:cNvSpPr>
            <a:spLocks noGrp="1"/>
          </p:cNvSpPr>
          <p:nvPr>
            <p:ph type="title"/>
          </p:nvPr>
        </p:nvSpPr>
        <p:spPr>
          <a:xfrm>
            <a:off x="838200" y="365125"/>
            <a:ext cx="10515600" cy="1325563"/>
          </a:xfrm>
        </p:spPr>
        <p:txBody>
          <a:bodyPr>
            <a:normAutofit/>
          </a:bodyPr>
          <a:lstStyle/>
          <a:p>
            <a:r>
              <a:rPr lang="en-US" sz="5400">
                <a:latin typeface="Lato Extended"/>
              </a:rPr>
              <a:t>CONTROL FLOW TESTING TOOLS</a:t>
            </a:r>
          </a:p>
        </p:txBody>
      </p:sp>
      <p:sp>
        <p:nvSpPr>
          <p:cNvPr id="1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200E15D-D7D1-23DE-DB65-FC8DE18B1727}"/>
              </a:ext>
            </a:extLst>
          </p:cNvPr>
          <p:cNvSpPr>
            <a:spLocks noGrp="1"/>
          </p:cNvSpPr>
          <p:nvPr>
            <p:ph idx="1"/>
          </p:nvPr>
        </p:nvSpPr>
        <p:spPr>
          <a:xfrm>
            <a:off x="838200" y="1929384"/>
            <a:ext cx="10515600" cy="4755514"/>
          </a:xfrm>
        </p:spPr>
        <p:txBody>
          <a:bodyPr>
            <a:noAutofit/>
          </a:bodyPr>
          <a:lstStyle/>
          <a:p>
            <a:r>
              <a:rPr lang="en-US" sz="2200" b="1" i="0" dirty="0" err="1">
                <a:solidFill>
                  <a:schemeClr val="accent5"/>
                </a:solidFill>
                <a:effectLst/>
                <a:latin typeface="Söhne"/>
              </a:rPr>
              <a:t>EclEmma</a:t>
            </a:r>
            <a:r>
              <a:rPr lang="en-US" sz="2200" b="0" i="0" dirty="0">
                <a:effectLst/>
                <a:latin typeface="Söhne"/>
              </a:rPr>
              <a:t>: </a:t>
            </a:r>
            <a:r>
              <a:rPr lang="en-US" sz="2200" b="0" i="0" dirty="0" err="1">
                <a:effectLst/>
                <a:latin typeface="Söhne"/>
              </a:rPr>
              <a:t>EclEmma</a:t>
            </a:r>
            <a:r>
              <a:rPr lang="en-US" sz="2200" b="0" i="0" dirty="0">
                <a:effectLst/>
                <a:latin typeface="Söhne"/>
              </a:rPr>
              <a:t> is an Eclipse plug-in for Java code coverage analysis. While it primarily focuses on coverage analysis, it also provides features for generating JUnit test cases that aim to increase code coverage, including control flow paths.</a:t>
            </a:r>
          </a:p>
          <a:p>
            <a:pPr marL="0" indent="0">
              <a:buNone/>
            </a:pPr>
            <a:endParaRPr lang="en-US" sz="2200" b="0" i="0" dirty="0">
              <a:effectLst/>
              <a:latin typeface="Söhne"/>
            </a:endParaRPr>
          </a:p>
          <a:p>
            <a:r>
              <a:rPr lang="en-US" sz="2200" b="1" i="0" dirty="0" err="1">
                <a:solidFill>
                  <a:schemeClr val="accent5"/>
                </a:solidFill>
                <a:effectLst/>
                <a:latin typeface="Söhne"/>
              </a:rPr>
              <a:t>JCrasher</a:t>
            </a:r>
            <a:r>
              <a:rPr lang="en-US" sz="2200" b="0" i="0" dirty="0">
                <a:effectLst/>
                <a:latin typeface="Söhne"/>
              </a:rPr>
              <a:t>: </a:t>
            </a:r>
            <a:r>
              <a:rPr lang="en-US" sz="2200" b="0" i="0" dirty="0" err="1">
                <a:effectLst/>
                <a:latin typeface="Söhne"/>
              </a:rPr>
              <a:t>JCrasher</a:t>
            </a:r>
            <a:r>
              <a:rPr lang="en-US" sz="2200" b="0" i="0" dirty="0">
                <a:effectLst/>
                <a:latin typeface="Söhne"/>
              </a:rPr>
              <a:t> is a Java unit testing tool that automatically generates test cases to exercise various control flow paths in Java programs. It uses a combination of random testing and control flow analysis techniques to create tests that aim to achieve high code coverage.</a:t>
            </a:r>
          </a:p>
          <a:p>
            <a:pPr marL="0" indent="0">
              <a:buNone/>
            </a:pPr>
            <a:endParaRPr lang="en-US" sz="2200" b="0" i="0" dirty="0">
              <a:effectLst/>
              <a:latin typeface="Söhne"/>
            </a:endParaRPr>
          </a:p>
          <a:p>
            <a:r>
              <a:rPr lang="en-US" sz="2200" b="1" i="0" dirty="0">
                <a:solidFill>
                  <a:schemeClr val="accent5"/>
                </a:solidFill>
                <a:effectLst/>
                <a:latin typeface="Söhne"/>
              </a:rPr>
              <a:t>CUTE (C Unit Testing Easier)</a:t>
            </a:r>
            <a:r>
              <a:rPr lang="en-US" sz="2200" b="0" i="0" dirty="0">
                <a:solidFill>
                  <a:schemeClr val="accent5"/>
                </a:solidFill>
                <a:effectLst/>
                <a:latin typeface="Söhne"/>
              </a:rPr>
              <a:t>: </a:t>
            </a:r>
            <a:r>
              <a:rPr lang="en-US" sz="2200" b="0" i="0" dirty="0">
                <a:effectLst/>
                <a:latin typeface="Söhne"/>
              </a:rPr>
              <a:t>CUTE is a unit testing framework for C and C++ programs that can be used to automate control flow testing. It provides facilities for generating and executing test cases automatically to cover different control flow paths in C/C++ code.</a:t>
            </a:r>
            <a:endParaRPr lang="en-US" sz="2200" dirty="0"/>
          </a:p>
        </p:txBody>
      </p:sp>
      <p:sp>
        <p:nvSpPr>
          <p:cNvPr id="4" name="Slide Number Placeholder 3">
            <a:extLst>
              <a:ext uri="{FF2B5EF4-FFF2-40B4-BE49-F238E27FC236}">
                <a16:creationId xmlns:a16="http://schemas.microsoft.com/office/drawing/2014/main" id="{53615A18-3FA6-CCF0-AA5B-CFB211C1BDB8}"/>
              </a:ext>
            </a:extLst>
          </p:cNvPr>
          <p:cNvSpPr>
            <a:spLocks noGrp="1"/>
          </p:cNvSpPr>
          <p:nvPr>
            <p:ph type="sldNum" sz="quarter" idx="12"/>
          </p:nvPr>
        </p:nvSpPr>
        <p:spPr>
          <a:xfrm>
            <a:off x="8610600" y="6356350"/>
            <a:ext cx="2743200" cy="365125"/>
          </a:xfrm>
        </p:spPr>
        <p:txBody>
          <a:bodyPr>
            <a:normAutofit/>
          </a:bodyPr>
          <a:lstStyle/>
          <a:p>
            <a:pPr>
              <a:spcAft>
                <a:spcPts val="600"/>
              </a:spcAft>
            </a:pPr>
            <a:fld id="{4802611B-C7D4-401B-B615-A1AB963424CC}" type="slidenum">
              <a:rPr lang="en-US" smtClean="0"/>
              <a:pPr>
                <a:spcAft>
                  <a:spcPts val="600"/>
                </a:spcAft>
              </a:pPr>
              <a:t>40</a:t>
            </a:fld>
            <a:endParaRPr lang="en-US"/>
          </a:p>
        </p:txBody>
      </p:sp>
    </p:spTree>
    <p:extLst>
      <p:ext uri="{BB962C8B-B14F-4D97-AF65-F5344CB8AC3E}">
        <p14:creationId xmlns:p14="http://schemas.microsoft.com/office/powerpoint/2010/main" val="1549978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880B779-AAD5-0F30-EBEC-5892F0B98CA9}"/>
              </a:ext>
            </a:extLst>
          </p:cNvPr>
          <p:cNvSpPr>
            <a:spLocks noGrp="1"/>
          </p:cNvSpPr>
          <p:nvPr>
            <p:ph type="title"/>
          </p:nvPr>
        </p:nvSpPr>
        <p:spPr>
          <a:xfrm>
            <a:off x="838200" y="365125"/>
            <a:ext cx="10515600" cy="1325563"/>
          </a:xfrm>
        </p:spPr>
        <p:txBody>
          <a:bodyPr>
            <a:normAutofit/>
          </a:bodyPr>
          <a:lstStyle/>
          <a:p>
            <a:r>
              <a:rPr lang="en-US" sz="5400" dirty="0">
                <a:latin typeface="Lato Extended"/>
              </a:rPr>
              <a:t>CONTROL FLOW TESTING TOOLS</a:t>
            </a:r>
          </a:p>
        </p:txBody>
      </p:sp>
      <p:sp>
        <p:nvSpPr>
          <p:cNvPr id="1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200E15D-D7D1-23DE-DB65-FC8DE18B1727}"/>
              </a:ext>
            </a:extLst>
          </p:cNvPr>
          <p:cNvSpPr>
            <a:spLocks noGrp="1"/>
          </p:cNvSpPr>
          <p:nvPr>
            <p:ph idx="1"/>
          </p:nvPr>
        </p:nvSpPr>
        <p:spPr>
          <a:xfrm>
            <a:off x="838200" y="1929384"/>
            <a:ext cx="10515600" cy="4251960"/>
          </a:xfrm>
        </p:spPr>
        <p:txBody>
          <a:bodyPr>
            <a:normAutofit/>
          </a:bodyPr>
          <a:lstStyle/>
          <a:p>
            <a:r>
              <a:rPr lang="en-US" sz="2200" b="1" i="0" dirty="0" err="1">
                <a:solidFill>
                  <a:schemeClr val="accent5"/>
                </a:solidFill>
                <a:effectLst/>
                <a:latin typeface="Söhne"/>
              </a:rPr>
              <a:t>Testwell</a:t>
            </a:r>
            <a:r>
              <a:rPr lang="en-US" sz="2200" b="1" i="0" dirty="0">
                <a:solidFill>
                  <a:schemeClr val="accent5"/>
                </a:solidFill>
                <a:effectLst/>
                <a:latin typeface="Söhne"/>
              </a:rPr>
              <a:t> CTC++ (C/C++ Test Coverage for C++ and C)</a:t>
            </a:r>
            <a:r>
              <a:rPr lang="en-US" sz="2200" b="0" i="0" dirty="0">
                <a:solidFill>
                  <a:schemeClr val="accent5"/>
                </a:solidFill>
                <a:effectLst/>
                <a:latin typeface="Söhne"/>
              </a:rPr>
              <a:t>: </a:t>
            </a:r>
            <a:r>
              <a:rPr lang="en-US" sz="2200" b="0" i="0" dirty="0" err="1">
                <a:effectLst/>
                <a:latin typeface="Söhne"/>
              </a:rPr>
              <a:t>Testwell</a:t>
            </a:r>
            <a:r>
              <a:rPr lang="en-US" sz="2200" b="0" i="0" dirty="0">
                <a:effectLst/>
                <a:latin typeface="Söhne"/>
              </a:rPr>
              <a:t> CTC++ is a code coverage tool for C and C++ programs that can be used to automate control flow testing. It provides features for generating test cases and executing them to achieve high coverage of control flow paths.</a:t>
            </a:r>
          </a:p>
          <a:p>
            <a:endParaRPr lang="en-US" sz="2200" b="0" i="0" dirty="0">
              <a:effectLst/>
              <a:latin typeface="Söhne"/>
            </a:endParaRPr>
          </a:p>
          <a:p>
            <a:r>
              <a:rPr lang="en-US" sz="2200" b="1" i="0" dirty="0">
                <a:solidFill>
                  <a:schemeClr val="accent5"/>
                </a:solidFill>
                <a:effectLst/>
                <a:latin typeface="Söhne"/>
              </a:rPr>
              <a:t>Hansel</a:t>
            </a:r>
            <a:r>
              <a:rPr lang="en-US" sz="2200" b="0" i="0" dirty="0">
                <a:effectLst/>
                <a:latin typeface="Söhne"/>
              </a:rPr>
              <a:t>: Hansel is a tool for automatic test case generation in Java. It uses symbolic execution techniques to explore different control flow paths in Java programs and generate test cases that aim to achieve high code coverage.</a:t>
            </a:r>
          </a:p>
          <a:p>
            <a:endParaRPr lang="en-US" sz="2200" b="0" i="0" dirty="0">
              <a:effectLst/>
              <a:latin typeface="Söhne"/>
            </a:endParaRPr>
          </a:p>
          <a:p>
            <a:r>
              <a:rPr lang="en-US" sz="2200" b="1" i="0" dirty="0" err="1">
                <a:solidFill>
                  <a:schemeClr val="accent5"/>
                </a:solidFill>
                <a:effectLst/>
                <a:latin typeface="Söhne"/>
              </a:rPr>
              <a:t>PathCrawler</a:t>
            </a:r>
            <a:r>
              <a:rPr lang="en-US" sz="2200" b="0" i="0" dirty="0">
                <a:effectLst/>
                <a:latin typeface="Söhne"/>
              </a:rPr>
              <a:t>: </a:t>
            </a:r>
            <a:r>
              <a:rPr lang="en-US" sz="2200" b="0" i="0" dirty="0" err="1">
                <a:effectLst/>
                <a:latin typeface="Söhne"/>
              </a:rPr>
              <a:t>PathCrawler</a:t>
            </a:r>
            <a:r>
              <a:rPr lang="en-US" sz="2200" b="0" i="0" dirty="0">
                <a:effectLst/>
                <a:latin typeface="Söhne"/>
              </a:rPr>
              <a:t> is a tool for automatic test case generation in Java. It uses symbolic execution and constraint solving techniques to explore different control flow paths in Java programs and generate test cases that aim to achieve high coverage.</a:t>
            </a:r>
          </a:p>
          <a:p>
            <a:endParaRPr lang="en-US" sz="2200" dirty="0"/>
          </a:p>
        </p:txBody>
      </p:sp>
      <p:sp>
        <p:nvSpPr>
          <p:cNvPr id="4" name="Slide Number Placeholder 3">
            <a:extLst>
              <a:ext uri="{FF2B5EF4-FFF2-40B4-BE49-F238E27FC236}">
                <a16:creationId xmlns:a16="http://schemas.microsoft.com/office/drawing/2014/main" id="{53615A18-3FA6-CCF0-AA5B-CFB211C1BDB8}"/>
              </a:ext>
            </a:extLst>
          </p:cNvPr>
          <p:cNvSpPr>
            <a:spLocks noGrp="1"/>
          </p:cNvSpPr>
          <p:nvPr>
            <p:ph type="sldNum" sz="quarter" idx="12"/>
          </p:nvPr>
        </p:nvSpPr>
        <p:spPr>
          <a:xfrm>
            <a:off x="8610600" y="6356350"/>
            <a:ext cx="2743200" cy="365125"/>
          </a:xfrm>
        </p:spPr>
        <p:txBody>
          <a:bodyPr>
            <a:normAutofit/>
          </a:bodyPr>
          <a:lstStyle/>
          <a:p>
            <a:pPr>
              <a:spcAft>
                <a:spcPts val="600"/>
              </a:spcAft>
            </a:pPr>
            <a:fld id="{4802611B-C7D4-401B-B615-A1AB963424CC}" type="slidenum">
              <a:rPr lang="en-US" smtClean="0"/>
              <a:pPr>
                <a:spcAft>
                  <a:spcPts val="600"/>
                </a:spcAft>
              </a:pPr>
              <a:t>41</a:t>
            </a:fld>
            <a:endParaRPr lang="en-US"/>
          </a:p>
        </p:txBody>
      </p:sp>
    </p:spTree>
    <p:extLst>
      <p:ext uri="{BB962C8B-B14F-4D97-AF65-F5344CB8AC3E}">
        <p14:creationId xmlns:p14="http://schemas.microsoft.com/office/powerpoint/2010/main" val="11089468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094F0-1A07-9B7B-AAD4-CA2D9787060A}"/>
              </a:ext>
            </a:extLst>
          </p:cNvPr>
          <p:cNvSpPr>
            <a:spLocks noGrp="1"/>
          </p:cNvSpPr>
          <p:nvPr>
            <p:ph type="title"/>
          </p:nvPr>
        </p:nvSpPr>
        <p:spPr>
          <a:xfrm>
            <a:off x="5868557" y="1138036"/>
            <a:ext cx="5444382" cy="1402470"/>
          </a:xfrm>
        </p:spPr>
        <p:txBody>
          <a:bodyPr anchor="t">
            <a:normAutofit/>
          </a:bodyPr>
          <a:lstStyle/>
          <a:p>
            <a:r>
              <a:rPr lang="en-US" sz="3000" cap="all">
                <a:latin typeface="Times New Roman" pitchFamily="18" charset="0"/>
              </a:rPr>
              <a:t>Which Coverage Criterion to select?</a:t>
            </a:r>
            <a:br>
              <a:rPr lang="en-US" sz="3000" b="0" i="0">
                <a:effectLst/>
                <a:latin typeface="Lato Extended"/>
              </a:rPr>
            </a:br>
            <a:endParaRPr lang="en-US" sz="3000"/>
          </a:p>
        </p:txBody>
      </p:sp>
      <p:pic>
        <p:nvPicPr>
          <p:cNvPr id="6" name="Picture 5" descr="Computer script on a screen">
            <a:extLst>
              <a:ext uri="{FF2B5EF4-FFF2-40B4-BE49-F238E27FC236}">
                <a16:creationId xmlns:a16="http://schemas.microsoft.com/office/drawing/2014/main" id="{3456ECE8-DE87-E32F-13E2-1FD1ECED1491}"/>
              </a:ext>
            </a:extLst>
          </p:cNvPr>
          <p:cNvPicPr>
            <a:picLocks noChangeAspect="1"/>
          </p:cNvPicPr>
          <p:nvPr/>
        </p:nvPicPr>
        <p:blipFill rotWithShape="1">
          <a:blip r:embed="rId2"/>
          <a:srcRect l="5045" r="44817" b="-1"/>
          <a:stretch/>
        </p:blipFill>
        <p:spPr>
          <a:xfrm>
            <a:off x="-1" y="10"/>
            <a:ext cx="5151179" cy="6857990"/>
          </a:xfrm>
          <a:prstGeom prst="rect">
            <a:avLst/>
          </a:prstGeom>
        </p:spPr>
      </p:pic>
      <p:cxnSp>
        <p:nvCxnSpPr>
          <p:cNvPr id="10" name="Straight Connector 9">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169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43FB6E4D-9B4B-B4B7-3A5A-DCEB5715D2E9}"/>
              </a:ext>
            </a:extLst>
          </p:cNvPr>
          <p:cNvSpPr>
            <a:spLocks noGrp="1"/>
          </p:cNvSpPr>
          <p:nvPr>
            <p:ph idx="1"/>
          </p:nvPr>
        </p:nvSpPr>
        <p:spPr>
          <a:xfrm>
            <a:off x="5400725" y="2521891"/>
            <a:ext cx="6220662" cy="3591207"/>
          </a:xfrm>
        </p:spPr>
        <p:txBody>
          <a:bodyPr>
            <a:normAutofit/>
          </a:bodyPr>
          <a:lstStyle/>
          <a:p>
            <a:pPr marL="0" indent="0">
              <a:buNone/>
            </a:pPr>
            <a:r>
              <a:rPr lang="en-US" sz="2000" b="0" i="0" dirty="0">
                <a:effectLst/>
                <a:latin typeface="Lato Extended"/>
              </a:rPr>
              <a:t>1. The Complexity of Software Artifact</a:t>
            </a:r>
          </a:p>
          <a:p>
            <a:pPr marL="0" indent="0">
              <a:buNone/>
            </a:pPr>
            <a:endParaRPr lang="en-US" sz="2000" dirty="0"/>
          </a:p>
          <a:p>
            <a:pPr marL="0" indent="0">
              <a:buNone/>
            </a:pPr>
            <a:r>
              <a:rPr lang="en-US" sz="2000" b="0" i="0" dirty="0">
                <a:effectLst/>
                <a:latin typeface="Lato Extended"/>
              </a:rPr>
              <a:t>2. Criticality of the Software Artifact</a:t>
            </a:r>
          </a:p>
          <a:p>
            <a:pPr marL="0" indent="0">
              <a:buNone/>
            </a:pPr>
            <a:endParaRPr lang="en-US" sz="2000" dirty="0"/>
          </a:p>
          <a:p>
            <a:pPr marL="0" indent="0">
              <a:buNone/>
            </a:pPr>
            <a:r>
              <a:rPr lang="en-US" sz="2000" b="0" i="0" dirty="0">
                <a:effectLst/>
                <a:latin typeface="Lato Extended"/>
              </a:rPr>
              <a:t>3. Resource Availability and Cost Considerations</a:t>
            </a:r>
            <a:br>
              <a:rPr lang="en-US" sz="2000" b="0" i="0" dirty="0">
                <a:effectLst/>
                <a:latin typeface="Lato Extended"/>
              </a:rPr>
            </a:br>
            <a:endParaRPr lang="en-US" sz="2000" b="0" i="0" dirty="0">
              <a:effectLst/>
              <a:latin typeface="Lato Extended"/>
            </a:endParaRPr>
          </a:p>
          <a:p>
            <a:pPr marL="0" indent="0">
              <a:buNone/>
            </a:pPr>
            <a:r>
              <a:rPr lang="en-US" sz="2000" b="0" i="0" dirty="0">
                <a:effectLst/>
                <a:latin typeface="Lato Extended"/>
              </a:rPr>
              <a:t>4. Level of Trust</a:t>
            </a:r>
          </a:p>
          <a:p>
            <a:endParaRPr lang="en-US" sz="2000" dirty="0"/>
          </a:p>
        </p:txBody>
      </p:sp>
      <p:sp>
        <p:nvSpPr>
          <p:cNvPr id="4" name="Slide Number Placeholder 3">
            <a:extLst>
              <a:ext uri="{FF2B5EF4-FFF2-40B4-BE49-F238E27FC236}">
                <a16:creationId xmlns:a16="http://schemas.microsoft.com/office/drawing/2014/main" id="{75137D67-7A4E-485E-8CA3-28F6B52A5098}"/>
              </a:ext>
            </a:extLst>
          </p:cNvPr>
          <p:cNvSpPr>
            <a:spLocks noGrp="1"/>
          </p:cNvSpPr>
          <p:nvPr>
            <p:ph type="sldNum" sz="quarter" idx="12"/>
          </p:nvPr>
        </p:nvSpPr>
        <p:spPr>
          <a:xfrm>
            <a:off x="8610600" y="6356350"/>
            <a:ext cx="2743200" cy="365125"/>
          </a:xfrm>
        </p:spPr>
        <p:txBody>
          <a:bodyPr>
            <a:normAutofit/>
          </a:bodyPr>
          <a:lstStyle/>
          <a:p>
            <a:pPr>
              <a:spcAft>
                <a:spcPts val="600"/>
              </a:spcAft>
            </a:pPr>
            <a:fld id="{4802611B-C7D4-401B-B615-A1AB963424CC}" type="slidenum">
              <a:rPr lang="en-US">
                <a:solidFill>
                  <a:schemeClr val="tx1">
                    <a:lumMod val="50000"/>
                    <a:lumOff val="50000"/>
                  </a:schemeClr>
                </a:solidFill>
              </a:rPr>
              <a:pPr>
                <a:spcAft>
                  <a:spcPts val="600"/>
                </a:spcAft>
              </a:pPr>
              <a:t>42</a:t>
            </a:fld>
            <a:endParaRPr lang="en-US">
              <a:solidFill>
                <a:schemeClr val="tx1">
                  <a:lumMod val="50000"/>
                  <a:lumOff val="50000"/>
                </a:schemeClr>
              </a:solidFill>
            </a:endParaRPr>
          </a:p>
        </p:txBody>
      </p:sp>
    </p:spTree>
    <p:extLst>
      <p:ext uri="{BB962C8B-B14F-4D97-AF65-F5344CB8AC3E}">
        <p14:creationId xmlns:p14="http://schemas.microsoft.com/office/powerpoint/2010/main" val="39012665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9446" name="Rectangle 136">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266" name="Rectangle 2"/>
          <p:cNvSpPr>
            <a:spLocks noGrp="1" noChangeArrowheads="1"/>
          </p:cNvSpPr>
          <p:nvPr>
            <p:ph type="title"/>
          </p:nvPr>
        </p:nvSpPr>
        <p:spPr>
          <a:xfrm>
            <a:off x="241245" y="1412488"/>
            <a:ext cx="3737389" cy="4363844"/>
          </a:xfrm>
        </p:spPr>
        <p:txBody>
          <a:bodyPr vert="horz" lIns="91440" tIns="45720" rIns="91440" bIns="45720" rtlCol="0" anchor="t">
            <a:normAutofit/>
          </a:bodyPr>
          <a:lstStyle/>
          <a:p>
            <a:r>
              <a:rPr lang="en-US" altLang="en-US" sz="3500" cap="all" dirty="0">
                <a:solidFill>
                  <a:schemeClr val="bg1"/>
                </a:solidFill>
                <a:latin typeface="Times New Roman" pitchFamily="18" charset="0"/>
              </a:rPr>
              <a:t>Code coverage requirements </a:t>
            </a:r>
          </a:p>
        </p:txBody>
      </p:sp>
      <p:sp>
        <p:nvSpPr>
          <p:cNvPr id="11267" name="Rectangle 3"/>
          <p:cNvSpPr>
            <a:spLocks noGrp="1" noChangeArrowheads="1"/>
          </p:cNvSpPr>
          <p:nvPr>
            <p:ph type="body" idx="1"/>
          </p:nvPr>
        </p:nvSpPr>
        <p:spPr>
          <a:xfrm>
            <a:off x="4219952" y="1412488"/>
            <a:ext cx="3749016" cy="4363844"/>
          </a:xfrm>
        </p:spPr>
        <p:txBody>
          <a:bodyPr vert="horz" lIns="91440" tIns="45720" rIns="91440" bIns="45720" rtlCol="0">
            <a:normAutofit/>
          </a:bodyPr>
          <a:lstStyle/>
          <a:p>
            <a:pPr algn="just"/>
            <a:r>
              <a:rPr lang="en-US" altLang="en-US" sz="2000" dirty="0"/>
              <a:t>Low code coverage indicates inadequate testing, but 100% coverage is impossible in practice</a:t>
            </a:r>
            <a:r>
              <a:rPr lang="en-US" altLang="en-US" sz="2000" b="1" dirty="0"/>
              <a:t> and  generally </a:t>
            </a:r>
            <a:r>
              <a:rPr lang="en-US" altLang="en-US" sz="2000" dirty="0"/>
              <a:t>not cost effective.</a:t>
            </a:r>
          </a:p>
          <a:p>
            <a:pPr algn="just"/>
            <a:endParaRPr lang="en-US" altLang="en-US" sz="2000" dirty="0"/>
          </a:p>
          <a:p>
            <a:pPr algn="just"/>
            <a:r>
              <a:rPr lang="en-US" altLang="en-US" sz="2000" dirty="0"/>
              <a:t>Although 100% code coverage may appear like a best possible effort, even 100% code coverage is estimated to only expose about half the faults in a system. </a:t>
            </a:r>
          </a:p>
          <a:p>
            <a:endParaRPr lang="en-US" altLang="en-US" sz="2000" b="1" dirty="0"/>
          </a:p>
          <a:p>
            <a:endParaRPr lang="en-US" altLang="en-US" sz="2000" b="1" dirty="0"/>
          </a:p>
          <a:p>
            <a:endParaRPr lang="en-US" altLang="en-US" sz="2000" b="1" dirty="0"/>
          </a:p>
          <a:p>
            <a:endParaRPr lang="en-US" altLang="en-US" sz="2000" b="1" dirty="0"/>
          </a:p>
          <a:p>
            <a:endParaRPr lang="en-US" altLang="en-US" sz="2000" b="1" dirty="0"/>
          </a:p>
          <a:p>
            <a:endParaRPr lang="en-US" altLang="en-US" sz="2000" b="1" dirty="0"/>
          </a:p>
          <a:p>
            <a:endParaRPr lang="en-US" altLang="en-US" sz="2000" b="1" dirty="0"/>
          </a:p>
          <a:p>
            <a:endParaRPr lang="en-US" altLang="en-US" sz="2000" dirty="0"/>
          </a:p>
        </p:txBody>
      </p:sp>
      <p:cxnSp>
        <p:nvCxnSpPr>
          <p:cNvPr id="189447" name="Straight Connector 138">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89444" name="Text Box 4"/>
          <p:cNvSpPr txBox="1">
            <a:spLocks noChangeArrowheads="1"/>
          </p:cNvSpPr>
          <p:nvPr/>
        </p:nvSpPr>
        <p:spPr bwMode="auto">
          <a:xfrm>
            <a:off x="8451603" y="1412488"/>
            <a:ext cx="3599977" cy="4363844"/>
          </a:xfrm>
          <a:prstGeom prst="rect">
            <a:avLst/>
          </a:prstGeom>
        </p:spPr>
        <p:txBody>
          <a:bodyPr vert="horz" lIns="91440" tIns="45720" rIns="91440" bIns="45720" rtlCol="0">
            <a:normAutofit/>
          </a:bodyPr>
          <a:lstStyle>
            <a:lvl1pPr eaLnBrk="0" hangingPunct="0">
              <a:defRPr>
                <a:solidFill>
                  <a:schemeClr val="tx1"/>
                </a:solidFill>
                <a:latin typeface="Arial" pitchFamily="34" charset="0"/>
              </a:defRPr>
            </a:lvl1pPr>
            <a:lvl2pPr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228600" algn="just" defTabSz="914400" rtl="0" eaLnBrk="1" fontAlgn="base" latinLnBrk="0" hangingPunct="1">
              <a:lnSpc>
                <a:spcPct val="90000"/>
              </a:lnSpc>
              <a:spcBef>
                <a:spcPct val="50000"/>
              </a:spcBef>
              <a:spcAft>
                <a:spcPct val="0"/>
              </a:spcAft>
              <a:buClrTx/>
              <a:buSzTx/>
              <a:buFont typeface="Arial" panose="020B0604020202020204" pitchFamily="34" charset="0"/>
              <a:buChar char="•"/>
              <a:tabLst/>
              <a:defRPr/>
            </a:pPr>
            <a:r>
              <a:rPr kumimoji="0" lang="en-US" altLang="en-US" sz="1900" b="1" i="0" u="none" strike="noStrike" kern="1200" cap="none" spc="0" normalizeH="0" baseline="0" noProof="0" dirty="0">
                <a:ln>
                  <a:noFill/>
                </a:ln>
                <a:solidFill>
                  <a:prstClr val="black"/>
                </a:solidFill>
                <a:effectLst/>
                <a:uLnTx/>
                <a:uFillTx/>
                <a:latin typeface="Calibri" panose="020F0502020204030204"/>
                <a:ea typeface="+mn-ea"/>
                <a:cs typeface="+mn-cs"/>
              </a:rPr>
              <a:t>Code coverage of 70-80% is a reasonable goal for system test of most projects with most coverage metrics.</a:t>
            </a:r>
          </a:p>
          <a:p>
            <a:pPr marL="0" marR="0" lvl="0" indent="-228600" algn="just" defTabSz="914400" rtl="0" eaLnBrk="1" fontAlgn="base" latinLnBrk="0" hangingPunct="1">
              <a:lnSpc>
                <a:spcPct val="90000"/>
              </a:lnSpc>
              <a:spcBef>
                <a:spcPct val="50000"/>
              </a:spcBef>
              <a:spcAft>
                <a:spcPct val="0"/>
              </a:spcAft>
              <a:buClrTx/>
              <a:buSzTx/>
              <a:buFont typeface="Arial" panose="020B0604020202020204" pitchFamily="34" charset="0"/>
              <a:buChar char="•"/>
              <a:tabLst/>
              <a:defRPr/>
            </a:pPr>
            <a:endParaRPr kumimoji="0" lang="en-US" altLang="en-US" sz="19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228600" algn="just" defTabSz="914400" rtl="0" eaLnBrk="1" fontAlgn="base" latinLnBrk="0" hangingPunct="1">
              <a:lnSpc>
                <a:spcPct val="90000"/>
              </a:lnSpc>
              <a:spcBef>
                <a:spcPct val="50000"/>
              </a:spcBef>
              <a:spcAft>
                <a:spcPct val="0"/>
              </a:spcAft>
              <a:buClrTx/>
              <a:buSzTx/>
              <a:buFont typeface="Arial" panose="020B0604020202020204" pitchFamily="34" charset="0"/>
              <a:buChar char="•"/>
              <a:tabLst/>
              <a:defRPr/>
            </a:pPr>
            <a:r>
              <a:rPr kumimoji="0" lang="en-US" altLang="en-US" sz="1900" b="1" i="0" u="none" strike="noStrike" kern="1200" cap="none" spc="0" normalizeH="0" baseline="0" noProof="0" dirty="0">
                <a:ln>
                  <a:noFill/>
                </a:ln>
                <a:solidFill>
                  <a:prstClr val="black"/>
                </a:solidFill>
                <a:effectLst/>
                <a:uLnTx/>
                <a:uFillTx/>
                <a:latin typeface="Calibri" panose="020F0502020204030204"/>
                <a:ea typeface="+mn-ea"/>
                <a:cs typeface="+mn-cs"/>
              </a:rPr>
              <a:t>Empirical studies of real projects found that increasing code coverage above 70-80% is time consuming and therefore leads to a relatively slow bug detection rate</a:t>
            </a:r>
          </a:p>
        </p:txBody>
      </p:sp>
      <p:sp>
        <p:nvSpPr>
          <p:cNvPr id="2" name="Slide Number Placeholder 1">
            <a:extLst>
              <a:ext uri="{FF2B5EF4-FFF2-40B4-BE49-F238E27FC236}">
                <a16:creationId xmlns:a16="http://schemas.microsoft.com/office/drawing/2014/main" id="{CFCD558A-4DDC-4457-BB28-A4774324240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02611B-C7D4-401B-B615-A1AB963424CC}"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4238683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9444"/>
                                        </p:tgtEl>
                                        <p:attrNameLst>
                                          <p:attrName>style.visibility</p:attrName>
                                        </p:attrNameLst>
                                      </p:cBhvr>
                                      <p:to>
                                        <p:strVal val="visible"/>
                                      </p:to>
                                    </p:set>
                                    <p:anim calcmode="lin" valueType="num">
                                      <p:cBhvr additive="base">
                                        <p:cTn id="7" dur="500" fill="hold"/>
                                        <p:tgtEl>
                                          <p:spTgt spid="189444"/>
                                        </p:tgtEl>
                                        <p:attrNameLst>
                                          <p:attrName>ppt_x</p:attrName>
                                        </p:attrNameLst>
                                      </p:cBhvr>
                                      <p:tavLst>
                                        <p:tav tm="0">
                                          <p:val>
                                            <p:strVal val="#ppt_x"/>
                                          </p:val>
                                        </p:tav>
                                        <p:tav tm="100000">
                                          <p:val>
                                            <p:strVal val="#ppt_x"/>
                                          </p:val>
                                        </p:tav>
                                      </p:tavLst>
                                    </p:anim>
                                    <p:anim calcmode="lin" valueType="num">
                                      <p:cBhvr additive="base">
                                        <p:cTn id="8" dur="500" fill="hold"/>
                                        <p:tgtEl>
                                          <p:spTgt spid="1894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444"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68575C10-8187-4AC4-AD72-C754EAFD28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654295"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290" name="Title 1"/>
          <p:cNvSpPr>
            <a:spLocks noGrp="1"/>
          </p:cNvSpPr>
          <p:nvPr>
            <p:ph type="title"/>
          </p:nvPr>
        </p:nvSpPr>
        <p:spPr>
          <a:xfrm>
            <a:off x="150688" y="559678"/>
            <a:ext cx="4179227" cy="4952492"/>
          </a:xfrm>
        </p:spPr>
        <p:txBody>
          <a:bodyPr>
            <a:normAutofit/>
          </a:bodyPr>
          <a:lstStyle/>
          <a:p>
            <a:r>
              <a:rPr lang="en-CA" altLang="en-US" sz="3500" cap="all" dirty="0">
                <a:solidFill>
                  <a:schemeClr val="bg1"/>
                </a:solidFill>
                <a:latin typeface="Times New Roman" pitchFamily="18" charset="0"/>
              </a:rPr>
              <a:t>Minimum Acceptable Code Coverage Standards</a:t>
            </a:r>
          </a:p>
        </p:txBody>
      </p:sp>
      <p:cxnSp>
        <p:nvCxnSpPr>
          <p:cNvPr id="75" name="Straight Connector 74">
            <a:extLst>
              <a:ext uri="{FF2B5EF4-FFF2-40B4-BE49-F238E27FC236}">
                <a16:creationId xmlns:a16="http://schemas.microsoft.com/office/drawing/2014/main" id="{74E776C9-ED67-41B7-B3A3-4DF76EF3ACE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99730"/>
            <a:ext cx="4297680"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graphicFrame>
        <p:nvGraphicFramePr>
          <p:cNvPr id="12293" name="Content Placeholder 2">
            <a:extLst>
              <a:ext uri="{FF2B5EF4-FFF2-40B4-BE49-F238E27FC236}">
                <a16:creationId xmlns:a16="http://schemas.microsoft.com/office/drawing/2014/main" id="{50D80A3E-F028-4213-883B-DD7B1A11AF9B}"/>
              </a:ext>
            </a:extLst>
          </p:cNvPr>
          <p:cNvGraphicFramePr>
            <a:graphicFrameLocks noGrp="1"/>
          </p:cNvGraphicFramePr>
          <p:nvPr>
            <p:ph idx="1"/>
          </p:nvPr>
        </p:nvGraphicFramePr>
        <p:xfrm>
          <a:off x="5181599" y="568325"/>
          <a:ext cx="6859713" cy="56562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Slide Number Placeholder 1">
            <a:extLst>
              <a:ext uri="{FF2B5EF4-FFF2-40B4-BE49-F238E27FC236}">
                <a16:creationId xmlns:a16="http://schemas.microsoft.com/office/drawing/2014/main" id="{AA352C4A-82FF-4E1A-992D-40BD5F3B2B2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02611B-C7D4-401B-B615-A1AB963424CC}"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337220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8D31E1B-0407-4223-9642-0B642CBF57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6" name="Group 11">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18" name="Rectangle 12">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7" name="Rectangle 16">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67266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9CBF7DC-28CB-4E80-88F8-D37F1733DB4E}"/>
              </a:ext>
            </a:extLst>
          </p:cNvPr>
          <p:cNvSpPr>
            <a:spLocks noGrp="1"/>
          </p:cNvSpPr>
          <p:nvPr>
            <p:ph type="title"/>
          </p:nvPr>
        </p:nvSpPr>
        <p:spPr>
          <a:xfrm>
            <a:off x="1043631" y="873940"/>
            <a:ext cx="5052369" cy="1035781"/>
          </a:xfrm>
        </p:spPr>
        <p:txBody>
          <a:bodyPr anchor="ctr">
            <a:normAutofit/>
          </a:bodyPr>
          <a:lstStyle/>
          <a:p>
            <a:r>
              <a:rPr lang="en-US" sz="3600" dirty="0"/>
              <a:t>Code Coverage Tools</a:t>
            </a:r>
          </a:p>
        </p:txBody>
      </p:sp>
      <p:sp>
        <p:nvSpPr>
          <p:cNvPr id="19" name="Rectangle 18">
            <a:extLst>
              <a:ext uri="{FF2B5EF4-FFF2-40B4-BE49-F238E27FC236}">
                <a16:creationId xmlns:a16="http://schemas.microsoft.com/office/drawing/2014/main" id="{70E96339-907C-46C3-99AC-31179B6F0E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16299" y="608401"/>
            <a:ext cx="4637502" cy="559344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1" name="Straight Connector 20">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640A55B5-2A91-4BCE-8C22-AD6126034B7E}"/>
              </a:ext>
            </a:extLst>
          </p:cNvPr>
          <p:cNvSpPr txBox="1"/>
          <p:nvPr/>
        </p:nvSpPr>
        <p:spPr>
          <a:xfrm>
            <a:off x="6564900" y="1204749"/>
            <a:ext cx="4844982" cy="332398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Industry’s messy answer to a lot of the nice theories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solidFill>
                  <a:prstClr val="black"/>
                </a:solidFill>
                <a:latin typeface="Calibri" panose="020F0502020204030204"/>
              </a:rPr>
              <a:t>Will typically tell what fraction of your code lines has been covered by the tests you have written, sometimes will cover branches, rarely will they cover paths!</a:t>
            </a:r>
            <a:endPar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lide Number Placeholder 2">
            <a:extLst>
              <a:ext uri="{FF2B5EF4-FFF2-40B4-BE49-F238E27FC236}">
                <a16:creationId xmlns:a16="http://schemas.microsoft.com/office/drawing/2014/main" id="{23687C19-DA64-4211-9C58-8788E9DBDA3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02611B-C7D4-401B-B615-A1AB963424CC}"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pic>
        <p:nvPicPr>
          <p:cNvPr id="1028" name="Picture 4" descr="20 BEST Tools for Code Coverage C C++ CUDA C# Java JS Go">
            <a:extLst>
              <a:ext uri="{FF2B5EF4-FFF2-40B4-BE49-F238E27FC236}">
                <a16:creationId xmlns:a16="http://schemas.microsoft.com/office/drawing/2014/main" id="{39F68192-A3B1-AB9C-A444-AA414A7AA4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7405" y="2651349"/>
            <a:ext cx="5924820" cy="33327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44597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9F0AA42-6344-3DB2-175F-B8CECE2EC278}"/>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2EA0B6D-F92D-99A8-1846-7851755E61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6" name="Group 11">
            <a:extLst>
              <a:ext uri="{FF2B5EF4-FFF2-40B4-BE49-F238E27FC236}">
                <a16:creationId xmlns:a16="http://schemas.microsoft.com/office/drawing/2014/main" id="{C350DD1F-02FB-C970-C926-6627D2745F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18" name="Rectangle 12">
              <a:extLst>
                <a:ext uri="{FF2B5EF4-FFF2-40B4-BE49-F238E27FC236}">
                  <a16:creationId xmlns:a16="http://schemas.microsoft.com/office/drawing/2014/main" id="{BCDF3D4C-60C3-5A57-E08C-1BDE8D64A4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FE7AD76C-428A-F622-EFDF-01C19D851B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46B109EC-F16A-6460-DB03-A70477F69B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7" name="Rectangle 16">
            <a:extLst>
              <a:ext uri="{FF2B5EF4-FFF2-40B4-BE49-F238E27FC236}">
                <a16:creationId xmlns:a16="http://schemas.microsoft.com/office/drawing/2014/main" id="{AA854C0D-F90A-69B0-F67C-A12AF8D5E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67266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EA66305-F105-F860-31FD-5B5499E561EF}"/>
              </a:ext>
            </a:extLst>
          </p:cNvPr>
          <p:cNvSpPr>
            <a:spLocks noGrp="1"/>
          </p:cNvSpPr>
          <p:nvPr>
            <p:ph type="title"/>
          </p:nvPr>
        </p:nvSpPr>
        <p:spPr>
          <a:xfrm>
            <a:off x="1043631" y="873940"/>
            <a:ext cx="5052369" cy="1035781"/>
          </a:xfrm>
        </p:spPr>
        <p:txBody>
          <a:bodyPr anchor="ctr">
            <a:normAutofit/>
          </a:bodyPr>
          <a:lstStyle/>
          <a:p>
            <a:r>
              <a:rPr lang="en-US" sz="3600" dirty="0"/>
              <a:t>Code Coverage Tools</a:t>
            </a:r>
          </a:p>
        </p:txBody>
      </p:sp>
      <p:sp>
        <p:nvSpPr>
          <p:cNvPr id="19" name="Rectangle 18">
            <a:extLst>
              <a:ext uri="{FF2B5EF4-FFF2-40B4-BE49-F238E27FC236}">
                <a16:creationId xmlns:a16="http://schemas.microsoft.com/office/drawing/2014/main" id="{023B7B5D-86E5-57FC-CD8A-9BAA871F5C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16299" y="608401"/>
            <a:ext cx="4637502" cy="559344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1" name="Straight Connector 20">
            <a:extLst>
              <a:ext uri="{FF2B5EF4-FFF2-40B4-BE49-F238E27FC236}">
                <a16:creationId xmlns:a16="http://schemas.microsoft.com/office/drawing/2014/main" id="{1AA03C7D-1790-E355-88FC-16CF7C88AA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9D69EEC3-0E6F-0E9B-7C93-94E7998BB1E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02611B-C7D4-401B-B615-A1AB963424CC}"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3517DB51-83C6-48B6-6B9D-811DE73DF8D9}"/>
              </a:ext>
            </a:extLst>
          </p:cNvPr>
          <p:cNvSpPr txBox="1"/>
          <p:nvPr/>
        </p:nvSpPr>
        <p:spPr>
          <a:xfrm>
            <a:off x="6564900" y="1204749"/>
            <a:ext cx="4844982" cy="31700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Python</a:t>
            </a:r>
          </a:p>
          <a:p>
            <a:pPr lvl="0">
              <a:defRPr/>
            </a:pPr>
            <a:r>
              <a:rPr lang="en-US" sz="1400" dirty="0">
                <a:solidFill>
                  <a:prstClr val="black"/>
                </a:solidFill>
              </a:rPr>
              <a:t>pip install coverage</a:t>
            </a:r>
          </a:p>
          <a:p>
            <a:pPr lvl="0">
              <a:defRPr/>
            </a:pPr>
            <a:r>
              <a:rPr lang="en-US" sz="1400" dirty="0">
                <a:solidFill>
                  <a:prstClr val="black"/>
                </a:solidFill>
              </a:rPr>
              <a:t>coverage run –m </a:t>
            </a:r>
            <a:r>
              <a:rPr lang="en-US" sz="1400" dirty="0" err="1">
                <a:solidFill>
                  <a:prstClr val="black"/>
                </a:solidFill>
              </a:rPr>
              <a:t>pytest</a:t>
            </a:r>
            <a:endParaRPr lang="en-US" sz="1400" dirty="0">
              <a:solidFill>
                <a:prstClr val="black"/>
              </a:solidFill>
            </a:endParaRPr>
          </a:p>
          <a:p>
            <a:pPr lvl="0">
              <a:defRPr/>
            </a:pPr>
            <a:r>
              <a:rPr lang="en-US" sz="1400" dirty="0">
                <a:solidFill>
                  <a:prstClr val="black"/>
                </a:solidFill>
              </a:rPr>
              <a:t>coverage report </a:t>
            </a:r>
          </a:p>
          <a:p>
            <a:pPr lvl="0">
              <a:defRPr/>
            </a:pPr>
            <a:endParaRPr lang="en-US" sz="1400" dirty="0">
              <a:solidFill>
                <a:prstClr val="black"/>
              </a:solidFill>
            </a:endParaRPr>
          </a:p>
          <a:p>
            <a:pPr lvl="0">
              <a:defRPr/>
            </a:pPr>
            <a:r>
              <a:rPr lang="en-US" sz="1400" dirty="0">
                <a:solidFill>
                  <a:prstClr val="black"/>
                </a:solidFill>
              </a:rPr>
              <a:t>Assumes you are using </a:t>
            </a:r>
            <a:r>
              <a:rPr lang="en-US" sz="1400" dirty="0" err="1">
                <a:solidFill>
                  <a:prstClr val="black"/>
                </a:solidFill>
              </a:rPr>
              <a:t>pytest</a:t>
            </a:r>
            <a:endParaRPr lang="en-US" sz="1400" dirty="0">
              <a:solidFill>
                <a:prstClr val="black"/>
              </a:solidFill>
            </a:endParaRPr>
          </a:p>
          <a:p>
            <a:pPr lvl="0">
              <a:defRPr/>
            </a:pPr>
            <a:endParaRPr lang="en-US" sz="1400" dirty="0">
              <a:solidFill>
                <a:prstClr val="black"/>
              </a:solidFill>
            </a:endParaRPr>
          </a:p>
          <a:p>
            <a:pPr lvl="0">
              <a:defRPr/>
            </a:pPr>
            <a:r>
              <a:rPr lang="en-US" sz="1400" dirty="0">
                <a:solidFill>
                  <a:prstClr val="black"/>
                </a:solidFill>
              </a:rPr>
              <a:t>pip install </a:t>
            </a:r>
            <a:r>
              <a:rPr lang="en-US" sz="1400" dirty="0" err="1">
                <a:solidFill>
                  <a:prstClr val="black"/>
                </a:solidFill>
              </a:rPr>
              <a:t>pytest</a:t>
            </a:r>
            <a:br>
              <a:rPr lang="en-US" sz="1400" dirty="0">
                <a:solidFill>
                  <a:prstClr val="black"/>
                </a:solidFill>
              </a:rPr>
            </a:br>
            <a:r>
              <a:rPr lang="en-US" sz="1400" dirty="0">
                <a:solidFill>
                  <a:prstClr val="black"/>
                </a:solidFill>
              </a:rPr>
              <a:t>Write test files next to your code names </a:t>
            </a:r>
            <a:r>
              <a:rPr lang="en-US" sz="1400" dirty="0" err="1">
                <a:solidFill>
                  <a:prstClr val="black"/>
                </a:solidFill>
              </a:rPr>
              <a:t>test_file.py</a:t>
            </a:r>
            <a:br>
              <a:rPr lang="en-US" sz="1400" dirty="0">
                <a:solidFill>
                  <a:prstClr val="black"/>
                </a:solidFill>
              </a:rPr>
            </a:br>
            <a:r>
              <a:rPr lang="en-US" sz="1400" dirty="0">
                <a:solidFill>
                  <a:prstClr val="black"/>
                </a:solidFill>
              </a:rPr>
              <a:t>Name your test functions </a:t>
            </a:r>
            <a:r>
              <a:rPr lang="en-US" sz="1400" dirty="0" err="1">
                <a:solidFill>
                  <a:prstClr val="black"/>
                </a:solidFill>
              </a:rPr>
              <a:t>test_xxx</a:t>
            </a:r>
            <a:r>
              <a:rPr lang="en-US" sz="1400" dirty="0">
                <a:solidFill>
                  <a:prstClr val="black"/>
                </a:solidFill>
              </a:rPr>
              <a:t>()</a:t>
            </a:r>
            <a:br>
              <a:rPr lang="en-US" sz="1400" dirty="0">
                <a:solidFill>
                  <a:prstClr val="black"/>
                </a:solidFill>
              </a:rPr>
            </a:br>
            <a:r>
              <a:rPr lang="en-US" sz="1400" dirty="0">
                <a:solidFill>
                  <a:prstClr val="black"/>
                </a:solidFill>
              </a:rPr>
              <a:t>Functions that trigger an assert fail, those that don’t succeed.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6" name="Table 5">
            <a:extLst>
              <a:ext uri="{FF2B5EF4-FFF2-40B4-BE49-F238E27FC236}">
                <a16:creationId xmlns:a16="http://schemas.microsoft.com/office/drawing/2014/main" id="{2B646558-E6D1-B6F2-5C79-E3BC787C5894}"/>
              </a:ext>
            </a:extLst>
          </p:cNvPr>
          <p:cNvGraphicFramePr>
            <a:graphicFrameLocks noGrp="1"/>
          </p:cNvGraphicFramePr>
          <p:nvPr>
            <p:extLst>
              <p:ext uri="{D42A27DB-BD31-4B8C-83A1-F6EECF244321}">
                <p14:modId xmlns:p14="http://schemas.microsoft.com/office/powerpoint/2010/main" val="2862286641"/>
              </p:ext>
            </p:extLst>
          </p:nvPr>
        </p:nvGraphicFramePr>
        <p:xfrm>
          <a:off x="267837" y="2506069"/>
          <a:ext cx="6392384" cy="3502066"/>
        </p:xfrm>
        <a:graphic>
          <a:graphicData uri="http://schemas.openxmlformats.org/drawingml/2006/table">
            <a:tbl>
              <a:tblPr/>
              <a:tblGrid>
                <a:gridCol w="1598096">
                  <a:extLst>
                    <a:ext uri="{9D8B030D-6E8A-4147-A177-3AD203B41FA5}">
                      <a16:colId xmlns:a16="http://schemas.microsoft.com/office/drawing/2014/main" val="496555225"/>
                    </a:ext>
                  </a:extLst>
                </a:gridCol>
                <a:gridCol w="1598096">
                  <a:extLst>
                    <a:ext uri="{9D8B030D-6E8A-4147-A177-3AD203B41FA5}">
                      <a16:colId xmlns:a16="http://schemas.microsoft.com/office/drawing/2014/main" val="2271313782"/>
                    </a:ext>
                  </a:extLst>
                </a:gridCol>
                <a:gridCol w="1598096">
                  <a:extLst>
                    <a:ext uri="{9D8B030D-6E8A-4147-A177-3AD203B41FA5}">
                      <a16:colId xmlns:a16="http://schemas.microsoft.com/office/drawing/2014/main" val="4010561433"/>
                    </a:ext>
                  </a:extLst>
                </a:gridCol>
                <a:gridCol w="1598096">
                  <a:extLst>
                    <a:ext uri="{9D8B030D-6E8A-4147-A177-3AD203B41FA5}">
                      <a16:colId xmlns:a16="http://schemas.microsoft.com/office/drawing/2014/main" val="675470357"/>
                    </a:ext>
                  </a:extLst>
                </a:gridCol>
              </a:tblGrid>
              <a:tr h="466942">
                <a:tc>
                  <a:txBody>
                    <a:bodyPr/>
                    <a:lstStyle/>
                    <a:p>
                      <a:pPr>
                        <a:buNone/>
                      </a:pPr>
                      <a:r>
                        <a:rPr lang="en-US"/>
                        <a:t>File</a:t>
                      </a:r>
                    </a:p>
                  </a:txBody>
                  <a:tcPr anchor="ctr">
                    <a:lnL>
                      <a:noFill/>
                    </a:lnL>
                    <a:lnR>
                      <a:noFill/>
                    </a:lnR>
                    <a:lnT>
                      <a:noFill/>
                    </a:lnT>
                    <a:lnB>
                      <a:noFill/>
                    </a:lnB>
                    <a:noFill/>
                  </a:tcPr>
                </a:tc>
                <a:tc>
                  <a:txBody>
                    <a:bodyPr/>
                    <a:lstStyle/>
                    <a:p>
                      <a:pPr>
                        <a:buNone/>
                      </a:pPr>
                      <a:r>
                        <a:rPr lang="en-US"/>
                        <a:t>Statements</a:t>
                      </a:r>
                    </a:p>
                  </a:txBody>
                  <a:tcPr anchor="ctr">
                    <a:lnL>
                      <a:noFill/>
                    </a:lnL>
                    <a:lnR>
                      <a:noFill/>
                    </a:lnR>
                    <a:lnT>
                      <a:noFill/>
                    </a:lnT>
                    <a:lnB>
                      <a:noFill/>
                    </a:lnB>
                    <a:noFill/>
                  </a:tcPr>
                </a:tc>
                <a:tc>
                  <a:txBody>
                    <a:bodyPr/>
                    <a:lstStyle/>
                    <a:p>
                      <a:pPr>
                        <a:buNone/>
                      </a:pPr>
                      <a:r>
                        <a:rPr lang="en-US"/>
                        <a:t>Missed</a:t>
                      </a:r>
                    </a:p>
                  </a:txBody>
                  <a:tcPr anchor="ctr">
                    <a:lnL>
                      <a:noFill/>
                    </a:lnL>
                    <a:lnR>
                      <a:noFill/>
                    </a:lnR>
                    <a:lnT>
                      <a:noFill/>
                    </a:lnT>
                    <a:lnB>
                      <a:noFill/>
                    </a:lnB>
                    <a:noFill/>
                  </a:tcPr>
                </a:tc>
                <a:tc>
                  <a:txBody>
                    <a:bodyPr/>
                    <a:lstStyle/>
                    <a:p>
                      <a:pPr>
                        <a:buNone/>
                      </a:pPr>
                      <a:r>
                        <a:rPr lang="en-US"/>
                        <a:t>Coverage</a:t>
                      </a:r>
                    </a:p>
                  </a:txBody>
                  <a:tcPr anchor="ctr">
                    <a:lnL>
                      <a:noFill/>
                    </a:lnL>
                    <a:lnR>
                      <a:noFill/>
                    </a:lnR>
                    <a:lnT>
                      <a:noFill/>
                    </a:lnT>
                    <a:lnB>
                      <a:noFill/>
                    </a:lnB>
                    <a:noFill/>
                  </a:tcPr>
                </a:tc>
                <a:extLst>
                  <a:ext uri="{0D108BD9-81ED-4DB2-BD59-A6C34878D82A}">
                    <a16:rowId xmlns:a16="http://schemas.microsoft.com/office/drawing/2014/main" val="1780309604"/>
                  </a:ext>
                </a:extLst>
              </a:tr>
              <a:tr h="466942">
                <a:tc>
                  <a:txBody>
                    <a:bodyPr/>
                    <a:lstStyle/>
                    <a:p>
                      <a:pPr>
                        <a:buNone/>
                      </a:pPr>
                      <a:r>
                        <a:rPr lang="en-US" dirty="0"/>
                        <a:t>app/</a:t>
                      </a:r>
                      <a:r>
                        <a:rPr lang="en-US" b="1" dirty="0" err="1"/>
                        <a:t>init</a:t>
                      </a:r>
                      <a:r>
                        <a:rPr lang="en-US" dirty="0" err="1"/>
                        <a:t>.py</a:t>
                      </a:r>
                      <a:endParaRPr lang="en-US" dirty="0"/>
                    </a:p>
                  </a:txBody>
                  <a:tcPr anchor="ctr">
                    <a:lnL>
                      <a:noFill/>
                    </a:lnL>
                    <a:lnR>
                      <a:noFill/>
                    </a:lnR>
                    <a:lnT>
                      <a:noFill/>
                    </a:lnT>
                    <a:lnB>
                      <a:noFill/>
                    </a:lnB>
                    <a:noFill/>
                  </a:tcPr>
                </a:tc>
                <a:tc>
                  <a:txBody>
                    <a:bodyPr/>
                    <a:lstStyle/>
                    <a:p>
                      <a:pPr>
                        <a:buNone/>
                      </a:pPr>
                      <a:r>
                        <a:rPr lang="en-US"/>
                        <a:t>2</a:t>
                      </a:r>
                    </a:p>
                  </a:txBody>
                  <a:tcPr anchor="ctr">
                    <a:lnL>
                      <a:noFill/>
                    </a:lnL>
                    <a:lnR>
                      <a:noFill/>
                    </a:lnR>
                    <a:lnT>
                      <a:noFill/>
                    </a:lnT>
                    <a:lnB>
                      <a:noFill/>
                    </a:lnB>
                    <a:noFill/>
                  </a:tcPr>
                </a:tc>
                <a:tc>
                  <a:txBody>
                    <a:bodyPr/>
                    <a:lstStyle/>
                    <a:p>
                      <a:pPr>
                        <a:buNone/>
                      </a:pPr>
                      <a:r>
                        <a:rPr lang="en-US"/>
                        <a:t>0</a:t>
                      </a:r>
                    </a:p>
                  </a:txBody>
                  <a:tcPr anchor="ctr">
                    <a:lnL>
                      <a:noFill/>
                    </a:lnL>
                    <a:lnR>
                      <a:noFill/>
                    </a:lnR>
                    <a:lnT>
                      <a:noFill/>
                    </a:lnT>
                    <a:lnB>
                      <a:noFill/>
                    </a:lnB>
                    <a:noFill/>
                  </a:tcPr>
                </a:tc>
                <a:tc>
                  <a:txBody>
                    <a:bodyPr/>
                    <a:lstStyle/>
                    <a:p>
                      <a:pPr>
                        <a:buNone/>
                      </a:pPr>
                      <a:r>
                        <a:rPr lang="en-US" dirty="0"/>
                        <a:t>100%</a:t>
                      </a:r>
                    </a:p>
                  </a:txBody>
                  <a:tcPr anchor="ctr">
                    <a:lnL>
                      <a:noFill/>
                    </a:lnL>
                    <a:lnR>
                      <a:noFill/>
                    </a:lnR>
                    <a:lnT>
                      <a:noFill/>
                    </a:lnT>
                    <a:lnB>
                      <a:noFill/>
                    </a:lnB>
                    <a:noFill/>
                  </a:tcPr>
                </a:tc>
                <a:extLst>
                  <a:ext uri="{0D108BD9-81ED-4DB2-BD59-A6C34878D82A}">
                    <a16:rowId xmlns:a16="http://schemas.microsoft.com/office/drawing/2014/main" val="899419875"/>
                  </a:ext>
                </a:extLst>
              </a:tr>
              <a:tr h="817149">
                <a:tc>
                  <a:txBody>
                    <a:bodyPr/>
                    <a:lstStyle/>
                    <a:p>
                      <a:pPr>
                        <a:buNone/>
                      </a:pPr>
                      <a:r>
                        <a:rPr lang="en-US" dirty="0"/>
                        <a:t>app/</a:t>
                      </a:r>
                      <a:r>
                        <a:rPr lang="en-US" dirty="0" err="1"/>
                        <a:t>models.py</a:t>
                      </a:r>
                      <a:endParaRPr lang="en-US" dirty="0"/>
                    </a:p>
                  </a:txBody>
                  <a:tcPr anchor="ctr">
                    <a:lnL>
                      <a:noFill/>
                    </a:lnL>
                    <a:lnR>
                      <a:noFill/>
                    </a:lnR>
                    <a:lnT>
                      <a:noFill/>
                    </a:lnT>
                    <a:lnB>
                      <a:noFill/>
                    </a:lnB>
                    <a:noFill/>
                  </a:tcPr>
                </a:tc>
                <a:tc>
                  <a:txBody>
                    <a:bodyPr/>
                    <a:lstStyle/>
                    <a:p>
                      <a:pPr>
                        <a:buNone/>
                      </a:pPr>
                      <a:r>
                        <a:rPr lang="en-US"/>
                        <a:t>58</a:t>
                      </a:r>
                    </a:p>
                  </a:txBody>
                  <a:tcPr anchor="ctr">
                    <a:lnL>
                      <a:noFill/>
                    </a:lnL>
                    <a:lnR>
                      <a:noFill/>
                    </a:lnR>
                    <a:lnT>
                      <a:noFill/>
                    </a:lnT>
                    <a:lnB>
                      <a:noFill/>
                    </a:lnB>
                    <a:noFill/>
                  </a:tcPr>
                </a:tc>
                <a:tc>
                  <a:txBody>
                    <a:bodyPr/>
                    <a:lstStyle/>
                    <a:p>
                      <a:pPr>
                        <a:buNone/>
                      </a:pPr>
                      <a:r>
                        <a:rPr lang="en-US" dirty="0"/>
                        <a:t>5</a:t>
                      </a:r>
                    </a:p>
                  </a:txBody>
                  <a:tcPr anchor="ctr">
                    <a:lnL>
                      <a:noFill/>
                    </a:lnL>
                    <a:lnR>
                      <a:noFill/>
                    </a:lnR>
                    <a:lnT>
                      <a:noFill/>
                    </a:lnT>
                    <a:lnB>
                      <a:noFill/>
                    </a:lnB>
                    <a:noFill/>
                  </a:tcPr>
                </a:tc>
                <a:tc>
                  <a:txBody>
                    <a:bodyPr/>
                    <a:lstStyle/>
                    <a:p>
                      <a:pPr>
                        <a:buNone/>
                      </a:pPr>
                      <a:r>
                        <a:rPr lang="en-US"/>
                        <a:t>91%</a:t>
                      </a:r>
                    </a:p>
                  </a:txBody>
                  <a:tcPr anchor="ctr">
                    <a:lnL>
                      <a:noFill/>
                    </a:lnL>
                    <a:lnR>
                      <a:noFill/>
                    </a:lnR>
                    <a:lnT>
                      <a:noFill/>
                    </a:lnT>
                    <a:lnB>
                      <a:noFill/>
                    </a:lnB>
                    <a:noFill/>
                  </a:tcPr>
                </a:tc>
                <a:extLst>
                  <a:ext uri="{0D108BD9-81ED-4DB2-BD59-A6C34878D82A}">
                    <a16:rowId xmlns:a16="http://schemas.microsoft.com/office/drawing/2014/main" val="391620282"/>
                  </a:ext>
                </a:extLst>
              </a:tr>
              <a:tr h="466942">
                <a:tc>
                  <a:txBody>
                    <a:bodyPr/>
                    <a:lstStyle/>
                    <a:p>
                      <a:pPr>
                        <a:buNone/>
                      </a:pPr>
                      <a:r>
                        <a:rPr lang="en-US"/>
                        <a:t>app/views.py</a:t>
                      </a:r>
                    </a:p>
                  </a:txBody>
                  <a:tcPr anchor="ctr">
                    <a:lnL>
                      <a:noFill/>
                    </a:lnL>
                    <a:lnR>
                      <a:noFill/>
                    </a:lnR>
                    <a:lnT>
                      <a:noFill/>
                    </a:lnT>
                    <a:lnB>
                      <a:noFill/>
                    </a:lnB>
                    <a:noFill/>
                  </a:tcPr>
                </a:tc>
                <a:tc>
                  <a:txBody>
                    <a:bodyPr/>
                    <a:lstStyle/>
                    <a:p>
                      <a:pPr>
                        <a:buNone/>
                      </a:pPr>
                      <a:r>
                        <a:rPr lang="en-US"/>
                        <a:t>80</a:t>
                      </a:r>
                    </a:p>
                  </a:txBody>
                  <a:tcPr anchor="ctr">
                    <a:lnL>
                      <a:noFill/>
                    </a:lnL>
                    <a:lnR>
                      <a:noFill/>
                    </a:lnR>
                    <a:lnT>
                      <a:noFill/>
                    </a:lnT>
                    <a:lnB>
                      <a:noFill/>
                    </a:lnB>
                    <a:noFill/>
                  </a:tcPr>
                </a:tc>
                <a:tc>
                  <a:txBody>
                    <a:bodyPr/>
                    <a:lstStyle/>
                    <a:p>
                      <a:pPr>
                        <a:buNone/>
                      </a:pPr>
                      <a:r>
                        <a:rPr lang="en-US"/>
                        <a:t>12</a:t>
                      </a:r>
                    </a:p>
                  </a:txBody>
                  <a:tcPr anchor="ctr">
                    <a:lnL>
                      <a:noFill/>
                    </a:lnL>
                    <a:lnR>
                      <a:noFill/>
                    </a:lnR>
                    <a:lnT>
                      <a:noFill/>
                    </a:lnT>
                    <a:lnB>
                      <a:noFill/>
                    </a:lnB>
                    <a:noFill/>
                  </a:tcPr>
                </a:tc>
                <a:tc>
                  <a:txBody>
                    <a:bodyPr/>
                    <a:lstStyle/>
                    <a:p>
                      <a:pPr>
                        <a:buNone/>
                      </a:pPr>
                      <a:r>
                        <a:rPr lang="en-US"/>
                        <a:t>85%</a:t>
                      </a:r>
                    </a:p>
                  </a:txBody>
                  <a:tcPr anchor="ctr">
                    <a:lnL>
                      <a:noFill/>
                    </a:lnL>
                    <a:lnR>
                      <a:noFill/>
                    </a:lnR>
                    <a:lnT>
                      <a:noFill/>
                    </a:lnT>
                    <a:lnB>
                      <a:noFill/>
                    </a:lnB>
                    <a:noFill/>
                  </a:tcPr>
                </a:tc>
                <a:extLst>
                  <a:ext uri="{0D108BD9-81ED-4DB2-BD59-A6C34878D82A}">
                    <a16:rowId xmlns:a16="http://schemas.microsoft.com/office/drawing/2014/main" val="2168234130"/>
                  </a:ext>
                </a:extLst>
              </a:tr>
              <a:tr h="817149">
                <a:tc>
                  <a:txBody>
                    <a:bodyPr/>
                    <a:lstStyle/>
                    <a:p>
                      <a:pPr>
                        <a:buNone/>
                      </a:pPr>
                      <a:r>
                        <a:rPr lang="en-US"/>
                        <a:t>app/utils/helpers.py</a:t>
                      </a:r>
                    </a:p>
                  </a:txBody>
                  <a:tcPr anchor="ctr">
                    <a:lnL>
                      <a:noFill/>
                    </a:lnL>
                    <a:lnR>
                      <a:noFill/>
                    </a:lnR>
                    <a:lnT>
                      <a:noFill/>
                    </a:lnT>
                    <a:lnB>
                      <a:noFill/>
                    </a:lnB>
                    <a:noFill/>
                  </a:tcPr>
                </a:tc>
                <a:tc>
                  <a:txBody>
                    <a:bodyPr/>
                    <a:lstStyle/>
                    <a:p>
                      <a:pPr>
                        <a:buNone/>
                      </a:pPr>
                      <a:r>
                        <a:rPr lang="en-US"/>
                        <a:t>40</a:t>
                      </a:r>
                    </a:p>
                  </a:txBody>
                  <a:tcPr anchor="ctr">
                    <a:lnL>
                      <a:noFill/>
                    </a:lnL>
                    <a:lnR>
                      <a:noFill/>
                    </a:lnR>
                    <a:lnT>
                      <a:noFill/>
                    </a:lnT>
                    <a:lnB>
                      <a:noFill/>
                    </a:lnB>
                    <a:noFill/>
                  </a:tcPr>
                </a:tc>
                <a:tc>
                  <a:txBody>
                    <a:bodyPr/>
                    <a:lstStyle/>
                    <a:p>
                      <a:pPr>
                        <a:buNone/>
                      </a:pPr>
                      <a:r>
                        <a:rPr lang="en-US"/>
                        <a:t>0</a:t>
                      </a:r>
                    </a:p>
                  </a:txBody>
                  <a:tcPr anchor="ctr">
                    <a:lnL>
                      <a:noFill/>
                    </a:lnL>
                    <a:lnR>
                      <a:noFill/>
                    </a:lnR>
                    <a:lnT>
                      <a:noFill/>
                    </a:lnT>
                    <a:lnB>
                      <a:noFill/>
                    </a:lnB>
                    <a:noFill/>
                  </a:tcPr>
                </a:tc>
                <a:tc>
                  <a:txBody>
                    <a:bodyPr/>
                    <a:lstStyle/>
                    <a:p>
                      <a:pPr>
                        <a:buNone/>
                      </a:pPr>
                      <a:r>
                        <a:rPr lang="en-US"/>
                        <a:t>100%</a:t>
                      </a:r>
                    </a:p>
                  </a:txBody>
                  <a:tcPr anchor="ctr">
                    <a:lnL>
                      <a:noFill/>
                    </a:lnL>
                    <a:lnR>
                      <a:noFill/>
                    </a:lnR>
                    <a:lnT>
                      <a:noFill/>
                    </a:lnT>
                    <a:lnB>
                      <a:noFill/>
                    </a:lnB>
                    <a:noFill/>
                  </a:tcPr>
                </a:tc>
                <a:extLst>
                  <a:ext uri="{0D108BD9-81ED-4DB2-BD59-A6C34878D82A}">
                    <a16:rowId xmlns:a16="http://schemas.microsoft.com/office/drawing/2014/main" val="518402636"/>
                  </a:ext>
                </a:extLst>
              </a:tr>
              <a:tr h="466942">
                <a:tc>
                  <a:txBody>
                    <a:bodyPr/>
                    <a:lstStyle/>
                    <a:p>
                      <a:pPr>
                        <a:buNone/>
                      </a:pPr>
                      <a:r>
                        <a:rPr lang="en-US" b="1"/>
                        <a:t>TOTAL</a:t>
                      </a:r>
                      <a:endParaRPr lang="en-US"/>
                    </a:p>
                  </a:txBody>
                  <a:tcPr anchor="ctr">
                    <a:lnL>
                      <a:noFill/>
                    </a:lnL>
                    <a:lnR>
                      <a:noFill/>
                    </a:lnR>
                    <a:lnT>
                      <a:noFill/>
                    </a:lnT>
                    <a:lnB>
                      <a:noFill/>
                    </a:lnB>
                    <a:noFill/>
                  </a:tcPr>
                </a:tc>
                <a:tc>
                  <a:txBody>
                    <a:bodyPr/>
                    <a:lstStyle/>
                    <a:p>
                      <a:pPr>
                        <a:buNone/>
                      </a:pPr>
                      <a:r>
                        <a:rPr lang="en-US" b="1"/>
                        <a:t>180</a:t>
                      </a:r>
                      <a:endParaRPr lang="en-US"/>
                    </a:p>
                  </a:txBody>
                  <a:tcPr anchor="ctr">
                    <a:lnL>
                      <a:noFill/>
                    </a:lnL>
                    <a:lnR>
                      <a:noFill/>
                    </a:lnR>
                    <a:lnT>
                      <a:noFill/>
                    </a:lnT>
                    <a:lnB>
                      <a:noFill/>
                    </a:lnB>
                    <a:noFill/>
                  </a:tcPr>
                </a:tc>
                <a:tc>
                  <a:txBody>
                    <a:bodyPr/>
                    <a:lstStyle/>
                    <a:p>
                      <a:pPr>
                        <a:buNone/>
                      </a:pPr>
                      <a:r>
                        <a:rPr lang="en-US" b="1"/>
                        <a:t>17</a:t>
                      </a:r>
                      <a:endParaRPr lang="en-US"/>
                    </a:p>
                  </a:txBody>
                  <a:tcPr anchor="ctr">
                    <a:lnL>
                      <a:noFill/>
                    </a:lnL>
                    <a:lnR>
                      <a:noFill/>
                    </a:lnR>
                    <a:lnT>
                      <a:noFill/>
                    </a:lnT>
                    <a:lnB>
                      <a:noFill/>
                    </a:lnB>
                    <a:noFill/>
                  </a:tcPr>
                </a:tc>
                <a:tc>
                  <a:txBody>
                    <a:bodyPr/>
                    <a:lstStyle/>
                    <a:p>
                      <a:pPr>
                        <a:buNone/>
                      </a:pPr>
                      <a:r>
                        <a:rPr lang="en-US" b="1" dirty="0"/>
                        <a:t>91%</a:t>
                      </a:r>
                      <a:endParaRPr lang="en-US" dirty="0"/>
                    </a:p>
                  </a:txBody>
                  <a:tcPr anchor="ctr">
                    <a:lnL>
                      <a:noFill/>
                    </a:lnL>
                    <a:lnR>
                      <a:noFill/>
                    </a:lnR>
                    <a:lnT>
                      <a:noFill/>
                    </a:lnT>
                    <a:lnB>
                      <a:noFill/>
                    </a:lnB>
                    <a:noFill/>
                  </a:tcPr>
                </a:tc>
                <a:extLst>
                  <a:ext uri="{0D108BD9-81ED-4DB2-BD59-A6C34878D82A}">
                    <a16:rowId xmlns:a16="http://schemas.microsoft.com/office/drawing/2014/main" val="738798338"/>
                  </a:ext>
                </a:extLst>
              </a:tr>
            </a:tbl>
          </a:graphicData>
        </a:graphic>
      </p:graphicFrame>
    </p:spTree>
    <p:extLst>
      <p:ext uri="{BB962C8B-B14F-4D97-AF65-F5344CB8AC3E}">
        <p14:creationId xmlns:p14="http://schemas.microsoft.com/office/powerpoint/2010/main" val="4536522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5B8B534-908C-6B23-95A3-16B3F5EBAE29}"/>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0CCA45B-331A-ADE3-7A8C-B7D9FB063D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6" name="Group 11">
            <a:extLst>
              <a:ext uri="{FF2B5EF4-FFF2-40B4-BE49-F238E27FC236}">
                <a16:creationId xmlns:a16="http://schemas.microsoft.com/office/drawing/2014/main" id="{0A323E29-34D2-5B6D-09F0-9892D7AE886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18" name="Rectangle 12">
              <a:extLst>
                <a:ext uri="{FF2B5EF4-FFF2-40B4-BE49-F238E27FC236}">
                  <a16:creationId xmlns:a16="http://schemas.microsoft.com/office/drawing/2014/main" id="{45E7A30F-1921-6259-E01B-A285FE269F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E48DBFC4-CAB8-30D9-D5D7-A4814DDAC4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70CDA3F6-F0BF-3B50-3BEA-1785C3B6EF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7" name="Rectangle 16">
            <a:extLst>
              <a:ext uri="{FF2B5EF4-FFF2-40B4-BE49-F238E27FC236}">
                <a16:creationId xmlns:a16="http://schemas.microsoft.com/office/drawing/2014/main" id="{5F9F66EC-C77F-D0CD-2E04-BA6CF0EA07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67266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11041AE-040E-B9DD-FDEA-7AF590D9DE1F}"/>
              </a:ext>
            </a:extLst>
          </p:cNvPr>
          <p:cNvSpPr>
            <a:spLocks noGrp="1"/>
          </p:cNvSpPr>
          <p:nvPr>
            <p:ph type="title"/>
          </p:nvPr>
        </p:nvSpPr>
        <p:spPr>
          <a:xfrm>
            <a:off x="1043631" y="873940"/>
            <a:ext cx="5052369" cy="1035781"/>
          </a:xfrm>
        </p:spPr>
        <p:txBody>
          <a:bodyPr anchor="ctr">
            <a:normAutofit/>
          </a:bodyPr>
          <a:lstStyle/>
          <a:p>
            <a:r>
              <a:rPr lang="en-US" sz="3600" dirty="0"/>
              <a:t>Code Coverage Tools</a:t>
            </a:r>
          </a:p>
        </p:txBody>
      </p:sp>
      <p:sp>
        <p:nvSpPr>
          <p:cNvPr id="19" name="Rectangle 18">
            <a:extLst>
              <a:ext uri="{FF2B5EF4-FFF2-40B4-BE49-F238E27FC236}">
                <a16:creationId xmlns:a16="http://schemas.microsoft.com/office/drawing/2014/main" id="{6701A990-3D4B-6C2B-2D4F-54B6B6FB5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16299" y="608401"/>
            <a:ext cx="4637502" cy="559344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1" name="Straight Connector 20">
            <a:extLst>
              <a:ext uri="{FF2B5EF4-FFF2-40B4-BE49-F238E27FC236}">
                <a16:creationId xmlns:a16="http://schemas.microsoft.com/office/drawing/2014/main" id="{8530270D-D72A-6554-CFE0-A8BC3925C77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2A534A92-FAF2-C19B-AB77-E0E01CE554A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02611B-C7D4-401B-B615-A1AB963424CC}"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FAB6E941-DA8D-2C08-07C3-8A39BF0D7A43}"/>
              </a:ext>
            </a:extLst>
          </p:cNvPr>
          <p:cNvSpPr txBox="1"/>
          <p:nvPr/>
        </p:nvSpPr>
        <p:spPr>
          <a:xfrm>
            <a:off x="6564900" y="1204749"/>
            <a:ext cx="4844982" cy="433965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Java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Depends on your build tools.  Good support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fo</a:t>
            </a:r>
            <a:r>
              <a:rPr lang="en-US" dirty="0">
                <a:solidFill>
                  <a:prstClr val="black"/>
                </a:solidFill>
                <a:latin typeface="Calibri" panose="020F0502020204030204"/>
              </a:rPr>
              <a:t>r Maven and Gradle.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a:defRPr/>
            </a:pPr>
            <a:r>
              <a:rPr lang="en-US" dirty="0"/>
              <a:t>https://</a:t>
            </a:r>
            <a:r>
              <a:rPr lang="en-US" dirty="0" err="1"/>
              <a:t>maven.apache.org</a:t>
            </a:r>
            <a:r>
              <a:rPr lang="en-US" dirty="0"/>
              <a:t>/</a:t>
            </a:r>
            <a:r>
              <a:rPr lang="en-US" dirty="0" err="1"/>
              <a:t>download.cgi</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prstClr val="black"/>
                </a:solidFill>
                <a:latin typeface="Calibri" panose="020F0502020204030204"/>
              </a:rPr>
              <a:t>In your project configuration file (</a:t>
            </a:r>
            <a:r>
              <a:rPr lang="en-US" dirty="0" err="1">
                <a:solidFill>
                  <a:prstClr val="black"/>
                </a:solidFill>
                <a:latin typeface="Calibri" panose="020F0502020204030204"/>
              </a:rPr>
              <a:t>pom.xml</a:t>
            </a:r>
            <a:r>
              <a:rPr lang="en-US" dirty="0">
                <a:solidFill>
                  <a:prstClr val="black"/>
                </a:solidFill>
                <a:latin typeface="Calibri" panose="020F0502020204030204"/>
              </a:rPr>
              <a:t>) add the </a:t>
            </a:r>
            <a:r>
              <a:rPr lang="en-US" dirty="0" err="1">
                <a:solidFill>
                  <a:prstClr val="black"/>
                </a:solidFill>
                <a:latin typeface="Calibri" panose="020F0502020204030204"/>
              </a:rPr>
              <a:t>JaCoCo</a:t>
            </a:r>
            <a:r>
              <a:rPr lang="en-US" dirty="0">
                <a:solidFill>
                  <a:prstClr val="black"/>
                </a:solidFill>
                <a:latin typeface="Calibri" panose="020F0502020204030204"/>
              </a:rPr>
              <a:t> plugin dependency.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prstClr val="black"/>
                </a:solidFill>
                <a:latin typeface="Calibri" panose="020F0502020204030204"/>
              </a:rPr>
              <a:t>Then run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prstClr val="black"/>
              </a:solidFill>
              <a:latin typeface="Calibri" panose="020F0502020204030204"/>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i="1" dirty="0" err="1">
                <a:solidFill>
                  <a:prstClr val="black"/>
                </a:solidFill>
                <a:latin typeface="Calibri" panose="020F0502020204030204"/>
              </a:rPr>
              <a:t>mvn</a:t>
            </a:r>
            <a:r>
              <a:rPr lang="en-US" i="1" dirty="0">
                <a:solidFill>
                  <a:prstClr val="black"/>
                </a:solidFill>
                <a:latin typeface="Calibri" panose="020F0502020204030204"/>
              </a:rPr>
              <a:t> clean test </a:t>
            </a:r>
            <a:r>
              <a:rPr lang="en-US" dirty="0">
                <a:solidFill>
                  <a:prstClr val="black"/>
                </a:solidFill>
                <a:latin typeface="Calibri" panose="020F0502020204030204"/>
              </a:rPr>
              <a:t>to run all tests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i="1" dirty="0">
                <a:solidFill>
                  <a:prstClr val="black"/>
                </a:solidFill>
                <a:latin typeface="Calibri" panose="020F0502020204030204"/>
              </a:rPr>
              <a:t>m</a:t>
            </a:r>
            <a:r>
              <a:rPr kumimoji="0" lang="en-US" sz="1800" b="0" i="1" u="none" strike="noStrike" kern="1200" cap="none" spc="0" normalizeH="0" baseline="0" noProof="0" dirty="0" err="1">
                <a:ln>
                  <a:noFill/>
                </a:ln>
                <a:solidFill>
                  <a:prstClr val="black"/>
                </a:solidFill>
                <a:effectLst/>
                <a:uLnTx/>
                <a:uFillTx/>
                <a:latin typeface="Calibri" panose="020F0502020204030204"/>
                <a:ea typeface="+mn-ea"/>
                <a:cs typeface="+mn-cs"/>
              </a:rPr>
              <a:t>vn</a:t>
            </a:r>
            <a:r>
              <a:rPr kumimoji="0" lang="en-US" sz="1800" b="0" i="1" u="none" strike="noStrike" kern="1200" cap="none" spc="0" normalizeH="0" baseline="0" noProof="0" dirty="0">
                <a:ln>
                  <a:noFill/>
                </a:ln>
                <a:solidFill>
                  <a:prstClr val="black"/>
                </a:solidFill>
                <a:effectLst/>
                <a:uLnTx/>
                <a:uFillTx/>
                <a:latin typeface="Calibri" panose="020F0502020204030204"/>
                <a:ea typeface="+mn-ea"/>
                <a:cs typeface="+mn-cs"/>
              </a:rPr>
              <a:t> verify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to generate the report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prstClr val="black"/>
                </a:solidFill>
                <a:latin typeface="Calibri" panose="020F0502020204030204"/>
              </a:rPr>
              <a:t>Assumes tests written in the JUnit framework.</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03656D1F-864B-FDBE-EF1A-D0DCD4143402}"/>
              </a:ext>
            </a:extLst>
          </p:cNvPr>
          <p:cNvSpPr txBox="1"/>
          <p:nvPr/>
        </p:nvSpPr>
        <p:spPr>
          <a:xfrm>
            <a:off x="535670" y="2176978"/>
            <a:ext cx="6096000" cy="2462213"/>
          </a:xfrm>
          <a:prstGeom prst="rect">
            <a:avLst/>
          </a:prstGeom>
          <a:noFill/>
        </p:spPr>
        <p:txBody>
          <a:bodyPr wrap="square">
            <a:spAutoFit/>
          </a:bodyPr>
          <a:lstStyle/>
          <a:p>
            <a:r>
              <a:rPr lang="en-US" sz="1400" dirty="0" err="1"/>
              <a:t>JaCoCo</a:t>
            </a:r>
            <a:r>
              <a:rPr lang="en-US" sz="1400" dirty="0"/>
              <a:t> Coverage Report</a:t>
            </a:r>
          </a:p>
          <a:p>
            <a:r>
              <a:rPr lang="en-US" sz="1400" dirty="0"/>
              <a:t>Session: </a:t>
            </a:r>
            <a:r>
              <a:rPr lang="en-US" sz="1400" dirty="0" err="1"/>
              <a:t>TestSession</a:t>
            </a:r>
            <a:endParaRPr lang="en-US" sz="1400" dirty="0"/>
          </a:p>
          <a:p>
            <a:r>
              <a:rPr lang="en-US" sz="1400" dirty="0"/>
              <a:t>Date: 2025-08-19 14:25:30</a:t>
            </a:r>
          </a:p>
          <a:p>
            <a:endParaRPr lang="en-US" sz="1400" dirty="0"/>
          </a:p>
          <a:p>
            <a:r>
              <a:rPr lang="en-US" sz="1400" dirty="0"/>
              <a:t>Element       Missed Instructions  </a:t>
            </a:r>
            <a:r>
              <a:rPr lang="en-US" sz="1400" dirty="0" err="1"/>
              <a:t>Cov</a:t>
            </a:r>
            <a:r>
              <a:rPr lang="en-US" sz="1400" dirty="0"/>
              <a:t>.   Missed Branches  </a:t>
            </a:r>
            <a:r>
              <a:rPr lang="en-US" sz="1400" dirty="0" err="1"/>
              <a:t>Cov</a:t>
            </a:r>
            <a:r>
              <a:rPr lang="en-US" sz="1400" dirty="0"/>
              <a:t>.   Complexity  Lines</a:t>
            </a:r>
          </a:p>
          <a:p>
            <a:r>
              <a:rPr lang="en-US" sz="1400" dirty="0"/>
              <a:t>----------------------------------------------------------------------------------</a:t>
            </a:r>
          </a:p>
          <a:p>
            <a:r>
              <a:rPr lang="en-US" sz="1400" dirty="0"/>
              <a:t>All classes                                 245   78%                  58             72%          1.7   80%</a:t>
            </a:r>
          </a:p>
          <a:p>
            <a:r>
              <a:rPr lang="en-US" sz="1400" dirty="0" err="1"/>
              <a:t>com.example.app.model</a:t>
            </a:r>
            <a:r>
              <a:rPr lang="en-US" sz="1400" dirty="0"/>
              <a:t>        12   95%                   0           100%          1.0   97%</a:t>
            </a:r>
          </a:p>
          <a:p>
            <a:r>
              <a:rPr lang="en-US" sz="1400" dirty="0" err="1"/>
              <a:t>com.example.app.service</a:t>
            </a:r>
            <a:r>
              <a:rPr lang="en-US" sz="1400" dirty="0"/>
              <a:t>       85   70%                  25             65%          2.3   74%</a:t>
            </a:r>
          </a:p>
          <a:p>
            <a:r>
              <a:rPr lang="en-US" sz="1400" dirty="0" err="1"/>
              <a:t>com.example.app.controller</a:t>
            </a:r>
            <a:r>
              <a:rPr lang="en-US" sz="1400" dirty="0"/>
              <a:t>  148  65%                 33             60%          3.1   68%</a:t>
            </a:r>
          </a:p>
          <a:p>
            <a:r>
              <a:rPr lang="en-US" sz="1400" dirty="0"/>
              <a:t>----------------------------------------------------------------------------------</a:t>
            </a:r>
          </a:p>
        </p:txBody>
      </p:sp>
    </p:spTree>
    <p:extLst>
      <p:ext uri="{BB962C8B-B14F-4D97-AF65-F5344CB8AC3E}">
        <p14:creationId xmlns:p14="http://schemas.microsoft.com/office/powerpoint/2010/main" val="112007853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E13FFC8-847F-02E9-E92B-1DA0644232F7}"/>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CDCA60B-3952-926B-5554-1ED9968112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6" name="Group 11">
            <a:extLst>
              <a:ext uri="{FF2B5EF4-FFF2-40B4-BE49-F238E27FC236}">
                <a16:creationId xmlns:a16="http://schemas.microsoft.com/office/drawing/2014/main" id="{7D61CCA1-E1EF-B78D-43EE-C5CC9B151F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18" name="Rectangle 12">
              <a:extLst>
                <a:ext uri="{FF2B5EF4-FFF2-40B4-BE49-F238E27FC236}">
                  <a16:creationId xmlns:a16="http://schemas.microsoft.com/office/drawing/2014/main" id="{744A16FB-CCC1-19C6-F11A-490380C3BC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EE3E6C45-85F8-C912-EADE-A6F8785657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17B2AA68-80F5-2484-9165-1F812C2213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7" name="Rectangle 16">
            <a:extLst>
              <a:ext uri="{FF2B5EF4-FFF2-40B4-BE49-F238E27FC236}">
                <a16:creationId xmlns:a16="http://schemas.microsoft.com/office/drawing/2014/main" id="{91AF4B74-0E7C-D8B3-284B-C0E9F0D468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67266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454C35A-B08F-1BC7-23C9-35211AAB17A8}"/>
              </a:ext>
            </a:extLst>
          </p:cNvPr>
          <p:cNvSpPr>
            <a:spLocks noGrp="1"/>
          </p:cNvSpPr>
          <p:nvPr>
            <p:ph type="title"/>
          </p:nvPr>
        </p:nvSpPr>
        <p:spPr>
          <a:xfrm>
            <a:off x="1043631" y="873940"/>
            <a:ext cx="5052369" cy="1035781"/>
          </a:xfrm>
        </p:spPr>
        <p:txBody>
          <a:bodyPr anchor="ctr">
            <a:normAutofit/>
          </a:bodyPr>
          <a:lstStyle/>
          <a:p>
            <a:r>
              <a:rPr lang="en-US" sz="3600" dirty="0"/>
              <a:t>Knowledge Check</a:t>
            </a:r>
          </a:p>
        </p:txBody>
      </p:sp>
      <p:sp>
        <p:nvSpPr>
          <p:cNvPr id="19" name="Rectangle 18">
            <a:extLst>
              <a:ext uri="{FF2B5EF4-FFF2-40B4-BE49-F238E27FC236}">
                <a16:creationId xmlns:a16="http://schemas.microsoft.com/office/drawing/2014/main" id="{1E407C65-9CF1-DAE8-2649-D997EF00D7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16299" y="608401"/>
            <a:ext cx="4637502" cy="559344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FB76B911-42F6-6B71-F299-45A8C32D2B15}"/>
              </a:ext>
            </a:extLst>
          </p:cNvPr>
          <p:cNvPicPr>
            <a:picLocks noChangeAspect="1"/>
          </p:cNvPicPr>
          <p:nvPr/>
        </p:nvPicPr>
        <p:blipFill>
          <a:blip r:embed="rId2"/>
          <a:stretch>
            <a:fillRect/>
          </a:stretch>
        </p:blipFill>
        <p:spPr>
          <a:xfrm>
            <a:off x="7559727" y="901032"/>
            <a:ext cx="2964783" cy="5116220"/>
          </a:xfrm>
          <a:prstGeom prst="rect">
            <a:avLst/>
          </a:prstGeom>
        </p:spPr>
      </p:pic>
      <p:cxnSp>
        <p:nvCxnSpPr>
          <p:cNvPr id="21" name="Straight Connector 20">
            <a:extLst>
              <a:ext uri="{FF2B5EF4-FFF2-40B4-BE49-F238E27FC236}">
                <a16:creationId xmlns:a16="http://schemas.microsoft.com/office/drawing/2014/main" id="{A3262768-FF75-A963-4E96-F607665D977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2BB057AA-221F-F3F3-AB17-9CCC4404AE45}"/>
              </a:ext>
            </a:extLst>
          </p:cNvPr>
          <p:cNvSpPr txBox="1"/>
          <p:nvPr/>
        </p:nvSpPr>
        <p:spPr>
          <a:xfrm>
            <a:off x="360506" y="2799158"/>
            <a:ext cx="5995287" cy="29546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In the control flow graph shown, A, B, C, D and J are computation nodes that do not affect the value of variable x.</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If there is no limit to the number of test case, how many different feasible execution paths can be tested?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lide Number Placeholder 2">
            <a:extLst>
              <a:ext uri="{FF2B5EF4-FFF2-40B4-BE49-F238E27FC236}">
                <a16:creationId xmlns:a16="http://schemas.microsoft.com/office/drawing/2014/main" id="{78A40F40-9383-A319-9D4F-2DABB16DA08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02611B-C7D4-401B-B615-A1AB963424CC}"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0137429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E45FF92-D20A-B48A-3E9E-42FF52CA32B3}"/>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EB4ADF8-A70E-F0AE-E478-57BD026340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6" name="Group 11">
            <a:extLst>
              <a:ext uri="{FF2B5EF4-FFF2-40B4-BE49-F238E27FC236}">
                <a16:creationId xmlns:a16="http://schemas.microsoft.com/office/drawing/2014/main" id="{42969A15-C67E-088A-A9FF-F27AFCAD95A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18" name="Rectangle 12">
              <a:extLst>
                <a:ext uri="{FF2B5EF4-FFF2-40B4-BE49-F238E27FC236}">
                  <a16:creationId xmlns:a16="http://schemas.microsoft.com/office/drawing/2014/main" id="{D5E21178-60BE-C02D-9E66-3BD9CF39E1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D81E60B0-1F11-44CF-A018-44CAFD94F4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DB468B56-0AB5-E480-EA19-BF34A08AE2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7" name="Rectangle 16">
            <a:extLst>
              <a:ext uri="{FF2B5EF4-FFF2-40B4-BE49-F238E27FC236}">
                <a16:creationId xmlns:a16="http://schemas.microsoft.com/office/drawing/2014/main" id="{9C5955FA-0106-4301-A63B-91D5DD775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67266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6BC26C0-6156-D1EC-8E80-F8C4E220E0F7}"/>
              </a:ext>
            </a:extLst>
          </p:cNvPr>
          <p:cNvSpPr>
            <a:spLocks noGrp="1"/>
          </p:cNvSpPr>
          <p:nvPr>
            <p:ph type="title"/>
          </p:nvPr>
        </p:nvSpPr>
        <p:spPr>
          <a:xfrm>
            <a:off x="1043631" y="873940"/>
            <a:ext cx="5052369" cy="1035781"/>
          </a:xfrm>
        </p:spPr>
        <p:txBody>
          <a:bodyPr anchor="ctr">
            <a:normAutofit/>
          </a:bodyPr>
          <a:lstStyle/>
          <a:p>
            <a:r>
              <a:rPr lang="en-US" sz="3600" dirty="0"/>
              <a:t>Knowledge Check</a:t>
            </a:r>
          </a:p>
        </p:txBody>
      </p:sp>
      <p:sp>
        <p:nvSpPr>
          <p:cNvPr id="19" name="Rectangle 18">
            <a:extLst>
              <a:ext uri="{FF2B5EF4-FFF2-40B4-BE49-F238E27FC236}">
                <a16:creationId xmlns:a16="http://schemas.microsoft.com/office/drawing/2014/main" id="{1F6EF68D-C8D3-EB77-A5B8-A6753FD984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16299" y="608401"/>
            <a:ext cx="4637502" cy="559344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F7DFAF27-7B1F-D942-3A3C-64AA84D5C84D}"/>
              </a:ext>
            </a:extLst>
          </p:cNvPr>
          <p:cNvPicPr>
            <a:picLocks noChangeAspect="1"/>
          </p:cNvPicPr>
          <p:nvPr/>
        </p:nvPicPr>
        <p:blipFill>
          <a:blip r:embed="rId2"/>
          <a:stretch>
            <a:fillRect/>
          </a:stretch>
        </p:blipFill>
        <p:spPr>
          <a:xfrm>
            <a:off x="7559727" y="901032"/>
            <a:ext cx="2964783" cy="5116220"/>
          </a:xfrm>
          <a:prstGeom prst="rect">
            <a:avLst/>
          </a:prstGeom>
        </p:spPr>
      </p:pic>
      <p:cxnSp>
        <p:nvCxnSpPr>
          <p:cNvPr id="21" name="Straight Connector 20">
            <a:extLst>
              <a:ext uri="{FF2B5EF4-FFF2-40B4-BE49-F238E27FC236}">
                <a16:creationId xmlns:a16="http://schemas.microsoft.com/office/drawing/2014/main" id="{2E58F5EA-A28C-160B-9331-2098C5DF578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18F49428-FCEC-54DE-B073-B1FD59F3A6BF}"/>
              </a:ext>
            </a:extLst>
          </p:cNvPr>
          <p:cNvSpPr txBox="1"/>
          <p:nvPr/>
        </p:nvSpPr>
        <p:spPr>
          <a:xfrm>
            <a:off x="360506" y="2799158"/>
            <a:ext cx="5995287" cy="29546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In the control flow graph shown, A, B, C, D and J are computation nodes that do not affect the values of variables x, y.</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If there is no limit to the number of test case, how many different independent paths can be tested?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lide Number Placeholder 2">
            <a:extLst>
              <a:ext uri="{FF2B5EF4-FFF2-40B4-BE49-F238E27FC236}">
                <a16:creationId xmlns:a16="http://schemas.microsoft.com/office/drawing/2014/main" id="{10E2387C-732A-07E6-F565-AF46B61AB35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02611B-C7D4-401B-B615-A1AB963424CC}"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7BFFD58E-3F61-9BBB-6D7F-85BAD4B8D632}"/>
              </a:ext>
            </a:extLst>
          </p:cNvPr>
          <p:cNvSpPr txBox="1"/>
          <p:nvPr/>
        </p:nvSpPr>
        <p:spPr>
          <a:xfrm>
            <a:off x="8544340" y="4091819"/>
            <a:ext cx="288862" cy="369332"/>
          </a:xfrm>
          <a:prstGeom prst="rect">
            <a:avLst/>
          </a:prstGeom>
          <a:solidFill>
            <a:schemeClr val="bg1"/>
          </a:solidFill>
        </p:spPr>
        <p:txBody>
          <a:bodyPr wrap="none" rtlCol="0">
            <a:spAutoFit/>
          </a:bodyPr>
          <a:lstStyle/>
          <a:p>
            <a:r>
              <a:rPr lang="en-US" dirty="0"/>
              <a:t>y</a:t>
            </a:r>
          </a:p>
        </p:txBody>
      </p:sp>
    </p:spTree>
    <p:extLst>
      <p:ext uri="{BB962C8B-B14F-4D97-AF65-F5344CB8AC3E}">
        <p14:creationId xmlns:p14="http://schemas.microsoft.com/office/powerpoint/2010/main" val="20545774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87E8017-A229-4E18-8C2A-1E3E1B0B444E}"/>
              </a:ext>
            </a:extLst>
          </p:cNvPr>
          <p:cNvSpPr>
            <a:spLocks noGrp="1"/>
          </p:cNvSpPr>
          <p:nvPr>
            <p:ph type="title"/>
          </p:nvPr>
        </p:nvSpPr>
        <p:spPr>
          <a:xfrm>
            <a:off x="1043631" y="809898"/>
            <a:ext cx="9942716" cy="1554480"/>
          </a:xfrm>
        </p:spPr>
        <p:txBody>
          <a:bodyPr anchor="ctr">
            <a:normAutofit/>
          </a:bodyPr>
          <a:lstStyle/>
          <a:p>
            <a:r>
              <a:rPr lang="en-US" sz="4800" dirty="0"/>
              <a:t>Knowledge Check</a:t>
            </a:r>
          </a:p>
        </p:txBody>
      </p:sp>
      <p:sp>
        <p:nvSpPr>
          <p:cNvPr id="3" name="Content Placeholder 2">
            <a:extLst>
              <a:ext uri="{FF2B5EF4-FFF2-40B4-BE49-F238E27FC236}">
                <a16:creationId xmlns:a16="http://schemas.microsoft.com/office/drawing/2014/main" id="{9F931B0B-DB5A-4DA1-8AA9-5AA133B11E75}"/>
              </a:ext>
            </a:extLst>
          </p:cNvPr>
          <p:cNvSpPr>
            <a:spLocks noGrp="1"/>
          </p:cNvSpPr>
          <p:nvPr>
            <p:ph idx="1"/>
          </p:nvPr>
        </p:nvSpPr>
        <p:spPr>
          <a:xfrm>
            <a:off x="1045028" y="2704013"/>
            <a:ext cx="10907487" cy="3781289"/>
          </a:xfrm>
        </p:spPr>
        <p:txBody>
          <a:bodyPr anchor="ctr">
            <a:normAutofit/>
          </a:bodyPr>
          <a:lstStyle/>
          <a:p>
            <a:r>
              <a:rPr lang="en-US" b="1" i="0" dirty="0">
                <a:effectLst/>
                <a:latin typeface="Lato Extended"/>
              </a:rPr>
              <a:t>Which of the following statements are true?</a:t>
            </a:r>
          </a:p>
          <a:p>
            <a:endParaRPr lang="en-US" b="0" i="0" dirty="0">
              <a:effectLst/>
              <a:latin typeface="Lato Extended"/>
            </a:endParaRPr>
          </a:p>
          <a:p>
            <a:pPr lvl="1"/>
            <a:r>
              <a:rPr lang="en-US" sz="2800" b="0" i="0" dirty="0">
                <a:effectLst/>
                <a:latin typeface="Lato Extended"/>
              </a:rPr>
              <a:t>100% branch coverage guarantees 100% </a:t>
            </a:r>
            <a:r>
              <a:rPr lang="en-US" sz="2800" dirty="0">
                <a:latin typeface="Lato Extended"/>
              </a:rPr>
              <a:t>All </a:t>
            </a:r>
            <a:r>
              <a:rPr lang="en-US" sz="2800" b="0" i="0" dirty="0">
                <a:effectLst/>
                <a:latin typeface="Lato Extended"/>
              </a:rPr>
              <a:t>paths coverage.</a:t>
            </a:r>
          </a:p>
          <a:p>
            <a:pPr lvl="1"/>
            <a:r>
              <a:rPr lang="en-US" sz="2800" b="0" i="0" dirty="0">
                <a:effectLst/>
                <a:latin typeface="Lato Extended"/>
              </a:rPr>
              <a:t>100% statement coverage guarantees 100% branch coverage.</a:t>
            </a:r>
          </a:p>
          <a:p>
            <a:pPr lvl="1"/>
            <a:r>
              <a:rPr lang="en-US" sz="2800" b="0" i="0" dirty="0">
                <a:effectLst/>
                <a:latin typeface="Lato Extended"/>
              </a:rPr>
              <a:t>100% statement coverage guarantees 100% All paths coverage.</a:t>
            </a:r>
          </a:p>
          <a:p>
            <a:pPr lvl="1"/>
            <a:r>
              <a:rPr lang="en-US" sz="2800" b="0" i="0" dirty="0">
                <a:effectLst/>
                <a:latin typeface="Lato Extended"/>
              </a:rPr>
              <a:t>100% branch coverage guarantees 100% statement coverage.</a:t>
            </a:r>
          </a:p>
          <a:p>
            <a:endParaRPr lang="en-US" sz="2000" dirty="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1025" name="DefaultOcx">
            <a:extLst>
              <a:ext uri="{FF2B5EF4-FFF2-40B4-BE49-F238E27FC236}">
                <a16:creationId xmlns:a16="http://schemas.microsoft.com/office/drawing/2014/main" id="{8AEEA316-F154-4AB3-9807-530147C1AF6C}"/>
              </a:ext>
            </a:extLst>
          </p:cNvPr>
          <p:cNvPicPr preferRelativeResize="0">
            <a:picLocks noChangeArrowheads="1" noChangeShapeType="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371600" cy="266700"/>
          </a:xfrm>
          <a:prstGeom prst="rect">
            <a:avLst/>
          </a:prstGeom>
          <a:noFill/>
          <a:ln w="9525">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a:extLst>
              <a:ext uri="{FF2B5EF4-FFF2-40B4-BE49-F238E27FC236}">
                <a16:creationId xmlns:a16="http://schemas.microsoft.com/office/drawing/2014/main" id="{49B10D7F-DEEB-496B-AB33-89B8DAB0C09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02611B-C7D4-401B-B615-A1AB963424CC}"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4607938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F84FA95-29DB-401E-A634-56E58FB1BBED}"/>
              </a:ext>
            </a:extLst>
          </p:cNvPr>
          <p:cNvSpPr>
            <a:spLocks noGrp="1"/>
          </p:cNvSpPr>
          <p:nvPr>
            <p:ph type="title"/>
          </p:nvPr>
        </p:nvSpPr>
        <p:spPr>
          <a:xfrm>
            <a:off x="1043631" y="809898"/>
            <a:ext cx="9942716" cy="1554480"/>
          </a:xfrm>
        </p:spPr>
        <p:txBody>
          <a:bodyPr anchor="ctr">
            <a:normAutofit/>
          </a:bodyPr>
          <a:lstStyle/>
          <a:p>
            <a:r>
              <a:rPr lang="en-US" sz="4800" dirty="0"/>
              <a:t>Knowledge Check</a:t>
            </a:r>
          </a:p>
        </p:txBody>
      </p:sp>
      <p:sp>
        <p:nvSpPr>
          <p:cNvPr id="3" name="Content Placeholder 2">
            <a:extLst>
              <a:ext uri="{FF2B5EF4-FFF2-40B4-BE49-F238E27FC236}">
                <a16:creationId xmlns:a16="http://schemas.microsoft.com/office/drawing/2014/main" id="{856AD22A-B889-4091-9A74-EDD1C43F2C19}"/>
              </a:ext>
            </a:extLst>
          </p:cNvPr>
          <p:cNvSpPr>
            <a:spLocks noGrp="1"/>
          </p:cNvSpPr>
          <p:nvPr>
            <p:ph idx="1"/>
          </p:nvPr>
        </p:nvSpPr>
        <p:spPr>
          <a:xfrm>
            <a:off x="267838" y="2704014"/>
            <a:ext cx="11773474" cy="3438166"/>
          </a:xfrm>
        </p:spPr>
        <p:txBody>
          <a:bodyPr anchor="ctr">
            <a:normAutofit/>
          </a:bodyPr>
          <a:lstStyle/>
          <a:p>
            <a:pPr marL="0" indent="0">
              <a:buNone/>
            </a:pPr>
            <a:r>
              <a:rPr lang="en-US" sz="2000" b="1" i="0" dirty="0">
                <a:effectLst/>
                <a:latin typeface="Lato Extended"/>
              </a:rPr>
              <a:t>You have been asked by your supervisor to "exhaustively test" the software for a mission critical system using All-Paths testing. What is the most appropriate response to give to the supervisor?</a:t>
            </a:r>
          </a:p>
          <a:p>
            <a:pPr marL="0" indent="0">
              <a:buNone/>
            </a:pPr>
            <a:endParaRPr lang="en-US" sz="2000" b="1" i="0" dirty="0">
              <a:effectLst/>
              <a:latin typeface="Lato Extended"/>
            </a:endParaRPr>
          </a:p>
          <a:p>
            <a:r>
              <a:rPr lang="en-US" sz="2000" b="0" i="0" dirty="0">
                <a:effectLst/>
                <a:latin typeface="Lato Extended"/>
              </a:rPr>
              <a:t>It is impossible to do this kind of testing</a:t>
            </a:r>
          </a:p>
          <a:p>
            <a:r>
              <a:rPr lang="en-US" sz="2000" b="0" i="0" dirty="0">
                <a:effectLst/>
                <a:latin typeface="Lato Extended"/>
              </a:rPr>
              <a:t>All-paths testing can be completed in a reasonable amount of time without even using automation.</a:t>
            </a:r>
          </a:p>
          <a:p>
            <a:r>
              <a:rPr lang="en-US" sz="2000" b="0" i="0" dirty="0">
                <a:effectLst/>
                <a:latin typeface="Lato Extended"/>
              </a:rPr>
              <a:t>All-paths testing can be performed but will take forever.</a:t>
            </a:r>
          </a:p>
          <a:p>
            <a:r>
              <a:rPr lang="en-US" sz="2000" b="0" i="0" dirty="0">
                <a:effectLst/>
                <a:latin typeface="Lato Extended"/>
              </a:rPr>
              <a:t>All-paths testing can be performed on small portions of the most critical code using automation and given enough time.</a:t>
            </a:r>
          </a:p>
          <a:p>
            <a:endParaRPr lang="en-US" sz="2000" dirty="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E7CEE7B7-247E-49B7-8333-C10DCC0EBE6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02611B-C7D4-401B-B615-A1AB963424CC}"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6519805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08592-6303-9150-FA98-6AC427D89DB5}"/>
              </a:ext>
            </a:extLst>
          </p:cNvPr>
          <p:cNvSpPr>
            <a:spLocks noGrp="1"/>
          </p:cNvSpPr>
          <p:nvPr>
            <p:ph type="title"/>
          </p:nvPr>
        </p:nvSpPr>
        <p:spPr/>
        <p:txBody>
          <a:bodyPr/>
          <a:lstStyle/>
          <a:p>
            <a:r>
              <a:rPr lang="en-US" dirty="0"/>
              <a:t>Control Flow Testing comparison</a:t>
            </a:r>
          </a:p>
        </p:txBody>
      </p:sp>
      <p:graphicFrame>
        <p:nvGraphicFramePr>
          <p:cNvPr id="5" name="Content Placeholder 4">
            <a:extLst>
              <a:ext uri="{FF2B5EF4-FFF2-40B4-BE49-F238E27FC236}">
                <a16:creationId xmlns:a16="http://schemas.microsoft.com/office/drawing/2014/main" id="{6093A333-4609-F92D-F109-5011ABAB3AAD}"/>
              </a:ext>
            </a:extLst>
          </p:cNvPr>
          <p:cNvGraphicFramePr>
            <a:graphicFrameLocks noGrp="1"/>
          </p:cNvGraphicFramePr>
          <p:nvPr>
            <p:ph idx="1"/>
            <p:extLst>
              <p:ext uri="{D42A27DB-BD31-4B8C-83A1-F6EECF244321}">
                <p14:modId xmlns:p14="http://schemas.microsoft.com/office/powerpoint/2010/main" val="3996677044"/>
              </p:ext>
            </p:extLst>
          </p:nvPr>
        </p:nvGraphicFramePr>
        <p:xfrm>
          <a:off x="838200" y="1825624"/>
          <a:ext cx="10515600" cy="4530725"/>
        </p:xfrm>
        <a:graphic>
          <a:graphicData uri="http://schemas.openxmlformats.org/drawingml/2006/table">
            <a:tbl>
              <a:tblPr/>
              <a:tblGrid>
                <a:gridCol w="2628900">
                  <a:extLst>
                    <a:ext uri="{9D8B030D-6E8A-4147-A177-3AD203B41FA5}">
                      <a16:colId xmlns:a16="http://schemas.microsoft.com/office/drawing/2014/main" val="1220871421"/>
                    </a:ext>
                  </a:extLst>
                </a:gridCol>
                <a:gridCol w="2628900">
                  <a:extLst>
                    <a:ext uri="{9D8B030D-6E8A-4147-A177-3AD203B41FA5}">
                      <a16:colId xmlns:a16="http://schemas.microsoft.com/office/drawing/2014/main" val="2389659435"/>
                    </a:ext>
                  </a:extLst>
                </a:gridCol>
                <a:gridCol w="2628900">
                  <a:extLst>
                    <a:ext uri="{9D8B030D-6E8A-4147-A177-3AD203B41FA5}">
                      <a16:colId xmlns:a16="http://schemas.microsoft.com/office/drawing/2014/main" val="2317864812"/>
                    </a:ext>
                  </a:extLst>
                </a:gridCol>
                <a:gridCol w="2628900">
                  <a:extLst>
                    <a:ext uri="{9D8B030D-6E8A-4147-A177-3AD203B41FA5}">
                      <a16:colId xmlns:a16="http://schemas.microsoft.com/office/drawing/2014/main" val="2564391345"/>
                    </a:ext>
                  </a:extLst>
                </a:gridCol>
              </a:tblGrid>
              <a:tr h="317946">
                <a:tc>
                  <a:txBody>
                    <a:bodyPr/>
                    <a:lstStyle/>
                    <a:p>
                      <a:pPr algn="l">
                        <a:buNone/>
                      </a:pPr>
                      <a:r>
                        <a:rPr lang="en-US" sz="1500"/>
                        <a:t>Criterion</a:t>
                      </a:r>
                    </a:p>
                  </a:txBody>
                  <a:tcPr marL="76339" marR="76339" marT="38170" marB="38170" anchor="ctr">
                    <a:lnL>
                      <a:noFill/>
                    </a:lnL>
                    <a:lnR>
                      <a:noFill/>
                    </a:lnR>
                    <a:lnT>
                      <a:noFill/>
                    </a:lnT>
                    <a:lnB>
                      <a:noFill/>
                    </a:lnB>
                    <a:noFill/>
                  </a:tcPr>
                </a:tc>
                <a:tc>
                  <a:txBody>
                    <a:bodyPr/>
                    <a:lstStyle/>
                    <a:p>
                      <a:pPr algn="ctr">
                        <a:buNone/>
                      </a:pPr>
                      <a:r>
                        <a:rPr lang="en-US" sz="1500"/>
                        <a:t>Strength</a:t>
                      </a:r>
                    </a:p>
                  </a:txBody>
                  <a:tcPr marL="76339" marR="76339" marT="38170" marB="38170" anchor="ctr">
                    <a:lnL>
                      <a:noFill/>
                    </a:lnL>
                    <a:lnR>
                      <a:noFill/>
                    </a:lnR>
                    <a:lnT>
                      <a:noFill/>
                    </a:lnT>
                    <a:lnB>
                      <a:noFill/>
                    </a:lnB>
                    <a:noFill/>
                  </a:tcPr>
                </a:tc>
                <a:tc>
                  <a:txBody>
                    <a:bodyPr/>
                    <a:lstStyle/>
                    <a:p>
                      <a:pPr algn="ctr">
                        <a:buNone/>
                      </a:pPr>
                      <a:r>
                        <a:rPr lang="en-US" sz="1500"/>
                        <a:t>Feasibility</a:t>
                      </a:r>
                    </a:p>
                  </a:txBody>
                  <a:tcPr marL="76339" marR="76339" marT="38170" marB="38170" anchor="ctr">
                    <a:lnL>
                      <a:noFill/>
                    </a:lnL>
                    <a:lnR>
                      <a:noFill/>
                    </a:lnR>
                    <a:lnT>
                      <a:noFill/>
                    </a:lnT>
                    <a:lnB>
                      <a:noFill/>
                    </a:lnB>
                    <a:noFill/>
                  </a:tcPr>
                </a:tc>
                <a:tc>
                  <a:txBody>
                    <a:bodyPr/>
                    <a:lstStyle/>
                    <a:p>
                      <a:pPr algn="l">
                        <a:buNone/>
                      </a:pPr>
                      <a:r>
                        <a:rPr lang="en-US" sz="1500"/>
                        <a:t>Recommended use</a:t>
                      </a:r>
                    </a:p>
                  </a:txBody>
                  <a:tcPr marL="76339" marR="76339" marT="38170" marB="38170" anchor="ctr">
                    <a:lnL>
                      <a:noFill/>
                    </a:lnL>
                    <a:lnR>
                      <a:noFill/>
                    </a:lnR>
                    <a:lnT>
                      <a:noFill/>
                    </a:lnT>
                    <a:lnB>
                      <a:noFill/>
                    </a:lnB>
                    <a:noFill/>
                  </a:tcPr>
                </a:tc>
                <a:extLst>
                  <a:ext uri="{0D108BD9-81ED-4DB2-BD59-A6C34878D82A}">
                    <a16:rowId xmlns:a16="http://schemas.microsoft.com/office/drawing/2014/main" val="2689743274"/>
                  </a:ext>
                </a:extLst>
              </a:tr>
              <a:tr h="556405">
                <a:tc>
                  <a:txBody>
                    <a:bodyPr/>
                    <a:lstStyle/>
                    <a:p>
                      <a:pPr algn="l">
                        <a:buNone/>
                      </a:pPr>
                      <a:r>
                        <a:rPr lang="en-US" sz="1500" b="1"/>
                        <a:t>Statement Coverage</a:t>
                      </a:r>
                      <a:endParaRPr lang="en-US" sz="1500"/>
                    </a:p>
                  </a:txBody>
                  <a:tcPr marL="76339" marR="76339" marT="38170" marB="38170" anchor="ctr">
                    <a:lnL>
                      <a:noFill/>
                    </a:lnL>
                    <a:lnR>
                      <a:noFill/>
                    </a:lnR>
                    <a:lnT>
                      <a:noFill/>
                    </a:lnT>
                    <a:lnB>
                      <a:noFill/>
                    </a:lnB>
                    <a:noFill/>
                  </a:tcPr>
                </a:tc>
                <a:tc>
                  <a:txBody>
                    <a:bodyPr/>
                    <a:lstStyle/>
                    <a:p>
                      <a:pPr algn="ctr">
                        <a:buNone/>
                      </a:pPr>
                      <a:r>
                        <a:rPr lang="en-US" sz="1500" dirty="0"/>
                        <a:t>*</a:t>
                      </a:r>
                    </a:p>
                  </a:txBody>
                  <a:tcPr marL="76339" marR="76339" marT="38170" marB="38170" anchor="ctr">
                    <a:lnL>
                      <a:noFill/>
                    </a:lnL>
                    <a:lnR>
                      <a:noFill/>
                    </a:lnR>
                    <a:lnT>
                      <a:noFill/>
                    </a:lnT>
                    <a:lnB>
                      <a:noFill/>
                    </a:lnB>
                    <a:noFill/>
                  </a:tcPr>
                </a:tc>
                <a:tc>
                  <a:txBody>
                    <a:bodyPr/>
                    <a:lstStyle/>
                    <a:p>
                      <a:pPr algn="ctr">
                        <a:buNone/>
                      </a:pPr>
                      <a:r>
                        <a:rPr lang="en-US" sz="1500" dirty="0"/>
                        <a:t>Easy</a:t>
                      </a:r>
                    </a:p>
                  </a:txBody>
                  <a:tcPr marL="76339" marR="76339" marT="38170" marB="38170" anchor="ctr">
                    <a:lnL>
                      <a:noFill/>
                    </a:lnL>
                    <a:lnR>
                      <a:noFill/>
                    </a:lnR>
                    <a:lnT>
                      <a:noFill/>
                    </a:lnT>
                    <a:lnB>
                      <a:noFill/>
                    </a:lnB>
                    <a:noFill/>
                  </a:tcPr>
                </a:tc>
                <a:tc>
                  <a:txBody>
                    <a:bodyPr/>
                    <a:lstStyle/>
                    <a:p>
                      <a:pPr algn="l">
                        <a:buNone/>
                      </a:pPr>
                      <a:r>
                        <a:rPr lang="en-US" sz="1500"/>
                        <a:t>For simple sanity tests, smoke tests</a:t>
                      </a:r>
                    </a:p>
                  </a:txBody>
                  <a:tcPr marL="76339" marR="76339" marT="38170" marB="38170" anchor="ctr">
                    <a:lnL>
                      <a:noFill/>
                    </a:lnL>
                    <a:lnR>
                      <a:noFill/>
                    </a:lnR>
                    <a:lnT>
                      <a:noFill/>
                    </a:lnT>
                    <a:lnB>
                      <a:noFill/>
                    </a:lnB>
                    <a:noFill/>
                  </a:tcPr>
                </a:tc>
                <a:extLst>
                  <a:ext uri="{0D108BD9-81ED-4DB2-BD59-A6C34878D82A}">
                    <a16:rowId xmlns:a16="http://schemas.microsoft.com/office/drawing/2014/main" val="2384399303"/>
                  </a:ext>
                </a:extLst>
              </a:tr>
              <a:tr h="794864">
                <a:tc>
                  <a:txBody>
                    <a:bodyPr/>
                    <a:lstStyle/>
                    <a:p>
                      <a:pPr algn="l">
                        <a:buNone/>
                      </a:pPr>
                      <a:r>
                        <a:rPr lang="en-US" sz="1500" b="1"/>
                        <a:t>Branch Coverage</a:t>
                      </a:r>
                      <a:endParaRPr lang="en-US" sz="1500"/>
                    </a:p>
                  </a:txBody>
                  <a:tcPr marL="76339" marR="76339" marT="38170" marB="38170" anchor="ctr">
                    <a:lnL>
                      <a:noFill/>
                    </a:lnL>
                    <a:lnR>
                      <a:noFill/>
                    </a:lnR>
                    <a:lnT>
                      <a:noFill/>
                    </a:lnT>
                    <a:lnB>
                      <a:noFill/>
                    </a:lnB>
                    <a:noFill/>
                  </a:tcPr>
                </a:tc>
                <a:tc>
                  <a:txBody>
                    <a:bodyPr/>
                    <a:lstStyle/>
                    <a:p>
                      <a:pPr algn="ctr">
                        <a:buNone/>
                      </a:pPr>
                      <a:r>
                        <a:rPr lang="en-US" sz="1500" dirty="0"/>
                        <a:t>**</a:t>
                      </a:r>
                    </a:p>
                  </a:txBody>
                  <a:tcPr marL="76339" marR="76339" marT="38170" marB="38170" anchor="ctr">
                    <a:lnL>
                      <a:noFill/>
                    </a:lnL>
                    <a:lnR>
                      <a:noFill/>
                    </a:lnR>
                    <a:lnT>
                      <a:noFill/>
                    </a:lnT>
                    <a:lnB>
                      <a:noFill/>
                    </a:lnB>
                    <a:noFill/>
                  </a:tcPr>
                </a:tc>
                <a:tc>
                  <a:txBody>
                    <a:bodyPr/>
                    <a:lstStyle/>
                    <a:p>
                      <a:pPr algn="ctr">
                        <a:buNone/>
                      </a:pPr>
                      <a:r>
                        <a:rPr lang="en-US" sz="1500" dirty="0"/>
                        <a:t>Easy</a:t>
                      </a:r>
                    </a:p>
                  </a:txBody>
                  <a:tcPr marL="76339" marR="76339" marT="38170" marB="38170" anchor="ctr">
                    <a:lnL>
                      <a:noFill/>
                    </a:lnL>
                    <a:lnR>
                      <a:noFill/>
                    </a:lnR>
                    <a:lnT>
                      <a:noFill/>
                    </a:lnT>
                    <a:lnB>
                      <a:noFill/>
                    </a:lnB>
                    <a:noFill/>
                  </a:tcPr>
                </a:tc>
                <a:tc>
                  <a:txBody>
                    <a:bodyPr/>
                    <a:lstStyle/>
                    <a:p>
                      <a:pPr algn="l">
                        <a:buNone/>
                      </a:pPr>
                      <a:r>
                        <a:rPr lang="en-US" sz="1500"/>
                        <a:t>Standard baseline for most unit/integration testing frameworks</a:t>
                      </a:r>
                    </a:p>
                  </a:txBody>
                  <a:tcPr marL="76339" marR="76339" marT="38170" marB="38170" anchor="ctr">
                    <a:lnL>
                      <a:noFill/>
                    </a:lnL>
                    <a:lnR>
                      <a:noFill/>
                    </a:lnR>
                    <a:lnT>
                      <a:noFill/>
                    </a:lnT>
                    <a:lnB>
                      <a:noFill/>
                    </a:lnB>
                    <a:noFill/>
                  </a:tcPr>
                </a:tc>
                <a:extLst>
                  <a:ext uri="{0D108BD9-81ED-4DB2-BD59-A6C34878D82A}">
                    <a16:rowId xmlns:a16="http://schemas.microsoft.com/office/drawing/2014/main" val="3385061825"/>
                  </a:ext>
                </a:extLst>
              </a:tr>
              <a:tr h="1271782">
                <a:tc>
                  <a:txBody>
                    <a:bodyPr/>
                    <a:lstStyle/>
                    <a:p>
                      <a:pPr algn="l">
                        <a:buNone/>
                      </a:pPr>
                      <a:r>
                        <a:rPr lang="en-US" sz="1500" b="1"/>
                        <a:t>Linearly Independent Paths (Basis Path Testing)</a:t>
                      </a:r>
                      <a:endParaRPr lang="en-US" sz="1500"/>
                    </a:p>
                  </a:txBody>
                  <a:tcPr marL="76339" marR="76339" marT="38170" marB="38170" anchor="ctr">
                    <a:lnL>
                      <a:noFill/>
                    </a:lnL>
                    <a:lnR>
                      <a:noFill/>
                    </a:lnR>
                    <a:lnT>
                      <a:noFill/>
                    </a:lnT>
                    <a:lnB>
                      <a:noFill/>
                    </a:lnB>
                    <a:noFill/>
                  </a:tcPr>
                </a:tc>
                <a:tc>
                  <a:txBody>
                    <a:bodyPr/>
                    <a:lstStyle/>
                    <a:p>
                      <a:pPr algn="ctr">
                        <a:buNone/>
                      </a:pPr>
                      <a:r>
                        <a:rPr lang="en-US" sz="1500" dirty="0"/>
                        <a:t>***</a:t>
                      </a:r>
                    </a:p>
                  </a:txBody>
                  <a:tcPr marL="76339" marR="76339" marT="38170" marB="38170" anchor="ctr">
                    <a:lnL>
                      <a:noFill/>
                    </a:lnL>
                    <a:lnR>
                      <a:noFill/>
                    </a:lnR>
                    <a:lnT>
                      <a:noFill/>
                    </a:lnT>
                    <a:lnB>
                      <a:noFill/>
                    </a:lnB>
                    <a:noFill/>
                  </a:tcPr>
                </a:tc>
                <a:tc>
                  <a:txBody>
                    <a:bodyPr/>
                    <a:lstStyle/>
                    <a:p>
                      <a:pPr algn="ctr">
                        <a:buNone/>
                      </a:pPr>
                      <a:r>
                        <a:rPr lang="en-US" sz="1500" dirty="0"/>
                        <a:t>Moderate</a:t>
                      </a:r>
                    </a:p>
                  </a:txBody>
                  <a:tcPr marL="76339" marR="76339" marT="38170" marB="38170" anchor="ctr">
                    <a:lnL>
                      <a:noFill/>
                    </a:lnL>
                    <a:lnR>
                      <a:noFill/>
                    </a:lnR>
                    <a:lnT>
                      <a:noFill/>
                    </a:lnT>
                    <a:lnB>
                      <a:noFill/>
                    </a:lnB>
                    <a:noFill/>
                  </a:tcPr>
                </a:tc>
                <a:tc>
                  <a:txBody>
                    <a:bodyPr/>
                    <a:lstStyle/>
                    <a:p>
                      <a:pPr algn="l">
                        <a:buNone/>
                      </a:pPr>
                      <a:r>
                        <a:rPr lang="en-US" sz="1500"/>
                        <a:t>Recommended for critical or safety-critical code; covers all branches and logical structures with minimal tests</a:t>
                      </a:r>
                    </a:p>
                  </a:txBody>
                  <a:tcPr marL="76339" marR="76339" marT="38170" marB="38170" anchor="ctr">
                    <a:lnL>
                      <a:noFill/>
                    </a:lnL>
                    <a:lnR>
                      <a:noFill/>
                    </a:lnR>
                    <a:lnT>
                      <a:noFill/>
                    </a:lnT>
                    <a:lnB>
                      <a:noFill/>
                    </a:lnB>
                    <a:noFill/>
                  </a:tcPr>
                </a:tc>
                <a:extLst>
                  <a:ext uri="{0D108BD9-81ED-4DB2-BD59-A6C34878D82A}">
                    <a16:rowId xmlns:a16="http://schemas.microsoft.com/office/drawing/2014/main" val="2615084869"/>
                  </a:ext>
                </a:extLst>
              </a:tr>
              <a:tr h="1033323">
                <a:tc>
                  <a:txBody>
                    <a:bodyPr/>
                    <a:lstStyle/>
                    <a:p>
                      <a:pPr algn="l">
                        <a:buNone/>
                      </a:pPr>
                      <a:r>
                        <a:rPr lang="en-US" sz="1500" b="1"/>
                        <a:t>Visit-Each-Loop Coverage</a:t>
                      </a:r>
                      <a:endParaRPr lang="en-US" sz="1500"/>
                    </a:p>
                  </a:txBody>
                  <a:tcPr marL="76339" marR="76339" marT="38170" marB="38170" anchor="ctr">
                    <a:lnL>
                      <a:noFill/>
                    </a:lnL>
                    <a:lnR>
                      <a:noFill/>
                    </a:lnR>
                    <a:lnT>
                      <a:noFill/>
                    </a:lnT>
                    <a:lnB>
                      <a:noFill/>
                    </a:lnB>
                    <a:noFill/>
                  </a:tcPr>
                </a:tc>
                <a:tc>
                  <a:txBody>
                    <a:bodyPr/>
                    <a:lstStyle/>
                    <a:p>
                      <a:pPr algn="ctr">
                        <a:buNone/>
                      </a:pPr>
                      <a:r>
                        <a:rPr lang="en-US" sz="1500" dirty="0"/>
                        <a:t>***</a:t>
                      </a:r>
                    </a:p>
                  </a:txBody>
                  <a:tcPr marL="76339" marR="76339" marT="38170" marB="38170" anchor="ctr">
                    <a:lnL>
                      <a:noFill/>
                    </a:lnL>
                    <a:lnR>
                      <a:noFill/>
                    </a:lnR>
                    <a:lnT>
                      <a:noFill/>
                    </a:lnT>
                    <a:lnB>
                      <a:noFill/>
                    </a:lnB>
                    <a:noFill/>
                  </a:tcPr>
                </a:tc>
                <a:tc>
                  <a:txBody>
                    <a:bodyPr/>
                    <a:lstStyle/>
                    <a:p>
                      <a:pPr algn="ctr">
                        <a:buNone/>
                      </a:pPr>
                      <a:r>
                        <a:rPr lang="en-US" sz="1500" dirty="0"/>
                        <a:t>Moderate</a:t>
                      </a:r>
                    </a:p>
                  </a:txBody>
                  <a:tcPr marL="76339" marR="76339" marT="38170" marB="38170" anchor="ctr">
                    <a:lnL>
                      <a:noFill/>
                    </a:lnL>
                    <a:lnR>
                      <a:noFill/>
                    </a:lnR>
                    <a:lnT>
                      <a:noFill/>
                    </a:lnT>
                    <a:lnB>
                      <a:noFill/>
                    </a:lnB>
                    <a:noFill/>
                  </a:tcPr>
                </a:tc>
                <a:tc>
                  <a:txBody>
                    <a:bodyPr/>
                    <a:lstStyle/>
                    <a:p>
                      <a:pPr algn="l">
                        <a:buNone/>
                      </a:pPr>
                      <a:r>
                        <a:rPr lang="en-US" sz="1500"/>
                        <a:t>Recommended for loop-heavy algorithms to avoid infinite “all-paths” explosion</a:t>
                      </a:r>
                    </a:p>
                  </a:txBody>
                  <a:tcPr marL="76339" marR="76339" marT="38170" marB="38170" anchor="ctr">
                    <a:lnL>
                      <a:noFill/>
                    </a:lnL>
                    <a:lnR>
                      <a:noFill/>
                    </a:lnR>
                    <a:lnT>
                      <a:noFill/>
                    </a:lnT>
                    <a:lnB>
                      <a:noFill/>
                    </a:lnB>
                    <a:noFill/>
                  </a:tcPr>
                </a:tc>
                <a:extLst>
                  <a:ext uri="{0D108BD9-81ED-4DB2-BD59-A6C34878D82A}">
                    <a16:rowId xmlns:a16="http://schemas.microsoft.com/office/drawing/2014/main" val="3840006437"/>
                  </a:ext>
                </a:extLst>
              </a:tr>
              <a:tr h="556405">
                <a:tc>
                  <a:txBody>
                    <a:bodyPr/>
                    <a:lstStyle/>
                    <a:p>
                      <a:pPr algn="l">
                        <a:buNone/>
                      </a:pPr>
                      <a:r>
                        <a:rPr lang="en-US" sz="1500" b="1"/>
                        <a:t>All-Paths Coverage</a:t>
                      </a:r>
                      <a:endParaRPr lang="en-US" sz="1500"/>
                    </a:p>
                  </a:txBody>
                  <a:tcPr marL="76339" marR="76339" marT="38170" marB="38170" anchor="ctr">
                    <a:lnL>
                      <a:noFill/>
                    </a:lnL>
                    <a:lnR>
                      <a:noFill/>
                    </a:lnR>
                    <a:lnT>
                      <a:noFill/>
                    </a:lnT>
                    <a:lnB>
                      <a:noFill/>
                    </a:lnB>
                    <a:noFill/>
                  </a:tcPr>
                </a:tc>
                <a:tc>
                  <a:txBody>
                    <a:bodyPr/>
                    <a:lstStyle/>
                    <a:p>
                      <a:pPr algn="ctr">
                        <a:buNone/>
                      </a:pPr>
                      <a:r>
                        <a:rPr lang="en-US" sz="1500" dirty="0"/>
                        <a:t>******</a:t>
                      </a:r>
                    </a:p>
                  </a:txBody>
                  <a:tcPr marL="76339" marR="76339" marT="38170" marB="38170" anchor="ctr">
                    <a:lnL>
                      <a:noFill/>
                    </a:lnL>
                    <a:lnR>
                      <a:noFill/>
                    </a:lnR>
                    <a:lnT>
                      <a:noFill/>
                    </a:lnT>
                    <a:lnB>
                      <a:noFill/>
                    </a:lnB>
                    <a:noFill/>
                  </a:tcPr>
                </a:tc>
                <a:tc>
                  <a:txBody>
                    <a:bodyPr/>
                    <a:lstStyle/>
                    <a:p>
                      <a:pPr algn="ctr">
                        <a:buNone/>
                      </a:pPr>
                      <a:r>
                        <a:rPr lang="en-US" sz="1500" dirty="0"/>
                        <a:t>Impractical</a:t>
                      </a:r>
                    </a:p>
                  </a:txBody>
                  <a:tcPr marL="76339" marR="76339" marT="38170" marB="38170" anchor="ctr">
                    <a:lnL>
                      <a:noFill/>
                    </a:lnL>
                    <a:lnR>
                      <a:noFill/>
                    </a:lnR>
                    <a:lnT>
                      <a:noFill/>
                    </a:lnT>
                    <a:lnB>
                      <a:noFill/>
                    </a:lnB>
                    <a:noFill/>
                  </a:tcPr>
                </a:tc>
                <a:tc>
                  <a:txBody>
                    <a:bodyPr/>
                    <a:lstStyle/>
                    <a:p>
                      <a:pPr algn="l">
                        <a:buNone/>
                      </a:pPr>
                      <a:r>
                        <a:rPr lang="en-US" sz="1500" dirty="0"/>
                        <a:t>Only for </a:t>
                      </a:r>
                      <a:r>
                        <a:rPr lang="en-US" sz="1500" i="1" dirty="0"/>
                        <a:t>tiny</a:t>
                      </a:r>
                      <a:r>
                        <a:rPr lang="en-US" sz="1500" dirty="0"/>
                        <a:t> programs or formal verification tools</a:t>
                      </a:r>
                    </a:p>
                  </a:txBody>
                  <a:tcPr marL="76339" marR="76339" marT="38170" marB="38170" anchor="ctr">
                    <a:lnL>
                      <a:noFill/>
                    </a:lnL>
                    <a:lnR>
                      <a:noFill/>
                    </a:lnR>
                    <a:lnT>
                      <a:noFill/>
                    </a:lnT>
                    <a:lnB>
                      <a:noFill/>
                    </a:lnB>
                    <a:noFill/>
                  </a:tcPr>
                </a:tc>
                <a:extLst>
                  <a:ext uri="{0D108BD9-81ED-4DB2-BD59-A6C34878D82A}">
                    <a16:rowId xmlns:a16="http://schemas.microsoft.com/office/drawing/2014/main" val="2888930615"/>
                  </a:ext>
                </a:extLst>
              </a:tr>
            </a:tbl>
          </a:graphicData>
        </a:graphic>
      </p:graphicFrame>
      <p:sp>
        <p:nvSpPr>
          <p:cNvPr id="4" name="Slide Number Placeholder 3">
            <a:extLst>
              <a:ext uri="{FF2B5EF4-FFF2-40B4-BE49-F238E27FC236}">
                <a16:creationId xmlns:a16="http://schemas.microsoft.com/office/drawing/2014/main" id="{D696898F-D538-407C-B92B-111DABA56FA8}"/>
              </a:ext>
            </a:extLst>
          </p:cNvPr>
          <p:cNvSpPr>
            <a:spLocks noGrp="1"/>
          </p:cNvSpPr>
          <p:nvPr>
            <p:ph type="sldNum" sz="quarter" idx="12"/>
          </p:nvPr>
        </p:nvSpPr>
        <p:spPr/>
        <p:txBody>
          <a:bodyPr/>
          <a:lstStyle/>
          <a:p>
            <a:fld id="{4802611B-C7D4-401B-B615-A1AB963424CC}" type="slidenum">
              <a:rPr lang="en-US" smtClean="0"/>
              <a:t>52</a:t>
            </a:fld>
            <a:endParaRPr lang="en-US"/>
          </a:p>
        </p:txBody>
      </p:sp>
    </p:spTree>
    <p:extLst>
      <p:ext uri="{BB962C8B-B14F-4D97-AF65-F5344CB8AC3E}">
        <p14:creationId xmlns:p14="http://schemas.microsoft.com/office/powerpoint/2010/main" val="397732532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74" name="Rectangle 73">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Rectangle 75">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Rectangle 77">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Rectangle 79">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2" name="Freeform: Shape 81">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4" name="Rectangle 83">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0514" name="Rectangle 2"/>
          <p:cNvSpPr>
            <a:spLocks noGrp="1" noChangeArrowheads="1"/>
          </p:cNvSpPr>
          <p:nvPr>
            <p:ph type="title"/>
          </p:nvPr>
        </p:nvSpPr>
        <p:spPr>
          <a:xfrm>
            <a:off x="466722" y="586855"/>
            <a:ext cx="3201366" cy="3387497"/>
          </a:xfrm>
        </p:spPr>
        <p:txBody>
          <a:bodyPr anchor="b">
            <a:normAutofit/>
          </a:bodyPr>
          <a:lstStyle/>
          <a:p>
            <a:pPr algn="r"/>
            <a:r>
              <a:rPr lang="en-US" sz="4000">
                <a:solidFill>
                  <a:srgbClr val="FFFFFF"/>
                </a:solidFill>
                <a:latin typeface="Times New Roman" pitchFamily="18" charset="0"/>
              </a:rPr>
              <a:t>Summary</a:t>
            </a:r>
          </a:p>
        </p:txBody>
      </p:sp>
      <p:sp>
        <p:nvSpPr>
          <p:cNvPr id="320515" name="Rectangle 3"/>
          <p:cNvSpPr>
            <a:spLocks noGrp="1" noChangeArrowheads="1"/>
          </p:cNvSpPr>
          <p:nvPr>
            <p:ph idx="1"/>
          </p:nvPr>
        </p:nvSpPr>
        <p:spPr>
          <a:xfrm>
            <a:off x="4132747" y="149417"/>
            <a:ext cx="8019629" cy="6171309"/>
          </a:xfrm>
        </p:spPr>
        <p:txBody>
          <a:bodyPr anchor="ctr">
            <a:normAutofit/>
          </a:bodyPr>
          <a:lstStyle/>
          <a:p>
            <a:r>
              <a:rPr lang="en-US" sz="2200" dirty="0">
                <a:latin typeface="Times New Roman" pitchFamily="18" charset="0"/>
              </a:rPr>
              <a:t>Control flow is a fundamental concept in program execution.</a:t>
            </a:r>
          </a:p>
          <a:p>
            <a:r>
              <a:rPr lang="en-US" sz="2200" dirty="0">
                <a:latin typeface="Times New Roman" pitchFamily="18" charset="0"/>
              </a:rPr>
              <a:t>A program path is an instance of execution of a program unit.</a:t>
            </a:r>
          </a:p>
          <a:p>
            <a:r>
              <a:rPr lang="en-US" sz="2200" dirty="0">
                <a:latin typeface="Times New Roman" pitchFamily="18" charset="0"/>
              </a:rPr>
              <a:t>Select a set of paths by considering path </a:t>
            </a:r>
            <a:r>
              <a:rPr lang="en-US" sz="2200" b="1" dirty="0">
                <a:latin typeface="Times New Roman" pitchFamily="18" charset="0"/>
              </a:rPr>
              <a:t>selection criteria</a:t>
            </a:r>
            <a:r>
              <a:rPr lang="en-US" sz="2200" dirty="0">
                <a:latin typeface="Times New Roman" pitchFamily="18" charset="0"/>
              </a:rPr>
              <a:t>.</a:t>
            </a:r>
          </a:p>
          <a:p>
            <a:pPr lvl="2"/>
            <a:r>
              <a:rPr lang="en-US" sz="2200" dirty="0">
                <a:latin typeface="Times New Roman" pitchFamily="18" charset="0"/>
              </a:rPr>
              <a:t>Statement coverage</a:t>
            </a:r>
          </a:p>
          <a:p>
            <a:pPr lvl="2"/>
            <a:r>
              <a:rPr lang="en-US" sz="2200" dirty="0">
                <a:latin typeface="Times New Roman" pitchFamily="18" charset="0"/>
              </a:rPr>
              <a:t>Branch coverage</a:t>
            </a:r>
          </a:p>
          <a:p>
            <a:pPr lvl="2"/>
            <a:r>
              <a:rPr lang="en-US" sz="2200" dirty="0">
                <a:latin typeface="Times New Roman" pitchFamily="18" charset="0"/>
              </a:rPr>
              <a:t>Predicate coverage</a:t>
            </a:r>
          </a:p>
          <a:p>
            <a:pPr lvl="2"/>
            <a:r>
              <a:rPr lang="en-US" sz="2200" dirty="0">
                <a:latin typeface="Times New Roman" pitchFamily="18" charset="0"/>
              </a:rPr>
              <a:t>All paths</a:t>
            </a:r>
          </a:p>
          <a:p>
            <a:r>
              <a:rPr lang="en-US" sz="2200" dirty="0">
                <a:latin typeface="Times New Roman" pitchFamily="18" charset="0"/>
              </a:rPr>
              <a:t>From source code, derive a CFG (compilers are modified for this.)</a:t>
            </a:r>
          </a:p>
          <a:p>
            <a:r>
              <a:rPr lang="en-US" sz="2200" dirty="0">
                <a:latin typeface="Times New Roman" pitchFamily="18" charset="0"/>
              </a:rPr>
              <a:t>Select paths from a CFG based on path selection criteria.</a:t>
            </a:r>
          </a:p>
          <a:p>
            <a:r>
              <a:rPr lang="en-US" sz="2200" dirty="0">
                <a:latin typeface="Times New Roman" pitchFamily="18" charset="0"/>
              </a:rPr>
              <a:t>Extract path predicates from each path.</a:t>
            </a:r>
          </a:p>
          <a:p>
            <a:r>
              <a:rPr lang="en-US" sz="2200" dirty="0">
                <a:latin typeface="Times New Roman" pitchFamily="18" charset="0"/>
              </a:rPr>
              <a:t>Solve the path predicate expression to generate test input data.</a:t>
            </a:r>
          </a:p>
          <a:p>
            <a:r>
              <a:rPr lang="en-US" sz="2200" dirty="0">
                <a:latin typeface="Times New Roman" pitchFamily="18" charset="0"/>
              </a:rPr>
              <a:t>There are two kinds of paths. </a:t>
            </a:r>
          </a:p>
          <a:p>
            <a:pPr lvl="2"/>
            <a:r>
              <a:rPr lang="en-US" sz="2200" dirty="0">
                <a:latin typeface="Times New Roman" pitchFamily="18" charset="0"/>
              </a:rPr>
              <a:t>feasible</a:t>
            </a:r>
          </a:p>
          <a:p>
            <a:pPr lvl="2"/>
            <a:r>
              <a:rPr lang="en-US" sz="2200" dirty="0">
                <a:latin typeface="Times New Roman" pitchFamily="18" charset="0"/>
              </a:rPr>
              <a:t>infeasible</a:t>
            </a:r>
          </a:p>
        </p:txBody>
      </p:sp>
      <p:sp>
        <p:nvSpPr>
          <p:cNvPr id="4" name="Rectangle 19"/>
          <p:cNvSpPr>
            <a:spLocks noGrp="1" noChangeArrowheads="1"/>
          </p:cNvSpPr>
          <p:nvPr>
            <p:ph type="sldNum" sz="quarter" idx="12"/>
          </p:nvPr>
        </p:nvSpPr>
        <p:spPr>
          <a:xfrm>
            <a:off x="11704320" y="6455664"/>
            <a:ext cx="448056" cy="365125"/>
          </a:xfrm>
        </p:spPr>
        <p:txBody>
          <a:bodyPr>
            <a:normAutofit/>
          </a:bodyPr>
          <a:lstStyle/>
          <a:p>
            <a:pPr marL="0" marR="0" lvl="0" indent="0" algn="r" defTabSz="914400" rtl="0" eaLnBrk="1" fontAlgn="base" latinLnBrk="0" hangingPunct="1">
              <a:lnSpc>
                <a:spcPct val="100000"/>
              </a:lnSpc>
              <a:spcBef>
                <a:spcPct val="0"/>
              </a:spcBef>
              <a:spcAft>
                <a:spcPts val="600"/>
              </a:spcAft>
              <a:buClrTx/>
              <a:buSzTx/>
              <a:buFontTx/>
              <a:buNone/>
              <a:tabLst/>
              <a:defRPr/>
            </a:pPr>
            <a:fld id="{2E94E079-C658-4477-AA88-7B4F303D9EE7}" type="slidenum">
              <a:rPr kumimoji="0" lang="en-US" sz="1100" b="1" i="0" u="none" strike="noStrike" kern="1200" cap="none" spc="0" normalizeH="0" baseline="0" noProof="0">
                <a:ln>
                  <a:noFill/>
                </a:ln>
                <a:solidFill>
                  <a:prstClr val="black">
                    <a:lumMod val="50000"/>
                    <a:lumOff val="50000"/>
                  </a:prstClr>
                </a:solidFill>
                <a:effectLst/>
                <a:uLnTx/>
                <a:uFillTx/>
                <a:latin typeface="Times New Roman" pitchFamily="18" charset="0"/>
                <a:ea typeface="+mn-ea"/>
                <a:cs typeface="+mn-cs"/>
              </a:rPr>
              <a:pPr marL="0" marR="0" lvl="0" indent="0" algn="r" defTabSz="914400" rtl="0" eaLnBrk="1" fontAlgn="base" latinLnBrk="0" hangingPunct="1">
                <a:lnSpc>
                  <a:spcPct val="100000"/>
                </a:lnSpc>
                <a:spcBef>
                  <a:spcPct val="0"/>
                </a:spcBef>
                <a:spcAft>
                  <a:spcPts val="600"/>
                </a:spcAft>
                <a:buClrTx/>
                <a:buSzTx/>
                <a:buFontTx/>
                <a:buNone/>
                <a:tabLst/>
                <a:defRPr/>
              </a:pPr>
              <a:t>53</a:t>
            </a:fld>
            <a:endParaRPr kumimoji="0" lang="en-US" sz="1100" b="1" i="0" u="none" strike="noStrike" kern="1200" cap="none" spc="0" normalizeH="0" baseline="0" noProof="0">
              <a:ln>
                <a:noFill/>
              </a:ln>
              <a:solidFill>
                <a:prstClr val="black">
                  <a:lumMod val="50000"/>
                  <a:lumOff val="50000"/>
                </a:prstClr>
              </a:solidFill>
              <a:effectLst/>
              <a:uLnTx/>
              <a:uFillTx/>
              <a:latin typeface="Times New Roman" pitchFamily="18" charset="0"/>
              <a:ea typeface="+mn-ea"/>
              <a:cs typeface="+mn-cs"/>
            </a:endParaRPr>
          </a:p>
        </p:txBody>
      </p:sp>
    </p:spTree>
    <p:extLst>
      <p:ext uri="{BB962C8B-B14F-4D97-AF65-F5344CB8AC3E}">
        <p14:creationId xmlns:p14="http://schemas.microsoft.com/office/powerpoint/2010/main" val="3430205869"/>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9ED91-736A-7100-8CAF-46DB98F90BB8}"/>
              </a:ext>
            </a:extLst>
          </p:cNvPr>
          <p:cNvSpPr>
            <a:spLocks noGrp="1"/>
          </p:cNvSpPr>
          <p:nvPr>
            <p:ph type="title"/>
          </p:nvPr>
        </p:nvSpPr>
        <p:spPr/>
        <p:txBody>
          <a:bodyPr/>
          <a:lstStyle/>
          <a:p>
            <a:r>
              <a:rPr lang="en-US" dirty="0"/>
              <a:t>What about Data Flow?</a:t>
            </a:r>
          </a:p>
        </p:txBody>
      </p:sp>
      <p:sp>
        <p:nvSpPr>
          <p:cNvPr id="3" name="Content Placeholder 2">
            <a:extLst>
              <a:ext uri="{FF2B5EF4-FFF2-40B4-BE49-F238E27FC236}">
                <a16:creationId xmlns:a16="http://schemas.microsoft.com/office/drawing/2014/main" id="{9DC69E63-8863-B235-1BEB-BA6A5F1E54AA}"/>
              </a:ext>
            </a:extLst>
          </p:cNvPr>
          <p:cNvSpPr>
            <a:spLocks noGrp="1"/>
          </p:cNvSpPr>
          <p:nvPr>
            <p:ph idx="1"/>
          </p:nvPr>
        </p:nvSpPr>
        <p:spPr/>
        <p:txBody>
          <a:bodyPr>
            <a:normAutofit fontScale="70000" lnSpcReduction="20000"/>
          </a:bodyPr>
          <a:lstStyle/>
          <a:p>
            <a:r>
              <a:rPr lang="en-US" dirty="0"/>
              <a:t>Even harder and outside the scope of a practical class</a:t>
            </a:r>
          </a:p>
          <a:p>
            <a:r>
              <a:rPr lang="en-US" dirty="0"/>
              <a:t>You need to identify Definition/Use pair for the variables you care</a:t>
            </a:r>
          </a:p>
          <a:p>
            <a:r>
              <a:rPr lang="en-US" dirty="0"/>
              <a:t>Compute a feasible path between them</a:t>
            </a:r>
          </a:p>
          <a:p>
            <a:r>
              <a:rPr lang="en-US" dirty="0"/>
              <a:t>Construct other variable predicate values that can force execution through the path (many values)</a:t>
            </a:r>
          </a:p>
          <a:p>
            <a:r>
              <a:rPr lang="en-US" dirty="0"/>
              <a:t>Inject code before the use that verifies the use site really receives the value created in the define site</a:t>
            </a:r>
          </a:p>
          <a:p>
            <a:r>
              <a:rPr lang="en-US" dirty="0"/>
              <a:t>Generally, there are 3 types of problems with dataflow</a:t>
            </a:r>
          </a:p>
          <a:p>
            <a:pPr lvl="1"/>
            <a:r>
              <a:rPr lang="en-US" dirty="0"/>
              <a:t>du (defined and undefined before it is used)</a:t>
            </a:r>
          </a:p>
          <a:p>
            <a:pPr lvl="1"/>
            <a:r>
              <a:rPr lang="en-US" dirty="0"/>
              <a:t>dd (defined twice without being used)</a:t>
            </a:r>
          </a:p>
          <a:p>
            <a:pPr lvl="1"/>
            <a:r>
              <a:rPr lang="en-US" dirty="0" err="1"/>
              <a:t>ur</a:t>
            </a:r>
            <a:r>
              <a:rPr lang="en-US" dirty="0"/>
              <a:t> (used before being defined)</a:t>
            </a:r>
          </a:p>
          <a:p>
            <a:r>
              <a:rPr lang="en-US" dirty="0"/>
              <a:t>Generally, don’t bother unless it’s a homework question </a:t>
            </a:r>
            <a:r>
              <a:rPr lang="en-US" dirty="0">
                <a:sym typeface="Wingdings" pitchFamily="2" charset="2"/>
              </a:rPr>
              <a:t> </a:t>
            </a:r>
          </a:p>
          <a:p>
            <a:r>
              <a:rPr lang="en-US" dirty="0">
                <a:sym typeface="Wingdings" pitchFamily="2" charset="2"/>
              </a:rPr>
              <a:t>If you care </a:t>
            </a:r>
            <a:r>
              <a:rPr lang="en-US" dirty="0" err="1">
                <a:sym typeface="Wingdings" pitchFamily="2" charset="2"/>
              </a:rPr>
              <a:t>pysa</a:t>
            </a:r>
            <a:r>
              <a:rPr lang="en-US" dirty="0">
                <a:sym typeface="Wingdings" pitchFamily="2" charset="2"/>
              </a:rPr>
              <a:t> is a decent tool for finding data flow issues in Python and </a:t>
            </a:r>
            <a:r>
              <a:rPr lang="en-US" dirty="0" err="1">
                <a:sym typeface="Wingdings" pitchFamily="2" charset="2"/>
              </a:rPr>
              <a:t>CodeQL</a:t>
            </a:r>
            <a:r>
              <a:rPr lang="en-US" dirty="0">
                <a:sym typeface="Wingdings" pitchFamily="2" charset="2"/>
              </a:rPr>
              <a:t> for Java.</a:t>
            </a:r>
            <a:endParaRPr lang="en-US" dirty="0"/>
          </a:p>
        </p:txBody>
      </p:sp>
      <p:sp>
        <p:nvSpPr>
          <p:cNvPr id="4" name="Slide Number Placeholder 3">
            <a:extLst>
              <a:ext uri="{FF2B5EF4-FFF2-40B4-BE49-F238E27FC236}">
                <a16:creationId xmlns:a16="http://schemas.microsoft.com/office/drawing/2014/main" id="{B95F391D-2033-E886-7D0B-E4B3C29479A4}"/>
              </a:ext>
            </a:extLst>
          </p:cNvPr>
          <p:cNvSpPr>
            <a:spLocks noGrp="1"/>
          </p:cNvSpPr>
          <p:nvPr>
            <p:ph type="sldNum" sz="quarter" idx="12"/>
          </p:nvPr>
        </p:nvSpPr>
        <p:spPr/>
        <p:txBody>
          <a:bodyPr/>
          <a:lstStyle/>
          <a:p>
            <a:fld id="{4802611B-C7D4-401B-B615-A1AB963424CC}" type="slidenum">
              <a:rPr lang="en-US" smtClean="0"/>
              <a:t>54</a:t>
            </a:fld>
            <a:endParaRPr lang="en-US"/>
          </a:p>
        </p:txBody>
      </p:sp>
    </p:spTree>
    <p:extLst>
      <p:ext uri="{BB962C8B-B14F-4D97-AF65-F5344CB8AC3E}">
        <p14:creationId xmlns:p14="http://schemas.microsoft.com/office/powerpoint/2010/main" val="90390733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Many question marks on black background">
            <a:extLst>
              <a:ext uri="{FF2B5EF4-FFF2-40B4-BE49-F238E27FC236}">
                <a16:creationId xmlns:a16="http://schemas.microsoft.com/office/drawing/2014/main" id="{EEDC9AA1-9654-4D1B-8172-B42C01677CA0}"/>
              </a:ext>
            </a:extLst>
          </p:cNvPr>
          <p:cNvPicPr>
            <a:picLocks noChangeAspect="1"/>
          </p:cNvPicPr>
          <p:nvPr/>
        </p:nvPicPr>
        <p:blipFill rotWithShape="1">
          <a:blip r:embed="rId2"/>
          <a:srcRect t="7787"/>
          <a:stretch/>
        </p:blipFill>
        <p:spPr>
          <a:xfrm>
            <a:off x="20" y="10"/>
            <a:ext cx="12191980" cy="6857990"/>
          </a:xfrm>
          <a:prstGeom prst="rect">
            <a:avLst/>
          </a:prstGeom>
        </p:spPr>
      </p:pic>
      <p:sp>
        <p:nvSpPr>
          <p:cNvPr id="9" name="Freeform 5">
            <a:extLst>
              <a:ext uri="{FF2B5EF4-FFF2-40B4-BE49-F238E27FC236}">
                <a16:creationId xmlns:a16="http://schemas.microsoft.com/office/drawing/2014/main" id="{87CC2527-562A-4F69-B487-4371E5B243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7488621" y="2277613"/>
            <a:ext cx="4703379" cy="4580387"/>
          </a:xfrm>
          <a:custGeom>
            <a:avLst/>
            <a:gdLst>
              <a:gd name="T0" fmla="*/ 1333 w 1333"/>
              <a:gd name="T1" fmla="*/ 1031 h 1298"/>
              <a:gd name="T2" fmla="*/ 1333 w 1333"/>
              <a:gd name="T3" fmla="*/ 380 h 1298"/>
              <a:gd name="T4" fmla="*/ 706 w 1333"/>
              <a:gd name="T5" fmla="*/ 0 h 1298"/>
              <a:gd name="T6" fmla="*/ 0 w 1333"/>
              <a:gd name="T7" fmla="*/ 706 h 1298"/>
              <a:gd name="T8" fmla="*/ 323 w 1333"/>
              <a:gd name="T9" fmla="*/ 1298 h 1298"/>
              <a:gd name="T10" fmla="*/ 1090 w 1333"/>
              <a:gd name="T11" fmla="*/ 1298 h 1298"/>
              <a:gd name="T12" fmla="*/ 1333 w 1333"/>
              <a:gd name="T13" fmla="*/ 1031 h 1298"/>
            </a:gdLst>
            <a:ahLst/>
            <a:cxnLst>
              <a:cxn ang="0">
                <a:pos x="T0" y="T1"/>
              </a:cxn>
              <a:cxn ang="0">
                <a:pos x="T2" y="T3"/>
              </a:cxn>
              <a:cxn ang="0">
                <a:pos x="T4" y="T5"/>
              </a:cxn>
              <a:cxn ang="0">
                <a:pos x="T6" y="T7"/>
              </a:cxn>
              <a:cxn ang="0">
                <a:pos x="T8" y="T9"/>
              </a:cxn>
              <a:cxn ang="0">
                <a:pos x="T10" y="T11"/>
              </a:cxn>
              <a:cxn ang="0">
                <a:pos x="T12" y="T13"/>
              </a:cxn>
            </a:cxnLst>
            <a:rect l="0" t="0" r="r" b="b"/>
            <a:pathLst>
              <a:path w="1333" h="1298">
                <a:moveTo>
                  <a:pt x="1333" y="1031"/>
                </a:moveTo>
                <a:cubicBezTo>
                  <a:pt x="1333" y="380"/>
                  <a:pt x="1333" y="380"/>
                  <a:pt x="1333" y="380"/>
                </a:cubicBezTo>
                <a:cubicBezTo>
                  <a:pt x="1215" y="154"/>
                  <a:pt x="979" y="0"/>
                  <a:pt x="706" y="0"/>
                </a:cubicBezTo>
                <a:cubicBezTo>
                  <a:pt x="317" y="0"/>
                  <a:pt x="0" y="316"/>
                  <a:pt x="0" y="706"/>
                </a:cubicBezTo>
                <a:cubicBezTo>
                  <a:pt x="0" y="954"/>
                  <a:pt x="129" y="1172"/>
                  <a:pt x="323" y="1298"/>
                </a:cubicBezTo>
                <a:cubicBezTo>
                  <a:pt x="1090" y="1298"/>
                  <a:pt x="1090" y="1298"/>
                  <a:pt x="1090" y="1298"/>
                </a:cubicBezTo>
                <a:cubicBezTo>
                  <a:pt x="1193" y="1232"/>
                  <a:pt x="1276" y="1140"/>
                  <a:pt x="1333" y="1031"/>
                </a:cubicBezTo>
                <a:close/>
              </a:path>
            </a:pathLst>
          </a:custGeom>
          <a:solidFill>
            <a:schemeClr val="bg1">
              <a:alpha val="70000"/>
            </a:schemeClr>
          </a:solidFill>
          <a:ln w="50800" cap="sq" cmpd="dbl">
            <a:noFill/>
            <a:miter lim="800000"/>
          </a:ln>
          <a:effectLst/>
        </p:spPr>
        <p:txBody>
          <a:bodyPr vert="horz" lIns="91440" tIns="45720" rIns="91440" bIns="45720" rtlCol="0" anchor="t">
            <a:normAutofit/>
          </a:bodyPr>
          <a:lstStyle/>
          <a:p>
            <a:pPr marL="0" marR="0" lvl="0" indent="0" algn="ctr" defTabSz="914400" rtl="0" eaLnBrk="1" fontAlgn="auto" latinLnBrk="0" hangingPunct="1">
              <a:lnSpc>
                <a:spcPct val="100000"/>
              </a:lnSpc>
              <a:spcBef>
                <a:spcPts val="0"/>
              </a:spcBef>
              <a:spcAft>
                <a:spcPts val="1000"/>
              </a:spcAft>
              <a:buClr>
                <a:prstClr val="black"/>
              </a:buClr>
              <a:buSzPct val="100000"/>
              <a:buFont typeface="Arial"/>
              <a:buNone/>
              <a:tabLst/>
              <a:defRPr/>
            </a:pPr>
            <a:endParaRPr kumimoji="0" lang="en-US" sz="1600" b="0" i="0" u="none" strike="noStrike" kern="1200" cap="all" spc="0" normalizeH="0" baseline="0" noProof="0">
              <a:ln>
                <a:noFill/>
              </a:ln>
              <a:solidFill>
                <a:prstClr val="black"/>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CD8B7C7-01BE-4D45-A8BF-4C858FEBFFED}"/>
              </a:ext>
            </a:extLst>
          </p:cNvPr>
          <p:cNvSpPr>
            <a:spLocks noGrp="1"/>
          </p:cNvSpPr>
          <p:nvPr>
            <p:ph type="title"/>
          </p:nvPr>
        </p:nvSpPr>
        <p:spPr>
          <a:xfrm>
            <a:off x="8022021" y="3231931"/>
            <a:ext cx="3852041" cy="1834056"/>
          </a:xfrm>
        </p:spPr>
        <p:txBody>
          <a:bodyPr vert="horz" lIns="91440" tIns="45720" rIns="91440" bIns="45720" rtlCol="0" anchor="b">
            <a:normAutofit/>
          </a:bodyPr>
          <a:lstStyle/>
          <a:p>
            <a:pPr algn="ctr"/>
            <a:r>
              <a:rPr lang="en-US" sz="4000"/>
              <a:t>Questions</a:t>
            </a:r>
          </a:p>
        </p:txBody>
      </p:sp>
      <p:cxnSp>
        <p:nvCxnSpPr>
          <p:cNvPr id="11" name="Straight Connector 10">
            <a:extLst>
              <a:ext uri="{FF2B5EF4-FFF2-40B4-BE49-F238E27FC236}">
                <a16:creationId xmlns:a16="http://schemas.microsoft.com/office/drawing/2014/main" id="{BCDAEC91-5BCE-4B55-9CC0-43EF94CB73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480331" y="5123793"/>
            <a:ext cx="935420" cy="0"/>
          </a:xfrm>
          <a:prstGeom prst="line">
            <a:avLst/>
          </a:prstGeom>
          <a:ln w="25400" cap="sq">
            <a:solidFill>
              <a:schemeClr val="tx1">
                <a:lumMod val="85000"/>
                <a:lumOff val="15000"/>
              </a:schemeClr>
            </a:solidFill>
            <a:bevel/>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CEC846E1-59CF-477A-92F0-F907117DB09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02611B-C7D4-401B-B615-A1AB963424CC}"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13241763"/>
      </p:ext>
    </p:extLst>
  </p:cSld>
  <p:clrMapOvr>
    <a:masterClrMapping/>
  </p:clrMapOvr>
</p:sld>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2908</TotalTime>
  <Words>4157</Words>
  <Application>Microsoft Macintosh PowerPoint</Application>
  <PresentationFormat>Widescreen</PresentationFormat>
  <Paragraphs>688</Paragraphs>
  <Slides>55</Slides>
  <Notes>20</Notes>
  <HiddenSlides>0</HiddenSlides>
  <MMClips>1</MMClips>
  <ScaleCrop>false</ScaleCrop>
  <HeadingPairs>
    <vt:vector size="8" baseType="variant">
      <vt:variant>
        <vt:lpstr>Fonts Used</vt:lpstr>
      </vt:variant>
      <vt:variant>
        <vt:i4>11</vt:i4>
      </vt:variant>
      <vt:variant>
        <vt:lpstr>Theme</vt:lpstr>
      </vt:variant>
      <vt:variant>
        <vt:i4>3</vt:i4>
      </vt:variant>
      <vt:variant>
        <vt:lpstr>Embedded OLE Servers</vt:lpstr>
      </vt:variant>
      <vt:variant>
        <vt:i4>1</vt:i4>
      </vt:variant>
      <vt:variant>
        <vt:lpstr>Slide Titles</vt:lpstr>
      </vt:variant>
      <vt:variant>
        <vt:i4>55</vt:i4>
      </vt:variant>
    </vt:vector>
  </HeadingPairs>
  <TitlesOfParts>
    <vt:vector size="70" baseType="lpstr">
      <vt:lpstr>Arial</vt:lpstr>
      <vt:lpstr>Calibri</vt:lpstr>
      <vt:lpstr>Calibri Light</vt:lpstr>
      <vt:lpstr>Helvetica</vt:lpstr>
      <vt:lpstr>Lato Extended</vt:lpstr>
      <vt:lpstr>Roboto</vt:lpstr>
      <vt:lpstr>Rockwell Extra Bold</vt:lpstr>
      <vt:lpstr>Söhne</vt:lpstr>
      <vt:lpstr>Times New Roman</vt:lpstr>
      <vt:lpstr>Wingdings</vt:lpstr>
      <vt:lpstr>Wingdings 2</vt:lpstr>
      <vt:lpstr>Office Theme</vt:lpstr>
      <vt:lpstr>2_Office Theme</vt:lpstr>
      <vt:lpstr>Wood Type</vt:lpstr>
      <vt:lpstr>Slide</vt:lpstr>
      <vt:lpstr>Software ENGINEERING </vt:lpstr>
      <vt:lpstr>Learning Outcomes –  Subject Mastery</vt:lpstr>
      <vt:lpstr>Testing Dimensions</vt:lpstr>
      <vt:lpstr>Black Box / White Box Testing</vt:lpstr>
      <vt:lpstr>White Box Testing Techniques</vt:lpstr>
      <vt:lpstr>what IS Control flow graph?</vt:lpstr>
      <vt:lpstr>Control Flow Testing: Basic Idea</vt:lpstr>
      <vt:lpstr>Control Flow Testing: Basic Idea</vt:lpstr>
      <vt:lpstr>Control flow graph (CFG) Examples</vt:lpstr>
      <vt:lpstr>Control flow graph (CFG) Examples</vt:lpstr>
      <vt:lpstr>Control flow graph (CFG) Examples</vt:lpstr>
      <vt:lpstr>Control flow graph (CFG) Examples</vt:lpstr>
      <vt:lpstr>Example: CFG for ComputeStats</vt:lpstr>
      <vt:lpstr>PowerPoint Presentation</vt:lpstr>
      <vt:lpstr>PROGRAM Path</vt:lpstr>
      <vt:lpstr>PowerPoint Presentation</vt:lpstr>
      <vt:lpstr>Paths in a Control Flow Graph</vt:lpstr>
      <vt:lpstr>Feasible vs. Infeasible Paths</vt:lpstr>
      <vt:lpstr>Outline of Control Flow Testing</vt:lpstr>
      <vt:lpstr>Path Selection Criteria</vt:lpstr>
      <vt:lpstr>Statement coverage criterion</vt:lpstr>
      <vt:lpstr>Statement Coverage: Example</vt:lpstr>
      <vt:lpstr>Branch coverage criterion</vt:lpstr>
      <vt:lpstr>Branch Coverage: Example</vt:lpstr>
      <vt:lpstr>Simple Path Coverage</vt:lpstr>
      <vt:lpstr>Simple Path Coverage: Example</vt:lpstr>
      <vt:lpstr>All Path Coverage</vt:lpstr>
      <vt:lpstr>All Path Coverage: Example</vt:lpstr>
      <vt:lpstr> Visit-Each-Loop Coverage </vt:lpstr>
      <vt:lpstr>  Visit-Each-Loop Coverage: Example</vt:lpstr>
      <vt:lpstr>PowerPoint Presentation</vt:lpstr>
      <vt:lpstr>Linearly Independent Paths</vt:lpstr>
      <vt:lpstr>McCabe’s Cyclomatic Complexity</vt:lpstr>
      <vt:lpstr>McCabe Example</vt:lpstr>
      <vt:lpstr>PowerPoint Presentation</vt:lpstr>
      <vt:lpstr>Example, Continued</vt:lpstr>
      <vt:lpstr>Linearly Independent Paths</vt:lpstr>
      <vt:lpstr>Graph Coverage Web Application </vt:lpstr>
      <vt:lpstr>GRAPH COVERAGE WEB APPLICATION</vt:lpstr>
      <vt:lpstr>CONTROL FLOW TESTING TOOLS</vt:lpstr>
      <vt:lpstr>CONTROL FLOW TESTING TOOLS</vt:lpstr>
      <vt:lpstr>Which Coverage Criterion to select? </vt:lpstr>
      <vt:lpstr>Code coverage requirements </vt:lpstr>
      <vt:lpstr>Minimum Acceptable Code Coverage Standards</vt:lpstr>
      <vt:lpstr>Code Coverage Tools</vt:lpstr>
      <vt:lpstr>Code Coverage Tools</vt:lpstr>
      <vt:lpstr>Code Coverage Tools</vt:lpstr>
      <vt:lpstr>Knowledge Check</vt:lpstr>
      <vt:lpstr>Knowledge Check</vt:lpstr>
      <vt:lpstr>Knowledge Check</vt:lpstr>
      <vt:lpstr>Knowledge Check</vt:lpstr>
      <vt:lpstr>Control Flow Testing comparison</vt:lpstr>
      <vt:lpstr>Summary</vt:lpstr>
      <vt:lpstr>What about Data Flow?</vt:lpstr>
      <vt:lpstr>Questions</vt:lpstr>
    </vt:vector>
  </TitlesOfParts>
  <Company>Penn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Overview on Software Testing</dc:title>
  <dc:creator>Mohamad Kasab</dc:creator>
  <cp:lastModifiedBy>Kontothanassis, Leonidas</cp:lastModifiedBy>
  <cp:revision>119</cp:revision>
  <dcterms:created xsi:type="dcterms:W3CDTF">2017-04-19T02:07:08Z</dcterms:created>
  <dcterms:modified xsi:type="dcterms:W3CDTF">2025-10-23T19:28:37Z</dcterms:modified>
</cp:coreProperties>
</file>