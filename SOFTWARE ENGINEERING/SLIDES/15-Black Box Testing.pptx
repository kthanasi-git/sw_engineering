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 id="2147483677" r:id="rId3"/>
  </p:sldMasterIdLst>
  <p:notesMasterIdLst>
    <p:notesMasterId r:id="rId45"/>
  </p:notesMasterIdLst>
  <p:sldIdLst>
    <p:sldId id="339" r:id="rId4"/>
    <p:sldId id="411" r:id="rId5"/>
    <p:sldId id="375" r:id="rId6"/>
    <p:sldId id="412" r:id="rId7"/>
    <p:sldId id="413" r:id="rId8"/>
    <p:sldId id="414" r:id="rId9"/>
    <p:sldId id="415" r:id="rId10"/>
    <p:sldId id="416" r:id="rId11"/>
    <p:sldId id="418" r:id="rId12"/>
    <p:sldId id="420" r:id="rId13"/>
    <p:sldId id="423" r:id="rId14"/>
    <p:sldId id="424" r:id="rId15"/>
    <p:sldId id="426" r:id="rId16"/>
    <p:sldId id="432" r:id="rId17"/>
    <p:sldId id="778" r:id="rId18"/>
    <p:sldId id="434" r:id="rId19"/>
    <p:sldId id="465" r:id="rId20"/>
    <p:sldId id="435" r:id="rId21"/>
    <p:sldId id="445" r:id="rId22"/>
    <p:sldId id="438" r:id="rId23"/>
    <p:sldId id="447" r:id="rId24"/>
    <p:sldId id="468" r:id="rId25"/>
    <p:sldId id="470" r:id="rId26"/>
    <p:sldId id="471" r:id="rId27"/>
    <p:sldId id="469" r:id="rId28"/>
    <p:sldId id="480" r:id="rId29"/>
    <p:sldId id="481" r:id="rId30"/>
    <p:sldId id="482" r:id="rId31"/>
    <p:sldId id="483" r:id="rId32"/>
    <p:sldId id="484" r:id="rId33"/>
    <p:sldId id="485" r:id="rId34"/>
    <p:sldId id="486" r:id="rId35"/>
    <p:sldId id="487" r:id="rId36"/>
    <p:sldId id="489" r:id="rId37"/>
    <p:sldId id="490" r:id="rId38"/>
    <p:sldId id="779" r:id="rId39"/>
    <p:sldId id="780" r:id="rId40"/>
    <p:sldId id="776" r:id="rId41"/>
    <p:sldId id="777" r:id="rId42"/>
    <p:sldId id="775" r:id="rId43"/>
    <p:sldId id="472"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3123"/>
  </p:normalViewPr>
  <p:slideViewPr>
    <p:cSldViewPr snapToGrid="0">
      <p:cViewPr varScale="1">
        <p:scale>
          <a:sx n="136" d="100"/>
          <a:sy n="136" d="100"/>
        </p:scale>
        <p:origin x="216" y="7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A3A46A-BEA2-4ED6-99B6-5FF0DA842230}" type="doc">
      <dgm:prSet loTypeId="urn:microsoft.com/office/officeart/2008/layout/LinedList" loCatId="list" qsTypeId="urn:microsoft.com/office/officeart/2005/8/quickstyle/simple1" qsCatId="simple" csTypeId="urn:microsoft.com/office/officeart/2005/8/colors/colorful1" csCatId="colorful"/>
      <dgm:spPr/>
      <dgm:t>
        <a:bodyPr/>
        <a:lstStyle/>
        <a:p>
          <a:endParaRPr lang="en-US"/>
        </a:p>
      </dgm:t>
    </dgm:pt>
    <dgm:pt modelId="{54F70B73-61F5-46EE-83A5-A2175C28E1E9}">
      <dgm:prSet/>
      <dgm:spPr/>
      <dgm:t>
        <a:bodyPr/>
        <a:lstStyle/>
        <a:p>
          <a:r>
            <a:rPr lang="en-US" b="1"/>
            <a:t>Functional Testing</a:t>
          </a:r>
          <a:endParaRPr lang="en-US"/>
        </a:p>
      </dgm:t>
    </dgm:pt>
    <dgm:pt modelId="{D3AA4AD2-6496-4387-A970-4A62F355326B}" type="parTrans" cxnId="{5E940BC7-F311-48AD-A400-FDB6646E5AF4}">
      <dgm:prSet/>
      <dgm:spPr/>
      <dgm:t>
        <a:bodyPr/>
        <a:lstStyle/>
        <a:p>
          <a:endParaRPr lang="en-US"/>
        </a:p>
      </dgm:t>
    </dgm:pt>
    <dgm:pt modelId="{F83C1C3A-FB3F-424E-9466-EC705EEE83D3}" type="sibTrans" cxnId="{5E940BC7-F311-48AD-A400-FDB6646E5AF4}">
      <dgm:prSet/>
      <dgm:spPr/>
      <dgm:t>
        <a:bodyPr/>
        <a:lstStyle/>
        <a:p>
          <a:endParaRPr lang="en-US"/>
        </a:p>
      </dgm:t>
    </dgm:pt>
    <dgm:pt modelId="{A2656FCD-A253-4B28-BCA8-49658A1846C0}">
      <dgm:prSet/>
      <dgm:spPr/>
      <dgm:t>
        <a:bodyPr/>
        <a:lstStyle/>
        <a:p>
          <a:r>
            <a:rPr lang="en-US"/>
            <a:t>Boundary Testing </a:t>
          </a:r>
        </a:p>
      </dgm:t>
    </dgm:pt>
    <dgm:pt modelId="{570B2CFB-AFB2-4858-B243-39A50992A026}" type="parTrans" cxnId="{8541F3B3-5221-414B-A175-4C4867CBF062}">
      <dgm:prSet/>
      <dgm:spPr/>
      <dgm:t>
        <a:bodyPr/>
        <a:lstStyle/>
        <a:p>
          <a:endParaRPr lang="en-US"/>
        </a:p>
      </dgm:t>
    </dgm:pt>
    <dgm:pt modelId="{A42D3A7F-2519-4B22-BB59-42C1CA5DCBBE}" type="sibTrans" cxnId="{8541F3B3-5221-414B-A175-4C4867CBF062}">
      <dgm:prSet/>
      <dgm:spPr/>
      <dgm:t>
        <a:bodyPr/>
        <a:lstStyle/>
        <a:p>
          <a:endParaRPr lang="en-US"/>
        </a:p>
      </dgm:t>
    </dgm:pt>
    <dgm:pt modelId="{19EC3449-9E76-4E50-9753-A24AE781AC25}">
      <dgm:prSet/>
      <dgm:spPr/>
      <dgm:t>
        <a:bodyPr/>
        <a:lstStyle/>
        <a:p>
          <a:r>
            <a:rPr lang="en-US"/>
            <a:t>Equivalence Class Testing</a:t>
          </a:r>
        </a:p>
      </dgm:t>
    </dgm:pt>
    <dgm:pt modelId="{69D981DE-234D-45B9-A630-A88A0031F554}" type="parTrans" cxnId="{04644EB0-5AFC-4C76-8D52-54247E32C91D}">
      <dgm:prSet/>
      <dgm:spPr/>
      <dgm:t>
        <a:bodyPr/>
        <a:lstStyle/>
        <a:p>
          <a:endParaRPr lang="en-US"/>
        </a:p>
      </dgm:t>
    </dgm:pt>
    <dgm:pt modelId="{5CA5CEAC-DDE4-4040-8ED9-98620654CBE5}" type="sibTrans" cxnId="{04644EB0-5AFC-4C76-8D52-54247E32C91D}">
      <dgm:prSet/>
      <dgm:spPr/>
      <dgm:t>
        <a:bodyPr/>
        <a:lstStyle/>
        <a:p>
          <a:endParaRPr lang="en-US"/>
        </a:p>
      </dgm:t>
    </dgm:pt>
    <dgm:pt modelId="{ABAA4BA0-9AA3-4BDF-A5AC-F4262224734E}">
      <dgm:prSet/>
      <dgm:spPr/>
      <dgm:t>
        <a:bodyPr/>
        <a:lstStyle/>
        <a:p>
          <a:r>
            <a:rPr lang="en-US"/>
            <a:t>Decision Table – Based Testing</a:t>
          </a:r>
        </a:p>
      </dgm:t>
    </dgm:pt>
    <dgm:pt modelId="{D78D873B-FA33-4B98-A456-F01D3CDC615D}" type="parTrans" cxnId="{5D03439B-F539-4F3D-88B2-47E5AD3DEF18}">
      <dgm:prSet/>
      <dgm:spPr/>
      <dgm:t>
        <a:bodyPr/>
        <a:lstStyle/>
        <a:p>
          <a:endParaRPr lang="en-US"/>
        </a:p>
      </dgm:t>
    </dgm:pt>
    <dgm:pt modelId="{FE486C05-E289-4987-97D0-B462654B3A6E}" type="sibTrans" cxnId="{5D03439B-F539-4F3D-88B2-47E5AD3DEF18}">
      <dgm:prSet/>
      <dgm:spPr/>
      <dgm:t>
        <a:bodyPr/>
        <a:lstStyle/>
        <a:p>
          <a:endParaRPr lang="en-US"/>
        </a:p>
      </dgm:t>
    </dgm:pt>
    <dgm:pt modelId="{09D53F58-03E8-4578-9064-ECC070C6DF87}">
      <dgm:prSet/>
      <dgm:spPr/>
      <dgm:t>
        <a:bodyPr/>
        <a:lstStyle/>
        <a:p>
          <a:r>
            <a:rPr lang="en-US"/>
            <a:t>All-Pairs Testing</a:t>
          </a:r>
        </a:p>
      </dgm:t>
    </dgm:pt>
    <dgm:pt modelId="{40CE48B2-1C67-42A2-9297-0A74B8E1C766}" type="parTrans" cxnId="{F9E4E79B-7ED0-4A17-B7D7-126B9601F5C3}">
      <dgm:prSet/>
      <dgm:spPr/>
      <dgm:t>
        <a:bodyPr/>
        <a:lstStyle/>
        <a:p>
          <a:endParaRPr lang="en-US"/>
        </a:p>
      </dgm:t>
    </dgm:pt>
    <dgm:pt modelId="{2792638D-444C-43BD-B7F4-3BF99FFE840A}" type="sibTrans" cxnId="{F9E4E79B-7ED0-4A17-B7D7-126B9601F5C3}">
      <dgm:prSet/>
      <dgm:spPr/>
      <dgm:t>
        <a:bodyPr/>
        <a:lstStyle/>
        <a:p>
          <a:endParaRPr lang="en-US"/>
        </a:p>
      </dgm:t>
    </dgm:pt>
    <dgm:pt modelId="{2911E297-CB11-4719-9D8C-A8248E37941C}" type="pres">
      <dgm:prSet presAssocID="{A5A3A46A-BEA2-4ED6-99B6-5FF0DA842230}" presName="vert0" presStyleCnt="0">
        <dgm:presLayoutVars>
          <dgm:dir/>
          <dgm:animOne val="branch"/>
          <dgm:animLvl val="lvl"/>
        </dgm:presLayoutVars>
      </dgm:prSet>
      <dgm:spPr/>
    </dgm:pt>
    <dgm:pt modelId="{84E92ADF-D9B4-4505-88A3-2FFBA012B44B}" type="pres">
      <dgm:prSet presAssocID="{54F70B73-61F5-46EE-83A5-A2175C28E1E9}" presName="thickLine" presStyleLbl="alignNode1" presStyleIdx="0" presStyleCnt="5"/>
      <dgm:spPr/>
    </dgm:pt>
    <dgm:pt modelId="{8336FA13-D2B5-42D4-8502-5696E57C9E7B}" type="pres">
      <dgm:prSet presAssocID="{54F70B73-61F5-46EE-83A5-A2175C28E1E9}" presName="horz1" presStyleCnt="0"/>
      <dgm:spPr/>
    </dgm:pt>
    <dgm:pt modelId="{39E2C45A-33BB-490D-8506-90AAF95D5A99}" type="pres">
      <dgm:prSet presAssocID="{54F70B73-61F5-46EE-83A5-A2175C28E1E9}" presName="tx1" presStyleLbl="revTx" presStyleIdx="0" presStyleCnt="5"/>
      <dgm:spPr/>
    </dgm:pt>
    <dgm:pt modelId="{2D7471A8-FDF4-445D-8B41-FC1E5302570C}" type="pres">
      <dgm:prSet presAssocID="{54F70B73-61F5-46EE-83A5-A2175C28E1E9}" presName="vert1" presStyleCnt="0"/>
      <dgm:spPr/>
    </dgm:pt>
    <dgm:pt modelId="{97CBF805-0548-4B49-9E87-ED8F6B399F26}" type="pres">
      <dgm:prSet presAssocID="{A2656FCD-A253-4B28-BCA8-49658A1846C0}" presName="thickLine" presStyleLbl="alignNode1" presStyleIdx="1" presStyleCnt="5"/>
      <dgm:spPr/>
    </dgm:pt>
    <dgm:pt modelId="{88C2AF47-87A5-419D-B786-6D8DAFDDE1B5}" type="pres">
      <dgm:prSet presAssocID="{A2656FCD-A253-4B28-BCA8-49658A1846C0}" presName="horz1" presStyleCnt="0"/>
      <dgm:spPr/>
    </dgm:pt>
    <dgm:pt modelId="{275E0B7C-0413-43FB-9A50-71DDF466BDD5}" type="pres">
      <dgm:prSet presAssocID="{A2656FCD-A253-4B28-BCA8-49658A1846C0}" presName="tx1" presStyleLbl="revTx" presStyleIdx="1" presStyleCnt="5"/>
      <dgm:spPr/>
    </dgm:pt>
    <dgm:pt modelId="{685FCBA4-3AB4-4679-A4AD-52BBF472E8E5}" type="pres">
      <dgm:prSet presAssocID="{A2656FCD-A253-4B28-BCA8-49658A1846C0}" presName="vert1" presStyleCnt="0"/>
      <dgm:spPr/>
    </dgm:pt>
    <dgm:pt modelId="{50BA78A5-8FA4-44DD-A455-89322823F036}" type="pres">
      <dgm:prSet presAssocID="{19EC3449-9E76-4E50-9753-A24AE781AC25}" presName="thickLine" presStyleLbl="alignNode1" presStyleIdx="2" presStyleCnt="5"/>
      <dgm:spPr/>
    </dgm:pt>
    <dgm:pt modelId="{98FEAE20-60ED-4487-BA38-B59189C1FDBB}" type="pres">
      <dgm:prSet presAssocID="{19EC3449-9E76-4E50-9753-A24AE781AC25}" presName="horz1" presStyleCnt="0"/>
      <dgm:spPr/>
    </dgm:pt>
    <dgm:pt modelId="{8EB29194-77E3-480C-9BD7-7DD4340E7C9F}" type="pres">
      <dgm:prSet presAssocID="{19EC3449-9E76-4E50-9753-A24AE781AC25}" presName="tx1" presStyleLbl="revTx" presStyleIdx="2" presStyleCnt="5"/>
      <dgm:spPr/>
    </dgm:pt>
    <dgm:pt modelId="{C245A498-FC77-4E52-9D59-2E4775120299}" type="pres">
      <dgm:prSet presAssocID="{19EC3449-9E76-4E50-9753-A24AE781AC25}" presName="vert1" presStyleCnt="0"/>
      <dgm:spPr/>
    </dgm:pt>
    <dgm:pt modelId="{A9355ED2-C20C-4CD2-A3CE-8592040ED976}" type="pres">
      <dgm:prSet presAssocID="{ABAA4BA0-9AA3-4BDF-A5AC-F4262224734E}" presName="thickLine" presStyleLbl="alignNode1" presStyleIdx="3" presStyleCnt="5"/>
      <dgm:spPr/>
    </dgm:pt>
    <dgm:pt modelId="{CAE392A6-ECD7-43BF-BECD-E59F9D93F389}" type="pres">
      <dgm:prSet presAssocID="{ABAA4BA0-9AA3-4BDF-A5AC-F4262224734E}" presName="horz1" presStyleCnt="0"/>
      <dgm:spPr/>
    </dgm:pt>
    <dgm:pt modelId="{D4F871EA-8966-4043-8EDF-F35E3858FB0D}" type="pres">
      <dgm:prSet presAssocID="{ABAA4BA0-9AA3-4BDF-A5AC-F4262224734E}" presName="tx1" presStyleLbl="revTx" presStyleIdx="3" presStyleCnt="5"/>
      <dgm:spPr/>
    </dgm:pt>
    <dgm:pt modelId="{C01BBB85-8CF1-4281-8FF4-E53A67439923}" type="pres">
      <dgm:prSet presAssocID="{ABAA4BA0-9AA3-4BDF-A5AC-F4262224734E}" presName="vert1" presStyleCnt="0"/>
      <dgm:spPr/>
    </dgm:pt>
    <dgm:pt modelId="{E6E98197-FC65-42BE-9284-3DE1AEB6B107}" type="pres">
      <dgm:prSet presAssocID="{09D53F58-03E8-4578-9064-ECC070C6DF87}" presName="thickLine" presStyleLbl="alignNode1" presStyleIdx="4" presStyleCnt="5"/>
      <dgm:spPr/>
    </dgm:pt>
    <dgm:pt modelId="{2926142E-D4B2-4210-B19E-1DE18CE2D7D0}" type="pres">
      <dgm:prSet presAssocID="{09D53F58-03E8-4578-9064-ECC070C6DF87}" presName="horz1" presStyleCnt="0"/>
      <dgm:spPr/>
    </dgm:pt>
    <dgm:pt modelId="{6A4B5307-DAE0-45C7-A8E5-3FCD38FA53BD}" type="pres">
      <dgm:prSet presAssocID="{09D53F58-03E8-4578-9064-ECC070C6DF87}" presName="tx1" presStyleLbl="revTx" presStyleIdx="4" presStyleCnt="5"/>
      <dgm:spPr/>
    </dgm:pt>
    <dgm:pt modelId="{58A10F99-DEEA-4F2F-BE76-7FF6AD740EEC}" type="pres">
      <dgm:prSet presAssocID="{09D53F58-03E8-4578-9064-ECC070C6DF87}" presName="vert1" presStyleCnt="0"/>
      <dgm:spPr/>
    </dgm:pt>
  </dgm:ptLst>
  <dgm:cxnLst>
    <dgm:cxn modelId="{BCFC1D23-63A2-495E-B3B1-5906FEE9F851}" type="presOf" srcId="{ABAA4BA0-9AA3-4BDF-A5AC-F4262224734E}" destId="{D4F871EA-8966-4043-8EDF-F35E3858FB0D}" srcOrd="0" destOrd="0" presId="urn:microsoft.com/office/officeart/2008/layout/LinedList"/>
    <dgm:cxn modelId="{CC810D5C-0487-4A48-B648-32E705EFFAA9}" type="presOf" srcId="{A2656FCD-A253-4B28-BCA8-49658A1846C0}" destId="{275E0B7C-0413-43FB-9A50-71DDF466BDD5}" srcOrd="0" destOrd="0" presId="urn:microsoft.com/office/officeart/2008/layout/LinedList"/>
    <dgm:cxn modelId="{F28C2085-A573-4A6E-AC57-D69959C328C6}" type="presOf" srcId="{54F70B73-61F5-46EE-83A5-A2175C28E1E9}" destId="{39E2C45A-33BB-490D-8506-90AAF95D5A99}" srcOrd="0" destOrd="0" presId="urn:microsoft.com/office/officeart/2008/layout/LinedList"/>
    <dgm:cxn modelId="{5D03439B-F539-4F3D-88B2-47E5AD3DEF18}" srcId="{A5A3A46A-BEA2-4ED6-99B6-5FF0DA842230}" destId="{ABAA4BA0-9AA3-4BDF-A5AC-F4262224734E}" srcOrd="3" destOrd="0" parTransId="{D78D873B-FA33-4B98-A456-F01D3CDC615D}" sibTransId="{FE486C05-E289-4987-97D0-B462654B3A6E}"/>
    <dgm:cxn modelId="{F9E4E79B-7ED0-4A17-B7D7-126B9601F5C3}" srcId="{A5A3A46A-BEA2-4ED6-99B6-5FF0DA842230}" destId="{09D53F58-03E8-4578-9064-ECC070C6DF87}" srcOrd="4" destOrd="0" parTransId="{40CE48B2-1C67-42A2-9297-0A74B8E1C766}" sibTransId="{2792638D-444C-43BD-B7F4-3BF99FFE840A}"/>
    <dgm:cxn modelId="{04644EB0-5AFC-4C76-8D52-54247E32C91D}" srcId="{A5A3A46A-BEA2-4ED6-99B6-5FF0DA842230}" destId="{19EC3449-9E76-4E50-9753-A24AE781AC25}" srcOrd="2" destOrd="0" parTransId="{69D981DE-234D-45B9-A630-A88A0031F554}" sibTransId="{5CA5CEAC-DDE4-4040-8ED9-98620654CBE5}"/>
    <dgm:cxn modelId="{8541F3B3-5221-414B-A175-4C4867CBF062}" srcId="{A5A3A46A-BEA2-4ED6-99B6-5FF0DA842230}" destId="{A2656FCD-A253-4B28-BCA8-49658A1846C0}" srcOrd="1" destOrd="0" parTransId="{570B2CFB-AFB2-4858-B243-39A50992A026}" sibTransId="{A42D3A7F-2519-4B22-BB59-42C1CA5DCBBE}"/>
    <dgm:cxn modelId="{5E940BC7-F311-48AD-A400-FDB6646E5AF4}" srcId="{A5A3A46A-BEA2-4ED6-99B6-5FF0DA842230}" destId="{54F70B73-61F5-46EE-83A5-A2175C28E1E9}" srcOrd="0" destOrd="0" parTransId="{D3AA4AD2-6496-4387-A970-4A62F355326B}" sibTransId="{F83C1C3A-FB3F-424E-9466-EC705EEE83D3}"/>
    <dgm:cxn modelId="{EEA3BAC8-12C1-45D3-A354-CF0A64033960}" type="presOf" srcId="{09D53F58-03E8-4578-9064-ECC070C6DF87}" destId="{6A4B5307-DAE0-45C7-A8E5-3FCD38FA53BD}" srcOrd="0" destOrd="0" presId="urn:microsoft.com/office/officeart/2008/layout/LinedList"/>
    <dgm:cxn modelId="{06EB60D0-86CF-453D-B859-1864116206B5}" type="presOf" srcId="{19EC3449-9E76-4E50-9753-A24AE781AC25}" destId="{8EB29194-77E3-480C-9BD7-7DD4340E7C9F}" srcOrd="0" destOrd="0" presId="urn:microsoft.com/office/officeart/2008/layout/LinedList"/>
    <dgm:cxn modelId="{ECF3D9E3-6953-4B35-A9D9-F37AC0356446}" type="presOf" srcId="{A5A3A46A-BEA2-4ED6-99B6-5FF0DA842230}" destId="{2911E297-CB11-4719-9D8C-A8248E37941C}" srcOrd="0" destOrd="0" presId="urn:microsoft.com/office/officeart/2008/layout/LinedList"/>
    <dgm:cxn modelId="{EC1444E6-F755-4DD6-B9F7-78452F9337F8}" type="presParOf" srcId="{2911E297-CB11-4719-9D8C-A8248E37941C}" destId="{84E92ADF-D9B4-4505-88A3-2FFBA012B44B}" srcOrd="0" destOrd="0" presId="urn:microsoft.com/office/officeart/2008/layout/LinedList"/>
    <dgm:cxn modelId="{CCE2C0BB-B0C9-4209-8FEF-CA4D4515F10D}" type="presParOf" srcId="{2911E297-CB11-4719-9D8C-A8248E37941C}" destId="{8336FA13-D2B5-42D4-8502-5696E57C9E7B}" srcOrd="1" destOrd="0" presId="urn:microsoft.com/office/officeart/2008/layout/LinedList"/>
    <dgm:cxn modelId="{A52FA3DF-A071-413F-B709-D77760DD0E3C}" type="presParOf" srcId="{8336FA13-D2B5-42D4-8502-5696E57C9E7B}" destId="{39E2C45A-33BB-490D-8506-90AAF95D5A99}" srcOrd="0" destOrd="0" presId="urn:microsoft.com/office/officeart/2008/layout/LinedList"/>
    <dgm:cxn modelId="{3B576C1A-DB01-4547-B7EF-EEF7961CC7A6}" type="presParOf" srcId="{8336FA13-D2B5-42D4-8502-5696E57C9E7B}" destId="{2D7471A8-FDF4-445D-8B41-FC1E5302570C}" srcOrd="1" destOrd="0" presId="urn:microsoft.com/office/officeart/2008/layout/LinedList"/>
    <dgm:cxn modelId="{7F99809E-93DE-40DD-AFB8-6C6D40683105}" type="presParOf" srcId="{2911E297-CB11-4719-9D8C-A8248E37941C}" destId="{97CBF805-0548-4B49-9E87-ED8F6B399F26}" srcOrd="2" destOrd="0" presId="urn:microsoft.com/office/officeart/2008/layout/LinedList"/>
    <dgm:cxn modelId="{86B4F995-71F9-4E2F-91C3-A085331C5B8A}" type="presParOf" srcId="{2911E297-CB11-4719-9D8C-A8248E37941C}" destId="{88C2AF47-87A5-419D-B786-6D8DAFDDE1B5}" srcOrd="3" destOrd="0" presId="urn:microsoft.com/office/officeart/2008/layout/LinedList"/>
    <dgm:cxn modelId="{087C9076-F145-4185-9E44-D40419BB2D17}" type="presParOf" srcId="{88C2AF47-87A5-419D-B786-6D8DAFDDE1B5}" destId="{275E0B7C-0413-43FB-9A50-71DDF466BDD5}" srcOrd="0" destOrd="0" presId="urn:microsoft.com/office/officeart/2008/layout/LinedList"/>
    <dgm:cxn modelId="{F8CDFB3B-1449-4AED-BF45-1D421512CBE3}" type="presParOf" srcId="{88C2AF47-87A5-419D-B786-6D8DAFDDE1B5}" destId="{685FCBA4-3AB4-4679-A4AD-52BBF472E8E5}" srcOrd="1" destOrd="0" presId="urn:microsoft.com/office/officeart/2008/layout/LinedList"/>
    <dgm:cxn modelId="{F0F5DD0C-B98B-4E49-AFDF-E642DC43DDC5}" type="presParOf" srcId="{2911E297-CB11-4719-9D8C-A8248E37941C}" destId="{50BA78A5-8FA4-44DD-A455-89322823F036}" srcOrd="4" destOrd="0" presId="urn:microsoft.com/office/officeart/2008/layout/LinedList"/>
    <dgm:cxn modelId="{977A3D9E-9245-4B16-AC08-72B3E6A6BD0D}" type="presParOf" srcId="{2911E297-CB11-4719-9D8C-A8248E37941C}" destId="{98FEAE20-60ED-4487-BA38-B59189C1FDBB}" srcOrd="5" destOrd="0" presId="urn:microsoft.com/office/officeart/2008/layout/LinedList"/>
    <dgm:cxn modelId="{223B8EDD-C0AC-4B6F-B317-888B461AF4F4}" type="presParOf" srcId="{98FEAE20-60ED-4487-BA38-B59189C1FDBB}" destId="{8EB29194-77E3-480C-9BD7-7DD4340E7C9F}" srcOrd="0" destOrd="0" presId="urn:microsoft.com/office/officeart/2008/layout/LinedList"/>
    <dgm:cxn modelId="{EFC6EC40-D6C0-443E-8973-BF11AE597B2F}" type="presParOf" srcId="{98FEAE20-60ED-4487-BA38-B59189C1FDBB}" destId="{C245A498-FC77-4E52-9D59-2E4775120299}" srcOrd="1" destOrd="0" presId="urn:microsoft.com/office/officeart/2008/layout/LinedList"/>
    <dgm:cxn modelId="{91BAA542-AA73-4DDF-9C92-B4F6D9CDC26E}" type="presParOf" srcId="{2911E297-CB11-4719-9D8C-A8248E37941C}" destId="{A9355ED2-C20C-4CD2-A3CE-8592040ED976}" srcOrd="6" destOrd="0" presId="urn:microsoft.com/office/officeart/2008/layout/LinedList"/>
    <dgm:cxn modelId="{320C8297-985A-41C7-A808-5C8D7F142424}" type="presParOf" srcId="{2911E297-CB11-4719-9D8C-A8248E37941C}" destId="{CAE392A6-ECD7-43BF-BECD-E59F9D93F389}" srcOrd="7" destOrd="0" presId="urn:microsoft.com/office/officeart/2008/layout/LinedList"/>
    <dgm:cxn modelId="{31124993-ADF8-4738-A4C8-17B273BDF357}" type="presParOf" srcId="{CAE392A6-ECD7-43BF-BECD-E59F9D93F389}" destId="{D4F871EA-8966-4043-8EDF-F35E3858FB0D}" srcOrd="0" destOrd="0" presId="urn:microsoft.com/office/officeart/2008/layout/LinedList"/>
    <dgm:cxn modelId="{0CCB408B-F1E8-44E0-B967-B06B1D7F00B5}" type="presParOf" srcId="{CAE392A6-ECD7-43BF-BECD-E59F9D93F389}" destId="{C01BBB85-8CF1-4281-8FF4-E53A67439923}" srcOrd="1" destOrd="0" presId="urn:microsoft.com/office/officeart/2008/layout/LinedList"/>
    <dgm:cxn modelId="{94BE725B-D2A5-489F-B6FB-884405F2220C}" type="presParOf" srcId="{2911E297-CB11-4719-9D8C-A8248E37941C}" destId="{E6E98197-FC65-42BE-9284-3DE1AEB6B107}" srcOrd="8" destOrd="0" presId="urn:microsoft.com/office/officeart/2008/layout/LinedList"/>
    <dgm:cxn modelId="{E6907609-D941-4DF9-BAC9-1E94F735EF49}" type="presParOf" srcId="{2911E297-CB11-4719-9D8C-A8248E37941C}" destId="{2926142E-D4B2-4210-B19E-1DE18CE2D7D0}" srcOrd="9" destOrd="0" presId="urn:microsoft.com/office/officeart/2008/layout/LinedList"/>
    <dgm:cxn modelId="{2DCB9EFF-0823-47CA-BB1B-D1D53FF09D2F}" type="presParOf" srcId="{2926142E-D4B2-4210-B19E-1DE18CE2D7D0}" destId="{6A4B5307-DAE0-45C7-A8E5-3FCD38FA53BD}" srcOrd="0" destOrd="0" presId="urn:microsoft.com/office/officeart/2008/layout/LinedList"/>
    <dgm:cxn modelId="{77CDDE0D-CB65-4BF1-9157-1FD63D60799C}" type="presParOf" srcId="{2926142E-D4B2-4210-B19E-1DE18CE2D7D0}" destId="{58A10F99-DEEA-4F2F-BE76-7FF6AD740EE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4D793E1-8786-4DB3-A61E-BC230A775974}"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2625098F-8EA9-4E03-A65F-61306F89D249}">
      <dgm:prSet/>
      <dgm:spPr/>
      <dgm:t>
        <a:bodyPr/>
        <a:lstStyle/>
        <a:p>
          <a:r>
            <a:rPr lang="en-US"/>
            <a:t>An input condition specifies a range [a, b]</a:t>
          </a:r>
        </a:p>
      </dgm:t>
    </dgm:pt>
    <dgm:pt modelId="{FC792BA0-E0CB-4112-BF62-83177F4F4EE6}" type="parTrans" cxnId="{17BA4D13-3D3A-4687-8C59-766AC34A0EA4}">
      <dgm:prSet/>
      <dgm:spPr/>
      <dgm:t>
        <a:bodyPr/>
        <a:lstStyle/>
        <a:p>
          <a:endParaRPr lang="en-US"/>
        </a:p>
      </dgm:t>
    </dgm:pt>
    <dgm:pt modelId="{FD2B21A2-5090-4D0E-B4D8-CBFCCDDF6040}" type="sibTrans" cxnId="{17BA4D13-3D3A-4687-8C59-766AC34A0EA4}">
      <dgm:prSet/>
      <dgm:spPr/>
      <dgm:t>
        <a:bodyPr/>
        <a:lstStyle/>
        <a:p>
          <a:endParaRPr lang="en-US"/>
        </a:p>
      </dgm:t>
    </dgm:pt>
    <dgm:pt modelId="{F3DC37EB-60F8-4031-8781-9A2730CC1F41}">
      <dgm:prSet/>
      <dgm:spPr/>
      <dgm:t>
        <a:bodyPr/>
        <a:lstStyle/>
        <a:p>
          <a:r>
            <a:rPr lang="en-US" dirty="0"/>
            <a:t>one equivalence class for a  &lt; X  &lt; b, and </a:t>
          </a:r>
        </a:p>
      </dgm:t>
    </dgm:pt>
    <dgm:pt modelId="{CD711F35-0F70-4B0F-B292-FF9DA12BF1F2}" type="parTrans" cxnId="{C0BA5336-AC31-4E2A-B34D-0D186317C33D}">
      <dgm:prSet/>
      <dgm:spPr/>
      <dgm:t>
        <a:bodyPr/>
        <a:lstStyle/>
        <a:p>
          <a:endParaRPr lang="en-US"/>
        </a:p>
      </dgm:t>
    </dgm:pt>
    <dgm:pt modelId="{52C47CCB-6628-4346-8B26-EEC939F78506}" type="sibTrans" cxnId="{C0BA5336-AC31-4E2A-B34D-0D186317C33D}">
      <dgm:prSet/>
      <dgm:spPr/>
      <dgm:t>
        <a:bodyPr/>
        <a:lstStyle/>
        <a:p>
          <a:endParaRPr lang="en-US"/>
        </a:p>
      </dgm:t>
    </dgm:pt>
    <dgm:pt modelId="{DAA7B22F-27DD-4C58-AF23-8E28EB8DBDB9}">
      <dgm:prSet/>
      <dgm:spPr/>
      <dgm:t>
        <a:bodyPr/>
        <a:lstStyle/>
        <a:p>
          <a:r>
            <a:rPr lang="en-US"/>
            <a:t>two other classes for X &lt; a and X &gt; b to test the system with invalid inputs</a:t>
          </a:r>
        </a:p>
      </dgm:t>
    </dgm:pt>
    <dgm:pt modelId="{A71FE01A-AE4D-4480-A70C-0E81BDB6EF78}" type="parTrans" cxnId="{B0E11E57-3B11-440C-8486-B93AB866664B}">
      <dgm:prSet/>
      <dgm:spPr/>
      <dgm:t>
        <a:bodyPr/>
        <a:lstStyle/>
        <a:p>
          <a:endParaRPr lang="en-US"/>
        </a:p>
      </dgm:t>
    </dgm:pt>
    <dgm:pt modelId="{20A8EF1E-9DA0-48E8-B75A-700143190669}" type="sibTrans" cxnId="{B0E11E57-3B11-440C-8486-B93AB866664B}">
      <dgm:prSet/>
      <dgm:spPr/>
      <dgm:t>
        <a:bodyPr/>
        <a:lstStyle/>
        <a:p>
          <a:endParaRPr lang="en-US"/>
        </a:p>
      </dgm:t>
    </dgm:pt>
    <dgm:pt modelId="{D0566373-985C-455D-8120-1F7A45A15DF0}">
      <dgm:prSet/>
      <dgm:spPr/>
      <dgm:t>
        <a:bodyPr/>
        <a:lstStyle/>
        <a:p>
          <a:r>
            <a:rPr lang="en-US" dirty="0"/>
            <a:t>An input condition specifies a set of values</a:t>
          </a:r>
        </a:p>
      </dgm:t>
    </dgm:pt>
    <dgm:pt modelId="{CFE8DFFF-2C06-4553-A50B-88931B6941E3}" type="parTrans" cxnId="{3A82AF2B-397F-40F1-AAF3-0AFC9CC7C952}">
      <dgm:prSet/>
      <dgm:spPr/>
      <dgm:t>
        <a:bodyPr/>
        <a:lstStyle/>
        <a:p>
          <a:endParaRPr lang="en-US"/>
        </a:p>
      </dgm:t>
    </dgm:pt>
    <dgm:pt modelId="{B2957F35-9F94-4D56-90A5-0E849BAD20F0}" type="sibTrans" cxnId="{3A82AF2B-397F-40F1-AAF3-0AFC9CC7C952}">
      <dgm:prSet/>
      <dgm:spPr/>
      <dgm:t>
        <a:bodyPr/>
        <a:lstStyle/>
        <a:p>
          <a:endParaRPr lang="en-US"/>
        </a:p>
      </dgm:t>
    </dgm:pt>
    <dgm:pt modelId="{61C6BFDF-2ECC-4E35-9B69-A4EACB3EFD99}">
      <dgm:prSet/>
      <dgm:spPr/>
      <dgm:t>
        <a:bodyPr/>
        <a:lstStyle/>
        <a:p>
          <a:r>
            <a:rPr lang="en-US" dirty="0"/>
            <a:t>one equivalence class for all elements of the set {M</a:t>
          </a:r>
          <a:r>
            <a:rPr lang="en-US" baseline="-25000" dirty="0"/>
            <a:t>1</a:t>
          </a:r>
          <a:r>
            <a:rPr lang="en-US" dirty="0"/>
            <a:t>}, {M</a:t>
          </a:r>
          <a:r>
            <a:rPr lang="en-US" baseline="-25000" dirty="0"/>
            <a:t>2</a:t>
          </a:r>
          <a:r>
            <a:rPr lang="en-US" dirty="0"/>
            <a:t>}, ...., {M</a:t>
          </a:r>
          <a:r>
            <a:rPr lang="en-US" baseline="-25000" dirty="0"/>
            <a:t>N</a:t>
          </a:r>
          <a:r>
            <a:rPr lang="en-US" dirty="0"/>
            <a:t>}, and </a:t>
          </a:r>
        </a:p>
      </dgm:t>
    </dgm:pt>
    <dgm:pt modelId="{E44AC69B-6292-4ECF-A4C0-3964CE7C6746}" type="parTrans" cxnId="{73AD778C-12B2-4D66-B40F-5DBB42226600}">
      <dgm:prSet/>
      <dgm:spPr/>
      <dgm:t>
        <a:bodyPr/>
        <a:lstStyle/>
        <a:p>
          <a:endParaRPr lang="en-US"/>
        </a:p>
      </dgm:t>
    </dgm:pt>
    <dgm:pt modelId="{E3C43E27-D7FD-4A58-BCBD-E7A71A3F7BB5}" type="sibTrans" cxnId="{73AD778C-12B2-4D66-B40F-5DBB42226600}">
      <dgm:prSet/>
      <dgm:spPr/>
      <dgm:t>
        <a:bodyPr/>
        <a:lstStyle/>
        <a:p>
          <a:endParaRPr lang="en-US"/>
        </a:p>
      </dgm:t>
    </dgm:pt>
    <dgm:pt modelId="{A5552329-7594-4636-8236-076A740EAED3}">
      <dgm:prSet/>
      <dgm:spPr/>
      <dgm:t>
        <a:bodyPr/>
        <a:lstStyle/>
        <a:p>
          <a:r>
            <a:rPr lang="en-US" dirty="0"/>
            <a:t>one equivalence class for elements outside the set {M</a:t>
          </a:r>
          <a:r>
            <a:rPr lang="en-US" baseline="-25000" dirty="0"/>
            <a:t>1</a:t>
          </a:r>
          <a:r>
            <a:rPr lang="en-US" dirty="0"/>
            <a:t>,M</a:t>
          </a:r>
          <a:r>
            <a:rPr lang="en-US" baseline="-25000" dirty="0"/>
            <a:t>2</a:t>
          </a:r>
          <a:r>
            <a:rPr lang="en-US" dirty="0"/>
            <a:t>, ...,M</a:t>
          </a:r>
          <a:r>
            <a:rPr lang="en-US" baseline="-25000" dirty="0"/>
            <a:t>N</a:t>
          </a:r>
          <a:r>
            <a:rPr lang="en-US" dirty="0"/>
            <a:t>}</a:t>
          </a:r>
        </a:p>
      </dgm:t>
    </dgm:pt>
    <dgm:pt modelId="{66DD498E-5BEC-491F-807D-41E912F8B218}" type="parTrans" cxnId="{701E2F74-FB8F-4A46-B9ED-9A803CBF7376}">
      <dgm:prSet/>
      <dgm:spPr/>
      <dgm:t>
        <a:bodyPr/>
        <a:lstStyle/>
        <a:p>
          <a:endParaRPr lang="en-US"/>
        </a:p>
      </dgm:t>
    </dgm:pt>
    <dgm:pt modelId="{5174B431-0A73-45E8-9574-809B0C14E213}" type="sibTrans" cxnId="{701E2F74-FB8F-4A46-B9ED-9A803CBF7376}">
      <dgm:prSet/>
      <dgm:spPr/>
      <dgm:t>
        <a:bodyPr/>
        <a:lstStyle/>
        <a:p>
          <a:endParaRPr lang="en-US"/>
        </a:p>
      </dgm:t>
    </dgm:pt>
    <dgm:pt modelId="{79FE2346-6339-4599-BC1F-B354FA394F65}">
      <dgm:prSet/>
      <dgm:spPr/>
      <dgm:t>
        <a:bodyPr/>
        <a:lstStyle/>
        <a:p>
          <a:r>
            <a:rPr lang="en-US" dirty="0"/>
            <a:t>Input condition specifies for each individual value</a:t>
          </a:r>
        </a:p>
      </dgm:t>
    </dgm:pt>
    <dgm:pt modelId="{5CFA440C-0C9E-4695-82C0-8495431ECC14}" type="parTrans" cxnId="{BCB618DB-358E-41E5-A089-EB6BF71A7EB3}">
      <dgm:prSet/>
      <dgm:spPr/>
      <dgm:t>
        <a:bodyPr/>
        <a:lstStyle/>
        <a:p>
          <a:endParaRPr lang="en-US"/>
        </a:p>
      </dgm:t>
    </dgm:pt>
    <dgm:pt modelId="{F10A11FC-C2F3-4E16-BF78-11AA72D1BA85}" type="sibTrans" cxnId="{BCB618DB-358E-41E5-A089-EB6BF71A7EB3}">
      <dgm:prSet/>
      <dgm:spPr/>
      <dgm:t>
        <a:bodyPr/>
        <a:lstStyle/>
        <a:p>
          <a:endParaRPr lang="en-US"/>
        </a:p>
      </dgm:t>
    </dgm:pt>
    <dgm:pt modelId="{DF3ACCD7-959D-46E1-93A2-6FB3ADE05448}">
      <dgm:prSet/>
      <dgm:spPr/>
      <dgm:t>
        <a:bodyPr/>
        <a:lstStyle/>
        <a:p>
          <a:r>
            <a:rPr lang="en-US" dirty="0"/>
            <a:t>If the system handles each valid input differently then create one equivalence class for each valid input</a:t>
          </a:r>
        </a:p>
      </dgm:t>
    </dgm:pt>
    <dgm:pt modelId="{18D08A12-5979-4309-8D58-BB1C0EC33ADB}" type="parTrans" cxnId="{72C96F75-D855-4DFD-B269-DBCC64DC0CA7}">
      <dgm:prSet/>
      <dgm:spPr/>
      <dgm:t>
        <a:bodyPr/>
        <a:lstStyle/>
        <a:p>
          <a:endParaRPr lang="en-US"/>
        </a:p>
      </dgm:t>
    </dgm:pt>
    <dgm:pt modelId="{BBB300C6-9ED2-46E8-9A75-8C5AF8B1399E}" type="sibTrans" cxnId="{72C96F75-D855-4DFD-B269-DBCC64DC0CA7}">
      <dgm:prSet/>
      <dgm:spPr/>
      <dgm:t>
        <a:bodyPr/>
        <a:lstStyle/>
        <a:p>
          <a:endParaRPr lang="en-US"/>
        </a:p>
      </dgm:t>
    </dgm:pt>
    <dgm:pt modelId="{0DC45CC2-6D39-4531-A991-7F536A6208F0}">
      <dgm:prSet/>
      <dgm:spPr/>
      <dgm:t>
        <a:bodyPr/>
        <a:lstStyle/>
        <a:p>
          <a:r>
            <a:rPr lang="en-US" dirty="0"/>
            <a:t>An input condition specifies the number of valid values (Say N)  </a:t>
          </a:r>
        </a:p>
      </dgm:t>
    </dgm:pt>
    <dgm:pt modelId="{7E73CC8D-8586-4BB4-8D82-AE1EC32AEFB9}" type="parTrans" cxnId="{0F055076-F2C6-415D-AAA0-DC66945F7D0A}">
      <dgm:prSet/>
      <dgm:spPr/>
      <dgm:t>
        <a:bodyPr/>
        <a:lstStyle/>
        <a:p>
          <a:endParaRPr lang="en-US"/>
        </a:p>
      </dgm:t>
    </dgm:pt>
    <dgm:pt modelId="{5CEBB643-A87F-4DB8-8720-1CF0421A9DBB}" type="sibTrans" cxnId="{0F055076-F2C6-415D-AAA0-DC66945F7D0A}">
      <dgm:prSet/>
      <dgm:spPr/>
      <dgm:t>
        <a:bodyPr/>
        <a:lstStyle/>
        <a:p>
          <a:endParaRPr lang="en-US"/>
        </a:p>
      </dgm:t>
    </dgm:pt>
    <dgm:pt modelId="{A5F45E0B-1C24-48AF-A53F-64200DFD63F8}">
      <dgm:prSet/>
      <dgm:spPr/>
      <dgm:t>
        <a:bodyPr/>
        <a:lstStyle/>
        <a:p>
          <a:r>
            <a:rPr lang="en-US" dirty="0"/>
            <a:t>Create one equivalence class for the correct number of inputs</a:t>
          </a:r>
        </a:p>
      </dgm:t>
    </dgm:pt>
    <dgm:pt modelId="{262CF986-BCF7-4673-8B8E-F92DB14A1291}" type="parTrans" cxnId="{C799EE79-9ABF-4E9A-9DCC-6C606D1789B4}">
      <dgm:prSet/>
      <dgm:spPr/>
      <dgm:t>
        <a:bodyPr/>
        <a:lstStyle/>
        <a:p>
          <a:endParaRPr lang="en-US"/>
        </a:p>
      </dgm:t>
    </dgm:pt>
    <dgm:pt modelId="{5FEF85FA-A46A-4657-AF87-4F5881354888}" type="sibTrans" cxnId="{C799EE79-9ABF-4E9A-9DCC-6C606D1789B4}">
      <dgm:prSet/>
      <dgm:spPr/>
      <dgm:t>
        <a:bodyPr/>
        <a:lstStyle/>
        <a:p>
          <a:endParaRPr lang="en-US"/>
        </a:p>
      </dgm:t>
    </dgm:pt>
    <dgm:pt modelId="{47ADB6A1-4590-4C2E-AABA-61A69E4C8397}">
      <dgm:prSet/>
      <dgm:spPr/>
      <dgm:t>
        <a:bodyPr/>
        <a:lstStyle/>
        <a:p>
          <a:r>
            <a:rPr lang="en-US"/>
            <a:t>two equivalence classes for invalid inputs – one for zero values and one for more than N values</a:t>
          </a:r>
        </a:p>
      </dgm:t>
    </dgm:pt>
    <dgm:pt modelId="{464779C9-4C1D-4E3F-A640-6856A1F5DCD1}" type="parTrans" cxnId="{C3CE2F01-A3F0-4CDC-9C04-7B6DA6ADF6E4}">
      <dgm:prSet/>
      <dgm:spPr/>
      <dgm:t>
        <a:bodyPr/>
        <a:lstStyle/>
        <a:p>
          <a:endParaRPr lang="en-US"/>
        </a:p>
      </dgm:t>
    </dgm:pt>
    <dgm:pt modelId="{CF45F619-2318-4145-9358-B4C27608EA74}" type="sibTrans" cxnId="{C3CE2F01-A3F0-4CDC-9C04-7B6DA6ADF6E4}">
      <dgm:prSet/>
      <dgm:spPr/>
      <dgm:t>
        <a:bodyPr/>
        <a:lstStyle/>
        <a:p>
          <a:endParaRPr lang="en-US"/>
        </a:p>
      </dgm:t>
    </dgm:pt>
    <dgm:pt modelId="{62ED661E-7AA7-4EC9-8720-3828E4B9B2C4}">
      <dgm:prSet/>
      <dgm:spPr/>
      <dgm:t>
        <a:bodyPr/>
        <a:lstStyle/>
        <a:p>
          <a:r>
            <a:rPr lang="en-US"/>
            <a:t>An input condition specifies a “must be” value</a:t>
          </a:r>
        </a:p>
      </dgm:t>
    </dgm:pt>
    <dgm:pt modelId="{4FD4857E-0BD7-48EF-908C-BD0D26D48362}" type="parTrans" cxnId="{97CD8C94-28BB-4522-AE72-C5A4488EC754}">
      <dgm:prSet/>
      <dgm:spPr/>
      <dgm:t>
        <a:bodyPr/>
        <a:lstStyle/>
        <a:p>
          <a:endParaRPr lang="en-US"/>
        </a:p>
      </dgm:t>
    </dgm:pt>
    <dgm:pt modelId="{A8A6A3FF-29E5-4C97-B289-D946C1AF5F59}" type="sibTrans" cxnId="{97CD8C94-28BB-4522-AE72-C5A4488EC754}">
      <dgm:prSet/>
      <dgm:spPr/>
      <dgm:t>
        <a:bodyPr/>
        <a:lstStyle/>
        <a:p>
          <a:endParaRPr lang="en-US"/>
        </a:p>
      </dgm:t>
    </dgm:pt>
    <dgm:pt modelId="{B268F261-4453-4C1F-8586-94F36450398E}">
      <dgm:prSet/>
      <dgm:spPr/>
      <dgm:t>
        <a:bodyPr/>
        <a:lstStyle/>
        <a:p>
          <a:r>
            <a:rPr lang="en-US"/>
            <a:t>Create one equivalence class for a “must be” value, and </a:t>
          </a:r>
        </a:p>
      </dgm:t>
    </dgm:pt>
    <dgm:pt modelId="{A2F057BA-AC95-4F27-9863-04DBF92D8616}" type="parTrans" cxnId="{942CAEC2-5F4B-4229-8BC9-8A9C2B8322EF}">
      <dgm:prSet/>
      <dgm:spPr/>
      <dgm:t>
        <a:bodyPr/>
        <a:lstStyle/>
        <a:p>
          <a:endParaRPr lang="en-US"/>
        </a:p>
      </dgm:t>
    </dgm:pt>
    <dgm:pt modelId="{C33074CD-DFC6-4B10-8BAA-D4EBE45AED44}" type="sibTrans" cxnId="{942CAEC2-5F4B-4229-8BC9-8A9C2B8322EF}">
      <dgm:prSet/>
      <dgm:spPr/>
      <dgm:t>
        <a:bodyPr/>
        <a:lstStyle/>
        <a:p>
          <a:endParaRPr lang="en-US"/>
        </a:p>
      </dgm:t>
    </dgm:pt>
    <dgm:pt modelId="{39122626-3CED-4CCE-9BDB-75EB8E6B4545}">
      <dgm:prSet/>
      <dgm:spPr/>
      <dgm:t>
        <a:bodyPr/>
        <a:lstStyle/>
        <a:p>
          <a:r>
            <a:rPr lang="en-US"/>
            <a:t>one equivalence class for something that is not a “must be” value</a:t>
          </a:r>
        </a:p>
      </dgm:t>
    </dgm:pt>
    <dgm:pt modelId="{D1EF5779-8B9A-4984-B8A1-615A7D00C749}" type="parTrans" cxnId="{6589CD0D-8273-48A7-B2FC-4531050E2023}">
      <dgm:prSet/>
      <dgm:spPr/>
      <dgm:t>
        <a:bodyPr/>
        <a:lstStyle/>
        <a:p>
          <a:endParaRPr lang="en-US"/>
        </a:p>
      </dgm:t>
    </dgm:pt>
    <dgm:pt modelId="{3DF1594E-EF27-40CE-BDED-85DFFEB6E102}" type="sibTrans" cxnId="{6589CD0D-8273-48A7-B2FC-4531050E2023}">
      <dgm:prSet/>
      <dgm:spPr/>
      <dgm:t>
        <a:bodyPr/>
        <a:lstStyle/>
        <a:p>
          <a:endParaRPr lang="en-US"/>
        </a:p>
      </dgm:t>
    </dgm:pt>
    <dgm:pt modelId="{A59CFE24-17E6-438C-997D-351778C4E03D}" type="pres">
      <dgm:prSet presAssocID="{64D793E1-8786-4DB3-A61E-BC230A775974}" presName="Name0" presStyleCnt="0">
        <dgm:presLayoutVars>
          <dgm:dir/>
          <dgm:animLvl val="lvl"/>
          <dgm:resizeHandles val="exact"/>
        </dgm:presLayoutVars>
      </dgm:prSet>
      <dgm:spPr/>
    </dgm:pt>
    <dgm:pt modelId="{33687609-5B51-4E43-B5E8-334FAC3DD60F}" type="pres">
      <dgm:prSet presAssocID="{2625098F-8EA9-4E03-A65F-61306F89D249}" presName="linNode" presStyleCnt="0"/>
      <dgm:spPr/>
    </dgm:pt>
    <dgm:pt modelId="{1DE28746-D661-4FE0-B099-287BF538115C}" type="pres">
      <dgm:prSet presAssocID="{2625098F-8EA9-4E03-A65F-61306F89D249}" presName="parentText" presStyleLbl="alignNode1" presStyleIdx="0" presStyleCnt="5">
        <dgm:presLayoutVars>
          <dgm:chMax val="1"/>
          <dgm:bulletEnabled/>
        </dgm:presLayoutVars>
      </dgm:prSet>
      <dgm:spPr/>
    </dgm:pt>
    <dgm:pt modelId="{BBF1FA4B-6F73-4F19-B007-800839598A1D}" type="pres">
      <dgm:prSet presAssocID="{2625098F-8EA9-4E03-A65F-61306F89D249}" presName="descendantText" presStyleLbl="alignAccFollowNode1" presStyleIdx="0" presStyleCnt="5">
        <dgm:presLayoutVars>
          <dgm:bulletEnabled/>
        </dgm:presLayoutVars>
      </dgm:prSet>
      <dgm:spPr/>
    </dgm:pt>
    <dgm:pt modelId="{632B23F2-A778-4F95-AF4A-E5B0F70B8F0E}" type="pres">
      <dgm:prSet presAssocID="{FD2B21A2-5090-4D0E-B4D8-CBFCCDDF6040}" presName="sp" presStyleCnt="0"/>
      <dgm:spPr/>
    </dgm:pt>
    <dgm:pt modelId="{4FC461A0-5A6E-4577-8232-E751BD0191F0}" type="pres">
      <dgm:prSet presAssocID="{D0566373-985C-455D-8120-1F7A45A15DF0}" presName="linNode" presStyleCnt="0"/>
      <dgm:spPr/>
    </dgm:pt>
    <dgm:pt modelId="{FD86F205-6822-48A1-ACD6-BC062FE9F935}" type="pres">
      <dgm:prSet presAssocID="{D0566373-985C-455D-8120-1F7A45A15DF0}" presName="parentText" presStyleLbl="alignNode1" presStyleIdx="1" presStyleCnt="5">
        <dgm:presLayoutVars>
          <dgm:chMax val="1"/>
          <dgm:bulletEnabled/>
        </dgm:presLayoutVars>
      </dgm:prSet>
      <dgm:spPr/>
    </dgm:pt>
    <dgm:pt modelId="{7733A888-23ED-4D30-A68C-F72B4AFE6ED0}" type="pres">
      <dgm:prSet presAssocID="{D0566373-985C-455D-8120-1F7A45A15DF0}" presName="descendantText" presStyleLbl="alignAccFollowNode1" presStyleIdx="1" presStyleCnt="5">
        <dgm:presLayoutVars>
          <dgm:bulletEnabled/>
        </dgm:presLayoutVars>
      </dgm:prSet>
      <dgm:spPr/>
    </dgm:pt>
    <dgm:pt modelId="{E9E25F41-DF2F-4D7C-8D6B-59A5C1987640}" type="pres">
      <dgm:prSet presAssocID="{B2957F35-9F94-4D56-90A5-0E849BAD20F0}" presName="sp" presStyleCnt="0"/>
      <dgm:spPr/>
    </dgm:pt>
    <dgm:pt modelId="{F9E581AD-5C99-4D2F-9F26-23D256209576}" type="pres">
      <dgm:prSet presAssocID="{79FE2346-6339-4599-BC1F-B354FA394F65}" presName="linNode" presStyleCnt="0"/>
      <dgm:spPr/>
    </dgm:pt>
    <dgm:pt modelId="{D82B9CED-1BF8-411B-973D-D5C76A2D6B95}" type="pres">
      <dgm:prSet presAssocID="{79FE2346-6339-4599-BC1F-B354FA394F65}" presName="parentText" presStyleLbl="alignNode1" presStyleIdx="2" presStyleCnt="5">
        <dgm:presLayoutVars>
          <dgm:chMax val="1"/>
          <dgm:bulletEnabled/>
        </dgm:presLayoutVars>
      </dgm:prSet>
      <dgm:spPr/>
    </dgm:pt>
    <dgm:pt modelId="{0EBF3CDC-AD26-47C8-8885-B54F462976DC}" type="pres">
      <dgm:prSet presAssocID="{79FE2346-6339-4599-BC1F-B354FA394F65}" presName="descendantText" presStyleLbl="alignAccFollowNode1" presStyleIdx="2" presStyleCnt="5">
        <dgm:presLayoutVars>
          <dgm:bulletEnabled/>
        </dgm:presLayoutVars>
      </dgm:prSet>
      <dgm:spPr/>
    </dgm:pt>
    <dgm:pt modelId="{3A2AC998-4A30-42EF-A823-702F88006F66}" type="pres">
      <dgm:prSet presAssocID="{F10A11FC-C2F3-4E16-BF78-11AA72D1BA85}" presName="sp" presStyleCnt="0"/>
      <dgm:spPr/>
    </dgm:pt>
    <dgm:pt modelId="{0D4CE30E-E28F-48BB-AB90-6AD51841A477}" type="pres">
      <dgm:prSet presAssocID="{0DC45CC2-6D39-4531-A991-7F536A6208F0}" presName="linNode" presStyleCnt="0"/>
      <dgm:spPr/>
    </dgm:pt>
    <dgm:pt modelId="{C2168281-52EA-4113-953A-1D206B9AFC89}" type="pres">
      <dgm:prSet presAssocID="{0DC45CC2-6D39-4531-A991-7F536A6208F0}" presName="parentText" presStyleLbl="alignNode1" presStyleIdx="3" presStyleCnt="5">
        <dgm:presLayoutVars>
          <dgm:chMax val="1"/>
          <dgm:bulletEnabled/>
        </dgm:presLayoutVars>
      </dgm:prSet>
      <dgm:spPr/>
    </dgm:pt>
    <dgm:pt modelId="{AA5BD149-4CEB-4972-BB50-E84B66FE2987}" type="pres">
      <dgm:prSet presAssocID="{0DC45CC2-6D39-4531-A991-7F536A6208F0}" presName="descendantText" presStyleLbl="alignAccFollowNode1" presStyleIdx="3" presStyleCnt="5">
        <dgm:presLayoutVars>
          <dgm:bulletEnabled/>
        </dgm:presLayoutVars>
      </dgm:prSet>
      <dgm:spPr/>
    </dgm:pt>
    <dgm:pt modelId="{69FE1F60-117C-4EFA-9A82-C9C247E6C1E3}" type="pres">
      <dgm:prSet presAssocID="{5CEBB643-A87F-4DB8-8720-1CF0421A9DBB}" presName="sp" presStyleCnt="0"/>
      <dgm:spPr/>
    </dgm:pt>
    <dgm:pt modelId="{7F26AC15-A079-4B09-9AC4-8657CC9C69A5}" type="pres">
      <dgm:prSet presAssocID="{62ED661E-7AA7-4EC9-8720-3828E4B9B2C4}" presName="linNode" presStyleCnt="0"/>
      <dgm:spPr/>
    </dgm:pt>
    <dgm:pt modelId="{B7CD9E1C-B28D-47C7-AEAD-37209D2115A1}" type="pres">
      <dgm:prSet presAssocID="{62ED661E-7AA7-4EC9-8720-3828E4B9B2C4}" presName="parentText" presStyleLbl="alignNode1" presStyleIdx="4" presStyleCnt="5">
        <dgm:presLayoutVars>
          <dgm:chMax val="1"/>
          <dgm:bulletEnabled/>
        </dgm:presLayoutVars>
      </dgm:prSet>
      <dgm:spPr/>
    </dgm:pt>
    <dgm:pt modelId="{B83945FD-F514-42DB-8AC3-5E77485D7171}" type="pres">
      <dgm:prSet presAssocID="{62ED661E-7AA7-4EC9-8720-3828E4B9B2C4}" presName="descendantText" presStyleLbl="alignAccFollowNode1" presStyleIdx="4" presStyleCnt="5">
        <dgm:presLayoutVars>
          <dgm:bulletEnabled/>
        </dgm:presLayoutVars>
      </dgm:prSet>
      <dgm:spPr/>
    </dgm:pt>
  </dgm:ptLst>
  <dgm:cxnLst>
    <dgm:cxn modelId="{C3CE2F01-A3F0-4CDC-9C04-7B6DA6ADF6E4}" srcId="{0DC45CC2-6D39-4531-A991-7F536A6208F0}" destId="{47ADB6A1-4590-4C2E-AABA-61A69E4C8397}" srcOrd="1" destOrd="0" parTransId="{464779C9-4C1D-4E3F-A640-6856A1F5DCD1}" sibTransId="{CF45F619-2318-4145-9358-B4C27608EA74}"/>
    <dgm:cxn modelId="{6589CD0D-8273-48A7-B2FC-4531050E2023}" srcId="{62ED661E-7AA7-4EC9-8720-3828E4B9B2C4}" destId="{39122626-3CED-4CCE-9BDB-75EB8E6B4545}" srcOrd="1" destOrd="0" parTransId="{D1EF5779-8B9A-4984-B8A1-615A7D00C749}" sibTransId="{3DF1594E-EF27-40CE-BDED-85DFFEB6E102}"/>
    <dgm:cxn modelId="{757A2812-131A-4C61-BD7C-103D748C896C}" type="presOf" srcId="{62ED661E-7AA7-4EC9-8720-3828E4B9B2C4}" destId="{B7CD9E1C-B28D-47C7-AEAD-37209D2115A1}" srcOrd="0" destOrd="0" presId="urn:microsoft.com/office/officeart/2016/7/layout/VerticalSolidActionList"/>
    <dgm:cxn modelId="{17BA4D13-3D3A-4687-8C59-766AC34A0EA4}" srcId="{64D793E1-8786-4DB3-A61E-BC230A775974}" destId="{2625098F-8EA9-4E03-A65F-61306F89D249}" srcOrd="0" destOrd="0" parTransId="{FC792BA0-E0CB-4112-BF62-83177F4F4EE6}" sibTransId="{FD2B21A2-5090-4D0E-B4D8-CBFCCDDF6040}"/>
    <dgm:cxn modelId="{6902D915-84E5-41C0-B8DB-F6C6D2BC3C33}" type="presOf" srcId="{A5F45E0B-1C24-48AF-A53F-64200DFD63F8}" destId="{AA5BD149-4CEB-4972-BB50-E84B66FE2987}" srcOrd="0" destOrd="0" presId="urn:microsoft.com/office/officeart/2016/7/layout/VerticalSolidActionList"/>
    <dgm:cxn modelId="{3A82AF2B-397F-40F1-AAF3-0AFC9CC7C952}" srcId="{64D793E1-8786-4DB3-A61E-BC230A775974}" destId="{D0566373-985C-455D-8120-1F7A45A15DF0}" srcOrd="1" destOrd="0" parTransId="{CFE8DFFF-2C06-4553-A50B-88931B6941E3}" sibTransId="{B2957F35-9F94-4D56-90A5-0E849BAD20F0}"/>
    <dgm:cxn modelId="{C0BA5336-AC31-4E2A-B34D-0D186317C33D}" srcId="{2625098F-8EA9-4E03-A65F-61306F89D249}" destId="{F3DC37EB-60F8-4031-8781-9A2730CC1F41}" srcOrd="0" destOrd="0" parTransId="{CD711F35-0F70-4B0F-B292-FF9DA12BF1F2}" sibTransId="{52C47CCB-6628-4346-8B26-EEC939F78506}"/>
    <dgm:cxn modelId="{0D0D033D-30F1-44D1-9B68-67CFE7A2984E}" type="presOf" srcId="{47ADB6A1-4590-4C2E-AABA-61A69E4C8397}" destId="{AA5BD149-4CEB-4972-BB50-E84B66FE2987}" srcOrd="0" destOrd="1" presId="urn:microsoft.com/office/officeart/2016/7/layout/VerticalSolidActionList"/>
    <dgm:cxn modelId="{958A5B3E-A3CF-4FDE-A89B-D40BF8E8481F}" type="presOf" srcId="{DAA7B22F-27DD-4C58-AF23-8E28EB8DBDB9}" destId="{BBF1FA4B-6F73-4F19-B007-800839598A1D}" srcOrd="0" destOrd="1" presId="urn:microsoft.com/office/officeart/2016/7/layout/VerticalSolidActionList"/>
    <dgm:cxn modelId="{ECC5214D-F461-4D82-8C9D-52FA9D2477FC}" type="presOf" srcId="{61C6BFDF-2ECC-4E35-9B69-A4EACB3EFD99}" destId="{7733A888-23ED-4D30-A68C-F72B4AFE6ED0}" srcOrd="0" destOrd="0" presId="urn:microsoft.com/office/officeart/2016/7/layout/VerticalSolidActionList"/>
    <dgm:cxn modelId="{B0E11E57-3B11-440C-8486-B93AB866664B}" srcId="{2625098F-8EA9-4E03-A65F-61306F89D249}" destId="{DAA7B22F-27DD-4C58-AF23-8E28EB8DBDB9}" srcOrd="1" destOrd="0" parTransId="{A71FE01A-AE4D-4480-A70C-0E81BDB6EF78}" sibTransId="{20A8EF1E-9DA0-48E8-B75A-700143190669}"/>
    <dgm:cxn modelId="{0E9EF564-2665-4E23-A112-5905D9E7BDAC}" type="presOf" srcId="{39122626-3CED-4CCE-9BDB-75EB8E6B4545}" destId="{B83945FD-F514-42DB-8AC3-5E77485D7171}" srcOrd="0" destOrd="1" presId="urn:microsoft.com/office/officeart/2016/7/layout/VerticalSolidActionList"/>
    <dgm:cxn modelId="{DE6D3972-FFE5-41E2-8115-86BAE5E3FC69}" type="presOf" srcId="{F3DC37EB-60F8-4031-8781-9A2730CC1F41}" destId="{BBF1FA4B-6F73-4F19-B007-800839598A1D}" srcOrd="0" destOrd="0" presId="urn:microsoft.com/office/officeart/2016/7/layout/VerticalSolidActionList"/>
    <dgm:cxn modelId="{052BB472-F5D5-4CA2-BAF6-7C61FA8639E5}" type="presOf" srcId="{0DC45CC2-6D39-4531-A991-7F536A6208F0}" destId="{C2168281-52EA-4113-953A-1D206B9AFC89}" srcOrd="0" destOrd="0" presId="urn:microsoft.com/office/officeart/2016/7/layout/VerticalSolidActionList"/>
    <dgm:cxn modelId="{701E2F74-FB8F-4A46-B9ED-9A803CBF7376}" srcId="{D0566373-985C-455D-8120-1F7A45A15DF0}" destId="{A5552329-7594-4636-8236-076A740EAED3}" srcOrd="1" destOrd="0" parTransId="{66DD498E-5BEC-491F-807D-41E912F8B218}" sibTransId="{5174B431-0A73-45E8-9574-809B0C14E213}"/>
    <dgm:cxn modelId="{72C96F75-D855-4DFD-B269-DBCC64DC0CA7}" srcId="{79FE2346-6339-4599-BC1F-B354FA394F65}" destId="{DF3ACCD7-959D-46E1-93A2-6FB3ADE05448}" srcOrd="0" destOrd="0" parTransId="{18D08A12-5979-4309-8D58-BB1C0EC33ADB}" sibTransId="{BBB300C6-9ED2-46E8-9A75-8C5AF8B1399E}"/>
    <dgm:cxn modelId="{0F055076-F2C6-415D-AAA0-DC66945F7D0A}" srcId="{64D793E1-8786-4DB3-A61E-BC230A775974}" destId="{0DC45CC2-6D39-4531-A991-7F536A6208F0}" srcOrd="3" destOrd="0" parTransId="{7E73CC8D-8586-4BB4-8D82-AE1EC32AEFB9}" sibTransId="{5CEBB643-A87F-4DB8-8720-1CF0421A9DBB}"/>
    <dgm:cxn modelId="{8A8C1578-8CE4-4218-947C-5F5E7B25ECB6}" type="presOf" srcId="{79FE2346-6339-4599-BC1F-B354FA394F65}" destId="{D82B9CED-1BF8-411B-973D-D5C76A2D6B95}" srcOrd="0" destOrd="0" presId="urn:microsoft.com/office/officeart/2016/7/layout/VerticalSolidActionList"/>
    <dgm:cxn modelId="{C799EE79-9ABF-4E9A-9DCC-6C606D1789B4}" srcId="{0DC45CC2-6D39-4531-A991-7F536A6208F0}" destId="{A5F45E0B-1C24-48AF-A53F-64200DFD63F8}" srcOrd="0" destOrd="0" parTransId="{262CF986-BCF7-4673-8B8E-F92DB14A1291}" sibTransId="{5FEF85FA-A46A-4657-AF87-4F5881354888}"/>
    <dgm:cxn modelId="{37DF508B-97E1-4FBB-A301-78E463B214DB}" type="presOf" srcId="{DF3ACCD7-959D-46E1-93A2-6FB3ADE05448}" destId="{0EBF3CDC-AD26-47C8-8885-B54F462976DC}" srcOrd="0" destOrd="0" presId="urn:microsoft.com/office/officeart/2016/7/layout/VerticalSolidActionList"/>
    <dgm:cxn modelId="{73AD778C-12B2-4D66-B40F-5DBB42226600}" srcId="{D0566373-985C-455D-8120-1F7A45A15DF0}" destId="{61C6BFDF-2ECC-4E35-9B69-A4EACB3EFD99}" srcOrd="0" destOrd="0" parTransId="{E44AC69B-6292-4ECF-A4C0-3964CE7C6746}" sibTransId="{E3C43E27-D7FD-4A58-BCBD-E7A71A3F7BB5}"/>
    <dgm:cxn modelId="{C8363A8F-A2F4-4B9E-80BB-E0E1773F825F}" type="presOf" srcId="{A5552329-7594-4636-8236-076A740EAED3}" destId="{7733A888-23ED-4D30-A68C-F72B4AFE6ED0}" srcOrd="0" destOrd="1" presId="urn:microsoft.com/office/officeart/2016/7/layout/VerticalSolidActionList"/>
    <dgm:cxn modelId="{97CD8C94-28BB-4522-AE72-C5A4488EC754}" srcId="{64D793E1-8786-4DB3-A61E-BC230A775974}" destId="{62ED661E-7AA7-4EC9-8720-3828E4B9B2C4}" srcOrd="4" destOrd="0" parTransId="{4FD4857E-0BD7-48EF-908C-BD0D26D48362}" sibTransId="{A8A6A3FF-29E5-4C97-B289-D946C1AF5F59}"/>
    <dgm:cxn modelId="{EDF415A6-B1E8-4FA8-B8AF-245BFE35DDA1}" type="presOf" srcId="{2625098F-8EA9-4E03-A65F-61306F89D249}" destId="{1DE28746-D661-4FE0-B099-287BF538115C}" srcOrd="0" destOrd="0" presId="urn:microsoft.com/office/officeart/2016/7/layout/VerticalSolidActionList"/>
    <dgm:cxn modelId="{2384FDAA-D2C9-4E5F-AA25-1EE7810E7FE4}" type="presOf" srcId="{B268F261-4453-4C1F-8586-94F36450398E}" destId="{B83945FD-F514-42DB-8AC3-5E77485D7171}" srcOrd="0" destOrd="0" presId="urn:microsoft.com/office/officeart/2016/7/layout/VerticalSolidActionList"/>
    <dgm:cxn modelId="{942CAEC2-5F4B-4229-8BC9-8A9C2B8322EF}" srcId="{62ED661E-7AA7-4EC9-8720-3828E4B9B2C4}" destId="{B268F261-4453-4C1F-8586-94F36450398E}" srcOrd="0" destOrd="0" parTransId="{A2F057BA-AC95-4F27-9863-04DBF92D8616}" sibTransId="{C33074CD-DFC6-4B10-8BAA-D4EBE45AED44}"/>
    <dgm:cxn modelId="{79BA26D6-F162-4D31-98CD-ED7C292C9014}" type="presOf" srcId="{D0566373-985C-455D-8120-1F7A45A15DF0}" destId="{FD86F205-6822-48A1-ACD6-BC062FE9F935}" srcOrd="0" destOrd="0" presId="urn:microsoft.com/office/officeart/2016/7/layout/VerticalSolidActionList"/>
    <dgm:cxn modelId="{BCB618DB-358E-41E5-A089-EB6BF71A7EB3}" srcId="{64D793E1-8786-4DB3-A61E-BC230A775974}" destId="{79FE2346-6339-4599-BC1F-B354FA394F65}" srcOrd="2" destOrd="0" parTransId="{5CFA440C-0C9E-4695-82C0-8495431ECC14}" sibTransId="{F10A11FC-C2F3-4E16-BF78-11AA72D1BA85}"/>
    <dgm:cxn modelId="{3859EFEE-5133-46E2-B96D-F941A97857B1}" type="presOf" srcId="{64D793E1-8786-4DB3-A61E-BC230A775974}" destId="{A59CFE24-17E6-438C-997D-351778C4E03D}" srcOrd="0" destOrd="0" presId="urn:microsoft.com/office/officeart/2016/7/layout/VerticalSolidActionList"/>
    <dgm:cxn modelId="{AFAC031E-5CCA-4418-8B47-976EE2CBB0A0}" type="presParOf" srcId="{A59CFE24-17E6-438C-997D-351778C4E03D}" destId="{33687609-5B51-4E43-B5E8-334FAC3DD60F}" srcOrd="0" destOrd="0" presId="urn:microsoft.com/office/officeart/2016/7/layout/VerticalSolidActionList"/>
    <dgm:cxn modelId="{035B7629-68C6-4755-A62A-FBE5C04C4E54}" type="presParOf" srcId="{33687609-5B51-4E43-B5E8-334FAC3DD60F}" destId="{1DE28746-D661-4FE0-B099-287BF538115C}" srcOrd="0" destOrd="0" presId="urn:microsoft.com/office/officeart/2016/7/layout/VerticalSolidActionList"/>
    <dgm:cxn modelId="{9A39A5BB-6F1E-43C8-9715-89BB66DD6698}" type="presParOf" srcId="{33687609-5B51-4E43-B5E8-334FAC3DD60F}" destId="{BBF1FA4B-6F73-4F19-B007-800839598A1D}" srcOrd="1" destOrd="0" presId="urn:microsoft.com/office/officeart/2016/7/layout/VerticalSolidActionList"/>
    <dgm:cxn modelId="{37D55807-166D-4066-9149-554235DD90E3}" type="presParOf" srcId="{A59CFE24-17E6-438C-997D-351778C4E03D}" destId="{632B23F2-A778-4F95-AF4A-E5B0F70B8F0E}" srcOrd="1" destOrd="0" presId="urn:microsoft.com/office/officeart/2016/7/layout/VerticalSolidActionList"/>
    <dgm:cxn modelId="{56DAB107-2CC6-4045-A942-4AE906960F41}" type="presParOf" srcId="{A59CFE24-17E6-438C-997D-351778C4E03D}" destId="{4FC461A0-5A6E-4577-8232-E751BD0191F0}" srcOrd="2" destOrd="0" presId="urn:microsoft.com/office/officeart/2016/7/layout/VerticalSolidActionList"/>
    <dgm:cxn modelId="{96823175-1AFB-4CC0-A2FD-25F34D7C7170}" type="presParOf" srcId="{4FC461A0-5A6E-4577-8232-E751BD0191F0}" destId="{FD86F205-6822-48A1-ACD6-BC062FE9F935}" srcOrd="0" destOrd="0" presId="urn:microsoft.com/office/officeart/2016/7/layout/VerticalSolidActionList"/>
    <dgm:cxn modelId="{486A74BF-510D-4EA5-8FB5-2E078B12AAEA}" type="presParOf" srcId="{4FC461A0-5A6E-4577-8232-E751BD0191F0}" destId="{7733A888-23ED-4D30-A68C-F72B4AFE6ED0}" srcOrd="1" destOrd="0" presId="urn:microsoft.com/office/officeart/2016/7/layout/VerticalSolidActionList"/>
    <dgm:cxn modelId="{A262FACC-A19C-4563-9557-A78518131AFC}" type="presParOf" srcId="{A59CFE24-17E6-438C-997D-351778C4E03D}" destId="{E9E25F41-DF2F-4D7C-8D6B-59A5C1987640}" srcOrd="3" destOrd="0" presId="urn:microsoft.com/office/officeart/2016/7/layout/VerticalSolidActionList"/>
    <dgm:cxn modelId="{44B261E9-9C72-49B8-863A-01CCF2F64F49}" type="presParOf" srcId="{A59CFE24-17E6-438C-997D-351778C4E03D}" destId="{F9E581AD-5C99-4D2F-9F26-23D256209576}" srcOrd="4" destOrd="0" presId="urn:microsoft.com/office/officeart/2016/7/layout/VerticalSolidActionList"/>
    <dgm:cxn modelId="{C4984ABD-BE9A-4061-8F8F-F3A51E12A354}" type="presParOf" srcId="{F9E581AD-5C99-4D2F-9F26-23D256209576}" destId="{D82B9CED-1BF8-411B-973D-D5C76A2D6B95}" srcOrd="0" destOrd="0" presId="urn:microsoft.com/office/officeart/2016/7/layout/VerticalSolidActionList"/>
    <dgm:cxn modelId="{BAA834CA-A8AF-449D-95D4-9238371E8F09}" type="presParOf" srcId="{F9E581AD-5C99-4D2F-9F26-23D256209576}" destId="{0EBF3CDC-AD26-47C8-8885-B54F462976DC}" srcOrd="1" destOrd="0" presId="urn:microsoft.com/office/officeart/2016/7/layout/VerticalSolidActionList"/>
    <dgm:cxn modelId="{A4952DB2-0A4A-445D-BEB9-11CEA9CE6640}" type="presParOf" srcId="{A59CFE24-17E6-438C-997D-351778C4E03D}" destId="{3A2AC998-4A30-42EF-A823-702F88006F66}" srcOrd="5" destOrd="0" presId="urn:microsoft.com/office/officeart/2016/7/layout/VerticalSolidActionList"/>
    <dgm:cxn modelId="{3EFC63CD-3F95-4596-AD98-4E08FD138FF9}" type="presParOf" srcId="{A59CFE24-17E6-438C-997D-351778C4E03D}" destId="{0D4CE30E-E28F-48BB-AB90-6AD51841A477}" srcOrd="6" destOrd="0" presId="urn:microsoft.com/office/officeart/2016/7/layout/VerticalSolidActionList"/>
    <dgm:cxn modelId="{EBE5C5EC-26FD-4FC2-91B3-710EEA386D8C}" type="presParOf" srcId="{0D4CE30E-E28F-48BB-AB90-6AD51841A477}" destId="{C2168281-52EA-4113-953A-1D206B9AFC89}" srcOrd="0" destOrd="0" presId="urn:microsoft.com/office/officeart/2016/7/layout/VerticalSolidActionList"/>
    <dgm:cxn modelId="{174BF81F-ADEB-44B6-8FFB-90146C10E76F}" type="presParOf" srcId="{0D4CE30E-E28F-48BB-AB90-6AD51841A477}" destId="{AA5BD149-4CEB-4972-BB50-E84B66FE2987}" srcOrd="1" destOrd="0" presId="urn:microsoft.com/office/officeart/2016/7/layout/VerticalSolidActionList"/>
    <dgm:cxn modelId="{4AD8F1C2-F47B-438A-8BFA-596FF1BBE648}" type="presParOf" srcId="{A59CFE24-17E6-438C-997D-351778C4E03D}" destId="{69FE1F60-117C-4EFA-9A82-C9C247E6C1E3}" srcOrd="7" destOrd="0" presId="urn:microsoft.com/office/officeart/2016/7/layout/VerticalSolidActionList"/>
    <dgm:cxn modelId="{5CC09FBC-B0FD-4A28-8EAD-FAE547833093}" type="presParOf" srcId="{A59CFE24-17E6-438C-997D-351778C4E03D}" destId="{7F26AC15-A079-4B09-9AC4-8657CC9C69A5}" srcOrd="8" destOrd="0" presId="urn:microsoft.com/office/officeart/2016/7/layout/VerticalSolidActionList"/>
    <dgm:cxn modelId="{B013650B-82CB-476E-8C79-F3C84D9E8D96}" type="presParOf" srcId="{7F26AC15-A079-4B09-9AC4-8657CC9C69A5}" destId="{B7CD9E1C-B28D-47C7-AEAD-37209D2115A1}" srcOrd="0" destOrd="0" presId="urn:microsoft.com/office/officeart/2016/7/layout/VerticalSolidActionList"/>
    <dgm:cxn modelId="{2A997CB5-4731-4E7D-9CCA-819C5A43B0B3}" type="presParOf" srcId="{7F26AC15-A079-4B09-9AC4-8657CC9C69A5}" destId="{B83945FD-F514-42DB-8AC3-5E77485D7171}" srcOrd="1" destOrd="0" presId="urn:microsoft.com/office/officeart/2016/7/layout/VerticalSolidAc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75A8799-6636-4F65-84A4-AC0CDBC1D267}"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AA4D6FE8-A8FA-45F8-937C-706FFBC7BD92}">
      <dgm:prSet/>
      <dgm:spPr/>
      <dgm:t>
        <a:bodyPr/>
        <a:lstStyle/>
        <a:p>
          <a:r>
            <a:rPr lang="en-US" b="1"/>
            <a:t>1</a:t>
          </a:r>
          <a:r>
            <a:rPr lang="en-US"/>
            <a:t>. 0 &lt;= X &lt;= 100</a:t>
          </a:r>
        </a:p>
      </dgm:t>
    </dgm:pt>
    <dgm:pt modelId="{911AC0BF-B2E3-468A-BAA3-F7182520ABAE}" type="parTrans" cxnId="{5E485040-0408-4618-98C0-57B577ECB0E1}">
      <dgm:prSet/>
      <dgm:spPr/>
      <dgm:t>
        <a:bodyPr/>
        <a:lstStyle/>
        <a:p>
          <a:endParaRPr lang="en-US"/>
        </a:p>
      </dgm:t>
    </dgm:pt>
    <dgm:pt modelId="{417809B4-B13F-420A-BCFD-0C84DF2AD178}" type="sibTrans" cxnId="{5E485040-0408-4618-98C0-57B577ECB0E1}">
      <dgm:prSet/>
      <dgm:spPr/>
      <dgm:t>
        <a:bodyPr/>
        <a:lstStyle/>
        <a:p>
          <a:endParaRPr lang="en-US"/>
        </a:p>
      </dgm:t>
    </dgm:pt>
    <dgm:pt modelId="{87CB46EF-DEDC-4407-BC06-F70F4C69BF60}">
      <dgm:prSet/>
      <dgm:spPr/>
      <dgm:t>
        <a:bodyPr/>
        <a:lstStyle/>
        <a:p>
          <a:r>
            <a:rPr lang="en-US" b="1" dirty="0"/>
            <a:t>2</a:t>
          </a:r>
          <a:r>
            <a:rPr lang="en-US" dirty="0"/>
            <a:t>. The month of the year</a:t>
          </a:r>
        </a:p>
      </dgm:t>
    </dgm:pt>
    <dgm:pt modelId="{090586D9-5F4F-4D8F-A2EF-68E0A8B22195}" type="parTrans" cxnId="{8EB2FD26-EF36-4B97-AD80-1AECFC28CF49}">
      <dgm:prSet/>
      <dgm:spPr/>
      <dgm:t>
        <a:bodyPr/>
        <a:lstStyle/>
        <a:p>
          <a:endParaRPr lang="en-US"/>
        </a:p>
      </dgm:t>
    </dgm:pt>
    <dgm:pt modelId="{D7FA6CC6-7D53-4BB4-91D3-A039A323FD14}" type="sibTrans" cxnId="{8EB2FD26-EF36-4B97-AD80-1AECFC28CF49}">
      <dgm:prSet/>
      <dgm:spPr/>
      <dgm:t>
        <a:bodyPr/>
        <a:lstStyle/>
        <a:p>
          <a:endParaRPr lang="en-US"/>
        </a:p>
      </dgm:t>
    </dgm:pt>
    <dgm:pt modelId="{AC6E9EA8-E766-4699-BCFA-3936425C0348}">
      <dgm:prSet/>
      <dgm:spPr/>
      <dgm:t>
        <a:bodyPr/>
        <a:lstStyle/>
        <a:p>
          <a:r>
            <a:rPr lang="en-US" b="1"/>
            <a:t>3</a:t>
          </a:r>
          <a:r>
            <a:rPr lang="en-US"/>
            <a:t>. Type of a vehicle must be bus, truck, taxi or car</a:t>
          </a:r>
        </a:p>
      </dgm:t>
    </dgm:pt>
    <dgm:pt modelId="{FA96B8B5-0495-4760-8624-D74F95791004}" type="parTrans" cxnId="{71A8C295-A703-42BC-BADA-423882E20DA3}">
      <dgm:prSet/>
      <dgm:spPr/>
      <dgm:t>
        <a:bodyPr/>
        <a:lstStyle/>
        <a:p>
          <a:endParaRPr lang="en-US"/>
        </a:p>
      </dgm:t>
    </dgm:pt>
    <dgm:pt modelId="{D2695392-E7DF-4F4B-936E-3045EA5B8321}" type="sibTrans" cxnId="{71A8C295-A703-42BC-BADA-423882E20DA3}">
      <dgm:prSet/>
      <dgm:spPr/>
      <dgm:t>
        <a:bodyPr/>
        <a:lstStyle/>
        <a:p>
          <a:endParaRPr lang="en-US"/>
        </a:p>
      </dgm:t>
    </dgm:pt>
    <dgm:pt modelId="{B988E88E-8B26-4B6C-B112-168B6C837FF8}">
      <dgm:prSet/>
      <dgm:spPr/>
      <dgm:t>
        <a:bodyPr/>
        <a:lstStyle/>
        <a:p>
          <a:r>
            <a:rPr lang="en-US" b="1"/>
            <a:t>4</a:t>
          </a:r>
          <a:r>
            <a:rPr lang="en-US"/>
            <a:t>. The first character of an identifier must be a letter</a:t>
          </a:r>
        </a:p>
      </dgm:t>
    </dgm:pt>
    <dgm:pt modelId="{A36E2402-C8BC-4A5F-B028-D28D4A64549B}" type="parTrans" cxnId="{35615FB8-5756-4133-99EC-C97B0E59D5CB}">
      <dgm:prSet/>
      <dgm:spPr/>
      <dgm:t>
        <a:bodyPr/>
        <a:lstStyle/>
        <a:p>
          <a:endParaRPr lang="en-US"/>
        </a:p>
      </dgm:t>
    </dgm:pt>
    <dgm:pt modelId="{B46215C5-4B3A-4356-9AE2-0F9461BEB8CA}" type="sibTrans" cxnId="{35615FB8-5756-4133-99EC-C97B0E59D5CB}">
      <dgm:prSet/>
      <dgm:spPr/>
      <dgm:t>
        <a:bodyPr/>
        <a:lstStyle/>
        <a:p>
          <a:endParaRPr lang="en-US"/>
        </a:p>
      </dgm:t>
    </dgm:pt>
    <dgm:pt modelId="{BC12D12F-F18B-446C-BB22-A4C098362A27}" type="pres">
      <dgm:prSet presAssocID="{D75A8799-6636-4F65-84A4-AC0CDBC1D267}" presName="linear" presStyleCnt="0">
        <dgm:presLayoutVars>
          <dgm:animLvl val="lvl"/>
          <dgm:resizeHandles val="exact"/>
        </dgm:presLayoutVars>
      </dgm:prSet>
      <dgm:spPr/>
    </dgm:pt>
    <dgm:pt modelId="{321A3352-8B0C-48CD-91FF-BA4CF2043BD7}" type="pres">
      <dgm:prSet presAssocID="{AA4D6FE8-A8FA-45F8-937C-706FFBC7BD92}" presName="parentText" presStyleLbl="node1" presStyleIdx="0" presStyleCnt="4">
        <dgm:presLayoutVars>
          <dgm:chMax val="0"/>
          <dgm:bulletEnabled val="1"/>
        </dgm:presLayoutVars>
      </dgm:prSet>
      <dgm:spPr/>
    </dgm:pt>
    <dgm:pt modelId="{04F43EE3-73E9-4272-8D18-2F17B23C4D8C}" type="pres">
      <dgm:prSet presAssocID="{417809B4-B13F-420A-BCFD-0C84DF2AD178}" presName="spacer" presStyleCnt="0"/>
      <dgm:spPr/>
    </dgm:pt>
    <dgm:pt modelId="{9E552E76-7DE0-425F-958A-DD3E5C63A279}" type="pres">
      <dgm:prSet presAssocID="{87CB46EF-DEDC-4407-BC06-F70F4C69BF60}" presName="parentText" presStyleLbl="node1" presStyleIdx="1" presStyleCnt="4">
        <dgm:presLayoutVars>
          <dgm:chMax val="0"/>
          <dgm:bulletEnabled val="1"/>
        </dgm:presLayoutVars>
      </dgm:prSet>
      <dgm:spPr/>
    </dgm:pt>
    <dgm:pt modelId="{EC8366D9-4907-4885-BCF4-C2CC903A1950}" type="pres">
      <dgm:prSet presAssocID="{D7FA6CC6-7D53-4BB4-91D3-A039A323FD14}" presName="spacer" presStyleCnt="0"/>
      <dgm:spPr/>
    </dgm:pt>
    <dgm:pt modelId="{DA311F30-DACA-4774-919D-83559222DB1D}" type="pres">
      <dgm:prSet presAssocID="{AC6E9EA8-E766-4699-BCFA-3936425C0348}" presName="parentText" presStyleLbl="node1" presStyleIdx="2" presStyleCnt="4">
        <dgm:presLayoutVars>
          <dgm:chMax val="0"/>
          <dgm:bulletEnabled val="1"/>
        </dgm:presLayoutVars>
      </dgm:prSet>
      <dgm:spPr/>
    </dgm:pt>
    <dgm:pt modelId="{66AB4767-ECF8-47E2-8296-86DD4BA94074}" type="pres">
      <dgm:prSet presAssocID="{D2695392-E7DF-4F4B-936E-3045EA5B8321}" presName="spacer" presStyleCnt="0"/>
      <dgm:spPr/>
    </dgm:pt>
    <dgm:pt modelId="{84538EB3-7DC5-478D-8215-7AA7519D3096}" type="pres">
      <dgm:prSet presAssocID="{B988E88E-8B26-4B6C-B112-168B6C837FF8}" presName="parentText" presStyleLbl="node1" presStyleIdx="3" presStyleCnt="4">
        <dgm:presLayoutVars>
          <dgm:chMax val="0"/>
          <dgm:bulletEnabled val="1"/>
        </dgm:presLayoutVars>
      </dgm:prSet>
      <dgm:spPr/>
    </dgm:pt>
  </dgm:ptLst>
  <dgm:cxnLst>
    <dgm:cxn modelId="{8EB2FD26-EF36-4B97-AD80-1AECFC28CF49}" srcId="{D75A8799-6636-4F65-84A4-AC0CDBC1D267}" destId="{87CB46EF-DEDC-4407-BC06-F70F4C69BF60}" srcOrd="1" destOrd="0" parTransId="{090586D9-5F4F-4D8F-A2EF-68E0A8B22195}" sibTransId="{D7FA6CC6-7D53-4BB4-91D3-A039A323FD14}"/>
    <dgm:cxn modelId="{73E49729-3071-42BA-9F48-51341774B6A4}" type="presOf" srcId="{87CB46EF-DEDC-4407-BC06-F70F4C69BF60}" destId="{9E552E76-7DE0-425F-958A-DD3E5C63A279}" srcOrd="0" destOrd="0" presId="urn:microsoft.com/office/officeart/2005/8/layout/vList2"/>
    <dgm:cxn modelId="{5E485040-0408-4618-98C0-57B577ECB0E1}" srcId="{D75A8799-6636-4F65-84A4-AC0CDBC1D267}" destId="{AA4D6FE8-A8FA-45F8-937C-706FFBC7BD92}" srcOrd="0" destOrd="0" parTransId="{911AC0BF-B2E3-468A-BAA3-F7182520ABAE}" sibTransId="{417809B4-B13F-420A-BCFD-0C84DF2AD178}"/>
    <dgm:cxn modelId="{FF33568E-0326-4C62-AEFB-34CAEDCF0327}" type="presOf" srcId="{AA4D6FE8-A8FA-45F8-937C-706FFBC7BD92}" destId="{321A3352-8B0C-48CD-91FF-BA4CF2043BD7}" srcOrd="0" destOrd="0" presId="urn:microsoft.com/office/officeart/2005/8/layout/vList2"/>
    <dgm:cxn modelId="{67702F93-2604-49CE-98C9-4E7890514F72}" type="presOf" srcId="{D75A8799-6636-4F65-84A4-AC0CDBC1D267}" destId="{BC12D12F-F18B-446C-BB22-A4C098362A27}" srcOrd="0" destOrd="0" presId="urn:microsoft.com/office/officeart/2005/8/layout/vList2"/>
    <dgm:cxn modelId="{71A8C295-A703-42BC-BADA-423882E20DA3}" srcId="{D75A8799-6636-4F65-84A4-AC0CDBC1D267}" destId="{AC6E9EA8-E766-4699-BCFA-3936425C0348}" srcOrd="2" destOrd="0" parTransId="{FA96B8B5-0495-4760-8624-D74F95791004}" sibTransId="{D2695392-E7DF-4F4B-936E-3045EA5B8321}"/>
    <dgm:cxn modelId="{35615FB8-5756-4133-99EC-C97B0E59D5CB}" srcId="{D75A8799-6636-4F65-84A4-AC0CDBC1D267}" destId="{B988E88E-8B26-4B6C-B112-168B6C837FF8}" srcOrd="3" destOrd="0" parTransId="{A36E2402-C8BC-4A5F-B028-D28D4A64549B}" sibTransId="{B46215C5-4B3A-4356-9AE2-0F9461BEB8CA}"/>
    <dgm:cxn modelId="{67748AE2-3A74-442D-9FF1-AA083D67AFB0}" type="presOf" srcId="{B988E88E-8B26-4B6C-B112-168B6C837FF8}" destId="{84538EB3-7DC5-478D-8215-7AA7519D3096}" srcOrd="0" destOrd="0" presId="urn:microsoft.com/office/officeart/2005/8/layout/vList2"/>
    <dgm:cxn modelId="{EA1472F7-222A-4CBE-A1A3-7EC86F467580}" type="presOf" srcId="{AC6E9EA8-E766-4699-BCFA-3936425C0348}" destId="{DA311F30-DACA-4774-919D-83559222DB1D}" srcOrd="0" destOrd="0" presId="urn:microsoft.com/office/officeart/2005/8/layout/vList2"/>
    <dgm:cxn modelId="{62512DEA-DEB5-4302-8AEB-064098011E33}" type="presParOf" srcId="{BC12D12F-F18B-446C-BB22-A4C098362A27}" destId="{321A3352-8B0C-48CD-91FF-BA4CF2043BD7}" srcOrd="0" destOrd="0" presId="urn:microsoft.com/office/officeart/2005/8/layout/vList2"/>
    <dgm:cxn modelId="{AA2632F0-2656-4490-B6B6-824FF63FF918}" type="presParOf" srcId="{BC12D12F-F18B-446C-BB22-A4C098362A27}" destId="{04F43EE3-73E9-4272-8D18-2F17B23C4D8C}" srcOrd="1" destOrd="0" presId="urn:microsoft.com/office/officeart/2005/8/layout/vList2"/>
    <dgm:cxn modelId="{EA1401DD-3D5C-4D12-9479-CE4B9E3C8662}" type="presParOf" srcId="{BC12D12F-F18B-446C-BB22-A4C098362A27}" destId="{9E552E76-7DE0-425F-958A-DD3E5C63A279}" srcOrd="2" destOrd="0" presId="urn:microsoft.com/office/officeart/2005/8/layout/vList2"/>
    <dgm:cxn modelId="{71DC490C-E44E-4358-934F-AA0D5FA1E61D}" type="presParOf" srcId="{BC12D12F-F18B-446C-BB22-A4C098362A27}" destId="{EC8366D9-4907-4885-BCF4-C2CC903A1950}" srcOrd="3" destOrd="0" presId="urn:microsoft.com/office/officeart/2005/8/layout/vList2"/>
    <dgm:cxn modelId="{3AB42D39-C7B4-4E7C-A2A9-8076B1A61B65}" type="presParOf" srcId="{BC12D12F-F18B-446C-BB22-A4C098362A27}" destId="{DA311F30-DACA-4774-919D-83559222DB1D}" srcOrd="4" destOrd="0" presId="urn:microsoft.com/office/officeart/2005/8/layout/vList2"/>
    <dgm:cxn modelId="{F380796A-99B4-42B8-A7FD-FAECD4429457}" type="presParOf" srcId="{BC12D12F-F18B-446C-BB22-A4C098362A27}" destId="{66AB4767-ECF8-47E2-8296-86DD4BA94074}" srcOrd="5" destOrd="0" presId="urn:microsoft.com/office/officeart/2005/8/layout/vList2"/>
    <dgm:cxn modelId="{BD970F7B-8FFB-4679-AB4F-E8D8DC0BF496}" type="presParOf" srcId="{BC12D12F-F18B-446C-BB22-A4C098362A27}" destId="{84538EB3-7DC5-478D-8215-7AA7519D3096}"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3E126D-17AC-41A5-B9E7-0F1310CFDBBB}"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E478494-BCC2-4E04-ABC7-60398F5E946D}">
      <dgm:prSet/>
      <dgm:spPr/>
      <dgm:t>
        <a:bodyPr/>
        <a:lstStyle/>
        <a:p>
          <a:r>
            <a:rPr lang="en-US"/>
            <a:t>A small number of test cases are needed to adequately cover a large input domain</a:t>
          </a:r>
        </a:p>
      </dgm:t>
    </dgm:pt>
    <dgm:pt modelId="{C325F3D0-C864-4102-A7D3-2B95F1231154}" type="parTrans" cxnId="{1C8D7911-18CC-4CFD-8E18-4CE33922566D}">
      <dgm:prSet/>
      <dgm:spPr/>
      <dgm:t>
        <a:bodyPr/>
        <a:lstStyle/>
        <a:p>
          <a:endParaRPr lang="en-US"/>
        </a:p>
      </dgm:t>
    </dgm:pt>
    <dgm:pt modelId="{67F4F88B-083E-490F-A048-11E019CA2203}" type="sibTrans" cxnId="{1C8D7911-18CC-4CFD-8E18-4CE33922566D}">
      <dgm:prSet/>
      <dgm:spPr/>
      <dgm:t>
        <a:bodyPr/>
        <a:lstStyle/>
        <a:p>
          <a:endParaRPr lang="en-US"/>
        </a:p>
      </dgm:t>
    </dgm:pt>
    <dgm:pt modelId="{D671464E-6599-4957-8A87-591BB22F18D4}">
      <dgm:prSet/>
      <dgm:spPr/>
      <dgm:t>
        <a:bodyPr/>
        <a:lstStyle/>
        <a:p>
          <a:r>
            <a:rPr lang="en-US"/>
            <a:t>One gets a better idea about the input domain being covered with the selected test cases</a:t>
          </a:r>
        </a:p>
      </dgm:t>
    </dgm:pt>
    <dgm:pt modelId="{D7A4EBE1-6E54-460B-A211-DDC68072F49B}" type="parTrans" cxnId="{54CE8588-949B-4BDF-8A0B-1EDA6CAB24C4}">
      <dgm:prSet/>
      <dgm:spPr/>
      <dgm:t>
        <a:bodyPr/>
        <a:lstStyle/>
        <a:p>
          <a:endParaRPr lang="en-US"/>
        </a:p>
      </dgm:t>
    </dgm:pt>
    <dgm:pt modelId="{60685B58-C02D-461D-A4F0-6B37A2F6ED08}" type="sibTrans" cxnId="{54CE8588-949B-4BDF-8A0B-1EDA6CAB24C4}">
      <dgm:prSet/>
      <dgm:spPr/>
      <dgm:t>
        <a:bodyPr/>
        <a:lstStyle/>
        <a:p>
          <a:endParaRPr lang="en-US"/>
        </a:p>
      </dgm:t>
    </dgm:pt>
    <dgm:pt modelId="{87D9B83B-FFE1-4AF3-9699-CAE2C9D89651}">
      <dgm:prSet/>
      <dgm:spPr/>
      <dgm:t>
        <a:bodyPr/>
        <a:lstStyle/>
        <a:p>
          <a:r>
            <a:rPr lang="en-US"/>
            <a:t>The probability of uncovering defects with the selected test cases based on equivalence class partitioning is higher than that with a randomly chosen test suite of the same size</a:t>
          </a:r>
        </a:p>
      </dgm:t>
    </dgm:pt>
    <dgm:pt modelId="{5C8EA7EB-A42C-40E8-B700-209A4654C217}" type="parTrans" cxnId="{5B65F274-ADAE-4CF7-B46B-2E6256536929}">
      <dgm:prSet/>
      <dgm:spPr/>
      <dgm:t>
        <a:bodyPr/>
        <a:lstStyle/>
        <a:p>
          <a:endParaRPr lang="en-US"/>
        </a:p>
      </dgm:t>
    </dgm:pt>
    <dgm:pt modelId="{16E4AC09-DD21-417C-96B7-6893C0BB7D04}" type="sibTrans" cxnId="{5B65F274-ADAE-4CF7-B46B-2E6256536929}">
      <dgm:prSet/>
      <dgm:spPr/>
      <dgm:t>
        <a:bodyPr/>
        <a:lstStyle/>
        <a:p>
          <a:endParaRPr lang="en-US"/>
        </a:p>
      </dgm:t>
    </dgm:pt>
    <dgm:pt modelId="{6A5F0B7B-7D4A-4429-A946-188273EDE035}">
      <dgm:prSet/>
      <dgm:spPr/>
      <dgm:t>
        <a:bodyPr/>
        <a:lstStyle/>
        <a:p>
          <a:r>
            <a:rPr lang="en-US"/>
            <a:t>The equivalence class partitioning approach is not restricted to input conditions alone – the technique may also be used for output domains</a:t>
          </a:r>
        </a:p>
      </dgm:t>
    </dgm:pt>
    <dgm:pt modelId="{6CEF14A4-7DA7-4A08-8969-A9CF36910C97}" type="parTrans" cxnId="{9CF6F730-5954-4370-AD16-83DCFD38978B}">
      <dgm:prSet/>
      <dgm:spPr/>
      <dgm:t>
        <a:bodyPr/>
        <a:lstStyle/>
        <a:p>
          <a:endParaRPr lang="en-US"/>
        </a:p>
      </dgm:t>
    </dgm:pt>
    <dgm:pt modelId="{569DBC53-82FC-4795-9FD1-BF6D926D6731}" type="sibTrans" cxnId="{9CF6F730-5954-4370-AD16-83DCFD38978B}">
      <dgm:prSet/>
      <dgm:spPr/>
      <dgm:t>
        <a:bodyPr/>
        <a:lstStyle/>
        <a:p>
          <a:endParaRPr lang="en-US"/>
        </a:p>
      </dgm:t>
    </dgm:pt>
    <dgm:pt modelId="{5E86EB06-5A90-4946-95FA-78A95C10B3D2}" type="pres">
      <dgm:prSet presAssocID="{413E126D-17AC-41A5-B9E7-0F1310CFDBBB}" presName="linear" presStyleCnt="0">
        <dgm:presLayoutVars>
          <dgm:animLvl val="lvl"/>
          <dgm:resizeHandles val="exact"/>
        </dgm:presLayoutVars>
      </dgm:prSet>
      <dgm:spPr/>
    </dgm:pt>
    <dgm:pt modelId="{D2EFAB0F-7BE7-4C86-A238-B49E8A9AEB5F}" type="pres">
      <dgm:prSet presAssocID="{AE478494-BCC2-4E04-ABC7-60398F5E946D}" presName="parentText" presStyleLbl="node1" presStyleIdx="0" presStyleCnt="4">
        <dgm:presLayoutVars>
          <dgm:chMax val="0"/>
          <dgm:bulletEnabled val="1"/>
        </dgm:presLayoutVars>
      </dgm:prSet>
      <dgm:spPr/>
    </dgm:pt>
    <dgm:pt modelId="{2818F389-BE64-42B0-8545-20FBF2D814EC}" type="pres">
      <dgm:prSet presAssocID="{67F4F88B-083E-490F-A048-11E019CA2203}" presName="spacer" presStyleCnt="0"/>
      <dgm:spPr/>
    </dgm:pt>
    <dgm:pt modelId="{7A6F975E-3979-4ACE-99FF-3F34DEC07B83}" type="pres">
      <dgm:prSet presAssocID="{D671464E-6599-4957-8A87-591BB22F18D4}" presName="parentText" presStyleLbl="node1" presStyleIdx="1" presStyleCnt="4">
        <dgm:presLayoutVars>
          <dgm:chMax val="0"/>
          <dgm:bulletEnabled val="1"/>
        </dgm:presLayoutVars>
      </dgm:prSet>
      <dgm:spPr/>
    </dgm:pt>
    <dgm:pt modelId="{389BBCAB-45F0-442B-B407-4EFD359A6003}" type="pres">
      <dgm:prSet presAssocID="{60685B58-C02D-461D-A4F0-6B37A2F6ED08}" presName="spacer" presStyleCnt="0"/>
      <dgm:spPr/>
    </dgm:pt>
    <dgm:pt modelId="{4EBD7DEB-9F92-4772-AB98-0ECBE7205660}" type="pres">
      <dgm:prSet presAssocID="{87D9B83B-FFE1-4AF3-9699-CAE2C9D89651}" presName="parentText" presStyleLbl="node1" presStyleIdx="2" presStyleCnt="4">
        <dgm:presLayoutVars>
          <dgm:chMax val="0"/>
          <dgm:bulletEnabled val="1"/>
        </dgm:presLayoutVars>
      </dgm:prSet>
      <dgm:spPr/>
    </dgm:pt>
    <dgm:pt modelId="{AAC94CE1-3F83-46DF-9F17-EB295A138CA6}" type="pres">
      <dgm:prSet presAssocID="{16E4AC09-DD21-417C-96B7-6893C0BB7D04}" presName="spacer" presStyleCnt="0"/>
      <dgm:spPr/>
    </dgm:pt>
    <dgm:pt modelId="{8CA88715-339E-4BD7-8542-CC52D4C41790}" type="pres">
      <dgm:prSet presAssocID="{6A5F0B7B-7D4A-4429-A946-188273EDE035}" presName="parentText" presStyleLbl="node1" presStyleIdx="3" presStyleCnt="4">
        <dgm:presLayoutVars>
          <dgm:chMax val="0"/>
          <dgm:bulletEnabled val="1"/>
        </dgm:presLayoutVars>
      </dgm:prSet>
      <dgm:spPr/>
    </dgm:pt>
  </dgm:ptLst>
  <dgm:cxnLst>
    <dgm:cxn modelId="{1C8D7911-18CC-4CFD-8E18-4CE33922566D}" srcId="{413E126D-17AC-41A5-B9E7-0F1310CFDBBB}" destId="{AE478494-BCC2-4E04-ABC7-60398F5E946D}" srcOrd="0" destOrd="0" parTransId="{C325F3D0-C864-4102-A7D3-2B95F1231154}" sibTransId="{67F4F88B-083E-490F-A048-11E019CA2203}"/>
    <dgm:cxn modelId="{9CF6F730-5954-4370-AD16-83DCFD38978B}" srcId="{413E126D-17AC-41A5-B9E7-0F1310CFDBBB}" destId="{6A5F0B7B-7D4A-4429-A946-188273EDE035}" srcOrd="3" destOrd="0" parTransId="{6CEF14A4-7DA7-4A08-8969-A9CF36910C97}" sibTransId="{569DBC53-82FC-4795-9FD1-BF6D926D6731}"/>
    <dgm:cxn modelId="{DB992E52-478B-436C-B7E8-BB540BA6BF5E}" type="presOf" srcId="{AE478494-BCC2-4E04-ABC7-60398F5E946D}" destId="{D2EFAB0F-7BE7-4C86-A238-B49E8A9AEB5F}" srcOrd="0" destOrd="0" presId="urn:microsoft.com/office/officeart/2005/8/layout/vList2"/>
    <dgm:cxn modelId="{331F0157-1949-4E36-BA53-92E51C69A45B}" type="presOf" srcId="{6A5F0B7B-7D4A-4429-A946-188273EDE035}" destId="{8CA88715-339E-4BD7-8542-CC52D4C41790}" srcOrd="0" destOrd="0" presId="urn:microsoft.com/office/officeart/2005/8/layout/vList2"/>
    <dgm:cxn modelId="{5B65F274-ADAE-4CF7-B46B-2E6256536929}" srcId="{413E126D-17AC-41A5-B9E7-0F1310CFDBBB}" destId="{87D9B83B-FFE1-4AF3-9699-CAE2C9D89651}" srcOrd="2" destOrd="0" parTransId="{5C8EA7EB-A42C-40E8-B700-209A4654C217}" sibTransId="{16E4AC09-DD21-417C-96B7-6893C0BB7D04}"/>
    <dgm:cxn modelId="{54CE8588-949B-4BDF-8A0B-1EDA6CAB24C4}" srcId="{413E126D-17AC-41A5-B9E7-0F1310CFDBBB}" destId="{D671464E-6599-4957-8A87-591BB22F18D4}" srcOrd="1" destOrd="0" parTransId="{D7A4EBE1-6E54-460B-A211-DDC68072F49B}" sibTransId="{60685B58-C02D-461D-A4F0-6B37A2F6ED08}"/>
    <dgm:cxn modelId="{0FA7DC8B-CCC6-47AB-9E82-A769B9AC3168}" type="presOf" srcId="{413E126D-17AC-41A5-B9E7-0F1310CFDBBB}" destId="{5E86EB06-5A90-4946-95FA-78A95C10B3D2}" srcOrd="0" destOrd="0" presId="urn:microsoft.com/office/officeart/2005/8/layout/vList2"/>
    <dgm:cxn modelId="{99D55395-9256-4E89-A7B2-2747280627D9}" type="presOf" srcId="{D671464E-6599-4957-8A87-591BB22F18D4}" destId="{7A6F975E-3979-4ACE-99FF-3F34DEC07B83}" srcOrd="0" destOrd="0" presId="urn:microsoft.com/office/officeart/2005/8/layout/vList2"/>
    <dgm:cxn modelId="{DE52CFD7-3044-428C-9EBC-EC0E972C02B0}" type="presOf" srcId="{87D9B83B-FFE1-4AF3-9699-CAE2C9D89651}" destId="{4EBD7DEB-9F92-4772-AB98-0ECBE7205660}" srcOrd="0" destOrd="0" presId="urn:microsoft.com/office/officeart/2005/8/layout/vList2"/>
    <dgm:cxn modelId="{17E81AF3-392D-48E5-970D-68D29C29F21C}" type="presParOf" srcId="{5E86EB06-5A90-4946-95FA-78A95C10B3D2}" destId="{D2EFAB0F-7BE7-4C86-A238-B49E8A9AEB5F}" srcOrd="0" destOrd="0" presId="urn:microsoft.com/office/officeart/2005/8/layout/vList2"/>
    <dgm:cxn modelId="{DE8519AE-5A8A-48FB-8E4C-A41D1F982E95}" type="presParOf" srcId="{5E86EB06-5A90-4946-95FA-78A95C10B3D2}" destId="{2818F389-BE64-42B0-8545-20FBF2D814EC}" srcOrd="1" destOrd="0" presId="urn:microsoft.com/office/officeart/2005/8/layout/vList2"/>
    <dgm:cxn modelId="{597803F5-C04D-4106-A975-87DE30228367}" type="presParOf" srcId="{5E86EB06-5A90-4946-95FA-78A95C10B3D2}" destId="{7A6F975E-3979-4ACE-99FF-3F34DEC07B83}" srcOrd="2" destOrd="0" presId="urn:microsoft.com/office/officeart/2005/8/layout/vList2"/>
    <dgm:cxn modelId="{4F227FE4-C792-455C-B15F-F53A80FDE6FB}" type="presParOf" srcId="{5E86EB06-5A90-4946-95FA-78A95C10B3D2}" destId="{389BBCAB-45F0-442B-B407-4EFD359A6003}" srcOrd="3" destOrd="0" presId="urn:microsoft.com/office/officeart/2005/8/layout/vList2"/>
    <dgm:cxn modelId="{0A3F6502-AB50-42FC-AB53-B9B51B8CAE41}" type="presParOf" srcId="{5E86EB06-5A90-4946-95FA-78A95C10B3D2}" destId="{4EBD7DEB-9F92-4772-AB98-0ECBE7205660}" srcOrd="4" destOrd="0" presId="urn:microsoft.com/office/officeart/2005/8/layout/vList2"/>
    <dgm:cxn modelId="{1D467975-75F6-47DF-A545-49E639CF7346}" type="presParOf" srcId="{5E86EB06-5A90-4946-95FA-78A95C10B3D2}" destId="{AAC94CE1-3F83-46DF-9F17-EB295A138CA6}" srcOrd="5" destOrd="0" presId="urn:microsoft.com/office/officeart/2005/8/layout/vList2"/>
    <dgm:cxn modelId="{B7C35B00-C0A8-4514-8E66-73676F64D4CC}" type="presParOf" srcId="{5E86EB06-5A90-4946-95FA-78A95C10B3D2}" destId="{8CA88715-339E-4BD7-8542-CC52D4C41790}"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92ADF-D9B4-4505-88A3-2FFBA012B44B}">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E2C45A-33BB-490D-8506-90AAF95D5A99}">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Functional Testing</a:t>
          </a:r>
          <a:endParaRPr lang="en-US" sz="4200" kern="1200"/>
        </a:p>
      </dsp:txBody>
      <dsp:txXfrm>
        <a:off x="0" y="675"/>
        <a:ext cx="6900512" cy="1106957"/>
      </dsp:txXfrm>
    </dsp:sp>
    <dsp:sp modelId="{97CBF805-0548-4B49-9E87-ED8F6B399F26}">
      <dsp:nvSpPr>
        <dsp:cNvPr id="0" name=""/>
        <dsp:cNvSpPr/>
      </dsp:nvSpPr>
      <dsp:spPr>
        <a:xfrm>
          <a:off x="0" y="1107633"/>
          <a:ext cx="6900512" cy="0"/>
        </a:xfrm>
        <a:prstGeom prst="lin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5E0B7C-0413-43FB-9A50-71DDF466BDD5}">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Boundary Testing </a:t>
          </a:r>
        </a:p>
      </dsp:txBody>
      <dsp:txXfrm>
        <a:off x="0" y="1107633"/>
        <a:ext cx="6900512" cy="1106957"/>
      </dsp:txXfrm>
    </dsp:sp>
    <dsp:sp modelId="{50BA78A5-8FA4-44DD-A455-89322823F036}">
      <dsp:nvSpPr>
        <dsp:cNvPr id="0" name=""/>
        <dsp:cNvSpPr/>
      </dsp:nvSpPr>
      <dsp:spPr>
        <a:xfrm>
          <a:off x="0" y="2214591"/>
          <a:ext cx="6900512" cy="0"/>
        </a:xfrm>
        <a:prstGeom prst="line">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B29194-77E3-480C-9BD7-7DD4340E7C9F}">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Equivalence Class Testing</a:t>
          </a:r>
        </a:p>
      </dsp:txBody>
      <dsp:txXfrm>
        <a:off x="0" y="2214591"/>
        <a:ext cx="6900512" cy="1106957"/>
      </dsp:txXfrm>
    </dsp:sp>
    <dsp:sp modelId="{A9355ED2-C20C-4CD2-A3CE-8592040ED976}">
      <dsp:nvSpPr>
        <dsp:cNvPr id="0" name=""/>
        <dsp:cNvSpPr/>
      </dsp:nvSpPr>
      <dsp:spPr>
        <a:xfrm>
          <a:off x="0" y="3321549"/>
          <a:ext cx="6900512" cy="0"/>
        </a:xfrm>
        <a:prstGeom prst="lin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F871EA-8966-4043-8EDF-F35E3858FB0D}">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Decision Table – Based Testing</a:t>
          </a:r>
        </a:p>
      </dsp:txBody>
      <dsp:txXfrm>
        <a:off x="0" y="3321549"/>
        <a:ext cx="6900512" cy="1106957"/>
      </dsp:txXfrm>
    </dsp:sp>
    <dsp:sp modelId="{E6E98197-FC65-42BE-9284-3DE1AEB6B107}">
      <dsp:nvSpPr>
        <dsp:cNvPr id="0" name=""/>
        <dsp:cNvSpPr/>
      </dsp:nvSpPr>
      <dsp:spPr>
        <a:xfrm>
          <a:off x="0" y="4428507"/>
          <a:ext cx="6900512" cy="0"/>
        </a:xfrm>
        <a:prstGeom prst="line">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A4B5307-DAE0-45C7-A8E5-3FCD38FA53BD}">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All-Pairs Testing</a:t>
          </a:r>
        </a:p>
      </dsp:txBody>
      <dsp:txXfrm>
        <a:off x="0" y="4428507"/>
        <a:ext cx="6900512" cy="110695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F1FA4B-6F73-4F19-B007-800839598A1D}">
      <dsp:nvSpPr>
        <dsp:cNvPr id="0" name=""/>
        <dsp:cNvSpPr/>
      </dsp:nvSpPr>
      <dsp:spPr>
        <a:xfrm>
          <a:off x="2185565" y="1603"/>
          <a:ext cx="8742263" cy="703472"/>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one equivalence class for a  &lt; X  &lt; b, and </a:t>
          </a:r>
        </a:p>
        <a:p>
          <a:pPr marL="0" lvl="0" indent="0" algn="l" defTabSz="488950">
            <a:lnSpc>
              <a:spcPct val="90000"/>
            </a:lnSpc>
            <a:spcBef>
              <a:spcPct val="0"/>
            </a:spcBef>
            <a:spcAft>
              <a:spcPct val="35000"/>
            </a:spcAft>
            <a:buNone/>
          </a:pPr>
          <a:r>
            <a:rPr lang="en-US" sz="1100" kern="1200"/>
            <a:t>two other classes for X &lt; a and X &gt; b to test the system with invalid inputs</a:t>
          </a:r>
        </a:p>
      </dsp:txBody>
      <dsp:txXfrm>
        <a:off x="2185565" y="1603"/>
        <a:ext cx="8742263" cy="703472"/>
      </dsp:txXfrm>
    </dsp:sp>
    <dsp:sp modelId="{1DE28746-D661-4FE0-B099-287BF538115C}">
      <dsp:nvSpPr>
        <dsp:cNvPr id="0" name=""/>
        <dsp:cNvSpPr/>
      </dsp:nvSpPr>
      <dsp:spPr>
        <a:xfrm>
          <a:off x="0" y="1603"/>
          <a:ext cx="2185565" cy="7034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range [a, b]</a:t>
          </a:r>
        </a:p>
      </dsp:txBody>
      <dsp:txXfrm>
        <a:off x="0" y="1603"/>
        <a:ext cx="2185565" cy="703472"/>
      </dsp:txXfrm>
    </dsp:sp>
    <dsp:sp modelId="{7733A888-23ED-4D30-A68C-F72B4AFE6ED0}">
      <dsp:nvSpPr>
        <dsp:cNvPr id="0" name=""/>
        <dsp:cNvSpPr/>
      </dsp:nvSpPr>
      <dsp:spPr>
        <a:xfrm>
          <a:off x="2185565" y="747284"/>
          <a:ext cx="8742263" cy="703472"/>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one equivalence class for all elements of the set {M</a:t>
          </a:r>
          <a:r>
            <a:rPr lang="en-US" sz="1100" kern="1200" baseline="-25000" dirty="0"/>
            <a:t>1</a:t>
          </a:r>
          <a:r>
            <a:rPr lang="en-US" sz="1100" kern="1200" dirty="0"/>
            <a:t>}, {M</a:t>
          </a:r>
          <a:r>
            <a:rPr lang="en-US" sz="1100" kern="1200" baseline="-25000" dirty="0"/>
            <a:t>2</a:t>
          </a:r>
          <a:r>
            <a:rPr lang="en-US" sz="1100" kern="1200" dirty="0"/>
            <a:t>}, ...., {M</a:t>
          </a:r>
          <a:r>
            <a:rPr lang="en-US" sz="1100" kern="1200" baseline="-25000" dirty="0"/>
            <a:t>N</a:t>
          </a:r>
          <a:r>
            <a:rPr lang="en-US" sz="1100" kern="1200" dirty="0"/>
            <a:t>}, and </a:t>
          </a:r>
        </a:p>
        <a:p>
          <a:pPr marL="0" lvl="0" indent="0" algn="l" defTabSz="488950">
            <a:lnSpc>
              <a:spcPct val="90000"/>
            </a:lnSpc>
            <a:spcBef>
              <a:spcPct val="0"/>
            </a:spcBef>
            <a:spcAft>
              <a:spcPct val="35000"/>
            </a:spcAft>
            <a:buNone/>
          </a:pPr>
          <a:r>
            <a:rPr lang="en-US" sz="1100" kern="1200" dirty="0"/>
            <a:t>one equivalence class for elements outside the set {M</a:t>
          </a:r>
          <a:r>
            <a:rPr lang="en-US" sz="1100" kern="1200" baseline="-25000" dirty="0"/>
            <a:t>1</a:t>
          </a:r>
          <a:r>
            <a:rPr lang="en-US" sz="1100" kern="1200" dirty="0"/>
            <a:t>,M</a:t>
          </a:r>
          <a:r>
            <a:rPr lang="en-US" sz="1100" kern="1200" baseline="-25000" dirty="0"/>
            <a:t>2</a:t>
          </a:r>
          <a:r>
            <a:rPr lang="en-US" sz="1100" kern="1200" dirty="0"/>
            <a:t>, ...,M</a:t>
          </a:r>
          <a:r>
            <a:rPr lang="en-US" sz="1100" kern="1200" baseline="-25000" dirty="0"/>
            <a:t>N</a:t>
          </a:r>
          <a:r>
            <a:rPr lang="en-US" sz="1100" kern="1200" dirty="0"/>
            <a:t>}</a:t>
          </a:r>
        </a:p>
      </dsp:txBody>
      <dsp:txXfrm>
        <a:off x="2185565" y="747284"/>
        <a:ext cx="8742263" cy="703472"/>
      </dsp:txXfrm>
    </dsp:sp>
    <dsp:sp modelId="{FD86F205-6822-48A1-ACD6-BC062FE9F935}">
      <dsp:nvSpPr>
        <dsp:cNvPr id="0" name=""/>
        <dsp:cNvSpPr/>
      </dsp:nvSpPr>
      <dsp:spPr>
        <a:xfrm>
          <a:off x="0" y="747284"/>
          <a:ext cx="2185565" cy="7034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dirty="0"/>
            <a:t>An input condition specifies a set of values</a:t>
          </a:r>
        </a:p>
      </dsp:txBody>
      <dsp:txXfrm>
        <a:off x="0" y="747284"/>
        <a:ext cx="2185565" cy="703472"/>
      </dsp:txXfrm>
    </dsp:sp>
    <dsp:sp modelId="{0EBF3CDC-AD26-47C8-8885-B54F462976DC}">
      <dsp:nvSpPr>
        <dsp:cNvPr id="0" name=""/>
        <dsp:cNvSpPr/>
      </dsp:nvSpPr>
      <dsp:spPr>
        <a:xfrm>
          <a:off x="2185565" y="1492966"/>
          <a:ext cx="8742263" cy="703472"/>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If the system handles each valid input differently then create one equivalence class for each valid input</a:t>
          </a:r>
        </a:p>
      </dsp:txBody>
      <dsp:txXfrm>
        <a:off x="2185565" y="1492966"/>
        <a:ext cx="8742263" cy="703472"/>
      </dsp:txXfrm>
    </dsp:sp>
    <dsp:sp modelId="{D82B9CED-1BF8-411B-973D-D5C76A2D6B95}">
      <dsp:nvSpPr>
        <dsp:cNvPr id="0" name=""/>
        <dsp:cNvSpPr/>
      </dsp:nvSpPr>
      <dsp:spPr>
        <a:xfrm>
          <a:off x="0" y="1492966"/>
          <a:ext cx="2185565" cy="703472"/>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dirty="0"/>
            <a:t>Input condition specifies for each individual value</a:t>
          </a:r>
        </a:p>
      </dsp:txBody>
      <dsp:txXfrm>
        <a:off x="0" y="1492966"/>
        <a:ext cx="2185565" cy="703472"/>
      </dsp:txXfrm>
    </dsp:sp>
    <dsp:sp modelId="{AA5BD149-4CEB-4972-BB50-E84B66FE2987}">
      <dsp:nvSpPr>
        <dsp:cNvPr id="0" name=""/>
        <dsp:cNvSpPr/>
      </dsp:nvSpPr>
      <dsp:spPr>
        <a:xfrm>
          <a:off x="2185565" y="2238647"/>
          <a:ext cx="8742263" cy="703472"/>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Create one equivalence class for the correct number of inputs</a:t>
          </a:r>
        </a:p>
        <a:p>
          <a:pPr marL="0" lvl="0" indent="0" algn="l" defTabSz="488950">
            <a:lnSpc>
              <a:spcPct val="90000"/>
            </a:lnSpc>
            <a:spcBef>
              <a:spcPct val="0"/>
            </a:spcBef>
            <a:spcAft>
              <a:spcPct val="35000"/>
            </a:spcAft>
            <a:buNone/>
          </a:pPr>
          <a:r>
            <a:rPr lang="en-US" sz="1100" kern="1200"/>
            <a:t>two equivalence classes for invalid inputs – one for zero values and one for more than N values</a:t>
          </a:r>
        </a:p>
      </dsp:txBody>
      <dsp:txXfrm>
        <a:off x="2185565" y="2238647"/>
        <a:ext cx="8742263" cy="703472"/>
      </dsp:txXfrm>
    </dsp:sp>
    <dsp:sp modelId="{C2168281-52EA-4113-953A-1D206B9AFC89}">
      <dsp:nvSpPr>
        <dsp:cNvPr id="0" name=""/>
        <dsp:cNvSpPr/>
      </dsp:nvSpPr>
      <dsp:spPr>
        <a:xfrm>
          <a:off x="0" y="2238647"/>
          <a:ext cx="2185565" cy="703472"/>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dirty="0"/>
            <a:t>An input condition specifies the number of valid values (Say N)  </a:t>
          </a:r>
        </a:p>
      </dsp:txBody>
      <dsp:txXfrm>
        <a:off x="0" y="2238647"/>
        <a:ext cx="2185565" cy="703472"/>
      </dsp:txXfrm>
    </dsp:sp>
    <dsp:sp modelId="{B83945FD-F514-42DB-8AC3-5E77485D7171}">
      <dsp:nvSpPr>
        <dsp:cNvPr id="0" name=""/>
        <dsp:cNvSpPr/>
      </dsp:nvSpPr>
      <dsp:spPr>
        <a:xfrm>
          <a:off x="2185565" y="2984328"/>
          <a:ext cx="8742263" cy="703472"/>
        </a:xfrm>
        <a:prstGeom prst="rect">
          <a:avLst/>
        </a:prstGeom>
        <a:solidFill>
          <a:schemeClr val="accent6">
            <a:tint val="40000"/>
            <a:alpha val="90000"/>
            <a:hueOff val="0"/>
            <a:satOff val="0"/>
            <a:lumOff val="0"/>
            <a:alphaOff val="0"/>
          </a:schemeClr>
        </a:solidFill>
        <a:ln w="12700" cap="flat" cmpd="sng" algn="ctr">
          <a:solidFill>
            <a:schemeClr val="accent6">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a “must be” value, and </a:t>
          </a:r>
        </a:p>
        <a:p>
          <a:pPr marL="0" lvl="0" indent="0" algn="l" defTabSz="488950">
            <a:lnSpc>
              <a:spcPct val="90000"/>
            </a:lnSpc>
            <a:spcBef>
              <a:spcPct val="0"/>
            </a:spcBef>
            <a:spcAft>
              <a:spcPct val="35000"/>
            </a:spcAft>
            <a:buNone/>
          </a:pPr>
          <a:r>
            <a:rPr lang="en-US" sz="1100" kern="1200"/>
            <a:t>one equivalence class for something that is not a “must be” value</a:t>
          </a:r>
        </a:p>
      </dsp:txBody>
      <dsp:txXfrm>
        <a:off x="2185565" y="2984328"/>
        <a:ext cx="8742263" cy="703472"/>
      </dsp:txXfrm>
    </dsp:sp>
    <dsp:sp modelId="{B7CD9E1C-B28D-47C7-AEAD-37209D2115A1}">
      <dsp:nvSpPr>
        <dsp:cNvPr id="0" name=""/>
        <dsp:cNvSpPr/>
      </dsp:nvSpPr>
      <dsp:spPr>
        <a:xfrm>
          <a:off x="0" y="2984328"/>
          <a:ext cx="2185565" cy="703472"/>
        </a:xfrm>
        <a:prstGeom prst="rect">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“must be” value</a:t>
          </a:r>
        </a:p>
      </dsp:txBody>
      <dsp:txXfrm>
        <a:off x="0" y="2984328"/>
        <a:ext cx="2185565" cy="7034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A3352-8B0C-48CD-91FF-BA4CF2043BD7}">
      <dsp:nvSpPr>
        <dsp:cNvPr id="0" name=""/>
        <dsp:cNvSpPr/>
      </dsp:nvSpPr>
      <dsp:spPr>
        <a:xfrm>
          <a:off x="0" y="71693"/>
          <a:ext cx="6263640" cy="127120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1</a:t>
          </a:r>
          <a:r>
            <a:rPr lang="en-US" sz="3200" kern="1200"/>
            <a:t>. 0 &lt;= X &lt;= 100</a:t>
          </a:r>
        </a:p>
      </dsp:txBody>
      <dsp:txXfrm>
        <a:off x="62055" y="133748"/>
        <a:ext cx="6139530" cy="1147095"/>
      </dsp:txXfrm>
    </dsp:sp>
    <dsp:sp modelId="{9E552E76-7DE0-425F-958A-DD3E5C63A279}">
      <dsp:nvSpPr>
        <dsp:cNvPr id="0" name=""/>
        <dsp:cNvSpPr/>
      </dsp:nvSpPr>
      <dsp:spPr>
        <a:xfrm>
          <a:off x="0" y="1435058"/>
          <a:ext cx="6263640" cy="1271205"/>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dirty="0"/>
            <a:t>2</a:t>
          </a:r>
          <a:r>
            <a:rPr lang="en-US" sz="3200" kern="1200" dirty="0"/>
            <a:t>. The month of the year</a:t>
          </a:r>
        </a:p>
      </dsp:txBody>
      <dsp:txXfrm>
        <a:off x="62055" y="1497113"/>
        <a:ext cx="6139530" cy="1147095"/>
      </dsp:txXfrm>
    </dsp:sp>
    <dsp:sp modelId="{DA311F30-DACA-4774-919D-83559222DB1D}">
      <dsp:nvSpPr>
        <dsp:cNvPr id="0" name=""/>
        <dsp:cNvSpPr/>
      </dsp:nvSpPr>
      <dsp:spPr>
        <a:xfrm>
          <a:off x="0" y="2798423"/>
          <a:ext cx="6263640" cy="1271205"/>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3</a:t>
          </a:r>
          <a:r>
            <a:rPr lang="en-US" sz="3200" kern="1200"/>
            <a:t>. Type of a vehicle must be bus, truck, taxi or car</a:t>
          </a:r>
        </a:p>
      </dsp:txBody>
      <dsp:txXfrm>
        <a:off x="62055" y="2860478"/>
        <a:ext cx="6139530" cy="1147095"/>
      </dsp:txXfrm>
    </dsp:sp>
    <dsp:sp modelId="{84538EB3-7DC5-478D-8215-7AA7519D3096}">
      <dsp:nvSpPr>
        <dsp:cNvPr id="0" name=""/>
        <dsp:cNvSpPr/>
      </dsp:nvSpPr>
      <dsp:spPr>
        <a:xfrm>
          <a:off x="0" y="4161789"/>
          <a:ext cx="6263640" cy="1271205"/>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4</a:t>
          </a:r>
          <a:r>
            <a:rPr lang="en-US" sz="3200" kern="1200"/>
            <a:t>. The first character of an identifier must be a letter</a:t>
          </a:r>
        </a:p>
      </dsp:txBody>
      <dsp:txXfrm>
        <a:off x="62055" y="4223844"/>
        <a:ext cx="6139530" cy="114709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EFAB0F-7BE7-4C86-A238-B49E8A9AEB5F}">
      <dsp:nvSpPr>
        <dsp:cNvPr id="0" name=""/>
        <dsp:cNvSpPr/>
      </dsp:nvSpPr>
      <dsp:spPr>
        <a:xfrm>
          <a:off x="0" y="544520"/>
          <a:ext cx="6263640" cy="1062871"/>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A small number of test cases are needed to adequately cover a large input domain</a:t>
          </a:r>
        </a:p>
      </dsp:txBody>
      <dsp:txXfrm>
        <a:off x="51885" y="596405"/>
        <a:ext cx="6159870" cy="959101"/>
      </dsp:txXfrm>
    </dsp:sp>
    <dsp:sp modelId="{7A6F975E-3979-4ACE-99FF-3F34DEC07B83}">
      <dsp:nvSpPr>
        <dsp:cNvPr id="0" name=""/>
        <dsp:cNvSpPr/>
      </dsp:nvSpPr>
      <dsp:spPr>
        <a:xfrm>
          <a:off x="0" y="1662112"/>
          <a:ext cx="6263640" cy="1062871"/>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One gets a better idea about the input domain being covered with the selected test cases</a:t>
          </a:r>
        </a:p>
      </dsp:txBody>
      <dsp:txXfrm>
        <a:off x="51885" y="1713997"/>
        <a:ext cx="6159870" cy="959101"/>
      </dsp:txXfrm>
    </dsp:sp>
    <dsp:sp modelId="{4EBD7DEB-9F92-4772-AB98-0ECBE7205660}">
      <dsp:nvSpPr>
        <dsp:cNvPr id="0" name=""/>
        <dsp:cNvSpPr/>
      </dsp:nvSpPr>
      <dsp:spPr>
        <a:xfrm>
          <a:off x="0" y="2779704"/>
          <a:ext cx="6263640" cy="1062871"/>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probability of uncovering defects with the selected test cases based on equivalence class partitioning is higher than that with a randomly chosen test suite of the same size</a:t>
          </a:r>
        </a:p>
      </dsp:txBody>
      <dsp:txXfrm>
        <a:off x="51885" y="2831589"/>
        <a:ext cx="6159870" cy="959101"/>
      </dsp:txXfrm>
    </dsp:sp>
    <dsp:sp modelId="{8CA88715-339E-4BD7-8542-CC52D4C41790}">
      <dsp:nvSpPr>
        <dsp:cNvPr id="0" name=""/>
        <dsp:cNvSpPr/>
      </dsp:nvSpPr>
      <dsp:spPr>
        <a:xfrm>
          <a:off x="0" y="3897295"/>
          <a:ext cx="6263640" cy="1062871"/>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equivalence class partitioning approach is not restricted to input conditions alone – the technique may also be used for output domains</a:t>
          </a:r>
        </a:p>
      </dsp:txBody>
      <dsp:txXfrm>
        <a:off x="51885" y="3949180"/>
        <a:ext cx="6159870" cy="959101"/>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8B2DB0-0A29-4963-B594-B615A6AE14FD}" type="datetimeFigureOut">
              <a:rPr lang="en-US" smtClean="0"/>
              <a:t>10/25/25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752775-239C-4C94-B2DC-181E16042F65}" type="slidenum">
              <a:rPr lang="en-US" smtClean="0"/>
              <a:t>‹#›</a:t>
            </a:fld>
            <a:endParaRPr lang="en-US"/>
          </a:p>
        </p:txBody>
      </p:sp>
    </p:spTree>
    <p:extLst>
      <p:ext uri="{BB962C8B-B14F-4D97-AF65-F5344CB8AC3E}">
        <p14:creationId xmlns:p14="http://schemas.microsoft.com/office/powerpoint/2010/main" val="878772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CA" altLang="en-US"/>
              <a:t>Test cases are selected based on functional specification</a:t>
            </a:r>
          </a:p>
        </p:txBody>
      </p:sp>
      <p:sp>
        <p:nvSpPr>
          <p:cNvPr id="3072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394626F4-6E52-4F54-8684-FB9688F77EC0}" type="slidenum">
              <a:rPr lang="en-US" altLang="en-US" sz="1200" b="0" smtClean="0"/>
              <a:pPr eaLnBrk="1" hangingPunct="1"/>
              <a:t>4</a:t>
            </a:fld>
            <a:endParaRPr lang="en-US" altLang="en-US" sz="1200" b="0"/>
          </a:p>
        </p:txBody>
      </p:sp>
    </p:spTree>
    <p:extLst>
      <p:ext uri="{BB962C8B-B14F-4D97-AF65-F5344CB8AC3E}">
        <p14:creationId xmlns:p14="http://schemas.microsoft.com/office/powerpoint/2010/main" val="976592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lvl="3"/>
            <a:r>
              <a:rPr lang="en-US" altLang="en-US" sz="1600"/>
              <a:t>A method of dividing application systems’ input domain into segments so that testing can occur within the boundaries of those segments.</a:t>
            </a:r>
          </a:p>
          <a:p>
            <a:pPr marL="0" lvl="3"/>
            <a:endParaRPr lang="en-US" altLang="en-US" sz="1600"/>
          </a:p>
          <a:p>
            <a:pPr marL="0" lvl="3"/>
            <a:r>
              <a:rPr lang="en-US" altLang="en-US" sz="1600"/>
              <a:t>“Failures are rarely as a result of the simultaneous occurrence of two  (or more) faults”</a:t>
            </a:r>
            <a:r>
              <a:rPr lang="en-US" altLang="en-US"/>
              <a:t>  </a:t>
            </a:r>
          </a:p>
          <a:p>
            <a:endParaRPr lang="en-US" altLang="en-US"/>
          </a:p>
        </p:txBody>
      </p:sp>
      <p:sp>
        <p:nvSpPr>
          <p:cNvPr id="317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04EEA969-5462-461F-A653-A0E44DD8D6D4}" type="slidenum">
              <a:rPr lang="en-US" altLang="en-US" sz="1200" b="0" smtClean="0"/>
              <a:pPr eaLnBrk="1" hangingPunct="1"/>
              <a:t>6</a:t>
            </a:fld>
            <a:endParaRPr lang="en-US" altLang="en-US" sz="1200" b="0"/>
          </a:p>
        </p:txBody>
      </p:sp>
    </p:spTree>
    <p:extLst>
      <p:ext uri="{BB962C8B-B14F-4D97-AF65-F5344CB8AC3E}">
        <p14:creationId xmlns:p14="http://schemas.microsoft.com/office/powerpoint/2010/main" val="39680715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is to keep all but one variable at nominal value and and try all options for the one being tested.</a:t>
            </a:r>
          </a:p>
        </p:txBody>
      </p:sp>
      <p:sp>
        <p:nvSpPr>
          <p:cNvPr id="4" name="Slide Number Placeholder 3"/>
          <p:cNvSpPr>
            <a:spLocks noGrp="1"/>
          </p:cNvSpPr>
          <p:nvPr>
            <p:ph type="sldNum" sz="quarter" idx="5"/>
          </p:nvPr>
        </p:nvSpPr>
        <p:spPr/>
        <p:txBody>
          <a:bodyPr/>
          <a:lstStyle/>
          <a:p>
            <a:fld id="{8D752775-239C-4C94-B2DC-181E16042F65}" type="slidenum">
              <a:rPr lang="en-US" smtClean="0"/>
              <a:t>7</a:t>
            </a:fld>
            <a:endParaRPr lang="en-US"/>
          </a:p>
        </p:txBody>
      </p:sp>
    </p:spTree>
    <p:extLst>
      <p:ext uri="{BB962C8B-B14F-4D97-AF65-F5344CB8AC3E}">
        <p14:creationId xmlns:p14="http://schemas.microsoft.com/office/powerpoint/2010/main" val="9769629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DC99A07-0ABB-42B4-9C3F-07A7310F327F}" type="slidenum">
              <a:rPr lang="en-US"/>
              <a:pPr/>
              <a:t>16</a:t>
            </a:fld>
            <a:endParaRPr lang="en-US"/>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8217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241" eaLnBrk="0" hangingPunct="0">
              <a:defRPr sz="2300" b="1">
                <a:solidFill>
                  <a:schemeClr val="tx1"/>
                </a:solidFill>
                <a:latin typeface="Tahoma" pitchFamily="34" charset="0"/>
              </a:defRPr>
            </a:lvl1pPr>
            <a:lvl2pPr marL="721330" indent="-277435" defTabSz="923241" eaLnBrk="0" hangingPunct="0">
              <a:defRPr sz="2300" b="1">
                <a:solidFill>
                  <a:schemeClr val="tx1"/>
                </a:solidFill>
                <a:latin typeface="Tahoma" pitchFamily="34" charset="0"/>
              </a:defRPr>
            </a:lvl2pPr>
            <a:lvl3pPr marL="1109739" indent="-221948" defTabSz="923241" eaLnBrk="0" hangingPunct="0">
              <a:defRPr sz="2300" b="1">
                <a:solidFill>
                  <a:schemeClr val="tx1"/>
                </a:solidFill>
                <a:latin typeface="Tahoma" pitchFamily="34" charset="0"/>
              </a:defRPr>
            </a:lvl3pPr>
            <a:lvl4pPr marL="1553634" indent="-221948" defTabSz="923241" eaLnBrk="0" hangingPunct="0">
              <a:defRPr sz="2300" b="1">
                <a:solidFill>
                  <a:schemeClr val="tx1"/>
                </a:solidFill>
                <a:latin typeface="Tahoma" pitchFamily="34" charset="0"/>
              </a:defRPr>
            </a:lvl4pPr>
            <a:lvl5pPr marL="1997530" indent="-221948" defTabSz="923241" eaLnBrk="0" hangingPunct="0">
              <a:defRPr sz="2300" b="1">
                <a:solidFill>
                  <a:schemeClr val="tx1"/>
                </a:solidFill>
                <a:latin typeface="Tahoma" pitchFamily="34" charset="0"/>
              </a:defRPr>
            </a:lvl5pPr>
            <a:lvl6pPr marL="2441425" indent="-221948" defTabSz="923241" eaLnBrk="0" fontAlgn="base" hangingPunct="0">
              <a:spcBef>
                <a:spcPct val="0"/>
              </a:spcBef>
              <a:spcAft>
                <a:spcPct val="0"/>
              </a:spcAft>
              <a:defRPr sz="2300" b="1">
                <a:solidFill>
                  <a:schemeClr val="tx1"/>
                </a:solidFill>
                <a:latin typeface="Tahoma" pitchFamily="34" charset="0"/>
              </a:defRPr>
            </a:lvl6pPr>
            <a:lvl7pPr marL="2885321" indent="-221948" defTabSz="923241" eaLnBrk="0" fontAlgn="base" hangingPunct="0">
              <a:spcBef>
                <a:spcPct val="0"/>
              </a:spcBef>
              <a:spcAft>
                <a:spcPct val="0"/>
              </a:spcAft>
              <a:defRPr sz="2300" b="1">
                <a:solidFill>
                  <a:schemeClr val="tx1"/>
                </a:solidFill>
                <a:latin typeface="Tahoma" pitchFamily="34" charset="0"/>
              </a:defRPr>
            </a:lvl7pPr>
            <a:lvl8pPr marL="3329216" indent="-221948" defTabSz="923241" eaLnBrk="0" fontAlgn="base" hangingPunct="0">
              <a:spcBef>
                <a:spcPct val="0"/>
              </a:spcBef>
              <a:spcAft>
                <a:spcPct val="0"/>
              </a:spcAft>
              <a:defRPr sz="2300" b="1">
                <a:solidFill>
                  <a:schemeClr val="tx1"/>
                </a:solidFill>
                <a:latin typeface="Tahoma" pitchFamily="34" charset="0"/>
              </a:defRPr>
            </a:lvl8pPr>
            <a:lvl9pPr marL="3773112" indent="-221948" defTabSz="923241" eaLnBrk="0" fontAlgn="base" hangingPunct="0">
              <a:spcBef>
                <a:spcPct val="0"/>
              </a:spcBef>
              <a:spcAft>
                <a:spcPct val="0"/>
              </a:spcAft>
              <a:defRPr sz="2300" b="1">
                <a:solidFill>
                  <a:schemeClr val="tx1"/>
                </a:solidFill>
                <a:latin typeface="Tahoma" pitchFamily="34" charset="0"/>
              </a:defRPr>
            </a:lvl9pPr>
          </a:lstStyle>
          <a:p>
            <a:pPr eaLnBrk="1" hangingPunct="1"/>
            <a:fld id="{A5FBFA6D-E6A9-4F39-889F-083BE70008B0}" type="slidenum">
              <a:rPr lang="en-US" altLang="en-US" sz="1200" b="0"/>
              <a:pPr eaLnBrk="1" hangingPunct="1"/>
              <a:t>17</a:t>
            </a:fld>
            <a:endParaRPr lang="en-US" altLang="en-US" sz="1200" b="0"/>
          </a:p>
        </p:txBody>
      </p:sp>
      <p:sp>
        <p:nvSpPr>
          <p:cNvPr id="77827" name="Rectangle 2"/>
          <p:cNvSpPr>
            <a:spLocks noGrp="1" noChangeArrowheads="1"/>
          </p:cNvSpPr>
          <p:nvPr>
            <p:ph type="body" idx="1"/>
          </p:nvPr>
        </p:nvSpPr>
        <p:spPr>
          <a:xfrm>
            <a:off x="914804" y="4418602"/>
            <a:ext cx="5028392" cy="39172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333" tIns="44865" rIns="91333" bIns="44865"/>
          <a:lstStyle/>
          <a:p>
            <a:r>
              <a:rPr lang="en-CA" altLang="en-US" b="1" u="sng"/>
              <a:t>What is Equivalence partitioning?</a:t>
            </a:r>
            <a:br>
              <a:rPr lang="en-CA" altLang="en-US" u="sng"/>
            </a:br>
            <a:r>
              <a:rPr lang="en-CA" altLang="en-US"/>
              <a:t>Equivalence partitioning is a method for deriving test cases. In this method, equivalence classes (for input values) are identified such that each member of the class causes the same kind of processing and output to occur. </a:t>
            </a:r>
            <a:r>
              <a:rPr lang="en-US" altLang="en-US"/>
              <a:t>The # of test cases can be limited to one-per-class, which represents the minimum # of test cases that must be executed.</a:t>
            </a:r>
            <a:endParaRPr lang="en-CA" altLang="en-US"/>
          </a:p>
          <a:p>
            <a:endParaRPr lang="en-CA" altLang="en-US"/>
          </a:p>
          <a:p>
            <a:r>
              <a:rPr lang="en-US" altLang="en-US"/>
              <a:t>E.g.- valid data range: 1-10</a:t>
            </a:r>
            <a:br>
              <a:rPr lang="en-US" altLang="en-US"/>
            </a:br>
            <a:r>
              <a:rPr lang="en-US" altLang="en-US"/>
              <a:t>Test set:-2; 5; 14</a:t>
            </a:r>
            <a:endParaRPr lang="en-CA" altLang="en-US"/>
          </a:p>
          <a:p>
            <a:endParaRPr lang="en-CA" altLang="en-US"/>
          </a:p>
          <a:p>
            <a:endParaRPr lang="en-US" altLang="en-US"/>
          </a:p>
        </p:txBody>
      </p:sp>
      <p:sp>
        <p:nvSpPr>
          <p:cNvPr id="77828" name="Rectangle 3"/>
          <p:cNvSpPr>
            <a:spLocks noGrp="1" noRot="1" noChangeAspect="1" noChangeArrowheads="1" noTextEdit="1"/>
          </p:cNvSpPr>
          <p:nvPr>
            <p:ph type="sldImg"/>
          </p:nvPr>
        </p:nvSpPr>
        <p:spPr>
          <a:xfrm>
            <a:off x="541338" y="814388"/>
            <a:ext cx="5776912" cy="3251200"/>
          </a:xfrm>
          <a:ln w="12700" cap="flat">
            <a:solidFill>
              <a:schemeClr val="tx1"/>
            </a:solidFill>
          </a:ln>
        </p:spPr>
      </p:sp>
    </p:spTree>
    <p:extLst>
      <p:ext uri="{BB962C8B-B14F-4D97-AF65-F5344CB8AC3E}">
        <p14:creationId xmlns:p14="http://schemas.microsoft.com/office/powerpoint/2010/main" val="3878435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FB99B00-63E4-48BD-A032-820B2BDCF9FE}" type="slidenum">
              <a:rPr lang="en-US"/>
              <a:pPr/>
              <a:t>18</a:t>
            </a:fld>
            <a:endParaRPr lang="en-US"/>
          </a:p>
        </p:txBody>
      </p:sp>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1735922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range, 3 partitions: X &lt; 0 , X&gt;100, X in range</a:t>
            </a:r>
            <a:br>
              <a:rPr lang="en-US" dirty="0"/>
            </a:br>
            <a:r>
              <a:rPr lang="en-US" dirty="0"/>
              <a:t>2. set of values, 2 partitions: 1-12, any other number</a:t>
            </a:r>
          </a:p>
          <a:p>
            <a:r>
              <a:rPr lang="en-US" dirty="0"/>
              <a:t>3. Individual values, 5 partitions: bus, truck, taxi, car, something else</a:t>
            </a:r>
            <a:br>
              <a:rPr lang="en-US" dirty="0"/>
            </a:br>
            <a:r>
              <a:rPr lang="en-US" dirty="0"/>
              <a:t>4. Must be specification, 2 partitions </a:t>
            </a:r>
          </a:p>
          <a:p>
            <a:r>
              <a:rPr lang="en-US" dirty="0"/>
              <a:t>5. Nothing for number of inputs in this example</a:t>
            </a:r>
          </a:p>
        </p:txBody>
      </p:sp>
      <p:sp>
        <p:nvSpPr>
          <p:cNvPr id="4" name="Slide Number Placeholder 3"/>
          <p:cNvSpPr>
            <a:spLocks noGrp="1"/>
          </p:cNvSpPr>
          <p:nvPr>
            <p:ph type="sldNum" sz="quarter" idx="5"/>
          </p:nvPr>
        </p:nvSpPr>
        <p:spPr/>
        <p:txBody>
          <a:bodyPr/>
          <a:lstStyle/>
          <a:p>
            <a:fld id="{8D752775-239C-4C94-B2DC-181E16042F65}" type="slidenum">
              <a:rPr lang="en-US" smtClean="0"/>
              <a:t>19</a:t>
            </a:fld>
            <a:endParaRPr lang="en-US"/>
          </a:p>
        </p:txBody>
      </p:sp>
    </p:spTree>
    <p:extLst>
      <p:ext uri="{BB962C8B-B14F-4D97-AF65-F5344CB8AC3E}">
        <p14:creationId xmlns:p14="http://schemas.microsoft.com/office/powerpoint/2010/main" val="41465505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12A8A3-983D-4915-915E-16BF2871D10B}" type="slidenum">
              <a:rPr lang="en-US"/>
              <a:pPr/>
              <a:t>20</a:t>
            </a:fld>
            <a:endParaRPr lang="en-US"/>
          </a:p>
        </p:txBody>
      </p:sp>
      <p:sp>
        <p:nvSpPr>
          <p:cNvPr id="355330" name="Rectangle 2"/>
          <p:cNvSpPr>
            <a:spLocks noGrp="1" noRot="1" noChangeAspect="1" noChangeArrowheads="1" noTextEdit="1"/>
          </p:cNvSpPr>
          <p:nvPr>
            <p:ph type="sldImg"/>
          </p:nvPr>
        </p:nvSpPr>
        <p:spPr>
          <a:ln/>
        </p:spPr>
      </p:sp>
      <p:sp>
        <p:nvSpPr>
          <p:cNvPr id="35533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214583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1700" eaLnBrk="0" hangingPunct="0">
              <a:defRPr sz="2300" b="1">
                <a:solidFill>
                  <a:schemeClr val="tx1"/>
                </a:solidFill>
                <a:latin typeface="Tahoma" pitchFamily="34" charset="0"/>
              </a:defRPr>
            </a:lvl1pPr>
            <a:lvl2pPr marL="721330" indent="-277435" defTabSz="921700" eaLnBrk="0" hangingPunct="0">
              <a:defRPr sz="2300" b="1">
                <a:solidFill>
                  <a:schemeClr val="tx1"/>
                </a:solidFill>
                <a:latin typeface="Tahoma" pitchFamily="34" charset="0"/>
              </a:defRPr>
            </a:lvl2pPr>
            <a:lvl3pPr marL="1109739" indent="-221948" defTabSz="921700" eaLnBrk="0" hangingPunct="0">
              <a:defRPr sz="2300" b="1">
                <a:solidFill>
                  <a:schemeClr val="tx1"/>
                </a:solidFill>
                <a:latin typeface="Tahoma" pitchFamily="34" charset="0"/>
              </a:defRPr>
            </a:lvl3pPr>
            <a:lvl4pPr marL="1553634" indent="-221948" defTabSz="921700" eaLnBrk="0" hangingPunct="0">
              <a:defRPr sz="2300" b="1">
                <a:solidFill>
                  <a:schemeClr val="tx1"/>
                </a:solidFill>
                <a:latin typeface="Tahoma" pitchFamily="34" charset="0"/>
              </a:defRPr>
            </a:lvl4pPr>
            <a:lvl5pPr marL="1997530" indent="-221948" defTabSz="921700" eaLnBrk="0" hangingPunct="0">
              <a:defRPr sz="2300" b="1">
                <a:solidFill>
                  <a:schemeClr val="tx1"/>
                </a:solidFill>
                <a:latin typeface="Tahoma" pitchFamily="34" charset="0"/>
              </a:defRPr>
            </a:lvl5pPr>
            <a:lvl6pPr marL="2441425" indent="-221948" defTabSz="921700" eaLnBrk="0" fontAlgn="base" hangingPunct="0">
              <a:spcBef>
                <a:spcPct val="0"/>
              </a:spcBef>
              <a:spcAft>
                <a:spcPct val="0"/>
              </a:spcAft>
              <a:defRPr sz="2300" b="1">
                <a:solidFill>
                  <a:schemeClr val="tx1"/>
                </a:solidFill>
                <a:latin typeface="Tahoma" pitchFamily="34" charset="0"/>
              </a:defRPr>
            </a:lvl6pPr>
            <a:lvl7pPr marL="2885321" indent="-221948" defTabSz="921700" eaLnBrk="0" fontAlgn="base" hangingPunct="0">
              <a:spcBef>
                <a:spcPct val="0"/>
              </a:spcBef>
              <a:spcAft>
                <a:spcPct val="0"/>
              </a:spcAft>
              <a:defRPr sz="2300" b="1">
                <a:solidFill>
                  <a:schemeClr val="tx1"/>
                </a:solidFill>
                <a:latin typeface="Tahoma" pitchFamily="34" charset="0"/>
              </a:defRPr>
            </a:lvl7pPr>
            <a:lvl8pPr marL="3329216" indent="-221948" defTabSz="921700" eaLnBrk="0" fontAlgn="base" hangingPunct="0">
              <a:spcBef>
                <a:spcPct val="0"/>
              </a:spcBef>
              <a:spcAft>
                <a:spcPct val="0"/>
              </a:spcAft>
              <a:defRPr sz="2300" b="1">
                <a:solidFill>
                  <a:schemeClr val="tx1"/>
                </a:solidFill>
                <a:latin typeface="Tahoma" pitchFamily="34" charset="0"/>
              </a:defRPr>
            </a:lvl8pPr>
            <a:lvl9pPr marL="3773112" indent="-221948" defTabSz="921700" eaLnBrk="0" fontAlgn="base" hangingPunct="0">
              <a:spcBef>
                <a:spcPct val="0"/>
              </a:spcBef>
              <a:spcAft>
                <a:spcPct val="0"/>
              </a:spcAft>
              <a:defRPr sz="2300" b="1">
                <a:solidFill>
                  <a:schemeClr val="tx1"/>
                </a:solidFill>
                <a:latin typeface="Tahoma" pitchFamily="34" charset="0"/>
              </a:defRPr>
            </a:lvl9pPr>
          </a:lstStyle>
          <a:p>
            <a:pPr eaLnBrk="1" hangingPunct="1"/>
            <a:fld id="{23EABAF4-5D9F-4163-A080-685F5FF6A13E}" type="slidenum">
              <a:rPr lang="en-US" altLang="en-US" sz="1200" b="0"/>
              <a:pPr eaLnBrk="1" hangingPunct="1"/>
              <a:t>22</a:t>
            </a:fld>
            <a:endParaRPr lang="en-US" altLang="en-US" sz="1200" b="0"/>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an extremely powerful device for viewing complex judgments in a tiny format. </a:t>
            </a:r>
          </a:p>
        </p:txBody>
      </p:sp>
    </p:spTree>
    <p:extLst>
      <p:ext uri="{BB962C8B-B14F-4D97-AF65-F5344CB8AC3E}">
        <p14:creationId xmlns:p14="http://schemas.microsoft.com/office/powerpoint/2010/main" val="2850205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0159" eaLnBrk="0" hangingPunct="0">
              <a:defRPr sz="2300" b="1">
                <a:solidFill>
                  <a:schemeClr val="tx1"/>
                </a:solidFill>
                <a:latin typeface="Tahoma" pitchFamily="34" charset="0"/>
              </a:defRPr>
            </a:lvl1pPr>
            <a:lvl2pPr marL="721330" indent="-277435" defTabSz="920159" eaLnBrk="0" hangingPunct="0">
              <a:defRPr sz="2300" b="1">
                <a:solidFill>
                  <a:schemeClr val="tx1"/>
                </a:solidFill>
                <a:latin typeface="Tahoma" pitchFamily="34" charset="0"/>
              </a:defRPr>
            </a:lvl2pPr>
            <a:lvl3pPr marL="1109739" indent="-221948" defTabSz="920159" eaLnBrk="0" hangingPunct="0">
              <a:defRPr sz="2300" b="1">
                <a:solidFill>
                  <a:schemeClr val="tx1"/>
                </a:solidFill>
                <a:latin typeface="Tahoma" pitchFamily="34" charset="0"/>
              </a:defRPr>
            </a:lvl3pPr>
            <a:lvl4pPr marL="1553634" indent="-221948" defTabSz="920159" eaLnBrk="0" hangingPunct="0">
              <a:defRPr sz="2300" b="1">
                <a:solidFill>
                  <a:schemeClr val="tx1"/>
                </a:solidFill>
                <a:latin typeface="Tahoma" pitchFamily="34" charset="0"/>
              </a:defRPr>
            </a:lvl4pPr>
            <a:lvl5pPr marL="1997530" indent="-221948" defTabSz="920159" eaLnBrk="0" hangingPunct="0">
              <a:defRPr sz="2300" b="1">
                <a:solidFill>
                  <a:schemeClr val="tx1"/>
                </a:solidFill>
                <a:latin typeface="Tahoma" pitchFamily="34" charset="0"/>
              </a:defRPr>
            </a:lvl5pPr>
            <a:lvl6pPr marL="2441425" indent="-221948" defTabSz="920159" eaLnBrk="0" fontAlgn="base" hangingPunct="0">
              <a:spcBef>
                <a:spcPct val="0"/>
              </a:spcBef>
              <a:spcAft>
                <a:spcPct val="0"/>
              </a:spcAft>
              <a:defRPr sz="2300" b="1">
                <a:solidFill>
                  <a:schemeClr val="tx1"/>
                </a:solidFill>
                <a:latin typeface="Tahoma" pitchFamily="34" charset="0"/>
              </a:defRPr>
            </a:lvl6pPr>
            <a:lvl7pPr marL="2885321" indent="-221948" defTabSz="920159" eaLnBrk="0" fontAlgn="base" hangingPunct="0">
              <a:spcBef>
                <a:spcPct val="0"/>
              </a:spcBef>
              <a:spcAft>
                <a:spcPct val="0"/>
              </a:spcAft>
              <a:defRPr sz="2300" b="1">
                <a:solidFill>
                  <a:schemeClr val="tx1"/>
                </a:solidFill>
                <a:latin typeface="Tahoma" pitchFamily="34" charset="0"/>
              </a:defRPr>
            </a:lvl7pPr>
            <a:lvl8pPr marL="3329216" indent="-221948" defTabSz="920159" eaLnBrk="0" fontAlgn="base" hangingPunct="0">
              <a:spcBef>
                <a:spcPct val="0"/>
              </a:spcBef>
              <a:spcAft>
                <a:spcPct val="0"/>
              </a:spcAft>
              <a:defRPr sz="2300" b="1">
                <a:solidFill>
                  <a:schemeClr val="tx1"/>
                </a:solidFill>
                <a:latin typeface="Tahoma" pitchFamily="34" charset="0"/>
              </a:defRPr>
            </a:lvl8pPr>
            <a:lvl9pPr marL="3773112" indent="-221948" defTabSz="920159" eaLnBrk="0" fontAlgn="base" hangingPunct="0">
              <a:spcBef>
                <a:spcPct val="0"/>
              </a:spcBef>
              <a:spcAft>
                <a:spcPct val="0"/>
              </a:spcAft>
              <a:defRPr sz="2300" b="1">
                <a:solidFill>
                  <a:schemeClr val="tx1"/>
                </a:solidFill>
                <a:latin typeface="Tahoma" pitchFamily="34" charset="0"/>
              </a:defRPr>
            </a:lvl9pPr>
          </a:lstStyle>
          <a:p>
            <a:pPr eaLnBrk="1" hangingPunct="1"/>
            <a:fld id="{54527E42-3B56-43C8-B7C6-4FAFECA0A71E}" type="slidenum">
              <a:rPr lang="en-US" altLang="en-US" sz="1200" b="0"/>
              <a:pPr eaLnBrk="1" hangingPunct="1"/>
              <a:t>23</a:t>
            </a:fld>
            <a:endParaRPr lang="en-US" altLang="en-US" sz="1200" b="0"/>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These types are assigned by the amount of business the customer does with the print shop over a 12-month period</a:t>
            </a:r>
          </a:p>
        </p:txBody>
      </p:sp>
    </p:spTree>
    <p:extLst>
      <p:ext uri="{BB962C8B-B14F-4D97-AF65-F5344CB8AC3E}">
        <p14:creationId xmlns:p14="http://schemas.microsoft.com/office/powerpoint/2010/main" val="33933850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lvl="1">
              <a:buFont typeface="Arial" charset="0"/>
              <a:buChar char="•"/>
            </a:pPr>
            <a:r>
              <a:rPr lang="en-US" baseline="0" dirty="0"/>
              <a:t>What does it mean to combine all pairs? </a:t>
            </a:r>
          </a:p>
          <a:p>
            <a:pPr lvl="1">
              <a:buFont typeface="Arial" charset="0"/>
              <a:buChar char="•"/>
            </a:pPr>
            <a:r>
              <a:rPr lang="en-US" baseline="0" dirty="0"/>
              <a:t>What is all-pairs? Look at the 3 tables and consider:</a:t>
            </a:r>
          </a:p>
          <a:p>
            <a:pPr lvl="2">
              <a:buFont typeface="Arial" charset="0"/>
              <a:buChar char="•"/>
            </a:pPr>
            <a:r>
              <a:rPr lang="en-US" baseline="0" dirty="0"/>
              <a:t>What are 'variable pairs'? (p1,p2) ; (p2,p3) ; (p1,p3)</a:t>
            </a:r>
          </a:p>
          <a:p>
            <a:pPr lvl="2">
              <a:buFont typeface="Arial" charset="0"/>
              <a:buChar char="•"/>
            </a:pPr>
            <a:r>
              <a:rPr lang="en-US" baseline="0" dirty="0"/>
              <a:t>For each of these variable pairs, all possible value combinations (00, 01, 10, 11) need to be covered and included in the test case (i.e. set of all TC variants)</a:t>
            </a:r>
          </a:p>
          <a:p>
            <a:pPr marL="361950" marR="0" lvl="2" indent="-109538" algn="l" defTabSz="914400" rtl="0" eaLnBrk="1" fontAlgn="auto" latinLnBrk="0" hangingPunct="1">
              <a:lnSpc>
                <a:spcPct val="100000"/>
              </a:lnSpc>
              <a:spcBef>
                <a:spcPts val="0"/>
              </a:spcBef>
              <a:spcAft>
                <a:spcPts val="0"/>
              </a:spcAft>
              <a:buClr>
                <a:schemeClr val="accent2"/>
              </a:buClr>
              <a:buSzPct val="80000"/>
              <a:buFont typeface="Arial" charset="0"/>
              <a:buChar char="•"/>
              <a:tabLst/>
              <a:defRPr/>
            </a:pPr>
            <a:r>
              <a:rPr lang="en-US" baseline="0" dirty="0"/>
              <a:t>Left table: Each value appears only once.</a:t>
            </a:r>
          </a:p>
          <a:p>
            <a:pPr lvl="2">
              <a:buFont typeface="Arial" charset="0"/>
              <a:buChar char="•"/>
            </a:pPr>
            <a:r>
              <a:rPr lang="en-US" baseline="0" dirty="0"/>
              <a:t>Middle table: full combinatorics, all combinations</a:t>
            </a:r>
          </a:p>
          <a:p>
            <a:pPr lvl="2">
              <a:buFont typeface="Arial" charset="0"/>
              <a:buChar char="•"/>
            </a:pPr>
            <a:r>
              <a:rPr lang="en-US" baseline="0" dirty="0"/>
              <a:t>Right table: "Each 'value pair' appears at least once" (in this case, 'exactly once')</a:t>
            </a:r>
          </a:p>
          <a:p>
            <a:pPr lvl="3">
              <a:buFont typeface="Arial" charset="0"/>
              <a:buChar char="•"/>
            </a:pPr>
            <a:r>
              <a:rPr lang="en-US" baseline="0" dirty="0"/>
              <a:t>Each test case variant (one row) contains 3 value pairs:  (p1,p2) ; (p2,p3) ; (p1,p3), </a:t>
            </a:r>
            <a:r>
              <a:rPr lang="en-US" baseline="0" dirty="0" err="1"/>
              <a:t>ie</a:t>
            </a:r>
            <a:r>
              <a:rPr lang="en-US" baseline="0" dirty="0"/>
              <a:t>. covers 3 value pairs</a:t>
            </a:r>
          </a:p>
          <a:p>
            <a:pPr lvl="3">
              <a:buFont typeface="Arial" charset="0"/>
              <a:buChar char="•"/>
            </a:pPr>
            <a:r>
              <a:rPr lang="en-US" baseline="0" dirty="0"/>
              <a:t>You will find each possible combination of value pair, e.g. "p1,p3 = 0,1" in one of the rows of the all-pairs table (bottom right). (here: variant 2 = row 2)</a:t>
            </a:r>
          </a:p>
          <a:p>
            <a:pPr lvl="3">
              <a:buFont typeface="Arial" charset="0"/>
              <a:buChar char="•"/>
            </a:pPr>
            <a:r>
              <a:rPr lang="en-US" baseline="0" dirty="0"/>
              <a:t>Another way to look at it: If you only consider two parameters and look only at those columns, you will find all value combinations (00, 01, 10, 11) in the rows. </a:t>
            </a:r>
          </a:p>
          <a:p>
            <a:pPr lvl="3">
              <a:buFont typeface="Arial" charset="0"/>
              <a:buChar char="•"/>
            </a:pPr>
            <a:r>
              <a:rPr lang="en-US" baseline="0" dirty="0"/>
              <a:t>Why is (</a:t>
            </a:r>
            <a:r>
              <a:rPr lang="en-US" sz="1200" kern="0" dirty="0">
                <a:ea typeface="Arial Unicode MS" pitchFamily="34" charset="-128"/>
                <a:cs typeface="Arial Unicode MS" pitchFamily="34" charset="-128"/>
              </a:rPr>
              <a:t>1,1,1) is not there? Because the pairs (-,1,1), (1,-,1) and (1,1,-) are already covered in existing cases</a:t>
            </a:r>
            <a:r>
              <a:rPr lang="en-US" sz="1200" kern="0" baseline="0" dirty="0">
                <a:ea typeface="Arial Unicode MS" pitchFamily="34" charset="-128"/>
                <a:cs typeface="Arial Unicode MS" pitchFamily="34" charset="-128"/>
              </a:rPr>
              <a:t> and we care only about pairs and not triples.</a:t>
            </a:r>
          </a:p>
          <a:p>
            <a:pPr lvl="2">
              <a:buFont typeface="Arial" charset="0"/>
              <a:buChar char="•"/>
            </a:pPr>
            <a:endParaRPr lang="en-US" baseline="0" dirty="0"/>
          </a:p>
          <a:p>
            <a:pPr lvl="1">
              <a:buFont typeface="Arial" charset="0"/>
              <a:buChar char="•"/>
            </a:pPr>
            <a:r>
              <a:rPr lang="en-US" baseline="0" dirty="0"/>
              <a:t>The savings between full combinatorics and all-pairs coverage are enormous: </a:t>
            </a:r>
          </a:p>
          <a:p>
            <a:pPr lvl="2">
              <a:buFont typeface="Arial" charset="0"/>
              <a:buChar char="•"/>
            </a:pPr>
            <a:r>
              <a:rPr lang="en-US" baseline="0" dirty="0"/>
              <a:t>500 binary switches need only 20 TCVs (test case variants).</a:t>
            </a:r>
          </a:p>
          <a:p>
            <a:pPr lvl="2">
              <a:buFont typeface="Arial" charset="0"/>
              <a:buChar char="•"/>
            </a:pPr>
            <a:r>
              <a:rPr lang="en-US" baseline="0" dirty="0"/>
              <a:t>1500 binary switches need only 24 TCVs. </a:t>
            </a:r>
          </a:p>
          <a:p>
            <a:pPr lvl="1">
              <a:buFont typeface="Arial" charset="0"/>
              <a:buChar char="•"/>
            </a:pPr>
            <a:r>
              <a:rPr lang="en-US" baseline="0" dirty="0"/>
              <a:t>If these few test cases indeed find 70-90% of our defects we are much better off than all our current internal testing combined which finds only about 15-30% of defects internally (considering the full lifetime of a product version).</a:t>
            </a:r>
          </a:p>
          <a:p>
            <a:pPr>
              <a:buFont typeface="Arial" charset="0"/>
              <a:buChar char="•"/>
            </a:pP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1828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7917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37368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478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000" dirty="0"/>
              <a:t>Is All-Pairs worth the extra effort in thinking</a:t>
            </a:r>
            <a:r>
              <a:rPr lang="en-US" sz="1000" baseline="0" dirty="0"/>
              <a:t> and modeling? It certainly seems so. </a:t>
            </a:r>
          </a:p>
          <a:p>
            <a:endParaRPr lang="en-US" sz="1000" baseline="0" dirty="0"/>
          </a:p>
          <a:p>
            <a:r>
              <a:rPr lang="en-US" sz="1000" baseline="0" dirty="0"/>
              <a:t>This slide shows the results from an SAP internal pilot that used All-Pairs in 10 projects. These were a mix between totally new code and increments to existing products. In most of the cases, the All-Pairs test was done for maintenance hotspots, i.e. products that were already in the market for 1-2 years but where certain areas kept causing problems (continued flow of defect reports). </a:t>
            </a:r>
          </a:p>
          <a:p>
            <a:endParaRPr lang="en-US" sz="1000" baseline="0" dirty="0"/>
          </a:p>
          <a:p>
            <a:r>
              <a:rPr lang="en-US" sz="1000" baseline="0" dirty="0"/>
              <a:t>Note that most of these projects already had had their 'standard acceptance testing' done as well as 1-2 years in the market. In spite of all that 'prior test', All-Pairs found so many defects that the average 'find-cost-per-defect' using All-Pairs was 4x lower than the average AT find-cost. Some projects (3 out of 10) actually were 10x better! (see chart above).  This means two things:</a:t>
            </a:r>
          </a:p>
          <a:p>
            <a:pPr marL="228600" indent="-228600">
              <a:buAutoNum type="arabicPeriod"/>
            </a:pPr>
            <a:r>
              <a:rPr lang="en-US" sz="1000" baseline="0" dirty="0"/>
              <a:t>All-Pairs is clearly worth the effort – when the application case is suitable (&gt;=4 parameters, semi-coupled, etc.)</a:t>
            </a:r>
          </a:p>
          <a:p>
            <a:pPr marL="228600" indent="-228600">
              <a:buAutoNum type="arabicPeriod"/>
            </a:pPr>
            <a:r>
              <a:rPr lang="en-US" sz="1000" baseline="0" dirty="0"/>
              <a:t>The difference in find-cost may indicate additional factors that should be considered in judging a 'good application case' for All-Pairs. For example, the project that had the highest find-cost was a thin interface over rather old code ( &gt; 10 years), i.e. what you actually test was the code behind the new interface. This of course finds less defects than when you apply All-Pairs on a public interface of brand-new code.</a:t>
            </a:r>
          </a:p>
          <a:p>
            <a:pPr marL="228600" indent="-228600">
              <a:buAutoNum type="arabicPeriod"/>
            </a:pPr>
            <a:endParaRPr lang="en-US" sz="1000" baseline="0" dirty="0"/>
          </a:p>
          <a:p>
            <a:pPr marL="228600" indent="-228600">
              <a:buNone/>
            </a:pPr>
            <a:r>
              <a:rPr lang="en-US" sz="1000" baseline="0" dirty="0"/>
              <a:t>Microsoft has also done studies on the performance of All-Pairs. The link to the details slide above leads to several slides with results from Microsoft studies and others.</a:t>
            </a:r>
            <a:endParaRPr lang="en-US" sz="100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07258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8985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96BF3-3F91-4714-817C-1E0BCB98A3F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F42841-12E2-4860-9B9F-AB9D56CA87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F7E45CA-35DA-4BBA-A773-3CDA95E513D2}"/>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5" name="Footer Placeholder 4">
            <a:extLst>
              <a:ext uri="{FF2B5EF4-FFF2-40B4-BE49-F238E27FC236}">
                <a16:creationId xmlns:a16="http://schemas.microsoft.com/office/drawing/2014/main" id="{E4E84162-C925-4971-AC2D-202D62D218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A78911-DECE-4A3F-A472-F038F79C8FD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937596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101EA-6FB6-426D-BD70-D892955EA8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3C24D6-60B6-4A46-8D25-000057EF63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DB498F-F6B9-403E-A5ED-A07C1CFD8971}"/>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5" name="Footer Placeholder 4">
            <a:extLst>
              <a:ext uri="{FF2B5EF4-FFF2-40B4-BE49-F238E27FC236}">
                <a16:creationId xmlns:a16="http://schemas.microsoft.com/office/drawing/2014/main" id="{084512CE-A42C-4AAC-B831-28572FE60F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4989D4-1261-4A2F-AA7B-05F0DA1DBA25}"/>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686857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64BBF-DA5B-4398-8718-58B839A3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5EE6BA-BE10-4A18-8E3A-8C00624867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F124D9-5D8D-4579-A582-98925DD63A4A}"/>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5" name="Footer Placeholder 4">
            <a:extLst>
              <a:ext uri="{FF2B5EF4-FFF2-40B4-BE49-F238E27FC236}">
                <a16:creationId xmlns:a16="http://schemas.microsoft.com/office/drawing/2014/main" id="{BBDFD022-AF7C-4AB2-92A4-A1C727C1AE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773D8-DBAF-4614-9C40-1748A24F6F3A}"/>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994265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1C4C-4388-4F2E-8D44-640864BDBE2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562C1E-282A-4EAD-862E-0A19CF1501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9656A9-8E58-4D26-A8FF-480218A453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8DAAEF0-4564-46CC-BB11-A85CC4A285AB}"/>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6" name="Footer Placeholder 5">
            <a:extLst>
              <a:ext uri="{FF2B5EF4-FFF2-40B4-BE49-F238E27FC236}">
                <a16:creationId xmlns:a16="http://schemas.microsoft.com/office/drawing/2014/main" id="{C0FF6231-D43F-4A30-82D1-ED89D34CD6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394C1E-9EA2-4D0F-80BF-666A5BD97DD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2710646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68362-45D7-48C1-BDB5-80AAFCFB91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2CECB5-4B2A-4145-999F-977930150B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5538BDE-4497-47D8-BC89-414634DDBF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0B1D7CE-F5E4-40F3-8673-1622A3F26E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695CAF-7BC5-4082-B1F9-A8C661E0BA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24D7A2D-FA66-4938-8FCC-FC6DDD519142}"/>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8" name="Footer Placeholder 7">
            <a:extLst>
              <a:ext uri="{FF2B5EF4-FFF2-40B4-BE49-F238E27FC236}">
                <a16:creationId xmlns:a16="http://schemas.microsoft.com/office/drawing/2014/main" id="{AFB90C31-304B-4125-87CF-D1E92BB2F6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35D62D-86D3-435F-B3CF-4ED469B4A4B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750440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4EA5B-16DA-4721-899A-FA445714A6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840A7-742A-4F9A-A3A5-1B9B9815C20B}"/>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4" name="Footer Placeholder 3">
            <a:extLst>
              <a:ext uri="{FF2B5EF4-FFF2-40B4-BE49-F238E27FC236}">
                <a16:creationId xmlns:a16="http://schemas.microsoft.com/office/drawing/2014/main" id="{A48C2EC4-A0E9-40C3-ACD3-53C1E9F8FC1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CD779D4-7E93-4B3F-86B7-534077C243BF}"/>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88337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88DE-4CD5-41A6-B29F-E50621CDE5D3}"/>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3" name="Footer Placeholder 2">
            <a:extLst>
              <a:ext uri="{FF2B5EF4-FFF2-40B4-BE49-F238E27FC236}">
                <a16:creationId xmlns:a16="http://schemas.microsoft.com/office/drawing/2014/main" id="{85390BB3-EBA9-4796-A2F5-E6B1ED478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02C44F-C62B-46EC-B84B-1CCCB3572FB6}"/>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21474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E0035B-59CA-459A-A396-12BE587814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28C60F-D93E-4E20-9DD4-F4C9EA09CB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946DFC-2A37-4D8F-90C2-399903682A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9F29EC-DD16-4B8D-871A-41EC74148E6E}"/>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6" name="Footer Placeholder 5">
            <a:extLst>
              <a:ext uri="{FF2B5EF4-FFF2-40B4-BE49-F238E27FC236}">
                <a16:creationId xmlns:a16="http://schemas.microsoft.com/office/drawing/2014/main" id="{27C190BD-8BD5-47EA-BD56-C0BD2EFCFD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EA119-B1AB-48EA-914A-6A12F97722E0}"/>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928728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29A5-C2F9-40B7-A751-9D00E889EB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99EAEB1-2875-4F82-B337-E0F7DA9A8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8DC298-9284-4693-B43A-E1C5CE4E4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61B88D-99DE-4546-AA6A-B6ADF1783709}"/>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6" name="Footer Placeholder 5">
            <a:extLst>
              <a:ext uri="{FF2B5EF4-FFF2-40B4-BE49-F238E27FC236}">
                <a16:creationId xmlns:a16="http://schemas.microsoft.com/office/drawing/2014/main" id="{DF500AB5-0BB9-49C9-945E-4E0EE84204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EF5AD1-E6B3-42D4-9F7D-458288E19959}"/>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837318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0B6F-6168-49B7-8B44-8142B18187F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73D9BB-A061-4BF0-907F-8CA12685E9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ECE8C-D4CC-4DAD-ADF7-1C1E3A9F5A27}"/>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5" name="Footer Placeholder 4">
            <a:extLst>
              <a:ext uri="{FF2B5EF4-FFF2-40B4-BE49-F238E27FC236}">
                <a16:creationId xmlns:a16="http://schemas.microsoft.com/office/drawing/2014/main" id="{F641C5F1-6360-45AE-8972-D62314EB9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9536F8-CF86-4564-92DB-E72C006A7D54}"/>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779140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9852EA-CC79-40BE-AE57-C32FDCFBD22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6D879A9-905C-4387-A373-299B384415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3AED2E-9D21-4102-ABD7-DCEDAAA25D70}"/>
              </a:ext>
            </a:extLst>
          </p:cNvPr>
          <p:cNvSpPr>
            <a:spLocks noGrp="1"/>
          </p:cNvSpPr>
          <p:nvPr>
            <p:ph type="dt" sz="half" idx="10"/>
          </p:nvPr>
        </p:nvSpPr>
        <p:spPr/>
        <p:txBody>
          <a:bodyPr/>
          <a:lstStyle/>
          <a:p>
            <a:fld id="{E8D96D91-5FC4-4B5C-AEE9-2BA4F0F210CD}" type="datetimeFigureOut">
              <a:rPr lang="en-US" smtClean="0"/>
              <a:t>10/25/25</a:t>
            </a:fld>
            <a:endParaRPr lang="en-US"/>
          </a:p>
        </p:txBody>
      </p:sp>
      <p:sp>
        <p:nvSpPr>
          <p:cNvPr id="5" name="Footer Placeholder 4">
            <a:extLst>
              <a:ext uri="{FF2B5EF4-FFF2-40B4-BE49-F238E27FC236}">
                <a16:creationId xmlns:a16="http://schemas.microsoft.com/office/drawing/2014/main" id="{03EBE0CC-72B0-48E5-8B1B-7E266E7E41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FE4CA-E81E-4DC8-88AA-4909C3BA1E7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0688426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a:defRPr/>
            </a:pPr>
            <a:endParaRPr lang="en-CA"/>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a:defRPr/>
            </a:pPr>
            <a:r>
              <a:rPr lang="en-CA"/>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a:defRPr/>
            </a:pPr>
            <a:fld id="{B6CFD5E0-3F8F-4BD8-AC6E-CD09E8033726}" type="slidenum">
              <a:rPr lang="en-CA"/>
              <a:pPr>
                <a:defRPr/>
              </a:pPr>
              <a:t>‹#›</a:t>
            </a:fld>
            <a:endParaRPr lang="en-CA"/>
          </a:p>
        </p:txBody>
      </p:sp>
    </p:spTree>
    <p:extLst>
      <p:ext uri="{BB962C8B-B14F-4D97-AF65-F5344CB8AC3E}">
        <p14:creationId xmlns:p14="http://schemas.microsoft.com/office/powerpoint/2010/main" val="17268396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a:defRPr/>
            </a:pPr>
            <a:endParaRPr lang="en-US"/>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a:defRPr/>
            </a:pPr>
            <a:r>
              <a:rPr lang="en-US"/>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a:defRPr/>
            </a:pPr>
            <a:fld id="{C5942C0A-2431-4AC6-99CE-68EBA3B588DF}" type="slidenum">
              <a:rPr lang="ar-SA"/>
              <a:pPr>
                <a:defRPr/>
              </a:pPr>
              <a:t>‹#›</a:t>
            </a:fld>
            <a:endParaRPr lang="en-US"/>
          </a:p>
        </p:txBody>
      </p:sp>
    </p:spTree>
    <p:extLst>
      <p:ext uri="{BB962C8B-B14F-4D97-AF65-F5344CB8AC3E}">
        <p14:creationId xmlns:p14="http://schemas.microsoft.com/office/powerpoint/2010/main" val="1801123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10/25/25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8871288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10/25/25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6680605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10/25/25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8629869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10/25/25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4854713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10/25/25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5916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10/25/25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2198015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10/25/25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421780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10/25/25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1898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10/25/25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265358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10/25/25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66510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10/25/25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142660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31532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61588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068378254"/>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DB72F80-3714-4595-BFEA-1B587DF16661}" type="datetime1">
              <a:rPr lang="en-US" smtClean="0"/>
              <a:t>10/25/25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844386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199CF02-2E13-4A85-A75C-F72509357ECE}" type="datetime1">
              <a:rPr lang="en-US" smtClean="0"/>
              <a:t>10/25/25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79278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051AC6C-9C81-463E-B20F-F3554057E368}" type="datetime1">
              <a:rPr lang="en-US" smtClean="0"/>
              <a:t>10/25/25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40889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A8214B-B77C-409F-A0C4-5D0E4A88F10A}" type="datetime1">
              <a:rPr lang="en-US" smtClean="0"/>
              <a:t>10/25/25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156992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AA4FA7-F216-46CE-9F30-CA8D194B4EBC}" type="datetime1">
              <a:rPr lang="en-US" smtClean="0"/>
              <a:t>10/25/25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3774869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F85C70-139B-415C-9CA6-C40041DC8588}" type="datetime1">
              <a:rPr lang="en-US" smtClean="0"/>
              <a:t>10/25/25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257283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14E36EA-7A9D-408E-8354-B338982DE907}" type="datetime1">
              <a:rPr lang="en-US" smtClean="0"/>
              <a:t>10/25/25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5849405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0519AC54-1A9D-4AA8-9399-83086EC4A7B3}" type="datetime1">
              <a:rPr lang="en-US" smtClean="0"/>
              <a:t>10/25/25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6592837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241CEB-3EB4-4A23-883A-D46106916250}" type="datetime1">
              <a:rPr lang="en-US" smtClean="0"/>
              <a:t>10/25/25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8266717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9347BE9-D1C1-4C26-A899-A074634C6BAF}" type="datetime1">
              <a:rPr lang="en-US" smtClean="0"/>
              <a:t>10/25/25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508669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C6F799-3931-42F2-812F-322F35D2A3C5}" type="datetime1">
              <a:rPr lang="en-US" smtClean="0"/>
              <a:t>10/25/25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0198806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822737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theme" Target="../theme/theme2.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theme" Target="../theme/theme3.xml"/><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2" Type="http://schemas.openxmlformats.org/officeDocument/2006/relationships/slideLayout" Target="../slideLayouts/slideLayout29.xml"/><Relationship Id="rId16" Type="http://schemas.openxmlformats.org/officeDocument/2006/relationships/image" Target="../media/image3.png"/><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5" Type="http://schemas.microsoft.com/office/2007/relationships/hdphoto" Target="../media/hdphoto1.wdp"/><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5006B5-7F37-4DAF-B914-07DDCE356C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2FFCEA6-ABE2-40BE-9845-DDDD50CBAA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E126F4-B21A-4A88-8DB9-1EFDBB117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D96D91-5FC4-4B5C-AEE9-2BA4F0F210CD}" type="datetimeFigureOut">
              <a:rPr lang="en-US" smtClean="0"/>
              <a:t>10/25/25</a:t>
            </a:fld>
            <a:endParaRPr lang="en-US"/>
          </a:p>
        </p:txBody>
      </p:sp>
      <p:sp>
        <p:nvSpPr>
          <p:cNvPr id="5" name="Footer Placeholder 4">
            <a:extLst>
              <a:ext uri="{FF2B5EF4-FFF2-40B4-BE49-F238E27FC236}">
                <a16:creationId xmlns:a16="http://schemas.microsoft.com/office/drawing/2014/main" id="{DEEF79F4-1762-4EBB-B281-808792F5E3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FEA6D87-6CF4-4774-B330-4A9312290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450195-85A4-4DB4-B6E9-79EB9A1C23D5}" type="slidenum">
              <a:rPr lang="en-US" smtClean="0"/>
              <a:t>‹#›</a:t>
            </a:fld>
            <a:endParaRPr lang="en-US"/>
          </a:p>
        </p:txBody>
      </p:sp>
    </p:spTree>
    <p:extLst>
      <p:ext uri="{BB962C8B-B14F-4D97-AF65-F5344CB8AC3E}">
        <p14:creationId xmlns:p14="http://schemas.microsoft.com/office/powerpoint/2010/main" val="1706084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10/25/25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2904498343"/>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C6D6D6D3-9835-4CE1-B7E6-B6E38585D83D}" type="datetime1">
              <a:rPr lang="en-US" smtClean="0"/>
              <a:t>10/25/25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8590655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8.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5.xml"/><Relationship Id="rId5" Type="http://schemas.openxmlformats.org/officeDocument/2006/relationships/hyperlink" Target="https://pairwise.teremokgames.com/" TargetMode="Externa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Black-Box Testing by </a:t>
            </a:r>
            <a:r>
              <a:rPr lang="en-US" dirty="0">
                <a:solidFill>
                  <a:srgbClr val="000000"/>
                </a:solidFill>
              </a:rPr>
              <a:t>Prof.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7" name="Rectangle 2"/>
          <p:cNvSpPr>
            <a:spLocks noGrp="1" noChangeArrowheads="1"/>
          </p:cNvSpPr>
          <p:nvPr>
            <p:ph type="title"/>
          </p:nvPr>
        </p:nvSpPr>
        <p:spPr>
          <a:xfrm>
            <a:off x="635000" y="640823"/>
            <a:ext cx="3418659" cy="5583148"/>
          </a:xfrm>
        </p:spPr>
        <p:txBody>
          <a:bodyPr anchor="ctr">
            <a:normAutofit/>
          </a:bodyPr>
          <a:lstStyle/>
          <a:p>
            <a:r>
              <a:rPr lang="en-US" altLang="en-US" sz="5400"/>
              <a:t>Agenda</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6"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33ED74D6-4D54-459C-8BE2-5D9DD5E9946F}" type="slidenum">
              <a:rPr lang="ar-SA" altLang="en-US" sz="1900" b="0"/>
              <a:pPr eaLnBrk="1" hangingPunct="1">
                <a:lnSpc>
                  <a:spcPct val="90000"/>
                </a:lnSpc>
                <a:spcAft>
                  <a:spcPts val="600"/>
                </a:spcAft>
              </a:pPr>
              <a:t>2</a:t>
            </a:fld>
            <a:endParaRPr lang="en-US" altLang="en-US" sz="1900" b="0"/>
          </a:p>
        </p:txBody>
      </p:sp>
      <p:graphicFrame>
        <p:nvGraphicFramePr>
          <p:cNvPr id="6150" name="Rectangle 3">
            <a:extLst>
              <a:ext uri="{FF2B5EF4-FFF2-40B4-BE49-F238E27FC236}">
                <a16:creationId xmlns:a16="http://schemas.microsoft.com/office/drawing/2014/main" id="{CD70AA10-1A8B-4F79-A708-B5CB621E5D48}"/>
              </a:ext>
            </a:extLst>
          </p:cNvPr>
          <p:cNvGraphicFramePr/>
          <p:nvPr>
            <p:extLst>
              <p:ext uri="{D42A27DB-BD31-4B8C-83A1-F6EECF244321}">
                <p14:modId xmlns:p14="http://schemas.microsoft.com/office/powerpoint/2010/main" val="3507384854"/>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4583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9383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Testing Dimensions</a:t>
            </a: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085227" y="961812"/>
            <a:ext cx="7094945" cy="4930987"/>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639E2EFA-D603-47EA-8839-174AA0B00B36}" type="slidenum">
              <a:rPr lang="en-US">
                <a:solidFill>
                  <a:srgbClr val="898989"/>
                </a:solidFill>
              </a:rPr>
              <a:pPr>
                <a:spcAft>
                  <a:spcPts val="600"/>
                </a:spcAft>
                <a:defRPr/>
              </a:pPr>
              <a:t>3</a:t>
            </a:fld>
            <a:endParaRPr lang="en-US">
              <a:solidFill>
                <a:srgbClr val="898989"/>
              </a:solidFill>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643467" y="640080"/>
            <a:ext cx="3096427" cy="5613236"/>
          </a:xfrm>
        </p:spPr>
        <p:txBody>
          <a:bodyPr anchor="ctr">
            <a:normAutofit/>
          </a:bodyPr>
          <a:lstStyle/>
          <a:p>
            <a:r>
              <a:rPr lang="en-US" altLang="en-US">
                <a:solidFill>
                  <a:srgbClr val="FFFFFF"/>
                </a:solidFill>
              </a:rPr>
              <a:t>Functional Testing</a:t>
            </a:r>
          </a:p>
        </p:txBody>
      </p:sp>
      <p:sp>
        <p:nvSpPr>
          <p:cNvPr id="7172" name="Rectangle 3"/>
          <p:cNvSpPr>
            <a:spLocks noGrp="1" noChangeArrowheads="1"/>
          </p:cNvSpPr>
          <p:nvPr>
            <p:ph type="body" idx="1"/>
          </p:nvPr>
        </p:nvSpPr>
        <p:spPr>
          <a:xfrm>
            <a:off x="4699818" y="640082"/>
            <a:ext cx="6848715" cy="2484884"/>
          </a:xfrm>
        </p:spPr>
        <p:txBody>
          <a:bodyPr anchor="ctr">
            <a:normAutofit/>
          </a:bodyPr>
          <a:lstStyle/>
          <a:p>
            <a:r>
              <a:rPr lang="en-US" altLang="en-US" sz="2000"/>
              <a:t>A program can be considered as a function that has inputs as a domain and outputs as a range</a:t>
            </a:r>
          </a:p>
          <a:p>
            <a:r>
              <a:rPr lang="en-US" altLang="en-US" sz="2000"/>
              <a:t>Historically functional testing emphasized the input domain but it can be apply for range based test cases as well</a:t>
            </a:r>
          </a:p>
          <a:p>
            <a:r>
              <a:rPr lang="en-CA" altLang="en-US" sz="2000"/>
              <a:t>Is not based on the structure of the program (which is unknown)</a:t>
            </a:r>
          </a:p>
        </p:txBody>
      </p:sp>
      <p:pic>
        <p:nvPicPr>
          <p:cNvPr id="7174" name="Picture 6"/>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54297" y="3811850"/>
            <a:ext cx="6894236" cy="175803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0" name="Slide Number Placeholder 5"/>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C218F17A-A2A1-4628-996C-8F15D53A49E8}" type="slidenum">
              <a:rPr lang="ar-SA" altLang="en-US" sz="1200" b="0">
                <a:solidFill>
                  <a:prstClr val="black">
                    <a:tint val="75000"/>
                  </a:prstClr>
                </a:solidFill>
              </a:rPr>
              <a:pPr eaLnBrk="1" hangingPunct="1">
                <a:spcAft>
                  <a:spcPts val="600"/>
                </a:spcAft>
              </a:pPr>
              <a:t>4</a:t>
            </a:fld>
            <a:endParaRPr lang="en-US" altLang="en-US" sz="1200" b="0">
              <a:solidFill>
                <a:prstClr val="black">
                  <a:tint val="75000"/>
                </a:prstClr>
              </a:solidFill>
            </a:endParaRPr>
          </a:p>
        </p:txBody>
      </p:sp>
    </p:spTree>
    <p:extLst>
      <p:ext uri="{BB962C8B-B14F-4D97-AF65-F5344CB8AC3E}">
        <p14:creationId xmlns:p14="http://schemas.microsoft.com/office/powerpoint/2010/main" val="9280531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13566526-8DE4-4F5E-9C6E-2E48A14F5969}" type="slidenum">
              <a:rPr lang="ar-SA" altLang="en-US" sz="1400" b="0"/>
              <a:pPr eaLnBrk="1" hangingPunct="1"/>
              <a:t>5</a:t>
            </a:fld>
            <a:endParaRPr lang="en-US" altLang="en-US" sz="1400" b="0"/>
          </a:p>
        </p:txBody>
      </p:sp>
      <p:sp>
        <p:nvSpPr>
          <p:cNvPr id="8195" name="Rectangle 2"/>
          <p:cNvSpPr>
            <a:spLocks noGrp="1" noChangeArrowheads="1"/>
          </p:cNvSpPr>
          <p:nvPr>
            <p:ph type="title"/>
          </p:nvPr>
        </p:nvSpPr>
        <p:spPr/>
        <p:txBody>
          <a:bodyPr/>
          <a:lstStyle/>
          <a:p>
            <a:r>
              <a:rPr lang="en-US" altLang="en-US"/>
              <a:t>Boundary Value Testing</a:t>
            </a:r>
            <a:endParaRPr lang="en-US" altLang="en-US" sz="1400"/>
          </a:p>
        </p:txBody>
      </p:sp>
      <p:sp>
        <p:nvSpPr>
          <p:cNvPr id="8196" name="Rectangle 3"/>
          <p:cNvSpPr>
            <a:spLocks noGrp="1" noChangeArrowheads="1"/>
          </p:cNvSpPr>
          <p:nvPr>
            <p:ph type="body" idx="1"/>
          </p:nvPr>
        </p:nvSpPr>
        <p:spPr/>
        <p:txBody>
          <a:bodyPr/>
          <a:lstStyle/>
          <a:p>
            <a:pPr marL="0" indent="0">
              <a:buNone/>
            </a:pPr>
            <a:br>
              <a:rPr lang="en-US" dirty="0"/>
            </a:br>
            <a:r>
              <a:rPr lang="en-US" b="0" i="0" dirty="0">
                <a:solidFill>
                  <a:srgbClr val="0D0D0D"/>
                </a:solidFill>
                <a:effectLst/>
                <a:highlight>
                  <a:srgbClr val="FFFFFF"/>
                </a:highlight>
                <a:latin typeface="Söhne"/>
              </a:rPr>
              <a:t>Boundary value testing is a software testing technique used to evaluate the behavior of a system at the boundaries of input domains. The basic premise is that errors often occur at the edges or boundaries of input ranges rather than within the range itself.</a:t>
            </a:r>
            <a:endParaRPr lang="en-US" altLang="en-US" dirty="0"/>
          </a:p>
          <a:p>
            <a:endParaRPr lang="en-US" altLang="en-US" dirty="0"/>
          </a:p>
        </p:txBody>
      </p:sp>
    </p:spTree>
    <p:extLst>
      <p:ext uri="{BB962C8B-B14F-4D97-AF65-F5344CB8AC3E}">
        <p14:creationId xmlns:p14="http://schemas.microsoft.com/office/powerpoint/2010/main" val="3815962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9" name="Rectangle 2"/>
          <p:cNvSpPr>
            <a:spLocks noGrp="1" noChangeArrowheads="1"/>
          </p:cNvSpPr>
          <p:nvPr>
            <p:ph type="title"/>
          </p:nvPr>
        </p:nvSpPr>
        <p:spPr>
          <a:xfrm>
            <a:off x="841248" y="548640"/>
            <a:ext cx="3600860" cy="5431536"/>
          </a:xfrm>
        </p:spPr>
        <p:txBody>
          <a:bodyPr>
            <a:normAutofit/>
          </a:bodyPr>
          <a:lstStyle/>
          <a:p>
            <a:r>
              <a:rPr lang="en-US" altLang="en-US" sz="5400"/>
              <a:t>Boundary Value Analysis</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0" name="Rectangle 3"/>
          <p:cNvSpPr>
            <a:spLocks noGrp="1" noChangeArrowheads="1"/>
          </p:cNvSpPr>
          <p:nvPr>
            <p:ph type="body" idx="1"/>
          </p:nvPr>
        </p:nvSpPr>
        <p:spPr>
          <a:xfrm>
            <a:off x="5126418" y="552091"/>
            <a:ext cx="6224335" cy="5431536"/>
          </a:xfrm>
        </p:spPr>
        <p:txBody>
          <a:bodyPr anchor="ctr">
            <a:normAutofit/>
          </a:bodyPr>
          <a:lstStyle/>
          <a:p>
            <a:pPr lvl="1"/>
            <a:r>
              <a:rPr lang="en-US" altLang="en-US" sz="2200" b="1"/>
              <a:t>Boundary Value Analysis:</a:t>
            </a:r>
          </a:p>
          <a:p>
            <a:pPr lvl="2"/>
            <a:r>
              <a:rPr lang="en-US" altLang="en-US" sz="2200"/>
              <a:t>based on “single fault” assumption in reliability theory</a:t>
            </a:r>
          </a:p>
          <a:p>
            <a:pPr marL="667512" lvl="2" indent="0">
              <a:buNone/>
            </a:pPr>
            <a:endParaRPr lang="en-US" altLang="en-US" sz="2200"/>
          </a:p>
          <a:p>
            <a:pPr lvl="2"/>
            <a:r>
              <a:rPr lang="en-US" altLang="en-US" sz="2200"/>
              <a:t>The input variable values are used at their min, min+, nom, max-, max</a:t>
            </a:r>
          </a:p>
          <a:p>
            <a:pPr lvl="3"/>
            <a:endParaRPr lang="en-US" altLang="en-US" sz="2200"/>
          </a:p>
          <a:p>
            <a:pPr lvl="1">
              <a:buFont typeface="Wingdings" pitchFamily="2" charset="2"/>
              <a:buNone/>
            </a:pPr>
            <a:endParaRPr lang="en-US" altLang="en-US" sz="2200"/>
          </a:p>
          <a:p>
            <a:pPr lvl="1">
              <a:buFont typeface="Wingdings" pitchFamily="2" charset="2"/>
              <a:buNone/>
            </a:pPr>
            <a:endParaRPr lang="en-US" altLang="en-US" sz="2200"/>
          </a:p>
          <a:p>
            <a:pPr>
              <a:buFont typeface="Wingdings" pitchFamily="2" charset="2"/>
              <a:buNone/>
            </a:pPr>
            <a:endParaRPr lang="en-US" altLang="en-US" sz="2200"/>
          </a:p>
        </p:txBody>
      </p:sp>
      <p:sp>
        <p:nvSpPr>
          <p:cNvPr id="9218"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FC1CBB11-86C7-458E-8DE6-79C3220B13FA}" type="slidenum">
              <a:rPr lang="ar-SA" altLang="en-US" sz="1900" b="0"/>
              <a:pPr eaLnBrk="1" hangingPunct="1">
                <a:lnSpc>
                  <a:spcPct val="90000"/>
                </a:lnSpc>
                <a:spcAft>
                  <a:spcPts val="600"/>
                </a:spcAft>
              </a:pPr>
              <a:t>6</a:t>
            </a:fld>
            <a:endParaRPr lang="en-US" altLang="en-US" sz="1900" b="0"/>
          </a:p>
        </p:txBody>
      </p:sp>
    </p:spTree>
    <p:extLst>
      <p:ext uri="{BB962C8B-B14F-4D97-AF65-F5344CB8AC3E}">
        <p14:creationId xmlns:p14="http://schemas.microsoft.com/office/powerpoint/2010/main" val="3360087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38B39663-481C-4D7F-A4C1-F4BBEE968DA2}" type="slidenum">
              <a:rPr lang="ar-SA" altLang="en-US" sz="1400" b="0"/>
              <a:pPr eaLnBrk="1" hangingPunct="1"/>
              <a:t>7</a:t>
            </a:fld>
            <a:endParaRPr lang="en-US" altLang="en-US" sz="1400" b="0"/>
          </a:p>
        </p:txBody>
      </p:sp>
      <p:sp>
        <p:nvSpPr>
          <p:cNvPr id="10243" name="Rectangle 2"/>
          <p:cNvSpPr>
            <a:spLocks noGrp="1" noChangeArrowheads="1"/>
          </p:cNvSpPr>
          <p:nvPr>
            <p:ph type="title"/>
          </p:nvPr>
        </p:nvSpPr>
        <p:spPr/>
        <p:txBody>
          <a:bodyPr/>
          <a:lstStyle/>
          <a:p>
            <a:r>
              <a:rPr lang="en-US" altLang="en-US" sz="3400" dirty="0"/>
              <a:t>Boundary Value Analysis</a:t>
            </a:r>
          </a:p>
        </p:txBody>
      </p:sp>
      <p:sp>
        <p:nvSpPr>
          <p:cNvPr id="32772" name="Rectangle 3"/>
          <p:cNvSpPr>
            <a:spLocks noGrp="1" noChangeArrowheads="1"/>
          </p:cNvSpPr>
          <p:nvPr>
            <p:ph type="body" sz="half" idx="1"/>
          </p:nvPr>
        </p:nvSpPr>
        <p:spPr>
          <a:xfrm>
            <a:off x="2209800" y="1981200"/>
            <a:ext cx="4038600" cy="4419600"/>
          </a:xfrm>
        </p:spPr>
        <p:txBody>
          <a:bodyPr/>
          <a:lstStyle/>
          <a:p>
            <a:r>
              <a:rPr lang="en-US" altLang="en-US" sz="2000" dirty="0"/>
              <a:t>Having a function F of x1 and x2:</a:t>
            </a:r>
          </a:p>
          <a:p>
            <a:pPr>
              <a:buFont typeface="Wingdings" pitchFamily="2" charset="2"/>
              <a:buNone/>
            </a:pPr>
            <a:endParaRPr lang="en-US" altLang="en-US" sz="2400" dirty="0"/>
          </a:p>
          <a:p>
            <a:endParaRPr lang="en-US" altLang="en-US" sz="2000" dirty="0"/>
          </a:p>
          <a:p>
            <a:r>
              <a:rPr lang="en-US" altLang="en-US" sz="2000" dirty="0"/>
              <a:t>Boundary value analysis test cases will be:</a:t>
            </a:r>
          </a:p>
          <a:p>
            <a:pPr lvl="1"/>
            <a:r>
              <a:rPr lang="en-US" altLang="en-US" sz="1400" dirty="0"/>
              <a:t>T = { &lt;x1nom, x2min&gt;, &lt;x1nom, x2min+&gt;, &lt;x1nom, x2nom&gt;, &lt;x1nom, x2max-&gt;, &lt;x1nom, x2max+&gt;, &lt;x1min, x2nom&gt;, &lt; X1min+, X2nom&gt;,  &lt;x1max-, x2nom&gt;, &lt;x1max, x2nom&gt; }</a:t>
            </a:r>
          </a:p>
          <a:p>
            <a:r>
              <a:rPr lang="en-US" altLang="en-US" sz="1800" b="1" i="1" dirty="0"/>
              <a:t>n</a:t>
            </a:r>
            <a:r>
              <a:rPr lang="en-US" altLang="en-US" sz="1800" dirty="0"/>
              <a:t> variables yield </a:t>
            </a:r>
            <a:r>
              <a:rPr lang="en-US" altLang="en-US" sz="1800" b="1" i="1" dirty="0"/>
              <a:t>4n+1</a:t>
            </a:r>
            <a:r>
              <a:rPr lang="en-US" altLang="en-US" sz="1800" dirty="0"/>
              <a:t> test cases</a:t>
            </a:r>
          </a:p>
          <a:p>
            <a:endParaRPr lang="en-US" altLang="en-US" sz="1800" dirty="0"/>
          </a:p>
          <a:p>
            <a:pPr>
              <a:buFont typeface="Wingdings" pitchFamily="2" charset="2"/>
              <a:buNone/>
            </a:pPr>
            <a:endParaRPr lang="en-US" altLang="en-US" sz="1600" b="1" dirty="0">
              <a:solidFill>
                <a:schemeClr val="hlink"/>
              </a:solidFill>
            </a:endParaRPr>
          </a:p>
          <a:p>
            <a:pPr>
              <a:buFont typeface="Wingdings" pitchFamily="2" charset="2"/>
              <a:buNone/>
            </a:pPr>
            <a:endParaRPr lang="en-US" altLang="en-US" sz="2600" b="1" dirty="0">
              <a:solidFill>
                <a:schemeClr val="hlink"/>
              </a:solidFill>
            </a:endParaRPr>
          </a:p>
        </p:txBody>
      </p:sp>
      <p:sp>
        <p:nvSpPr>
          <p:cNvPr id="10245" name="Rectangle 214"/>
          <p:cNvSpPr>
            <a:spLocks noGrp="1" noChangeArrowheads="1"/>
          </p:cNvSpPr>
          <p:nvPr>
            <p:ph sz="quarter" idx="2"/>
          </p:nvPr>
        </p:nvSpPr>
        <p:spPr>
          <a:xfrm>
            <a:off x="6324600" y="1752600"/>
            <a:ext cx="3767138" cy="2057400"/>
          </a:xfrm>
        </p:spPr>
        <p:txBody>
          <a:bodyPr/>
          <a:lstStyle/>
          <a:p>
            <a:endParaRPr lang="en-US" altLang="en-US" sz="2100"/>
          </a:p>
        </p:txBody>
      </p:sp>
      <p:pic>
        <p:nvPicPr>
          <p:cNvPr id="10246" name="Picture 216" descr="05_01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455416"/>
            <a:ext cx="1143000" cy="639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7" name="Picture 217" descr="05_0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24600" y="1752600"/>
            <a:ext cx="3733800" cy="201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8" name="Picture 218" descr="05_02"/>
          <p:cNvPicPr>
            <a:picLocks noGrp="1" noChangeAspect="1" noChangeArrowheads="1"/>
          </p:cNvPicPr>
          <p:nvPr>
            <p:ph sz="quarter" idx="3"/>
          </p:nvPr>
        </p:nvPicPr>
        <p:blipFill>
          <a:blip r:embed="rId5">
            <a:extLst>
              <a:ext uri="{28A0092B-C50C-407E-A947-70E740481C1C}">
                <a14:useLocalDpi xmlns:a14="http://schemas.microsoft.com/office/drawing/2010/main" val="0"/>
              </a:ext>
            </a:extLst>
          </a:blip>
          <a:srcRect/>
          <a:stretch>
            <a:fillRect/>
          </a:stretch>
        </p:blipFill>
        <p:spPr>
          <a:xfrm>
            <a:off x="6324600" y="4038601"/>
            <a:ext cx="3657600" cy="1998663"/>
          </a:xfrm>
          <a:noFill/>
        </p:spPr>
      </p:pic>
    </p:spTree>
    <p:extLst>
      <p:ext uri="{BB962C8B-B14F-4D97-AF65-F5344CB8AC3E}">
        <p14:creationId xmlns:p14="http://schemas.microsoft.com/office/powerpoint/2010/main" val="37434343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277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AEAA8E5E-ADA2-40C8-BFA4-850FE9494AB4}" type="slidenum">
              <a:rPr lang="ar-SA" altLang="en-US" sz="1400" b="0"/>
              <a:pPr eaLnBrk="1" hangingPunct="1"/>
              <a:t>8</a:t>
            </a:fld>
            <a:endParaRPr lang="en-US" altLang="en-US" sz="1400" b="0"/>
          </a:p>
        </p:txBody>
      </p:sp>
      <p:sp>
        <p:nvSpPr>
          <p:cNvPr id="11267" name="Rectangle 2"/>
          <p:cNvSpPr>
            <a:spLocks noGrp="1" noChangeArrowheads="1"/>
          </p:cNvSpPr>
          <p:nvPr>
            <p:ph type="title"/>
          </p:nvPr>
        </p:nvSpPr>
        <p:spPr/>
        <p:txBody>
          <a:bodyPr/>
          <a:lstStyle/>
          <a:p>
            <a:r>
              <a:rPr lang="en-US" altLang="en-US"/>
              <a:t>Triangle Example</a:t>
            </a:r>
          </a:p>
        </p:txBody>
      </p:sp>
      <p:sp>
        <p:nvSpPr>
          <p:cNvPr id="11268" name="Rectangle 3"/>
          <p:cNvSpPr>
            <a:spLocks noGrp="1" noChangeArrowheads="1"/>
          </p:cNvSpPr>
          <p:nvPr>
            <p:ph type="body" sz="half" idx="1"/>
          </p:nvPr>
        </p:nvSpPr>
        <p:spPr/>
        <p:txBody>
          <a:bodyPr/>
          <a:lstStyle/>
          <a:p>
            <a:r>
              <a:rPr lang="en-US" altLang="en-US" sz="1800"/>
              <a:t>No conditions are specified on the triangle side, other than being integers, the lower bound of the ranges are all 1. We arbitrary take </a:t>
            </a:r>
            <a:r>
              <a:rPr lang="en-US" altLang="en-US" sz="1800" b="1">
                <a:solidFill>
                  <a:srgbClr val="FF0000"/>
                </a:solidFill>
              </a:rPr>
              <a:t>200 </a:t>
            </a:r>
            <a:r>
              <a:rPr lang="en-US" altLang="en-US" sz="1800"/>
              <a:t>as an upper bound</a:t>
            </a:r>
          </a:p>
          <a:p>
            <a:endParaRPr lang="en-US" altLang="en-US" sz="1800"/>
          </a:p>
        </p:txBody>
      </p:sp>
      <p:pic>
        <p:nvPicPr>
          <p:cNvPr id="11269" name="Picture 4692"/>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1524001" y="2667000"/>
            <a:ext cx="8969829" cy="3810000"/>
          </a:xfrm>
        </p:spPr>
      </p:pic>
    </p:spTree>
    <p:extLst>
      <p:ext uri="{BB962C8B-B14F-4D97-AF65-F5344CB8AC3E}">
        <p14:creationId xmlns:p14="http://schemas.microsoft.com/office/powerpoint/2010/main" val="2207747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029DC161-519B-4912-B5D4-75D4E2CB41CB}" type="slidenum">
              <a:rPr lang="ar-SA" altLang="en-US" sz="1400" b="0"/>
              <a:pPr eaLnBrk="1" hangingPunct="1"/>
              <a:t>9</a:t>
            </a:fld>
            <a:endParaRPr lang="en-US" altLang="en-US" sz="1400" b="0"/>
          </a:p>
        </p:txBody>
      </p:sp>
      <p:sp>
        <p:nvSpPr>
          <p:cNvPr id="13315" name="Rectangle 2"/>
          <p:cNvSpPr>
            <a:spLocks noGrp="1" noChangeArrowheads="1"/>
          </p:cNvSpPr>
          <p:nvPr>
            <p:ph type="title"/>
          </p:nvPr>
        </p:nvSpPr>
        <p:spPr/>
        <p:txBody>
          <a:bodyPr/>
          <a:lstStyle/>
          <a:p>
            <a:r>
              <a:rPr lang="en-US" altLang="en-US" sz="3400" dirty="0"/>
              <a:t>Boundary Value Analysis</a:t>
            </a:r>
          </a:p>
        </p:txBody>
      </p:sp>
      <p:sp>
        <p:nvSpPr>
          <p:cNvPr id="13316" name="Rectangle 3"/>
          <p:cNvSpPr>
            <a:spLocks noGrp="1" noChangeArrowheads="1"/>
          </p:cNvSpPr>
          <p:nvPr>
            <p:ph type="body" idx="1"/>
          </p:nvPr>
        </p:nvSpPr>
        <p:spPr>
          <a:xfrm>
            <a:off x="1941514" y="1828800"/>
            <a:ext cx="8726487" cy="4535488"/>
          </a:xfrm>
        </p:spPr>
        <p:txBody>
          <a:bodyPr/>
          <a:lstStyle/>
          <a:p>
            <a:r>
              <a:rPr lang="en-US" altLang="en-US"/>
              <a:t>Can be applied to loop control variables, indices, pointers </a:t>
            </a:r>
          </a:p>
          <a:p>
            <a:r>
              <a:rPr lang="en-CA" altLang="en-US"/>
              <a:t>Choose also inputs that invoke </a:t>
            </a:r>
            <a:r>
              <a:rPr lang="en-CA" altLang="en-US" i="1"/>
              <a:t>output boundary values </a:t>
            </a:r>
            <a:r>
              <a:rPr lang="en-CA" altLang="en-US"/>
              <a:t>( values on the boundary of output classes )</a:t>
            </a:r>
            <a:endParaRPr lang="en-US" altLang="en-US"/>
          </a:p>
          <a:p>
            <a:r>
              <a:rPr lang="en-US" altLang="en-US"/>
              <a:t>Limitations:</a:t>
            </a:r>
          </a:p>
          <a:p>
            <a:pPr lvl="1"/>
            <a:r>
              <a:rPr lang="en-US" altLang="en-US"/>
              <a:t>Works well for functions of several </a:t>
            </a:r>
            <a:r>
              <a:rPr lang="en-US" altLang="en-US" u="sng"/>
              <a:t>independent</a:t>
            </a:r>
            <a:r>
              <a:rPr lang="en-US" altLang="en-US"/>
              <a:t> variables that represent bounded </a:t>
            </a:r>
            <a:r>
              <a:rPr lang="en-US" altLang="en-US" u="sng"/>
              <a:t>physical </a:t>
            </a:r>
            <a:r>
              <a:rPr lang="en-US" altLang="en-US"/>
              <a:t>quantities</a:t>
            </a:r>
          </a:p>
          <a:p>
            <a:pPr lvl="1"/>
            <a:r>
              <a:rPr lang="en-US" altLang="en-US"/>
              <a:t>No consideration of the nature of the function nor the semantic meaning of the variables</a:t>
            </a:r>
          </a:p>
        </p:txBody>
      </p:sp>
    </p:spTree>
    <p:extLst>
      <p:ext uri="{BB962C8B-B14F-4D97-AF65-F5344CB8AC3E}">
        <p14:creationId xmlns:p14="http://schemas.microsoft.com/office/powerpoint/2010/main" val="312288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63"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dirty="0">
                <a:solidFill>
                  <a:srgbClr val="FFFFFF"/>
                </a:solidFill>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Robustness Testing</a:t>
            </a:r>
          </a:p>
        </p:txBody>
      </p:sp>
      <p:sp>
        <p:nvSpPr>
          <p:cNvPr id="15364"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u="sng"/>
              <a:t>Explicit range checking and exception handling</a:t>
            </a:r>
          </a:p>
          <a:p>
            <a:r>
              <a:rPr lang="en-US" altLang="en-US" sz="2000"/>
              <a:t>In addition to the five values of the variable we add two more:  </a:t>
            </a:r>
          </a:p>
          <a:p>
            <a:pPr lvl="1"/>
            <a:r>
              <a:rPr lang="en-US" altLang="en-US" sz="2000"/>
              <a:t>slightly greater than the maximum </a:t>
            </a:r>
            <a:r>
              <a:rPr lang="en-US" altLang="en-US" sz="2000" b="1"/>
              <a:t>(max+)  </a:t>
            </a:r>
          </a:p>
          <a:p>
            <a:pPr lvl="1"/>
            <a:r>
              <a:rPr lang="en-US" altLang="en-US" sz="2000"/>
              <a:t>slightly less than the minimum </a:t>
            </a:r>
            <a:r>
              <a:rPr lang="en-US" altLang="en-US" sz="2000" b="1"/>
              <a:t>(min-)</a:t>
            </a:r>
          </a:p>
          <a:p>
            <a:endParaRPr lang="en-US" altLang="en-US" sz="2000"/>
          </a:p>
        </p:txBody>
      </p:sp>
      <p:pic>
        <p:nvPicPr>
          <p:cNvPr id="15365" name="Picture 6" descr="05_03"/>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79921" y="3446698"/>
            <a:ext cx="3842988" cy="2488335"/>
          </a:xfrm>
          <a:prstGeom prst="rect">
            <a:avLst/>
          </a:prstGeom>
          <a:noFill/>
        </p:spPr>
      </p:pic>
      <p:sp>
        <p:nvSpPr>
          <p:cNvPr id="15362"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DBCEF948-0562-4AD7-89F3-E18DEDE41006}" type="slidenum">
              <a:rPr lang="en-US" altLang="en-US" sz="1200" b="0">
                <a:solidFill>
                  <a:prstClr val="black">
                    <a:tint val="75000"/>
                  </a:prstClr>
                </a:solidFill>
                <a:latin typeface="+mn-lt"/>
              </a:rPr>
              <a:pPr eaLnBrk="1" hangingPunct="1">
                <a:spcAft>
                  <a:spcPts val="600"/>
                </a:spcAft>
              </a:pPr>
              <a:t>10</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1130380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35"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Worst-Case Testing</a:t>
            </a:r>
          </a:p>
        </p:txBody>
      </p:sp>
      <p:sp>
        <p:nvSpPr>
          <p:cNvPr id="18436"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b="1"/>
              <a:t>Rejection of the single fault assumption</a:t>
            </a:r>
          </a:p>
          <a:p>
            <a:r>
              <a:rPr lang="en-US" altLang="en-US" sz="2000"/>
              <a:t>For each variable, we have min, min+, max, max+ and then we take the </a:t>
            </a:r>
            <a:r>
              <a:rPr lang="en-US" altLang="en-US" sz="2000" u="sng"/>
              <a:t>Cartesian product </a:t>
            </a:r>
            <a:r>
              <a:rPr lang="en-US" altLang="en-US" sz="2000"/>
              <a:t>of these sets to generate test cases</a:t>
            </a:r>
          </a:p>
          <a:p>
            <a:r>
              <a:rPr lang="en-US" altLang="en-US" sz="2000"/>
              <a:t>For </a:t>
            </a:r>
            <a:r>
              <a:rPr lang="en-US" altLang="en-US" sz="2000" b="1" i="1"/>
              <a:t>n</a:t>
            </a:r>
            <a:r>
              <a:rPr lang="en-US" altLang="en-US" sz="2000"/>
              <a:t> input variables the number of test cases is </a:t>
            </a:r>
            <a:r>
              <a:rPr lang="en-US" altLang="en-US" sz="2000" b="1"/>
              <a:t>5</a:t>
            </a:r>
            <a:r>
              <a:rPr lang="en-US" altLang="en-US" sz="2000" b="1" baseline="30000"/>
              <a:t>n</a:t>
            </a:r>
          </a:p>
          <a:p>
            <a:endParaRPr lang="en-US" altLang="en-US" sz="2000" b="1" baseline="30000"/>
          </a:p>
          <a:p>
            <a:endParaRPr lang="en-US" altLang="en-US" sz="2000"/>
          </a:p>
        </p:txBody>
      </p:sp>
      <p:pic>
        <p:nvPicPr>
          <p:cNvPr id="18437" name="Picture 5" descr="05_04"/>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18434"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55493C25-B83D-4884-922A-FD952E648FD7}" type="slidenum">
              <a:rPr lang="en-US" altLang="en-US" sz="1200" b="0">
                <a:solidFill>
                  <a:prstClr val="black">
                    <a:tint val="75000"/>
                  </a:prstClr>
                </a:solidFill>
                <a:latin typeface="+mn-lt"/>
              </a:rPr>
              <a:pPr eaLnBrk="1" hangingPunct="1">
                <a:spcAft>
                  <a:spcPts val="600"/>
                </a:spcAft>
              </a:pPr>
              <a:t>11</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6120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986B4059-F52F-472F-9AE7-AE724B6D0203}" type="slidenum">
              <a:rPr lang="ar-SA" altLang="en-US" sz="1400" b="0"/>
              <a:pPr eaLnBrk="1" hangingPunct="1"/>
              <a:t>12</a:t>
            </a:fld>
            <a:endParaRPr lang="en-US" altLang="en-US" sz="1400" b="0"/>
          </a:p>
        </p:txBody>
      </p:sp>
      <p:sp>
        <p:nvSpPr>
          <p:cNvPr id="19459" name="Rectangle 5"/>
          <p:cNvSpPr>
            <a:spLocks noGrp="1" noChangeArrowheads="1"/>
          </p:cNvSpPr>
          <p:nvPr>
            <p:ph type="title"/>
          </p:nvPr>
        </p:nvSpPr>
        <p:spPr/>
        <p:txBody>
          <a:bodyPr>
            <a:normAutofit/>
          </a:bodyPr>
          <a:lstStyle/>
          <a:p>
            <a:pPr algn="ctr"/>
            <a:r>
              <a:rPr lang="en-US" altLang="en-US"/>
              <a:t>Example </a:t>
            </a:r>
            <a:r>
              <a:rPr lang="en-US" altLang="en-US" sz="4000"/>
              <a:t>Worst-Case Test Cases</a:t>
            </a:r>
            <a:br>
              <a:rPr lang="en-US" altLang="en-US" sz="4000"/>
            </a:br>
            <a:r>
              <a:rPr lang="en-US" altLang="en-US" sz="4000"/>
              <a:t>(Triangle program)</a:t>
            </a:r>
          </a:p>
        </p:txBody>
      </p:sp>
      <p:pic>
        <p:nvPicPr>
          <p:cNvPr id="1946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2286000"/>
            <a:ext cx="800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1" name="Text Box 7"/>
          <p:cNvSpPr txBox="1">
            <a:spLocks noChangeArrowheads="1"/>
          </p:cNvSpPr>
          <p:nvPr/>
        </p:nvSpPr>
        <p:spPr bwMode="auto">
          <a:xfrm>
            <a:off x="2819400" y="1905001"/>
            <a:ext cx="67056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algn="ctr" eaLnBrk="1" hangingPunct="1">
              <a:spcBef>
                <a:spcPct val="50000"/>
              </a:spcBef>
            </a:pPr>
            <a:r>
              <a:rPr lang="en-US" altLang="en-US" sz="1400"/>
              <a:t>Worst-Case test cases (one “corner” of the input space cube)</a:t>
            </a:r>
          </a:p>
        </p:txBody>
      </p:sp>
      <p:sp>
        <p:nvSpPr>
          <p:cNvPr id="36870" name="Oval 8"/>
          <p:cNvSpPr>
            <a:spLocks noChangeArrowheads="1"/>
          </p:cNvSpPr>
          <p:nvPr/>
        </p:nvSpPr>
        <p:spPr bwMode="auto">
          <a:xfrm>
            <a:off x="2133600" y="2438400"/>
            <a:ext cx="6629400" cy="762000"/>
          </a:xfrm>
          <a:prstGeom prst="ellipse">
            <a:avLst/>
          </a:prstGeom>
          <a:noFill/>
          <a:ln w="28575">
            <a:solidFill>
              <a:schemeClr va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36871" name="Oval 9"/>
          <p:cNvSpPr>
            <a:spLocks noChangeArrowheads="1"/>
          </p:cNvSpPr>
          <p:nvPr/>
        </p:nvSpPr>
        <p:spPr bwMode="auto">
          <a:xfrm>
            <a:off x="2133600" y="3276600"/>
            <a:ext cx="6629400" cy="685800"/>
          </a:xfrm>
          <a:prstGeom prst="ellipse">
            <a:avLst/>
          </a:prstGeom>
          <a:noFill/>
          <a:ln w="28575">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9" name="Oval 9"/>
          <p:cNvSpPr>
            <a:spLocks noChangeArrowheads="1"/>
          </p:cNvSpPr>
          <p:nvPr/>
        </p:nvSpPr>
        <p:spPr bwMode="auto">
          <a:xfrm>
            <a:off x="2133600" y="4006850"/>
            <a:ext cx="6629400" cy="762000"/>
          </a:xfrm>
          <a:prstGeom prst="ellipse">
            <a:avLst/>
          </a:prstGeom>
          <a:noFill/>
          <a:ln w="28575">
            <a:solidFill>
              <a:srgbClr val="00B05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10" name="Oval 9"/>
          <p:cNvSpPr>
            <a:spLocks noChangeArrowheads="1"/>
          </p:cNvSpPr>
          <p:nvPr/>
        </p:nvSpPr>
        <p:spPr bwMode="auto">
          <a:xfrm>
            <a:off x="2133600" y="4724400"/>
            <a:ext cx="6629400" cy="762000"/>
          </a:xfrm>
          <a:prstGeom prst="ellipse">
            <a:avLst/>
          </a:prstGeom>
          <a:noFill/>
          <a:ln w="28575">
            <a:solidFill>
              <a:schemeClr val="tx2">
                <a:lumMod val="60000"/>
                <a:lumOff val="40000"/>
              </a:schemeClr>
            </a:solidFill>
            <a:round/>
            <a:headEnd/>
            <a:tailEnd/>
          </a:ln>
        </p:spPr>
        <p:txBody>
          <a:bodyPr wrap="none" anchor="ctr"/>
          <a:lstStyle/>
          <a:p>
            <a:pPr>
              <a:defRPr/>
            </a:pPr>
            <a:endParaRPr lang="en-US"/>
          </a:p>
        </p:txBody>
      </p:sp>
      <p:sp>
        <p:nvSpPr>
          <p:cNvPr id="11" name="Oval 10"/>
          <p:cNvSpPr>
            <a:spLocks noChangeArrowheads="1"/>
          </p:cNvSpPr>
          <p:nvPr/>
        </p:nvSpPr>
        <p:spPr bwMode="auto">
          <a:xfrm>
            <a:off x="2133600" y="5486400"/>
            <a:ext cx="6629400" cy="838200"/>
          </a:xfrm>
          <a:prstGeom prst="ellipse">
            <a:avLst/>
          </a:prstGeom>
          <a:noFill/>
          <a:ln w="28575">
            <a:solidFill>
              <a:schemeClr val="accent3">
                <a:lumMod val="65000"/>
              </a:schemeClr>
            </a:solidFill>
            <a:round/>
            <a:headEnd/>
            <a:tailEnd/>
          </a:ln>
        </p:spPr>
        <p:txBody>
          <a:bodyPr wrap="none" anchor="ctr"/>
          <a:lstStyle/>
          <a:p>
            <a:pPr>
              <a:defRPr/>
            </a:pPr>
            <a:endParaRPr lang="en-US"/>
          </a:p>
        </p:txBody>
      </p:sp>
    </p:spTree>
    <p:extLst>
      <p:ext uri="{BB962C8B-B14F-4D97-AF65-F5344CB8AC3E}">
        <p14:creationId xmlns:p14="http://schemas.microsoft.com/office/powerpoint/2010/main" val="16712405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7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70" grpId="0" animBg="1"/>
      <p:bldP spid="36871"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507"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 Worst-Case Testing</a:t>
            </a:r>
          </a:p>
        </p:txBody>
      </p:sp>
      <p:sp>
        <p:nvSpPr>
          <p:cNvPr id="37893" name="Text Placeholder 7"/>
          <p:cNvSpPr>
            <a:spLocks noGrp="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a:t>Add max+,min-</a:t>
            </a:r>
          </a:p>
          <a:p>
            <a:r>
              <a:rPr lang="en-US" altLang="en-US" sz="2000"/>
              <a:t>For </a:t>
            </a:r>
            <a:r>
              <a:rPr lang="en-US" altLang="en-US" sz="2000" b="1" i="1"/>
              <a:t>n</a:t>
            </a:r>
            <a:r>
              <a:rPr lang="en-US" altLang="en-US" sz="2000"/>
              <a:t> input variables the number of test cases is </a:t>
            </a:r>
            <a:r>
              <a:rPr lang="en-US" altLang="en-US" sz="2000" b="1"/>
              <a:t>7</a:t>
            </a:r>
            <a:r>
              <a:rPr lang="en-US" altLang="en-US" sz="2000" b="1" baseline="30000"/>
              <a:t>n</a:t>
            </a:r>
            <a:r>
              <a:rPr lang="en-US" altLang="en-US" sz="2000" b="1"/>
              <a:t> </a:t>
            </a:r>
          </a:p>
          <a:p>
            <a:r>
              <a:rPr lang="en-US" altLang="en-US" sz="2000" b="1" baseline="30000"/>
              <a:t>(paranoid!) </a:t>
            </a:r>
            <a:r>
              <a:rPr lang="en-US" altLang="en-US" sz="2000"/>
              <a:t> </a:t>
            </a:r>
            <a:endParaRPr lang="en-US" altLang="en-US" sz="2000" b="1"/>
          </a:p>
          <a:p>
            <a:endParaRPr lang="en-US" altLang="en-US" sz="2000"/>
          </a:p>
        </p:txBody>
      </p:sp>
      <p:pic>
        <p:nvPicPr>
          <p:cNvPr id="21508" name="Picture 7" descr="05_05"/>
          <p:cNvPicPr>
            <a:picLocks noGrp="1" noChangeAspect="1" noChangeArrowheads="1"/>
          </p:cNvPicPr>
          <p:nvPr>
            <p:ph sz="quarter" idx="3"/>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21506"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28D18F97-D242-49A3-99FA-303C6AC6951B}" type="slidenum">
              <a:rPr lang="en-US" altLang="en-US" sz="1200" b="0">
                <a:solidFill>
                  <a:prstClr val="black">
                    <a:tint val="75000"/>
                  </a:prstClr>
                </a:solidFill>
                <a:latin typeface="+mn-lt"/>
              </a:rPr>
              <a:pPr eaLnBrk="1" hangingPunct="1">
                <a:spcAft>
                  <a:spcPts val="600"/>
                </a:spcAft>
              </a:pPr>
              <a:t>13</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4296762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789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1" name="Rectangle 2"/>
          <p:cNvSpPr>
            <a:spLocks noGrp="1" noChangeArrowheads="1"/>
          </p:cNvSpPr>
          <p:nvPr>
            <p:ph type="title"/>
          </p:nvPr>
        </p:nvSpPr>
        <p:spPr>
          <a:xfrm>
            <a:off x="841248" y="548640"/>
            <a:ext cx="3600860" cy="5431536"/>
          </a:xfrm>
        </p:spPr>
        <p:txBody>
          <a:bodyPr>
            <a:normAutofit/>
          </a:bodyPr>
          <a:lstStyle/>
          <a:p>
            <a:r>
              <a:rPr lang="en-US" altLang="en-US" sz="5400"/>
              <a:t>Guidelines for Boundary Value Testing </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2" name="Rectangle 3"/>
          <p:cNvSpPr>
            <a:spLocks noGrp="1" noChangeArrowheads="1"/>
          </p:cNvSpPr>
          <p:nvPr>
            <p:ph type="body" idx="1"/>
          </p:nvPr>
        </p:nvSpPr>
        <p:spPr>
          <a:xfrm>
            <a:off x="5126418" y="552091"/>
            <a:ext cx="6224335" cy="5431536"/>
          </a:xfrm>
        </p:spPr>
        <p:txBody>
          <a:bodyPr anchor="ctr">
            <a:normAutofit/>
          </a:bodyPr>
          <a:lstStyle/>
          <a:p>
            <a:r>
              <a:rPr lang="en-US" altLang="en-US" sz="2200"/>
              <a:t>Test methods based on the input domain of the program (Function) are rudimentary </a:t>
            </a:r>
          </a:p>
          <a:p>
            <a:r>
              <a:rPr lang="en-US" altLang="en-US" sz="2200"/>
              <a:t>They assume that the input variables are independent and when they are not the result is not satisfactory</a:t>
            </a:r>
          </a:p>
          <a:p>
            <a:r>
              <a:rPr lang="en-US" altLang="en-US" sz="2200"/>
              <a:t>Distinctions</a:t>
            </a:r>
          </a:p>
          <a:p>
            <a:pPr lvl="1"/>
            <a:r>
              <a:rPr lang="en-US" altLang="en-US" sz="2200"/>
              <a:t>Normal versus robust values</a:t>
            </a:r>
          </a:p>
          <a:p>
            <a:pPr lvl="1"/>
            <a:r>
              <a:rPr lang="en-US" altLang="en-US" sz="2200"/>
              <a:t>Single fault versus multiple fault assumption</a:t>
            </a:r>
          </a:p>
          <a:p>
            <a:r>
              <a:rPr lang="en-US" altLang="en-US" sz="2200"/>
              <a:t>They can be applied to the output range of the program</a:t>
            </a:r>
          </a:p>
          <a:p>
            <a:pPr>
              <a:buFont typeface="Wingdings" pitchFamily="2" charset="2"/>
              <a:buNone/>
            </a:pPr>
            <a:endParaRPr lang="en-US" altLang="en-US" sz="2200"/>
          </a:p>
        </p:txBody>
      </p:sp>
      <p:sp>
        <p:nvSpPr>
          <p:cNvPr id="27650"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4B5CD380-2E79-44B4-A939-CE24A2A7F158}" type="slidenum">
              <a:rPr lang="ar-SA" altLang="en-US" sz="1900" b="0"/>
              <a:pPr eaLnBrk="1" hangingPunct="1">
                <a:lnSpc>
                  <a:spcPct val="90000"/>
                </a:lnSpc>
                <a:spcAft>
                  <a:spcPts val="600"/>
                </a:spcAft>
              </a:pPr>
              <a:t>14</a:t>
            </a:fld>
            <a:endParaRPr lang="en-US" altLang="en-US" sz="1900" b="0"/>
          </a:p>
        </p:txBody>
      </p:sp>
    </p:spTree>
    <p:extLst>
      <p:ext uri="{BB962C8B-B14F-4D97-AF65-F5344CB8AC3E}">
        <p14:creationId xmlns:p14="http://schemas.microsoft.com/office/powerpoint/2010/main" val="1920116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E51F0E-5499-9A4E-C11B-F875E9825A4E}"/>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ECD572E7-3014-1AF0-8110-ED3E6D0D46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1" name="Rectangle 2">
            <a:extLst>
              <a:ext uri="{FF2B5EF4-FFF2-40B4-BE49-F238E27FC236}">
                <a16:creationId xmlns:a16="http://schemas.microsoft.com/office/drawing/2014/main" id="{52EC1AEA-FC0D-524E-75A0-401E30E79668}"/>
              </a:ext>
            </a:extLst>
          </p:cNvPr>
          <p:cNvSpPr>
            <a:spLocks noGrp="1" noChangeArrowheads="1"/>
          </p:cNvSpPr>
          <p:nvPr>
            <p:ph type="title"/>
          </p:nvPr>
        </p:nvSpPr>
        <p:spPr>
          <a:xfrm>
            <a:off x="841248" y="548640"/>
            <a:ext cx="3600860" cy="5431536"/>
          </a:xfrm>
        </p:spPr>
        <p:txBody>
          <a:bodyPr>
            <a:normAutofit/>
          </a:bodyPr>
          <a:lstStyle/>
          <a:p>
            <a:r>
              <a:rPr lang="en-US" altLang="en-US" sz="5400" dirty="0"/>
              <a:t>Output Boundary Testing</a:t>
            </a:r>
          </a:p>
        </p:txBody>
      </p:sp>
      <p:sp>
        <p:nvSpPr>
          <p:cNvPr id="75" name="sketch line">
            <a:extLst>
              <a:ext uri="{FF2B5EF4-FFF2-40B4-BE49-F238E27FC236}">
                <a16:creationId xmlns:a16="http://schemas.microsoft.com/office/drawing/2014/main" id="{04A5DEF5-979B-EEDB-C92A-C76C75CFC0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2" name="Rectangle 3">
            <a:extLst>
              <a:ext uri="{FF2B5EF4-FFF2-40B4-BE49-F238E27FC236}">
                <a16:creationId xmlns:a16="http://schemas.microsoft.com/office/drawing/2014/main" id="{BEFAFA94-EEA2-EDBC-6F83-E6EDF1DA83B7}"/>
              </a:ext>
            </a:extLst>
          </p:cNvPr>
          <p:cNvSpPr>
            <a:spLocks noGrp="1" noChangeArrowheads="1"/>
          </p:cNvSpPr>
          <p:nvPr>
            <p:ph type="body" idx="1"/>
          </p:nvPr>
        </p:nvSpPr>
        <p:spPr>
          <a:xfrm>
            <a:off x="5126418" y="552091"/>
            <a:ext cx="6224335" cy="5431536"/>
          </a:xfrm>
        </p:spPr>
        <p:txBody>
          <a:bodyPr anchor="ctr">
            <a:normAutofit/>
          </a:bodyPr>
          <a:lstStyle/>
          <a:p>
            <a:r>
              <a:rPr lang="en-US" altLang="en-US" sz="2200" dirty="0"/>
              <a:t>When the output has interesting boundary conditions that correspond to certain non-boundary input ranges</a:t>
            </a:r>
          </a:p>
          <a:p>
            <a:r>
              <a:rPr lang="en-US" altLang="en-US" sz="2200" dirty="0"/>
              <a:t>Examples: Income range tax computations, response size/detail based on load, physical controller behavior based in input value ranges, etc.</a:t>
            </a:r>
          </a:p>
          <a:p>
            <a:r>
              <a:rPr lang="en-US" altLang="en-US" sz="2200" dirty="0"/>
              <a:t>The idea is to confirm that output is correct in those boundary transition situations.</a:t>
            </a:r>
          </a:p>
        </p:txBody>
      </p:sp>
      <p:sp>
        <p:nvSpPr>
          <p:cNvPr id="27650" name="Slide Number Placeholder 5">
            <a:extLst>
              <a:ext uri="{FF2B5EF4-FFF2-40B4-BE49-F238E27FC236}">
                <a16:creationId xmlns:a16="http://schemas.microsoft.com/office/drawing/2014/main" id="{E9D9A663-CE1C-CE4F-2A7D-5638952FF8EF}"/>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4B5CD380-2E79-44B4-A939-CE24A2A7F158}" type="slidenum">
              <a:rPr lang="ar-SA" altLang="en-US" sz="1900" b="0"/>
              <a:pPr eaLnBrk="1" hangingPunct="1">
                <a:lnSpc>
                  <a:spcPct val="90000"/>
                </a:lnSpc>
                <a:spcAft>
                  <a:spcPts val="600"/>
                </a:spcAft>
              </a:pPr>
              <a:t>15</a:t>
            </a:fld>
            <a:endParaRPr lang="en-US" altLang="en-US" sz="1900" b="0"/>
          </a:p>
        </p:txBody>
      </p:sp>
    </p:spTree>
    <p:extLst>
      <p:ext uri="{BB962C8B-B14F-4D97-AF65-F5344CB8AC3E}">
        <p14:creationId xmlns:p14="http://schemas.microsoft.com/office/powerpoint/2010/main" val="31810621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8" name="Rectangle 2"/>
          <p:cNvSpPr>
            <a:spLocks noGrp="1" noChangeArrowheads="1"/>
          </p:cNvSpPr>
          <p:nvPr>
            <p:ph type="title"/>
          </p:nvPr>
        </p:nvSpPr>
        <p:spPr>
          <a:xfrm>
            <a:off x="793662" y="386930"/>
            <a:ext cx="10066122" cy="1298448"/>
          </a:xfrm>
        </p:spPr>
        <p:txBody>
          <a:bodyPr anchor="b">
            <a:normAutofit/>
          </a:bodyPr>
          <a:lstStyle/>
          <a:p>
            <a:r>
              <a:rPr lang="en-US" sz="4800">
                <a:latin typeface="Times New Roman" pitchFamily="18" charset="0"/>
              </a:rPr>
              <a:t>Equivalence Class Partitioning</a:t>
            </a:r>
          </a:p>
        </p:txBody>
      </p:sp>
      <p:sp>
        <p:nvSpPr>
          <p:cNvPr id="76" name="Rectangle 7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9" name="Rectangle 3"/>
          <p:cNvSpPr>
            <a:spLocks noGrp="1" noChangeArrowheads="1"/>
          </p:cNvSpPr>
          <p:nvPr>
            <p:ph type="body" orient="vert" idx="4294967295"/>
          </p:nvPr>
        </p:nvSpPr>
        <p:spPr>
          <a:xfrm>
            <a:off x="793661" y="2599509"/>
            <a:ext cx="4530898" cy="3639450"/>
          </a:xfrm>
        </p:spPr>
        <p:txBody>
          <a:bodyPr anchor="ctr">
            <a:normAutofit/>
          </a:bodyPr>
          <a:lstStyle/>
          <a:p>
            <a:r>
              <a:rPr lang="en-US" sz="1700">
                <a:latin typeface="Times New Roman" pitchFamily="18" charset="0"/>
              </a:rPr>
              <a:t>An input domain may be too large for all its elements to be used as test input </a:t>
            </a:r>
          </a:p>
          <a:p>
            <a:r>
              <a:rPr lang="en-US" sz="1700">
                <a:latin typeface="Times New Roman" pitchFamily="18" charset="0"/>
              </a:rPr>
              <a:t>The input domain is partitioned into a finite number of subdomains </a:t>
            </a:r>
          </a:p>
          <a:p>
            <a:r>
              <a:rPr lang="en-US" sz="1700">
                <a:latin typeface="Times New Roman" pitchFamily="18" charset="0"/>
              </a:rPr>
              <a:t>Each subdomain is known as an equivalence class, and it serves as a source of at least one test input </a:t>
            </a:r>
          </a:p>
          <a:p>
            <a:r>
              <a:rPr lang="en-US" sz="1700">
                <a:latin typeface="Times New Roman" pitchFamily="18" charset="0"/>
              </a:rPr>
              <a:t>A valid input to a system is an element of the input domain that is expected to return a non error value</a:t>
            </a:r>
          </a:p>
          <a:p>
            <a:r>
              <a:rPr lang="en-US" sz="1700">
                <a:latin typeface="Times New Roman" pitchFamily="18" charset="0"/>
              </a:rPr>
              <a:t>An invalid input is an input that is expected to return an error value.</a:t>
            </a:r>
          </a:p>
        </p:txBody>
      </p:sp>
      <p:pic>
        <p:nvPicPr>
          <p:cNvPr id="347141" name="Picture 5" descr="inputdomain"/>
          <p:cNvPicPr>
            <a:picLocks noGrp="1" noChangeAspect="1" noChangeArrowheads="1"/>
          </p:cNvPicPr>
          <p:nvPr>
            <p:ph idx="1"/>
          </p:nvPr>
        </p:nvPicPr>
        <p:blipFill>
          <a:blip r:embed="rId3" cstate="print"/>
          <a:stretch>
            <a:fillRect/>
          </a:stretch>
        </p:blipFill>
        <p:spPr>
          <a:xfrm>
            <a:off x="5911532" y="3043616"/>
            <a:ext cx="5150277" cy="2595522"/>
          </a:xfrm>
          <a:prstGeom prst="rect">
            <a:avLst/>
          </a:prstGeom>
        </p:spPr>
      </p:pic>
      <p:sp>
        <p:nvSpPr>
          <p:cNvPr id="80" name="Rectangle 7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9"/>
          <p:cNvSpPr>
            <a:spLocks noGrp="1" noChangeArrowheads="1"/>
          </p:cNvSpPr>
          <p:nvPr>
            <p:ph type="sldNum" sz="quarter" idx="12"/>
          </p:nvPr>
        </p:nvSpPr>
        <p:spPr>
          <a:xfrm>
            <a:off x="8610600" y="6492240"/>
            <a:ext cx="2743200" cy="365125"/>
          </a:xfrm>
        </p:spPr>
        <p:txBody>
          <a:bodyPr>
            <a:normAutofit/>
          </a:bodyPr>
          <a:lstStyle/>
          <a:p>
            <a:pPr>
              <a:spcAft>
                <a:spcPts val="600"/>
              </a:spcAft>
            </a:pPr>
            <a:fld id="{486361E6-C01A-4CDE-BD94-23E495283BBE}" type="slidenum">
              <a:rPr lang="en-US"/>
              <a:pPr>
                <a:spcAft>
                  <a:spcPts val="600"/>
                </a:spcAft>
              </a:pPr>
              <a:t>16</a:t>
            </a:fld>
            <a:endParaRPr lang="en-US"/>
          </a:p>
        </p:txBody>
      </p:sp>
    </p:spTree>
    <p:extLst>
      <p:ext uri="{BB962C8B-B14F-4D97-AF65-F5344CB8AC3E}">
        <p14:creationId xmlns:p14="http://schemas.microsoft.com/office/powerpoint/2010/main" val="90346830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noFill/>
        </p:spPr>
        <p:txBody>
          <a:bodyPr vert="horz" lIns="90840" tIns="44623" rIns="90840" bIns="44623" rtlCol="0" anchor="ctr">
            <a:normAutofit/>
          </a:bodyPr>
          <a:lstStyle/>
          <a:p>
            <a:r>
              <a:rPr lang="en-GB" altLang="en-US"/>
              <a:t>Equivalence partitioning</a:t>
            </a:r>
          </a:p>
        </p:txBody>
      </p:sp>
      <p:pic>
        <p:nvPicPr>
          <p:cNvPr id="18435"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1926" y="2057401"/>
            <a:ext cx="4056063" cy="4257675"/>
          </a:xfrm>
          <a:prstGeom prst="rect">
            <a:avLst/>
          </a:prstGeom>
          <a:solidFill>
            <a:schemeClr val="accent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1843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E08FD350-A606-4809-BFEF-8E12175A2892}" type="slidenum">
              <a:rPr lang="en-US" altLang="en-US" sz="1400" b="0"/>
              <a:pPr eaLnBrk="1" hangingPunct="1"/>
              <a:t>17</a:t>
            </a:fld>
            <a:endParaRPr lang="en-US" altLang="en-US" sz="1400" b="0"/>
          </a:p>
        </p:txBody>
      </p:sp>
    </p:spTree>
    <p:extLst>
      <p:ext uri="{BB962C8B-B14F-4D97-AF65-F5344CB8AC3E}">
        <p14:creationId xmlns:p14="http://schemas.microsoft.com/office/powerpoint/2010/main" val="1942907334"/>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8" name="Rectangle 13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0210"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Guidelines for Equivalence Class Partitioning</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56946B57-7E72-44F3-A04C-250728E35EF9}" type="slidenum">
              <a:rPr lang="en-US" sz="1100">
                <a:solidFill>
                  <a:schemeClr val="tx1">
                    <a:lumMod val="50000"/>
                    <a:lumOff val="50000"/>
                  </a:schemeClr>
                </a:solidFill>
              </a:rPr>
              <a:pPr>
                <a:spcAft>
                  <a:spcPts val="600"/>
                </a:spcAft>
              </a:pPr>
              <a:t>18</a:t>
            </a:fld>
            <a:endParaRPr lang="en-US" sz="1100">
              <a:solidFill>
                <a:schemeClr val="tx1">
                  <a:lumMod val="50000"/>
                  <a:lumOff val="50000"/>
                </a:schemeClr>
              </a:solidFill>
            </a:endParaRPr>
          </a:p>
        </p:txBody>
      </p:sp>
      <p:graphicFrame>
        <p:nvGraphicFramePr>
          <p:cNvPr id="350213" name="Rectangle 3">
            <a:extLst>
              <a:ext uri="{FF2B5EF4-FFF2-40B4-BE49-F238E27FC236}">
                <a16:creationId xmlns:a16="http://schemas.microsoft.com/office/drawing/2014/main" id="{62206461-7AEA-43B7-ACCF-5802FAB09538}"/>
              </a:ext>
            </a:extLst>
          </p:cNvPr>
          <p:cNvGraphicFramePr>
            <a:graphicFrameLocks noGrp="1"/>
          </p:cNvGraphicFramePr>
          <p:nvPr>
            <p:ph idx="1"/>
            <p:extLst>
              <p:ext uri="{D42A27DB-BD31-4B8C-83A1-F6EECF244321}">
                <p14:modId xmlns:p14="http://schemas.microsoft.com/office/powerpoint/2010/main" val="3993385813"/>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2996211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482" name="Title 1"/>
          <p:cNvSpPr>
            <a:spLocks noGrp="1"/>
          </p:cNvSpPr>
          <p:nvPr>
            <p:ph type="title"/>
          </p:nvPr>
        </p:nvSpPr>
        <p:spPr>
          <a:xfrm>
            <a:off x="524741" y="620392"/>
            <a:ext cx="3808268" cy="5504688"/>
          </a:xfrm>
        </p:spPr>
        <p:txBody>
          <a:bodyPr>
            <a:normAutofit/>
          </a:bodyPr>
          <a:lstStyle/>
          <a:p>
            <a:r>
              <a:rPr lang="en-US" altLang="en-US" sz="6000" b="1">
                <a:solidFill>
                  <a:schemeClr val="bg1"/>
                </a:solidFill>
              </a:rPr>
              <a:t>Equivalence Partitioning Exercises</a:t>
            </a:r>
            <a:endParaRPr lang="en-CA" altLang="en-US" sz="6000">
              <a:solidFill>
                <a:schemeClr val="bg1"/>
              </a:solidFill>
            </a:endParaRPr>
          </a:p>
        </p:txBody>
      </p:sp>
      <p:sp>
        <p:nvSpPr>
          <p:cNvPr id="20485" name="Slide Number Placeholder 4"/>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8867F5A0-416E-4006-A913-9BE75B1B59D6}" type="slidenum">
              <a:rPr lang="en-US" altLang="en-US" sz="1900" b="0"/>
              <a:pPr eaLnBrk="1" hangingPunct="1">
                <a:lnSpc>
                  <a:spcPct val="90000"/>
                </a:lnSpc>
                <a:spcAft>
                  <a:spcPts val="600"/>
                </a:spcAft>
              </a:pPr>
              <a:t>19</a:t>
            </a:fld>
            <a:endParaRPr lang="en-US" altLang="en-US" sz="1900" b="0"/>
          </a:p>
        </p:txBody>
      </p:sp>
      <p:graphicFrame>
        <p:nvGraphicFramePr>
          <p:cNvPr id="20487" name="Content Placeholder 2">
            <a:extLst>
              <a:ext uri="{FF2B5EF4-FFF2-40B4-BE49-F238E27FC236}">
                <a16:creationId xmlns:a16="http://schemas.microsoft.com/office/drawing/2014/main" id="{47994E84-F328-46DC-A49A-5B01FAD5211D}"/>
              </a:ext>
            </a:extLst>
          </p:cNvPr>
          <p:cNvGraphicFramePr>
            <a:graphicFrameLocks noGrp="1"/>
          </p:cNvGraphicFramePr>
          <p:nvPr>
            <p:ph idx="1"/>
            <p:extLst>
              <p:ext uri="{D42A27DB-BD31-4B8C-83A1-F6EECF244321}">
                <p14:modId xmlns:p14="http://schemas.microsoft.com/office/powerpoint/2010/main" val="2910166676"/>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78831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4306" name="Rectangle 2"/>
          <p:cNvSpPr>
            <a:spLocks noGrp="1" noChangeArrowheads="1"/>
          </p:cNvSpPr>
          <p:nvPr>
            <p:ph type="title"/>
          </p:nvPr>
        </p:nvSpPr>
        <p:spPr>
          <a:xfrm>
            <a:off x="524741" y="620392"/>
            <a:ext cx="3808268" cy="5504688"/>
          </a:xfrm>
        </p:spPr>
        <p:txBody>
          <a:bodyPr>
            <a:normAutofit/>
          </a:bodyPr>
          <a:lstStyle/>
          <a:p>
            <a:r>
              <a:rPr lang="en-US" sz="5600">
                <a:solidFill>
                  <a:schemeClr val="bg1"/>
                </a:solidFill>
                <a:latin typeface="Times New Roman" pitchFamily="18" charset="0"/>
              </a:rPr>
              <a:t>Advantages of Equivalence Class Partitioning</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2FC50A7B-3E4F-4F0D-98C0-B8DEE1B6D495}" type="slidenum">
              <a:rPr lang="en-US"/>
              <a:pPr>
                <a:spcAft>
                  <a:spcPts val="600"/>
                </a:spcAft>
              </a:pPr>
              <a:t>20</a:t>
            </a:fld>
            <a:endParaRPr lang="en-US"/>
          </a:p>
        </p:txBody>
      </p:sp>
      <p:graphicFrame>
        <p:nvGraphicFramePr>
          <p:cNvPr id="354309" name="Rectangle 3">
            <a:extLst>
              <a:ext uri="{FF2B5EF4-FFF2-40B4-BE49-F238E27FC236}">
                <a16:creationId xmlns:a16="http://schemas.microsoft.com/office/drawing/2014/main" id="{D3D55323-F9E9-4579-A422-B4FB4C3F9A5F}"/>
              </a:ext>
            </a:extLst>
          </p:cNvPr>
          <p:cNvGraphicFramePr>
            <a:graphicFrameLocks noGrp="1"/>
          </p:cNvGraphicFramePr>
          <p:nvPr>
            <p:ph idx="1"/>
            <p:extLst>
              <p:ext uri="{D42A27DB-BD31-4B8C-83A1-F6EECF244321}">
                <p14:modId xmlns:p14="http://schemas.microsoft.com/office/powerpoint/2010/main" val="2595577103"/>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483926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7E319851-AA51-44A8-A1AF-C93D87D76DD7}" type="slidenum">
              <a:rPr lang="ar-SA" altLang="en-US" sz="1400" b="0"/>
              <a:pPr eaLnBrk="1" hangingPunct="1"/>
              <a:t>21</a:t>
            </a:fld>
            <a:endParaRPr lang="en-US" altLang="en-US" sz="1400" b="0"/>
          </a:p>
        </p:txBody>
      </p:sp>
      <p:sp>
        <p:nvSpPr>
          <p:cNvPr id="22531" name="Rectangle 2"/>
          <p:cNvSpPr>
            <a:spLocks noGrp="1" noChangeArrowheads="1"/>
          </p:cNvSpPr>
          <p:nvPr>
            <p:ph type="title"/>
          </p:nvPr>
        </p:nvSpPr>
        <p:spPr/>
        <p:txBody>
          <a:bodyPr/>
          <a:lstStyle/>
          <a:p>
            <a:pPr algn="ctr"/>
            <a:r>
              <a:rPr lang="en-US" altLang="en-US" sz="3600"/>
              <a:t>Equivalence partitioning of output variables example: Triangle Problem</a:t>
            </a:r>
          </a:p>
        </p:txBody>
      </p:sp>
      <p:sp>
        <p:nvSpPr>
          <p:cNvPr id="22532" name="Rectangle 3"/>
          <p:cNvSpPr>
            <a:spLocks noGrp="1" noChangeArrowheads="1"/>
          </p:cNvSpPr>
          <p:nvPr>
            <p:ph type="body" sz="half" idx="1"/>
          </p:nvPr>
        </p:nvSpPr>
        <p:spPr>
          <a:xfrm>
            <a:off x="1524000" y="1981200"/>
            <a:ext cx="8305800" cy="4114800"/>
          </a:xfrm>
        </p:spPr>
        <p:txBody>
          <a:bodyPr/>
          <a:lstStyle/>
          <a:p>
            <a:r>
              <a:rPr lang="en-US" altLang="en-US" sz="2600"/>
              <a:t>We note that four possible outputs can occur: </a:t>
            </a:r>
          </a:p>
          <a:p>
            <a:pPr lvl="1"/>
            <a:r>
              <a:rPr lang="en-US" altLang="en-US" sz="2200"/>
              <a:t>Not-A-triangle, Scalene, Isosceles, Equilateral. </a:t>
            </a:r>
          </a:p>
          <a:p>
            <a:pPr lvl="1"/>
            <a:r>
              <a:rPr lang="en-US" altLang="en-US" sz="2200"/>
              <a:t>These are used to identify output range equivalence classes </a:t>
            </a:r>
          </a:p>
          <a:p>
            <a:pPr lvl="1">
              <a:buFont typeface="Wingdings" pitchFamily="2" charset="2"/>
              <a:buNone/>
            </a:pPr>
            <a:r>
              <a:rPr lang="en-US" altLang="en-US" sz="2200"/>
              <a:t>  </a:t>
            </a:r>
          </a:p>
        </p:txBody>
      </p:sp>
      <p:pic>
        <p:nvPicPr>
          <p:cNvPr id="10137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3886201"/>
            <a:ext cx="8291513" cy="1973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19704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13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6F9904E9-2D1A-471E-A4F8-C2CA15DBC960}" type="slidenum">
              <a:rPr lang="en-US" altLang="en-US" sz="1400" b="0"/>
              <a:pPr eaLnBrk="1" hangingPunct="1"/>
              <a:t>22</a:t>
            </a:fld>
            <a:endParaRPr lang="en-US" altLang="en-US" sz="1400" b="0"/>
          </a:p>
        </p:txBody>
      </p:sp>
      <p:sp>
        <p:nvSpPr>
          <p:cNvPr id="45060" name="Rectangle 2"/>
          <p:cNvSpPr>
            <a:spLocks noGrp="1" noChangeArrowheads="1"/>
          </p:cNvSpPr>
          <p:nvPr>
            <p:ph type="title"/>
          </p:nvPr>
        </p:nvSpPr>
        <p:spPr>
          <a:xfrm>
            <a:off x="1724026" y="0"/>
            <a:ext cx="8943975" cy="1752600"/>
          </a:xfrm>
          <a:solidFill>
            <a:schemeClr val="bg1"/>
          </a:solidFill>
        </p:spPr>
        <p:txBody>
          <a:bodyPr/>
          <a:lstStyle/>
          <a:p>
            <a:pPr algn="ctr" eaLnBrk="1" hangingPunct="1"/>
            <a:r>
              <a:rPr lang="en-US" altLang="en-US" sz="3200"/>
              <a:t>Technical Method for deriving test cases from Requirements Specification based on Logic: </a:t>
            </a:r>
            <a:r>
              <a:rPr lang="en-US" altLang="en-US" sz="3200" b="1"/>
              <a:t>Decision Table</a:t>
            </a:r>
            <a:r>
              <a:rPr lang="en-US" altLang="en-US" sz="4000" b="1"/>
              <a:t>  </a:t>
            </a:r>
          </a:p>
        </p:txBody>
      </p:sp>
      <p:sp>
        <p:nvSpPr>
          <p:cNvPr id="45061" name="Rectangle 3"/>
          <p:cNvSpPr>
            <a:spLocks noGrp="1" noChangeArrowheads="1"/>
          </p:cNvSpPr>
          <p:nvPr>
            <p:ph type="body" idx="1"/>
          </p:nvPr>
        </p:nvSpPr>
        <p:spPr/>
        <p:txBody>
          <a:bodyPr/>
          <a:lstStyle/>
          <a:p>
            <a:pPr eaLnBrk="1" hangingPunct="1"/>
            <a:r>
              <a:rPr lang="en-US" altLang="en-US"/>
              <a:t>Uses a tabular format to map the logic behind a decision-making process</a:t>
            </a:r>
          </a:p>
          <a:p>
            <a:pPr eaLnBrk="1" hangingPunct="1"/>
            <a:r>
              <a:rPr lang="en-US" altLang="en-US"/>
              <a:t>Display a combination of conditions to be met and actions to be taken</a:t>
            </a:r>
          </a:p>
          <a:p>
            <a:pPr eaLnBrk="1" hangingPunct="1"/>
            <a:r>
              <a:rPr lang="en-US" altLang="en-US"/>
              <a:t>Single condition/action:</a:t>
            </a:r>
          </a:p>
          <a:p>
            <a:pPr lvl="1" eaLnBrk="1" hangingPunct="1">
              <a:buFont typeface="Wingdings" pitchFamily="2" charset="2"/>
              <a:buNone/>
            </a:pPr>
            <a:r>
              <a:rPr lang="en-US" altLang="en-US" i="1"/>
              <a:t>	If there is smoke (condition)</a:t>
            </a:r>
            <a:br>
              <a:rPr lang="en-US" altLang="en-US" i="1"/>
            </a:br>
            <a:r>
              <a:rPr lang="en-US" altLang="en-US" i="1"/>
              <a:t>then push the fire alarm (action)</a:t>
            </a:r>
            <a:endParaRPr lang="en-US" altLang="en-US"/>
          </a:p>
        </p:txBody>
      </p:sp>
    </p:spTree>
    <p:extLst>
      <p:ext uri="{BB962C8B-B14F-4D97-AF65-F5344CB8AC3E}">
        <p14:creationId xmlns:p14="http://schemas.microsoft.com/office/powerpoint/2010/main" val="23333640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F1A15086-A447-4216-A3D5-74609CA016B0}" type="slidenum">
              <a:rPr lang="en-US" altLang="en-US" sz="1400" b="0"/>
              <a:pPr eaLnBrk="1" hangingPunct="1"/>
              <a:t>23</a:t>
            </a:fld>
            <a:endParaRPr lang="en-US" altLang="en-US" sz="1400" b="0"/>
          </a:p>
        </p:txBody>
      </p:sp>
      <p:sp>
        <p:nvSpPr>
          <p:cNvPr id="48132" name="Rectangle 2"/>
          <p:cNvSpPr>
            <a:spLocks noGrp="1" noChangeArrowheads="1"/>
          </p:cNvSpPr>
          <p:nvPr>
            <p:ph type="title"/>
          </p:nvPr>
        </p:nvSpPr>
        <p:spPr/>
        <p:txBody>
          <a:bodyPr>
            <a:normAutofit/>
          </a:bodyPr>
          <a:lstStyle/>
          <a:p>
            <a:pPr eaLnBrk="1" hangingPunct="1"/>
            <a:r>
              <a:rPr lang="en-US" altLang="en-US"/>
              <a:t>Illustration of the use of a decision table (Pressman)</a:t>
            </a:r>
          </a:p>
        </p:txBody>
      </p:sp>
      <p:sp>
        <p:nvSpPr>
          <p:cNvPr id="48133" name="Rectangle 3"/>
          <p:cNvSpPr>
            <a:spLocks noGrp="1" noChangeArrowheads="1"/>
          </p:cNvSpPr>
          <p:nvPr>
            <p:ph type="body" idx="1"/>
          </p:nvPr>
        </p:nvSpPr>
        <p:spPr>
          <a:xfrm>
            <a:off x="1712914" y="2057400"/>
            <a:ext cx="8955087" cy="4114800"/>
          </a:xfrm>
        </p:spPr>
        <p:txBody>
          <a:bodyPr/>
          <a:lstStyle/>
          <a:p>
            <a:pPr eaLnBrk="1" hangingPunct="1">
              <a:lnSpc>
                <a:spcPct val="90000"/>
              </a:lnSpc>
            </a:pPr>
            <a:r>
              <a:rPr lang="en-US" altLang="en-US" sz="2400"/>
              <a:t>Three types of customers are defined: a regular, a silver customer, and a gold customer.</a:t>
            </a:r>
          </a:p>
          <a:p>
            <a:pPr eaLnBrk="1" hangingPunct="1">
              <a:lnSpc>
                <a:spcPct val="90000"/>
              </a:lnSpc>
            </a:pPr>
            <a:r>
              <a:rPr lang="en-US" altLang="en-US" sz="2400"/>
              <a:t>A </a:t>
            </a:r>
            <a:r>
              <a:rPr lang="en-US" altLang="en-US" sz="2400" u="sng"/>
              <a:t>regular customer</a:t>
            </a:r>
            <a:r>
              <a:rPr lang="en-US" altLang="en-US" sz="2400"/>
              <a:t> receives normal print rates ad delivery.</a:t>
            </a:r>
          </a:p>
          <a:p>
            <a:pPr eaLnBrk="1" hangingPunct="1">
              <a:lnSpc>
                <a:spcPct val="90000"/>
              </a:lnSpc>
            </a:pPr>
            <a:r>
              <a:rPr lang="en-US" altLang="en-US" sz="2400"/>
              <a:t>A </a:t>
            </a:r>
            <a:r>
              <a:rPr lang="en-US" altLang="en-US" sz="2400" u="sng"/>
              <a:t>silver customer</a:t>
            </a:r>
            <a:r>
              <a:rPr lang="en-US" altLang="en-US" sz="2400"/>
              <a:t> gets an 8% discount on all quotes and is placed ahead of all regular customers in the job queue.</a:t>
            </a:r>
          </a:p>
          <a:p>
            <a:pPr eaLnBrk="1" hangingPunct="1">
              <a:lnSpc>
                <a:spcPct val="90000"/>
              </a:lnSpc>
            </a:pPr>
            <a:r>
              <a:rPr lang="en-US" altLang="en-US" sz="2400"/>
              <a:t>A </a:t>
            </a:r>
            <a:r>
              <a:rPr lang="en-US" altLang="en-US" sz="2400" u="sng"/>
              <a:t>gold customer</a:t>
            </a:r>
            <a:r>
              <a:rPr lang="en-US" altLang="en-US" sz="2400"/>
              <a:t> gets a 15% reduction in quoted prices and is placed ahead of both regular and silver customers in the job queue.</a:t>
            </a:r>
          </a:p>
          <a:p>
            <a:pPr eaLnBrk="1" hangingPunct="1">
              <a:lnSpc>
                <a:spcPct val="90000"/>
              </a:lnSpc>
            </a:pPr>
            <a:r>
              <a:rPr lang="en-US" altLang="en-US" sz="2400"/>
              <a:t>A </a:t>
            </a:r>
            <a:r>
              <a:rPr lang="en-US" altLang="en-US" sz="2400" u="sng"/>
              <a:t>special discount of</a:t>
            </a:r>
            <a:r>
              <a:rPr lang="en-US" altLang="en-US" sz="2400"/>
              <a:t> x% in addition to other discounts can be applied to any customer’s quote at the discretion of management.</a:t>
            </a:r>
          </a:p>
        </p:txBody>
      </p:sp>
    </p:spTree>
    <p:extLst>
      <p:ext uri="{BB962C8B-B14F-4D97-AF65-F5344CB8AC3E}">
        <p14:creationId xmlns:p14="http://schemas.microsoft.com/office/powerpoint/2010/main" val="94647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56" name="Rectangle 2"/>
          <p:cNvSpPr>
            <a:spLocks noGrp="1" noChangeArrowheads="1"/>
          </p:cNvSpPr>
          <p:nvPr>
            <p:ph type="title"/>
          </p:nvPr>
        </p:nvSpPr>
        <p:spPr>
          <a:xfrm>
            <a:off x="1028700" y="1967266"/>
            <a:ext cx="2628900" cy="2547257"/>
          </a:xfrm>
          <a:noFill/>
        </p:spPr>
        <p:txBody>
          <a:bodyPr vert="horz" lIns="91440" tIns="45720" rIns="91440" bIns="45720" rtlCol="0" anchor="ctr">
            <a:normAutofit/>
          </a:bodyPr>
          <a:lstStyle/>
          <a:p>
            <a:pPr algn="ctr"/>
            <a:r>
              <a:rPr lang="en-US" altLang="en-US" sz="3600" kern="1200">
                <a:solidFill>
                  <a:srgbClr val="FFFFFF"/>
                </a:solidFill>
                <a:latin typeface="+mj-lt"/>
                <a:ea typeface="+mj-ea"/>
                <a:cs typeface="+mj-cs"/>
              </a:rPr>
              <a:t>Solution?</a:t>
            </a:r>
          </a:p>
        </p:txBody>
      </p:sp>
      <p:pic>
        <p:nvPicPr>
          <p:cNvPr id="47109"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85426" y="643466"/>
            <a:ext cx="6764480" cy="556873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5" name="Slide Number Placeholder 5"/>
          <p:cNvSpPr>
            <a:spLocks noGrp="1"/>
          </p:cNvSpPr>
          <p:nvPr>
            <p:ph type="sldNum" sz="quarter" idx="12"/>
          </p:nvPr>
        </p:nvSpPr>
        <p:spPr>
          <a:xfrm>
            <a:off x="11034184" y="6356350"/>
            <a:ext cx="514349"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BEA066FE-78DB-4FEC-9D5B-1E4806ABB721}" type="slidenum">
              <a:rPr lang="en-US" altLang="en-US" sz="1200" b="0">
                <a:solidFill>
                  <a:schemeClr val="tx1">
                    <a:alpha val="80000"/>
                  </a:schemeClr>
                </a:solidFill>
                <a:latin typeface="+mn-lt"/>
              </a:rPr>
              <a:pPr eaLnBrk="1" hangingPunct="1">
                <a:spcAft>
                  <a:spcPts val="600"/>
                </a:spcAft>
              </a:pPr>
              <a:t>24</a:t>
            </a:fld>
            <a:endParaRPr lang="en-US" altLang="en-US" sz="1200" b="0">
              <a:solidFill>
                <a:schemeClr val="tx1">
                  <a:alpha val="80000"/>
                </a:schemeClr>
              </a:solidFill>
              <a:latin typeface="+mn-lt"/>
            </a:endParaRPr>
          </a:p>
        </p:txBody>
      </p:sp>
    </p:spTree>
    <p:extLst>
      <p:ext uri="{BB962C8B-B14F-4D97-AF65-F5344CB8AC3E}">
        <p14:creationId xmlns:p14="http://schemas.microsoft.com/office/powerpoint/2010/main" val="36054608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71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Shape 75">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84" name="Rectangle 2"/>
          <p:cNvSpPr>
            <a:spLocks noGrp="1" noChangeArrowheads="1"/>
          </p:cNvSpPr>
          <p:nvPr>
            <p:ph type="title"/>
          </p:nvPr>
        </p:nvSpPr>
        <p:spPr>
          <a:xfrm>
            <a:off x="686834" y="1153572"/>
            <a:ext cx="3200400" cy="4461163"/>
          </a:xfrm>
        </p:spPr>
        <p:txBody>
          <a:bodyPr>
            <a:normAutofit/>
          </a:bodyPr>
          <a:lstStyle/>
          <a:p>
            <a:pPr eaLnBrk="1" hangingPunct="1"/>
            <a:r>
              <a:rPr lang="en-US" altLang="en-US">
                <a:solidFill>
                  <a:srgbClr val="FFFFFF"/>
                </a:solidFill>
              </a:rPr>
              <a:t>Constructing a Decision Table</a:t>
            </a:r>
          </a:p>
        </p:txBody>
      </p:sp>
      <p:sp>
        <p:nvSpPr>
          <p:cNvPr id="78" name="Arc 77">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6085" name="Rectangle 3"/>
          <p:cNvSpPr>
            <a:spLocks noGrp="1" noChangeArrowheads="1"/>
          </p:cNvSpPr>
          <p:nvPr>
            <p:ph type="body" idx="1"/>
          </p:nvPr>
        </p:nvSpPr>
        <p:spPr>
          <a:xfrm>
            <a:off x="4447308" y="591344"/>
            <a:ext cx="6906491" cy="5585619"/>
          </a:xfrm>
        </p:spPr>
        <p:txBody>
          <a:bodyPr anchor="ctr">
            <a:normAutofit/>
          </a:bodyPr>
          <a:lstStyle/>
          <a:p>
            <a:pPr marL="609600" indent="-609600">
              <a:buFont typeface="Wingdings" pitchFamily="2" charset="2"/>
              <a:buAutoNum type="arabicPeriod"/>
            </a:pPr>
            <a:r>
              <a:rPr lang="en-US" altLang="en-US"/>
              <a:t>List all actions that can be associated with a specific usage of the software system</a:t>
            </a:r>
          </a:p>
          <a:p>
            <a:pPr marL="609600" indent="-609600">
              <a:buFont typeface="Wingdings" pitchFamily="2" charset="2"/>
              <a:buAutoNum type="arabicPeriod"/>
            </a:pPr>
            <a:r>
              <a:rPr lang="en-US" altLang="en-US"/>
              <a:t>List all conditions during the usage</a:t>
            </a:r>
          </a:p>
          <a:p>
            <a:pPr marL="609600" indent="-609600">
              <a:buFont typeface="Wingdings" pitchFamily="2" charset="2"/>
              <a:buAutoNum type="arabicPeriod"/>
            </a:pPr>
            <a:r>
              <a:rPr lang="en-US" altLang="en-US"/>
              <a:t>Associate specific sets of conditions with specific actions</a:t>
            </a:r>
          </a:p>
          <a:p>
            <a:pPr marL="609600" indent="-609600">
              <a:buFont typeface="Wingdings" pitchFamily="2" charset="2"/>
              <a:buAutoNum type="arabicPeriod"/>
            </a:pPr>
            <a:r>
              <a:rPr lang="en-US" altLang="en-US"/>
              <a:t>Define rules by indicating what action(s) occurs for a set of conditions</a:t>
            </a:r>
          </a:p>
        </p:txBody>
      </p:sp>
      <p:sp>
        <p:nvSpPr>
          <p:cNvPr id="46083" name="Slide Number Placeholder 5"/>
          <p:cNvSpPr>
            <a:spLocks noGrp="1"/>
          </p:cNvSpPr>
          <p:nvPr>
            <p:ph type="sldNum" sz="quarter" idx="12"/>
          </p:nvPr>
        </p:nvSpPr>
        <p:spPr>
          <a:xfrm>
            <a:off x="9541564" y="6356350"/>
            <a:ext cx="1812235"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132EA2AB-D443-4E5E-9389-6FBCCD5222F0}" type="slidenum">
              <a:rPr lang="en-US" altLang="en-US" sz="1900" b="0"/>
              <a:pPr eaLnBrk="1" hangingPunct="1">
                <a:lnSpc>
                  <a:spcPct val="90000"/>
                </a:lnSpc>
                <a:spcAft>
                  <a:spcPts val="600"/>
                </a:spcAft>
              </a:pPr>
              <a:t>25</a:t>
            </a:fld>
            <a:endParaRPr lang="en-US" altLang="en-US" sz="1900" b="0"/>
          </a:p>
        </p:txBody>
      </p:sp>
    </p:spTree>
    <p:extLst>
      <p:ext uri="{BB962C8B-B14F-4D97-AF65-F5344CB8AC3E}">
        <p14:creationId xmlns:p14="http://schemas.microsoft.com/office/powerpoint/2010/main" val="19769522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Oval 19">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F29EDED-4E37-4E10-9AB1-BB276C495F6E}"/>
              </a:ext>
            </a:extLst>
          </p:cNvPr>
          <p:cNvSpPr>
            <a:spLocks noGrp="1"/>
          </p:cNvSpPr>
          <p:nvPr>
            <p:ph type="title"/>
          </p:nvPr>
        </p:nvSpPr>
        <p:spPr>
          <a:xfrm>
            <a:off x="2156772" y="1311420"/>
            <a:ext cx="6714699" cy="3178689"/>
          </a:xfrm>
        </p:spPr>
        <p:txBody>
          <a:bodyPr vert="horz" lIns="91440" tIns="45720" rIns="91440" bIns="45720" rtlCol="0" anchor="b">
            <a:normAutofit/>
          </a:bodyPr>
          <a:lstStyle/>
          <a:p>
            <a:r>
              <a:rPr lang="en-US" sz="4800" kern="1200" dirty="0">
                <a:solidFill>
                  <a:srgbClr val="FFFFFF"/>
                </a:solidFill>
                <a:latin typeface="+mj-lt"/>
                <a:ea typeface="+mj-ea"/>
                <a:cs typeface="+mj-cs"/>
              </a:rPr>
              <a:t>Pair-wise Testing (All-Pairs Testing)</a:t>
            </a:r>
          </a:p>
        </p:txBody>
      </p:sp>
      <p:sp>
        <p:nvSpPr>
          <p:cNvPr id="22" name="Rectangle 21">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01948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Rectangle 124"/>
          <p:cNvSpPr/>
          <p:nvPr/>
        </p:nvSpPr>
        <p:spPr bwMode="gray">
          <a:xfrm>
            <a:off x="1840735" y="3196184"/>
            <a:ext cx="8658578" cy="2641460"/>
          </a:xfrm>
          <a:prstGeom prst="rect">
            <a:avLst/>
          </a:prstGeom>
          <a:solidFill>
            <a:schemeClr val="bg1">
              <a:lumMod val="95000"/>
              <a:alpha val="29000"/>
            </a:schemeClr>
          </a:solidFill>
          <a:ln w="9525" algn="ctr">
            <a:solidFill>
              <a:schemeClr val="tx2">
                <a:lumMod val="40000"/>
                <a:lumOff val="60000"/>
              </a:schemeClr>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2056973" y="0"/>
            <a:ext cx="8229600" cy="1143000"/>
          </a:xfrm>
        </p:spPr>
        <p:txBody>
          <a:bodyPr/>
          <a:lstStyle/>
          <a:p>
            <a:r>
              <a:rPr lang="en-US" dirty="0">
                <a:solidFill>
                  <a:schemeClr val="tx1"/>
                </a:solidFill>
              </a:rPr>
              <a:t>All-Pairs Testing – the Basic Idea</a:t>
            </a:r>
          </a:p>
        </p:txBody>
      </p:sp>
      <p:sp>
        <p:nvSpPr>
          <p:cNvPr id="120" name="Content Placeholder 119"/>
          <p:cNvSpPr>
            <a:spLocks noGrp="1"/>
          </p:cNvSpPr>
          <p:nvPr>
            <p:ph idx="1"/>
          </p:nvPr>
        </p:nvSpPr>
        <p:spPr>
          <a:xfrm>
            <a:off x="1786045" y="1248032"/>
            <a:ext cx="8841600" cy="2048488"/>
          </a:xfrm>
        </p:spPr>
        <p:txBody>
          <a:bodyPr>
            <a:normAutofit/>
          </a:bodyPr>
          <a:lstStyle/>
          <a:p>
            <a:r>
              <a:rPr lang="en-US" dirty="0"/>
              <a:t>What does it mean to "combine all pairs"?</a:t>
            </a:r>
          </a:p>
          <a:p>
            <a:pPr lvl="1">
              <a:spcBef>
                <a:spcPts val="300"/>
              </a:spcBef>
              <a:defRPr/>
            </a:pPr>
            <a:r>
              <a:rPr lang="en-US" sz="1400" dirty="0"/>
              <a:t>Consider a function with 3 parameters p1, p2, p3 and possible values of 0,1 for each</a:t>
            </a:r>
          </a:p>
          <a:p>
            <a:pPr lvl="1">
              <a:spcBef>
                <a:spcPts val="300"/>
              </a:spcBef>
              <a:defRPr/>
            </a:pPr>
            <a:r>
              <a:rPr lang="en-US" sz="1400" dirty="0"/>
              <a:t>(A) "All values appear once" </a:t>
            </a:r>
            <a:r>
              <a:rPr lang="en-US" sz="1400" dirty="0">
                <a:sym typeface="Wingdings" pitchFamily="2" charset="2"/>
              </a:rPr>
              <a:t> two test cases </a:t>
            </a:r>
          </a:p>
          <a:p>
            <a:pPr lvl="1">
              <a:spcBef>
                <a:spcPts val="300"/>
              </a:spcBef>
              <a:defRPr/>
            </a:pPr>
            <a:r>
              <a:rPr lang="en-US" sz="1400" dirty="0">
                <a:sym typeface="Wingdings" pitchFamily="2" charset="2"/>
              </a:rPr>
              <a:t>(B) "All combinations appear once"  2^n = 8 TCs</a:t>
            </a:r>
          </a:p>
          <a:p>
            <a:pPr lvl="1">
              <a:spcBef>
                <a:spcPts val="300"/>
              </a:spcBef>
              <a:defRPr/>
            </a:pPr>
            <a:r>
              <a:rPr lang="en-US" sz="1400" dirty="0">
                <a:sym typeface="Wingdings" pitchFamily="2" charset="2"/>
              </a:rPr>
              <a:t>(C) "All value pairs": O</a:t>
            </a:r>
            <a:r>
              <a:rPr lang="en-US" sz="1400" dirty="0"/>
              <a:t>nly generate </a:t>
            </a:r>
            <a:r>
              <a:rPr lang="en-US" sz="1400" i="1" dirty="0"/>
              <a:t>all combinations for parameter pairs</a:t>
            </a:r>
            <a:r>
              <a:rPr lang="en-US" sz="1400" dirty="0"/>
              <a:t>  (p1-p2, p1-p3, p2-p3) and </a:t>
            </a:r>
            <a:r>
              <a:rPr lang="en-US" sz="1400" i="1" dirty="0"/>
              <a:t>'merge</a:t>
            </a:r>
            <a:r>
              <a:rPr lang="en-US" sz="1400" dirty="0"/>
              <a:t> them into test cases'</a:t>
            </a:r>
          </a:p>
          <a:p>
            <a:pPr lvl="2">
              <a:spcBef>
                <a:spcPts val="300"/>
              </a:spcBef>
              <a:defRPr/>
            </a:pPr>
            <a:r>
              <a:rPr lang="en-US" sz="1400" dirty="0"/>
              <a:t>Each possible pair of (p</a:t>
            </a:r>
            <a:r>
              <a:rPr lang="en-US" sz="1400" baseline="-25000" dirty="0"/>
              <a:t>i</a:t>
            </a:r>
            <a:r>
              <a:rPr lang="en-US" sz="1400" dirty="0"/>
              <a:t>-</a:t>
            </a:r>
            <a:r>
              <a:rPr lang="en-US" sz="1400" dirty="0" err="1"/>
              <a:t>p</a:t>
            </a:r>
            <a:r>
              <a:rPr lang="en-US" sz="1400" baseline="-25000" dirty="0" err="1"/>
              <a:t>j</a:t>
            </a:r>
            <a:r>
              <a:rPr lang="en-US" sz="1400" dirty="0"/>
              <a:t>) is included in one of the 4 All-Pairs test cases</a:t>
            </a:r>
          </a:p>
        </p:txBody>
      </p:sp>
      <p:grpSp>
        <p:nvGrpSpPr>
          <p:cNvPr id="6" name="Group 123"/>
          <p:cNvGrpSpPr/>
          <p:nvPr/>
        </p:nvGrpSpPr>
        <p:grpSpPr>
          <a:xfrm>
            <a:off x="8808878" y="3514617"/>
            <a:ext cx="889261" cy="1212916"/>
            <a:chOff x="7183701" y="4430852"/>
            <a:chExt cx="1117596" cy="1683609"/>
          </a:xfrm>
        </p:grpSpPr>
        <p:sp>
          <p:nvSpPr>
            <p:cNvPr id="14" name="Rectangle 13"/>
            <p:cNvSpPr>
              <a:spLocks noChangeArrowheads="1"/>
            </p:cNvSpPr>
            <p:nvPr/>
          </p:nvSpPr>
          <p:spPr bwMode="auto">
            <a:xfrm>
              <a:off x="7183701"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15" name="Rectangle 14"/>
            <p:cNvSpPr>
              <a:spLocks noChangeArrowheads="1"/>
            </p:cNvSpPr>
            <p:nvPr/>
          </p:nvSpPr>
          <p:spPr bwMode="auto">
            <a:xfrm>
              <a:off x="7555680" y="4430852"/>
              <a:ext cx="37363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16" name="Rectangle 15"/>
            <p:cNvSpPr>
              <a:spLocks noChangeArrowheads="1"/>
            </p:cNvSpPr>
            <p:nvPr/>
          </p:nvSpPr>
          <p:spPr bwMode="auto">
            <a:xfrm>
              <a:off x="7929318"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17" name="Rectangle 16"/>
            <p:cNvSpPr>
              <a:spLocks noChangeArrowheads="1"/>
            </p:cNvSpPr>
            <p:nvPr/>
          </p:nvSpPr>
          <p:spPr bwMode="auto">
            <a:xfrm>
              <a:off x="7183701"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8" name="Rectangle 17"/>
            <p:cNvSpPr>
              <a:spLocks noChangeArrowheads="1"/>
            </p:cNvSpPr>
            <p:nvPr/>
          </p:nvSpPr>
          <p:spPr bwMode="auto">
            <a:xfrm>
              <a:off x="7555680" y="4767273"/>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9" name="Rectangle 18"/>
            <p:cNvSpPr>
              <a:spLocks noChangeArrowheads="1"/>
            </p:cNvSpPr>
            <p:nvPr/>
          </p:nvSpPr>
          <p:spPr bwMode="auto">
            <a:xfrm>
              <a:off x="7929318"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0" name="Rectangle 19"/>
            <p:cNvSpPr>
              <a:spLocks noChangeArrowheads="1"/>
            </p:cNvSpPr>
            <p:nvPr/>
          </p:nvSpPr>
          <p:spPr bwMode="auto">
            <a:xfrm>
              <a:off x="7183701"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1" name="Rectangle 20"/>
            <p:cNvSpPr>
              <a:spLocks noChangeArrowheads="1"/>
            </p:cNvSpPr>
            <p:nvPr/>
          </p:nvSpPr>
          <p:spPr bwMode="auto">
            <a:xfrm>
              <a:off x="7555680" y="5103695"/>
              <a:ext cx="37363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2" name="Rectangle 21"/>
            <p:cNvSpPr>
              <a:spLocks noChangeArrowheads="1"/>
            </p:cNvSpPr>
            <p:nvPr/>
          </p:nvSpPr>
          <p:spPr bwMode="auto">
            <a:xfrm>
              <a:off x="7929318"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3" name="Rectangle 22"/>
            <p:cNvSpPr>
              <a:spLocks noChangeArrowheads="1"/>
            </p:cNvSpPr>
            <p:nvPr/>
          </p:nvSpPr>
          <p:spPr bwMode="auto">
            <a:xfrm>
              <a:off x="7183701"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4" name="Rectangle 23"/>
            <p:cNvSpPr>
              <a:spLocks noChangeArrowheads="1"/>
            </p:cNvSpPr>
            <p:nvPr/>
          </p:nvSpPr>
          <p:spPr bwMode="auto">
            <a:xfrm>
              <a:off x="7555680" y="5441618"/>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5" name="Rectangle 24"/>
            <p:cNvSpPr>
              <a:spLocks noChangeArrowheads="1"/>
            </p:cNvSpPr>
            <p:nvPr/>
          </p:nvSpPr>
          <p:spPr bwMode="auto">
            <a:xfrm>
              <a:off x="7929318"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6" name="Rectangle 25"/>
            <p:cNvSpPr>
              <a:spLocks noChangeArrowheads="1"/>
            </p:cNvSpPr>
            <p:nvPr/>
          </p:nvSpPr>
          <p:spPr bwMode="auto">
            <a:xfrm>
              <a:off x="7183701"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7" name="Rectangle 26"/>
            <p:cNvSpPr>
              <a:spLocks noChangeArrowheads="1"/>
            </p:cNvSpPr>
            <p:nvPr/>
          </p:nvSpPr>
          <p:spPr bwMode="auto">
            <a:xfrm>
              <a:off x="7555680" y="5778040"/>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8" name="Rectangle 27"/>
            <p:cNvSpPr>
              <a:spLocks noChangeArrowheads="1"/>
            </p:cNvSpPr>
            <p:nvPr/>
          </p:nvSpPr>
          <p:spPr bwMode="auto">
            <a:xfrm>
              <a:off x="7929318"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9" name="Line 28"/>
            <p:cNvSpPr>
              <a:spLocks noChangeShapeType="1"/>
            </p:cNvSpPr>
            <p:nvPr/>
          </p:nvSpPr>
          <p:spPr bwMode="auto">
            <a:xfrm>
              <a:off x="7555680"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0" name="Line 29"/>
            <p:cNvSpPr>
              <a:spLocks noChangeShapeType="1"/>
            </p:cNvSpPr>
            <p:nvPr/>
          </p:nvSpPr>
          <p:spPr bwMode="auto">
            <a:xfrm>
              <a:off x="7929318"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1" name="Line 30"/>
            <p:cNvSpPr>
              <a:spLocks noChangeShapeType="1"/>
            </p:cNvSpPr>
            <p:nvPr/>
          </p:nvSpPr>
          <p:spPr bwMode="auto">
            <a:xfrm>
              <a:off x="7183701" y="4767273"/>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2" name="Line 31"/>
            <p:cNvSpPr>
              <a:spLocks noChangeShapeType="1"/>
            </p:cNvSpPr>
            <p:nvPr/>
          </p:nvSpPr>
          <p:spPr bwMode="auto">
            <a:xfrm>
              <a:off x="7183701" y="5103695"/>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3" name="Line 32"/>
            <p:cNvSpPr>
              <a:spLocks noChangeShapeType="1"/>
            </p:cNvSpPr>
            <p:nvPr/>
          </p:nvSpPr>
          <p:spPr bwMode="auto">
            <a:xfrm>
              <a:off x="7183701" y="544161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4" name="Line 33"/>
            <p:cNvSpPr>
              <a:spLocks noChangeShapeType="1"/>
            </p:cNvSpPr>
            <p:nvPr/>
          </p:nvSpPr>
          <p:spPr bwMode="auto">
            <a:xfrm>
              <a:off x="7183701" y="5778040"/>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5" name="Line 34"/>
            <p:cNvSpPr>
              <a:spLocks noChangeShapeType="1"/>
            </p:cNvSpPr>
            <p:nvPr/>
          </p:nvSpPr>
          <p:spPr bwMode="auto">
            <a:xfrm>
              <a:off x="7183701"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6" name="Line 35"/>
            <p:cNvSpPr>
              <a:spLocks noChangeShapeType="1"/>
            </p:cNvSpPr>
            <p:nvPr/>
          </p:nvSpPr>
          <p:spPr bwMode="auto">
            <a:xfrm>
              <a:off x="8301297"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7" name="Line 36"/>
            <p:cNvSpPr>
              <a:spLocks noChangeShapeType="1"/>
            </p:cNvSpPr>
            <p:nvPr/>
          </p:nvSpPr>
          <p:spPr bwMode="auto">
            <a:xfrm>
              <a:off x="7183701" y="4430852"/>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8" name="Line 37"/>
            <p:cNvSpPr>
              <a:spLocks noChangeShapeType="1"/>
            </p:cNvSpPr>
            <p:nvPr/>
          </p:nvSpPr>
          <p:spPr bwMode="auto">
            <a:xfrm>
              <a:off x="7183701" y="6114461"/>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7" name="Group 122"/>
          <p:cNvGrpSpPr/>
          <p:nvPr/>
        </p:nvGrpSpPr>
        <p:grpSpPr>
          <a:xfrm>
            <a:off x="2568602" y="3541730"/>
            <a:ext cx="889261" cy="692475"/>
            <a:chOff x="7183701" y="3205425"/>
            <a:chExt cx="1117596" cy="961204"/>
          </a:xfrm>
        </p:grpSpPr>
        <p:sp>
          <p:nvSpPr>
            <p:cNvPr id="5" name="Line 5"/>
            <p:cNvSpPr>
              <a:spLocks noChangeShapeType="1"/>
            </p:cNvSpPr>
            <p:nvPr/>
          </p:nvSpPr>
          <p:spPr bwMode="auto">
            <a:xfrm flipV="1">
              <a:off x="7547376" y="3220444"/>
              <a:ext cx="0" cy="940177"/>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9" name="Rectangle 38"/>
            <p:cNvSpPr>
              <a:spLocks noChangeArrowheads="1"/>
            </p:cNvSpPr>
            <p:nvPr/>
          </p:nvSpPr>
          <p:spPr bwMode="auto">
            <a:xfrm>
              <a:off x="7183701"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40" name="Rectangle 39"/>
            <p:cNvSpPr>
              <a:spLocks noChangeArrowheads="1"/>
            </p:cNvSpPr>
            <p:nvPr/>
          </p:nvSpPr>
          <p:spPr bwMode="auto">
            <a:xfrm>
              <a:off x="7555680" y="3205425"/>
              <a:ext cx="37363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41" name="Rectangle 40"/>
            <p:cNvSpPr>
              <a:spLocks noChangeArrowheads="1"/>
            </p:cNvSpPr>
            <p:nvPr/>
          </p:nvSpPr>
          <p:spPr bwMode="auto">
            <a:xfrm>
              <a:off x="7929318"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42" name="Rectangle 41"/>
            <p:cNvSpPr>
              <a:spLocks noChangeArrowheads="1"/>
            </p:cNvSpPr>
            <p:nvPr/>
          </p:nvSpPr>
          <p:spPr bwMode="auto">
            <a:xfrm>
              <a:off x="7183701"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3" name="Rectangle 42"/>
            <p:cNvSpPr>
              <a:spLocks noChangeArrowheads="1"/>
            </p:cNvSpPr>
            <p:nvPr/>
          </p:nvSpPr>
          <p:spPr bwMode="auto">
            <a:xfrm>
              <a:off x="7555680" y="3526828"/>
              <a:ext cx="37363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4" name="Rectangle 43"/>
            <p:cNvSpPr>
              <a:spLocks noChangeArrowheads="1"/>
            </p:cNvSpPr>
            <p:nvPr/>
          </p:nvSpPr>
          <p:spPr bwMode="auto">
            <a:xfrm>
              <a:off x="7929318"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45" name="Rectangle 44"/>
            <p:cNvSpPr>
              <a:spLocks noChangeArrowheads="1"/>
            </p:cNvSpPr>
            <p:nvPr/>
          </p:nvSpPr>
          <p:spPr bwMode="auto">
            <a:xfrm>
              <a:off x="7183701"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6" name="Rectangle 45"/>
            <p:cNvSpPr>
              <a:spLocks noChangeArrowheads="1"/>
            </p:cNvSpPr>
            <p:nvPr/>
          </p:nvSpPr>
          <p:spPr bwMode="auto">
            <a:xfrm>
              <a:off x="7555680" y="3846729"/>
              <a:ext cx="37363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7" name="Rectangle 46"/>
            <p:cNvSpPr>
              <a:spLocks noChangeArrowheads="1"/>
            </p:cNvSpPr>
            <p:nvPr/>
          </p:nvSpPr>
          <p:spPr bwMode="auto">
            <a:xfrm>
              <a:off x="7929318"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8" name="Line 47"/>
            <p:cNvSpPr>
              <a:spLocks noChangeShapeType="1"/>
            </p:cNvSpPr>
            <p:nvPr/>
          </p:nvSpPr>
          <p:spPr bwMode="auto">
            <a:xfrm>
              <a:off x="7555680"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49" name="Line 48"/>
            <p:cNvSpPr>
              <a:spLocks noChangeShapeType="1"/>
            </p:cNvSpPr>
            <p:nvPr/>
          </p:nvSpPr>
          <p:spPr bwMode="auto">
            <a:xfrm>
              <a:off x="7929318"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0" name="Line 49"/>
            <p:cNvSpPr>
              <a:spLocks noChangeShapeType="1"/>
            </p:cNvSpPr>
            <p:nvPr/>
          </p:nvSpPr>
          <p:spPr bwMode="auto">
            <a:xfrm>
              <a:off x="7183701" y="352682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1" name="Line 50"/>
            <p:cNvSpPr>
              <a:spLocks noChangeShapeType="1"/>
            </p:cNvSpPr>
            <p:nvPr/>
          </p:nvSpPr>
          <p:spPr bwMode="auto">
            <a:xfrm>
              <a:off x="7183701" y="3846729"/>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2" name="Line 51"/>
            <p:cNvSpPr>
              <a:spLocks noChangeShapeType="1"/>
            </p:cNvSpPr>
            <p:nvPr/>
          </p:nvSpPr>
          <p:spPr bwMode="auto">
            <a:xfrm>
              <a:off x="7183701"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3" name="Line 52"/>
            <p:cNvSpPr>
              <a:spLocks noChangeShapeType="1"/>
            </p:cNvSpPr>
            <p:nvPr/>
          </p:nvSpPr>
          <p:spPr bwMode="auto">
            <a:xfrm>
              <a:off x="8301297"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4" name="Line 53"/>
            <p:cNvSpPr>
              <a:spLocks noChangeShapeType="1"/>
            </p:cNvSpPr>
            <p:nvPr/>
          </p:nvSpPr>
          <p:spPr bwMode="auto">
            <a:xfrm>
              <a:off x="7183701" y="3205425"/>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5" name="Line 54"/>
            <p:cNvSpPr>
              <a:spLocks noChangeShapeType="1"/>
            </p:cNvSpPr>
            <p:nvPr/>
          </p:nvSpPr>
          <p:spPr bwMode="auto">
            <a:xfrm>
              <a:off x="7183701" y="4166629"/>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8" name="Group 121"/>
          <p:cNvGrpSpPr/>
          <p:nvPr/>
        </p:nvGrpSpPr>
        <p:grpSpPr>
          <a:xfrm>
            <a:off x="5433760" y="3514618"/>
            <a:ext cx="955329" cy="2086083"/>
            <a:chOff x="4677827" y="3196414"/>
            <a:chExt cx="1200628" cy="2895626"/>
          </a:xfrm>
        </p:grpSpPr>
        <p:sp>
          <p:nvSpPr>
            <p:cNvPr id="12" name="Line 14"/>
            <p:cNvSpPr>
              <a:spLocks noChangeShapeType="1"/>
            </p:cNvSpPr>
            <p:nvPr/>
          </p:nvSpPr>
          <p:spPr bwMode="auto">
            <a:xfrm>
              <a:off x="5878455" y="3199418"/>
              <a:ext cx="0" cy="2892622"/>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6" name="Rectangle 55"/>
            <p:cNvSpPr>
              <a:spLocks noChangeArrowheads="1"/>
            </p:cNvSpPr>
            <p:nvPr/>
          </p:nvSpPr>
          <p:spPr bwMode="auto">
            <a:xfrm>
              <a:off x="4677827"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P1</a:t>
              </a:r>
            </a:p>
          </p:txBody>
        </p:sp>
        <p:sp>
          <p:nvSpPr>
            <p:cNvPr id="57" name="Rectangle 56"/>
            <p:cNvSpPr>
              <a:spLocks noChangeArrowheads="1"/>
            </p:cNvSpPr>
            <p:nvPr/>
          </p:nvSpPr>
          <p:spPr bwMode="auto">
            <a:xfrm>
              <a:off x="5078037" y="3196414"/>
              <a:ext cx="396887"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58" name="Rectangle 57"/>
            <p:cNvSpPr>
              <a:spLocks noChangeArrowheads="1"/>
            </p:cNvSpPr>
            <p:nvPr/>
          </p:nvSpPr>
          <p:spPr bwMode="auto">
            <a:xfrm>
              <a:off x="5474924"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59" name="Rectangle 58"/>
            <p:cNvSpPr>
              <a:spLocks noChangeArrowheads="1"/>
            </p:cNvSpPr>
            <p:nvPr/>
          </p:nvSpPr>
          <p:spPr bwMode="auto">
            <a:xfrm>
              <a:off x="4677827"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0" name="Rectangle 59"/>
            <p:cNvSpPr>
              <a:spLocks noChangeArrowheads="1"/>
            </p:cNvSpPr>
            <p:nvPr/>
          </p:nvSpPr>
          <p:spPr bwMode="auto">
            <a:xfrm>
              <a:off x="5078037" y="3517816"/>
              <a:ext cx="396887"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1" name="Rectangle 60"/>
            <p:cNvSpPr>
              <a:spLocks noChangeArrowheads="1"/>
            </p:cNvSpPr>
            <p:nvPr/>
          </p:nvSpPr>
          <p:spPr bwMode="auto">
            <a:xfrm>
              <a:off x="5474924"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2" name="Rectangle 61"/>
            <p:cNvSpPr>
              <a:spLocks noChangeArrowheads="1"/>
            </p:cNvSpPr>
            <p:nvPr/>
          </p:nvSpPr>
          <p:spPr bwMode="auto">
            <a:xfrm>
              <a:off x="4677827"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3" name="Rectangle 62"/>
            <p:cNvSpPr>
              <a:spLocks noChangeArrowheads="1"/>
            </p:cNvSpPr>
            <p:nvPr/>
          </p:nvSpPr>
          <p:spPr bwMode="auto">
            <a:xfrm>
              <a:off x="5078037" y="3834714"/>
              <a:ext cx="396887"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4" name="Rectangle 63"/>
            <p:cNvSpPr>
              <a:spLocks noChangeArrowheads="1"/>
            </p:cNvSpPr>
            <p:nvPr/>
          </p:nvSpPr>
          <p:spPr bwMode="auto">
            <a:xfrm>
              <a:off x="5474924"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5" name="Rectangle 64"/>
            <p:cNvSpPr>
              <a:spLocks noChangeArrowheads="1"/>
            </p:cNvSpPr>
            <p:nvPr/>
          </p:nvSpPr>
          <p:spPr bwMode="auto">
            <a:xfrm>
              <a:off x="4677827"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6" name="Rectangle 65"/>
            <p:cNvSpPr>
              <a:spLocks noChangeArrowheads="1"/>
            </p:cNvSpPr>
            <p:nvPr/>
          </p:nvSpPr>
          <p:spPr bwMode="auto">
            <a:xfrm>
              <a:off x="5078037" y="41561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7" name="Rectangle 66"/>
            <p:cNvSpPr>
              <a:spLocks noChangeArrowheads="1"/>
            </p:cNvSpPr>
            <p:nvPr/>
          </p:nvSpPr>
          <p:spPr bwMode="auto">
            <a:xfrm>
              <a:off x="5474924"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8" name="Rectangle 67"/>
            <p:cNvSpPr>
              <a:spLocks noChangeArrowheads="1"/>
            </p:cNvSpPr>
            <p:nvPr/>
          </p:nvSpPr>
          <p:spPr bwMode="auto">
            <a:xfrm>
              <a:off x="4677827"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9" name="Rectangle 68"/>
            <p:cNvSpPr>
              <a:spLocks noChangeArrowheads="1"/>
            </p:cNvSpPr>
            <p:nvPr/>
          </p:nvSpPr>
          <p:spPr bwMode="auto">
            <a:xfrm>
              <a:off x="5078037" y="44760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0" name="Rectangle 69"/>
            <p:cNvSpPr>
              <a:spLocks noChangeArrowheads="1"/>
            </p:cNvSpPr>
            <p:nvPr/>
          </p:nvSpPr>
          <p:spPr bwMode="auto">
            <a:xfrm>
              <a:off x="5474924"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1" name="Rectangle 70"/>
            <p:cNvSpPr>
              <a:spLocks noChangeArrowheads="1"/>
            </p:cNvSpPr>
            <p:nvPr/>
          </p:nvSpPr>
          <p:spPr bwMode="auto">
            <a:xfrm>
              <a:off x="4677827"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2" name="Rectangle 71"/>
            <p:cNvSpPr>
              <a:spLocks noChangeArrowheads="1"/>
            </p:cNvSpPr>
            <p:nvPr/>
          </p:nvSpPr>
          <p:spPr bwMode="auto">
            <a:xfrm>
              <a:off x="5078037" y="47944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3" name="Rectangle 72"/>
            <p:cNvSpPr>
              <a:spLocks noChangeArrowheads="1"/>
            </p:cNvSpPr>
            <p:nvPr/>
          </p:nvSpPr>
          <p:spPr bwMode="auto">
            <a:xfrm>
              <a:off x="5474924"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4" name="Rectangle 73"/>
            <p:cNvSpPr>
              <a:spLocks noChangeArrowheads="1"/>
            </p:cNvSpPr>
            <p:nvPr/>
          </p:nvSpPr>
          <p:spPr bwMode="auto">
            <a:xfrm>
              <a:off x="4677827"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5" name="Rectangle 74"/>
            <p:cNvSpPr>
              <a:spLocks noChangeArrowheads="1"/>
            </p:cNvSpPr>
            <p:nvPr/>
          </p:nvSpPr>
          <p:spPr bwMode="auto">
            <a:xfrm>
              <a:off x="5078037" y="51143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6" name="Rectangle 75"/>
            <p:cNvSpPr>
              <a:spLocks noChangeArrowheads="1"/>
            </p:cNvSpPr>
            <p:nvPr/>
          </p:nvSpPr>
          <p:spPr bwMode="auto">
            <a:xfrm>
              <a:off x="5474924"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7" name="Rectangle 76"/>
            <p:cNvSpPr>
              <a:spLocks noChangeArrowheads="1"/>
            </p:cNvSpPr>
            <p:nvPr/>
          </p:nvSpPr>
          <p:spPr bwMode="auto">
            <a:xfrm>
              <a:off x="4677827"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8" name="Rectangle 77"/>
            <p:cNvSpPr>
              <a:spLocks noChangeArrowheads="1"/>
            </p:cNvSpPr>
            <p:nvPr/>
          </p:nvSpPr>
          <p:spPr bwMode="auto">
            <a:xfrm>
              <a:off x="5078037" y="54342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9" name="Rectangle 78"/>
            <p:cNvSpPr>
              <a:spLocks noChangeArrowheads="1"/>
            </p:cNvSpPr>
            <p:nvPr/>
          </p:nvSpPr>
          <p:spPr bwMode="auto">
            <a:xfrm>
              <a:off x="5474924"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80" name="Rectangle 79"/>
            <p:cNvSpPr>
              <a:spLocks noChangeArrowheads="1"/>
            </p:cNvSpPr>
            <p:nvPr/>
          </p:nvSpPr>
          <p:spPr bwMode="auto">
            <a:xfrm>
              <a:off x="4677827"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1" name="Rectangle 80"/>
            <p:cNvSpPr>
              <a:spLocks noChangeArrowheads="1"/>
            </p:cNvSpPr>
            <p:nvPr/>
          </p:nvSpPr>
          <p:spPr bwMode="auto">
            <a:xfrm>
              <a:off x="5078037" y="57526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2" name="Rectangle 81"/>
            <p:cNvSpPr>
              <a:spLocks noChangeArrowheads="1"/>
            </p:cNvSpPr>
            <p:nvPr/>
          </p:nvSpPr>
          <p:spPr bwMode="auto">
            <a:xfrm>
              <a:off x="5474924"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3" name="Line 82"/>
            <p:cNvSpPr>
              <a:spLocks noChangeShapeType="1"/>
            </p:cNvSpPr>
            <p:nvPr/>
          </p:nvSpPr>
          <p:spPr bwMode="auto">
            <a:xfrm>
              <a:off x="5078037"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4" name="Line 83"/>
            <p:cNvSpPr>
              <a:spLocks noChangeShapeType="1"/>
            </p:cNvSpPr>
            <p:nvPr/>
          </p:nvSpPr>
          <p:spPr bwMode="auto">
            <a:xfrm>
              <a:off x="5474924"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5" name="Line 84"/>
            <p:cNvSpPr>
              <a:spLocks noChangeShapeType="1"/>
            </p:cNvSpPr>
            <p:nvPr/>
          </p:nvSpPr>
          <p:spPr bwMode="auto">
            <a:xfrm>
              <a:off x="4677827" y="35178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6" name="Line 85"/>
            <p:cNvSpPr>
              <a:spLocks noChangeShapeType="1"/>
            </p:cNvSpPr>
            <p:nvPr/>
          </p:nvSpPr>
          <p:spPr bwMode="auto">
            <a:xfrm>
              <a:off x="4677827" y="3834714"/>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7" name="Line 86"/>
            <p:cNvSpPr>
              <a:spLocks noChangeShapeType="1"/>
            </p:cNvSpPr>
            <p:nvPr/>
          </p:nvSpPr>
          <p:spPr bwMode="auto">
            <a:xfrm>
              <a:off x="4677827" y="41561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8" name="Line 87"/>
            <p:cNvSpPr>
              <a:spLocks noChangeShapeType="1"/>
            </p:cNvSpPr>
            <p:nvPr/>
          </p:nvSpPr>
          <p:spPr bwMode="auto">
            <a:xfrm>
              <a:off x="4677827" y="44760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9" name="Line 88"/>
            <p:cNvSpPr>
              <a:spLocks noChangeShapeType="1"/>
            </p:cNvSpPr>
            <p:nvPr/>
          </p:nvSpPr>
          <p:spPr bwMode="auto">
            <a:xfrm>
              <a:off x="4677827" y="47944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0" name="Line 89"/>
            <p:cNvSpPr>
              <a:spLocks noChangeShapeType="1"/>
            </p:cNvSpPr>
            <p:nvPr/>
          </p:nvSpPr>
          <p:spPr bwMode="auto">
            <a:xfrm>
              <a:off x="4677827" y="51143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1" name="Line 90"/>
            <p:cNvSpPr>
              <a:spLocks noChangeShapeType="1"/>
            </p:cNvSpPr>
            <p:nvPr/>
          </p:nvSpPr>
          <p:spPr bwMode="auto">
            <a:xfrm>
              <a:off x="4677827" y="54342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2" name="Line 91"/>
            <p:cNvSpPr>
              <a:spLocks noChangeShapeType="1"/>
            </p:cNvSpPr>
            <p:nvPr/>
          </p:nvSpPr>
          <p:spPr bwMode="auto">
            <a:xfrm>
              <a:off x="4677827" y="57526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3" name="Line 92"/>
            <p:cNvSpPr>
              <a:spLocks noChangeShapeType="1"/>
            </p:cNvSpPr>
            <p:nvPr/>
          </p:nvSpPr>
          <p:spPr bwMode="auto">
            <a:xfrm>
              <a:off x="4677827"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4" name="Line 93"/>
            <p:cNvSpPr>
              <a:spLocks noChangeShapeType="1"/>
            </p:cNvSpPr>
            <p:nvPr/>
          </p:nvSpPr>
          <p:spPr bwMode="auto">
            <a:xfrm>
              <a:off x="5875134"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5" name="Line 94"/>
            <p:cNvSpPr>
              <a:spLocks noChangeShapeType="1"/>
            </p:cNvSpPr>
            <p:nvPr/>
          </p:nvSpPr>
          <p:spPr bwMode="auto">
            <a:xfrm>
              <a:off x="4677827" y="3196414"/>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6" name="Line 95"/>
            <p:cNvSpPr>
              <a:spLocks noChangeShapeType="1"/>
            </p:cNvSpPr>
            <p:nvPr/>
          </p:nvSpPr>
          <p:spPr bwMode="auto">
            <a:xfrm>
              <a:off x="4677827" y="6072516"/>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sp>
        <p:nvSpPr>
          <p:cNvPr id="97" name="Text Box 102"/>
          <p:cNvSpPr txBox="1">
            <a:spLocks noChangeArrowheads="1"/>
          </p:cNvSpPr>
          <p:nvPr/>
        </p:nvSpPr>
        <p:spPr bwMode="auto">
          <a:xfrm>
            <a:off x="1989847" y="3158021"/>
            <a:ext cx="1906589" cy="279180"/>
          </a:xfrm>
          <a:prstGeom prst="rect">
            <a:avLst/>
          </a:prstGeom>
          <a:noFill/>
          <a:ln w="12700">
            <a:noFill/>
            <a:miter lim="800000"/>
            <a:headEnd/>
            <a:tailEnd/>
          </a:ln>
        </p:spPr>
        <p:txBody>
          <a:bodyPr wrap="none" lIns="90000" tIns="46800" rIns="90000" bIns="468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02060"/>
                </a:solidFill>
                <a:effectLst/>
                <a:uLnTx/>
                <a:uFillTx/>
                <a:latin typeface="Calibri" panose="020F0502020204030204"/>
                <a:ea typeface="+mn-ea"/>
                <a:cs typeface="+mn-cs"/>
              </a:rPr>
              <a:t>(A) All values appear once</a:t>
            </a:r>
          </a:p>
        </p:txBody>
      </p:sp>
      <p:sp>
        <p:nvSpPr>
          <p:cNvPr id="108" name="TextBox 107"/>
          <p:cNvSpPr txBox="1"/>
          <p:nvPr/>
        </p:nvSpPr>
        <p:spPr>
          <a:xfrm>
            <a:off x="4678137" y="3158022"/>
            <a:ext cx="2382383" cy="276999"/>
          </a:xfrm>
          <a:prstGeom prst="rect">
            <a:avLst/>
          </a:prstGeom>
          <a:no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(B) All combinations appear once</a:t>
            </a:r>
          </a:p>
        </p:txBody>
      </p:sp>
      <p:sp>
        <p:nvSpPr>
          <p:cNvPr id="109" name="TextBox 108"/>
          <p:cNvSpPr txBox="1"/>
          <p:nvPr/>
        </p:nvSpPr>
        <p:spPr>
          <a:xfrm>
            <a:off x="8077178" y="3158022"/>
            <a:ext cx="2442233" cy="282409"/>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 All value pairs appear once </a:t>
            </a:r>
          </a:p>
        </p:txBody>
      </p:sp>
      <p:sp>
        <p:nvSpPr>
          <p:cNvPr id="110" name="TextBox 109"/>
          <p:cNvSpPr txBox="1"/>
          <p:nvPr/>
        </p:nvSpPr>
        <p:spPr>
          <a:xfrm rot="20908289">
            <a:off x="2379020" y="4468662"/>
            <a:ext cx="1133644"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effective</a:t>
            </a:r>
          </a:p>
        </p:txBody>
      </p:sp>
      <p:sp>
        <p:nvSpPr>
          <p:cNvPr id="112" name="TextBox 111"/>
          <p:cNvSpPr txBox="1"/>
          <p:nvPr/>
        </p:nvSpPr>
        <p:spPr>
          <a:xfrm rot="20908289">
            <a:off x="6350717" y="4550047"/>
            <a:ext cx="1130438"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efficient</a:t>
            </a:r>
          </a:p>
        </p:txBody>
      </p:sp>
      <p:sp>
        <p:nvSpPr>
          <p:cNvPr id="113" name="TextBox 112"/>
          <p:cNvSpPr txBox="1"/>
          <p:nvPr/>
        </p:nvSpPr>
        <p:spPr>
          <a:xfrm rot="20908289">
            <a:off x="8891232" y="4948661"/>
            <a:ext cx="947695" cy="523220"/>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Efficient &amp;</a:t>
            </a:r>
            <a:b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b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 Effective </a:t>
            </a:r>
          </a:p>
        </p:txBody>
      </p:sp>
      <p:sp>
        <p:nvSpPr>
          <p:cNvPr id="121" name="5-Point Star 120"/>
          <p:cNvSpPr/>
          <p:nvPr/>
        </p:nvSpPr>
        <p:spPr bwMode="auto">
          <a:xfrm>
            <a:off x="8610118" y="201614"/>
            <a:ext cx="425450" cy="301625"/>
          </a:xfrm>
          <a:prstGeom prst="star5">
            <a:avLst/>
          </a:prstGeom>
          <a:solidFill>
            <a:schemeClr val="bg2"/>
          </a:solidFill>
          <a:ln w="9525" cap="flat" cmpd="sng" algn="ctr">
            <a:solidFill>
              <a:schemeClr val="accent2"/>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
                <a:srgbClr val="5B9BD5"/>
              </a:buClr>
              <a:buSzPct val="80000"/>
              <a:buFontTx/>
              <a:buNone/>
              <a:tabLst/>
              <a:defRPr/>
            </a:pPr>
            <a:endParaRPr kumimoji="0" lang="en-US" sz="1600" b="0" i="0" u="none" strike="noStrike" kern="1200" cap="none" spc="0" normalizeH="0" baseline="0" noProof="0">
              <a:ln>
                <a:noFill/>
              </a:ln>
              <a:solidFill>
                <a:prstClr val="black"/>
              </a:solidFill>
              <a:effectLst/>
              <a:uLnTx/>
              <a:uFillTx/>
              <a:latin typeface="Arial" pitchFamily="34" charset="0"/>
              <a:ea typeface="Arial Unicode MS" pitchFamily="34" charset="-128"/>
              <a:cs typeface="Arial Unicode MS" pitchFamily="34" charset="-128"/>
            </a:endParaRPr>
          </a:p>
        </p:txBody>
      </p:sp>
    </p:spTree>
    <p:extLst>
      <p:ext uri="{BB962C8B-B14F-4D97-AF65-F5344CB8AC3E}">
        <p14:creationId xmlns:p14="http://schemas.microsoft.com/office/powerpoint/2010/main" val="94757068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0">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0">
                                            <p:txEl>
                                              <p:pRg st="4" end="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0">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build="p" bldLvl="2"/>
      <p:bldP spid="97" grpId="0"/>
      <p:bldP spid="108" grpId="0"/>
      <p:bldP spid="109" grpId="0"/>
      <p:bldP spid="110" grpId="0" animBg="1"/>
      <p:bldP spid="112" grpId="0" animBg="1"/>
      <p:bldP spid="11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Rectangle 1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Freeform: Shape 2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All-Pairs Testing – the Foundation</a:t>
            </a:r>
          </a:p>
        </p:txBody>
      </p:sp>
      <p:sp>
        <p:nvSpPr>
          <p:cNvPr id="12" name="Content Placeholder 11"/>
          <p:cNvSpPr>
            <a:spLocks noGrp="1"/>
          </p:cNvSpPr>
          <p:nvPr>
            <p:ph idx="1"/>
          </p:nvPr>
        </p:nvSpPr>
        <p:spPr>
          <a:xfrm>
            <a:off x="4037826" y="413759"/>
            <a:ext cx="8054142" cy="6474659"/>
          </a:xfrm>
        </p:spPr>
        <p:txBody>
          <a:bodyPr anchor="ctr">
            <a:normAutofit fontScale="92500" lnSpcReduction="20000"/>
          </a:bodyPr>
          <a:lstStyle/>
          <a:p>
            <a:pPr lvl="0">
              <a:defRPr/>
            </a:pPr>
            <a:r>
              <a:rPr lang="en-US" sz="3000" b="1" dirty="0"/>
              <a:t>The Empirical Foundation </a:t>
            </a:r>
          </a:p>
          <a:p>
            <a:pPr lvl="0">
              <a:defRPr/>
            </a:pPr>
            <a:endParaRPr lang="en-US" sz="3000" b="1" dirty="0"/>
          </a:p>
          <a:p>
            <a:pPr lvl="1">
              <a:defRPr/>
            </a:pPr>
            <a:r>
              <a:rPr lang="en-US" sz="3000" dirty="0"/>
              <a:t>Most faults (70-90%) can be exposed / occur by combining two parameters 'just right' (proven by many studies) </a:t>
            </a:r>
          </a:p>
          <a:p>
            <a:pPr lvl="1">
              <a:defRPr/>
            </a:pPr>
            <a:endParaRPr lang="en-US" sz="3000" dirty="0">
              <a:sym typeface="Wingdings" pitchFamily="2" charset="2"/>
            </a:endParaRPr>
          </a:p>
          <a:p>
            <a:pPr marL="393192" lvl="1" indent="0">
              <a:buNone/>
              <a:defRPr/>
            </a:pPr>
            <a:r>
              <a:rPr lang="en-US" sz="3000" dirty="0">
                <a:sym typeface="Wingdings" pitchFamily="2" charset="2"/>
              </a:rPr>
              <a:t>What does this mean?</a:t>
            </a:r>
          </a:p>
          <a:p>
            <a:pPr lvl="1">
              <a:defRPr/>
            </a:pPr>
            <a:endParaRPr lang="en-US" sz="3000" dirty="0">
              <a:sym typeface="Wingdings" pitchFamily="2" charset="2"/>
            </a:endParaRPr>
          </a:p>
          <a:p>
            <a:pPr lvl="1">
              <a:defRPr/>
            </a:pPr>
            <a:r>
              <a:rPr lang="en-US" sz="3000" dirty="0"/>
              <a:t>Consider a function that takes 5 parameters with 3 values each (1,2,3). Then a defect may depend only on p2=3 and p4=1 (the defect is exposed by two parameters having the 'just the right value’). </a:t>
            </a:r>
          </a:p>
          <a:p>
            <a:pPr lvl="1">
              <a:defRPr/>
            </a:pPr>
            <a:endParaRPr lang="en-US" sz="3000" dirty="0"/>
          </a:p>
          <a:p>
            <a:pPr lvl="1">
              <a:defRPr/>
            </a:pPr>
            <a:endParaRPr lang="en-US" sz="3000" dirty="0"/>
          </a:p>
          <a:p>
            <a:pPr lvl="1">
              <a:defRPr/>
            </a:pPr>
            <a:r>
              <a:rPr lang="en-US" sz="3000" dirty="0"/>
              <a:t>This means that the defect would be found by a test case that guarantees pair coverage, i.e. that guarantees that the combination (p2=3,p4=1) occurs somewhere in the test.</a:t>
            </a:r>
          </a:p>
          <a:p>
            <a:pPr lvl="1">
              <a:defRPr/>
            </a:pPr>
            <a:endParaRPr lang="en-US" sz="2000" dirty="0">
              <a:sym typeface="Wingdings" pitchFamily="2" charset="2"/>
            </a:endParaRPr>
          </a:p>
          <a:p>
            <a:pPr marL="182563">
              <a:defRPr/>
            </a:pPr>
            <a:endParaRPr lang="en-US" sz="2000" dirty="0">
              <a:sym typeface="Wingdings" pitchFamily="2" charset="2"/>
            </a:endParaRPr>
          </a:p>
          <a:p>
            <a:pPr>
              <a:defRPr/>
            </a:pPr>
            <a:endParaRPr lang="en-US" sz="2000" b="1" dirty="0">
              <a:sym typeface="Wingdings" pitchFamily="2" charset="2"/>
            </a:endParaRPr>
          </a:p>
        </p:txBody>
      </p:sp>
    </p:spTree>
    <p:extLst>
      <p:ext uri="{BB962C8B-B14F-4D97-AF65-F5344CB8AC3E}">
        <p14:creationId xmlns:p14="http://schemas.microsoft.com/office/powerpoint/2010/main" val="2891731168"/>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371599" y="294538"/>
            <a:ext cx="9895951" cy="1033669"/>
          </a:xfrm>
        </p:spPr>
        <p:txBody>
          <a:bodyPr>
            <a:normAutofit/>
          </a:bodyPr>
          <a:lstStyle/>
          <a:p>
            <a:r>
              <a:rPr lang="en-US" sz="4000">
                <a:solidFill>
                  <a:srgbClr val="FFFFFF"/>
                </a:solidFill>
              </a:rPr>
              <a:t>All-Pairs Testing – the Basic Idea</a:t>
            </a:r>
          </a:p>
        </p:txBody>
      </p:sp>
      <p:sp>
        <p:nvSpPr>
          <p:cNvPr id="3" name="Content Placeholder 2"/>
          <p:cNvSpPr>
            <a:spLocks noGrp="1"/>
          </p:cNvSpPr>
          <p:nvPr>
            <p:ph idx="1"/>
          </p:nvPr>
        </p:nvSpPr>
        <p:spPr>
          <a:xfrm>
            <a:off x="261441" y="1891970"/>
            <a:ext cx="11442879" cy="4378810"/>
          </a:xfrm>
        </p:spPr>
        <p:txBody>
          <a:bodyPr anchor="ctr">
            <a:normAutofit/>
          </a:bodyPr>
          <a:lstStyle/>
          <a:p>
            <a:pPr lvl="1">
              <a:buFont typeface="Arial" charset="0"/>
              <a:buChar char="•"/>
            </a:pPr>
            <a:r>
              <a:rPr lang="en-US" sz="2800" dirty="0"/>
              <a:t>The savings between full combinations and all-pairs coverage are enormous: </a:t>
            </a:r>
          </a:p>
          <a:p>
            <a:pPr lvl="2">
              <a:buFont typeface="Arial" charset="0"/>
              <a:buChar char="•"/>
            </a:pPr>
            <a:r>
              <a:rPr lang="en-US" sz="2800" dirty="0"/>
              <a:t>500 binary switches need only 20 TCVs (test case variants).</a:t>
            </a:r>
          </a:p>
          <a:p>
            <a:pPr lvl="2">
              <a:buFont typeface="Arial" charset="0"/>
              <a:buChar char="•"/>
            </a:pPr>
            <a:r>
              <a:rPr lang="en-US" sz="2800" dirty="0"/>
              <a:t>1500 binary switches need only 24 TCVs. </a:t>
            </a:r>
          </a:p>
          <a:p>
            <a:pPr lvl="2">
              <a:buFont typeface="Arial" charset="0"/>
              <a:buChar char="•"/>
            </a:pPr>
            <a:endParaRPr lang="en-US" sz="2800" dirty="0"/>
          </a:p>
          <a:p>
            <a:pPr lvl="1">
              <a:buFont typeface="Arial" charset="0"/>
              <a:buChar char="•"/>
            </a:pPr>
            <a:r>
              <a:rPr lang="en-US" sz="2800" dirty="0"/>
              <a:t>If these few test cases indeed find 70-90% of our defects we are much better off than all our current internal testing combined which finds only about 15-30% of defects internally (considering the full lifetime of a product version). (</a:t>
            </a:r>
            <a:r>
              <a:rPr lang="en-US" sz="2800" u="sng" dirty="0"/>
              <a:t>Statement from SAP</a:t>
            </a:r>
            <a:r>
              <a:rPr lang="en-US" sz="2800" dirty="0"/>
              <a:t>)</a:t>
            </a:r>
          </a:p>
          <a:p>
            <a:pPr>
              <a:buFont typeface="Arial" charset="0"/>
              <a:buChar char="•"/>
            </a:pPr>
            <a:endParaRPr lang="en-US" sz="2000" dirty="0"/>
          </a:p>
          <a:p>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66AC120-E767-432C-8037-A323604FE841}"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29</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13470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ight Arrow 8"/>
          <p:cNvSpPr/>
          <p:nvPr/>
        </p:nvSpPr>
        <p:spPr bwMode="gray">
          <a:xfrm rot="1218808">
            <a:off x="6328185" y="4988258"/>
            <a:ext cx="772254" cy="506443"/>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1737242" y="0"/>
            <a:ext cx="8229600" cy="1143000"/>
          </a:xfrm>
        </p:spPr>
        <p:txBody>
          <a:bodyPr/>
          <a:lstStyle/>
          <a:p>
            <a:pPr algn="ctr"/>
            <a:r>
              <a:rPr lang="en-US" dirty="0">
                <a:solidFill>
                  <a:schemeClr val="tx1"/>
                </a:solidFill>
              </a:rPr>
              <a:t>A simple All-Pairs Example</a:t>
            </a:r>
          </a:p>
        </p:txBody>
      </p:sp>
      <p:sp>
        <p:nvSpPr>
          <p:cNvPr id="3" name="Content Placeholder 2"/>
          <p:cNvSpPr>
            <a:spLocks noGrp="1"/>
          </p:cNvSpPr>
          <p:nvPr>
            <p:ph idx="1"/>
          </p:nvPr>
        </p:nvSpPr>
        <p:spPr>
          <a:xfrm>
            <a:off x="1677949" y="1233537"/>
            <a:ext cx="8841600" cy="1397383"/>
          </a:xfrm>
        </p:spPr>
        <p:txBody>
          <a:bodyPr>
            <a:normAutofit fontScale="77500" lnSpcReduction="20000"/>
          </a:bodyPr>
          <a:lstStyle/>
          <a:p>
            <a:r>
              <a:rPr lang="en-US" b="1" dirty="0"/>
              <a:t>A simple All-Pairs Example: Version combinatorics of a platform test</a:t>
            </a:r>
          </a:p>
          <a:p>
            <a:pPr marL="342900" lvl="1" indent="-342900">
              <a:buFont typeface="+mj-lt"/>
              <a:buAutoNum type="arabicPeriod"/>
            </a:pPr>
            <a:r>
              <a:rPr lang="en-US" b="1" dirty="0"/>
              <a:t>Identify the parameters </a:t>
            </a:r>
            <a:r>
              <a:rPr lang="en-US" dirty="0"/>
              <a:t>of the test and their potential </a:t>
            </a:r>
            <a:r>
              <a:rPr lang="en-US" b="1" dirty="0"/>
              <a:t>values</a:t>
            </a:r>
          </a:p>
          <a:p>
            <a:pPr marL="342900" lvl="1" indent="-342900">
              <a:buFont typeface="+mj-lt"/>
              <a:buAutoNum type="arabicPeriod"/>
            </a:pPr>
            <a:r>
              <a:rPr lang="en-US" dirty="0">
                <a:sym typeface="Wingdings" pitchFamily="2" charset="2"/>
              </a:rPr>
              <a:t>U</a:t>
            </a:r>
            <a:r>
              <a:rPr lang="en-US" dirty="0"/>
              <a:t>se a tool to </a:t>
            </a:r>
            <a:r>
              <a:rPr lang="en-US" b="1" dirty="0"/>
              <a:t>generate</a:t>
            </a:r>
            <a:r>
              <a:rPr lang="en-US" dirty="0"/>
              <a:t> the test case variants that guarantee 'all-pairs' coverage</a:t>
            </a:r>
          </a:p>
          <a:p>
            <a:pPr marL="342900" lvl="1" indent="-342900">
              <a:buFont typeface="+mj-lt"/>
              <a:buAutoNum type="arabicPeriod"/>
            </a:pPr>
            <a:r>
              <a:rPr lang="en-US" dirty="0"/>
              <a:t>Execute the test case variants (different parameter combinations)</a:t>
            </a:r>
          </a:p>
          <a:p>
            <a:endParaRPr lang="en-US" dirty="0"/>
          </a:p>
        </p:txBody>
      </p:sp>
      <p:pic>
        <p:nvPicPr>
          <p:cNvPr id="400387" name="Picture 3"/>
          <p:cNvPicPr>
            <a:picLocks noChangeAspect="1" noChangeArrowheads="1"/>
          </p:cNvPicPr>
          <p:nvPr/>
        </p:nvPicPr>
        <p:blipFill>
          <a:blip r:embed="rId3" cstate="print"/>
          <a:srcRect r="23526"/>
          <a:stretch>
            <a:fillRect/>
          </a:stretch>
        </p:blipFill>
        <p:spPr bwMode="auto">
          <a:xfrm>
            <a:off x="1677950" y="2830024"/>
            <a:ext cx="3763759" cy="1565968"/>
          </a:xfrm>
          <a:prstGeom prst="rect">
            <a:avLst/>
          </a:prstGeom>
          <a:noFill/>
          <a:ln w="9525">
            <a:solidFill>
              <a:schemeClr val="bg2">
                <a:lumMod val="90000"/>
              </a:schemeClr>
            </a:solidFill>
            <a:miter lim="800000"/>
            <a:headEnd/>
            <a:tailEnd/>
          </a:ln>
        </p:spPr>
      </p:pic>
      <p:pic>
        <p:nvPicPr>
          <p:cNvPr id="400388" name="Picture 4"/>
          <p:cNvPicPr>
            <a:picLocks noChangeAspect="1" noChangeArrowheads="1"/>
          </p:cNvPicPr>
          <p:nvPr/>
        </p:nvPicPr>
        <p:blipFill>
          <a:blip r:embed="rId4" cstate="print"/>
          <a:srcRect b="43884"/>
          <a:stretch>
            <a:fillRect/>
          </a:stretch>
        </p:blipFill>
        <p:spPr bwMode="auto">
          <a:xfrm>
            <a:off x="7082038" y="3562892"/>
            <a:ext cx="2874763" cy="2799359"/>
          </a:xfrm>
          <a:prstGeom prst="rect">
            <a:avLst/>
          </a:prstGeom>
          <a:noFill/>
          <a:ln w="9525">
            <a:noFill/>
            <a:miter lim="800000"/>
            <a:headEnd/>
            <a:tailEnd/>
          </a:ln>
        </p:spPr>
      </p:pic>
      <p:sp>
        <p:nvSpPr>
          <p:cNvPr id="7" name="Oval 6"/>
          <p:cNvSpPr/>
          <p:nvPr/>
        </p:nvSpPr>
        <p:spPr bwMode="gray">
          <a:xfrm>
            <a:off x="4741064" y="4558388"/>
            <a:ext cx="1702965" cy="1397383"/>
          </a:xfrm>
          <a:prstGeom prst="ellipse">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Pairwise</a:t>
            </a:r>
            <a:b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Generation</a:t>
            </a:r>
            <a:b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Tool</a:t>
            </a:r>
            <a:endParaRPr kumimoji="0" lang="en-US" sz="1600" b="0" i="0" u="none" strike="noStrike" kern="0" cap="none" spc="0" normalizeH="0" baseline="0" noProof="0" dirty="0" err="1">
              <a:ln>
                <a:noFill/>
              </a:ln>
              <a:solidFill>
                <a:prstClr val="white"/>
              </a:solidFill>
              <a:effectLst/>
              <a:uLnTx/>
              <a:uFillTx/>
              <a:latin typeface="Calibri" panose="020F0502020204030204"/>
              <a:ea typeface="Arial Unicode MS" pitchFamily="34" charset="-128"/>
              <a:cs typeface="Arial Unicode MS" pitchFamily="34" charset="-128"/>
            </a:endParaRPr>
          </a:p>
        </p:txBody>
      </p:sp>
      <p:sp>
        <p:nvSpPr>
          <p:cNvPr id="8" name="Right Arrow 7"/>
          <p:cNvSpPr/>
          <p:nvPr/>
        </p:nvSpPr>
        <p:spPr bwMode="gray">
          <a:xfrm rot="1996417">
            <a:off x="4077174" y="4411886"/>
            <a:ext cx="783180" cy="567186"/>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0" name="Oval 9"/>
          <p:cNvSpPr/>
          <p:nvPr/>
        </p:nvSpPr>
        <p:spPr bwMode="gray">
          <a:xfrm>
            <a:off x="4916905" y="4463716"/>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2</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1" name="Oval 10"/>
          <p:cNvSpPr/>
          <p:nvPr/>
        </p:nvSpPr>
        <p:spPr bwMode="gray">
          <a:xfrm>
            <a:off x="1712495" y="2630920"/>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1</a:t>
            </a:r>
          </a:p>
        </p:txBody>
      </p:sp>
      <p:sp>
        <p:nvSpPr>
          <p:cNvPr id="12" name="Oval 11"/>
          <p:cNvSpPr/>
          <p:nvPr/>
        </p:nvSpPr>
        <p:spPr bwMode="gray">
          <a:xfrm>
            <a:off x="7126705" y="3304675"/>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3</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4" name="TextBox 3">
            <a:extLst>
              <a:ext uri="{FF2B5EF4-FFF2-40B4-BE49-F238E27FC236}">
                <a16:creationId xmlns:a16="http://schemas.microsoft.com/office/drawing/2014/main" id="{9F5D5FDE-C99B-4AA6-AFA4-66F00497A27C}"/>
              </a:ext>
            </a:extLst>
          </p:cNvPr>
          <p:cNvSpPr txBox="1"/>
          <p:nvPr/>
        </p:nvSpPr>
        <p:spPr>
          <a:xfrm>
            <a:off x="1699405" y="5923350"/>
            <a:ext cx="419046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hlinkClick r:id="rId5">
                  <a:extLst>
                    <a:ext uri="{A12FA001-AC4F-418D-AE19-62706E023703}">
                      <ahyp:hlinkClr xmlns:ahyp="http://schemas.microsoft.com/office/drawing/2018/hyperlinkcolor" val="tx"/>
                    </a:ext>
                  </a:extLst>
                </a:hlinkClick>
              </a:rPr>
              <a:t>https://pairwise.teremokgames.com/</a:t>
            </a: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880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2735" y="-13182"/>
            <a:ext cx="8229600" cy="1143000"/>
          </a:xfrm>
        </p:spPr>
        <p:txBody>
          <a:bodyPr>
            <a:normAutofit/>
          </a:bodyPr>
          <a:lstStyle/>
          <a:p>
            <a:r>
              <a:rPr lang="en-US" sz="3200" dirty="0"/>
              <a:t>All-Pairs Testing: Input Parameters to Risk Reporting</a:t>
            </a:r>
          </a:p>
        </p:txBody>
      </p:sp>
      <p:pic>
        <p:nvPicPr>
          <p:cNvPr id="4" name="Picture 81"/>
          <p:cNvPicPr>
            <a:picLocks noChangeAspect="1" noChangeArrowheads="1"/>
          </p:cNvPicPr>
          <p:nvPr/>
        </p:nvPicPr>
        <p:blipFill>
          <a:blip r:embed="rId3" cstate="print"/>
          <a:srcRect l="17192" t="19930" r="23228" b="4472"/>
          <a:stretch>
            <a:fillRect/>
          </a:stretch>
        </p:blipFill>
        <p:spPr bwMode="auto">
          <a:xfrm>
            <a:off x="1779182" y="1956392"/>
            <a:ext cx="4063664" cy="3774559"/>
          </a:xfrm>
          <a:prstGeom prst="rect">
            <a:avLst/>
          </a:prstGeom>
          <a:noFill/>
          <a:ln w="9525">
            <a:solidFill>
              <a:schemeClr val="tx1">
                <a:lumMod val="75000"/>
                <a:lumOff val="25000"/>
              </a:schemeClr>
            </a:solidFill>
            <a:miter lim="800000"/>
            <a:headEnd/>
            <a:tailEnd/>
          </a:ln>
        </p:spPr>
      </p:pic>
      <p:sp>
        <p:nvSpPr>
          <p:cNvPr id="5" name="TextBox 4"/>
          <p:cNvSpPr txBox="1"/>
          <p:nvPr/>
        </p:nvSpPr>
        <p:spPr>
          <a:xfrm>
            <a:off x="3491025" y="1286540"/>
            <a:ext cx="1659429"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150 actual systems in list</a:t>
            </a:r>
          </a:p>
        </p:txBody>
      </p:sp>
      <p:sp>
        <p:nvSpPr>
          <p:cNvPr id="6" name="Freeform 5"/>
          <p:cNvSpPr/>
          <p:nvPr/>
        </p:nvSpPr>
        <p:spPr>
          <a:xfrm>
            <a:off x="3267741" y="1499191"/>
            <a:ext cx="223283" cy="925032"/>
          </a:xfrm>
          <a:custGeom>
            <a:avLst/>
            <a:gdLst>
              <a:gd name="connsiteX0" fmla="*/ 0 w 669851"/>
              <a:gd name="connsiteY0" fmla="*/ 776176 h 776176"/>
              <a:gd name="connsiteX1" fmla="*/ 287079 w 669851"/>
              <a:gd name="connsiteY1" fmla="*/ 170120 h 776176"/>
              <a:gd name="connsiteX2" fmla="*/ 669851 w 669851"/>
              <a:gd name="connsiteY2" fmla="*/ 0 h 776176"/>
            </a:gdLst>
            <a:ahLst/>
            <a:cxnLst>
              <a:cxn ang="0">
                <a:pos x="connsiteX0" y="connsiteY0"/>
              </a:cxn>
              <a:cxn ang="0">
                <a:pos x="connsiteX1" y="connsiteY1"/>
              </a:cxn>
              <a:cxn ang="0">
                <a:pos x="connsiteX2" y="connsiteY2"/>
              </a:cxn>
            </a:cxnLst>
            <a:rect l="l" t="t" r="r" b="b"/>
            <a:pathLst>
              <a:path w="669851" h="776176">
                <a:moveTo>
                  <a:pt x="0" y="776176"/>
                </a:moveTo>
                <a:cubicBezTo>
                  <a:pt x="87718" y="537829"/>
                  <a:pt x="175437" y="299483"/>
                  <a:pt x="287079" y="170120"/>
                </a:cubicBezTo>
                <a:cubicBezTo>
                  <a:pt x="398721" y="40757"/>
                  <a:pt x="534286" y="20378"/>
                  <a:pt x="669851"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Picture 5"/>
          <p:cNvPicPr>
            <a:picLocks noChangeAspect="1" noChangeArrowheads="1"/>
          </p:cNvPicPr>
          <p:nvPr/>
        </p:nvPicPr>
        <p:blipFill>
          <a:blip r:embed="rId4" cstate="print"/>
          <a:srcRect l="17241" t="22140" r="26927" b="40051"/>
          <a:stretch>
            <a:fillRect/>
          </a:stretch>
        </p:blipFill>
        <p:spPr bwMode="auto">
          <a:xfrm>
            <a:off x="6042837" y="1041992"/>
            <a:ext cx="2583712" cy="1074126"/>
          </a:xfrm>
          <a:prstGeom prst="rect">
            <a:avLst/>
          </a:prstGeom>
          <a:noFill/>
          <a:ln w="9525">
            <a:solidFill>
              <a:schemeClr val="bg1">
                <a:lumMod val="75000"/>
              </a:schemeClr>
            </a:solidFill>
            <a:miter lim="800000"/>
            <a:headEnd/>
            <a:tailEnd/>
          </a:ln>
        </p:spPr>
      </p:pic>
      <p:sp>
        <p:nvSpPr>
          <p:cNvPr id="8" name="TextBox 7"/>
          <p:cNvSpPr txBox="1"/>
          <p:nvPr/>
        </p:nvSpPr>
        <p:spPr>
          <a:xfrm>
            <a:off x="7471145" y="928577"/>
            <a:ext cx="1433406"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properties of 'System'</a:t>
            </a:r>
          </a:p>
        </p:txBody>
      </p:sp>
      <p:sp>
        <p:nvSpPr>
          <p:cNvPr id="9" name="Freeform 8"/>
          <p:cNvSpPr/>
          <p:nvPr/>
        </p:nvSpPr>
        <p:spPr>
          <a:xfrm>
            <a:off x="5202866" y="1073888"/>
            <a:ext cx="808075" cy="265814"/>
          </a:xfrm>
          <a:custGeom>
            <a:avLst/>
            <a:gdLst>
              <a:gd name="connsiteX0" fmla="*/ 0 w 1233376"/>
              <a:gd name="connsiteY0" fmla="*/ 308344 h 308344"/>
              <a:gd name="connsiteX1" fmla="*/ 425302 w 1233376"/>
              <a:gd name="connsiteY1" fmla="*/ 106325 h 308344"/>
              <a:gd name="connsiteX2" fmla="*/ 1233376 w 1233376"/>
              <a:gd name="connsiteY2" fmla="*/ 0 h 308344"/>
            </a:gdLst>
            <a:ahLst/>
            <a:cxnLst>
              <a:cxn ang="0">
                <a:pos x="connsiteX0" y="connsiteY0"/>
              </a:cxn>
              <a:cxn ang="0">
                <a:pos x="connsiteX1" y="connsiteY1"/>
              </a:cxn>
              <a:cxn ang="0">
                <a:pos x="connsiteX2" y="connsiteY2"/>
              </a:cxn>
            </a:cxnLst>
            <a:rect l="l" t="t" r="r" b="b"/>
            <a:pathLst>
              <a:path w="1233376" h="308344">
                <a:moveTo>
                  <a:pt x="0" y="308344"/>
                </a:moveTo>
                <a:cubicBezTo>
                  <a:pt x="109869" y="233030"/>
                  <a:pt x="219739" y="157716"/>
                  <a:pt x="425302" y="106325"/>
                </a:cubicBezTo>
                <a:cubicBezTo>
                  <a:pt x="630865" y="54934"/>
                  <a:pt x="932120" y="27467"/>
                  <a:pt x="1233376"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68642" name="Picture 2"/>
          <p:cNvPicPr>
            <a:picLocks noChangeAspect="1" noChangeArrowheads="1"/>
          </p:cNvPicPr>
          <p:nvPr/>
        </p:nvPicPr>
        <p:blipFill>
          <a:blip r:embed="rId5" cstate="print"/>
          <a:srcRect/>
          <a:stretch>
            <a:fillRect/>
          </a:stretch>
        </p:blipFill>
        <p:spPr bwMode="auto">
          <a:xfrm>
            <a:off x="6274873" y="2179676"/>
            <a:ext cx="3292404" cy="1163269"/>
          </a:xfrm>
          <a:prstGeom prst="rect">
            <a:avLst/>
          </a:prstGeom>
          <a:noFill/>
          <a:ln w="9525">
            <a:solidFill>
              <a:schemeClr val="bg1">
                <a:lumMod val="75000"/>
              </a:schemeClr>
            </a:solidFill>
            <a:miter lim="800000"/>
            <a:headEnd/>
            <a:tailEnd/>
          </a:ln>
        </p:spPr>
      </p:pic>
      <p:sp>
        <p:nvSpPr>
          <p:cNvPr id="12" name="TextBox 11"/>
          <p:cNvSpPr txBox="1"/>
          <p:nvPr/>
        </p:nvSpPr>
        <p:spPr>
          <a:xfrm>
            <a:off x="8147758" y="2130057"/>
            <a:ext cx="2268570"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User, User Group, Custom Group</a:t>
            </a:r>
          </a:p>
        </p:txBody>
      </p:sp>
      <p:sp>
        <p:nvSpPr>
          <p:cNvPr id="13" name="Right Brace 12"/>
          <p:cNvSpPr/>
          <p:nvPr/>
        </p:nvSpPr>
        <p:spPr>
          <a:xfrm>
            <a:off x="5341088" y="2519917"/>
            <a:ext cx="861238" cy="691116"/>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Box 13"/>
          <p:cNvSpPr txBox="1"/>
          <p:nvPr/>
        </p:nvSpPr>
        <p:spPr>
          <a:xfrm>
            <a:off x="7095463" y="3444950"/>
            <a:ext cx="3087705" cy="1015663"/>
          </a:xfrm>
          <a:prstGeom prst="rect">
            <a:avLst/>
          </a:prstGeom>
          <a:noFill/>
          <a:ln>
            <a:solidFill>
              <a:schemeClr val="bg1">
                <a:lumMod val="75000"/>
              </a:schemeClr>
            </a:solidFill>
          </a:ln>
        </p:spPr>
        <p:txBody>
          <a:bodyPr wrap="none" rtlCol="0">
            <a:spAutoFit/>
          </a:bodyPr>
          <a:lstStyle/>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RiskByProcess</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process name</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RiskID</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risk ID(s)</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RiskLevel</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Critical, High, Medium, Low</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RuleSet</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 valid rule name, multiple rules</a:t>
            </a:r>
          </a:p>
          <a:p>
            <a:pPr marL="85725" marR="0" lvl="0" indent="-85725" algn="l" defTabSz="914400" rtl="0" eaLnBrk="1" fontAlgn="base" latinLnBrk="0" hangingPunct="1">
              <a:lnSpc>
                <a:spcPct val="100000"/>
              </a:lnSpc>
              <a:spcBef>
                <a:spcPts val="0"/>
              </a:spcBef>
              <a:spcAft>
                <a:spcPct val="0"/>
              </a:spcAft>
              <a:buClr>
                <a:srgbClr val="F0AB00"/>
              </a:buClr>
              <a:buSzPct val="80000"/>
              <a:buFontTx/>
              <a:buNone/>
              <a:tabLst/>
              <a:defRPr/>
            </a:pP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all of these, wildcards are allowed</a:t>
            </a:r>
          </a:p>
        </p:txBody>
      </p:sp>
      <p:sp>
        <p:nvSpPr>
          <p:cNvPr id="15" name="Right Brace 14"/>
          <p:cNvSpPr/>
          <p:nvPr/>
        </p:nvSpPr>
        <p:spPr>
          <a:xfrm>
            <a:off x="5362358" y="3235843"/>
            <a:ext cx="790354" cy="815163"/>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7" name="Straight Connector 16"/>
          <p:cNvCxnSpPr>
            <a:stCxn id="15" idx="1"/>
            <a:endCxn id="14" idx="1"/>
          </p:cNvCxnSpPr>
          <p:nvPr/>
        </p:nvCxnSpPr>
        <p:spPr>
          <a:xfrm>
            <a:off x="6152712" y="3628041"/>
            <a:ext cx="942750" cy="324740"/>
          </a:xfrm>
          <a:prstGeom prst="line">
            <a:avLst/>
          </a:prstGeom>
          <a:ln w="9525">
            <a:solidFill>
              <a:srgbClr val="FFC000"/>
            </a:solidFill>
          </a:ln>
        </p:spPr>
        <p:style>
          <a:lnRef idx="1">
            <a:schemeClr val="accent1"/>
          </a:lnRef>
          <a:fillRef idx="0">
            <a:schemeClr val="accent1"/>
          </a:fillRef>
          <a:effectRef idx="0">
            <a:schemeClr val="accent1"/>
          </a:effectRef>
          <a:fontRef idx="minor">
            <a:schemeClr val="tx1"/>
          </a:fontRef>
        </p:style>
      </p:cxnSp>
      <p:pic>
        <p:nvPicPr>
          <p:cNvPr id="25" name="Picture 4"/>
          <p:cNvPicPr>
            <a:picLocks noChangeAspect="1" noChangeArrowheads="1"/>
          </p:cNvPicPr>
          <p:nvPr/>
        </p:nvPicPr>
        <p:blipFill>
          <a:blip r:embed="rId6" cstate="print"/>
          <a:srcRect l="50471" t="18512" r="4240" b="6698"/>
          <a:stretch>
            <a:fillRect/>
          </a:stretch>
        </p:blipFill>
        <p:spPr bwMode="gray">
          <a:xfrm>
            <a:off x="5192232" y="3843446"/>
            <a:ext cx="1169583" cy="1103691"/>
          </a:xfrm>
          <a:prstGeom prst="rect">
            <a:avLst/>
          </a:prstGeom>
          <a:noFill/>
          <a:ln w="12700" algn="ctr">
            <a:solidFill>
              <a:schemeClr val="accent2"/>
            </a:solidFill>
            <a:miter lim="800000"/>
            <a:headEnd/>
            <a:tailEnd/>
          </a:ln>
          <a:effectLst/>
        </p:spPr>
      </p:pic>
      <p:pic>
        <p:nvPicPr>
          <p:cNvPr id="26" name="Picture 5"/>
          <p:cNvPicPr>
            <a:picLocks noChangeAspect="1" noChangeArrowheads="1"/>
          </p:cNvPicPr>
          <p:nvPr/>
        </p:nvPicPr>
        <p:blipFill>
          <a:blip r:embed="rId7" cstate="print"/>
          <a:srcRect l="47592" t="23878" r="10076"/>
          <a:stretch>
            <a:fillRect/>
          </a:stretch>
        </p:blipFill>
        <p:spPr bwMode="gray">
          <a:xfrm>
            <a:off x="7637723" y="4587027"/>
            <a:ext cx="1318437" cy="923703"/>
          </a:xfrm>
          <a:prstGeom prst="rect">
            <a:avLst/>
          </a:prstGeom>
          <a:noFill/>
          <a:ln w="12700" algn="ctr">
            <a:solidFill>
              <a:schemeClr val="accent2"/>
            </a:solidFill>
            <a:miter lim="800000"/>
            <a:headEnd/>
            <a:tailEnd/>
          </a:ln>
          <a:effectLst/>
        </p:spPr>
      </p:pic>
      <p:pic>
        <p:nvPicPr>
          <p:cNvPr id="27" name="Picture 6"/>
          <p:cNvPicPr>
            <a:picLocks noChangeAspect="1" noChangeArrowheads="1"/>
          </p:cNvPicPr>
          <p:nvPr/>
        </p:nvPicPr>
        <p:blipFill>
          <a:blip r:embed="rId8" cstate="print"/>
          <a:srcRect l="52363" t="20087" r="3048" b="9474"/>
          <a:stretch>
            <a:fillRect/>
          </a:stretch>
        </p:blipFill>
        <p:spPr bwMode="gray">
          <a:xfrm>
            <a:off x="6138530" y="5277245"/>
            <a:ext cx="1201479" cy="991431"/>
          </a:xfrm>
          <a:prstGeom prst="rect">
            <a:avLst/>
          </a:prstGeom>
          <a:noFill/>
          <a:ln w="12700" algn="ctr">
            <a:solidFill>
              <a:schemeClr val="accent2"/>
            </a:solidFill>
            <a:miter lim="800000"/>
            <a:headEnd/>
            <a:tailEnd/>
          </a:ln>
          <a:effectLst/>
        </p:spPr>
      </p:pic>
      <p:cxnSp>
        <p:nvCxnSpPr>
          <p:cNvPr id="29" name="Straight Connector 28"/>
          <p:cNvCxnSpPr/>
          <p:nvPr/>
        </p:nvCxnSpPr>
        <p:spPr>
          <a:xfrm flipV="1">
            <a:off x="4054549" y="4136066"/>
            <a:ext cx="1148316" cy="74429"/>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a:endCxn id="26" idx="1"/>
          </p:cNvCxnSpPr>
          <p:nvPr/>
        </p:nvCxnSpPr>
        <p:spPr>
          <a:xfrm>
            <a:off x="4043916" y="4423144"/>
            <a:ext cx="3593806" cy="625734"/>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a:endCxn id="27" idx="1"/>
          </p:cNvCxnSpPr>
          <p:nvPr/>
        </p:nvCxnSpPr>
        <p:spPr>
          <a:xfrm>
            <a:off x="4054549" y="4667694"/>
            <a:ext cx="2083980" cy="1105267"/>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7" name="Picture 1"/>
          <p:cNvPicPr>
            <a:picLocks noChangeAspect="1" noChangeArrowheads="1"/>
          </p:cNvPicPr>
          <p:nvPr/>
        </p:nvPicPr>
        <p:blipFill>
          <a:blip r:embed="rId9" cstate="print"/>
          <a:srcRect l="54191" r="3299" b="6275"/>
          <a:stretch>
            <a:fillRect/>
          </a:stretch>
        </p:blipFill>
        <p:spPr bwMode="auto">
          <a:xfrm>
            <a:off x="4426689" y="5752214"/>
            <a:ext cx="1392865" cy="946298"/>
          </a:xfrm>
          <a:prstGeom prst="rect">
            <a:avLst/>
          </a:prstGeom>
          <a:noFill/>
          <a:ln w="9525">
            <a:noFill/>
            <a:miter lim="800000"/>
            <a:headEnd/>
            <a:tailEnd/>
          </a:ln>
        </p:spPr>
      </p:pic>
      <p:cxnSp>
        <p:nvCxnSpPr>
          <p:cNvPr id="28" name="Straight Connector 27"/>
          <p:cNvCxnSpPr>
            <a:endCxn id="352257" idx="0"/>
          </p:cNvCxnSpPr>
          <p:nvPr/>
        </p:nvCxnSpPr>
        <p:spPr>
          <a:xfrm>
            <a:off x="4012019" y="4880344"/>
            <a:ext cx="1111102" cy="871870"/>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8" name="Picture 2"/>
          <p:cNvPicPr>
            <a:picLocks noChangeAspect="1" noChangeArrowheads="1"/>
          </p:cNvPicPr>
          <p:nvPr/>
        </p:nvPicPr>
        <p:blipFill>
          <a:blip r:embed="rId10" cstate="print"/>
          <a:srcRect l="54655" t="24991" r="1290" b="13363"/>
          <a:stretch>
            <a:fillRect/>
          </a:stretch>
        </p:blipFill>
        <p:spPr bwMode="auto">
          <a:xfrm>
            <a:off x="2640419" y="6071192"/>
            <a:ext cx="1414130" cy="393405"/>
          </a:xfrm>
          <a:prstGeom prst="rect">
            <a:avLst/>
          </a:prstGeom>
          <a:noFill/>
          <a:ln w="9525">
            <a:noFill/>
            <a:miter lim="800000"/>
            <a:headEnd/>
            <a:tailEnd/>
          </a:ln>
        </p:spPr>
      </p:pic>
      <p:cxnSp>
        <p:nvCxnSpPr>
          <p:cNvPr id="32" name="Straight Connector 31"/>
          <p:cNvCxnSpPr>
            <a:endCxn id="352258" idx="0"/>
          </p:cNvCxnSpPr>
          <p:nvPr/>
        </p:nvCxnSpPr>
        <p:spPr>
          <a:xfrm rot="5400000">
            <a:off x="3052432" y="5398681"/>
            <a:ext cx="967563" cy="377456"/>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endCxn id="352258" idx="0"/>
          </p:cNvCxnSpPr>
          <p:nvPr/>
        </p:nvCxnSpPr>
        <p:spPr>
          <a:xfrm rot="16200000" flipH="1">
            <a:off x="2935472" y="5659179"/>
            <a:ext cx="754912" cy="69112"/>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01181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CA8DFA-E938-4740-B6FC-DBD17D75962F}"/>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All Pairs Testing - Applicability</a:t>
            </a:r>
          </a:p>
        </p:txBody>
      </p:sp>
      <p:sp>
        <p:nvSpPr>
          <p:cNvPr id="4" name="Rectangle 3">
            <a:extLst>
              <a:ext uri="{FF2B5EF4-FFF2-40B4-BE49-F238E27FC236}">
                <a16:creationId xmlns:a16="http://schemas.microsoft.com/office/drawing/2014/main" id="{4DC49E92-D06F-453B-A304-567F4A4DB74D}"/>
              </a:ext>
            </a:extLst>
          </p:cNvPr>
          <p:cNvSpPr/>
          <p:nvPr/>
        </p:nvSpPr>
        <p:spPr>
          <a:xfrm>
            <a:off x="248652" y="2386037"/>
            <a:ext cx="9724031" cy="3683358"/>
          </a:xfrm>
          <a:prstGeom prst="rect">
            <a:avLst/>
          </a:prstGeom>
        </p:spPr>
        <p:txBody>
          <a:bodyPr vert="horz" lIns="91440" tIns="45720" rIns="91440" bIns="45720" rtlCol="0" anchor="ctr">
            <a:noAutofit/>
          </a:bodyPr>
          <a:lstStyle/>
          <a:p>
            <a:pPr marL="0" marR="0" lvl="0"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All-Pairs Testing is useful if …</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there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more than 4 parameters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of a use case</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parameters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semi-coupled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i.e. there is some interaction possible </a:t>
            </a:r>
            <a:r>
              <a:rPr kumimoji="0" 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a:t>
            </a:r>
          </a:p>
          <a:p>
            <a:pPr marL="0" marR="0" lvl="0" indent="0" algn="l" defTabSz="914400" rtl="0" eaLnBrk="1" fontAlgn="base" latinLnBrk="0" hangingPunct="1">
              <a:lnSpc>
                <a:spcPct val="90000"/>
              </a:lnSpc>
              <a:spcBef>
                <a:spcPts val="1200"/>
              </a:spcBef>
              <a:spcAft>
                <a:spcPct val="0"/>
              </a:spcAft>
              <a:buClr>
                <a:prstClr val="black"/>
              </a:buClr>
              <a:buSzPct val="80000"/>
              <a:buFontTx/>
              <a:buNone/>
              <a:tabLst/>
              <a:defRPr/>
            </a:pPr>
            <a:endPar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l" defTabSz="914400" rtl="0" eaLnBrk="1" fontAlgn="base" latinLnBrk="0" hangingPunct="1">
              <a:lnSpc>
                <a:spcPct val="90000"/>
              </a:lnSpc>
              <a:spcBef>
                <a:spcPts val="1200"/>
              </a:spcBef>
              <a:spcAft>
                <a:spcPct val="0"/>
              </a:spcAft>
              <a:buClr>
                <a:prstClr val="black"/>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Applicable Test Object Types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Testing at</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 UI level / screens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APIs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e.g. RFC, BAPI, SOA, …</a:t>
            </a:r>
          </a:p>
          <a:p>
            <a:pPr marL="184150" marR="0" lvl="1" indent="-228600" algn="l" defTabSz="914400" rtl="0" eaLnBrk="1" fontAlgn="auto" latinLnBrk="0" hangingPunct="1">
              <a:lnSpc>
                <a:spcPct val="90000"/>
              </a:lnSpc>
              <a:spcBef>
                <a:spcPts val="1200"/>
              </a:spcBef>
              <a:spcAft>
                <a:spcPts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Scenario tests with many steps and variants / parameters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Component and Version combinatorics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allowed combinations of OS, DB, browser,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Configuration</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EhP</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switches,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ByD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config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(and more)</a:t>
            </a:r>
          </a:p>
        </p:txBody>
      </p:sp>
    </p:spTree>
    <p:extLst>
      <p:ext uri="{BB962C8B-B14F-4D97-AF65-F5344CB8AC3E}">
        <p14:creationId xmlns:p14="http://schemas.microsoft.com/office/powerpoint/2010/main" val="10151655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47212" name="Rectangle 12"/>
          <p:cNvSpPr>
            <a:spLocks noChangeArrowheads="1"/>
          </p:cNvSpPr>
          <p:nvPr/>
        </p:nvSpPr>
        <p:spPr bwMode="gray">
          <a:xfrm>
            <a:off x="6096000" y="639763"/>
            <a:ext cx="5459413" cy="4386263"/>
          </a:xfrm>
          <a:prstGeom prst="rect">
            <a:avLst/>
          </a:prstGeom>
          <a:solidFill>
            <a:srgbClr val="C0C0C0">
              <a:alpha val="10001"/>
            </a:srgbClr>
          </a:solidFill>
          <a:ln w="12700" algn="ctr">
            <a:noFill/>
            <a:miter lim="800000"/>
            <a:headEnd/>
            <a:tailEnd/>
          </a:ln>
          <a:effectLst/>
        </p:spPr>
        <p:txBody>
          <a:bodyPr wrap="square" lIns="72000" tIns="72000" rIns="72000" bIns="72000" anchor="t">
            <a:normAutofit/>
          </a:bodyPr>
          <a:lstStyle/>
          <a:p>
            <a:pPr marL="0" marR="0" lvl="0" indent="0" algn="l" defTabSz="914400" rtl="0" eaLnBrk="1" fontAlgn="auto" latinLnBrk="0" hangingPunct="1">
              <a:lnSpc>
                <a:spcPct val="90000"/>
              </a:lnSpc>
              <a:spcBef>
                <a:spcPts val="600"/>
              </a:spcBef>
              <a:spcAft>
                <a:spcPts val="0"/>
              </a:spcAft>
              <a:buClr>
                <a:prstClr val="black"/>
              </a:buClr>
              <a:buSzTx/>
              <a:buFontTx/>
              <a:buNone/>
              <a:tabLst/>
              <a:defRPr/>
            </a:pP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rPr>
              <a:t>All-Pairs finds more defects with less effort</a:t>
            </a:r>
          </a:p>
          <a:p>
            <a:pPr marL="0" marR="0" lvl="0" indent="0" algn="l" defTabSz="914400" rtl="0" eaLnBrk="1" fontAlgn="auto" latinLnBrk="0" hangingPunct="1">
              <a:lnSpc>
                <a:spcPct val="90000"/>
              </a:lnSpc>
              <a:spcBef>
                <a:spcPts val="600"/>
              </a:spcBef>
              <a:spcAft>
                <a:spcPts val="0"/>
              </a:spcAft>
              <a:buClr>
                <a:prstClr val="black"/>
              </a:buClr>
              <a:buSzTx/>
              <a:buFontTx/>
              <a:buNone/>
              <a:tabLst/>
              <a:defRPr/>
            </a:pPr>
            <a:endParaRPr kumimoji="0" lang="en-US" sz="2800" b="1" i="0" u="none" strike="noStrike" kern="1200" cap="none" spc="0" normalizeH="0" baseline="30000" noProof="0" dirty="0">
              <a:ln>
                <a:noFill/>
              </a:ln>
              <a:solidFill>
                <a:prstClr val="black"/>
              </a:solidFill>
              <a:effectLst/>
              <a:uLnTx/>
              <a:uFillTx/>
              <a:latin typeface="Calibri" panose="020F0502020204030204"/>
              <a:ea typeface="+mn-ea"/>
              <a:cs typeface="+mn-cs"/>
            </a:endParaRPr>
          </a:p>
          <a:p>
            <a:pPr marL="1587" marR="0" lvl="1" indent="0" algn="l" defTabSz="914400" rtl="0" eaLnBrk="1" fontAlgn="auto" latinLnBrk="0" hangingPunct="1">
              <a:lnSpc>
                <a:spcPct val="90000"/>
              </a:lnSpc>
              <a:spcBef>
                <a:spcPts val="600"/>
              </a:spcBef>
              <a:spcAft>
                <a:spcPts val="0"/>
              </a:spcAft>
              <a:buClr>
                <a:srgbClr val="F0AB00"/>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Average find-cost per defect </a:t>
            </a:r>
            <a:r>
              <a:rPr kumimoji="0" lang="en-US" sz="2800" b="0" i="0" u="none" strike="noStrike" kern="1200" cap="none" spc="0" normalizeH="0" baseline="30000" noProof="0" dirty="0">
                <a:ln>
                  <a:noFill/>
                </a:ln>
                <a:solidFill>
                  <a:prstClr val="black"/>
                </a:solidFill>
                <a:effectLst/>
                <a:uLnTx/>
                <a:uFillTx/>
                <a:latin typeface="Calibri" panose="020F0502020204030204"/>
                <a:ea typeface="+mn-ea"/>
                <a:cs typeface="+mn-cs"/>
              </a:rPr>
              <a: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for All-Pairs was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1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vs.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rPr>
              <a:t>≈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0.26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 standard acceptance tests </a:t>
            </a: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average is</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 ≈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factor 4 better </a:t>
            </a: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some projects were actually 10x better</a:t>
            </a:r>
          </a:p>
          <a:p>
            <a:pPr marL="184150" marR="0" lvl="1" indent="-182563" algn="l" defTabSz="914400" rtl="0" eaLnBrk="1" fontAlgn="auto" latinLnBrk="0" hangingPunct="1">
              <a:lnSpc>
                <a:spcPct val="90000"/>
              </a:lnSpc>
              <a:spcBef>
                <a:spcPts val="600"/>
              </a:spcBef>
              <a:spcAft>
                <a:spcPts val="0"/>
              </a:spcAft>
              <a:buClrTx/>
              <a:buSzTx/>
              <a:buFont typeface="Wingdings" pitchFamily="2" charset="2"/>
              <a:buChar char="n"/>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endParaRPr>
          </a:p>
        </p:txBody>
      </p:sp>
      <p:sp>
        <p:nvSpPr>
          <p:cNvPr id="947214" name="Text Box 14"/>
          <p:cNvSpPr txBox="1">
            <a:spLocks noChangeArrowheads="1"/>
          </p:cNvSpPr>
          <p:nvPr/>
        </p:nvSpPr>
        <p:spPr bwMode="gray">
          <a:xfrm>
            <a:off x="6096000" y="5094288"/>
            <a:ext cx="5459413" cy="1123950"/>
          </a:xfrm>
          <a:prstGeom prst="rect">
            <a:avLst/>
          </a:prstGeom>
          <a:noFill/>
          <a:ln w="9525" algn="ctr">
            <a:noFill/>
            <a:miter lim="800000"/>
            <a:headEnd/>
            <a:tailEnd/>
          </a:ln>
          <a:effectLst/>
        </p:spPr>
        <p:txBody>
          <a:bodyPr wrap="square" lIns="90000" tIns="46800" rIns="90000" bIns="46800" anchor="t">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Find-cost-per-defect = test-execution-effort / defects-found</a:t>
            </a:r>
          </a:p>
        </p:txBody>
      </p:sp>
      <p:sp>
        <p:nvSpPr>
          <p:cNvPr id="947203" name="Rectangle 3"/>
          <p:cNvSpPr>
            <a:spLocks noGrp="1" noChangeArrowheads="1"/>
          </p:cNvSpPr>
          <p:nvPr>
            <p:ph type="title"/>
          </p:nvPr>
        </p:nvSpPr>
        <p:spPr>
          <a:xfrm>
            <a:off x="621629" y="640080"/>
            <a:ext cx="4225290" cy="5578816"/>
          </a:xfrm>
        </p:spPr>
        <p:txBody>
          <a:bodyPr vert="horz" lIns="91440" tIns="45720" rIns="91440" bIns="45720" rtlCol="0" anchor="ctr">
            <a:normAutofit/>
          </a:bodyPr>
          <a:lstStyle/>
          <a:p>
            <a:pPr algn="ctr"/>
            <a:r>
              <a:rPr lang="en-US" kern="1200">
                <a:solidFill>
                  <a:srgbClr val="FFFFFF"/>
                </a:solidFill>
                <a:latin typeface="+mj-lt"/>
                <a:ea typeface="+mj-ea"/>
                <a:cs typeface="+mj-cs"/>
              </a:rPr>
              <a:t>Is it worth it? ROI of All-Pairs Testing Pilots</a:t>
            </a:r>
            <a:br>
              <a:rPr lang="en-US" kern="1200">
                <a:solidFill>
                  <a:srgbClr val="FFFFFF"/>
                </a:solidFill>
                <a:latin typeface="+mj-lt"/>
                <a:ea typeface="+mj-ea"/>
                <a:cs typeface="+mj-cs"/>
              </a:rPr>
            </a:br>
            <a:r>
              <a:rPr lang="en-US" kern="1200">
                <a:solidFill>
                  <a:srgbClr val="FFFFFF"/>
                </a:solidFill>
                <a:latin typeface="+mj-lt"/>
                <a:ea typeface="+mj-ea"/>
                <a:cs typeface="+mj-cs"/>
              </a:rPr>
              <a:t> (Results from SAP – Internal Pilot 2009)</a:t>
            </a:r>
          </a:p>
        </p:txBody>
      </p:sp>
    </p:spTree>
    <p:extLst>
      <p:ext uri="{BB962C8B-B14F-4D97-AF65-F5344CB8AC3E}">
        <p14:creationId xmlns:p14="http://schemas.microsoft.com/office/powerpoint/2010/main" val="24338392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6386" y="-13182"/>
            <a:ext cx="8229600" cy="1143000"/>
          </a:xfrm>
        </p:spPr>
        <p:txBody>
          <a:bodyPr>
            <a:normAutofit/>
          </a:bodyPr>
          <a:lstStyle/>
          <a:p>
            <a:r>
              <a:rPr lang="en-US">
                <a:solidFill>
                  <a:schemeClr val="tx1"/>
                </a:solidFill>
              </a:rPr>
              <a:t>All-Pairs Testing – the Foundation</a:t>
            </a:r>
            <a:endParaRPr lang="en-US" dirty="0">
              <a:solidFill>
                <a:schemeClr val="tx1"/>
              </a:solidFill>
            </a:endParaRPr>
          </a:p>
        </p:txBody>
      </p:sp>
      <p:sp>
        <p:nvSpPr>
          <p:cNvPr id="12" name="Content Placeholder 11"/>
          <p:cNvSpPr>
            <a:spLocks noGrp="1"/>
          </p:cNvSpPr>
          <p:nvPr>
            <p:ph idx="1"/>
          </p:nvPr>
        </p:nvSpPr>
        <p:spPr>
          <a:xfrm>
            <a:off x="1686491" y="1231641"/>
            <a:ext cx="5227194" cy="5448981"/>
          </a:xfrm>
        </p:spPr>
        <p:txBody>
          <a:bodyPr/>
          <a:lstStyle/>
          <a:p>
            <a:pPr lvl="0">
              <a:defRPr/>
            </a:pPr>
            <a:r>
              <a:rPr lang="en-US" sz="2000" b="1"/>
              <a:t>The Empirical Foundation </a:t>
            </a:r>
          </a:p>
          <a:p>
            <a:pPr lvl="1">
              <a:defRPr/>
            </a:pPr>
            <a:r>
              <a:rPr lang="en-US" sz="1800"/>
              <a:t>Most faults (70-90%) can be exposed / occur by </a:t>
            </a:r>
            <a:r>
              <a:rPr lang="en-US" sz="1800" b="1"/>
              <a:t>combining</a:t>
            </a:r>
            <a:r>
              <a:rPr lang="en-US" sz="1800"/>
              <a:t> </a:t>
            </a:r>
            <a:r>
              <a:rPr lang="en-US" sz="1800" b="1"/>
              <a:t>two parameters 'just right</a:t>
            </a:r>
            <a:r>
              <a:rPr lang="en-US" sz="1800"/>
              <a:t>' (proven by </a:t>
            </a:r>
            <a:r>
              <a:rPr lang="en-US" sz="1800">
                <a:solidFill>
                  <a:srgbClr val="002060"/>
                </a:solidFill>
                <a:hlinkClick r:id="" action="ppaction://noaction">
                  <a:extLst>
                    <a:ext uri="{A12FA001-AC4F-418D-AE19-62706E023703}">
                      <ahyp:hlinkClr xmlns:ahyp="http://schemas.microsoft.com/office/drawing/2018/hyperlinkcolor" val="tx"/>
                    </a:ext>
                  </a:extLst>
                </a:hlinkClick>
              </a:rPr>
              <a:t>many studies</a:t>
            </a:r>
            <a:r>
              <a:rPr lang="en-US" sz="1800"/>
              <a:t>) </a:t>
            </a:r>
          </a:p>
          <a:p>
            <a:pPr lvl="1">
              <a:defRPr/>
            </a:pPr>
            <a:endParaRPr lang="en-US">
              <a:sym typeface="Wingdings" pitchFamily="2" charset="2"/>
            </a:endParaRPr>
          </a:p>
          <a:p>
            <a:pPr marL="182563">
              <a:defRPr/>
            </a:pPr>
            <a:endParaRPr lang="en-US" sz="2000">
              <a:sym typeface="Wingdings" pitchFamily="2" charset="2"/>
            </a:endParaRPr>
          </a:p>
          <a:p>
            <a:pPr marL="182563">
              <a:defRPr/>
            </a:pPr>
            <a:r>
              <a:rPr lang="en-US" sz="2000">
                <a:sym typeface="Wingdings" pitchFamily="2" charset="2"/>
              </a:rPr>
              <a:t>All-Pairs Testing exploits this for testing: </a:t>
            </a:r>
            <a:br>
              <a:rPr lang="en-US" sz="2000">
                <a:sym typeface="Wingdings" pitchFamily="2" charset="2"/>
              </a:rPr>
            </a:br>
            <a:r>
              <a:rPr lang="en-US" sz="2000">
                <a:sym typeface="Wingdings" pitchFamily="2" charset="2"/>
              </a:rPr>
              <a:t> Generates </a:t>
            </a:r>
            <a:r>
              <a:rPr lang="en-US" sz="2000" b="1">
                <a:sym typeface="Wingdings" pitchFamily="2" charset="2"/>
              </a:rPr>
              <a:t>minimal test case variants </a:t>
            </a:r>
            <a:r>
              <a:rPr lang="en-US" sz="2000">
                <a:sym typeface="Wingdings" pitchFamily="2" charset="2"/>
              </a:rPr>
              <a:t>that cover all 'pair combinations'</a:t>
            </a:r>
          </a:p>
          <a:p>
            <a:pPr lvl="1">
              <a:defRPr/>
            </a:pPr>
            <a:endParaRPr lang="en-US" sz="2000">
              <a:sym typeface="Wingdings" pitchFamily="2" charset="2"/>
            </a:endParaRPr>
          </a:p>
          <a:p>
            <a:pPr>
              <a:defRPr/>
            </a:pPr>
            <a:endParaRPr lang="en-US" sz="2000" b="1">
              <a:sym typeface="Wingdings" pitchFamily="2" charset="2"/>
            </a:endParaRPr>
          </a:p>
          <a:p>
            <a:pPr>
              <a:defRPr/>
            </a:pPr>
            <a:r>
              <a:rPr lang="en-US" sz="2000" b="1">
                <a:sym typeface="Wingdings" pitchFamily="2" charset="2"/>
              </a:rPr>
              <a:t>All-Pairs is a proven industry best practice</a:t>
            </a:r>
            <a:endParaRPr lang="en-US" sz="2000" b="1" dirty="0"/>
          </a:p>
        </p:txBody>
      </p:sp>
      <p:sp>
        <p:nvSpPr>
          <p:cNvPr id="15" name="Rectangle 14"/>
          <p:cNvSpPr/>
          <p:nvPr/>
        </p:nvSpPr>
        <p:spPr bwMode="gray">
          <a:xfrm>
            <a:off x="1699413" y="3243212"/>
            <a:ext cx="5179103" cy="1253066"/>
          </a:xfrm>
          <a:prstGeom prst="rect">
            <a:avLst/>
          </a:prstGeom>
          <a:noFill/>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pic>
        <p:nvPicPr>
          <p:cNvPr id="3" name="Picture 1"/>
          <p:cNvPicPr>
            <a:picLocks noChangeAspect="1" noChangeArrowheads="1"/>
          </p:cNvPicPr>
          <p:nvPr/>
        </p:nvPicPr>
        <p:blipFill>
          <a:blip r:embed="rId3" cstate="print"/>
          <a:srcRect r="21983"/>
          <a:stretch>
            <a:fillRect/>
          </a:stretch>
        </p:blipFill>
        <p:spPr bwMode="auto">
          <a:xfrm>
            <a:off x="7702590" y="2039666"/>
            <a:ext cx="2678112" cy="2804896"/>
          </a:xfrm>
          <a:prstGeom prst="rect">
            <a:avLst/>
          </a:prstGeom>
          <a:noFill/>
          <a:ln w="9525">
            <a:noFill/>
            <a:miter lim="800000"/>
            <a:headEnd/>
            <a:tailEnd/>
          </a:ln>
        </p:spPr>
      </p:pic>
      <p:pic>
        <p:nvPicPr>
          <p:cNvPr id="14" name="Picture 1"/>
          <p:cNvPicPr>
            <a:picLocks noChangeAspect="1" noChangeArrowheads="1"/>
          </p:cNvPicPr>
          <p:nvPr/>
        </p:nvPicPr>
        <p:blipFill>
          <a:blip r:embed="rId3" cstate="print"/>
          <a:srcRect l="76387" t="33171" b="37655"/>
          <a:stretch>
            <a:fillRect/>
          </a:stretch>
        </p:blipFill>
        <p:spPr bwMode="auto">
          <a:xfrm>
            <a:off x="8645770" y="4651133"/>
            <a:ext cx="1134208" cy="1145068"/>
          </a:xfrm>
          <a:prstGeom prst="rect">
            <a:avLst/>
          </a:prstGeom>
          <a:noFill/>
          <a:ln w="9525">
            <a:noFill/>
            <a:miter lim="800000"/>
            <a:headEnd/>
            <a:tailEnd/>
          </a:ln>
        </p:spPr>
      </p:pic>
      <p:sp>
        <p:nvSpPr>
          <p:cNvPr id="17" name="TextBox 16"/>
          <p:cNvSpPr txBox="1"/>
          <p:nvPr/>
        </p:nvSpPr>
        <p:spPr>
          <a:xfrm>
            <a:off x="8047883" y="1626574"/>
            <a:ext cx="2338754"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Cumulative fault dependency on N parameters</a:t>
            </a:r>
          </a:p>
        </p:txBody>
      </p:sp>
    </p:spTree>
    <p:extLst>
      <p:ext uri="{BB962C8B-B14F-4D97-AF65-F5344CB8AC3E}">
        <p14:creationId xmlns:p14="http://schemas.microsoft.com/office/powerpoint/2010/main" val="424754047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solidFill>
                  <a:schemeClr val="tx1"/>
                </a:solidFill>
              </a:rPr>
              <a:t>All-Pairs Testing – the Foundation</a:t>
            </a:r>
            <a:endParaRPr lang="en-US" dirty="0"/>
          </a:p>
        </p:txBody>
      </p:sp>
      <p:sp>
        <p:nvSpPr>
          <p:cNvPr id="3" name="Content Placeholder 2"/>
          <p:cNvSpPr>
            <a:spLocks noGrp="1"/>
          </p:cNvSpPr>
          <p:nvPr>
            <p:ph idx="1"/>
          </p:nvPr>
        </p:nvSpPr>
        <p:spPr/>
        <p:txBody>
          <a:bodyPr/>
          <a:lstStyle/>
          <a:p>
            <a:pPr lvl="0">
              <a:buFont typeface="Arial" charset="0"/>
              <a:buNone/>
            </a:pPr>
            <a:r>
              <a:rPr lang="en-US" dirty="0"/>
              <a:t>Article on empirical foundation:</a:t>
            </a:r>
          </a:p>
          <a:p>
            <a:pPr lvl="1">
              <a:buFont typeface="Arial" charset="0"/>
              <a:buChar char="•"/>
            </a:pPr>
            <a:r>
              <a:rPr lang="en-US" dirty="0"/>
              <a:t>A good article on the empirical foundation of all-pairs is (source of diagram in previous slide): </a:t>
            </a:r>
            <a:br>
              <a:rPr lang="en-US" dirty="0"/>
            </a:br>
            <a:r>
              <a:rPr lang="en-US" dirty="0"/>
              <a:t>Kuhn et al.: Software Fault Interactions and Implications for Software Testing, IEEE Trans. on </a:t>
            </a:r>
            <a:r>
              <a:rPr lang="en-US" dirty="0" err="1"/>
              <a:t>Softw</a:t>
            </a:r>
            <a:r>
              <a:rPr lang="en-US" dirty="0"/>
              <a:t>. Eng. 30 (6), June 2004</a:t>
            </a:r>
          </a:p>
          <a:p>
            <a:pPr marL="393192" lvl="1" indent="0">
              <a:buNone/>
            </a:pPr>
            <a:endParaRPr lang="en-US" dirty="0"/>
          </a:p>
          <a:p>
            <a:pPr lvl="1">
              <a:buFont typeface="Arial" charset="0"/>
              <a:buChar char="•"/>
            </a:pPr>
            <a:r>
              <a:rPr lang="en-US" dirty="0"/>
              <a:t>The article combines several research papers and sources and shows that the effectiveness of all-pairs is between roughly 70 and 90% in the investigated cases. </a:t>
            </a:r>
          </a:p>
          <a:p>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084767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F497F-2D46-707D-92B3-33FC32B47B12}"/>
              </a:ext>
            </a:extLst>
          </p:cNvPr>
          <p:cNvSpPr>
            <a:spLocks noGrp="1"/>
          </p:cNvSpPr>
          <p:nvPr>
            <p:ph type="title"/>
          </p:nvPr>
        </p:nvSpPr>
        <p:spPr/>
        <p:txBody>
          <a:bodyPr/>
          <a:lstStyle/>
          <a:p>
            <a:r>
              <a:rPr lang="en-US" dirty="0"/>
              <a:t>How to Generate All Pairs?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0F6466A-5B9A-7FF1-4E8D-25F3B825E33B}"/>
                  </a:ext>
                </a:extLst>
              </p:cNvPr>
              <p:cNvSpPr>
                <a:spLocks noGrp="1"/>
              </p:cNvSpPr>
              <p:nvPr>
                <p:ph idx="1"/>
              </p:nvPr>
            </p:nvSpPr>
            <p:spPr/>
            <p:txBody>
              <a:bodyPr/>
              <a:lstStyle/>
              <a:p>
                <a:r>
                  <a:rPr lang="en-US" dirty="0"/>
                  <a:t>Many algorithms and tools out there</a:t>
                </a:r>
              </a:p>
              <a:p>
                <a:pPr lvl="1"/>
                <a:r>
                  <a:rPr lang="en-US" dirty="0"/>
                  <a:t>Orthogonal Array Method</a:t>
                </a:r>
              </a:p>
              <a:p>
                <a:pPr lvl="1"/>
                <a:r>
                  <a:rPr lang="en-US" dirty="0"/>
                  <a:t>In Parameter Order Algorithm</a:t>
                </a:r>
              </a:p>
              <a:p>
                <a:pPr lvl="1"/>
                <a:r>
                  <a:rPr lang="en-US" dirty="0"/>
                  <a:t>Automatic Efficient Test Generation</a:t>
                </a:r>
              </a:p>
              <a:p>
                <a:pPr lvl="1"/>
                <a:r>
                  <a:rPr lang="en-US" dirty="0"/>
                  <a:t>Other Heuristics (Simulated Annealing, Genetic Algorithms </a:t>
                </a:r>
                <a:r>
                  <a:rPr lang="en-US" dirty="0" err="1"/>
                  <a:t>etc</a:t>
                </a:r>
                <a:r>
                  <a:rPr lang="en-US" dirty="0"/>
                  <a:t>).</a:t>
                </a:r>
              </a:p>
              <a:p>
                <a:pPr lvl="1"/>
                <a:endParaRPr lang="en-US" dirty="0"/>
              </a:p>
              <a:p>
                <a:r>
                  <a:rPr lang="en-US" dirty="0"/>
                  <a:t>No precise bound for number of tests needed</a:t>
                </a:r>
              </a:p>
              <a:p>
                <a:pPr lvl="1"/>
                <a:r>
                  <a:rPr lang="en-US" dirty="0"/>
                  <a:t>You need at least ⌈</a:t>
                </a:r>
                <a14:m>
                  <m:oMath xmlns:m="http://schemas.openxmlformats.org/officeDocument/2006/math">
                    <m:f>
                      <m:fPr>
                        <m:ctrlPr>
                          <a:rPr lang="en-US"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2</m:t>
                            </m:r>
                          </m:sup>
                        </m:sSup>
                        <m:r>
                          <m:rPr>
                            <m:sty m:val="p"/>
                          </m:rPr>
                          <a:rPr lang="en-US" b="0" i="0" smtClean="0">
                            <a:latin typeface="Cambria Math" panose="02040503050406030204" pitchFamily="18" charset="0"/>
                          </a:rPr>
                          <m:t>log</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num>
                      <m:den>
                        <m:r>
                          <m:rPr>
                            <m:sty m:val="p"/>
                          </m:rPr>
                          <a:rPr lang="en-US" b="0" i="0" smtClean="0">
                            <a:latin typeface="Cambria Math" panose="02040503050406030204" pitchFamily="18" charset="0"/>
                          </a:rPr>
                          <m:t>log</m:t>
                        </m:r>
                        <m:r>
                          <a:rPr lang="en-US" b="0"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2</m:t>
                                </m:r>
                              </m:sup>
                            </m:sSup>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2</m:t>
                                </m:r>
                              </m:sup>
                            </m:sSup>
                            <m:r>
                              <a:rPr lang="en-US" b="0" i="1" smtClean="0">
                                <a:latin typeface="Cambria Math" panose="02040503050406030204" pitchFamily="18" charset="0"/>
                              </a:rPr>
                              <m:t>−1</m:t>
                            </m:r>
                          </m:den>
                        </m:f>
                        <m:r>
                          <a:rPr lang="en-US" b="0" i="1" smtClean="0">
                            <a:latin typeface="Cambria Math" panose="02040503050406030204" pitchFamily="18" charset="0"/>
                          </a:rPr>
                          <m:t>)</m:t>
                        </m:r>
                      </m:den>
                    </m:f>
                  </m:oMath>
                </a14:m>
                <a:r>
                  <a:rPr lang="en-US" dirty="0"/>
                  <a:t>⌉ test cases for N variables with K possible values</a:t>
                </a:r>
              </a:p>
            </p:txBody>
          </p:sp>
        </mc:Choice>
        <mc:Fallback>
          <p:sp>
            <p:nvSpPr>
              <p:cNvPr id="3" name="Content Placeholder 2">
                <a:extLst>
                  <a:ext uri="{FF2B5EF4-FFF2-40B4-BE49-F238E27FC236}">
                    <a16:creationId xmlns:a16="http://schemas.microsoft.com/office/drawing/2014/main" id="{E0F6466A-5B9A-7FF1-4E8D-25F3B825E33B}"/>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36737729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3DA4-6011-17B7-13B6-5D7F3B6FD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87F283-5E28-8BB0-C296-5D32F4E8FC25}"/>
              </a:ext>
            </a:extLst>
          </p:cNvPr>
          <p:cNvSpPr>
            <a:spLocks noGrp="1"/>
          </p:cNvSpPr>
          <p:nvPr>
            <p:ph type="title"/>
          </p:nvPr>
        </p:nvSpPr>
        <p:spPr/>
        <p:txBody>
          <a:bodyPr/>
          <a:lstStyle/>
          <a:p>
            <a:r>
              <a:rPr lang="en-US" dirty="0"/>
              <a:t>A Simple Efficient Algorithm</a:t>
            </a:r>
          </a:p>
        </p:txBody>
      </p:sp>
      <p:sp>
        <p:nvSpPr>
          <p:cNvPr id="3" name="Content Placeholder 2">
            <a:extLst>
              <a:ext uri="{FF2B5EF4-FFF2-40B4-BE49-F238E27FC236}">
                <a16:creationId xmlns:a16="http://schemas.microsoft.com/office/drawing/2014/main" id="{EF70DEAF-CD46-7447-0756-4AE136E77C48}"/>
              </a:ext>
            </a:extLst>
          </p:cNvPr>
          <p:cNvSpPr>
            <a:spLocks noGrp="1"/>
          </p:cNvSpPr>
          <p:nvPr>
            <p:ph idx="1"/>
          </p:nvPr>
        </p:nvSpPr>
        <p:spPr/>
        <p:txBody>
          <a:bodyPr>
            <a:normAutofit fontScale="92500" lnSpcReduction="20000"/>
          </a:bodyPr>
          <a:lstStyle/>
          <a:p>
            <a:pPr marL="0" indent="0">
              <a:buNone/>
            </a:pPr>
            <a:r>
              <a:rPr lang="en-US" sz="2000" dirty="0">
                <a:latin typeface="Abadi MT Condensed Light" panose="020B0306030101010103" pitchFamily="34" charset="77"/>
              </a:rPr>
              <a:t>pairs = </a:t>
            </a:r>
            <a:r>
              <a:rPr lang="en-US" sz="2000" dirty="0" err="1">
                <a:latin typeface="Abadi MT Condensed Light" panose="020B0306030101010103" pitchFamily="34" charset="77"/>
              </a:rPr>
              <a:t>generate_all_pairs</a:t>
            </a:r>
            <a:r>
              <a:rPr lang="en-US" sz="2000" dirty="0">
                <a:latin typeface="Abadi MT Condensed Light" panose="020B0306030101010103" pitchFamily="34" charset="77"/>
              </a:rPr>
              <a:t>(parameters) # N*(N-1)*K^2/2 pairs much less than N^K</a:t>
            </a:r>
            <a:br>
              <a:rPr lang="en-US" sz="2000" dirty="0">
                <a:latin typeface="Abadi MT Condensed Light" panose="020B0306030101010103" pitchFamily="34" charset="77"/>
              </a:rPr>
            </a:br>
            <a:r>
              <a:rPr lang="en-US" sz="2000" dirty="0">
                <a:latin typeface="Abadi MT Condensed Light" panose="020B0306030101010103" pitchFamily="34" charset="77"/>
              </a:rPr>
              <a:t>tests = [] # Empty set of tests to start with</a:t>
            </a:r>
            <a:br>
              <a:rPr lang="en-US" sz="2000" dirty="0">
                <a:latin typeface="Abadi MT Condensed Light" panose="020B0306030101010103" pitchFamily="34" charset="77"/>
              </a:rPr>
            </a:br>
            <a:r>
              <a:rPr lang="en-US" sz="2000" dirty="0">
                <a:latin typeface="Abadi MT Condensed Light" panose="020B0306030101010103" pitchFamily="34" charset="77"/>
              </a:rPr>
              <a:t>while pairs: # While there are uncovered pairs</a:t>
            </a:r>
            <a:br>
              <a:rPr lang="en-US" sz="2000" dirty="0">
                <a:latin typeface="Abadi MT Condensed Light" panose="020B0306030101010103" pitchFamily="34" charset="77"/>
              </a:rPr>
            </a:br>
            <a:r>
              <a:rPr lang="en-US" sz="2000" dirty="0">
                <a:latin typeface="Abadi MT Condensed Light" panose="020B0306030101010103" pitchFamily="34" charset="77"/>
              </a:rPr>
              <a:t>    </a:t>
            </a:r>
            <a:r>
              <a:rPr lang="en-US" sz="2000" dirty="0" err="1">
                <a:latin typeface="Abadi MT Condensed Light" panose="020B0306030101010103" pitchFamily="34" charset="77"/>
              </a:rPr>
              <a:t>best_cand</a:t>
            </a:r>
            <a:r>
              <a:rPr lang="en-US" sz="2000" dirty="0">
                <a:latin typeface="Abadi MT Condensed Light" panose="020B0306030101010103" pitchFamily="34" charset="77"/>
              </a:rPr>
              <a:t> = None </a:t>
            </a:r>
            <a:br>
              <a:rPr lang="en-US" sz="2000" dirty="0">
                <a:latin typeface="Abadi MT Condensed Light" panose="020B0306030101010103" pitchFamily="34" charset="77"/>
              </a:rPr>
            </a:br>
            <a:r>
              <a:rPr lang="en-US" sz="2000" dirty="0">
                <a:latin typeface="Abadi MT Condensed Light" panose="020B0306030101010103" pitchFamily="34" charset="77"/>
              </a:rPr>
              <a:t>    </a:t>
            </a:r>
            <a:r>
              <a:rPr lang="en-US" sz="2000" dirty="0" err="1">
                <a:latin typeface="Abadi MT Condensed Light" panose="020B0306030101010103" pitchFamily="34" charset="77"/>
              </a:rPr>
              <a:t>best_score</a:t>
            </a:r>
            <a:r>
              <a:rPr lang="en-US" sz="2000" dirty="0">
                <a:latin typeface="Abadi MT Condensed Light" panose="020B0306030101010103" pitchFamily="34" charset="77"/>
              </a:rPr>
              <a:t> = -1</a:t>
            </a:r>
            <a:br>
              <a:rPr lang="en-US" sz="2000" dirty="0">
                <a:latin typeface="Abadi MT Condensed Light" panose="020B0306030101010103" pitchFamily="34" charset="77"/>
              </a:rPr>
            </a:br>
            <a:r>
              <a:rPr lang="en-US" sz="2000" dirty="0">
                <a:latin typeface="Abadi MT Condensed Light" panose="020B0306030101010103" pitchFamily="34" charset="77"/>
              </a:rPr>
              <a:t>    for </a:t>
            </a:r>
            <a:r>
              <a:rPr lang="en-US" sz="2000" dirty="0" err="1">
                <a:latin typeface="Abadi MT Condensed Light" panose="020B0306030101010103" pitchFamily="34" charset="77"/>
              </a:rPr>
              <a:t>i</a:t>
            </a:r>
            <a:r>
              <a:rPr lang="en-US" sz="2000" dirty="0">
                <a:latin typeface="Abadi MT Condensed Light" panose="020B0306030101010103" pitchFamily="34" charset="77"/>
              </a:rPr>
              <a:t> in range(50): # Pick 50 random tests</a:t>
            </a:r>
            <a:br>
              <a:rPr lang="en-US" sz="2000" dirty="0">
                <a:latin typeface="Abadi MT Condensed Light" panose="020B0306030101010103" pitchFamily="34" charset="77"/>
              </a:rPr>
            </a:br>
            <a:r>
              <a:rPr lang="en-US" sz="2000" dirty="0">
                <a:latin typeface="Abadi MT Condensed Light" panose="020B0306030101010103" pitchFamily="34" charset="77"/>
              </a:rPr>
              <a:t>        cand = </a:t>
            </a:r>
            <a:r>
              <a:rPr lang="en-US" sz="2000" dirty="0" err="1">
                <a:latin typeface="Abadi MT Condensed Light" panose="020B0306030101010103" pitchFamily="34" charset="77"/>
              </a:rPr>
              <a:t>generate_random_test</a:t>
            </a:r>
            <a:r>
              <a:rPr lang="en-US" sz="2000" dirty="0">
                <a:latin typeface="Abadi MT Condensed Light" panose="020B0306030101010103" pitchFamily="34" charset="77"/>
              </a:rPr>
              <a:t>(parameters) # Pick one test</a:t>
            </a:r>
            <a:br>
              <a:rPr lang="en-US" sz="2000" dirty="0">
                <a:latin typeface="Abadi MT Condensed Light" panose="020B0306030101010103" pitchFamily="34" charset="77"/>
              </a:rPr>
            </a:br>
            <a:r>
              <a:rPr lang="en-US" sz="2000" dirty="0">
                <a:latin typeface="Abadi MT Condensed Light" panose="020B0306030101010103" pitchFamily="34" charset="77"/>
              </a:rPr>
              <a:t>        score = </a:t>
            </a:r>
            <a:r>
              <a:rPr lang="en-US" sz="2000" dirty="0" err="1">
                <a:latin typeface="Abadi MT Condensed Light" panose="020B0306030101010103" pitchFamily="34" charset="77"/>
              </a:rPr>
              <a:t>count_uncovered</a:t>
            </a:r>
            <a:r>
              <a:rPr lang="en-US" sz="2000" dirty="0">
                <a:latin typeface="Abadi MT Condensed Light" panose="020B0306030101010103" pitchFamily="34" charset="77"/>
              </a:rPr>
              <a:t>(cand, pairs) # Count how many of the remaining cases this test covers</a:t>
            </a:r>
            <a:br>
              <a:rPr lang="en-US" sz="2000" dirty="0">
                <a:latin typeface="Abadi MT Condensed Light" panose="020B0306030101010103" pitchFamily="34" charset="77"/>
              </a:rPr>
            </a:br>
            <a:r>
              <a:rPr lang="en-US" sz="2000" dirty="0">
                <a:latin typeface="Abadi MT Condensed Light" panose="020B0306030101010103" pitchFamily="34" charset="77"/>
              </a:rPr>
              <a:t>        if score &gt; </a:t>
            </a:r>
            <a:r>
              <a:rPr lang="en-US" sz="2000" dirty="0" err="1">
                <a:latin typeface="Abadi MT Condensed Light" panose="020B0306030101010103" pitchFamily="34" charset="77"/>
              </a:rPr>
              <a:t>best_score</a:t>
            </a:r>
            <a:r>
              <a:rPr lang="en-US" sz="2000" dirty="0">
                <a:latin typeface="Abadi MT Condensed Light" panose="020B0306030101010103" pitchFamily="34" charset="77"/>
              </a:rPr>
              <a:t>: # If it covers more than the best so far keep it</a:t>
            </a:r>
            <a:br>
              <a:rPr lang="en-US" sz="2000" dirty="0">
                <a:latin typeface="Abadi MT Condensed Light" panose="020B0306030101010103" pitchFamily="34" charset="77"/>
              </a:rPr>
            </a:br>
            <a:r>
              <a:rPr lang="en-US" sz="2000" dirty="0">
                <a:latin typeface="Abadi MT Condensed Light" panose="020B0306030101010103" pitchFamily="34" charset="77"/>
              </a:rPr>
              <a:t>           </a:t>
            </a:r>
            <a:r>
              <a:rPr lang="en-US" sz="2000" dirty="0" err="1">
                <a:latin typeface="Abadi MT Condensed Light" panose="020B0306030101010103" pitchFamily="34" charset="77"/>
              </a:rPr>
              <a:t>best_score</a:t>
            </a:r>
            <a:r>
              <a:rPr lang="en-US" sz="2000" dirty="0">
                <a:latin typeface="Abadi MT Condensed Light" panose="020B0306030101010103" pitchFamily="34" charset="77"/>
              </a:rPr>
              <a:t> = score </a:t>
            </a:r>
            <a:br>
              <a:rPr lang="en-US" sz="2000" dirty="0">
                <a:latin typeface="Abadi MT Condensed Light" panose="020B0306030101010103" pitchFamily="34" charset="77"/>
              </a:rPr>
            </a:br>
            <a:r>
              <a:rPr lang="en-US" sz="2000" dirty="0">
                <a:latin typeface="Abadi MT Condensed Light" panose="020B0306030101010103" pitchFamily="34" charset="77"/>
              </a:rPr>
              <a:t>           </a:t>
            </a:r>
            <a:r>
              <a:rPr lang="en-US" sz="2000" dirty="0" err="1">
                <a:latin typeface="Abadi MT Condensed Light" panose="020B0306030101010103" pitchFamily="34" charset="77"/>
              </a:rPr>
              <a:t>best_cand</a:t>
            </a:r>
            <a:r>
              <a:rPr lang="en-US" sz="2000" dirty="0">
                <a:latin typeface="Abadi MT Condensed Light" panose="020B0306030101010103" pitchFamily="34" charset="77"/>
              </a:rPr>
              <a:t> = cand</a:t>
            </a:r>
            <a:br>
              <a:rPr lang="en-US" sz="2000" dirty="0">
                <a:latin typeface="Abadi MT Condensed Light" panose="020B0306030101010103" pitchFamily="34" charset="77"/>
              </a:rPr>
            </a:br>
            <a:r>
              <a:rPr lang="en-US" sz="2000" dirty="0">
                <a:latin typeface="Abadi MT Condensed Light" panose="020B0306030101010103" pitchFamily="34" charset="77"/>
              </a:rPr>
              <a:t>    </a:t>
            </a:r>
            <a:r>
              <a:rPr lang="en-US" sz="2000" dirty="0" err="1">
                <a:latin typeface="Abadi MT Condensed Light" panose="020B0306030101010103" pitchFamily="34" charset="77"/>
              </a:rPr>
              <a:t>tests.append</a:t>
            </a:r>
            <a:r>
              <a:rPr lang="en-US" sz="2000" dirty="0">
                <a:latin typeface="Abadi MT Condensed Light" panose="020B0306030101010103" pitchFamily="34" charset="77"/>
              </a:rPr>
              <a:t>(</a:t>
            </a:r>
            <a:r>
              <a:rPr lang="en-US" sz="2000" dirty="0" err="1">
                <a:latin typeface="Abadi MT Condensed Light" panose="020B0306030101010103" pitchFamily="34" charset="77"/>
              </a:rPr>
              <a:t>best_cand</a:t>
            </a:r>
            <a:r>
              <a:rPr lang="en-US" sz="2000" dirty="0">
                <a:latin typeface="Abadi MT Condensed Light" panose="020B0306030101010103" pitchFamily="34" charset="77"/>
              </a:rPr>
              <a:t>) # Found the best so far</a:t>
            </a:r>
            <a:br>
              <a:rPr lang="en-US" sz="2000" dirty="0">
                <a:latin typeface="Abadi MT Condensed Light" panose="020B0306030101010103" pitchFamily="34" charset="77"/>
              </a:rPr>
            </a:br>
            <a:r>
              <a:rPr lang="en-US" sz="2000" dirty="0">
                <a:latin typeface="Abadi MT Condensed Light" panose="020B0306030101010103" pitchFamily="34" charset="77"/>
              </a:rPr>
              <a:t>    for pair in pairs: # Remove the pairs that the selected test case covers from the set</a:t>
            </a:r>
            <a:br>
              <a:rPr lang="en-US" sz="2000" dirty="0">
                <a:latin typeface="Abadi MT Condensed Light" panose="020B0306030101010103" pitchFamily="34" charset="77"/>
              </a:rPr>
            </a:br>
            <a:r>
              <a:rPr lang="en-US" sz="2000" dirty="0">
                <a:latin typeface="Abadi MT Condensed Light" panose="020B0306030101010103" pitchFamily="34" charset="77"/>
              </a:rPr>
              <a:t>         if </a:t>
            </a:r>
            <a:r>
              <a:rPr lang="en-US" sz="2000" dirty="0" err="1">
                <a:latin typeface="Abadi MT Condensed Light" panose="020B0306030101010103" pitchFamily="34" charset="77"/>
              </a:rPr>
              <a:t>iscovered</a:t>
            </a:r>
            <a:r>
              <a:rPr lang="en-US" sz="2000" dirty="0">
                <a:latin typeface="Abadi MT Condensed Light" panose="020B0306030101010103" pitchFamily="34" charset="77"/>
              </a:rPr>
              <a:t>(cand, pair):</a:t>
            </a:r>
            <a:br>
              <a:rPr lang="en-US" sz="2000" dirty="0">
                <a:latin typeface="Abadi MT Condensed Light" panose="020B0306030101010103" pitchFamily="34" charset="77"/>
              </a:rPr>
            </a:br>
            <a:r>
              <a:rPr lang="en-US" sz="2000" dirty="0">
                <a:latin typeface="Abadi MT Condensed Light" panose="020B0306030101010103" pitchFamily="34" charset="77"/>
              </a:rPr>
              <a:t>             </a:t>
            </a:r>
            <a:r>
              <a:rPr lang="en-US" sz="2000" dirty="0" err="1">
                <a:latin typeface="Abadi MT Condensed Light" panose="020B0306030101010103" pitchFamily="34" charset="77"/>
              </a:rPr>
              <a:t>pairs.discard</a:t>
            </a:r>
            <a:r>
              <a:rPr lang="en-US" sz="2000" dirty="0">
                <a:latin typeface="Abadi MT Condensed Light" panose="020B0306030101010103" pitchFamily="34" charset="77"/>
              </a:rPr>
              <a:t>(pair)</a:t>
            </a:r>
            <a:br>
              <a:rPr lang="en-US" sz="2000" dirty="0">
                <a:latin typeface="Abadi MT Condensed Light" panose="020B0306030101010103" pitchFamily="34" charset="77"/>
              </a:rPr>
            </a:br>
            <a:r>
              <a:rPr lang="en-US" sz="2000" dirty="0">
                <a:latin typeface="Abadi MT Condensed Light" panose="020B0306030101010103" pitchFamily="34" charset="77"/>
              </a:rPr>
              <a:t>return tests</a:t>
            </a:r>
            <a:br>
              <a:rPr lang="en-US" sz="2000" dirty="0">
                <a:latin typeface="Abadi MT Condensed Light" panose="020B0306030101010103" pitchFamily="34" charset="77"/>
              </a:rPr>
            </a:br>
            <a:br>
              <a:rPr lang="en-US" sz="2000" dirty="0">
                <a:latin typeface="Abadi MT Condensed Light" panose="020B0306030101010103" pitchFamily="34" charset="77"/>
              </a:rPr>
            </a:br>
            <a:r>
              <a:rPr lang="en-US" sz="2000" dirty="0"/>
              <a:t>Hard to prove bounds, but it tends to run a bit slower while producing minimal number of test cases from other algorithms.</a:t>
            </a:r>
            <a:endParaRPr lang="en-US" sz="2000" dirty="0">
              <a:latin typeface="Abadi MT Condensed Light" panose="020B0306030101010103" pitchFamily="34" charset="77"/>
            </a:endParaRPr>
          </a:p>
          <a:p>
            <a:pPr marL="0" indent="0">
              <a:buNone/>
            </a:pPr>
            <a:endParaRPr lang="en-US" dirty="0"/>
          </a:p>
        </p:txBody>
      </p:sp>
    </p:spTree>
    <p:extLst>
      <p:ext uri="{BB962C8B-B14F-4D97-AF65-F5344CB8AC3E}">
        <p14:creationId xmlns:p14="http://schemas.microsoft.com/office/powerpoint/2010/main" val="36994640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BBC2CA-73F1-6828-3AF3-D7E143C71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CBC0CC-0C8B-B1C9-BADB-ECBE30FD0BF3}"/>
              </a:ext>
            </a:extLst>
          </p:cNvPr>
          <p:cNvSpPr>
            <a:spLocks noGrp="1"/>
          </p:cNvSpPr>
          <p:nvPr>
            <p:ph type="title"/>
          </p:nvPr>
        </p:nvSpPr>
        <p:spPr/>
        <p:txBody>
          <a:bodyPr>
            <a:normAutofit/>
          </a:bodyPr>
          <a:lstStyle/>
          <a:p>
            <a:r>
              <a:rPr lang="en-US" dirty="0">
                <a:solidFill>
                  <a:schemeClr val="tx1"/>
                </a:solidFill>
              </a:rPr>
              <a:t>Fuzz Testing – aka Fuzzing</a:t>
            </a:r>
            <a:endParaRPr lang="en-US" dirty="0"/>
          </a:p>
        </p:txBody>
      </p:sp>
      <p:sp>
        <p:nvSpPr>
          <p:cNvPr id="3" name="Content Placeholder 2">
            <a:extLst>
              <a:ext uri="{FF2B5EF4-FFF2-40B4-BE49-F238E27FC236}">
                <a16:creationId xmlns:a16="http://schemas.microsoft.com/office/drawing/2014/main" id="{2C12BD63-6B17-9BE2-C8C6-13E019A6F5C6}"/>
              </a:ext>
            </a:extLst>
          </p:cNvPr>
          <p:cNvSpPr>
            <a:spLocks noGrp="1"/>
          </p:cNvSpPr>
          <p:nvPr>
            <p:ph idx="1"/>
          </p:nvPr>
        </p:nvSpPr>
        <p:spPr/>
        <p:txBody>
          <a:bodyPr>
            <a:normAutofit fontScale="85000" lnSpcReduction="20000"/>
          </a:bodyPr>
          <a:lstStyle/>
          <a:p>
            <a:pPr lvl="0">
              <a:buFont typeface="Arial" charset="0"/>
              <a:buNone/>
            </a:pPr>
            <a:r>
              <a:rPr lang="en-US" dirty="0"/>
              <a:t>Commonly used in security settings:</a:t>
            </a:r>
          </a:p>
          <a:p>
            <a:r>
              <a:rPr lang="en-US" dirty="0"/>
              <a:t>Automatically generate random or slightly mutated (from an original set) set of inputs</a:t>
            </a:r>
          </a:p>
          <a:p>
            <a:r>
              <a:rPr lang="en-US" dirty="0"/>
              <a:t>Execute program with said inputs and monitor for abnormal behavior</a:t>
            </a:r>
          </a:p>
          <a:p>
            <a:pPr lvl="1"/>
            <a:r>
              <a:rPr lang="en-US" dirty="0"/>
              <a:t>Crashes</a:t>
            </a:r>
          </a:p>
          <a:p>
            <a:pPr lvl="1"/>
            <a:r>
              <a:rPr lang="en-US" dirty="0"/>
              <a:t>Memory corruption</a:t>
            </a:r>
          </a:p>
          <a:p>
            <a:pPr lvl="1"/>
            <a:r>
              <a:rPr lang="en-US" dirty="0"/>
              <a:t>Code injection</a:t>
            </a:r>
          </a:p>
          <a:p>
            <a:pPr lvl="1"/>
            <a:r>
              <a:rPr lang="en-US" dirty="0"/>
              <a:t>Exfiltration</a:t>
            </a:r>
          </a:p>
          <a:p>
            <a:pPr lvl="1"/>
            <a:r>
              <a:rPr lang="en-US" dirty="0"/>
              <a:t>….</a:t>
            </a:r>
          </a:p>
          <a:p>
            <a:r>
              <a:rPr lang="en-US" dirty="0"/>
              <a:t>Troubling inputs filed as bugs</a:t>
            </a:r>
          </a:p>
          <a:p>
            <a:pPr marL="0" indent="0">
              <a:buNone/>
            </a:pPr>
            <a:endParaRPr lang="en-US" dirty="0"/>
          </a:p>
          <a:p>
            <a:pPr marL="0" indent="0">
              <a:buNone/>
            </a:pPr>
            <a:r>
              <a:rPr lang="en-US" dirty="0"/>
              <a:t>Some of the most famous security bugs have been in browser code parsing images!!!</a:t>
            </a:r>
          </a:p>
          <a:p>
            <a:pPr marL="0" indent="0">
              <a:buNone/>
            </a:pPr>
            <a:endParaRPr lang="en-US" dirty="0"/>
          </a:p>
          <a:p>
            <a:endParaRPr lang="en-US" dirty="0"/>
          </a:p>
        </p:txBody>
      </p:sp>
      <p:sp>
        <p:nvSpPr>
          <p:cNvPr id="5" name="Slide Number Placeholder 4">
            <a:extLst>
              <a:ext uri="{FF2B5EF4-FFF2-40B4-BE49-F238E27FC236}">
                <a16:creationId xmlns:a16="http://schemas.microsoft.com/office/drawing/2014/main" id="{B2A82256-70E5-FFCB-BD09-1CF31C0DC58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1784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3027F-9EC9-68FA-7304-15EBEB957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10B08B-5E9A-C5B6-A1B9-D54D9782D620}"/>
              </a:ext>
            </a:extLst>
          </p:cNvPr>
          <p:cNvSpPr>
            <a:spLocks noGrp="1"/>
          </p:cNvSpPr>
          <p:nvPr>
            <p:ph type="title"/>
          </p:nvPr>
        </p:nvSpPr>
        <p:spPr/>
        <p:txBody>
          <a:bodyPr>
            <a:normAutofit/>
          </a:bodyPr>
          <a:lstStyle/>
          <a:p>
            <a:r>
              <a:rPr lang="en-US" dirty="0">
                <a:solidFill>
                  <a:schemeClr val="tx1"/>
                </a:solidFill>
              </a:rPr>
              <a:t>Fuzz Testing – aka Fuzzing</a:t>
            </a:r>
            <a:endParaRPr lang="en-US" dirty="0"/>
          </a:p>
        </p:txBody>
      </p:sp>
      <p:sp>
        <p:nvSpPr>
          <p:cNvPr id="3" name="Content Placeholder 2">
            <a:extLst>
              <a:ext uri="{FF2B5EF4-FFF2-40B4-BE49-F238E27FC236}">
                <a16:creationId xmlns:a16="http://schemas.microsoft.com/office/drawing/2014/main" id="{AEF94F3F-103A-CC07-D35D-E5D6E4AD82DB}"/>
              </a:ext>
            </a:extLst>
          </p:cNvPr>
          <p:cNvSpPr>
            <a:spLocks noGrp="1"/>
          </p:cNvSpPr>
          <p:nvPr>
            <p:ph idx="1"/>
          </p:nvPr>
        </p:nvSpPr>
        <p:spPr/>
        <p:txBody>
          <a:bodyPr>
            <a:normAutofit/>
          </a:bodyPr>
          <a:lstStyle/>
          <a:p>
            <a:pPr lvl="0">
              <a:buFont typeface="Arial" charset="0"/>
              <a:buNone/>
            </a:pPr>
            <a:r>
              <a:rPr lang="en-US" dirty="0"/>
              <a:t>3 types of fuzzing</a:t>
            </a:r>
          </a:p>
          <a:p>
            <a:r>
              <a:rPr lang="en-US" dirty="0"/>
              <a:t>Black box fuzzing: No knowledge of source code, just random inputs</a:t>
            </a:r>
          </a:p>
          <a:p>
            <a:r>
              <a:rPr lang="en-US" dirty="0"/>
              <a:t>White-box fuzzing: Use program analysis to generate targeted inputs</a:t>
            </a:r>
          </a:p>
          <a:p>
            <a:r>
              <a:rPr lang="en-US" dirty="0"/>
              <a:t>Grey-box fuzzing: Use access to code and instrumentation (but not full code analysis) to determine if new inputs trigger new paths.  Then keep those inputs as candidates for further mutations.</a:t>
            </a:r>
          </a:p>
        </p:txBody>
      </p:sp>
      <p:sp>
        <p:nvSpPr>
          <p:cNvPr id="5" name="Slide Number Placeholder 4">
            <a:extLst>
              <a:ext uri="{FF2B5EF4-FFF2-40B4-BE49-F238E27FC236}">
                <a16:creationId xmlns:a16="http://schemas.microsoft.com/office/drawing/2014/main" id="{38933B0B-4E4E-5CAB-3B1C-74BA284E3C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6218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a:t>Chapters 16</a:t>
            </a:r>
            <a:r>
              <a:rPr lang="en-US" sz="3100" dirty="0"/>
              <a:t>, 17</a:t>
            </a:r>
            <a:r>
              <a:rPr lang="en-US" sz="3100"/>
              <a:t>, 18, 19</a:t>
            </a:r>
            <a:r>
              <a:rPr lang="en-US" sz="3100" dirty="0"/>
              <a:t>,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40</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1683</TotalTime>
  <Words>3944</Words>
  <Application>Microsoft Macintosh PowerPoint</Application>
  <PresentationFormat>Widescreen</PresentationFormat>
  <Paragraphs>388</Paragraphs>
  <Slides>41</Slides>
  <Notes>16</Notes>
  <HiddenSlides>0</HiddenSlides>
  <MMClips>1</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41</vt:i4>
      </vt:variant>
    </vt:vector>
  </HeadingPairs>
  <TitlesOfParts>
    <vt:vector size="56" baseType="lpstr">
      <vt:lpstr>Arial Unicode MS</vt:lpstr>
      <vt:lpstr>Abadi MT Condensed Light</vt:lpstr>
      <vt:lpstr>Arial</vt:lpstr>
      <vt:lpstr>Arial Black</vt:lpstr>
      <vt:lpstr>Calibri</vt:lpstr>
      <vt:lpstr>Calibri Light</vt:lpstr>
      <vt:lpstr>Cambria Math</vt:lpstr>
      <vt:lpstr>Comic Sans MS</vt:lpstr>
      <vt:lpstr>Rockwell Extra Bold</vt:lpstr>
      <vt:lpstr>Söhne</vt:lpstr>
      <vt:lpstr>Times New Roman</vt:lpstr>
      <vt:lpstr>Wingdings</vt:lpstr>
      <vt:lpstr>Office Theme</vt:lpstr>
      <vt:lpstr>1_Office Theme</vt:lpstr>
      <vt:lpstr>Wood Type</vt:lpstr>
      <vt:lpstr>Software Engineering CS411, FALL 2025 </vt:lpstr>
      <vt:lpstr>Agenda</vt:lpstr>
      <vt:lpstr>Testing Dimensions</vt:lpstr>
      <vt:lpstr>Functional Testing</vt:lpstr>
      <vt:lpstr>Boundary Value Testing</vt:lpstr>
      <vt:lpstr>Boundary Value Analysis</vt:lpstr>
      <vt:lpstr>Boundary Value Analysis</vt:lpstr>
      <vt:lpstr>Triangle Example</vt:lpstr>
      <vt:lpstr>Boundary Value Analysis</vt:lpstr>
      <vt:lpstr>Variation: Robustness Testing</vt:lpstr>
      <vt:lpstr>Variation: Worst-Case Testing</vt:lpstr>
      <vt:lpstr>Example Worst-Case Test Cases (Triangle program)</vt:lpstr>
      <vt:lpstr>Variation: Robust Worst-Case Testing</vt:lpstr>
      <vt:lpstr>Guidelines for Boundary Value Testing </vt:lpstr>
      <vt:lpstr>Output Boundary Testing</vt:lpstr>
      <vt:lpstr>Equivalence Class Partitioning</vt:lpstr>
      <vt:lpstr>Equivalence partitioning</vt:lpstr>
      <vt:lpstr>Guidelines for Equivalence Class Partitioning</vt:lpstr>
      <vt:lpstr>Equivalence Partitioning Exercises</vt:lpstr>
      <vt:lpstr>Advantages of Equivalence Class Partitioning</vt:lpstr>
      <vt:lpstr>Equivalence partitioning of output variables example: Triangle Problem</vt:lpstr>
      <vt:lpstr>Technical Method for deriving test cases from Requirements Specification based on Logic: Decision Table  </vt:lpstr>
      <vt:lpstr>Illustration of the use of a decision table (Pressman)</vt:lpstr>
      <vt:lpstr>Solution?</vt:lpstr>
      <vt:lpstr>Constructing a Decision Table</vt:lpstr>
      <vt:lpstr>Pair-wise Testing (All-Pairs Testing)</vt:lpstr>
      <vt:lpstr>All-Pairs Testing – the Basic Idea</vt:lpstr>
      <vt:lpstr>All-Pairs Testing – the Foundation</vt:lpstr>
      <vt:lpstr>All-Pairs Testing – the Basic Idea</vt:lpstr>
      <vt:lpstr>A simple All-Pairs Example</vt:lpstr>
      <vt:lpstr>All-Pairs Testing: Input Parameters to Risk Reporting</vt:lpstr>
      <vt:lpstr>All Pairs Testing - Applicability</vt:lpstr>
      <vt:lpstr>Is it worth it? ROI of All-Pairs Testing Pilots  (Results from SAP – Internal Pilot 2009)</vt:lpstr>
      <vt:lpstr>All-Pairs Testing – the Foundation</vt:lpstr>
      <vt:lpstr>All-Pairs Testing – the Foundation</vt:lpstr>
      <vt:lpstr>How to Generate All Pairs?</vt:lpstr>
      <vt:lpstr>A Simple Efficient Algorithm</vt:lpstr>
      <vt:lpstr>Fuzz Testing – aka Fuzzing</vt:lpstr>
      <vt:lpstr>Fuzz Testing – aka Fuzzing</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Kassab, Mohamad Hassan</dc:creator>
  <cp:lastModifiedBy>Kontothanassis, Leonidas</cp:lastModifiedBy>
  <cp:revision>19</cp:revision>
  <dcterms:created xsi:type="dcterms:W3CDTF">2021-07-22T19:55:08Z</dcterms:created>
  <dcterms:modified xsi:type="dcterms:W3CDTF">2025-10-25T19:28:42Z</dcterms:modified>
</cp:coreProperties>
</file>