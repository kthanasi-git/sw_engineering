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Lst>
  <p:notesMasterIdLst>
    <p:notesMasterId r:id="rId50"/>
  </p:notesMasterIdLst>
  <p:sldIdLst>
    <p:sldId id="339" r:id="rId4"/>
    <p:sldId id="771" r:id="rId5"/>
    <p:sldId id="540" r:id="rId6"/>
    <p:sldId id="535" r:id="rId7"/>
    <p:sldId id="534" r:id="rId8"/>
    <p:sldId id="536" r:id="rId9"/>
    <p:sldId id="537" r:id="rId10"/>
    <p:sldId id="555" r:id="rId11"/>
    <p:sldId id="539" r:id="rId12"/>
    <p:sldId id="538" r:id="rId13"/>
    <p:sldId id="777" r:id="rId14"/>
    <p:sldId id="409" r:id="rId15"/>
    <p:sldId id="780" r:id="rId16"/>
    <p:sldId id="781" r:id="rId17"/>
    <p:sldId id="782" r:id="rId18"/>
    <p:sldId id="783" r:id="rId19"/>
    <p:sldId id="784" r:id="rId20"/>
    <p:sldId id="541" r:id="rId21"/>
    <p:sldId id="405" r:id="rId22"/>
    <p:sldId id="406" r:id="rId23"/>
    <p:sldId id="407" r:id="rId24"/>
    <p:sldId id="408" r:id="rId25"/>
    <p:sldId id="779" r:id="rId26"/>
    <p:sldId id="460" r:id="rId27"/>
    <p:sldId id="778" r:id="rId28"/>
    <p:sldId id="542" r:id="rId29"/>
    <p:sldId id="410" r:id="rId30"/>
    <p:sldId id="411" r:id="rId31"/>
    <p:sldId id="492" r:id="rId32"/>
    <p:sldId id="412" r:id="rId33"/>
    <p:sldId id="413" r:id="rId34"/>
    <p:sldId id="414" r:id="rId35"/>
    <p:sldId id="415" r:id="rId36"/>
    <p:sldId id="416" r:id="rId37"/>
    <p:sldId id="543" r:id="rId38"/>
    <p:sldId id="417" r:id="rId39"/>
    <p:sldId id="418" r:id="rId40"/>
    <p:sldId id="533" r:id="rId41"/>
    <p:sldId id="419" r:id="rId42"/>
    <p:sldId id="420" r:id="rId43"/>
    <p:sldId id="421" r:id="rId44"/>
    <p:sldId id="550" r:id="rId45"/>
    <p:sldId id="551" r:id="rId46"/>
    <p:sldId id="457" r:id="rId47"/>
    <p:sldId id="775" r:id="rId48"/>
    <p:sldId id="472"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4" autoAdjust="0"/>
    <p:restoredTop sz="78356" autoAdjust="0"/>
  </p:normalViewPr>
  <p:slideViewPr>
    <p:cSldViewPr snapToGrid="0">
      <p:cViewPr varScale="1">
        <p:scale>
          <a:sx n="98" d="100"/>
          <a:sy n="98" d="100"/>
        </p:scale>
        <p:origin x="648" y="192"/>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en.wikipedia.org/wiki/Goddes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en.wikipedia.org/wiki/Agriculture"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B37E82E-57AD-4AAF-B9F4-A759377B7E20}" type="slidenum">
              <a:rPr lang="en-US"/>
              <a:pPr/>
              <a:t>4</a:t>
            </a:fld>
            <a:endParaRPr lang="en-US"/>
          </a:p>
        </p:txBody>
      </p:sp>
      <p:sp>
        <p:nvSpPr>
          <p:cNvPr id="769026" name="Rectangle 2"/>
          <p:cNvSpPr>
            <a:spLocks noGrp="1" noRot="1" noChangeAspect="1" noChangeArrowheads="1" noTextEdit="1"/>
          </p:cNvSpPr>
          <p:nvPr>
            <p:ph type="sldImg"/>
          </p:nvPr>
        </p:nvSpPr>
        <p:spPr>
          <a:xfrm>
            <a:off x="406400" y="696913"/>
            <a:ext cx="6188075" cy="3481387"/>
          </a:xfrm>
          <a:ln/>
        </p:spPr>
      </p:sp>
      <p:sp>
        <p:nvSpPr>
          <p:cNvPr id="769027"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A482EEC-E663-438C-B41C-52AE046FACA3}" type="slidenum">
              <a:rPr lang="en-US"/>
              <a:pPr/>
              <a:t>5</a:t>
            </a:fld>
            <a:endParaRPr lang="en-US"/>
          </a:p>
        </p:txBody>
      </p:sp>
      <p:sp>
        <p:nvSpPr>
          <p:cNvPr id="766978" name="Rectangle 2"/>
          <p:cNvSpPr>
            <a:spLocks noGrp="1" noRot="1" noChangeAspect="1" noChangeArrowheads="1" noTextEdit="1"/>
          </p:cNvSpPr>
          <p:nvPr>
            <p:ph type="sldImg"/>
          </p:nvPr>
        </p:nvSpPr>
        <p:spPr>
          <a:xfrm>
            <a:off x="406400" y="696913"/>
            <a:ext cx="6188075" cy="3481387"/>
          </a:xfrm>
          <a:ln/>
        </p:spPr>
      </p:sp>
      <p:sp>
        <p:nvSpPr>
          <p:cNvPr id="766979" name="Rectangle 3"/>
          <p:cNvSpPr>
            <a:spLocks noGrp="1" noChangeArrowheads="1"/>
          </p:cNvSpPr>
          <p:nvPr>
            <p:ph type="body" idx="1"/>
          </p:nvPr>
        </p:nvSpPr>
        <p:spPr>
          <a:xfrm>
            <a:off x="933558" y="4409758"/>
            <a:ext cx="5130586" cy="4177665"/>
          </a:xfrm>
        </p:spPr>
        <p:txBody>
          <a:bodyPr/>
          <a:lstStyle/>
          <a:p>
            <a:pPr defTabSz="915772"/>
            <a:r>
              <a:rPr lang="en-US" altLang="en-US" dirty="0"/>
              <a:t>Operation contractions use a pre and post condition</a:t>
            </a:r>
            <a:r>
              <a:rPr lang="en-US" altLang="en-US" baseline="0" dirty="0"/>
              <a:t> form to describe detailed changes to objects in a domain model</a:t>
            </a:r>
          </a:p>
          <a:p>
            <a:pPr defTabSz="915772"/>
            <a:endParaRPr lang="en-US" altLang="en-US" baseline="0" dirty="0"/>
          </a:p>
          <a:p>
            <a:pPr defTabSz="915772"/>
            <a:r>
              <a:rPr lang="en-US" altLang="en-US" baseline="0" dirty="0"/>
              <a:t>To create a contract – identify the system operations from the system sequence diagram</a:t>
            </a: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DD96BB32-6519-4E1C-9CEC-DC94E5440FDA}" type="slidenum">
              <a:rPr lang="en-US"/>
              <a:pPr/>
              <a:t>6</a:t>
            </a:fld>
            <a:endParaRPr lang="en-US"/>
          </a:p>
        </p:txBody>
      </p:sp>
      <p:sp>
        <p:nvSpPr>
          <p:cNvPr id="771074" name="Rectangle 2"/>
          <p:cNvSpPr>
            <a:spLocks noGrp="1" noRot="1" noChangeAspect="1" noChangeArrowheads="1" noTextEdit="1"/>
          </p:cNvSpPr>
          <p:nvPr>
            <p:ph type="sldImg"/>
          </p:nvPr>
        </p:nvSpPr>
        <p:spPr>
          <a:xfrm>
            <a:off x="406400" y="696913"/>
            <a:ext cx="6188075" cy="3481387"/>
          </a:xfrm>
          <a:ln/>
        </p:spPr>
      </p:sp>
      <p:sp>
        <p:nvSpPr>
          <p:cNvPr id="771075" name="Rectangle 3"/>
          <p:cNvSpPr>
            <a:spLocks noGrp="1" noChangeArrowheads="1"/>
          </p:cNvSpPr>
          <p:nvPr>
            <p:ph type="body" idx="1"/>
          </p:nvPr>
        </p:nvSpPr>
        <p:spPr>
          <a:xfrm>
            <a:off x="933558" y="4409758"/>
            <a:ext cx="5130586" cy="4177665"/>
          </a:xfrm>
        </p:spPr>
        <p:txBody>
          <a:bodyPr/>
          <a:lstStyle/>
          <a:p>
            <a:pPr defTabSz="915772"/>
            <a:r>
              <a:rPr lang="en-US" altLang="en-US" dirty="0"/>
              <a:t>Association</a:t>
            </a:r>
            <a:r>
              <a:rPr lang="en-US" altLang="en-US" baseline="0" dirty="0"/>
              <a:t> – path messages are sent</a:t>
            </a: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B9FA703-E8BF-4CB3-BA55-5F9C93600BF5}" type="slidenum">
              <a:rPr lang="en-US"/>
              <a:pPr/>
              <a:t>7</a:t>
            </a:fld>
            <a:endParaRPr lang="en-US"/>
          </a:p>
        </p:txBody>
      </p:sp>
      <p:sp>
        <p:nvSpPr>
          <p:cNvPr id="773122" name="Rectangle 2"/>
          <p:cNvSpPr>
            <a:spLocks noGrp="1" noRot="1" noChangeAspect="1" noChangeArrowheads="1" noTextEdit="1"/>
          </p:cNvSpPr>
          <p:nvPr>
            <p:ph type="sldImg"/>
          </p:nvPr>
        </p:nvSpPr>
        <p:spPr>
          <a:xfrm>
            <a:off x="406400" y="696913"/>
            <a:ext cx="6188075" cy="3481387"/>
          </a:xfrm>
          <a:ln/>
        </p:spPr>
      </p:sp>
      <p:sp>
        <p:nvSpPr>
          <p:cNvPr id="773123" name="Rectangle 3"/>
          <p:cNvSpPr>
            <a:spLocks noGrp="1" noChangeArrowheads="1"/>
          </p:cNvSpPr>
          <p:nvPr>
            <p:ph type="body" idx="1"/>
          </p:nvPr>
        </p:nvSpPr>
        <p:spPr>
          <a:xfrm>
            <a:off x="933558" y="4409758"/>
            <a:ext cx="5130586" cy="4177665"/>
          </a:xfrm>
        </p:spPr>
        <p:txBody>
          <a:bodyPr/>
          <a:lstStyle/>
          <a:p>
            <a:pPr defTabSz="915772"/>
            <a:r>
              <a:rPr lang="en-US" altLang="en-US" dirty="0"/>
              <a:t>Name: As explained in slide</a:t>
            </a:r>
          </a:p>
          <a:p>
            <a:pPr defTabSz="915772"/>
            <a:r>
              <a:rPr lang="en-US" altLang="en-US" dirty="0"/>
              <a:t>Type: The class that receives the message associated with the operation and is responsible for bringing it to completion.  In some cases this could be the system itself.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39236-8648-4B3B-A92F-3045E7CAAD0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6674" name="Rectangle 2"/>
          <p:cNvSpPr>
            <a:spLocks noGrp="1" noRot="1" noChangeAspect="1" noChangeArrowheads="1" noTextEdit="1"/>
          </p:cNvSpPr>
          <p:nvPr>
            <p:ph type="sldImg"/>
          </p:nvPr>
        </p:nvSpPr>
        <p:spPr>
          <a:xfrm>
            <a:off x="404813" y="695325"/>
            <a:ext cx="6178550" cy="3476625"/>
          </a:xfrm>
          <a:ln/>
        </p:spPr>
      </p:sp>
      <p:sp>
        <p:nvSpPr>
          <p:cNvPr id="796675" name="Rectangle 3"/>
          <p:cNvSpPr>
            <a:spLocks noGrp="1" noChangeArrowheads="1"/>
          </p:cNvSpPr>
          <p:nvPr>
            <p:ph type="body" idx="1"/>
          </p:nvPr>
        </p:nvSpPr>
        <p:spPr>
          <a:xfrm>
            <a:off x="931863" y="4403725"/>
            <a:ext cx="5121275" cy="4171950"/>
          </a:xfrm>
        </p:spPr>
        <p:txBody>
          <a:bodyPr/>
          <a:lstStyle/>
          <a:p>
            <a:pPr defTabSz="914400"/>
            <a:r>
              <a:rPr lang="en-US" altLang="en-US" dirty="0"/>
              <a:t>Multiplicity – defines how many instances of class A can be associated with class B</a:t>
            </a:r>
          </a:p>
          <a:p>
            <a:pPr defTabSz="914400"/>
            <a:endParaRPr lang="en-US" altLang="en-US" dirty="0"/>
          </a:p>
          <a:p>
            <a:pPr defTabSz="914400"/>
            <a:r>
              <a:rPr lang="en-US" altLang="en-US" dirty="0"/>
              <a:t>Single</a:t>
            </a:r>
            <a:r>
              <a:rPr lang="en-US" altLang="en-US" baseline="0" dirty="0"/>
              <a:t> instance of store can be associated with “many” (zero or more, indicated by the *) Sale instance</a:t>
            </a:r>
            <a:endParaRPr lang="en-US" altLang="en-US" dirty="0"/>
          </a:p>
        </p:txBody>
      </p:sp>
    </p:spTree>
    <p:extLst>
      <p:ext uri="{BB962C8B-B14F-4D97-AF65-F5344CB8AC3E}">
        <p14:creationId xmlns:p14="http://schemas.microsoft.com/office/powerpoint/2010/main" val="461895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5D954BD-C11F-4B84-93FB-D9AF7D3720E0}" type="slidenum">
              <a:rPr lang="en-US"/>
              <a:pPr/>
              <a:t>10</a:t>
            </a:fld>
            <a:endParaRPr lang="en-US"/>
          </a:p>
        </p:txBody>
      </p:sp>
      <p:sp>
        <p:nvSpPr>
          <p:cNvPr id="775170" name="Rectangle 2"/>
          <p:cNvSpPr>
            <a:spLocks noGrp="1" noRot="1" noChangeAspect="1" noChangeArrowheads="1" noTextEdit="1"/>
          </p:cNvSpPr>
          <p:nvPr>
            <p:ph type="sldImg"/>
          </p:nvPr>
        </p:nvSpPr>
        <p:spPr>
          <a:xfrm>
            <a:off x="406400" y="696913"/>
            <a:ext cx="6188075" cy="3481387"/>
          </a:xfrm>
          <a:ln/>
        </p:spPr>
      </p:sp>
      <p:sp>
        <p:nvSpPr>
          <p:cNvPr id="775171"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D1002D7F-A292-7F2F-4810-A3F403AFDF59}"/>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D2FC9C2C-D4F8-9F76-46BB-88675AB8CA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5540" name="Slide Number Placeholder 3">
            <a:extLst>
              <a:ext uri="{FF2B5EF4-FFF2-40B4-BE49-F238E27FC236}">
                <a16:creationId xmlns:a16="http://schemas.microsoft.com/office/drawing/2014/main" id="{2E91989E-099E-F7CB-49C7-F2858DCC3B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045719DE-831D-4C89-86A8-4774617FE98D}" type="slidenum">
              <a:rPr lang="en-US" altLang="en-US" sz="1000">
                <a:solidFill>
                  <a:schemeClr val="tx1"/>
                </a:solidFill>
                <a:latin typeface="Times New Roman" panose="02020603050405020304" pitchFamily="18" charset="0"/>
              </a:rPr>
              <a:pPr/>
              <a:t>12</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C9AD-CF26-9879-8EFD-7CA27988ED82}"/>
            </a:ext>
          </a:extLst>
        </p:cNvPr>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F3E5B9A6-9F0F-FA62-66DE-4895C617833B}"/>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4FB758F2-377C-19BA-FA6A-591BBF9A2F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Central Data Store (might be passive or active).  Client software decides on actions independently based on state of data.  Avoid race conditions.  Also pub/sub on data modifications.  Scaling can be a problem.</a:t>
            </a:r>
          </a:p>
        </p:txBody>
      </p:sp>
      <p:sp>
        <p:nvSpPr>
          <p:cNvPr id="63492" name="Slide Number Placeholder 3">
            <a:extLst>
              <a:ext uri="{FF2B5EF4-FFF2-40B4-BE49-F238E27FC236}">
                <a16:creationId xmlns:a16="http://schemas.microsoft.com/office/drawing/2014/main" id="{D71C7918-0D33-8AC4-E750-A0CF98DD00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7C6FB77-87B4-43EA-9F51-13A360FB6C5B}" type="slidenum">
              <a:rPr lang="en-US" altLang="en-US" sz="1000">
                <a:solidFill>
                  <a:schemeClr val="tx1"/>
                </a:solidFill>
                <a:latin typeface="Times New Roman" panose="02020603050405020304" pitchFamily="18" charset="0"/>
              </a:rPr>
              <a:pPr/>
              <a:t>13</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1669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37B77-94EF-6189-C8F4-8752F4EE2046}"/>
            </a:ext>
          </a:extLst>
        </p:cNvPr>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D3E52B77-41FF-1D5A-410C-F42E29D5181B}"/>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1679AC73-3934-EE9B-88FF-76A332C474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Useful when the purpose of the system is to transform a continuous (or finite) set of data through a series of transformations.</a:t>
            </a:r>
          </a:p>
        </p:txBody>
      </p:sp>
      <p:sp>
        <p:nvSpPr>
          <p:cNvPr id="63492" name="Slide Number Placeholder 3">
            <a:extLst>
              <a:ext uri="{FF2B5EF4-FFF2-40B4-BE49-F238E27FC236}">
                <a16:creationId xmlns:a16="http://schemas.microsoft.com/office/drawing/2014/main" id="{B049D5C0-BE0B-2AFF-7D0A-2CD941EA01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7C6FB77-87B4-43EA-9F51-13A360FB6C5B}" type="slidenum">
              <a:rPr lang="en-US" altLang="en-US" sz="1000">
                <a:solidFill>
                  <a:schemeClr val="tx1"/>
                </a:solidFill>
                <a:latin typeface="Times New Roman" panose="02020603050405020304" pitchFamily="18" charset="0"/>
              </a:rPr>
              <a:pPr/>
              <a:t>14</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38792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CBF14-C3D0-E335-058A-D0C92DC59CC2}"/>
            </a:ext>
          </a:extLst>
        </p:cNvPr>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9F2CB5CD-16FA-EC51-54D0-4B1E93681F71}"/>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9196BBD2-F174-0236-7F9F-5581A6AB92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Main program with subprograms.  Also useful in the context of RPC.</a:t>
            </a:r>
          </a:p>
        </p:txBody>
      </p:sp>
      <p:sp>
        <p:nvSpPr>
          <p:cNvPr id="63492" name="Slide Number Placeholder 3">
            <a:extLst>
              <a:ext uri="{FF2B5EF4-FFF2-40B4-BE49-F238E27FC236}">
                <a16:creationId xmlns:a16="http://schemas.microsoft.com/office/drawing/2014/main" id="{1C287296-7934-35E7-751C-FE0CFA867D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7C6FB77-87B4-43EA-9F51-13A360FB6C5B}" type="slidenum">
              <a:rPr lang="en-US" altLang="en-US" sz="1000">
                <a:solidFill>
                  <a:schemeClr val="tx1"/>
                </a:solidFill>
                <a:latin typeface="Times New Roman" panose="02020603050405020304" pitchFamily="18" charset="0"/>
              </a:rPr>
              <a:pPr/>
              <a:t>15</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85166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E0AE0-F4C7-18D1-9D9C-B8425AB1804F}"/>
            </a:ext>
          </a:extLst>
        </p:cNvPr>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241FB93B-B71F-3A3C-7FEB-5A25522047D8}"/>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5FD0468E-BC45-6BD9-E1E3-B369C8539E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Main focus of this class.  Encapsulation, inheritance, abstraction.  GRASP patterns for class creation </a:t>
            </a:r>
            <a:r>
              <a:rPr lang="en-US" altLang="en-US"/>
              <a:t>and manipulation.</a:t>
            </a:r>
            <a:endParaRPr lang="en-US" altLang="en-US" dirty="0"/>
          </a:p>
        </p:txBody>
      </p:sp>
      <p:sp>
        <p:nvSpPr>
          <p:cNvPr id="63492" name="Slide Number Placeholder 3">
            <a:extLst>
              <a:ext uri="{FF2B5EF4-FFF2-40B4-BE49-F238E27FC236}">
                <a16:creationId xmlns:a16="http://schemas.microsoft.com/office/drawing/2014/main" id="{59789036-4239-B24F-7849-20BCAB5893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7C6FB77-87B4-43EA-9F51-13A360FB6C5B}" type="slidenum">
              <a:rPr lang="en-US" altLang="en-US" sz="1000">
                <a:solidFill>
                  <a:schemeClr val="tx1"/>
                </a:solidFill>
                <a:latin typeface="Times New Roman" panose="02020603050405020304" pitchFamily="18" charset="0"/>
              </a:rPr>
              <a:pPr/>
              <a:t>16</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108584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11A1B-FE51-8227-53FA-E187FF990951}"/>
            </a:ext>
          </a:extLst>
        </p:cNvPr>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B3755F98-80FB-D91A-4103-974AE840C487}"/>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08174807-FBE8-1099-C4C4-C32ABFEBE2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Each layer provides some functionality with outer layers calling through the layer below.  Do not skip layers! Very useful in OS design, Networking design, systems that have a strong HW component.</a:t>
            </a:r>
          </a:p>
        </p:txBody>
      </p:sp>
      <p:sp>
        <p:nvSpPr>
          <p:cNvPr id="63492" name="Slide Number Placeholder 3">
            <a:extLst>
              <a:ext uri="{FF2B5EF4-FFF2-40B4-BE49-F238E27FC236}">
                <a16:creationId xmlns:a16="http://schemas.microsoft.com/office/drawing/2014/main" id="{DF9A7094-7E5D-C162-BE71-1CD7818AF3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7C6FB77-87B4-43EA-9F51-13A360FB6C5B}" type="slidenum">
              <a:rPr lang="en-US" altLang="en-US" sz="1000">
                <a:solidFill>
                  <a:schemeClr val="tx1"/>
                </a:solidFill>
                <a:latin typeface="Times New Roman" panose="02020603050405020304" pitchFamily="18" charset="0"/>
              </a:rPr>
              <a:pPr/>
              <a:t>17</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096516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0D6728EC-4E66-D473-7EBD-44A4BEAAA479}"/>
              </a:ext>
            </a:extLst>
          </p:cNvPr>
          <p:cNvSpPr>
            <a:spLocks noGrp="1" noRot="1" noChangeAspect="1" noTextEdit="1"/>
          </p:cNvSpPr>
          <p:nvPr>
            <p:ph type="sldImg"/>
          </p:nvPr>
        </p:nvSpPr>
        <p:spPr>
          <a:ln/>
        </p:spPr>
      </p:sp>
      <p:sp>
        <p:nvSpPr>
          <p:cNvPr id="62467" name="Notes Placeholder 2">
            <a:extLst>
              <a:ext uri="{FF2B5EF4-FFF2-40B4-BE49-F238E27FC236}">
                <a16:creationId xmlns:a16="http://schemas.microsoft.com/office/drawing/2014/main" id="{81B19696-5E85-231B-946E-3727793EF2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grasp principles or patterns are a learning aid to help you understand essential object design and apply design reasoning in a methodical, rational, explainable way</a:t>
            </a:r>
          </a:p>
        </p:txBody>
      </p:sp>
      <p:sp>
        <p:nvSpPr>
          <p:cNvPr id="62468" name="Slide Number Placeholder 3">
            <a:extLst>
              <a:ext uri="{FF2B5EF4-FFF2-40B4-BE49-F238E27FC236}">
                <a16:creationId xmlns:a16="http://schemas.microsoft.com/office/drawing/2014/main" id="{69B1B4ED-6DF6-0A66-EE6D-CF11120C2F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91BD9277-C166-4B0E-BE21-99D0ACC7E7E5}" type="slidenum">
              <a:rPr lang="en-US" altLang="en-US" sz="1000">
                <a:solidFill>
                  <a:schemeClr val="tx1"/>
                </a:solidFill>
                <a:latin typeface="Times New Roman" panose="02020603050405020304" pitchFamily="18" charset="0"/>
              </a:rPr>
              <a:pPr/>
              <a:t>19</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090955F8-D93E-9568-579B-D4664B70C072}"/>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2355CB69-31DA-2147-21CE-B1F07DE673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responsibility is also an abstraction of the object does</a:t>
            </a:r>
          </a:p>
          <a:p>
            <a:endParaRPr lang="en-US" altLang="en-US" dirty="0"/>
          </a:p>
          <a:p>
            <a:r>
              <a:rPr lang="en-US" altLang="en-US" dirty="0"/>
              <a:t>Two types of responsibilities:  doing and knowing.</a:t>
            </a:r>
          </a:p>
          <a:p>
            <a:endParaRPr lang="en-US" altLang="en-US" dirty="0"/>
          </a:p>
          <a:p>
            <a:r>
              <a:rPr lang="en-US" altLang="en-US" dirty="0"/>
              <a:t>May seem contradictory that it is an obligation of a class but can also span classes.  Some responsibilities are very broad and may span the system as a whole.  Example borrow books from a Library.  Those should be broken down to small responsibilities that can be an obligation of a single class.</a:t>
            </a:r>
          </a:p>
        </p:txBody>
      </p:sp>
      <p:sp>
        <p:nvSpPr>
          <p:cNvPr id="63492" name="Slide Number Placeholder 3">
            <a:extLst>
              <a:ext uri="{FF2B5EF4-FFF2-40B4-BE49-F238E27FC236}">
                <a16:creationId xmlns:a16="http://schemas.microsoft.com/office/drawing/2014/main" id="{7A002696-E6DA-36DA-2F98-32E8973EFD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7C6FB77-87B4-43EA-9F51-13A360FB6C5B}" type="slidenum">
              <a:rPr lang="en-US" altLang="en-US" sz="1000">
                <a:solidFill>
                  <a:schemeClr val="tx1"/>
                </a:solidFill>
                <a:latin typeface="Times New Roman" panose="02020603050405020304" pitchFamily="18" charset="0"/>
              </a:rPr>
              <a:pPr/>
              <a:t>20</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D66D6185-A7CE-D48E-0BEE-B952A29C626C}"/>
              </a:ext>
            </a:extLst>
          </p:cNvPr>
          <p:cNvSpPr>
            <a:spLocks noGrp="1" noRot="1" noChangeAspect="1" noTextEdit="1"/>
          </p:cNvSpPr>
          <p:nvPr>
            <p:ph type="sldImg"/>
          </p:nvPr>
        </p:nvSpPr>
        <p:spPr>
          <a:ln/>
        </p:spPr>
      </p:sp>
      <p:sp>
        <p:nvSpPr>
          <p:cNvPr id="64515" name="Notes Placeholder 2">
            <a:extLst>
              <a:ext uri="{FF2B5EF4-FFF2-40B4-BE49-F238E27FC236}">
                <a16:creationId xmlns:a16="http://schemas.microsoft.com/office/drawing/2014/main" id="{F46A8D0B-A6FE-720A-6CA4-27A6C4C822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4516" name="Slide Number Placeholder 3">
            <a:extLst>
              <a:ext uri="{FF2B5EF4-FFF2-40B4-BE49-F238E27FC236}">
                <a16:creationId xmlns:a16="http://schemas.microsoft.com/office/drawing/2014/main" id="{693D8937-82EB-5568-CD19-250334F785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43A789AA-9EB0-4A4D-8A5E-12C8C82CE5BD}" type="slidenum">
              <a:rPr lang="en-US" altLang="en-US" sz="1000">
                <a:solidFill>
                  <a:schemeClr val="tx1"/>
                </a:solidFill>
                <a:latin typeface="Times New Roman" panose="02020603050405020304" pitchFamily="18" charset="0"/>
              </a:rPr>
              <a:pPr/>
              <a:t>22</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C3847-60C5-FF75-840B-EDDD8F69AC10}"/>
            </a:ext>
          </a:extLst>
        </p:cNvPr>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5683FFF2-D6E9-9315-73D0-B38A09113A27}"/>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7D334226-2E02-4A06-1DC8-AEDC1A3126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Demeter is a </a:t>
            </a:r>
            <a:r>
              <a:rPr lang="en-US" altLang="en-US" dirty="0" err="1"/>
              <a:t>greek</a:t>
            </a:r>
            <a:r>
              <a:rPr lang="en-US" altLang="en-US" dirty="0"/>
              <a:t> goddess.</a:t>
            </a:r>
          </a:p>
          <a:p>
            <a:r>
              <a:rPr lang="en-US" altLang="en-US" dirty="0"/>
              <a:t>“distribution-mother” and </a:t>
            </a:r>
            <a:r>
              <a:rPr lang="en-US" altLang="en-US" dirty="0">
                <a:hlinkClick r:id="rId3" action="ppaction://hlinkfile" tooltip="Goddess"/>
              </a:rPr>
              <a:t>goddess</a:t>
            </a:r>
            <a:r>
              <a:rPr lang="en-US" altLang="en-US" dirty="0"/>
              <a:t> of </a:t>
            </a:r>
            <a:r>
              <a:rPr lang="en-US" altLang="en-US" dirty="0">
                <a:hlinkClick r:id="rId4" action="ppaction://hlinkfile" tooltip="Agriculture"/>
              </a:rPr>
              <a:t>agriculture</a:t>
            </a:r>
            <a:r>
              <a:rPr lang="en-US" altLang="en-US" dirty="0"/>
              <a:t>, to signify a bottom-up philosophy of programming which is also embodied in the law itself.</a:t>
            </a:r>
          </a:p>
          <a:p>
            <a:endParaRPr lang="en-US" altLang="en-US" dirty="0"/>
          </a:p>
          <a:p>
            <a:r>
              <a:rPr lang="en-US" altLang="en-US" dirty="0"/>
              <a:t>Limit how many classes you get to talk to.  Even if it may seem easy to call the public method of some class, if you only need to talk to it rarely perhaps you can find a go-between that you talk to it frequently and it talks to the other one frequently to broker the conversation.</a:t>
            </a:r>
          </a:p>
        </p:txBody>
      </p:sp>
      <p:sp>
        <p:nvSpPr>
          <p:cNvPr id="65540" name="Slide Number Placeholder 3">
            <a:extLst>
              <a:ext uri="{FF2B5EF4-FFF2-40B4-BE49-F238E27FC236}">
                <a16:creationId xmlns:a16="http://schemas.microsoft.com/office/drawing/2014/main" id="{A2116B2B-59C8-7655-1BBE-4D7AA82398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045719DE-831D-4C89-86A8-4774617FE98D}" type="slidenum">
              <a:rPr lang="en-US" altLang="en-US" sz="1000">
                <a:solidFill>
                  <a:schemeClr val="tx1"/>
                </a:solidFill>
                <a:latin typeface="Times New Roman" panose="02020603050405020304" pitchFamily="18" charset="0"/>
              </a:rPr>
              <a:pPr/>
              <a:t>23</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067787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580F4D26-EAA9-0744-276D-B193BBAF5207}"/>
              </a:ext>
            </a:extLst>
          </p:cNvPr>
          <p:cNvSpPr>
            <a:spLocks noGrp="1" noRot="1" noChangeAspect="1" noTextEdit="1"/>
          </p:cNvSpPr>
          <p:nvPr>
            <p:ph type="sldImg"/>
          </p:nvPr>
        </p:nvSpPr>
        <p:spPr>
          <a:ln/>
        </p:spPr>
      </p:sp>
      <p:sp>
        <p:nvSpPr>
          <p:cNvPr id="66563" name="Notes Placeholder 2">
            <a:extLst>
              <a:ext uri="{FF2B5EF4-FFF2-40B4-BE49-F238E27FC236}">
                <a16:creationId xmlns:a16="http://schemas.microsoft.com/office/drawing/2014/main" id="{8174EF07-1FBB-5746-B0C7-A6BB2DD76C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6564" name="Slide Number Placeholder 3">
            <a:extLst>
              <a:ext uri="{FF2B5EF4-FFF2-40B4-BE49-F238E27FC236}">
                <a16:creationId xmlns:a16="http://schemas.microsoft.com/office/drawing/2014/main" id="{62F03C85-A0F0-463F-3375-E58368D394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AEBBD529-AC5E-45E2-9A7F-E0F3C7BD02F0}" type="slidenum">
              <a:rPr lang="en-US" altLang="en-US" sz="1000">
                <a:solidFill>
                  <a:schemeClr val="tx1"/>
                </a:solidFill>
                <a:latin typeface="Times New Roman" panose="02020603050405020304" pitchFamily="18" charset="0"/>
              </a:rPr>
              <a:pPr/>
              <a:t>24</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D4148-0794-B5BD-EC19-C7127715B31B}"/>
            </a:ext>
          </a:extLst>
        </p:cNvPr>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E0D18828-9F26-EF49-1A78-FA4DEBFDE0A0}"/>
              </a:ext>
            </a:extLst>
          </p:cNvPr>
          <p:cNvSpPr>
            <a:spLocks noGrp="1" noRot="1" noChangeAspect="1" noTextEdit="1"/>
          </p:cNvSpPr>
          <p:nvPr>
            <p:ph type="sldImg"/>
          </p:nvPr>
        </p:nvSpPr>
        <p:spPr>
          <a:ln/>
        </p:spPr>
      </p:sp>
      <p:sp>
        <p:nvSpPr>
          <p:cNvPr id="66563" name="Notes Placeholder 2">
            <a:extLst>
              <a:ext uri="{FF2B5EF4-FFF2-40B4-BE49-F238E27FC236}">
                <a16:creationId xmlns:a16="http://schemas.microsoft.com/office/drawing/2014/main" id="{660C370A-D40E-C870-94F4-963FA46907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6564" name="Slide Number Placeholder 3">
            <a:extLst>
              <a:ext uri="{FF2B5EF4-FFF2-40B4-BE49-F238E27FC236}">
                <a16:creationId xmlns:a16="http://schemas.microsoft.com/office/drawing/2014/main" id="{63135438-F8D1-3906-5140-C2390387F6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AEBBD529-AC5E-45E2-9A7F-E0F3C7BD02F0}" type="slidenum">
              <a:rPr lang="en-US" altLang="en-US" sz="1000">
                <a:solidFill>
                  <a:schemeClr val="tx1"/>
                </a:solidFill>
                <a:latin typeface="Times New Roman" panose="02020603050405020304" pitchFamily="18" charset="0"/>
              </a:rPr>
              <a:pPr/>
              <a:t>25</a:t>
            </a:fld>
            <a:endParaRPr lang="en-US" altLang="en-US" sz="10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119787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273F7373-2CA6-59EE-4B37-31DE6778330C}"/>
              </a:ext>
            </a:extLst>
          </p:cNvPr>
          <p:cNvSpPr>
            <a:spLocks noGrp="1" noRot="1" noChangeAspect="1" noTextEdit="1"/>
          </p:cNvSpPr>
          <p:nvPr>
            <p:ph type="sldImg"/>
          </p:nvPr>
        </p:nvSpPr>
        <p:spPr>
          <a:ln/>
        </p:spPr>
      </p:sp>
      <p:sp>
        <p:nvSpPr>
          <p:cNvPr id="67587" name="Notes Placeholder 2">
            <a:extLst>
              <a:ext uri="{FF2B5EF4-FFF2-40B4-BE49-F238E27FC236}">
                <a16:creationId xmlns:a16="http://schemas.microsoft.com/office/drawing/2014/main" id="{5F470998-D3A7-0215-B719-02E718B2C7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AKA Information Expert</a:t>
            </a:r>
          </a:p>
        </p:txBody>
      </p:sp>
      <p:sp>
        <p:nvSpPr>
          <p:cNvPr id="67588" name="Slide Number Placeholder 3">
            <a:extLst>
              <a:ext uri="{FF2B5EF4-FFF2-40B4-BE49-F238E27FC236}">
                <a16:creationId xmlns:a16="http://schemas.microsoft.com/office/drawing/2014/main" id="{ABB5D920-7FB2-238B-69D0-9E0818301C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AD4B74DE-EF3C-46DC-B266-A024CB910CC1}" type="slidenum">
              <a:rPr lang="en-US" altLang="en-US" sz="1000">
                <a:solidFill>
                  <a:schemeClr val="tx1"/>
                </a:solidFill>
                <a:latin typeface="Times New Roman" panose="02020603050405020304" pitchFamily="18" charset="0"/>
              </a:rPr>
              <a:pPr/>
              <a:t>27</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39236-8648-4B3B-A92F-3045E7CAAD0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6674" name="Rectangle 2"/>
          <p:cNvSpPr>
            <a:spLocks noGrp="1" noRot="1" noChangeAspect="1" noChangeArrowheads="1" noTextEdit="1"/>
          </p:cNvSpPr>
          <p:nvPr>
            <p:ph type="sldImg"/>
          </p:nvPr>
        </p:nvSpPr>
        <p:spPr>
          <a:xfrm>
            <a:off x="404813" y="695325"/>
            <a:ext cx="6178550" cy="3476625"/>
          </a:xfrm>
          <a:ln/>
        </p:spPr>
      </p:sp>
      <p:sp>
        <p:nvSpPr>
          <p:cNvPr id="796675" name="Rectangle 3"/>
          <p:cNvSpPr>
            <a:spLocks noGrp="1" noChangeArrowheads="1"/>
          </p:cNvSpPr>
          <p:nvPr>
            <p:ph type="body" idx="1"/>
          </p:nvPr>
        </p:nvSpPr>
        <p:spPr>
          <a:xfrm>
            <a:off x="931863" y="4403725"/>
            <a:ext cx="5121275" cy="4171950"/>
          </a:xfrm>
        </p:spPr>
        <p:txBody>
          <a:bodyPr/>
          <a:lstStyle/>
          <a:p>
            <a:pPr defTabSz="914400"/>
            <a:r>
              <a:rPr lang="en-US" altLang="en-US" dirty="0"/>
              <a:t>Multiplicity – defines how many instances of class A can be associated with class B</a:t>
            </a:r>
          </a:p>
          <a:p>
            <a:pPr defTabSz="914400"/>
            <a:endParaRPr lang="en-US" altLang="en-US" dirty="0"/>
          </a:p>
          <a:p>
            <a:pPr defTabSz="914400"/>
            <a:r>
              <a:rPr lang="en-US" altLang="en-US" dirty="0"/>
              <a:t>Single</a:t>
            </a:r>
            <a:r>
              <a:rPr lang="en-US" altLang="en-US" baseline="0" dirty="0"/>
              <a:t> instance of store can be associated with “many” (zero or more, indicated by the *) Sale instance</a:t>
            </a:r>
            <a:endParaRPr lang="en-US" altLang="en-US" dirty="0"/>
          </a:p>
        </p:txBody>
      </p:sp>
    </p:spTree>
    <p:extLst>
      <p:ext uri="{BB962C8B-B14F-4D97-AF65-F5344CB8AC3E}">
        <p14:creationId xmlns:p14="http://schemas.microsoft.com/office/powerpoint/2010/main" val="1331568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FE60D572-73B2-2910-BFB6-9B59B6CE3822}"/>
              </a:ext>
            </a:extLst>
          </p:cNvPr>
          <p:cNvSpPr>
            <a:spLocks noGrp="1" noRot="1" noChangeAspect="1" noTextEdit="1"/>
          </p:cNvSpPr>
          <p:nvPr>
            <p:ph type="sldImg"/>
          </p:nvPr>
        </p:nvSpPr>
        <p:spPr>
          <a:ln/>
        </p:spPr>
      </p:sp>
      <p:sp>
        <p:nvSpPr>
          <p:cNvPr id="68611" name="Notes Placeholder 2">
            <a:extLst>
              <a:ext uri="{FF2B5EF4-FFF2-40B4-BE49-F238E27FC236}">
                <a16:creationId xmlns:a16="http://schemas.microsoft.com/office/drawing/2014/main" id="{C7217823-C76A-26FA-9E93-A9CEC3FEA9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Ask “who should be responsible for knowing the grand total of a sale?”</a:t>
            </a:r>
          </a:p>
          <a:p>
            <a:endParaRPr lang="en-US" altLang="en-US"/>
          </a:p>
          <a:p>
            <a:r>
              <a:rPr lang="en-US" altLang="en-US"/>
              <a:t>Here is a partial domain model showing the “associations” of Sale</a:t>
            </a:r>
          </a:p>
          <a:p>
            <a:endParaRPr lang="en-US" altLang="en-US"/>
          </a:p>
          <a:p>
            <a:r>
              <a:rPr lang="en-US" altLang="en-US"/>
              <a:t>Go to the next slide to figure out what is needed to determine the grand total.</a:t>
            </a:r>
          </a:p>
        </p:txBody>
      </p:sp>
      <p:sp>
        <p:nvSpPr>
          <p:cNvPr id="68612" name="Slide Number Placeholder 3">
            <a:extLst>
              <a:ext uri="{FF2B5EF4-FFF2-40B4-BE49-F238E27FC236}">
                <a16:creationId xmlns:a16="http://schemas.microsoft.com/office/drawing/2014/main" id="{D7924F1D-A278-589A-F4CB-C46F6F9D65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59182030-F1B3-497D-83CF-D400ED9B84EF}" type="slidenum">
              <a:rPr lang="en-US" altLang="en-US" sz="1000">
                <a:solidFill>
                  <a:schemeClr val="tx1"/>
                </a:solidFill>
                <a:latin typeface="Times New Roman" panose="02020603050405020304" pitchFamily="18" charset="0"/>
              </a:rPr>
              <a:pPr/>
              <a:t>30</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2674C7E1-49DE-A36C-B735-2BFDD45B4E61}"/>
              </a:ext>
            </a:extLst>
          </p:cNvPr>
          <p:cNvSpPr>
            <a:spLocks noGrp="1" noRot="1" noChangeAspect="1" noTextEdit="1"/>
          </p:cNvSpPr>
          <p:nvPr>
            <p:ph type="sldImg"/>
          </p:nvPr>
        </p:nvSpPr>
        <p:spPr>
          <a:ln/>
        </p:spPr>
      </p:sp>
      <p:sp>
        <p:nvSpPr>
          <p:cNvPr id="69635" name="Notes Placeholder 2">
            <a:extLst>
              <a:ext uri="{FF2B5EF4-FFF2-40B4-BE49-F238E27FC236}">
                <a16:creationId xmlns:a16="http://schemas.microsoft.com/office/drawing/2014/main" id="{7AB403C0-10D2-C8E0-6BA0-6957FE430B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It is necessary to know about all the </a:t>
            </a:r>
            <a:r>
              <a:rPr lang="en-US" altLang="en-US" dirty="0" err="1"/>
              <a:t>saleslineitem</a:t>
            </a:r>
            <a:r>
              <a:rPr lang="en-US" altLang="en-US" dirty="0"/>
              <a:t> instances of a sale and the sum of their subtotals.  Sale knows theses – by the Expert guideline, Sale is a suitable class for this responsibility.  </a:t>
            </a:r>
          </a:p>
          <a:p>
            <a:endParaRPr lang="en-US" altLang="en-US" dirty="0"/>
          </a:p>
          <a:p>
            <a:r>
              <a:rPr lang="en-US" altLang="en-US" dirty="0"/>
              <a:t>Partial Interaction and class diagrams shown here – showing where you would assign the responsibility – Sale has the method total() and Sale is getting a message requesting that information.</a:t>
            </a:r>
          </a:p>
          <a:p>
            <a:endParaRPr lang="en-US" altLang="en-US" dirty="0"/>
          </a:p>
        </p:txBody>
      </p:sp>
      <p:sp>
        <p:nvSpPr>
          <p:cNvPr id="69636" name="Slide Number Placeholder 3">
            <a:extLst>
              <a:ext uri="{FF2B5EF4-FFF2-40B4-BE49-F238E27FC236}">
                <a16:creationId xmlns:a16="http://schemas.microsoft.com/office/drawing/2014/main" id="{6E304CB2-18E3-C3FE-EC7A-806DEB4AA5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18F39F6B-266A-43AD-B7AA-D061A611583D}" type="slidenum">
              <a:rPr lang="en-US" altLang="en-US" sz="1000">
                <a:solidFill>
                  <a:schemeClr val="tx1"/>
                </a:solidFill>
                <a:latin typeface="Times New Roman" panose="02020603050405020304" pitchFamily="18" charset="0"/>
              </a:rPr>
              <a:pPr/>
              <a:t>31</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D073415B-DF07-9481-9023-2D34035A74D0}"/>
              </a:ext>
            </a:extLst>
          </p:cNvPr>
          <p:cNvSpPr>
            <a:spLocks noGrp="1" noRot="1" noChangeAspect="1" noTextEdit="1"/>
          </p:cNvSpPr>
          <p:nvPr>
            <p:ph type="sldImg"/>
          </p:nvPr>
        </p:nvSpPr>
        <p:spPr>
          <a:ln/>
        </p:spPr>
      </p:sp>
      <p:sp>
        <p:nvSpPr>
          <p:cNvPr id="70659" name="Notes Placeholder 2">
            <a:extLst>
              <a:ext uri="{FF2B5EF4-FFF2-40B4-BE49-F238E27FC236}">
                <a16:creationId xmlns:a16="http://schemas.microsoft.com/office/drawing/2014/main" id="{2BF97EBD-251B-7EDD-AA7D-A20DABE2C6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t>What information is needed to determine the line item “subtotal”?</a:t>
            </a:r>
          </a:p>
          <a:p>
            <a:pPr>
              <a:buFontTx/>
              <a:buChar char="•"/>
            </a:pPr>
            <a:endParaRPr lang="en-US" altLang="en-US"/>
          </a:p>
          <a:p>
            <a:pPr>
              <a:buFontTx/>
              <a:buChar char="•"/>
            </a:pPr>
            <a:r>
              <a:rPr lang="en-US" altLang="en-US"/>
              <a:t>SalesLineItem knows its quantity and its associated product specification (price) (look at slide 11)</a:t>
            </a:r>
          </a:p>
          <a:p>
            <a:pPr>
              <a:buFontTx/>
              <a:buChar char="•"/>
            </a:pPr>
            <a:r>
              <a:rPr lang="en-US" altLang="en-US"/>
              <a:t>Therefore by “expert”, salesLineItem should determine the subtotal.  It is the information expert.</a:t>
            </a:r>
          </a:p>
          <a:p>
            <a:pPr>
              <a:buFontTx/>
              <a:buChar char="•"/>
            </a:pPr>
            <a:endParaRPr lang="en-US" altLang="en-US"/>
          </a:p>
          <a:p>
            <a:pPr>
              <a:buFontTx/>
              <a:buChar char="•"/>
            </a:pPr>
            <a:endParaRPr lang="en-US" altLang="en-US"/>
          </a:p>
        </p:txBody>
      </p:sp>
      <p:sp>
        <p:nvSpPr>
          <p:cNvPr id="70660" name="Slide Number Placeholder 3">
            <a:extLst>
              <a:ext uri="{FF2B5EF4-FFF2-40B4-BE49-F238E27FC236}">
                <a16:creationId xmlns:a16="http://schemas.microsoft.com/office/drawing/2014/main" id="{DD5E4FC9-79C5-BB83-DB66-5E89D5D647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B4092A12-B68F-487D-9882-5C2E05E6BAE9}" type="slidenum">
              <a:rPr lang="en-US" altLang="en-US" sz="1000">
                <a:solidFill>
                  <a:schemeClr val="tx1"/>
                </a:solidFill>
                <a:latin typeface="Times New Roman" panose="02020603050405020304" pitchFamily="18" charset="0"/>
              </a:rPr>
              <a:pPr/>
              <a:t>32</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B2374541-DFFC-86DE-FB2C-8127E66FBB16}"/>
              </a:ext>
            </a:extLst>
          </p:cNvPr>
          <p:cNvSpPr>
            <a:spLocks noGrp="1" noRot="1" noChangeAspect="1" noTextEdit="1"/>
          </p:cNvSpPr>
          <p:nvPr>
            <p:ph type="sldImg"/>
          </p:nvPr>
        </p:nvSpPr>
        <p:spPr>
          <a:ln/>
        </p:spPr>
      </p:sp>
      <p:sp>
        <p:nvSpPr>
          <p:cNvPr id="71683" name="Notes Placeholder 2">
            <a:extLst>
              <a:ext uri="{FF2B5EF4-FFF2-40B4-BE49-F238E27FC236}">
                <a16:creationId xmlns:a16="http://schemas.microsoft.com/office/drawing/2014/main" id="{95E1BA4B-2D41-ECB7-771C-2777AFCF74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To fulfill the </a:t>
            </a:r>
            <a:r>
              <a:rPr lang="en-US" altLang="en-US" dirty="0" err="1"/>
              <a:t>responsibliity</a:t>
            </a:r>
            <a:r>
              <a:rPr lang="en-US" altLang="en-US" dirty="0"/>
              <a:t> of knowing and answering its subtotal, a sales </a:t>
            </a:r>
            <a:r>
              <a:rPr lang="en-US" altLang="en-US" dirty="0" err="1"/>
              <a:t>lineitem</a:t>
            </a:r>
            <a:r>
              <a:rPr lang="en-US" altLang="en-US" dirty="0"/>
              <a:t> needs to know the product price.</a:t>
            </a:r>
          </a:p>
          <a:p>
            <a:endParaRPr lang="en-US" altLang="en-US" dirty="0"/>
          </a:p>
          <a:p>
            <a:r>
              <a:rPr lang="en-US" altLang="en-US" dirty="0"/>
              <a:t>The </a:t>
            </a:r>
            <a:r>
              <a:rPr lang="en-US" altLang="en-US" dirty="0" err="1"/>
              <a:t>productSpecification</a:t>
            </a:r>
            <a:r>
              <a:rPr lang="en-US" altLang="en-US" dirty="0"/>
              <a:t> is an information expert on answering the price; therefore a message must be sent asking for the price</a:t>
            </a:r>
          </a:p>
          <a:p>
            <a:endParaRPr lang="en-US" altLang="en-US" dirty="0"/>
          </a:p>
          <a:p>
            <a:r>
              <a:rPr lang="en-US" altLang="en-US" dirty="0"/>
              <a:t>SO – to fulfill the responsibility of knowing and answering the sale’s total, 3 responsibilities were assigned to three design classes of </a:t>
            </a:r>
            <a:r>
              <a:rPr lang="en-US" altLang="en-US" dirty="0" err="1"/>
              <a:t>objects:sale</a:t>
            </a:r>
            <a:r>
              <a:rPr lang="en-US" altLang="en-US" dirty="0"/>
              <a:t> (new the sale total), </a:t>
            </a:r>
            <a:r>
              <a:rPr lang="en-US" altLang="en-US" dirty="0" err="1"/>
              <a:t>SalesLineItem</a:t>
            </a:r>
            <a:r>
              <a:rPr lang="en-US" altLang="en-US" dirty="0"/>
              <a:t> (knows line item subtotal), </a:t>
            </a:r>
            <a:r>
              <a:rPr lang="en-US" altLang="en-US" dirty="0" err="1"/>
              <a:t>ProductSpecification</a:t>
            </a:r>
            <a:r>
              <a:rPr lang="en-US" altLang="en-US" dirty="0"/>
              <a:t> (knows product price)</a:t>
            </a:r>
          </a:p>
        </p:txBody>
      </p:sp>
      <p:sp>
        <p:nvSpPr>
          <p:cNvPr id="71684" name="Slide Number Placeholder 3">
            <a:extLst>
              <a:ext uri="{FF2B5EF4-FFF2-40B4-BE49-F238E27FC236}">
                <a16:creationId xmlns:a16="http://schemas.microsoft.com/office/drawing/2014/main" id="{29F0FCB1-A816-ED05-79BA-72335CEF60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974507A-DA55-4DDB-B333-D511746B0390}" type="slidenum">
              <a:rPr lang="en-US" altLang="en-US" sz="1000">
                <a:solidFill>
                  <a:schemeClr val="tx1"/>
                </a:solidFill>
                <a:latin typeface="Times New Roman" panose="02020603050405020304" pitchFamily="18" charset="0"/>
              </a:rPr>
              <a:pPr/>
              <a:t>33</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31C21467-5E30-F7FF-E598-01303B9A0647}"/>
              </a:ext>
            </a:extLst>
          </p:cNvPr>
          <p:cNvSpPr>
            <a:spLocks noGrp="1" noRot="1" noChangeAspect="1" noTextEdit="1"/>
          </p:cNvSpPr>
          <p:nvPr>
            <p:ph type="sldImg"/>
          </p:nvPr>
        </p:nvSpPr>
        <p:spPr>
          <a:ln/>
        </p:spPr>
      </p:sp>
      <p:sp>
        <p:nvSpPr>
          <p:cNvPr id="72707" name="Notes Placeholder 2">
            <a:extLst>
              <a:ext uri="{FF2B5EF4-FFF2-40B4-BE49-F238E27FC236}">
                <a16:creationId xmlns:a16="http://schemas.microsoft.com/office/drawing/2014/main" id="{6A554CCF-DAAF-ACBA-E3AD-BADA573CBE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Low coupling – leads to more robust and maintainable systems</a:t>
            </a:r>
          </a:p>
          <a:p>
            <a:r>
              <a:rPr lang="en-US" altLang="en-US" dirty="0"/>
              <a:t>Lightweight – easier to understand</a:t>
            </a:r>
          </a:p>
        </p:txBody>
      </p:sp>
      <p:sp>
        <p:nvSpPr>
          <p:cNvPr id="72708" name="Slide Number Placeholder 3">
            <a:extLst>
              <a:ext uri="{FF2B5EF4-FFF2-40B4-BE49-F238E27FC236}">
                <a16:creationId xmlns:a16="http://schemas.microsoft.com/office/drawing/2014/main" id="{3E4EFC97-AFF1-C85C-371E-5AE0D6A651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90014E4F-CAB9-4934-932D-47BAD2924635}" type="slidenum">
              <a:rPr lang="en-US" altLang="en-US" sz="1000">
                <a:solidFill>
                  <a:schemeClr val="tx1"/>
                </a:solidFill>
                <a:latin typeface="Times New Roman" panose="02020603050405020304" pitchFamily="18" charset="0"/>
              </a:rPr>
              <a:pPr/>
              <a:t>34</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38BCDB1E-9131-23FF-7184-2B97020525DF}"/>
              </a:ext>
            </a:extLst>
          </p:cNvPr>
          <p:cNvSpPr>
            <a:spLocks noGrp="1" noRot="1" noChangeAspect="1" noTextEdit="1"/>
          </p:cNvSpPr>
          <p:nvPr>
            <p:ph type="sldImg"/>
          </p:nvPr>
        </p:nvSpPr>
        <p:spPr>
          <a:ln/>
        </p:spPr>
      </p:sp>
      <p:sp>
        <p:nvSpPr>
          <p:cNvPr id="73731" name="Notes Placeholder 2">
            <a:extLst>
              <a:ext uri="{FF2B5EF4-FFF2-40B4-BE49-F238E27FC236}">
                <a16:creationId xmlns:a16="http://schemas.microsoft.com/office/drawing/2014/main" id="{E05B510B-A9FC-E6E9-E8B7-F062B22DF3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Aggregates – to gather as a whole</a:t>
            </a:r>
          </a:p>
        </p:txBody>
      </p:sp>
      <p:sp>
        <p:nvSpPr>
          <p:cNvPr id="73732" name="Slide Number Placeholder 3">
            <a:extLst>
              <a:ext uri="{FF2B5EF4-FFF2-40B4-BE49-F238E27FC236}">
                <a16:creationId xmlns:a16="http://schemas.microsoft.com/office/drawing/2014/main" id="{53DED3E6-37F7-5380-9666-8ECE51C56C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06857390-37A9-4570-8CAE-1EB2A3F0F109}" type="slidenum">
              <a:rPr lang="en-US" altLang="en-US" sz="1000">
                <a:solidFill>
                  <a:schemeClr val="tx1"/>
                </a:solidFill>
                <a:latin typeface="Times New Roman" panose="02020603050405020304" pitchFamily="18" charset="0"/>
              </a:rPr>
              <a:pPr/>
              <a:t>36</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39236-8648-4B3B-A92F-3045E7CAAD0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6674" name="Rectangle 2"/>
          <p:cNvSpPr>
            <a:spLocks noGrp="1" noRot="1" noChangeAspect="1" noChangeArrowheads="1" noTextEdit="1"/>
          </p:cNvSpPr>
          <p:nvPr>
            <p:ph type="sldImg"/>
          </p:nvPr>
        </p:nvSpPr>
        <p:spPr>
          <a:xfrm>
            <a:off x="404813" y="695325"/>
            <a:ext cx="6178550" cy="3476625"/>
          </a:xfrm>
          <a:ln/>
        </p:spPr>
      </p:sp>
      <p:sp>
        <p:nvSpPr>
          <p:cNvPr id="796675" name="Rectangle 3"/>
          <p:cNvSpPr>
            <a:spLocks noGrp="1" noChangeArrowheads="1"/>
          </p:cNvSpPr>
          <p:nvPr>
            <p:ph type="body" idx="1"/>
          </p:nvPr>
        </p:nvSpPr>
        <p:spPr>
          <a:xfrm>
            <a:off x="931863" y="4403725"/>
            <a:ext cx="5121275" cy="4171950"/>
          </a:xfrm>
        </p:spPr>
        <p:txBody>
          <a:bodyPr/>
          <a:lstStyle/>
          <a:p>
            <a:pPr defTabSz="914400"/>
            <a:r>
              <a:rPr lang="en-US" altLang="en-US" dirty="0"/>
              <a:t>Multiplicity – defines how many instances of class A can be associated with class B</a:t>
            </a:r>
          </a:p>
          <a:p>
            <a:pPr defTabSz="914400"/>
            <a:endParaRPr lang="en-US" altLang="en-US" dirty="0"/>
          </a:p>
          <a:p>
            <a:pPr defTabSz="914400"/>
            <a:r>
              <a:rPr lang="en-US" altLang="en-US" dirty="0"/>
              <a:t>Single</a:t>
            </a:r>
            <a:r>
              <a:rPr lang="en-US" altLang="en-US" baseline="0" dirty="0"/>
              <a:t> instance of store can be associated with “many” (zero or more, indicated by the *) Sale instance</a:t>
            </a:r>
            <a:endParaRPr lang="en-US" altLang="en-US" dirty="0"/>
          </a:p>
        </p:txBody>
      </p:sp>
    </p:spTree>
    <p:extLst>
      <p:ext uri="{BB962C8B-B14F-4D97-AF65-F5344CB8AC3E}">
        <p14:creationId xmlns:p14="http://schemas.microsoft.com/office/powerpoint/2010/main" val="5631095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958EC06C-2D58-E659-BE51-BA18206A33B3}"/>
              </a:ext>
            </a:extLst>
          </p:cNvPr>
          <p:cNvSpPr>
            <a:spLocks noGrp="1" noRot="1" noChangeAspect="1" noTextEdit="1"/>
          </p:cNvSpPr>
          <p:nvPr>
            <p:ph type="sldImg"/>
          </p:nvPr>
        </p:nvSpPr>
        <p:spPr>
          <a:ln/>
        </p:spPr>
      </p:sp>
      <p:sp>
        <p:nvSpPr>
          <p:cNvPr id="74755" name="Notes Placeholder 2">
            <a:extLst>
              <a:ext uri="{FF2B5EF4-FFF2-40B4-BE49-F238E27FC236}">
                <a16:creationId xmlns:a16="http://schemas.microsoft.com/office/drawing/2014/main" id="{FC04DC23-BE7A-87C9-5872-937E785737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Partial domain model shown here</a:t>
            </a:r>
          </a:p>
          <a:p>
            <a:endParaRPr lang="en-US" altLang="en-US"/>
          </a:p>
          <a:p>
            <a:r>
              <a:rPr lang="en-US" altLang="en-US"/>
              <a:t>Since Sale contains many SalesLineItem objects the creator pattern suggests that Sale is a good candidate to have the responsibility of creating SalesLineITem instances – shown on next slide</a:t>
            </a:r>
          </a:p>
        </p:txBody>
      </p:sp>
      <p:sp>
        <p:nvSpPr>
          <p:cNvPr id="74756" name="Slide Number Placeholder 3">
            <a:extLst>
              <a:ext uri="{FF2B5EF4-FFF2-40B4-BE49-F238E27FC236}">
                <a16:creationId xmlns:a16="http://schemas.microsoft.com/office/drawing/2014/main" id="{2F7A3485-E6A0-5190-97DF-56A07E91F8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DBE63C4-F10F-4454-8485-18D3B7ECF63A}" type="slidenum">
              <a:rPr lang="en-US" altLang="en-US" sz="1000">
                <a:solidFill>
                  <a:schemeClr val="tx1"/>
                </a:solidFill>
                <a:latin typeface="Times New Roman" panose="02020603050405020304" pitchFamily="18" charset="0"/>
              </a:rPr>
              <a:pPr/>
              <a:t>39</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E5FA87F0-08CE-BC07-C5F3-B10451B5D1F2}"/>
              </a:ext>
            </a:extLst>
          </p:cNvPr>
          <p:cNvSpPr>
            <a:spLocks noGrp="1" noRot="1" noChangeAspect="1" noTextEdit="1"/>
          </p:cNvSpPr>
          <p:nvPr>
            <p:ph type="sldImg"/>
          </p:nvPr>
        </p:nvSpPr>
        <p:spPr>
          <a:ln/>
        </p:spPr>
      </p:sp>
      <p:sp>
        <p:nvSpPr>
          <p:cNvPr id="75779" name="Notes Placeholder 2">
            <a:extLst>
              <a:ext uri="{FF2B5EF4-FFF2-40B4-BE49-F238E27FC236}">
                <a16:creationId xmlns:a16="http://schemas.microsoft.com/office/drawing/2014/main" id="{387DD492-C442-D7D3-FBD3-435222F7DC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Since Sale contains many SalesLineItem objects the creator pattern suggests that Sale is a good candidate to have the responsibility of creating SalesLineITem instances </a:t>
            </a:r>
          </a:p>
        </p:txBody>
      </p:sp>
      <p:sp>
        <p:nvSpPr>
          <p:cNvPr id="75780" name="Slide Number Placeholder 3">
            <a:extLst>
              <a:ext uri="{FF2B5EF4-FFF2-40B4-BE49-F238E27FC236}">
                <a16:creationId xmlns:a16="http://schemas.microsoft.com/office/drawing/2014/main" id="{A2057AF3-3A5C-5E99-ABEC-70D3FFC82A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A22638FE-90AA-49D5-B89B-68DDB6FCA86E}" type="slidenum">
              <a:rPr lang="en-US" altLang="en-US" sz="1000">
                <a:solidFill>
                  <a:schemeClr val="tx1"/>
                </a:solidFill>
                <a:latin typeface="Times New Roman" panose="02020603050405020304" pitchFamily="18" charset="0"/>
              </a:rPr>
              <a:pPr/>
              <a:t>40</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0AAD8259-882D-781F-71D1-81975A2FEFA0}"/>
              </a:ext>
            </a:extLst>
          </p:cNvPr>
          <p:cNvSpPr>
            <a:spLocks noGrp="1" noRot="1" noChangeAspect="1" noTextEdit="1"/>
          </p:cNvSpPr>
          <p:nvPr>
            <p:ph type="sldImg"/>
          </p:nvPr>
        </p:nvSpPr>
        <p:spPr>
          <a:ln/>
        </p:spPr>
      </p:sp>
      <p:sp>
        <p:nvSpPr>
          <p:cNvPr id="76803" name="Notes Placeholder 2">
            <a:extLst>
              <a:ext uri="{FF2B5EF4-FFF2-40B4-BE49-F238E27FC236}">
                <a16:creationId xmlns:a16="http://schemas.microsoft.com/office/drawing/2014/main" id="{31878D81-D032-1853-F03E-DE1496BA335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Coupling – dependencies – degree to which modules depend on each other</a:t>
            </a:r>
          </a:p>
        </p:txBody>
      </p:sp>
      <p:sp>
        <p:nvSpPr>
          <p:cNvPr id="76804" name="Slide Number Placeholder 3">
            <a:extLst>
              <a:ext uri="{FF2B5EF4-FFF2-40B4-BE49-F238E27FC236}">
                <a16:creationId xmlns:a16="http://schemas.microsoft.com/office/drawing/2014/main" id="{6AA89A9D-2ED2-4F35-7713-0D4324768D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DF14BAB0-E748-4D2A-B4C4-95D6B1224E9D}" type="slidenum">
              <a:rPr lang="en-US" altLang="en-US" sz="1000">
                <a:solidFill>
                  <a:schemeClr val="tx1"/>
                </a:solidFill>
                <a:latin typeface="Times New Roman" panose="02020603050405020304" pitchFamily="18" charset="0"/>
              </a:rPr>
              <a:pPr/>
              <a:t>41</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5">
            <a:extLst>
              <a:ext uri="{FF2B5EF4-FFF2-40B4-BE49-F238E27FC236}">
                <a16:creationId xmlns:a16="http://schemas.microsoft.com/office/drawing/2014/main" id="{56FFF4B5-776F-2F86-AD06-89FC963183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FB77F520-5F1B-4F35-A091-8C2E593F2DD3}" type="slidenum">
              <a:rPr lang="en-US" altLang="en-US" sz="1000">
                <a:solidFill>
                  <a:schemeClr val="tx1"/>
                </a:solidFill>
                <a:latin typeface="Times New Roman" panose="02020603050405020304" pitchFamily="18" charset="0"/>
              </a:rPr>
              <a:pPr/>
              <a:t>44</a:t>
            </a:fld>
            <a:endParaRPr lang="en-US" altLang="en-US" sz="1000">
              <a:solidFill>
                <a:schemeClr val="tx1"/>
              </a:solidFill>
              <a:latin typeface="Times New Roman" panose="02020603050405020304" pitchFamily="18" charset="0"/>
            </a:endParaRPr>
          </a:p>
        </p:txBody>
      </p:sp>
      <p:sp>
        <p:nvSpPr>
          <p:cNvPr id="102403" name="Rectangle 2">
            <a:extLst>
              <a:ext uri="{FF2B5EF4-FFF2-40B4-BE49-F238E27FC236}">
                <a16:creationId xmlns:a16="http://schemas.microsoft.com/office/drawing/2014/main" id="{B1A77E34-C8F1-363E-D46C-390025F8072A}"/>
              </a:ext>
            </a:extLst>
          </p:cNvPr>
          <p:cNvSpPr>
            <a:spLocks noGrp="1" noRot="1" noChangeAspect="1" noChangeArrowheads="1" noTextEdit="1"/>
          </p:cNvSpPr>
          <p:nvPr>
            <p:ph type="sldImg"/>
          </p:nvPr>
        </p:nvSpPr>
        <p:spPr>
          <a:xfrm>
            <a:off x="406400" y="696913"/>
            <a:ext cx="6173788" cy="3473450"/>
          </a:xfrm>
          <a:ln/>
        </p:spPr>
      </p:sp>
      <p:sp>
        <p:nvSpPr>
          <p:cNvPr id="102404" name="Rectangle 3">
            <a:extLst>
              <a:ext uri="{FF2B5EF4-FFF2-40B4-BE49-F238E27FC236}">
                <a16:creationId xmlns:a16="http://schemas.microsoft.com/office/drawing/2014/main" id="{9AD4E686-B3A4-EC00-44B1-2CFBFE982A38}"/>
              </a:ext>
            </a:extLst>
          </p:cNvPr>
          <p:cNvSpPr>
            <a:spLocks noGrp="1" noChangeArrowheads="1"/>
          </p:cNvSpPr>
          <p:nvPr>
            <p:ph type="body" idx="1"/>
          </p:nvPr>
        </p:nvSpPr>
        <p:spPr>
          <a:xfrm>
            <a:off x="930275" y="4403725"/>
            <a:ext cx="5124450" cy="41719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18" tIns="46760" rIns="93518" bIns="46760" anchor="ctr"/>
          <a:lstStyle/>
          <a:p>
            <a:pPr defTabSz="914400"/>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45</a:t>
            </a:fld>
            <a:endParaRPr lang="en-US"/>
          </a:p>
        </p:txBody>
      </p:sp>
    </p:spTree>
    <p:extLst>
      <p:ext uri="{BB962C8B-B14F-4D97-AF65-F5344CB8AC3E}">
        <p14:creationId xmlns:p14="http://schemas.microsoft.com/office/powerpoint/2010/main" val="142473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9/22/25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F33F08-D016-6ED5-B138-B93CDD4D75FC}"/>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a:defRPr/>
            </a:pPr>
            <a:endParaRPr lang="en-US" sz="1800"/>
          </a:p>
        </p:txBody>
      </p:sp>
      <p:sp>
        <p:nvSpPr>
          <p:cNvPr id="3" name="Text Box 5">
            <a:extLst>
              <a:ext uri="{FF2B5EF4-FFF2-40B4-BE49-F238E27FC236}">
                <a16:creationId xmlns:a16="http://schemas.microsoft.com/office/drawing/2014/main" id="{95271A30-4721-8D61-C73E-A7C7F17BC2AE}"/>
              </a:ext>
            </a:extLst>
          </p:cNvPr>
          <p:cNvSpPr txBox="1">
            <a:spLocks noChangeArrowheads="1"/>
          </p:cNvSpPr>
          <p:nvPr/>
        </p:nvSpPr>
        <p:spPr bwMode="auto">
          <a:xfrm>
            <a:off x="491067" y="104775"/>
            <a:ext cx="11700933" cy="600164"/>
          </a:xfrm>
          <a:prstGeom prst="rect">
            <a:avLst/>
          </a:prstGeom>
          <a:noFill/>
          <a:ln w="9525">
            <a:noFill/>
            <a:miter lim="800000"/>
            <a:headEnd/>
            <a:tailEnd/>
          </a:ln>
          <a:effectLst/>
        </p:spPr>
        <p:txBody>
          <a:bodyPr lIns="0" tIns="91440">
            <a:spAutoFit/>
          </a:bodyPr>
          <a:lstStyle/>
          <a:p>
            <a:pPr>
              <a:spcBef>
                <a:spcPct val="50000"/>
              </a:spcBef>
              <a:defRPr/>
            </a:pPr>
            <a:r>
              <a:rPr lang="en-US" sz="3000">
                <a:solidFill>
                  <a:schemeClr val="bg1"/>
                </a:solidFill>
                <a:latin typeface="SIEMENS-Firmenmarke" pitchFamily="2" charset="0"/>
              </a:rPr>
              <a:t>SWENG 537: Software Systems Design</a:t>
            </a:r>
            <a:endParaRPr lang="en-US" sz="2800">
              <a:solidFill>
                <a:schemeClr val="bg1"/>
              </a:solidFill>
              <a:latin typeface="SIEMENS-Firmenmarke" pitchFamily="2" charset="0"/>
            </a:endParaRPr>
          </a:p>
        </p:txBody>
      </p:sp>
      <p:sp>
        <p:nvSpPr>
          <p:cNvPr id="4" name="Text Box 6">
            <a:extLst>
              <a:ext uri="{FF2B5EF4-FFF2-40B4-BE49-F238E27FC236}">
                <a16:creationId xmlns:a16="http://schemas.microsoft.com/office/drawing/2014/main" id="{AA06E916-F9EF-BB91-1539-3B53D89551F4}"/>
              </a:ext>
            </a:extLst>
          </p:cNvPr>
          <p:cNvSpPr txBox="1">
            <a:spLocks noChangeArrowheads="1"/>
          </p:cNvSpPr>
          <p:nvPr/>
        </p:nvSpPr>
        <p:spPr bwMode="auto">
          <a:xfrm>
            <a:off x="8026400" y="6523039"/>
            <a:ext cx="3759200" cy="323165"/>
          </a:xfrm>
          <a:prstGeom prst="rect">
            <a:avLst/>
          </a:prstGeom>
          <a:noFill/>
          <a:ln w="9525">
            <a:noFill/>
            <a:miter lim="800000"/>
            <a:headEnd/>
            <a:tailEnd/>
          </a:ln>
          <a:effectLst/>
        </p:spPr>
        <p:txBody>
          <a:bodyPr lIns="0" tIns="0">
            <a:spAutoFit/>
          </a:bodyPr>
          <a:lstStyle/>
          <a:p>
            <a:pPr algn="r">
              <a:lnSpc>
                <a:spcPct val="90000"/>
              </a:lnSpc>
              <a:defRPr/>
            </a:pPr>
            <a:r>
              <a:rPr lang="de-DE" sz="1000">
                <a:solidFill>
                  <a:srgbClr val="336699"/>
                </a:solidFill>
              </a:rPr>
              <a:t>© Engineering Division, Penn State Great Valley</a:t>
            </a:r>
          </a:p>
          <a:p>
            <a:pPr algn="r">
              <a:lnSpc>
                <a:spcPct val="90000"/>
              </a:lnSpc>
              <a:defRPr/>
            </a:pPr>
            <a:r>
              <a:rPr lang="de-DE" sz="1000">
                <a:solidFill>
                  <a:srgbClr val="336699"/>
                </a:solidFill>
              </a:rPr>
              <a:t>Last Updated: </a:t>
            </a:r>
            <a:fld id="{76AEC2A7-4FC1-486E-9F5F-8DDAB7DDBC36}" type="datetime4">
              <a:rPr lang="en-US" sz="1000">
                <a:solidFill>
                  <a:srgbClr val="336699"/>
                </a:solidFill>
              </a:rPr>
              <a:pPr algn="r">
                <a:lnSpc>
                  <a:spcPct val="90000"/>
                </a:lnSpc>
                <a:defRPr/>
              </a:pPr>
              <a:t>September 22, 2025</a:t>
            </a:fld>
            <a:endParaRPr lang="de-DE" sz="1600">
              <a:latin typeface="Arial" charset="0"/>
            </a:endParaRPr>
          </a:p>
        </p:txBody>
      </p:sp>
      <p:sp>
        <p:nvSpPr>
          <p:cNvPr id="5" name="Text Box 8">
            <a:extLst>
              <a:ext uri="{FF2B5EF4-FFF2-40B4-BE49-F238E27FC236}">
                <a16:creationId xmlns:a16="http://schemas.microsoft.com/office/drawing/2014/main" id="{798A1968-A2F0-D475-33DA-03D232BC2817}"/>
              </a:ext>
            </a:extLst>
          </p:cNvPr>
          <p:cNvSpPr txBox="1">
            <a:spLocks noChangeArrowheads="1"/>
          </p:cNvSpPr>
          <p:nvPr/>
        </p:nvSpPr>
        <p:spPr bwMode="auto">
          <a:xfrm rot="16200000">
            <a:off x="-2931054" y="3578697"/>
            <a:ext cx="6321425"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p>
        </p:txBody>
      </p:sp>
      <p:sp>
        <p:nvSpPr>
          <p:cNvPr id="119810" name="Rectangle 2"/>
          <p:cNvSpPr>
            <a:spLocks noGrp="1" noChangeArrowheads="1"/>
          </p:cNvSpPr>
          <p:nvPr>
            <p:ph type="ctrTitle" sz="quarter"/>
          </p:nvPr>
        </p:nvSpPr>
        <p:spPr>
          <a:xfrm>
            <a:off x="2235200" y="1219200"/>
            <a:ext cx="9144000" cy="1447800"/>
          </a:xfrm>
        </p:spPr>
        <p:txBody>
          <a:bodyPr rIns="0" anchor="b"/>
          <a:lstStyle>
            <a:lvl1pPr>
              <a:defRPr sz="3400">
                <a:solidFill>
                  <a:srgbClr val="990000"/>
                </a:solidFill>
              </a:defRPr>
            </a:lvl1pPr>
          </a:lstStyle>
          <a:p>
            <a:r>
              <a:rPr lang="de-DE"/>
              <a:t>headline arial narrow bold</a:t>
            </a:r>
            <a:br>
              <a:rPr lang="de-DE"/>
            </a:br>
            <a:r>
              <a:rPr lang="de-DE"/>
              <a:t>44 pt, 0 pt leading</a:t>
            </a:r>
          </a:p>
        </p:txBody>
      </p:sp>
      <p:sp>
        <p:nvSpPr>
          <p:cNvPr id="119811" name="Rectangle 3"/>
          <p:cNvSpPr>
            <a:spLocks noGrp="1" noChangeArrowheads="1"/>
          </p:cNvSpPr>
          <p:nvPr>
            <p:ph type="subTitle" sz="quarter" idx="1"/>
          </p:nvPr>
        </p:nvSpPr>
        <p:spPr>
          <a:xfrm>
            <a:off x="2224617" y="3614738"/>
            <a:ext cx="9144000" cy="1752600"/>
          </a:xfrm>
        </p:spPr>
        <p:txBody>
          <a:bodyPr rIns="0"/>
          <a:lstStyle>
            <a:lvl1pPr marL="0" indent="0" algn="ctr">
              <a:buFont typeface="Wingdings" pitchFamily="2" charset="2"/>
              <a:buNone/>
              <a:defRPr sz="2400" b="1"/>
            </a:lvl1pPr>
          </a:lstStyle>
          <a:p>
            <a:r>
              <a:rPr lang="de-DE"/>
              <a:t>arial narrow 24 pt. bold</a:t>
            </a:r>
          </a:p>
        </p:txBody>
      </p:sp>
    </p:spTree>
    <p:extLst>
      <p:ext uri="{BB962C8B-B14F-4D97-AF65-F5344CB8AC3E}">
        <p14:creationId xmlns:p14="http://schemas.microsoft.com/office/powerpoint/2010/main" val="810008466"/>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DFE61C6-DBA0-BD74-142E-68756D37EF39}"/>
              </a:ext>
            </a:extLst>
          </p:cNvPr>
          <p:cNvSpPr>
            <a:spLocks noGrp="1" noChangeArrowheads="1"/>
          </p:cNvSpPr>
          <p:nvPr>
            <p:ph type="sldNum" sz="quarter" idx="10"/>
          </p:nvPr>
        </p:nvSpPr>
        <p:spPr>
          <a:ln/>
        </p:spPr>
        <p:txBody>
          <a:bodyPr/>
          <a:lstStyle>
            <a:lvl1pPr>
              <a:defRPr/>
            </a:lvl1pPr>
          </a:lstStyle>
          <a:p>
            <a:fld id="{DC03EE66-85A7-42E5-BCB9-2884DF035A82}" type="slidenum">
              <a:rPr lang="de-DE" altLang="en-US"/>
              <a:pPr/>
              <a:t>‹#›</a:t>
            </a:fld>
            <a:endParaRPr lang="de-DE" altLang="en-US"/>
          </a:p>
        </p:txBody>
      </p:sp>
    </p:spTree>
    <p:extLst>
      <p:ext uri="{BB962C8B-B14F-4D97-AF65-F5344CB8AC3E}">
        <p14:creationId xmlns:p14="http://schemas.microsoft.com/office/powerpoint/2010/main" val="3145244014"/>
      </p:ext>
    </p:extLst>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a:extLst>
              <a:ext uri="{FF2B5EF4-FFF2-40B4-BE49-F238E27FC236}">
                <a16:creationId xmlns:a16="http://schemas.microsoft.com/office/drawing/2014/main" id="{4CE2F57C-A21D-B485-AF29-40E5F8945C1E}"/>
              </a:ext>
            </a:extLst>
          </p:cNvPr>
          <p:cNvSpPr>
            <a:spLocks noGrp="1" noChangeArrowheads="1"/>
          </p:cNvSpPr>
          <p:nvPr>
            <p:ph type="sldNum" sz="quarter" idx="10"/>
          </p:nvPr>
        </p:nvSpPr>
        <p:spPr>
          <a:ln/>
        </p:spPr>
        <p:txBody>
          <a:bodyPr/>
          <a:lstStyle>
            <a:lvl1pPr>
              <a:defRPr/>
            </a:lvl1pPr>
          </a:lstStyle>
          <a:p>
            <a:fld id="{0EBD54E7-5F7C-4CC0-81D1-A19AC002651B}" type="slidenum">
              <a:rPr lang="de-DE" altLang="en-US"/>
              <a:pPr/>
              <a:t>‹#›</a:t>
            </a:fld>
            <a:endParaRPr lang="de-DE" altLang="en-US"/>
          </a:p>
        </p:txBody>
      </p:sp>
    </p:spTree>
    <p:extLst>
      <p:ext uri="{BB962C8B-B14F-4D97-AF65-F5344CB8AC3E}">
        <p14:creationId xmlns:p14="http://schemas.microsoft.com/office/powerpoint/2010/main" val="2091857135"/>
      </p:ext>
    </p:extLst>
  </p:cSld>
  <p:clrMapOvr>
    <a:masterClrMapping/>
  </p:clrMapOvr>
  <p:transition>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21317" y="1828800"/>
            <a:ext cx="51286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1828800"/>
            <a:ext cx="5130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a:extLst>
              <a:ext uri="{FF2B5EF4-FFF2-40B4-BE49-F238E27FC236}">
                <a16:creationId xmlns:a16="http://schemas.microsoft.com/office/drawing/2014/main" id="{57448D6C-E875-AD2A-4D9C-79719B8B3030}"/>
              </a:ext>
            </a:extLst>
          </p:cNvPr>
          <p:cNvSpPr>
            <a:spLocks noGrp="1" noChangeArrowheads="1"/>
          </p:cNvSpPr>
          <p:nvPr>
            <p:ph type="sldNum" sz="quarter" idx="10"/>
          </p:nvPr>
        </p:nvSpPr>
        <p:spPr>
          <a:ln/>
        </p:spPr>
        <p:txBody>
          <a:bodyPr/>
          <a:lstStyle>
            <a:lvl1pPr>
              <a:defRPr/>
            </a:lvl1pPr>
          </a:lstStyle>
          <a:p>
            <a:fld id="{4FEE65DB-B2AB-495D-9299-B5DFCFA28388}" type="slidenum">
              <a:rPr lang="de-DE" altLang="en-US"/>
              <a:pPr/>
              <a:t>‹#›</a:t>
            </a:fld>
            <a:endParaRPr lang="de-DE" altLang="en-US"/>
          </a:p>
        </p:txBody>
      </p:sp>
    </p:spTree>
    <p:extLst>
      <p:ext uri="{BB962C8B-B14F-4D97-AF65-F5344CB8AC3E}">
        <p14:creationId xmlns:p14="http://schemas.microsoft.com/office/powerpoint/2010/main" val="1941692148"/>
      </p:ext>
    </p:extLst>
  </p:cSld>
  <p:clrMapOvr>
    <a:masterClrMapping/>
  </p:clrMapOvr>
  <p:transition>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a:extLst>
              <a:ext uri="{FF2B5EF4-FFF2-40B4-BE49-F238E27FC236}">
                <a16:creationId xmlns:a16="http://schemas.microsoft.com/office/drawing/2014/main" id="{486ED3EF-C3EA-8B5D-4B16-559D86A4E0CE}"/>
              </a:ext>
            </a:extLst>
          </p:cNvPr>
          <p:cNvSpPr>
            <a:spLocks noGrp="1" noChangeArrowheads="1"/>
          </p:cNvSpPr>
          <p:nvPr>
            <p:ph type="sldNum" sz="quarter" idx="10"/>
          </p:nvPr>
        </p:nvSpPr>
        <p:spPr>
          <a:ln/>
        </p:spPr>
        <p:txBody>
          <a:bodyPr/>
          <a:lstStyle>
            <a:lvl1pPr>
              <a:defRPr/>
            </a:lvl1pPr>
          </a:lstStyle>
          <a:p>
            <a:fld id="{30F98CF5-9AE7-4786-B13E-797328401BF6}" type="slidenum">
              <a:rPr lang="de-DE" altLang="en-US"/>
              <a:pPr/>
              <a:t>‹#›</a:t>
            </a:fld>
            <a:endParaRPr lang="de-DE" altLang="en-US"/>
          </a:p>
        </p:txBody>
      </p:sp>
    </p:spTree>
    <p:extLst>
      <p:ext uri="{BB962C8B-B14F-4D97-AF65-F5344CB8AC3E}">
        <p14:creationId xmlns:p14="http://schemas.microsoft.com/office/powerpoint/2010/main" val="1396810015"/>
      </p:ext>
    </p:extLst>
  </p:cSld>
  <p:clrMapOvr>
    <a:masterClrMapping/>
  </p:clrMapOvr>
  <p:transition>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a:extLst>
              <a:ext uri="{FF2B5EF4-FFF2-40B4-BE49-F238E27FC236}">
                <a16:creationId xmlns:a16="http://schemas.microsoft.com/office/drawing/2014/main" id="{E36A3930-6349-12FB-5192-86424ADD8930}"/>
              </a:ext>
            </a:extLst>
          </p:cNvPr>
          <p:cNvSpPr>
            <a:spLocks noGrp="1" noChangeArrowheads="1"/>
          </p:cNvSpPr>
          <p:nvPr>
            <p:ph type="sldNum" sz="quarter" idx="10"/>
          </p:nvPr>
        </p:nvSpPr>
        <p:spPr>
          <a:ln/>
        </p:spPr>
        <p:txBody>
          <a:bodyPr/>
          <a:lstStyle>
            <a:lvl1pPr>
              <a:defRPr/>
            </a:lvl1pPr>
          </a:lstStyle>
          <a:p>
            <a:fld id="{F527568B-A8F3-4468-9EF1-2B509F023149}" type="slidenum">
              <a:rPr lang="de-DE" altLang="en-US"/>
              <a:pPr/>
              <a:t>‹#›</a:t>
            </a:fld>
            <a:endParaRPr lang="de-DE" altLang="en-US"/>
          </a:p>
        </p:txBody>
      </p:sp>
    </p:spTree>
    <p:extLst>
      <p:ext uri="{BB962C8B-B14F-4D97-AF65-F5344CB8AC3E}">
        <p14:creationId xmlns:p14="http://schemas.microsoft.com/office/powerpoint/2010/main" val="3683681138"/>
      </p:ext>
    </p:extLst>
  </p:cSld>
  <p:clrMapOvr>
    <a:masterClrMapping/>
  </p:clrMapOvr>
  <p:transition>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B441927B-3258-E4C3-CE6C-550F37628F2D}"/>
              </a:ext>
            </a:extLst>
          </p:cNvPr>
          <p:cNvSpPr>
            <a:spLocks noGrp="1" noChangeArrowheads="1"/>
          </p:cNvSpPr>
          <p:nvPr>
            <p:ph type="sldNum" sz="quarter" idx="10"/>
          </p:nvPr>
        </p:nvSpPr>
        <p:spPr>
          <a:ln/>
        </p:spPr>
        <p:txBody>
          <a:bodyPr/>
          <a:lstStyle>
            <a:lvl1pPr>
              <a:defRPr/>
            </a:lvl1pPr>
          </a:lstStyle>
          <a:p>
            <a:fld id="{D8037515-ABFA-425C-A5BB-467EEDC3C6CD}" type="slidenum">
              <a:rPr lang="de-DE" altLang="en-US"/>
              <a:pPr/>
              <a:t>‹#›</a:t>
            </a:fld>
            <a:endParaRPr lang="de-DE" altLang="en-US"/>
          </a:p>
        </p:txBody>
      </p:sp>
    </p:spTree>
    <p:extLst>
      <p:ext uri="{BB962C8B-B14F-4D97-AF65-F5344CB8AC3E}">
        <p14:creationId xmlns:p14="http://schemas.microsoft.com/office/powerpoint/2010/main" val="2214041240"/>
      </p:ext>
    </p:extLst>
  </p:cSld>
  <p:clrMapOvr>
    <a:masterClrMapping/>
  </p:clrMapOvr>
  <p:transition>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7CAC1458-2254-43E1-BBC2-13C3021A8411}"/>
              </a:ext>
            </a:extLst>
          </p:cNvPr>
          <p:cNvSpPr>
            <a:spLocks noGrp="1" noChangeArrowheads="1"/>
          </p:cNvSpPr>
          <p:nvPr>
            <p:ph type="sldNum" sz="quarter" idx="10"/>
          </p:nvPr>
        </p:nvSpPr>
        <p:spPr>
          <a:ln/>
        </p:spPr>
        <p:txBody>
          <a:bodyPr/>
          <a:lstStyle>
            <a:lvl1pPr>
              <a:defRPr/>
            </a:lvl1pPr>
          </a:lstStyle>
          <a:p>
            <a:fld id="{8918E807-297E-4F87-ACBA-A9BDCFAB9B75}" type="slidenum">
              <a:rPr lang="de-DE" altLang="en-US"/>
              <a:pPr/>
              <a:t>‹#›</a:t>
            </a:fld>
            <a:endParaRPr lang="de-DE" altLang="en-US"/>
          </a:p>
        </p:txBody>
      </p:sp>
    </p:spTree>
    <p:extLst>
      <p:ext uri="{BB962C8B-B14F-4D97-AF65-F5344CB8AC3E}">
        <p14:creationId xmlns:p14="http://schemas.microsoft.com/office/powerpoint/2010/main" val="2042409524"/>
      </p:ext>
    </p:extLst>
  </p:cSld>
  <p:clrMapOvr>
    <a:masterClrMapping/>
  </p:clrMapOvr>
  <p:transition>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280C4D00-106C-6C34-336C-9AD363A1511B}"/>
              </a:ext>
            </a:extLst>
          </p:cNvPr>
          <p:cNvSpPr>
            <a:spLocks noGrp="1" noChangeArrowheads="1"/>
          </p:cNvSpPr>
          <p:nvPr>
            <p:ph type="sldNum" sz="quarter" idx="10"/>
          </p:nvPr>
        </p:nvSpPr>
        <p:spPr>
          <a:ln/>
        </p:spPr>
        <p:txBody>
          <a:bodyPr/>
          <a:lstStyle>
            <a:lvl1pPr>
              <a:defRPr/>
            </a:lvl1pPr>
          </a:lstStyle>
          <a:p>
            <a:fld id="{A953752E-C382-4970-A515-C6C47B2256A5}" type="slidenum">
              <a:rPr lang="de-DE" altLang="en-US"/>
              <a:pPr/>
              <a:t>‹#›</a:t>
            </a:fld>
            <a:endParaRPr lang="de-DE" altLang="en-US"/>
          </a:p>
        </p:txBody>
      </p:sp>
    </p:spTree>
    <p:extLst>
      <p:ext uri="{BB962C8B-B14F-4D97-AF65-F5344CB8AC3E}">
        <p14:creationId xmlns:p14="http://schemas.microsoft.com/office/powerpoint/2010/main" val="1993135771"/>
      </p:ext>
    </p:extLst>
  </p:cSld>
  <p:clrMapOvr>
    <a:masterClrMapping/>
  </p:clrMapOvr>
  <p:transition>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1BDCA160-64B8-B2DF-0A57-8B117EE1005F}"/>
              </a:ext>
            </a:extLst>
          </p:cNvPr>
          <p:cNvSpPr>
            <a:spLocks noGrp="1" noChangeArrowheads="1"/>
          </p:cNvSpPr>
          <p:nvPr>
            <p:ph type="sldNum" sz="quarter" idx="10"/>
          </p:nvPr>
        </p:nvSpPr>
        <p:spPr>
          <a:ln/>
        </p:spPr>
        <p:txBody>
          <a:bodyPr/>
          <a:lstStyle>
            <a:lvl1pPr>
              <a:defRPr/>
            </a:lvl1pPr>
          </a:lstStyle>
          <a:p>
            <a:fld id="{51BFFDC5-0B19-42D5-A7FB-FFDBB9E974CB}" type="slidenum">
              <a:rPr lang="de-DE" altLang="en-US"/>
              <a:pPr/>
              <a:t>‹#›</a:t>
            </a:fld>
            <a:endParaRPr lang="de-DE" altLang="en-US"/>
          </a:p>
        </p:txBody>
      </p:sp>
    </p:spTree>
    <p:extLst>
      <p:ext uri="{BB962C8B-B14F-4D97-AF65-F5344CB8AC3E}">
        <p14:creationId xmlns:p14="http://schemas.microsoft.com/office/powerpoint/2010/main" val="2094030374"/>
      </p:ext>
    </p:extLst>
  </p:cSld>
  <p:clrMapOvr>
    <a:masterClrMapping/>
  </p:clrMapOvr>
  <p:transition>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9917" y="609600"/>
            <a:ext cx="2614083"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21317" y="609600"/>
            <a:ext cx="76454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6C9261F-98D6-FBD5-D721-5C0B664941D1}"/>
              </a:ext>
            </a:extLst>
          </p:cNvPr>
          <p:cNvSpPr>
            <a:spLocks noGrp="1" noChangeArrowheads="1"/>
          </p:cNvSpPr>
          <p:nvPr>
            <p:ph type="sldNum" sz="quarter" idx="10"/>
          </p:nvPr>
        </p:nvSpPr>
        <p:spPr>
          <a:ln/>
        </p:spPr>
        <p:txBody>
          <a:bodyPr/>
          <a:lstStyle>
            <a:lvl1pPr>
              <a:defRPr/>
            </a:lvl1pPr>
          </a:lstStyle>
          <a:p>
            <a:fld id="{0386F535-B57D-425A-BFA5-AA4AC0F0DE9D}" type="slidenum">
              <a:rPr lang="de-DE" altLang="en-US"/>
              <a:pPr/>
              <a:t>‹#›</a:t>
            </a:fld>
            <a:endParaRPr lang="de-DE" altLang="en-US"/>
          </a:p>
        </p:txBody>
      </p:sp>
    </p:spTree>
    <p:extLst>
      <p:ext uri="{BB962C8B-B14F-4D97-AF65-F5344CB8AC3E}">
        <p14:creationId xmlns:p14="http://schemas.microsoft.com/office/powerpoint/2010/main" val="4117519442"/>
      </p:ext>
    </p:extLst>
  </p:cSld>
  <p:clrMapOvr>
    <a:masterClrMapping/>
  </p:clrMapOvr>
  <p:transition>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F02EF089-A624-4AB7-8B7F-2212E43B5F77}" type="datetime1">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61783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BFBC5EE-8023-48A0-B577-A5117191FDD2}" type="datetime1">
              <a:rPr lang="en-US" smtClean="0"/>
              <a:t>9/22/25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17370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8A247A89-8FD0-4D3F-AE44-186FA5A357B4}" type="datetime1">
              <a:rPr lang="en-US" smtClean="0"/>
              <a:t>9/22/25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03576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76F02-BBAE-414F-9EC4-5B5F51B31BDB}" type="datetime1">
              <a:rPr lang="en-US" smtClean="0"/>
              <a:t>9/22/25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753293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F49CE-F4FE-45C3-BBAB-CFE946522D3B}" type="datetime1">
              <a:rPr lang="en-US" smtClean="0"/>
              <a:t>9/22/25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577221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221F2F-1A99-4762-A6E9-3172ACF4978C}" type="datetime1">
              <a:rPr lang="en-US" smtClean="0"/>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52459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A1192-0569-4FE3-B36A-F319D4D12EA7}" type="datetime1">
              <a:rPr lang="en-US" smtClean="0"/>
              <a:t>9/22/25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818578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DC0433F-3AC1-46DB-A8F6-3397C409090D}" type="datetime1">
              <a:rPr lang="en-US" smtClean="0"/>
              <a:t>9/22/25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554817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BF6D33-D9B1-481D-971E-4AEB549657B4}" type="datetime1">
              <a:rPr lang="en-US" smtClean="0"/>
              <a:t>9/22/25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741074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30853F-751A-4ADE-AEBA-5696F2A13B50}" type="datetime1">
              <a:rPr lang="en-US" smtClean="0"/>
              <a:t>9/22/25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498794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279F3-C829-4592-BA39-957487C9EDF2}" type="datetime1">
              <a:rPr lang="en-US" smtClean="0"/>
              <a:t>9/22/25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81565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30771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microsoft.com/office/2007/relationships/hdphoto" Target="../media/hdphoto1.wdp"/><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9/22/25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8F1ECE1-9929-DE64-5632-72540D1E07E9}"/>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defTabSz="762000">
              <a:defRPr/>
            </a:pPr>
            <a:endParaRPr lang="en-US" sz="1600">
              <a:solidFill>
                <a:schemeClr val="bg1"/>
              </a:solidFill>
            </a:endParaRPr>
          </a:p>
        </p:txBody>
      </p:sp>
      <p:sp>
        <p:nvSpPr>
          <p:cNvPr id="118787" name="Text Box 3">
            <a:extLst>
              <a:ext uri="{FF2B5EF4-FFF2-40B4-BE49-F238E27FC236}">
                <a16:creationId xmlns:a16="http://schemas.microsoft.com/office/drawing/2014/main" id="{76FAA039-BCD5-DF52-3464-54E83919E58D}"/>
              </a:ext>
            </a:extLst>
          </p:cNvPr>
          <p:cNvSpPr txBox="1">
            <a:spLocks noChangeArrowheads="1"/>
          </p:cNvSpPr>
          <p:nvPr/>
        </p:nvSpPr>
        <p:spPr bwMode="auto">
          <a:xfrm>
            <a:off x="789518" y="95250"/>
            <a:ext cx="10674349" cy="446276"/>
          </a:xfrm>
          <a:prstGeom prst="rect">
            <a:avLst/>
          </a:prstGeom>
          <a:noFill/>
          <a:ln w="9525">
            <a:noFill/>
            <a:miter lim="800000"/>
            <a:headEnd/>
            <a:tailEnd/>
          </a:ln>
          <a:effectLst/>
        </p:spPr>
        <p:txBody>
          <a:bodyPr lIns="0" tIns="0">
            <a:spAutoFit/>
          </a:bodyPr>
          <a:lstStyle/>
          <a:p>
            <a:pPr>
              <a:spcBef>
                <a:spcPct val="50000"/>
              </a:spcBef>
              <a:defRPr/>
            </a:pPr>
            <a:r>
              <a:rPr lang="en-US" sz="2600">
                <a:solidFill>
                  <a:schemeClr val="bg1"/>
                </a:solidFill>
                <a:latin typeface="SIEMENS-Firmenmarke" pitchFamily="2" charset="0"/>
              </a:rPr>
              <a:t>SWENG 537: Software Systems Design</a:t>
            </a:r>
            <a:endParaRPr lang="en-US" sz="2400">
              <a:solidFill>
                <a:schemeClr val="bg1"/>
              </a:solidFill>
              <a:latin typeface="SIEMENS-Firmenmarke" pitchFamily="2" charset="0"/>
            </a:endParaRPr>
          </a:p>
        </p:txBody>
      </p:sp>
      <p:sp>
        <p:nvSpPr>
          <p:cNvPr id="2052" name="Rectangle 4">
            <a:extLst>
              <a:ext uri="{FF2B5EF4-FFF2-40B4-BE49-F238E27FC236}">
                <a16:creationId xmlns:a16="http://schemas.microsoft.com/office/drawing/2014/main" id="{EEE92D2C-33B8-70ED-16BA-3A755D5F5C30}"/>
              </a:ext>
            </a:extLst>
          </p:cNvPr>
          <p:cNvSpPr>
            <a:spLocks noGrp="1" noChangeArrowheads="1"/>
          </p:cNvSpPr>
          <p:nvPr>
            <p:ph type="title"/>
          </p:nvPr>
        </p:nvSpPr>
        <p:spPr bwMode="auto">
          <a:xfrm>
            <a:off x="1221317" y="609600"/>
            <a:ext cx="104626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p>
            <a:pPr lvl="0"/>
            <a:r>
              <a:rPr lang="de-DE" altLang="en-US"/>
              <a:t>Click to edit mater Title style</a:t>
            </a:r>
          </a:p>
        </p:txBody>
      </p:sp>
      <p:sp>
        <p:nvSpPr>
          <p:cNvPr id="2053" name="Rectangle 5">
            <a:extLst>
              <a:ext uri="{FF2B5EF4-FFF2-40B4-BE49-F238E27FC236}">
                <a16:creationId xmlns:a16="http://schemas.microsoft.com/office/drawing/2014/main" id="{136EAA36-8F01-3A0D-8422-3765DC01E178}"/>
              </a:ext>
            </a:extLst>
          </p:cNvPr>
          <p:cNvSpPr>
            <a:spLocks noGrp="1" noChangeArrowheads="1"/>
          </p:cNvSpPr>
          <p:nvPr>
            <p:ph type="body" idx="1"/>
          </p:nvPr>
        </p:nvSpPr>
        <p:spPr bwMode="auto">
          <a:xfrm>
            <a:off x="1221317" y="1828800"/>
            <a:ext cx="104626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p>
            <a:pPr lvl="0"/>
            <a:r>
              <a:rPr lang="de-DE" altLang="en-US"/>
              <a:t>Click to edit Master text styles</a:t>
            </a:r>
          </a:p>
          <a:p>
            <a:pPr lvl="1"/>
            <a:r>
              <a:rPr lang="de-DE" altLang="en-US"/>
              <a:t>Second level</a:t>
            </a:r>
          </a:p>
          <a:p>
            <a:pPr lvl="2"/>
            <a:r>
              <a:rPr lang="de-DE" altLang="en-US"/>
              <a:t>Third level</a:t>
            </a:r>
          </a:p>
          <a:p>
            <a:pPr lvl="3"/>
            <a:r>
              <a:rPr lang="de-DE" altLang="en-US"/>
              <a:t>Fourth level</a:t>
            </a:r>
          </a:p>
          <a:p>
            <a:pPr lvl="4"/>
            <a:r>
              <a:rPr lang="de-DE" altLang="en-US"/>
              <a:t>Fifth level</a:t>
            </a:r>
          </a:p>
        </p:txBody>
      </p:sp>
      <p:sp>
        <p:nvSpPr>
          <p:cNvPr id="118803" name="Rectangle 19">
            <a:extLst>
              <a:ext uri="{FF2B5EF4-FFF2-40B4-BE49-F238E27FC236}">
                <a16:creationId xmlns:a16="http://schemas.microsoft.com/office/drawing/2014/main" id="{CCC05AEF-4FC5-7CA8-848A-24CEB999B89A}"/>
              </a:ext>
            </a:extLst>
          </p:cNvPr>
          <p:cNvSpPr>
            <a:spLocks noGrp="1" noChangeArrowheads="1"/>
          </p:cNvSpPr>
          <p:nvPr>
            <p:ph type="sldNum" sz="quarter" idx="4"/>
          </p:nvPr>
        </p:nvSpPr>
        <p:spPr bwMode="auto">
          <a:xfrm>
            <a:off x="9213851" y="6400800"/>
            <a:ext cx="2470149" cy="304800"/>
          </a:xfrm>
          <a:prstGeom prst="rect">
            <a:avLst/>
          </a:prstGeom>
          <a:noFill/>
          <a:ln w="9525">
            <a:noFill/>
            <a:miter lim="800000"/>
            <a:headEnd/>
            <a:tailEnd/>
          </a:ln>
          <a:effectLst/>
        </p:spPr>
        <p:txBody>
          <a:bodyPr vert="horz" wrap="square" lIns="0" tIns="0" rIns="91440" bIns="45720" numCol="1" anchor="t" anchorCtr="0" compatLnSpc="1">
            <a:prstTxWarp prst="textNoShape">
              <a:avLst/>
            </a:prstTxWarp>
          </a:bodyPr>
          <a:lstStyle>
            <a:lvl1pPr algn="r">
              <a:lnSpc>
                <a:spcPct val="110000"/>
              </a:lnSpc>
              <a:defRPr sz="1000"/>
            </a:lvl1pPr>
          </a:lstStyle>
          <a:p>
            <a:fld id="{E0656729-D543-4138-8524-6AD43830E923}" type="slidenum">
              <a:rPr lang="de-DE" altLang="en-US"/>
              <a:pPr/>
              <a:t>‹#›</a:t>
            </a:fld>
            <a:endParaRPr lang="de-DE" altLang="en-US"/>
          </a:p>
        </p:txBody>
      </p:sp>
      <p:sp>
        <p:nvSpPr>
          <p:cNvPr id="118804" name="Text Box 20">
            <a:extLst>
              <a:ext uri="{FF2B5EF4-FFF2-40B4-BE49-F238E27FC236}">
                <a16:creationId xmlns:a16="http://schemas.microsoft.com/office/drawing/2014/main" id="{DFA5C3A8-C016-4867-F5D6-A2ACFA93DCCB}"/>
              </a:ext>
            </a:extLst>
          </p:cNvPr>
          <p:cNvSpPr txBox="1">
            <a:spLocks noChangeArrowheads="1"/>
          </p:cNvSpPr>
          <p:nvPr userDrawn="1"/>
        </p:nvSpPr>
        <p:spPr bwMode="auto">
          <a:xfrm rot="16200000">
            <a:off x="-2930790" y="3582666"/>
            <a:ext cx="6329363"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r>
              <a:rPr lang="en-US" sz="1200" b="1">
                <a:solidFill>
                  <a:schemeClr val="bg1"/>
                </a:solidFill>
                <a:latin typeface="Arial" charset="0"/>
                <a:cs typeface="Arial" charset="0"/>
              </a:rPr>
              <a:t>© ENGINEERING DIVISION, </a:t>
            </a:r>
            <a:r>
              <a:rPr lang="de-DE" sz="1200" b="1">
                <a:solidFill>
                  <a:schemeClr val="bg1"/>
                </a:solidFill>
                <a:latin typeface="Arial" charset="0"/>
              </a:rPr>
              <a:t>PENN STATE UNIVERSITY</a:t>
            </a:r>
          </a:p>
        </p:txBody>
      </p:sp>
    </p:spTree>
    <p:extLst>
      <p:ext uri="{BB962C8B-B14F-4D97-AF65-F5344CB8AC3E}">
        <p14:creationId xmlns:p14="http://schemas.microsoft.com/office/powerpoint/2010/main" val="33745619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strips dir="rd"/>
  </p:transition>
  <p:hf hdr="0" ftr="0" dt="0"/>
  <p:txStyles>
    <p:titleStyle>
      <a:lvl1pPr algn="ctr" rtl="0" eaLnBrk="0" fontAlgn="base" hangingPunct="0">
        <a:spcBef>
          <a:spcPct val="0"/>
        </a:spcBef>
        <a:spcAft>
          <a:spcPct val="0"/>
        </a:spcAft>
        <a:defRPr sz="2400" b="1">
          <a:solidFill>
            <a:srgbClr val="666666"/>
          </a:solidFill>
          <a:latin typeface="+mj-lt"/>
          <a:ea typeface="+mj-ea"/>
          <a:cs typeface="+mj-cs"/>
        </a:defRPr>
      </a:lvl1pPr>
      <a:lvl2pPr algn="ctr" rtl="0" eaLnBrk="0" fontAlgn="base" hangingPunct="0">
        <a:spcBef>
          <a:spcPct val="0"/>
        </a:spcBef>
        <a:spcAft>
          <a:spcPct val="0"/>
        </a:spcAft>
        <a:defRPr sz="2400" b="1">
          <a:solidFill>
            <a:srgbClr val="666666"/>
          </a:solidFill>
          <a:latin typeface="Arial Narrow" pitchFamily="34" charset="0"/>
        </a:defRPr>
      </a:lvl2pPr>
      <a:lvl3pPr algn="ctr" rtl="0" eaLnBrk="0" fontAlgn="base" hangingPunct="0">
        <a:spcBef>
          <a:spcPct val="0"/>
        </a:spcBef>
        <a:spcAft>
          <a:spcPct val="0"/>
        </a:spcAft>
        <a:defRPr sz="2400" b="1">
          <a:solidFill>
            <a:srgbClr val="666666"/>
          </a:solidFill>
          <a:latin typeface="Arial Narrow" pitchFamily="34" charset="0"/>
        </a:defRPr>
      </a:lvl3pPr>
      <a:lvl4pPr algn="ctr" rtl="0" eaLnBrk="0" fontAlgn="base" hangingPunct="0">
        <a:spcBef>
          <a:spcPct val="0"/>
        </a:spcBef>
        <a:spcAft>
          <a:spcPct val="0"/>
        </a:spcAft>
        <a:defRPr sz="2400" b="1">
          <a:solidFill>
            <a:srgbClr val="666666"/>
          </a:solidFill>
          <a:latin typeface="Arial Narrow" pitchFamily="34" charset="0"/>
        </a:defRPr>
      </a:lvl4pPr>
      <a:lvl5pPr algn="ctr" rtl="0" eaLnBrk="0" fontAlgn="base" hangingPunct="0">
        <a:spcBef>
          <a:spcPct val="0"/>
        </a:spcBef>
        <a:spcAft>
          <a:spcPct val="0"/>
        </a:spcAft>
        <a:defRPr sz="2400" b="1">
          <a:solidFill>
            <a:srgbClr val="666666"/>
          </a:solidFill>
          <a:latin typeface="Arial Narrow" pitchFamily="34" charset="0"/>
        </a:defRPr>
      </a:lvl5pPr>
      <a:lvl6pPr marL="457200" algn="ctr" rtl="0" eaLnBrk="0" fontAlgn="base" hangingPunct="0">
        <a:spcBef>
          <a:spcPct val="0"/>
        </a:spcBef>
        <a:spcAft>
          <a:spcPct val="0"/>
        </a:spcAft>
        <a:defRPr sz="2400" b="1">
          <a:solidFill>
            <a:srgbClr val="666666"/>
          </a:solidFill>
          <a:latin typeface="Arial Narrow" pitchFamily="34" charset="0"/>
        </a:defRPr>
      </a:lvl6pPr>
      <a:lvl7pPr marL="914400" algn="ctr" rtl="0" eaLnBrk="0" fontAlgn="base" hangingPunct="0">
        <a:spcBef>
          <a:spcPct val="0"/>
        </a:spcBef>
        <a:spcAft>
          <a:spcPct val="0"/>
        </a:spcAft>
        <a:defRPr sz="2400" b="1">
          <a:solidFill>
            <a:srgbClr val="666666"/>
          </a:solidFill>
          <a:latin typeface="Arial Narrow" pitchFamily="34" charset="0"/>
        </a:defRPr>
      </a:lvl7pPr>
      <a:lvl8pPr marL="1371600" algn="ctr" rtl="0" eaLnBrk="0" fontAlgn="base" hangingPunct="0">
        <a:spcBef>
          <a:spcPct val="0"/>
        </a:spcBef>
        <a:spcAft>
          <a:spcPct val="0"/>
        </a:spcAft>
        <a:defRPr sz="2400" b="1">
          <a:solidFill>
            <a:srgbClr val="666666"/>
          </a:solidFill>
          <a:latin typeface="Arial Narrow" pitchFamily="34" charset="0"/>
        </a:defRPr>
      </a:lvl8pPr>
      <a:lvl9pPr marL="1828800" algn="ctr" rtl="0" eaLnBrk="0" fontAlgn="base" hangingPunct="0">
        <a:spcBef>
          <a:spcPct val="0"/>
        </a:spcBef>
        <a:spcAft>
          <a:spcPct val="0"/>
        </a:spcAft>
        <a:defRPr sz="2400" b="1">
          <a:solidFill>
            <a:srgbClr val="666666"/>
          </a:solidFill>
          <a:latin typeface="Arial Narrow" pitchFamily="34" charset="0"/>
        </a:defRPr>
      </a:lvl9pPr>
    </p:titleStyle>
    <p:bodyStyle>
      <a:lvl1pPr marL="190500" indent="-190500" algn="l" rtl="0" eaLnBrk="0" fontAlgn="base" hangingPunct="0">
        <a:spcBef>
          <a:spcPct val="15000"/>
        </a:spcBef>
        <a:spcAft>
          <a:spcPct val="0"/>
        </a:spcAft>
        <a:buSzPct val="70000"/>
        <a:buFont typeface="Wingdings" panose="05000000000000000000" pitchFamily="2" charset="2"/>
        <a:buChar char="q"/>
        <a:defRPr>
          <a:solidFill>
            <a:schemeClr val="tx1"/>
          </a:solidFill>
          <a:latin typeface="+mn-lt"/>
          <a:ea typeface="+mn-ea"/>
          <a:cs typeface="+mn-cs"/>
        </a:defRPr>
      </a:lvl1pPr>
      <a:lvl2pPr marL="571500" indent="-190500" algn="l" rtl="0" eaLnBrk="0" fontAlgn="base" hangingPunct="0">
        <a:spcBef>
          <a:spcPct val="0"/>
        </a:spcBef>
        <a:spcAft>
          <a:spcPts val="400"/>
        </a:spcAft>
        <a:buSzPct val="70000"/>
        <a:buFont typeface="Marlett" pitchFamily="2" charset="2"/>
        <a:buChar char="i"/>
        <a:defRPr sz="1600">
          <a:solidFill>
            <a:schemeClr val="tx1"/>
          </a:solidFill>
          <a:latin typeface="+mn-lt"/>
        </a:defRPr>
      </a:lvl2pPr>
      <a:lvl3pPr marL="952500" indent="-190500" algn="l" rtl="0" eaLnBrk="0" fontAlgn="base" hangingPunct="0">
        <a:lnSpc>
          <a:spcPct val="110000"/>
        </a:lnSpc>
        <a:spcBef>
          <a:spcPct val="0"/>
        </a:spcBef>
        <a:spcAft>
          <a:spcPts val="400"/>
        </a:spcAft>
        <a:buSzPct val="70000"/>
        <a:buFont typeface="Marlett" pitchFamily="2" charset="2"/>
        <a:buChar char="i"/>
        <a:defRPr sz="1400">
          <a:solidFill>
            <a:schemeClr val="tx1"/>
          </a:solidFill>
          <a:latin typeface="+mn-lt"/>
        </a:defRPr>
      </a:lvl3pPr>
      <a:lvl4pPr marL="1333500" indent="-190500" algn="l" rtl="0" eaLnBrk="0" fontAlgn="base" hangingPunct="0">
        <a:lnSpc>
          <a:spcPct val="150000"/>
        </a:lnSpc>
        <a:spcBef>
          <a:spcPct val="0"/>
        </a:spcBef>
        <a:spcAft>
          <a:spcPts val="400"/>
        </a:spcAft>
        <a:buSzPct val="70000"/>
        <a:buFont typeface="Marlett" pitchFamily="2" charset="2"/>
        <a:buChar char="i"/>
        <a:defRPr sz="1200">
          <a:solidFill>
            <a:schemeClr val="tx1"/>
          </a:solidFill>
          <a:latin typeface="+mn-lt"/>
        </a:defRPr>
      </a:lvl4pPr>
      <a:lvl5pPr marL="17145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5pPr>
      <a:lvl6pPr marL="21717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6pPr>
      <a:lvl7pPr marL="26289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7pPr>
      <a:lvl8pPr marL="30861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8pPr>
      <a:lvl9pPr marL="35433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8B3F41A-BBB1-4D5B-B4E1-5EA02F485917}" type="datetime1">
              <a:rPr lang="en-US" smtClean="0"/>
              <a:t>9/22/25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632827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4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CS411</a:t>
            </a:r>
            <a:r>
              <a:rPr lang="en-US" sz="6100">
                <a:latin typeface="Calibri" panose="020F0502020204030204" pitchFamily="34" charset="0"/>
                <a:cs typeface="Calibri" panose="020F0502020204030204" pitchFamily="34" charset="0"/>
              </a:rPr>
              <a:t>, FALL </a:t>
            </a:r>
            <a:r>
              <a:rPr lang="en-US" sz="6100" dirty="0">
                <a:latin typeface="Calibri" panose="020F0502020204030204" pitchFamily="34" charset="0"/>
                <a:cs typeface="Calibri" panose="020F0502020204030204" pitchFamily="34" charset="0"/>
              </a:rPr>
              <a:t>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Lecture 7: Design Principles I by </a:t>
            </a:r>
            <a:r>
              <a:rPr lang="en-US" dirty="0">
                <a:solidFill>
                  <a:srgbClr val="000000"/>
                </a:solidFill>
              </a:rPr>
              <a:t>Dr.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8D3A1EA5-3A5A-E904-971A-35508953B1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28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28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r>
              <a:rPr lang="en-US" dirty="0"/>
              <a:t>Lesson plan</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536647" y="2291220"/>
            <a:ext cx="11202271" cy="4366469"/>
          </a:xfrm>
        </p:spPr>
        <p:txBody>
          <a:bodyPr>
            <a:normAutofit fontScale="85000" lnSpcReduction="20000"/>
          </a:bodyPr>
          <a:lstStyle/>
          <a:p>
            <a:pPr algn="just"/>
            <a:r>
              <a:rPr lang="en-US" sz="3400" dirty="0">
                <a:latin typeface="Times New Roman" panose="02020603050405020304" pitchFamily="18" charset="0"/>
                <a:cs typeface="Times New Roman" panose="02020603050405020304" pitchFamily="18" charset="0"/>
              </a:rPr>
              <a:t>Introduce you to the </a:t>
            </a:r>
            <a:r>
              <a:rPr lang="en-US" sz="3400" b="1" u="sng" dirty="0">
                <a:solidFill>
                  <a:srgbClr val="00B050"/>
                </a:solidFill>
                <a:latin typeface="Times New Roman" panose="02020603050405020304" pitchFamily="18" charset="0"/>
                <a:cs typeface="Times New Roman" panose="02020603050405020304" pitchFamily="18" charset="0"/>
              </a:rPr>
              <a:t>Operations Contract </a:t>
            </a:r>
            <a:r>
              <a:rPr lang="en-US" sz="3400" dirty="0">
                <a:latin typeface="Times New Roman" panose="02020603050405020304" pitchFamily="18" charset="0"/>
                <a:cs typeface="Times New Roman" panose="02020603050405020304" pitchFamily="18" charset="0"/>
              </a:rPr>
              <a:t>for External Operations.</a:t>
            </a:r>
          </a:p>
          <a:p>
            <a:pPr marL="0" indent="0" algn="just">
              <a:buNone/>
            </a:pPr>
            <a:endParaRPr lang="en-US" sz="3400" dirty="0">
              <a:latin typeface="Times New Roman" panose="02020603050405020304" pitchFamily="18" charset="0"/>
              <a:cs typeface="Times New Roman" panose="02020603050405020304" pitchFamily="18" charset="0"/>
            </a:endParaRPr>
          </a:p>
          <a:p>
            <a:pPr marL="342900" indent="-342900"/>
            <a:r>
              <a:rPr lang="en-US" altLang="en-US" sz="3600" dirty="0"/>
              <a:t>GRASP Patterns:</a:t>
            </a:r>
          </a:p>
          <a:p>
            <a:pPr marL="608012" lvl="1" indent="-342900"/>
            <a:r>
              <a:rPr lang="en-US" altLang="en-US" dirty="0"/>
              <a:t>Expert</a:t>
            </a:r>
          </a:p>
          <a:p>
            <a:pPr marL="608012" lvl="1" indent="-342900"/>
            <a:r>
              <a:rPr lang="en-US" altLang="en-US" dirty="0"/>
              <a:t>Creator</a:t>
            </a:r>
          </a:p>
          <a:p>
            <a:pPr marL="608012" lvl="1" indent="-342900"/>
            <a:r>
              <a:rPr lang="en-US" altLang="en-US" dirty="0"/>
              <a:t>Controller</a:t>
            </a:r>
          </a:p>
          <a:p>
            <a:pPr marL="608012" lvl="1" indent="-342900"/>
            <a:r>
              <a:rPr lang="en-US" altLang="en-US" dirty="0"/>
              <a:t>Low Coupling/High Cohesion</a:t>
            </a:r>
          </a:p>
          <a:p>
            <a:pPr marL="608012" lvl="1" indent="-342900"/>
            <a:r>
              <a:rPr lang="en-US" altLang="en-US" dirty="0"/>
              <a:t>Polymorphism</a:t>
            </a:r>
          </a:p>
          <a:p>
            <a:pPr marL="608012" lvl="1" indent="-342900"/>
            <a:r>
              <a:rPr lang="en-US" altLang="en-US" dirty="0"/>
              <a:t>Pure Fabrication</a:t>
            </a:r>
          </a:p>
          <a:p>
            <a:pPr marL="608012" lvl="1" indent="-342900"/>
            <a:r>
              <a:rPr lang="en-US" altLang="en-US" dirty="0"/>
              <a:t>Indirection</a:t>
            </a:r>
          </a:p>
          <a:p>
            <a:pPr marL="608012" lvl="1" indent="-342900"/>
            <a:r>
              <a:rPr lang="en-US" altLang="en-US" dirty="0"/>
              <a:t>Don’t Talk to Strangers (Law of Demeter)</a:t>
            </a:r>
          </a:p>
          <a:p>
            <a:pPr lvl="2"/>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ight Brace 5">
            <a:extLst>
              <a:ext uri="{FF2B5EF4-FFF2-40B4-BE49-F238E27FC236}">
                <a16:creationId xmlns:a16="http://schemas.microsoft.com/office/drawing/2014/main" id="{3E4F3252-7D2C-3003-86C3-E3ED47410D51}"/>
              </a:ext>
            </a:extLst>
          </p:cNvPr>
          <p:cNvSpPr/>
          <p:nvPr/>
        </p:nvSpPr>
        <p:spPr>
          <a:xfrm>
            <a:off x="3039761" y="3583459"/>
            <a:ext cx="177571" cy="6463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D350DB9-71AF-BE1B-D545-849303FE64B5}"/>
              </a:ext>
            </a:extLst>
          </p:cNvPr>
          <p:cNvCxnSpPr/>
          <p:nvPr/>
        </p:nvCxnSpPr>
        <p:spPr>
          <a:xfrm>
            <a:off x="3282779" y="3906624"/>
            <a:ext cx="267317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C17E876-CBAE-BE0E-4D6D-EB2C1B5F0E89}"/>
              </a:ext>
            </a:extLst>
          </p:cNvPr>
          <p:cNvSpPr txBox="1"/>
          <p:nvPr/>
        </p:nvSpPr>
        <p:spPr>
          <a:xfrm>
            <a:off x="5955957" y="3481129"/>
            <a:ext cx="5130507" cy="646331"/>
          </a:xfrm>
          <a:prstGeom prst="rect">
            <a:avLst/>
          </a:prstGeom>
          <a:noFill/>
        </p:spPr>
        <p:txBody>
          <a:bodyPr wrap="none" rtlCol="0">
            <a:spAutoFit/>
          </a:bodyPr>
          <a:lstStyle/>
          <a:p>
            <a:r>
              <a:rPr lang="en-US" b="1" dirty="0">
                <a:solidFill>
                  <a:srgbClr val="FFC000"/>
                </a:solidFill>
              </a:rPr>
              <a:t>We focus on these two in this lecture, </a:t>
            </a:r>
          </a:p>
          <a:p>
            <a:r>
              <a:rPr lang="en-US" b="1" dirty="0">
                <a:solidFill>
                  <a:srgbClr val="FFC000"/>
                </a:solidFill>
              </a:rPr>
              <a:t>and we will keep the remaining for the next lecture.</a:t>
            </a:r>
          </a:p>
        </p:txBody>
      </p:sp>
    </p:spTree>
    <p:extLst>
      <p:ext uri="{BB962C8B-B14F-4D97-AF65-F5344CB8AC3E}">
        <p14:creationId xmlns:p14="http://schemas.microsoft.com/office/powerpoint/2010/main" val="332822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811DC896-C33D-5842-0BEB-D285A7A720D8}"/>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6600" kern="1200">
                <a:solidFill>
                  <a:schemeClr val="tx1"/>
                </a:solidFill>
                <a:latin typeface="+mj-lt"/>
                <a:ea typeface="+mj-ea"/>
                <a:cs typeface="+mj-cs"/>
              </a:rPr>
              <a:t>Operation Contracts</a:t>
            </a:r>
          </a:p>
        </p:txBody>
      </p:sp>
      <p:sp>
        <p:nvSpPr>
          <p:cNvPr id="11" name="Rectangle: Rounded Corners 10">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214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15"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68017"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5644" y="0"/>
            <a:ext cx="1046356"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768019" name="Rectangle 768018">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6444" y="0"/>
            <a:ext cx="6075554"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002" name="Rectangle 2"/>
          <p:cNvSpPr>
            <a:spLocks noGrp="1" noChangeArrowheads="1"/>
          </p:cNvSpPr>
          <p:nvPr>
            <p:ph type="title"/>
          </p:nvPr>
        </p:nvSpPr>
        <p:spPr>
          <a:xfrm>
            <a:off x="6816432" y="762001"/>
            <a:ext cx="4554680" cy="1708243"/>
          </a:xfrm>
        </p:spPr>
        <p:txBody>
          <a:bodyPr anchor="ctr">
            <a:normAutofit/>
          </a:bodyPr>
          <a:lstStyle/>
          <a:p>
            <a:r>
              <a:rPr lang="en-US" altLang="en-US" sz="4000"/>
              <a:t>System Operation Contracts</a:t>
            </a:r>
          </a:p>
        </p:txBody>
      </p:sp>
      <p:pic>
        <p:nvPicPr>
          <p:cNvPr id="768007" name="Graphic 768006" descr="Document">
            <a:extLst>
              <a:ext uri="{FF2B5EF4-FFF2-40B4-BE49-F238E27FC236}">
                <a16:creationId xmlns:a16="http://schemas.microsoft.com/office/drawing/2014/main" id="{3AC793E7-E6AB-B749-BCE1-5BE9A7A75D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367" y="1158500"/>
            <a:ext cx="4541003" cy="4541003"/>
          </a:xfrm>
          <a:prstGeom prst="rect">
            <a:avLst/>
          </a:prstGeom>
        </p:spPr>
      </p:pic>
      <p:sp>
        <p:nvSpPr>
          <p:cNvPr id="768003" name="Rectangle 3"/>
          <p:cNvSpPr>
            <a:spLocks noGrp="1" noChangeArrowheads="1"/>
          </p:cNvSpPr>
          <p:nvPr>
            <p:ph type="body" idx="1"/>
          </p:nvPr>
        </p:nvSpPr>
        <p:spPr>
          <a:xfrm>
            <a:off x="6240162" y="2470244"/>
            <a:ext cx="5830938" cy="3769835"/>
          </a:xfrm>
        </p:spPr>
        <p:txBody>
          <a:bodyPr anchor="ctr">
            <a:normAutofit/>
          </a:bodyPr>
          <a:lstStyle/>
          <a:p>
            <a:pPr marL="342900" indent="-342900"/>
            <a:r>
              <a:rPr lang="en-US" sz="2700" dirty="0"/>
              <a:t>Documents operations a system must perform.</a:t>
            </a:r>
          </a:p>
          <a:p>
            <a:pPr marL="342900" indent="-342900"/>
            <a:endParaRPr lang="en-US" sz="2700" dirty="0"/>
          </a:p>
          <a:p>
            <a:pPr marL="342900" indent="-342900"/>
            <a:r>
              <a:rPr lang="en-US" sz="2700" dirty="0"/>
              <a:t>For each operation, documents:</a:t>
            </a:r>
          </a:p>
          <a:p>
            <a:pPr marL="742950" lvl="1" indent="-285750"/>
            <a:r>
              <a:rPr lang="en-US" sz="2700" dirty="0"/>
              <a:t>What the operation commits to achieve</a:t>
            </a:r>
          </a:p>
          <a:p>
            <a:pPr marL="742950" lvl="1" indent="-285750"/>
            <a:r>
              <a:rPr lang="en-US" sz="2700" dirty="0"/>
              <a:t>An operation’s pre and post conditions</a:t>
            </a:r>
          </a:p>
        </p:txBody>
      </p:sp>
      <p:sp>
        <p:nvSpPr>
          <p:cNvPr id="4" name="Slide Number Placeholder 3"/>
          <p:cNvSpPr>
            <a:spLocks noGrp="1"/>
          </p:cNvSpPr>
          <p:nvPr>
            <p:ph type="sldNum" sz="quarter" idx="10"/>
          </p:nvPr>
        </p:nvSpPr>
        <p:spPr>
          <a:xfrm>
            <a:off x="8732520" y="6356350"/>
            <a:ext cx="3199383" cy="365125"/>
          </a:xfrm>
        </p:spPr>
        <p:txBody>
          <a:bodyPr>
            <a:normAutofit/>
          </a:bodyPr>
          <a:lstStyle/>
          <a:p>
            <a:pPr>
              <a:spcAft>
                <a:spcPts val="600"/>
              </a:spcAft>
            </a:pPr>
            <a:fld id="{472FF2C2-FBA8-4298-A0A0-FDFEBB59E08A}" type="slidenum">
              <a:rPr lang="de-DE">
                <a:solidFill>
                  <a:schemeClr val="tx1"/>
                </a:solidFill>
              </a:rPr>
              <a:pPr>
                <a:spcAft>
                  <a:spcPts val="600"/>
                </a:spcAft>
              </a:pPr>
              <a:t>4</a:t>
            </a:fld>
            <a:endParaRPr lang="de-DE">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5960" name="Rectangle 76595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962" name="Rectangle 76596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964" name="Rectangle 76596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966" name="Rectangle 76596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954" name="Rectangle 2"/>
          <p:cNvSpPr>
            <a:spLocks noGrp="1" noChangeArrowheads="1"/>
          </p:cNvSpPr>
          <p:nvPr>
            <p:ph type="title"/>
          </p:nvPr>
        </p:nvSpPr>
        <p:spPr>
          <a:xfrm>
            <a:off x="699713" y="248038"/>
            <a:ext cx="7063721" cy="1159200"/>
          </a:xfrm>
        </p:spPr>
        <p:txBody>
          <a:bodyPr vert="horz" lIns="91440" tIns="45720" rIns="91440" bIns="45720" rtlCol="0" anchor="ctr">
            <a:normAutofit/>
          </a:bodyPr>
          <a:lstStyle/>
          <a:p>
            <a:r>
              <a:rPr lang="en-US" altLang="en-US" sz="4000" kern="1200">
                <a:solidFill>
                  <a:srgbClr val="FFFFFF"/>
                </a:solidFill>
                <a:latin typeface="+mj-lt"/>
                <a:ea typeface="+mj-ea"/>
                <a:cs typeface="+mj-cs"/>
              </a:rPr>
              <a:t>System Operation Contracts</a:t>
            </a:r>
          </a:p>
        </p:txBody>
      </p:sp>
      <p:pic>
        <p:nvPicPr>
          <p:cNvPr id="765955" name="Picture 3"/>
          <p:cNvPicPr>
            <a:picLocks noGrp="1" noChangeAspect="1" noChangeArrowheads="1"/>
          </p:cNvPicPr>
          <p:nvPr>
            <p:ph idx="1"/>
          </p:nvPr>
        </p:nvPicPr>
        <p:blipFill>
          <a:blip r:embed="rId3"/>
          <a:stretch>
            <a:fillRect/>
          </a:stretch>
        </p:blipFill>
        <p:spPr>
          <a:xfrm>
            <a:off x="1757167" y="1966293"/>
            <a:ext cx="8677664" cy="4452160"/>
          </a:xfrm>
          <a:prstGeom prst="rect">
            <a:avLst/>
          </a:prstGeom>
          <a:noFill/>
        </p:spPr>
      </p:pic>
      <p:sp>
        <p:nvSpPr>
          <p:cNvPr id="4" name="Slide Number Placeholder 3"/>
          <p:cNvSpPr>
            <a:spLocks noGrp="1"/>
          </p:cNvSpPr>
          <p:nvPr>
            <p:ph type="sldNum" sz="quarter" idx="10"/>
          </p:nvPr>
        </p:nvSpPr>
        <p:spPr>
          <a:xfrm>
            <a:off x="11704319" y="6455664"/>
            <a:ext cx="448056" cy="365125"/>
          </a:xfrm>
        </p:spPr>
        <p:txBody>
          <a:bodyPr vert="horz" lIns="91440" tIns="45720" rIns="91440" bIns="45720" rtlCol="0" anchor="ctr">
            <a:normAutofit/>
          </a:bodyPr>
          <a:lstStyle/>
          <a:p>
            <a:pPr algn="r">
              <a:spcAft>
                <a:spcPts val="600"/>
              </a:spcAft>
            </a:pPr>
            <a:fld id="{10C0E1BF-AC19-4E39-AD54-1E1A62203205}" type="slidenum">
              <a:rPr lang="en-US" sz="1100">
                <a:solidFill>
                  <a:schemeClr val="tx1">
                    <a:lumMod val="50000"/>
                    <a:lumOff val="50000"/>
                  </a:schemeClr>
                </a:solidFill>
              </a:rPr>
              <a:pPr algn="r">
                <a:spcAft>
                  <a:spcPts val="600"/>
                </a:spcAft>
              </a:pPr>
              <a:t>5</a:t>
            </a:fld>
            <a:endParaRPr lang="en-US" sz="110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0065" name="Rectangle 770064">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050" name="Rectangle 2"/>
          <p:cNvSpPr>
            <a:spLocks noGrp="1" noChangeArrowheads="1"/>
          </p:cNvSpPr>
          <p:nvPr>
            <p:ph type="title"/>
          </p:nvPr>
        </p:nvSpPr>
        <p:spPr>
          <a:xfrm>
            <a:off x="1156851" y="637762"/>
            <a:ext cx="9888496" cy="900131"/>
          </a:xfrm>
        </p:spPr>
        <p:txBody>
          <a:bodyPr anchor="t">
            <a:normAutofit/>
          </a:bodyPr>
          <a:lstStyle/>
          <a:p>
            <a:r>
              <a:rPr lang="en-US" altLang="en-US" sz="4000">
                <a:solidFill>
                  <a:schemeClr val="bg1"/>
                </a:solidFill>
              </a:rPr>
              <a:t>System Operation Contracts</a:t>
            </a:r>
          </a:p>
        </p:txBody>
      </p:sp>
      <p:sp>
        <p:nvSpPr>
          <p:cNvPr id="770067" name="Rectangle 770066">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069" name="Rectangle 77006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0"/>
          </p:nvPr>
        </p:nvSpPr>
        <p:spPr>
          <a:xfrm>
            <a:off x="160867" y="3246439"/>
            <a:ext cx="672957" cy="343768"/>
          </a:xfrm>
        </p:spPr>
        <p:txBody>
          <a:bodyPr anchor="ctr">
            <a:normAutofit/>
          </a:bodyPr>
          <a:lstStyle/>
          <a:p>
            <a:pPr algn="ctr">
              <a:spcAft>
                <a:spcPts val="600"/>
              </a:spcAft>
            </a:pPr>
            <a:fld id="{E4612732-A0D0-478A-9235-6FF7B78A0585}" type="slidenum">
              <a:rPr lang="de-DE" sz="1400">
                <a:solidFill>
                  <a:schemeClr val="tx1"/>
                </a:solidFill>
              </a:rPr>
              <a:pPr algn="ctr">
                <a:spcAft>
                  <a:spcPts val="600"/>
                </a:spcAft>
              </a:pPr>
              <a:t>6</a:t>
            </a:fld>
            <a:endParaRPr lang="de-DE" sz="1400">
              <a:solidFill>
                <a:schemeClr val="tx1"/>
              </a:solidFill>
            </a:endParaRPr>
          </a:p>
        </p:txBody>
      </p:sp>
      <p:sp>
        <p:nvSpPr>
          <p:cNvPr id="770051" name="Rectangle 3"/>
          <p:cNvSpPr>
            <a:spLocks noGrp="1" noChangeArrowheads="1"/>
          </p:cNvSpPr>
          <p:nvPr>
            <p:ph type="body" idx="1"/>
          </p:nvPr>
        </p:nvSpPr>
        <p:spPr>
          <a:xfrm>
            <a:off x="1155548" y="2217343"/>
            <a:ext cx="10653275" cy="3959619"/>
          </a:xfrm>
        </p:spPr>
        <p:txBody>
          <a:bodyPr>
            <a:normAutofit lnSpcReduction="10000"/>
          </a:bodyPr>
          <a:lstStyle/>
          <a:p>
            <a:pPr marL="342900" indent="-342900"/>
            <a:r>
              <a:rPr lang="en-US" sz="2400" dirty="0"/>
              <a:t>To create a contract</a:t>
            </a:r>
          </a:p>
          <a:p>
            <a:pPr marL="742950" lvl="1" indent="-285750"/>
            <a:r>
              <a:rPr lang="en-US" dirty="0"/>
              <a:t>Identify operations from System Sequence Diagrams (SSDs)</a:t>
            </a:r>
          </a:p>
          <a:p>
            <a:pPr marL="742950" lvl="1" indent="-285750"/>
            <a:endParaRPr lang="en-US" dirty="0"/>
          </a:p>
          <a:p>
            <a:pPr marL="742950" lvl="1" indent="-285750"/>
            <a:r>
              <a:rPr lang="en-US" dirty="0"/>
              <a:t>For each operation, write:</a:t>
            </a:r>
          </a:p>
          <a:p>
            <a:pPr lvl="2"/>
            <a:r>
              <a:rPr lang="en-US" sz="2400" dirty="0"/>
              <a:t>Responsibilities (purpose of operation)</a:t>
            </a:r>
          </a:p>
          <a:p>
            <a:pPr lvl="2"/>
            <a:endParaRPr lang="en-US" sz="2400" dirty="0"/>
          </a:p>
          <a:p>
            <a:pPr lvl="2"/>
            <a:r>
              <a:rPr lang="en-US" sz="2400" dirty="0"/>
              <a:t>Pre-Conditions (state of the system before execution of the operation)</a:t>
            </a:r>
          </a:p>
          <a:p>
            <a:pPr lvl="2"/>
            <a:endParaRPr lang="en-US" sz="2400" dirty="0"/>
          </a:p>
          <a:p>
            <a:pPr lvl="2"/>
            <a:r>
              <a:rPr lang="en-US" sz="2400" dirty="0"/>
              <a:t>Post-Conditions (state changes to objects in the domain model, e.g., instance creation/deletion; attribute modification, association creation/deletion)</a:t>
            </a:r>
          </a:p>
          <a:p>
            <a:pPr lvl="2"/>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2104" name="Rectangle 77210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106" name="Rectangle 77210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2108" name="Rectangle 77210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110" name="Rectangle 77210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2112" name="Freeform: Shape 77211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2098" name="Rectangle 2"/>
          <p:cNvSpPr>
            <a:spLocks noGrp="1" noChangeArrowheads="1"/>
          </p:cNvSpPr>
          <p:nvPr>
            <p:ph type="title"/>
          </p:nvPr>
        </p:nvSpPr>
        <p:spPr>
          <a:xfrm>
            <a:off x="660041" y="2767106"/>
            <a:ext cx="2880828" cy="3071906"/>
          </a:xfrm>
        </p:spPr>
        <p:txBody>
          <a:bodyPr vert="horz" lIns="91440" tIns="45720" rIns="91440" bIns="45720" rtlCol="0" anchor="t">
            <a:normAutofit/>
          </a:bodyPr>
          <a:lstStyle/>
          <a:p>
            <a:r>
              <a:rPr lang="en-US" altLang="en-US" sz="4000" kern="1200" dirty="0">
                <a:solidFill>
                  <a:srgbClr val="FFFFFF"/>
                </a:solidFill>
                <a:latin typeface="+mj-lt"/>
                <a:ea typeface="+mj-ea"/>
                <a:cs typeface="+mj-cs"/>
              </a:rPr>
              <a:t>Operation Contract Full Template</a:t>
            </a:r>
          </a:p>
        </p:txBody>
      </p:sp>
      <p:pic>
        <p:nvPicPr>
          <p:cNvPr id="772099" name="Picture 3" descr="contract2"/>
          <p:cNvPicPr>
            <a:picLocks noGrp="1" noChangeAspect="1" noChangeArrowheads="1"/>
          </p:cNvPicPr>
          <p:nvPr>
            <p:ph idx="1"/>
          </p:nvPr>
        </p:nvPicPr>
        <p:blipFill>
          <a:blip r:embed="rId3"/>
          <a:stretch>
            <a:fillRect/>
          </a:stretch>
        </p:blipFill>
        <p:spPr>
          <a:xfrm>
            <a:off x="4038605" y="37211"/>
            <a:ext cx="8113770" cy="6875819"/>
          </a:xfrm>
          <a:prstGeom prst="rect">
            <a:avLst/>
          </a:prstGeom>
          <a:noFill/>
        </p:spPr>
      </p:pic>
      <p:sp>
        <p:nvSpPr>
          <p:cNvPr id="4" name="Slide Number Placeholder 3"/>
          <p:cNvSpPr>
            <a:spLocks noGrp="1"/>
          </p:cNvSpPr>
          <p:nvPr>
            <p:ph type="sldNum" sz="quarter" idx="10"/>
          </p:nvPr>
        </p:nvSpPr>
        <p:spPr>
          <a:xfrm>
            <a:off x="11704319" y="6455664"/>
            <a:ext cx="448056" cy="365125"/>
          </a:xfrm>
        </p:spPr>
        <p:txBody>
          <a:bodyPr vert="horz" lIns="91440" tIns="45720" rIns="91440" bIns="45720" rtlCol="0" anchor="ctr">
            <a:normAutofit/>
          </a:bodyPr>
          <a:lstStyle/>
          <a:p>
            <a:pPr algn="r">
              <a:spcAft>
                <a:spcPts val="600"/>
              </a:spcAft>
            </a:pPr>
            <a:fld id="{250ADCC1-ADA1-436F-8E49-4B03770FD01B}" type="slidenum">
              <a:rPr lang="en-US" sz="1100">
                <a:solidFill>
                  <a:schemeClr val="tx1">
                    <a:lumMod val="50000"/>
                    <a:lumOff val="50000"/>
                  </a:schemeClr>
                </a:solidFill>
              </a:rPr>
              <a:pPr algn="r">
                <a:spcAft>
                  <a:spcPts val="600"/>
                </a:spcAft>
              </a:pPr>
              <a:t>7</a:t>
            </a:fld>
            <a:endParaRPr lang="en-US" sz="1100">
              <a:solidFill>
                <a:schemeClr val="tx1">
                  <a:lumMod val="50000"/>
                  <a:lumOff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F60C50-4779-B427-7CA0-C70C7036BB84}"/>
              </a:ext>
            </a:extLst>
          </p:cNvPr>
          <p:cNvSpPr>
            <a:spLocks noGrp="1"/>
          </p:cNvSpPr>
          <p:nvPr>
            <p:ph type="title"/>
          </p:nvPr>
        </p:nvSpPr>
        <p:spPr>
          <a:xfrm>
            <a:off x="838200" y="365125"/>
            <a:ext cx="10515600" cy="1325563"/>
          </a:xfrm>
        </p:spPr>
        <p:txBody>
          <a:bodyPr>
            <a:normAutofit/>
          </a:bodyPr>
          <a:lstStyle/>
          <a:p>
            <a:r>
              <a:rPr lang="en-US" sz="5400"/>
              <a:t>Operations Contract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1587CB-8994-9ACF-8210-19656A5654DD}"/>
              </a:ext>
            </a:extLst>
          </p:cNvPr>
          <p:cNvSpPr>
            <a:spLocks noGrp="1"/>
          </p:cNvSpPr>
          <p:nvPr>
            <p:ph idx="1"/>
          </p:nvPr>
        </p:nvSpPr>
        <p:spPr>
          <a:xfrm>
            <a:off x="838200" y="1929384"/>
            <a:ext cx="10853928" cy="4251960"/>
          </a:xfrm>
        </p:spPr>
        <p:txBody>
          <a:bodyPr>
            <a:normAutofit fontScale="92500" lnSpcReduction="10000"/>
          </a:bodyPr>
          <a:lstStyle/>
          <a:p>
            <a:pPr algn="just"/>
            <a:r>
              <a:rPr lang="en-US" sz="3000" dirty="0"/>
              <a:t>When we assign the post conditions, we can be inspired by looking into the domain model that we already created, and ask our selves:</a:t>
            </a:r>
          </a:p>
          <a:p>
            <a:pPr algn="just"/>
            <a:endParaRPr lang="en-US" sz="3000" dirty="0"/>
          </a:p>
          <a:p>
            <a:pPr lvl="1" algn="just"/>
            <a:r>
              <a:rPr lang="en-US" sz="2600" dirty="0"/>
              <a:t>Which </a:t>
            </a:r>
            <a:r>
              <a:rPr lang="en-US" sz="2600" b="1" dirty="0">
                <a:solidFill>
                  <a:schemeClr val="accent1"/>
                </a:solidFill>
              </a:rPr>
              <a:t>instances (objects) will be created</a:t>
            </a:r>
            <a:r>
              <a:rPr lang="en-US" sz="2600" b="1" dirty="0"/>
              <a:t> </a:t>
            </a:r>
            <a:r>
              <a:rPr lang="en-US" sz="2600" dirty="0"/>
              <a:t>when the external operation enters the system?</a:t>
            </a:r>
          </a:p>
          <a:p>
            <a:pPr lvl="1" algn="just"/>
            <a:endParaRPr lang="en-US" sz="2600" dirty="0"/>
          </a:p>
          <a:p>
            <a:pPr lvl="1" algn="just"/>
            <a:r>
              <a:rPr lang="en-US" sz="2600" dirty="0"/>
              <a:t>Which </a:t>
            </a:r>
            <a:r>
              <a:rPr lang="en-US" sz="2600" b="1" dirty="0">
                <a:solidFill>
                  <a:schemeClr val="accent1"/>
                </a:solidFill>
              </a:rPr>
              <a:t>Associations will be formed </a:t>
            </a:r>
            <a:r>
              <a:rPr lang="en-US" sz="2600" dirty="0"/>
              <a:t>when the external operation enters the system?</a:t>
            </a:r>
          </a:p>
          <a:p>
            <a:pPr marL="457200" lvl="1" indent="0" algn="just">
              <a:buNone/>
            </a:pPr>
            <a:endParaRPr lang="en-US" sz="2600" dirty="0"/>
          </a:p>
          <a:p>
            <a:pPr lvl="1" algn="just"/>
            <a:r>
              <a:rPr lang="en-US" sz="2600" dirty="0"/>
              <a:t>Which </a:t>
            </a:r>
            <a:r>
              <a:rPr lang="en-US" sz="2600" b="1" dirty="0">
                <a:solidFill>
                  <a:schemeClr val="accent1"/>
                </a:solidFill>
              </a:rPr>
              <a:t>attributes will have their values modified </a:t>
            </a:r>
            <a:r>
              <a:rPr lang="en-US" sz="2600" dirty="0"/>
              <a:t>when the external operation enters the system?</a:t>
            </a:r>
          </a:p>
        </p:txBody>
      </p:sp>
    </p:spTree>
    <p:extLst>
      <p:ext uri="{BB962C8B-B14F-4D97-AF65-F5344CB8AC3E}">
        <p14:creationId xmlns:p14="http://schemas.microsoft.com/office/powerpoint/2010/main" val="397622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a:xfrm>
            <a:off x="334429" y="559837"/>
            <a:ext cx="4564659" cy="1642956"/>
          </a:xfrm>
        </p:spPr>
        <p:txBody>
          <a:bodyPr anchor="b">
            <a:normAutofit/>
          </a:bodyPr>
          <a:lstStyle/>
          <a:p>
            <a:r>
              <a:rPr lang="en-US" altLang="en-US" sz="3600" dirty="0">
                <a:solidFill>
                  <a:schemeClr val="tx2"/>
                </a:solidFill>
              </a:rPr>
              <a:t>Example: Class Diagram for Point of Sale (</a:t>
            </a:r>
            <a:r>
              <a:rPr lang="en-US" altLang="en-US" sz="3600" dirty="0" err="1">
                <a:solidFill>
                  <a:schemeClr val="tx2"/>
                </a:solidFill>
              </a:rPr>
              <a:t>PoS</a:t>
            </a:r>
            <a:r>
              <a:rPr lang="en-US" altLang="en-US" sz="3600" dirty="0">
                <a:solidFill>
                  <a:schemeClr val="tx2"/>
                </a:solidFill>
              </a:rPr>
              <a:t> System)</a:t>
            </a:r>
          </a:p>
        </p:txBody>
      </p:sp>
      <p:sp>
        <p:nvSpPr>
          <p:cNvPr id="4" name="Slide Number Placeholder 3"/>
          <p:cNvSpPr>
            <a:spLocks noGrp="1"/>
          </p:cNvSpPr>
          <p:nvPr>
            <p:ph type="sldNum" sz="quarter" idx="10"/>
          </p:nvPr>
        </p:nvSpPr>
        <p:spPr>
          <a:xfrm>
            <a:off x="11445238" y="6356350"/>
            <a:ext cx="54864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CABEAC46-B3E9-42FD-B02C-5AE907EC9AF9}" type="slidenum">
              <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9</a:t>
            </a:fld>
            <a:endPar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endParaRPr>
          </a:p>
        </p:txBody>
      </p:sp>
      <p:grpSp>
        <p:nvGrpSpPr>
          <p:cNvPr id="1028" name="Group 4"/>
          <p:cNvGrpSpPr>
            <a:grpSpLocks noChangeAspect="1"/>
          </p:cNvGrpSpPr>
          <p:nvPr/>
        </p:nvGrpSpPr>
        <p:grpSpPr bwMode="auto">
          <a:xfrm>
            <a:off x="5139176" y="609600"/>
            <a:ext cx="6298079" cy="5638800"/>
            <a:chOff x="863" y="962"/>
            <a:chExt cx="3697" cy="3310"/>
          </a:xfrm>
        </p:grpSpPr>
        <p:sp>
          <p:nvSpPr>
            <p:cNvPr id="1027" name="AutoShape 3"/>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Rectangle 5"/>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0" name="Rectangle 6"/>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register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1" name="Rectangle 7"/>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2" name="Rectangle 8"/>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3" name="Rectangle 9"/>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4" name="Rectangle 10"/>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Rectangle 11"/>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Rectangle 12"/>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Store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7" name="Rectangle 13"/>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Rectangle 14"/>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address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9" name="Rectangle 15"/>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name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0" name="Rectangle 16"/>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1" name="Rectangle 17"/>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2" name="Rectangle 18"/>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3" name="Rectangle 19"/>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date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4" name="Rectangle 20"/>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time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5" name="Rectangle 21"/>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Rectangle 22"/>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Payment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7" name="Rectangle 23"/>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Rectangle 24"/>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amount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9" name="Rectangle 25"/>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0" name="Rectangle 26"/>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1" name="Rectangle 27"/>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LineItem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2" name="Rectangle 28"/>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3" name="Rectangle 29"/>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quantity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4" name="Rectangle 30"/>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Rectangle 31"/>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Cashier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6" name="Rectangle 32"/>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Rectangle 33"/>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Rectangle 34"/>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Customer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9" name="Rectangle 35"/>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0" name="Rectangle 36"/>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1" name="Rectangle 37"/>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Manager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2" name="Rectangle 38"/>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3" name="Rectangle 39"/>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Rectangle 40"/>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5" name="Rectangle 41"/>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Catalog</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6" name="Rectangle 42"/>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Rectangle 43"/>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Rectangle 44"/>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9" name="Rectangle 45"/>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Specification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0" name="Rectangle 46"/>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1" name="Rectangle 47"/>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description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2" name="Rectangle 48"/>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price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3" name="Rectangle 49"/>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UPC</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4" name="Line 50"/>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Rectangle 51"/>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Stocks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6" name="Rectangle 52"/>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7" name="Line 53"/>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8" name="Rectangle 54"/>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Houses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9" name="Rectangle 55"/>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0" name="Rectangle 56"/>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1" name="Line 57"/>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2" name="Rectangle 58"/>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Used-by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3" name="Rectangle 59"/>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4" name="Line 60"/>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Rectangle 61"/>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6" name="Rectangle 62"/>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7" name="Rectangle 63"/>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8" name="Line 64"/>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9" name="Rectangle 65"/>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0" name="Rectangle 66"/>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1" name="Line 67"/>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68"/>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Captured-on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3" name="Line 69"/>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Rectangle 70"/>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Contained-in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5" name="Rectangle 71"/>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6" name="Rectangle 72"/>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7" name="Freeform 73"/>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Rectangle 74"/>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9" name="Rectangle 75"/>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0" name="Freeform 76"/>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Rectangle 77"/>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Records-sale-of</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2" name="Rectangle 78"/>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0..1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3" name="Line 79"/>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4" name="Rectangle 80"/>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Started-by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5" name="Freeform 81"/>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Rectangle 82"/>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Paid-by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7" name="Freeform 83"/>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Rectangle 84"/>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Initiated-by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9" name="Freeform 85"/>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Rectangle 86"/>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Logs-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1" name="Rectangle 87"/>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completed</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2" name="Rectangle 88"/>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6</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3" name="Rectangle 89"/>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4" name="Freeform 90"/>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Rectangle 91"/>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3</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6" name="Rectangle 92"/>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 Records-sales-on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7" name="Rectangle 93"/>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8" name="Rectangle 94"/>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9" name="Rectangle 95"/>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0" name="Rectangle 96"/>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1" name="Rectangle 97"/>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2" name="Rectangle 98"/>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3" name="Rectangle 99"/>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4" name="Rectangle 100"/>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5" name="Rectangle 101"/>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6" name="Rectangle 102"/>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7" name="Rectangle 103"/>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8" name="Rectangle 104"/>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9" name="Rectangle 105"/>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0" name="Rectangle 106"/>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1" name="Rectangle 107"/>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2" name="Rectangle 108"/>
            <p:cNvSpPr>
              <a:spLocks noChangeArrowheads="1"/>
            </p:cNvSpPr>
            <p:nvPr/>
          </p:nvSpPr>
          <p:spPr bwMode="auto">
            <a:xfrm>
              <a:off x="1873"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3" name="Rectangle 109"/>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4" name="Rectangle 110"/>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grpSp>
    </p:spTree>
    <p:extLst>
      <p:ext uri="{BB962C8B-B14F-4D97-AF65-F5344CB8AC3E}">
        <p14:creationId xmlns:p14="http://schemas.microsoft.com/office/powerpoint/2010/main" val="2174495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4152" name="Rectangle 77415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154" name="Rectangle 77415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4156" name="Rectangle 77415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158" name="Rectangle 77415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4160" name="Freeform: Shape 77415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4146" name="Rectangle 2"/>
          <p:cNvSpPr>
            <a:spLocks noGrp="1" noChangeArrowheads="1"/>
          </p:cNvSpPr>
          <p:nvPr>
            <p:ph type="title"/>
          </p:nvPr>
        </p:nvSpPr>
        <p:spPr>
          <a:xfrm>
            <a:off x="660041" y="2767106"/>
            <a:ext cx="2880828" cy="3071906"/>
          </a:xfrm>
        </p:spPr>
        <p:txBody>
          <a:bodyPr vert="horz" lIns="91440" tIns="45720" rIns="91440" bIns="45720" rtlCol="0" anchor="t">
            <a:normAutofit/>
          </a:bodyPr>
          <a:lstStyle/>
          <a:p>
            <a:r>
              <a:rPr lang="en-US" altLang="en-US" sz="4000" kern="1200" dirty="0">
                <a:solidFill>
                  <a:srgbClr val="FFFFFF"/>
                </a:solidFill>
                <a:latin typeface="+mj-lt"/>
                <a:ea typeface="+mj-ea"/>
                <a:cs typeface="+mj-cs"/>
              </a:rPr>
              <a:t>Example (Operation Contract for </a:t>
            </a:r>
            <a:r>
              <a:rPr lang="en-US" altLang="en-US" sz="4000" i="1" kern="1200" dirty="0" err="1">
                <a:solidFill>
                  <a:srgbClr val="FFFFFF"/>
                </a:solidFill>
                <a:latin typeface="+mj-lt"/>
                <a:ea typeface="+mj-ea"/>
                <a:cs typeface="+mj-cs"/>
              </a:rPr>
              <a:t>enterItem</a:t>
            </a:r>
            <a:r>
              <a:rPr lang="en-US" altLang="en-US" sz="4000" kern="1200" dirty="0">
                <a:solidFill>
                  <a:srgbClr val="FFFFFF"/>
                </a:solidFill>
                <a:latin typeface="+mj-lt"/>
                <a:ea typeface="+mj-ea"/>
                <a:cs typeface="+mj-cs"/>
              </a:rPr>
              <a:t>)</a:t>
            </a:r>
          </a:p>
        </p:txBody>
      </p:sp>
      <p:pic>
        <p:nvPicPr>
          <p:cNvPr id="774147" name="Picture 3" descr="contract"/>
          <p:cNvPicPr>
            <a:picLocks noGrp="1" noChangeAspect="1" noChangeArrowheads="1"/>
          </p:cNvPicPr>
          <p:nvPr>
            <p:ph idx="1"/>
          </p:nvPr>
        </p:nvPicPr>
        <p:blipFill>
          <a:blip r:embed="rId3"/>
          <a:stretch>
            <a:fillRect/>
          </a:stretch>
        </p:blipFill>
        <p:spPr>
          <a:xfrm>
            <a:off x="4502428" y="493540"/>
            <a:ext cx="7225748" cy="5870920"/>
          </a:xfrm>
          <a:prstGeom prst="rect">
            <a:avLst/>
          </a:prstGeom>
          <a:noFill/>
        </p:spPr>
      </p:pic>
      <p:sp>
        <p:nvSpPr>
          <p:cNvPr id="4" name="Slide Number Placeholder 3"/>
          <p:cNvSpPr>
            <a:spLocks noGrp="1"/>
          </p:cNvSpPr>
          <p:nvPr>
            <p:ph type="sldNum" sz="quarter" idx="10"/>
          </p:nvPr>
        </p:nvSpPr>
        <p:spPr>
          <a:xfrm>
            <a:off x="11704319" y="6455664"/>
            <a:ext cx="448056" cy="365125"/>
          </a:xfrm>
        </p:spPr>
        <p:txBody>
          <a:bodyPr vert="horz" lIns="91440" tIns="45720" rIns="91440" bIns="45720" rtlCol="0" anchor="ctr">
            <a:normAutofit/>
          </a:bodyPr>
          <a:lstStyle/>
          <a:p>
            <a:pPr algn="r">
              <a:spcAft>
                <a:spcPts val="600"/>
              </a:spcAft>
            </a:pPr>
            <a:fld id="{B4DA01F8-02BC-447E-BCC7-96AFC80205E3}" type="slidenum">
              <a:rPr lang="en-US" sz="1100">
                <a:solidFill>
                  <a:schemeClr val="tx1">
                    <a:lumMod val="50000"/>
                    <a:lumOff val="50000"/>
                  </a:schemeClr>
                </a:solidFill>
              </a:rPr>
              <a:pPr algn="r">
                <a:spcAft>
                  <a:spcPts val="600"/>
                </a:spcAft>
              </a:pPr>
              <a:t>10</a:t>
            </a:fld>
            <a:endParaRPr lang="en-US" sz="1100">
              <a:solidFill>
                <a:schemeClr val="tx1">
                  <a:lumMod val="50000"/>
                  <a:lumOff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10875E-4B80-38DF-0444-F274C38B9459}"/>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In Practice: When to write operations contracts</a:t>
            </a:r>
          </a:p>
        </p:txBody>
      </p:sp>
      <p:sp>
        <p:nvSpPr>
          <p:cNvPr id="3" name="Content Placeholder 2">
            <a:extLst>
              <a:ext uri="{FF2B5EF4-FFF2-40B4-BE49-F238E27FC236}">
                <a16:creationId xmlns:a16="http://schemas.microsoft.com/office/drawing/2014/main" id="{13A9217F-28F9-F969-62E1-ED24A396ACE7}"/>
              </a:ext>
            </a:extLst>
          </p:cNvPr>
          <p:cNvSpPr>
            <a:spLocks noGrp="1"/>
          </p:cNvSpPr>
          <p:nvPr>
            <p:ph idx="1"/>
          </p:nvPr>
        </p:nvSpPr>
        <p:spPr>
          <a:xfrm>
            <a:off x="229675" y="1789028"/>
            <a:ext cx="11732646" cy="4828970"/>
          </a:xfrm>
        </p:spPr>
        <p:txBody>
          <a:bodyPr anchor="ctr">
            <a:normAutofit/>
          </a:bodyPr>
          <a:lstStyle/>
          <a:p>
            <a:pPr marL="0" marR="0" lvl="0" indent="0" defTabSz="914400" rtl="0" eaLnBrk="0" fontAlgn="base" latinLnBrk="0" hangingPunct="0">
              <a:spcBef>
                <a:spcPct val="0"/>
              </a:spcBef>
              <a:spcAft>
                <a:spcPct val="0"/>
              </a:spcAft>
              <a:buClrTx/>
              <a:buSzTx/>
              <a:buFontTx/>
              <a:buChar char="•"/>
              <a:tabLst/>
            </a:pPr>
            <a:r>
              <a:rPr kumimoji="0" lang="en-US" altLang="en-US" sz="2200" b="1" i="0" u="none" strike="noStrike" cap="none" normalizeH="0" baseline="0" dirty="0">
                <a:ln>
                  <a:noFill/>
                </a:ln>
                <a:solidFill>
                  <a:srgbClr val="00B050"/>
                </a:solidFill>
                <a:effectLst/>
                <a:latin typeface="Arial" panose="020B0604020202020204" pitchFamily="34" charset="0"/>
              </a:rPr>
              <a:t>Complex or Critical Operations</a:t>
            </a:r>
            <a:r>
              <a:rPr kumimoji="0" lang="en-US" altLang="en-US" sz="2200" b="1" i="0" u="none" strike="noStrike" cap="none" normalizeH="0" baseline="0" dirty="0">
                <a:ln>
                  <a:noFill/>
                </a:ln>
                <a:effectLst/>
                <a:latin typeface="Arial" panose="020B0604020202020204" pitchFamily="34" charset="0"/>
              </a:rPr>
              <a:t>:</a:t>
            </a:r>
            <a:r>
              <a:rPr kumimoji="0" lang="en-US" altLang="en-US" sz="2200" b="0" i="0" u="none" strike="noStrike" cap="none" normalizeH="0" baseline="0" dirty="0">
                <a:ln>
                  <a:noFill/>
                </a:ln>
                <a:effectLst/>
                <a:latin typeface="Arial" panose="020B0604020202020204" pitchFamily="34" charset="0"/>
              </a:rPr>
              <a:t> If an operation involves complex logic, significant side effects, or critical business rules, a detailed contract can serve as a guide for implementation and testing.</a:t>
            </a:r>
          </a:p>
          <a:p>
            <a:pPr marL="0" marR="0" lvl="0" indent="0" defTabSz="914400" rtl="0" eaLnBrk="0" fontAlgn="base" latinLnBrk="0" hangingPunct="0">
              <a:spcBef>
                <a:spcPct val="0"/>
              </a:spcBef>
              <a:spcAft>
                <a:spcPct val="0"/>
              </a:spcAft>
              <a:buClrTx/>
              <a:buSzTx/>
              <a:buFontTx/>
              <a:buChar char="•"/>
              <a:tabLst/>
            </a:pPr>
            <a:endParaRPr kumimoji="0" lang="en-US" altLang="en-US" sz="22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endParaRPr kumimoji="0" lang="en-US" altLang="en-US" sz="2200"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2200" b="1" i="0" u="none" strike="noStrike" cap="none" normalizeH="0" baseline="0" dirty="0">
                <a:ln>
                  <a:noFill/>
                </a:ln>
                <a:solidFill>
                  <a:srgbClr val="C00000"/>
                </a:solidFill>
                <a:effectLst/>
                <a:latin typeface="Arial" panose="020B0604020202020204" pitchFamily="34" charset="0"/>
              </a:rPr>
              <a:t>When It May Not Be Necessary</a:t>
            </a:r>
            <a:r>
              <a:rPr kumimoji="0" lang="en-US" altLang="en-US" sz="2200" b="1" i="0" u="none" strike="noStrike" cap="none" normalizeH="0" baseline="0" dirty="0">
                <a:ln>
                  <a:noFill/>
                </a:ln>
                <a:effectLst/>
                <a:latin typeface="Arial" panose="020B0604020202020204" pitchFamily="34" charset="0"/>
              </a:rPr>
              <a:t>:</a:t>
            </a:r>
          </a:p>
          <a:p>
            <a:pPr marL="0" marR="0" lvl="0" indent="0" defTabSz="914400" rtl="0" eaLnBrk="0" fontAlgn="base" latinLnBrk="0" hangingPunct="0">
              <a:spcBef>
                <a:spcPct val="0"/>
              </a:spcBef>
              <a:spcAft>
                <a:spcPct val="0"/>
              </a:spcAft>
              <a:buClrTx/>
              <a:buSzTx/>
              <a:buFontTx/>
              <a:buChar char="•"/>
              <a:tabLst/>
            </a:pPr>
            <a:endParaRPr kumimoji="0" lang="en-US" altLang="en-US" sz="22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2200" b="1" i="0" u="none" strike="noStrike" cap="none" normalizeH="0" baseline="0" dirty="0">
                <a:ln>
                  <a:noFill/>
                </a:ln>
                <a:solidFill>
                  <a:srgbClr val="C00000"/>
                </a:solidFill>
                <a:effectLst/>
                <a:latin typeface="Arial" panose="020B0604020202020204" pitchFamily="34" charset="0"/>
              </a:rPr>
              <a:t>Trivial or Internal Operations</a:t>
            </a:r>
            <a:r>
              <a:rPr kumimoji="0" lang="en-US" altLang="en-US" sz="2200" b="1" i="0" u="none" strike="noStrike" cap="none" normalizeH="0" baseline="0" dirty="0">
                <a:ln>
                  <a:noFill/>
                </a:ln>
                <a:effectLst/>
                <a:latin typeface="Arial" panose="020B0604020202020204" pitchFamily="34" charset="0"/>
              </a:rPr>
              <a:t>:</a:t>
            </a:r>
            <a:r>
              <a:rPr kumimoji="0" lang="en-US" altLang="en-US" sz="2200" b="0" i="0" u="none" strike="noStrike" cap="none" normalizeH="0" baseline="0" dirty="0">
                <a:ln>
                  <a:noFill/>
                </a:ln>
                <a:effectLst/>
                <a:latin typeface="Arial" panose="020B0604020202020204" pitchFamily="34" charset="0"/>
              </a:rPr>
              <a:t> For simple, self-contained operations (especially those that are internal helpers or that have obvious behavior), a full formal contract might be overkill.</a:t>
            </a:r>
          </a:p>
          <a:p>
            <a:pPr marL="0" marR="0" lvl="0" indent="0" defTabSz="914400" rtl="0" eaLnBrk="0" fontAlgn="base" latinLnBrk="0" hangingPunct="0">
              <a:spcBef>
                <a:spcPct val="0"/>
              </a:spcBef>
              <a:spcAft>
                <a:spcPct val="0"/>
              </a:spcAft>
              <a:buClrTx/>
              <a:buSzTx/>
              <a:buNone/>
              <a:tabLst/>
            </a:pPr>
            <a:endParaRPr kumimoji="0" lang="en-US" altLang="en-US" sz="22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2200" b="1" i="0" u="none" strike="noStrike" cap="none" normalizeH="0" baseline="0" dirty="0">
                <a:ln>
                  <a:noFill/>
                </a:ln>
                <a:solidFill>
                  <a:srgbClr val="C00000"/>
                </a:solidFill>
                <a:effectLst/>
                <a:latin typeface="Arial" panose="020B0604020202020204" pitchFamily="34" charset="0"/>
              </a:rPr>
              <a:t>Low-Risk Operations</a:t>
            </a:r>
            <a:r>
              <a:rPr kumimoji="0" lang="en-US" altLang="en-US" sz="2200" b="1" i="0" u="none" strike="noStrike" cap="none" normalizeH="0" baseline="0" dirty="0">
                <a:ln>
                  <a:noFill/>
                </a:ln>
                <a:effectLst/>
                <a:latin typeface="Arial" panose="020B0604020202020204" pitchFamily="34" charset="0"/>
              </a:rPr>
              <a:t>:</a:t>
            </a:r>
            <a:r>
              <a:rPr kumimoji="0" lang="en-US" altLang="en-US" sz="2200" b="0" i="0" u="none" strike="noStrike" cap="none" normalizeH="0" baseline="0" dirty="0">
                <a:ln>
                  <a:noFill/>
                </a:ln>
                <a:effectLst/>
                <a:latin typeface="Arial" panose="020B0604020202020204" pitchFamily="34" charset="0"/>
              </a:rPr>
              <a:t> If an operation’s behavior is straightforward and unlikely to cause issues, you might choose to document it more informally or rely on clear code implementation instead of a formal contract.</a:t>
            </a:r>
          </a:p>
          <a:p>
            <a:endParaRPr lang="en-US" sz="1700" dirty="0"/>
          </a:p>
        </p:txBody>
      </p:sp>
    </p:spTree>
    <p:extLst>
      <p:ext uri="{BB962C8B-B14F-4D97-AF65-F5344CB8AC3E}">
        <p14:creationId xmlns:p14="http://schemas.microsoft.com/office/powerpoint/2010/main" val="3604049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DFDB1BB9-6BCD-9E1B-05D6-622FC08BC20A}"/>
              </a:ext>
            </a:extLst>
          </p:cNvPr>
          <p:cNvSpPr>
            <a:spLocks noGrp="1" noChangeArrowheads="1"/>
          </p:cNvSpPr>
          <p:nvPr>
            <p:ph type="title"/>
          </p:nvPr>
        </p:nvSpPr>
        <p:spPr>
          <a:xfrm>
            <a:off x="5868557" y="1138036"/>
            <a:ext cx="5444382" cy="1402470"/>
          </a:xfrm>
        </p:spPr>
        <p:txBody>
          <a:bodyPr anchor="t">
            <a:normAutofit/>
          </a:bodyPr>
          <a:lstStyle/>
          <a:p>
            <a:r>
              <a:rPr lang="en-US" altLang="en-US" sz="3200" dirty="0"/>
              <a:t>Software Architecture Styles</a:t>
            </a:r>
          </a:p>
        </p:txBody>
      </p:sp>
      <p:pic>
        <p:nvPicPr>
          <p:cNvPr id="10246" name="Picture 10245" descr="Silhouette of a construction site">
            <a:extLst>
              <a:ext uri="{FF2B5EF4-FFF2-40B4-BE49-F238E27FC236}">
                <a16:creationId xmlns:a16="http://schemas.microsoft.com/office/drawing/2014/main" id="{E4E30EF5-8770-E46E-5FB4-ED85B98ACD61}"/>
              </a:ext>
            </a:extLst>
          </p:cNvPr>
          <p:cNvPicPr>
            <a:picLocks noChangeAspect="1"/>
          </p:cNvPicPr>
          <p:nvPr/>
        </p:nvPicPr>
        <p:blipFill>
          <a:blip r:embed="rId3">
            <a:extLst>
              <a:ext uri="{28A0092B-C50C-407E-A947-70E740481C1C}">
                <a14:useLocalDpi xmlns:a14="http://schemas.microsoft.com/office/drawing/2010/main" val="0"/>
              </a:ext>
            </a:extLst>
          </a:blip>
          <a:srcRect l="24969" r="24969"/>
          <a:stretch/>
        </p:blipFill>
        <p:spPr>
          <a:xfrm>
            <a:off x="-1" y="0"/>
            <a:ext cx="5151179" cy="6857990"/>
          </a:xfrm>
          <a:prstGeom prst="rect">
            <a:avLst/>
          </a:prstGeom>
        </p:spPr>
      </p:pic>
      <p:cxnSp>
        <p:nvCxnSpPr>
          <p:cNvPr id="10250" name="Straight Connector 1024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44" name="Rectangle 3">
            <a:extLst>
              <a:ext uri="{FF2B5EF4-FFF2-40B4-BE49-F238E27FC236}">
                <a16:creationId xmlns:a16="http://schemas.microsoft.com/office/drawing/2014/main" id="{B6AC82EC-E5CB-F6DD-1E34-BE2A02807413}"/>
              </a:ext>
            </a:extLst>
          </p:cNvPr>
          <p:cNvSpPr>
            <a:spLocks noGrp="1" noChangeArrowheads="1"/>
          </p:cNvSpPr>
          <p:nvPr>
            <p:ph type="body" idx="1"/>
          </p:nvPr>
        </p:nvSpPr>
        <p:spPr>
          <a:xfrm>
            <a:off x="5591332" y="1813810"/>
            <a:ext cx="6438986" cy="4907665"/>
          </a:xfrm>
        </p:spPr>
        <p:txBody>
          <a:bodyPr>
            <a:normAutofit/>
          </a:bodyPr>
          <a:lstStyle/>
          <a:p>
            <a:pPr marL="342900" indent="-342900"/>
            <a:r>
              <a:rPr lang="en-US" altLang="en-US" sz="3300" dirty="0"/>
              <a:t>Data Centered</a:t>
            </a:r>
          </a:p>
          <a:p>
            <a:pPr marL="342900" indent="-342900"/>
            <a:r>
              <a:rPr lang="en-US" altLang="en-US" sz="3300" dirty="0"/>
              <a:t>Data Flow</a:t>
            </a:r>
          </a:p>
          <a:p>
            <a:pPr marL="342900" indent="-342900"/>
            <a:r>
              <a:rPr lang="en-US" altLang="en-US" sz="3300" dirty="0"/>
              <a:t>Call and Return</a:t>
            </a:r>
          </a:p>
          <a:p>
            <a:pPr marL="342900" indent="-342900"/>
            <a:r>
              <a:rPr lang="en-US" altLang="en-US" sz="3300" b="1" dirty="0"/>
              <a:t>Object Oriented</a:t>
            </a:r>
          </a:p>
          <a:p>
            <a:pPr marL="342900" indent="-342900"/>
            <a:r>
              <a:rPr lang="en-US" altLang="en-US" sz="3300" dirty="0"/>
              <a:t>Layered</a:t>
            </a:r>
          </a:p>
          <a:p>
            <a:pPr marL="342900" indent="-342900"/>
            <a:endParaRPr lang="en-US" altLang="en-US" sz="3300" dirty="0"/>
          </a:p>
          <a:p>
            <a:pPr marL="342900" indent="-342900"/>
            <a:r>
              <a:rPr lang="en-US" altLang="en-US" sz="3300" dirty="0"/>
              <a:t>A system may use a combination of the styles.</a:t>
            </a:r>
          </a:p>
        </p:txBody>
      </p:sp>
      <p:sp>
        <p:nvSpPr>
          <p:cNvPr id="10242" name="Slide Number Placeholder 3">
            <a:extLst>
              <a:ext uri="{FF2B5EF4-FFF2-40B4-BE49-F238E27FC236}">
                <a16:creationId xmlns:a16="http://schemas.microsoft.com/office/drawing/2014/main" id="{7A836BBC-CFD7-D531-1A4D-720A8B6669B1}"/>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CAB30DE9-DFFF-4589-94E0-06D494FAC6D0}" type="slidenum">
              <a:rPr lang="de-DE" altLang="en-US" sz="1900">
                <a:solidFill>
                  <a:schemeClr val="tx1">
                    <a:lumMod val="50000"/>
                    <a:lumOff val="50000"/>
                  </a:schemeClr>
                </a:solidFill>
              </a:rPr>
              <a:pPr>
                <a:lnSpc>
                  <a:spcPct val="90000"/>
                </a:lnSpc>
                <a:spcAft>
                  <a:spcPts val="600"/>
                </a:spcAft>
              </a:pPr>
              <a:t>12</a:t>
            </a:fld>
            <a:endParaRPr lang="de-DE" altLang="en-US" sz="1900">
              <a:solidFill>
                <a:schemeClr val="tx1">
                  <a:lumMod val="50000"/>
                  <a:lumOff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6EA59E-544A-5D6A-B3C2-A923DD21E388}"/>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C843BA94-6C95-F9D5-9BFB-99082B2B5057}"/>
              </a:ext>
            </a:extLst>
          </p:cNvPr>
          <p:cNvSpPr>
            <a:spLocks noGrp="1" noChangeArrowheads="1"/>
          </p:cNvSpPr>
          <p:nvPr>
            <p:ph type="title"/>
          </p:nvPr>
        </p:nvSpPr>
        <p:spPr>
          <a:xfrm>
            <a:off x="751931" y="1177453"/>
            <a:ext cx="3056625" cy="2909296"/>
          </a:xfrm>
        </p:spPr>
        <p:txBody>
          <a:bodyPr anchor="t">
            <a:normAutofit/>
          </a:bodyPr>
          <a:lstStyle/>
          <a:p>
            <a:r>
              <a:rPr lang="en-US" altLang="en-US" sz="3200" dirty="0"/>
              <a:t>Data Centered Architecture</a:t>
            </a:r>
          </a:p>
        </p:txBody>
      </p:sp>
      <p:cxnSp>
        <p:nvCxnSpPr>
          <p:cNvPr id="7177" name="Straight Connector 7176">
            <a:extLst>
              <a:ext uri="{FF2B5EF4-FFF2-40B4-BE49-F238E27FC236}">
                <a16:creationId xmlns:a16="http://schemas.microsoft.com/office/drawing/2014/main" id="{7117FB92-6B81-9EAC-CC9C-B73218EA05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170" name="Slide Number Placeholder 3">
            <a:extLst>
              <a:ext uri="{FF2B5EF4-FFF2-40B4-BE49-F238E27FC236}">
                <a16:creationId xmlns:a16="http://schemas.microsoft.com/office/drawing/2014/main" id="{1D358D3C-1753-26E0-64A8-C7DB2CFD76EF}"/>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7347A960-0C76-4BC4-82DD-63EFCA24FEF7}" type="slidenum">
              <a:rPr lang="de-DE" altLang="en-US" sz="1900"/>
              <a:pPr>
                <a:lnSpc>
                  <a:spcPct val="90000"/>
                </a:lnSpc>
                <a:spcAft>
                  <a:spcPts val="600"/>
                </a:spcAft>
              </a:pPr>
              <a:t>13</a:t>
            </a:fld>
            <a:endParaRPr lang="de-DE" altLang="en-US" sz="1900"/>
          </a:p>
        </p:txBody>
      </p:sp>
      <p:pic>
        <p:nvPicPr>
          <p:cNvPr id="5" name="Picture 4" descr="Diagram of software&#10;&#10;AI-generated content may be incorrect.">
            <a:extLst>
              <a:ext uri="{FF2B5EF4-FFF2-40B4-BE49-F238E27FC236}">
                <a16:creationId xmlns:a16="http://schemas.microsoft.com/office/drawing/2014/main" id="{40131CDA-924B-AFEF-DEAD-F97CE7B14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8556" y="982467"/>
            <a:ext cx="7772400" cy="4698080"/>
          </a:xfrm>
          <a:prstGeom prst="rect">
            <a:avLst/>
          </a:prstGeom>
        </p:spPr>
      </p:pic>
    </p:spTree>
    <p:extLst>
      <p:ext uri="{BB962C8B-B14F-4D97-AF65-F5344CB8AC3E}">
        <p14:creationId xmlns:p14="http://schemas.microsoft.com/office/powerpoint/2010/main" val="237736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ED3921-EC25-3223-6B42-6E6E22A5E298}"/>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BAFD4207-4B5C-561A-7DBB-E1C8D5F55AD3}"/>
              </a:ext>
            </a:extLst>
          </p:cNvPr>
          <p:cNvSpPr>
            <a:spLocks noGrp="1" noChangeArrowheads="1"/>
          </p:cNvSpPr>
          <p:nvPr>
            <p:ph type="title"/>
          </p:nvPr>
        </p:nvSpPr>
        <p:spPr>
          <a:xfrm>
            <a:off x="751931" y="1177453"/>
            <a:ext cx="3056625" cy="2909296"/>
          </a:xfrm>
        </p:spPr>
        <p:txBody>
          <a:bodyPr anchor="t">
            <a:normAutofit/>
          </a:bodyPr>
          <a:lstStyle/>
          <a:p>
            <a:r>
              <a:rPr lang="en-US" altLang="en-US" sz="3200" dirty="0"/>
              <a:t>Data Flow Architecture</a:t>
            </a:r>
          </a:p>
        </p:txBody>
      </p:sp>
      <p:cxnSp>
        <p:nvCxnSpPr>
          <p:cNvPr id="7177" name="Straight Connector 7176">
            <a:extLst>
              <a:ext uri="{FF2B5EF4-FFF2-40B4-BE49-F238E27FC236}">
                <a16:creationId xmlns:a16="http://schemas.microsoft.com/office/drawing/2014/main" id="{4F5CB93F-7C6E-6A77-0296-7207F13DB6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170" name="Slide Number Placeholder 3">
            <a:extLst>
              <a:ext uri="{FF2B5EF4-FFF2-40B4-BE49-F238E27FC236}">
                <a16:creationId xmlns:a16="http://schemas.microsoft.com/office/drawing/2014/main" id="{824019F6-58D3-9005-8F15-9EC84DEED7E4}"/>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7347A960-0C76-4BC4-82DD-63EFCA24FEF7}" type="slidenum">
              <a:rPr lang="de-DE" altLang="en-US" sz="1900"/>
              <a:pPr>
                <a:lnSpc>
                  <a:spcPct val="90000"/>
                </a:lnSpc>
                <a:spcAft>
                  <a:spcPts val="600"/>
                </a:spcAft>
              </a:pPr>
              <a:t>14</a:t>
            </a:fld>
            <a:endParaRPr lang="de-DE" altLang="en-US" sz="1900"/>
          </a:p>
        </p:txBody>
      </p:sp>
      <p:pic>
        <p:nvPicPr>
          <p:cNvPr id="3" name="Picture 2" descr="A diagram of a filter&#10;&#10;AI-generated content may be incorrect.">
            <a:extLst>
              <a:ext uri="{FF2B5EF4-FFF2-40B4-BE49-F238E27FC236}">
                <a16:creationId xmlns:a16="http://schemas.microsoft.com/office/drawing/2014/main" id="{5BE05BC2-A3C9-6262-D2D9-55DE4EB034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8556" y="871146"/>
            <a:ext cx="7772400" cy="3844857"/>
          </a:xfrm>
          <a:prstGeom prst="rect">
            <a:avLst/>
          </a:prstGeom>
        </p:spPr>
      </p:pic>
    </p:spTree>
    <p:extLst>
      <p:ext uri="{BB962C8B-B14F-4D97-AF65-F5344CB8AC3E}">
        <p14:creationId xmlns:p14="http://schemas.microsoft.com/office/powerpoint/2010/main" val="1747171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CA1921-2DEB-055C-E5C4-97574B6541F2}"/>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1461663D-CAA0-6192-CA34-242F587463E3}"/>
              </a:ext>
            </a:extLst>
          </p:cNvPr>
          <p:cNvSpPr>
            <a:spLocks noGrp="1" noChangeArrowheads="1"/>
          </p:cNvSpPr>
          <p:nvPr>
            <p:ph type="title"/>
          </p:nvPr>
        </p:nvSpPr>
        <p:spPr>
          <a:xfrm>
            <a:off x="751931" y="1177453"/>
            <a:ext cx="3056625" cy="2909296"/>
          </a:xfrm>
        </p:spPr>
        <p:txBody>
          <a:bodyPr anchor="t">
            <a:normAutofit/>
          </a:bodyPr>
          <a:lstStyle/>
          <a:p>
            <a:r>
              <a:rPr lang="en-US" altLang="en-US" sz="3200" dirty="0"/>
              <a:t>Call and Return Architecture</a:t>
            </a:r>
          </a:p>
        </p:txBody>
      </p:sp>
      <p:cxnSp>
        <p:nvCxnSpPr>
          <p:cNvPr id="7177" name="Straight Connector 7176">
            <a:extLst>
              <a:ext uri="{FF2B5EF4-FFF2-40B4-BE49-F238E27FC236}">
                <a16:creationId xmlns:a16="http://schemas.microsoft.com/office/drawing/2014/main" id="{83D8CC7A-75F3-CF8F-F1DD-F5BC559E56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170" name="Slide Number Placeholder 3">
            <a:extLst>
              <a:ext uri="{FF2B5EF4-FFF2-40B4-BE49-F238E27FC236}">
                <a16:creationId xmlns:a16="http://schemas.microsoft.com/office/drawing/2014/main" id="{5E1C6CD7-2C94-1E4F-B003-09659384E3DD}"/>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7347A960-0C76-4BC4-82DD-63EFCA24FEF7}" type="slidenum">
              <a:rPr lang="de-DE" altLang="en-US" sz="1900"/>
              <a:pPr>
                <a:lnSpc>
                  <a:spcPct val="90000"/>
                </a:lnSpc>
                <a:spcAft>
                  <a:spcPts val="600"/>
                </a:spcAft>
              </a:pPr>
              <a:t>15</a:t>
            </a:fld>
            <a:endParaRPr lang="de-DE" altLang="en-US" sz="1900"/>
          </a:p>
        </p:txBody>
      </p:sp>
      <p:pic>
        <p:nvPicPr>
          <p:cNvPr id="4" name="Picture 3" descr="A diagram of a program&#10;&#10;AI-generated content may be incorrect.">
            <a:extLst>
              <a:ext uri="{FF2B5EF4-FFF2-40B4-BE49-F238E27FC236}">
                <a16:creationId xmlns:a16="http://schemas.microsoft.com/office/drawing/2014/main" id="{C2D32797-1DB7-54D0-7FC3-2D7467E0A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7669" y="871146"/>
            <a:ext cx="8447430" cy="3857600"/>
          </a:xfrm>
          <a:prstGeom prst="rect">
            <a:avLst/>
          </a:prstGeom>
        </p:spPr>
      </p:pic>
    </p:spTree>
    <p:extLst>
      <p:ext uri="{BB962C8B-B14F-4D97-AF65-F5344CB8AC3E}">
        <p14:creationId xmlns:p14="http://schemas.microsoft.com/office/powerpoint/2010/main" val="1998022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C46B06-1E46-1784-7AED-FC6ABAA31A42}"/>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6AD9FE25-BC1A-0910-B14A-182C2FE2176F}"/>
              </a:ext>
            </a:extLst>
          </p:cNvPr>
          <p:cNvSpPr>
            <a:spLocks noGrp="1" noChangeArrowheads="1"/>
          </p:cNvSpPr>
          <p:nvPr>
            <p:ph type="title"/>
          </p:nvPr>
        </p:nvSpPr>
        <p:spPr>
          <a:xfrm>
            <a:off x="751931" y="1177453"/>
            <a:ext cx="3056625" cy="2909296"/>
          </a:xfrm>
        </p:spPr>
        <p:txBody>
          <a:bodyPr anchor="t">
            <a:normAutofit/>
          </a:bodyPr>
          <a:lstStyle/>
          <a:p>
            <a:r>
              <a:rPr lang="en-US" altLang="en-US" sz="3200" dirty="0"/>
              <a:t>Object Oriented Architecture</a:t>
            </a:r>
          </a:p>
        </p:txBody>
      </p:sp>
      <p:cxnSp>
        <p:nvCxnSpPr>
          <p:cNvPr id="7177" name="Straight Connector 7176">
            <a:extLst>
              <a:ext uri="{FF2B5EF4-FFF2-40B4-BE49-F238E27FC236}">
                <a16:creationId xmlns:a16="http://schemas.microsoft.com/office/drawing/2014/main" id="{B2D16329-438E-98FE-8FAC-11B71ACC7B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170" name="Slide Number Placeholder 3">
            <a:extLst>
              <a:ext uri="{FF2B5EF4-FFF2-40B4-BE49-F238E27FC236}">
                <a16:creationId xmlns:a16="http://schemas.microsoft.com/office/drawing/2014/main" id="{4CDB9D2F-A882-1216-9E78-451310DEE5D8}"/>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7347A960-0C76-4BC4-82DD-63EFCA24FEF7}" type="slidenum">
              <a:rPr lang="de-DE" altLang="en-US" sz="1900"/>
              <a:pPr>
                <a:lnSpc>
                  <a:spcPct val="90000"/>
                </a:lnSpc>
                <a:spcAft>
                  <a:spcPts val="600"/>
                </a:spcAft>
              </a:pPr>
              <a:t>16</a:t>
            </a:fld>
            <a:endParaRPr lang="de-DE" altLang="en-US" sz="1900"/>
          </a:p>
        </p:txBody>
      </p:sp>
      <p:pic>
        <p:nvPicPr>
          <p:cNvPr id="6" name="Picture 5" descr="A diagram of fruit and food&#10;&#10;AI-generated content may be incorrect.">
            <a:extLst>
              <a:ext uri="{FF2B5EF4-FFF2-40B4-BE49-F238E27FC236}">
                <a16:creationId xmlns:a16="http://schemas.microsoft.com/office/drawing/2014/main" id="{EB818EF6-4BDC-F867-C7F6-1463A1E8F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871145"/>
            <a:ext cx="7602894" cy="4497683"/>
          </a:xfrm>
          <a:prstGeom prst="rect">
            <a:avLst/>
          </a:prstGeom>
        </p:spPr>
      </p:pic>
    </p:spTree>
    <p:extLst>
      <p:ext uri="{BB962C8B-B14F-4D97-AF65-F5344CB8AC3E}">
        <p14:creationId xmlns:p14="http://schemas.microsoft.com/office/powerpoint/2010/main" val="1212986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CBA50D-A4D1-7FF3-2375-0ECF1264D082}"/>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B19C7E65-BBC7-51E6-1D12-D6CEF5FB5732}"/>
              </a:ext>
            </a:extLst>
          </p:cNvPr>
          <p:cNvSpPr>
            <a:spLocks noGrp="1" noChangeArrowheads="1"/>
          </p:cNvSpPr>
          <p:nvPr>
            <p:ph type="title"/>
          </p:nvPr>
        </p:nvSpPr>
        <p:spPr>
          <a:xfrm>
            <a:off x="751931" y="1177453"/>
            <a:ext cx="3056625" cy="2909296"/>
          </a:xfrm>
        </p:spPr>
        <p:txBody>
          <a:bodyPr anchor="t">
            <a:normAutofit/>
          </a:bodyPr>
          <a:lstStyle/>
          <a:p>
            <a:r>
              <a:rPr lang="en-US" altLang="en-US" sz="3200" dirty="0"/>
              <a:t>Layered Architecture</a:t>
            </a:r>
          </a:p>
        </p:txBody>
      </p:sp>
      <p:cxnSp>
        <p:nvCxnSpPr>
          <p:cNvPr id="7177" name="Straight Connector 7176">
            <a:extLst>
              <a:ext uri="{FF2B5EF4-FFF2-40B4-BE49-F238E27FC236}">
                <a16:creationId xmlns:a16="http://schemas.microsoft.com/office/drawing/2014/main" id="{D1637536-21EA-6D77-4588-6CB6655C00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170" name="Slide Number Placeholder 3">
            <a:extLst>
              <a:ext uri="{FF2B5EF4-FFF2-40B4-BE49-F238E27FC236}">
                <a16:creationId xmlns:a16="http://schemas.microsoft.com/office/drawing/2014/main" id="{CB314849-558E-F6EF-9695-86CFCBDAF842}"/>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7347A960-0C76-4BC4-82DD-63EFCA24FEF7}" type="slidenum">
              <a:rPr lang="de-DE" altLang="en-US" sz="1900"/>
              <a:pPr>
                <a:lnSpc>
                  <a:spcPct val="90000"/>
                </a:lnSpc>
                <a:spcAft>
                  <a:spcPts val="600"/>
                </a:spcAft>
              </a:pPr>
              <a:t>17</a:t>
            </a:fld>
            <a:endParaRPr lang="de-DE" altLang="en-US" sz="1900"/>
          </a:p>
        </p:txBody>
      </p:sp>
      <p:pic>
        <p:nvPicPr>
          <p:cNvPr id="3" name="Picture 2" descr="A diagram of components in a layer&#10;&#10;AI-generated content may be incorrect.">
            <a:extLst>
              <a:ext uri="{FF2B5EF4-FFF2-40B4-BE49-F238E27FC236}">
                <a16:creationId xmlns:a16="http://schemas.microsoft.com/office/drawing/2014/main" id="{39DF2A4F-7C5A-4E9B-3E7A-10BDF0176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4460" y="871146"/>
            <a:ext cx="8123734" cy="5202040"/>
          </a:xfrm>
          <a:prstGeom prst="rect">
            <a:avLst/>
          </a:prstGeom>
        </p:spPr>
      </p:pic>
    </p:spTree>
    <p:extLst>
      <p:ext uri="{BB962C8B-B14F-4D97-AF65-F5344CB8AC3E}">
        <p14:creationId xmlns:p14="http://schemas.microsoft.com/office/powerpoint/2010/main" val="1953763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64630A69-460A-2A66-4CEC-D0055DCEE71E}"/>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6600" kern="1200" dirty="0">
                <a:solidFill>
                  <a:schemeClr val="tx1"/>
                </a:solidFill>
                <a:latin typeface="+mj-lt"/>
                <a:ea typeface="+mj-ea"/>
                <a:cs typeface="+mj-cs"/>
              </a:rPr>
              <a:t>GRASP PATTERNS for </a:t>
            </a:r>
            <a:br>
              <a:rPr lang="en-US" sz="6600" kern="1200" dirty="0">
                <a:solidFill>
                  <a:schemeClr val="tx1"/>
                </a:solidFill>
                <a:latin typeface="+mj-lt"/>
                <a:ea typeface="+mj-ea"/>
                <a:cs typeface="+mj-cs"/>
              </a:rPr>
            </a:br>
            <a:r>
              <a:rPr lang="en-US" sz="6600" kern="1200" dirty="0">
                <a:solidFill>
                  <a:schemeClr val="tx1"/>
                </a:solidFill>
                <a:latin typeface="+mj-lt"/>
                <a:ea typeface="+mj-ea"/>
                <a:cs typeface="+mj-cs"/>
              </a:rPr>
              <a:t>OO Design</a:t>
            </a:r>
          </a:p>
        </p:txBody>
      </p:sp>
      <p:sp>
        <p:nvSpPr>
          <p:cNvPr id="11" name="Rectangle: Rounded Corners 10">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022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8A7DBF89-F056-E6DE-0BF5-0E6B429A196F}"/>
              </a:ext>
            </a:extLst>
          </p:cNvPr>
          <p:cNvSpPr>
            <a:spLocks noGrp="1" noChangeArrowheads="1"/>
          </p:cNvSpPr>
          <p:nvPr>
            <p:ph type="title"/>
          </p:nvPr>
        </p:nvSpPr>
        <p:spPr>
          <a:xfrm>
            <a:off x="5868556" y="1138036"/>
            <a:ext cx="6063613" cy="1402470"/>
          </a:xfrm>
        </p:spPr>
        <p:txBody>
          <a:bodyPr anchor="t">
            <a:normAutofit/>
          </a:bodyPr>
          <a:lstStyle/>
          <a:p>
            <a:r>
              <a:rPr lang="en-US" altLang="en-US" sz="3000" dirty="0"/>
              <a:t>GRASP: </a:t>
            </a:r>
            <a:br>
              <a:rPr lang="en-US" altLang="en-US" sz="3000" dirty="0"/>
            </a:br>
            <a:r>
              <a:rPr lang="en-US" altLang="en-US" sz="3000" dirty="0"/>
              <a:t>Patterns of General Principles in Assigning Responsibilities</a:t>
            </a:r>
          </a:p>
        </p:txBody>
      </p:sp>
      <p:pic>
        <p:nvPicPr>
          <p:cNvPr id="6150" name="Picture 6149" descr="Colourful sticky notes">
            <a:extLst>
              <a:ext uri="{FF2B5EF4-FFF2-40B4-BE49-F238E27FC236}">
                <a16:creationId xmlns:a16="http://schemas.microsoft.com/office/drawing/2014/main" id="{6666C4CD-E8CA-EE5E-BF06-03F65BD37522}"/>
              </a:ext>
            </a:extLst>
          </p:cNvPr>
          <p:cNvPicPr>
            <a:picLocks noChangeAspect="1"/>
          </p:cNvPicPr>
          <p:nvPr/>
        </p:nvPicPr>
        <p:blipFill rotWithShape="1">
          <a:blip r:embed="rId3"/>
          <a:srcRect l="33429" r="16433" b="-1"/>
          <a:stretch/>
        </p:blipFill>
        <p:spPr>
          <a:xfrm>
            <a:off x="-1" y="10"/>
            <a:ext cx="5151179" cy="6857990"/>
          </a:xfrm>
          <a:prstGeom prst="rect">
            <a:avLst/>
          </a:prstGeom>
        </p:spPr>
      </p:pic>
      <p:cxnSp>
        <p:nvCxnSpPr>
          <p:cNvPr id="6154" name="Straight Connector 615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148" name="Rectangle 3">
            <a:extLst>
              <a:ext uri="{FF2B5EF4-FFF2-40B4-BE49-F238E27FC236}">
                <a16:creationId xmlns:a16="http://schemas.microsoft.com/office/drawing/2014/main" id="{DEFB6635-F001-0825-1A31-81DC16DF1C81}"/>
              </a:ext>
            </a:extLst>
          </p:cNvPr>
          <p:cNvSpPr>
            <a:spLocks noGrp="1" noChangeArrowheads="1"/>
          </p:cNvSpPr>
          <p:nvPr>
            <p:ph type="body" idx="1"/>
          </p:nvPr>
        </p:nvSpPr>
        <p:spPr>
          <a:xfrm>
            <a:off x="5448878" y="2521891"/>
            <a:ext cx="6323443" cy="4078934"/>
          </a:xfrm>
        </p:spPr>
        <p:txBody>
          <a:bodyPr>
            <a:noAutofit/>
          </a:bodyPr>
          <a:lstStyle/>
          <a:p>
            <a:pPr lvl="2">
              <a:buNone/>
            </a:pPr>
            <a:r>
              <a:rPr lang="en-US" altLang="en-US" sz="2400" dirty="0">
                <a:solidFill>
                  <a:srgbClr val="FF0000"/>
                </a:solidFill>
              </a:rPr>
              <a:t>G</a:t>
            </a:r>
            <a:r>
              <a:rPr lang="en-US" altLang="en-US" sz="2400" dirty="0"/>
              <a:t>eneral </a:t>
            </a:r>
          </a:p>
          <a:p>
            <a:pPr lvl="2">
              <a:buNone/>
            </a:pPr>
            <a:r>
              <a:rPr lang="en-US" altLang="en-US" sz="2400" dirty="0">
                <a:solidFill>
                  <a:srgbClr val="FF0000"/>
                </a:solidFill>
              </a:rPr>
              <a:t>R</a:t>
            </a:r>
            <a:r>
              <a:rPr lang="en-US" altLang="en-US" sz="2400" dirty="0"/>
              <a:t>esponsibility </a:t>
            </a:r>
          </a:p>
          <a:p>
            <a:pPr lvl="2">
              <a:buNone/>
            </a:pPr>
            <a:r>
              <a:rPr lang="en-US" altLang="en-US" sz="2400" dirty="0">
                <a:solidFill>
                  <a:srgbClr val="FF0000"/>
                </a:solidFill>
              </a:rPr>
              <a:t>A</a:t>
            </a:r>
            <a:r>
              <a:rPr lang="en-US" altLang="en-US" sz="2400" dirty="0"/>
              <a:t>ssignment </a:t>
            </a:r>
          </a:p>
          <a:p>
            <a:pPr lvl="2">
              <a:buNone/>
            </a:pPr>
            <a:r>
              <a:rPr lang="en-US" altLang="en-US" sz="2400" dirty="0">
                <a:solidFill>
                  <a:srgbClr val="FF0000"/>
                </a:solidFill>
              </a:rPr>
              <a:t>S</a:t>
            </a:r>
            <a:r>
              <a:rPr lang="en-US" altLang="en-US" sz="2400" dirty="0"/>
              <a:t>oftware </a:t>
            </a:r>
          </a:p>
          <a:p>
            <a:pPr lvl="2">
              <a:buNone/>
            </a:pPr>
            <a:r>
              <a:rPr lang="en-US" altLang="en-US" sz="2400" dirty="0">
                <a:solidFill>
                  <a:srgbClr val="FF0000"/>
                </a:solidFill>
              </a:rPr>
              <a:t>P</a:t>
            </a:r>
            <a:r>
              <a:rPr lang="en-US" altLang="en-US" sz="2400" dirty="0"/>
              <a:t>atterns. </a:t>
            </a:r>
          </a:p>
          <a:p>
            <a:pPr lvl="2">
              <a:buNone/>
            </a:pPr>
            <a:endParaRPr lang="en-US" altLang="en-US" sz="2400" dirty="0"/>
          </a:p>
          <a:p>
            <a:pPr marL="342900" indent="-342900"/>
            <a:r>
              <a:rPr lang="en-US" altLang="en-US" sz="2400" dirty="0"/>
              <a:t>Provide guidance for assigning responsibilities to classes and, to limited extent, determining classes that will be in a design.</a:t>
            </a:r>
          </a:p>
        </p:txBody>
      </p:sp>
      <p:sp>
        <p:nvSpPr>
          <p:cNvPr id="6146" name="Slide Number Placeholder 3">
            <a:extLst>
              <a:ext uri="{FF2B5EF4-FFF2-40B4-BE49-F238E27FC236}">
                <a16:creationId xmlns:a16="http://schemas.microsoft.com/office/drawing/2014/main" id="{B1964C82-603C-D45A-D079-0BED903FAD38}"/>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F8BF4A2B-B024-44C8-ADC2-028369787A2B}" type="slidenum">
              <a:rPr lang="de-DE" altLang="en-US" sz="1900">
                <a:solidFill>
                  <a:schemeClr val="tx1">
                    <a:lumMod val="50000"/>
                    <a:lumOff val="50000"/>
                  </a:schemeClr>
                </a:solidFill>
              </a:rPr>
              <a:pPr>
                <a:lnSpc>
                  <a:spcPct val="90000"/>
                </a:lnSpc>
                <a:spcAft>
                  <a:spcPts val="600"/>
                </a:spcAft>
              </a:pPr>
              <a:t>19</a:t>
            </a:fld>
            <a:endParaRPr lang="de-DE" altLang="en-US" sz="190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57A11078-B0C1-C39F-4315-CE5FBD1540F7}"/>
              </a:ext>
            </a:extLst>
          </p:cNvPr>
          <p:cNvSpPr>
            <a:spLocks noGrp="1" noChangeArrowheads="1"/>
          </p:cNvSpPr>
          <p:nvPr>
            <p:ph type="title"/>
          </p:nvPr>
        </p:nvSpPr>
        <p:spPr>
          <a:xfrm>
            <a:off x="751931" y="1177453"/>
            <a:ext cx="3056625" cy="2909296"/>
          </a:xfrm>
        </p:spPr>
        <p:txBody>
          <a:bodyPr anchor="t">
            <a:normAutofit/>
          </a:bodyPr>
          <a:lstStyle/>
          <a:p>
            <a:r>
              <a:rPr lang="en-US" altLang="en-US" sz="3200"/>
              <a:t>A Responsibility</a:t>
            </a:r>
          </a:p>
        </p:txBody>
      </p:sp>
      <p:cxnSp>
        <p:nvCxnSpPr>
          <p:cNvPr id="7177" name="Straight Connector 7176">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172" name="Rectangle 3">
            <a:extLst>
              <a:ext uri="{FF2B5EF4-FFF2-40B4-BE49-F238E27FC236}">
                <a16:creationId xmlns:a16="http://schemas.microsoft.com/office/drawing/2014/main" id="{E01D47C0-7687-30CC-6054-278248B645DF}"/>
              </a:ext>
            </a:extLst>
          </p:cNvPr>
          <p:cNvSpPr>
            <a:spLocks noGrp="1" noChangeArrowheads="1"/>
          </p:cNvSpPr>
          <p:nvPr>
            <p:ph type="body" idx="1"/>
          </p:nvPr>
        </p:nvSpPr>
        <p:spPr>
          <a:xfrm>
            <a:off x="3818627" y="753376"/>
            <a:ext cx="8113544" cy="5434637"/>
          </a:xfrm>
        </p:spPr>
        <p:txBody>
          <a:bodyPr>
            <a:normAutofit/>
          </a:bodyPr>
          <a:lstStyle/>
          <a:p>
            <a:pPr marL="342900" indent="-342900" algn="just">
              <a:buNone/>
            </a:pPr>
            <a:r>
              <a:rPr lang="en-US" altLang="en-US" dirty="0"/>
              <a:t>“A contract or obligation of a type or class”</a:t>
            </a:r>
          </a:p>
          <a:p>
            <a:pPr marL="342900" indent="-342900" algn="just">
              <a:buNone/>
            </a:pPr>
            <a:r>
              <a:rPr lang="en-US" altLang="en-US" dirty="0"/>
              <a:t>UML User Guide</a:t>
            </a:r>
          </a:p>
          <a:p>
            <a:pPr marL="342900" indent="-342900" algn="just"/>
            <a:r>
              <a:rPr lang="en-US" altLang="en-US" dirty="0"/>
              <a:t>Responsibilities can be one of two basic types:</a:t>
            </a:r>
          </a:p>
          <a:p>
            <a:pPr marL="742950" lvl="1" indent="-285750" algn="just"/>
            <a:r>
              <a:rPr lang="en-US" altLang="en-US" sz="2800" u="sng" dirty="0"/>
              <a:t>Doing</a:t>
            </a:r>
          </a:p>
          <a:p>
            <a:pPr lvl="2" algn="just"/>
            <a:r>
              <a:rPr lang="en-US" altLang="en-US" sz="2800" dirty="0"/>
              <a:t>A </a:t>
            </a:r>
            <a:r>
              <a:rPr lang="en-US" altLang="en-US" sz="2800" i="1" dirty="0"/>
              <a:t>Sale</a:t>
            </a:r>
            <a:r>
              <a:rPr lang="en-US" altLang="en-US" sz="2800" dirty="0"/>
              <a:t> is responsible for printing itself</a:t>
            </a:r>
          </a:p>
          <a:p>
            <a:pPr marL="742950" lvl="1" indent="-285750" algn="just"/>
            <a:r>
              <a:rPr lang="en-US" altLang="en-US" sz="2800" u="sng" dirty="0"/>
              <a:t>Knowing</a:t>
            </a:r>
          </a:p>
          <a:p>
            <a:pPr lvl="2" algn="just"/>
            <a:r>
              <a:rPr lang="en-US" altLang="en-US" sz="2800" dirty="0"/>
              <a:t>A </a:t>
            </a:r>
            <a:r>
              <a:rPr lang="en-US" altLang="en-US" sz="2800" i="1" dirty="0"/>
              <a:t>Sale</a:t>
            </a:r>
            <a:r>
              <a:rPr lang="en-US" altLang="en-US" sz="2800" dirty="0"/>
              <a:t> is responsible for recording its date</a:t>
            </a:r>
          </a:p>
          <a:p>
            <a:pPr marL="914400" lvl="2" indent="0" algn="just">
              <a:buNone/>
            </a:pPr>
            <a:endParaRPr lang="en-US" altLang="en-US" sz="2800" dirty="0"/>
          </a:p>
          <a:p>
            <a:pPr marL="342900" indent="-342900" algn="just"/>
            <a:r>
              <a:rPr lang="en-US" altLang="en-US" dirty="0"/>
              <a:t>Responsibilities are not methods…the responsibility to provide access to relational databases is more than a single method…more than a single class!</a:t>
            </a:r>
          </a:p>
        </p:txBody>
      </p:sp>
      <p:sp>
        <p:nvSpPr>
          <p:cNvPr id="7170" name="Slide Number Placeholder 3">
            <a:extLst>
              <a:ext uri="{FF2B5EF4-FFF2-40B4-BE49-F238E27FC236}">
                <a16:creationId xmlns:a16="http://schemas.microsoft.com/office/drawing/2014/main" id="{426A902D-E7D8-2214-86F5-440714B05F5B}"/>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7347A960-0C76-4BC4-82DD-63EFCA24FEF7}" type="slidenum">
              <a:rPr lang="de-DE" altLang="en-US" sz="1900"/>
              <a:pPr>
                <a:lnSpc>
                  <a:spcPct val="90000"/>
                </a:lnSpc>
                <a:spcAft>
                  <a:spcPts val="600"/>
                </a:spcAft>
              </a:pPr>
              <a:t>20</a:t>
            </a:fld>
            <a:endParaRPr lang="de-DE" altLang="en-US" sz="1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03F4AF62-2F45-36DA-9EE4-4688FAB45C94}"/>
              </a:ext>
            </a:extLst>
          </p:cNvPr>
          <p:cNvSpPr>
            <a:spLocks noGrp="1" noChangeArrowheads="1"/>
          </p:cNvSpPr>
          <p:nvPr>
            <p:ph type="title"/>
          </p:nvPr>
        </p:nvSpPr>
        <p:spPr>
          <a:xfrm>
            <a:off x="5868557" y="1138036"/>
            <a:ext cx="5444382" cy="1402470"/>
          </a:xfrm>
        </p:spPr>
        <p:txBody>
          <a:bodyPr anchor="t">
            <a:normAutofit/>
          </a:bodyPr>
          <a:lstStyle/>
          <a:p>
            <a:r>
              <a:rPr lang="en-US" altLang="en-US" sz="3200"/>
              <a:t>“Doing” responsibilities</a:t>
            </a:r>
          </a:p>
        </p:txBody>
      </p:sp>
      <p:pic>
        <p:nvPicPr>
          <p:cNvPr id="8198" name="Picture 8197" descr="Checkmate in a chess game">
            <a:extLst>
              <a:ext uri="{FF2B5EF4-FFF2-40B4-BE49-F238E27FC236}">
                <a16:creationId xmlns:a16="http://schemas.microsoft.com/office/drawing/2014/main" id="{6414E1D1-2ABA-9525-7C09-EDA1A75819DF}"/>
              </a:ext>
            </a:extLst>
          </p:cNvPr>
          <p:cNvPicPr>
            <a:picLocks noChangeAspect="1"/>
          </p:cNvPicPr>
          <p:nvPr/>
        </p:nvPicPr>
        <p:blipFill rotWithShape="1">
          <a:blip r:embed="rId2"/>
          <a:srcRect l="20295" r="22808" b="2"/>
          <a:stretch/>
        </p:blipFill>
        <p:spPr>
          <a:xfrm>
            <a:off x="-1" y="10"/>
            <a:ext cx="5151179" cy="6857990"/>
          </a:xfrm>
          <a:prstGeom prst="rect">
            <a:avLst/>
          </a:prstGeom>
        </p:spPr>
      </p:pic>
      <p:cxnSp>
        <p:nvCxnSpPr>
          <p:cNvPr id="8202" name="Straight Connector 8201">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196" name="Rectangle 3">
            <a:extLst>
              <a:ext uri="{FF2B5EF4-FFF2-40B4-BE49-F238E27FC236}">
                <a16:creationId xmlns:a16="http://schemas.microsoft.com/office/drawing/2014/main" id="{CAC45EA0-D1BE-4380-A645-64666512B8CE}"/>
              </a:ext>
            </a:extLst>
          </p:cNvPr>
          <p:cNvSpPr>
            <a:spLocks noGrp="1" noChangeArrowheads="1"/>
          </p:cNvSpPr>
          <p:nvPr>
            <p:ph type="body" idx="1"/>
          </p:nvPr>
        </p:nvSpPr>
        <p:spPr>
          <a:xfrm>
            <a:off x="5546361" y="1903752"/>
            <a:ext cx="6460760" cy="4238632"/>
          </a:xfrm>
        </p:spPr>
        <p:txBody>
          <a:bodyPr>
            <a:normAutofit/>
          </a:bodyPr>
          <a:lstStyle/>
          <a:p>
            <a:pPr marL="342900" indent="-342900"/>
            <a:r>
              <a:rPr lang="en-US" altLang="en-US" sz="3200" dirty="0"/>
              <a:t>An object:</a:t>
            </a:r>
          </a:p>
          <a:p>
            <a:pPr marL="0" indent="0">
              <a:buNone/>
            </a:pPr>
            <a:endParaRPr lang="en-US" altLang="en-US" sz="3200" dirty="0"/>
          </a:p>
          <a:p>
            <a:pPr marL="742950" lvl="1" indent="-285750"/>
            <a:r>
              <a:rPr lang="en-US" altLang="en-US" sz="3200" dirty="0"/>
              <a:t>Doing something to itself</a:t>
            </a:r>
          </a:p>
          <a:p>
            <a:pPr marL="742950" lvl="1" indent="-285750"/>
            <a:r>
              <a:rPr lang="en-US" altLang="en-US" sz="3200" dirty="0"/>
              <a:t>Initiating action in other objects</a:t>
            </a:r>
          </a:p>
          <a:p>
            <a:pPr marL="742950" lvl="1" indent="-285750"/>
            <a:r>
              <a:rPr lang="en-US" altLang="en-US" sz="3200" dirty="0"/>
              <a:t>Controlling and coordinating activities in other objects</a:t>
            </a:r>
          </a:p>
        </p:txBody>
      </p:sp>
      <p:sp>
        <p:nvSpPr>
          <p:cNvPr id="8194" name="Slide Number Placeholder 3">
            <a:extLst>
              <a:ext uri="{FF2B5EF4-FFF2-40B4-BE49-F238E27FC236}">
                <a16:creationId xmlns:a16="http://schemas.microsoft.com/office/drawing/2014/main" id="{4A55BB5E-CE1C-175E-D665-640EB0E1C8C7}"/>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A96892A9-3E57-44E4-83F5-7FFAD1D70D7B}" type="slidenum">
              <a:rPr lang="de-DE" altLang="en-US" sz="1900">
                <a:solidFill>
                  <a:schemeClr val="tx1">
                    <a:lumMod val="50000"/>
                    <a:lumOff val="50000"/>
                  </a:schemeClr>
                </a:solidFill>
              </a:rPr>
              <a:pPr>
                <a:lnSpc>
                  <a:spcPct val="90000"/>
                </a:lnSpc>
                <a:spcAft>
                  <a:spcPts val="600"/>
                </a:spcAft>
              </a:pPr>
              <a:t>21</a:t>
            </a:fld>
            <a:endParaRPr lang="de-DE" altLang="en-US" sz="1900">
              <a:solidFill>
                <a:schemeClr val="tx1">
                  <a:lumMod val="50000"/>
                  <a:lumOff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08014F44-2323-03E4-F9C1-A2A2B7F210D1}"/>
              </a:ext>
            </a:extLst>
          </p:cNvPr>
          <p:cNvSpPr>
            <a:spLocks noGrp="1" noChangeArrowheads="1"/>
          </p:cNvSpPr>
          <p:nvPr>
            <p:ph type="title"/>
          </p:nvPr>
        </p:nvSpPr>
        <p:spPr>
          <a:xfrm>
            <a:off x="5868557" y="1138036"/>
            <a:ext cx="5444382" cy="1402470"/>
          </a:xfrm>
        </p:spPr>
        <p:txBody>
          <a:bodyPr anchor="t">
            <a:normAutofit/>
          </a:bodyPr>
          <a:lstStyle/>
          <a:p>
            <a:r>
              <a:rPr lang="en-US" altLang="en-US" sz="3200"/>
              <a:t>“Knowing” responsibilities</a:t>
            </a:r>
          </a:p>
        </p:txBody>
      </p:sp>
      <p:pic>
        <p:nvPicPr>
          <p:cNvPr id="9222" name="Picture 9221" descr="Many question marks on black background">
            <a:extLst>
              <a:ext uri="{FF2B5EF4-FFF2-40B4-BE49-F238E27FC236}">
                <a16:creationId xmlns:a16="http://schemas.microsoft.com/office/drawing/2014/main" id="{CC1DF211-2B93-8B78-8550-3B9C556418B5}"/>
              </a:ext>
            </a:extLst>
          </p:cNvPr>
          <p:cNvPicPr>
            <a:picLocks noChangeAspect="1"/>
          </p:cNvPicPr>
          <p:nvPr/>
        </p:nvPicPr>
        <p:blipFill rotWithShape="1">
          <a:blip r:embed="rId3"/>
          <a:srcRect l="54181" r="2" b="2"/>
          <a:stretch/>
        </p:blipFill>
        <p:spPr>
          <a:xfrm>
            <a:off x="-1" y="10"/>
            <a:ext cx="5151179" cy="6857990"/>
          </a:xfrm>
          <a:prstGeom prst="rect">
            <a:avLst/>
          </a:prstGeom>
        </p:spPr>
      </p:pic>
      <p:cxnSp>
        <p:nvCxnSpPr>
          <p:cNvPr id="9226" name="Straight Connector 9225">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9220" name="Rectangle 3">
            <a:extLst>
              <a:ext uri="{FF2B5EF4-FFF2-40B4-BE49-F238E27FC236}">
                <a16:creationId xmlns:a16="http://schemas.microsoft.com/office/drawing/2014/main" id="{B72B3D76-EB21-9654-31B4-9DDA356CA807}"/>
              </a:ext>
            </a:extLst>
          </p:cNvPr>
          <p:cNvSpPr>
            <a:spLocks noGrp="1" noChangeArrowheads="1"/>
          </p:cNvSpPr>
          <p:nvPr>
            <p:ph type="body" idx="1"/>
          </p:nvPr>
        </p:nvSpPr>
        <p:spPr>
          <a:xfrm>
            <a:off x="5151178" y="2053652"/>
            <a:ext cx="6870933" cy="4088731"/>
          </a:xfrm>
        </p:spPr>
        <p:txBody>
          <a:bodyPr>
            <a:normAutofit/>
          </a:bodyPr>
          <a:lstStyle/>
          <a:p>
            <a:pPr marL="342900" indent="-342900"/>
            <a:r>
              <a:rPr lang="en-US" altLang="en-US" sz="3300" dirty="0"/>
              <a:t>An object:</a:t>
            </a:r>
          </a:p>
          <a:p>
            <a:pPr marL="742950" lvl="1" indent="-285750"/>
            <a:r>
              <a:rPr lang="en-US" altLang="en-US" sz="3300" dirty="0"/>
              <a:t>Knowing about private encapsulated data</a:t>
            </a:r>
          </a:p>
          <a:p>
            <a:pPr marL="457200" lvl="1" indent="0">
              <a:buNone/>
            </a:pPr>
            <a:endParaRPr lang="en-US" altLang="en-US" sz="3300" dirty="0"/>
          </a:p>
          <a:p>
            <a:pPr marL="742950" lvl="1" indent="-285750"/>
            <a:r>
              <a:rPr lang="en-US" altLang="en-US" sz="3300" dirty="0"/>
              <a:t>Knowing about related objects</a:t>
            </a:r>
          </a:p>
          <a:p>
            <a:pPr marL="457200" lvl="1" indent="0">
              <a:buNone/>
            </a:pPr>
            <a:endParaRPr lang="en-US" altLang="en-US" sz="3300" dirty="0"/>
          </a:p>
          <a:p>
            <a:pPr marL="742950" lvl="1" indent="-285750"/>
            <a:r>
              <a:rPr lang="en-US" altLang="en-US" sz="3300" dirty="0"/>
              <a:t>Knowing about things it can derive or calculate.</a:t>
            </a:r>
          </a:p>
        </p:txBody>
      </p:sp>
      <p:sp>
        <p:nvSpPr>
          <p:cNvPr id="9218" name="Slide Number Placeholder 3">
            <a:extLst>
              <a:ext uri="{FF2B5EF4-FFF2-40B4-BE49-F238E27FC236}">
                <a16:creationId xmlns:a16="http://schemas.microsoft.com/office/drawing/2014/main" id="{18729194-779A-0E42-C125-8C139B807DEE}"/>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8B33D0B5-6C05-415D-A8AE-18BE48A14413}" type="slidenum">
              <a:rPr lang="de-DE" altLang="en-US" sz="1900">
                <a:solidFill>
                  <a:schemeClr val="tx1">
                    <a:lumMod val="50000"/>
                    <a:lumOff val="50000"/>
                  </a:schemeClr>
                </a:solidFill>
              </a:rPr>
              <a:pPr>
                <a:lnSpc>
                  <a:spcPct val="90000"/>
                </a:lnSpc>
                <a:spcAft>
                  <a:spcPts val="600"/>
                </a:spcAft>
              </a:pPr>
              <a:t>22</a:t>
            </a:fld>
            <a:endParaRPr lang="de-DE" altLang="en-US" sz="1900">
              <a:solidFill>
                <a:schemeClr val="tx1">
                  <a:lumMod val="50000"/>
                  <a:lumOff val="5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9B7D52-7B23-A96C-1DF7-394BEE88C901}"/>
            </a:ext>
          </a:extLst>
        </p:cNvPr>
        <p:cNvGrpSpPr/>
        <p:nvPr/>
      </p:nvGrpSpPr>
      <p:grpSpPr>
        <a:xfrm>
          <a:off x="0" y="0"/>
          <a:ext cx="0" cy="0"/>
          <a:chOff x="0" y="0"/>
          <a:chExt cx="0" cy="0"/>
        </a:xfrm>
      </p:grpSpPr>
      <p:sp>
        <p:nvSpPr>
          <p:cNvPr id="10243" name="Rectangle 2">
            <a:extLst>
              <a:ext uri="{FF2B5EF4-FFF2-40B4-BE49-F238E27FC236}">
                <a16:creationId xmlns:a16="http://schemas.microsoft.com/office/drawing/2014/main" id="{9BE1A7B2-AA96-D25D-01FC-A911B14A18A4}"/>
              </a:ext>
            </a:extLst>
          </p:cNvPr>
          <p:cNvSpPr>
            <a:spLocks noGrp="1" noChangeArrowheads="1"/>
          </p:cNvSpPr>
          <p:nvPr>
            <p:ph type="title"/>
          </p:nvPr>
        </p:nvSpPr>
        <p:spPr>
          <a:xfrm>
            <a:off x="5868557" y="1138036"/>
            <a:ext cx="5444382" cy="1402470"/>
          </a:xfrm>
        </p:spPr>
        <p:txBody>
          <a:bodyPr anchor="t">
            <a:normAutofit/>
          </a:bodyPr>
          <a:lstStyle/>
          <a:p>
            <a:r>
              <a:rPr lang="en-US" altLang="en-US" sz="3200"/>
              <a:t>GRASP Patterns</a:t>
            </a:r>
          </a:p>
        </p:txBody>
      </p:sp>
      <p:pic>
        <p:nvPicPr>
          <p:cNvPr id="10246" name="Picture 10245" descr="Large skydiving group mid-air">
            <a:extLst>
              <a:ext uri="{FF2B5EF4-FFF2-40B4-BE49-F238E27FC236}">
                <a16:creationId xmlns:a16="http://schemas.microsoft.com/office/drawing/2014/main" id="{AAEF1EB7-8882-8F43-BCC3-D684DC4695E7}"/>
              </a:ext>
            </a:extLst>
          </p:cNvPr>
          <p:cNvPicPr>
            <a:picLocks noChangeAspect="1"/>
          </p:cNvPicPr>
          <p:nvPr/>
        </p:nvPicPr>
        <p:blipFill rotWithShape="1">
          <a:blip r:embed="rId3"/>
          <a:srcRect l="25609" r="24441"/>
          <a:stretch/>
        </p:blipFill>
        <p:spPr>
          <a:xfrm>
            <a:off x="-1" y="10"/>
            <a:ext cx="5151179" cy="6857990"/>
          </a:xfrm>
          <a:prstGeom prst="rect">
            <a:avLst/>
          </a:prstGeom>
        </p:spPr>
      </p:pic>
      <p:cxnSp>
        <p:nvCxnSpPr>
          <p:cNvPr id="10250" name="Straight Connector 10249">
            <a:extLst>
              <a:ext uri="{FF2B5EF4-FFF2-40B4-BE49-F238E27FC236}">
                <a16:creationId xmlns:a16="http://schemas.microsoft.com/office/drawing/2014/main" id="{DA161EE0-FEA8-1001-1574-CB692DFB4D7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44" name="Rectangle 3">
            <a:extLst>
              <a:ext uri="{FF2B5EF4-FFF2-40B4-BE49-F238E27FC236}">
                <a16:creationId xmlns:a16="http://schemas.microsoft.com/office/drawing/2014/main" id="{28EE9ABD-6387-E751-DA78-567F1A0379D4}"/>
              </a:ext>
            </a:extLst>
          </p:cNvPr>
          <p:cNvSpPr>
            <a:spLocks noGrp="1" noChangeArrowheads="1"/>
          </p:cNvSpPr>
          <p:nvPr>
            <p:ph type="body" idx="1"/>
          </p:nvPr>
        </p:nvSpPr>
        <p:spPr>
          <a:xfrm>
            <a:off x="5591332" y="1813810"/>
            <a:ext cx="6438986" cy="4907665"/>
          </a:xfrm>
        </p:spPr>
        <p:txBody>
          <a:bodyPr>
            <a:normAutofit lnSpcReduction="10000"/>
          </a:bodyPr>
          <a:lstStyle/>
          <a:p>
            <a:pPr marL="342900" indent="-342900"/>
            <a:r>
              <a:rPr lang="en-US" altLang="en-US" sz="3300" dirty="0"/>
              <a:t>Expert</a:t>
            </a:r>
          </a:p>
          <a:p>
            <a:pPr marL="342900" indent="-342900"/>
            <a:r>
              <a:rPr lang="en-US" altLang="en-US" sz="3300" dirty="0"/>
              <a:t>Creator</a:t>
            </a:r>
          </a:p>
          <a:p>
            <a:pPr marL="342900" indent="-342900"/>
            <a:r>
              <a:rPr lang="en-US" altLang="en-US" sz="3300" dirty="0"/>
              <a:t>Low Coupling/High Cohesion</a:t>
            </a:r>
          </a:p>
          <a:p>
            <a:pPr marL="342900" indent="-342900"/>
            <a:r>
              <a:rPr lang="en-US" altLang="en-US" sz="3300" dirty="0"/>
              <a:t>Controller</a:t>
            </a:r>
          </a:p>
          <a:p>
            <a:pPr marL="342900" indent="-342900"/>
            <a:r>
              <a:rPr lang="en-US" altLang="en-US" sz="3300" dirty="0"/>
              <a:t>Polymorphism</a:t>
            </a:r>
          </a:p>
          <a:p>
            <a:pPr marL="342900" indent="-342900"/>
            <a:r>
              <a:rPr lang="en-US" altLang="en-US" sz="3300" dirty="0"/>
              <a:t>Pure Fabrication</a:t>
            </a:r>
          </a:p>
          <a:p>
            <a:pPr marL="342900" indent="-342900"/>
            <a:r>
              <a:rPr lang="en-US" altLang="en-US" sz="3300" dirty="0"/>
              <a:t>Indirection</a:t>
            </a:r>
          </a:p>
          <a:p>
            <a:pPr marL="342900" indent="-342900"/>
            <a:r>
              <a:rPr lang="en-US" altLang="en-US" sz="3300" dirty="0"/>
              <a:t>Don’t Talk to Strangers (Law of Demeter)</a:t>
            </a:r>
          </a:p>
          <a:p>
            <a:pPr marL="342900" indent="-342900"/>
            <a:endParaRPr lang="en-US" altLang="en-US" sz="2000" dirty="0"/>
          </a:p>
        </p:txBody>
      </p:sp>
      <p:sp>
        <p:nvSpPr>
          <p:cNvPr id="10242" name="Slide Number Placeholder 3">
            <a:extLst>
              <a:ext uri="{FF2B5EF4-FFF2-40B4-BE49-F238E27FC236}">
                <a16:creationId xmlns:a16="http://schemas.microsoft.com/office/drawing/2014/main" id="{7A79BE94-7F98-4786-2D27-72DF08FD2B62}"/>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CAB30DE9-DFFF-4589-94E0-06D494FAC6D0}" type="slidenum">
              <a:rPr lang="de-DE" altLang="en-US" sz="1900">
                <a:solidFill>
                  <a:schemeClr val="tx1">
                    <a:lumMod val="50000"/>
                    <a:lumOff val="50000"/>
                  </a:schemeClr>
                </a:solidFill>
              </a:rPr>
              <a:pPr>
                <a:lnSpc>
                  <a:spcPct val="90000"/>
                </a:lnSpc>
                <a:spcAft>
                  <a:spcPts val="600"/>
                </a:spcAft>
              </a:pPr>
              <a:t>23</a:t>
            </a:fld>
            <a:endParaRPr lang="de-DE" altLang="en-US" sz="1900">
              <a:solidFill>
                <a:schemeClr val="tx1">
                  <a:lumMod val="50000"/>
                  <a:lumOff val="50000"/>
                </a:schemeClr>
              </a:solidFill>
            </a:endParaRPr>
          </a:p>
        </p:txBody>
      </p:sp>
    </p:spTree>
    <p:extLst>
      <p:ext uri="{BB962C8B-B14F-4D97-AF65-F5344CB8AC3E}">
        <p14:creationId xmlns:p14="http://schemas.microsoft.com/office/powerpoint/2010/main" val="1429562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275" name="Rectangle 1127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277" name="Rectangle 1127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6" name="Title 1">
            <a:extLst>
              <a:ext uri="{FF2B5EF4-FFF2-40B4-BE49-F238E27FC236}">
                <a16:creationId xmlns:a16="http://schemas.microsoft.com/office/drawing/2014/main" id="{34CE99F5-DCCF-658E-2E76-6640434CE836}"/>
              </a:ext>
            </a:extLst>
          </p:cNvPr>
          <p:cNvSpPr>
            <a:spLocks noGrp="1"/>
          </p:cNvSpPr>
          <p:nvPr>
            <p:ph type="title"/>
          </p:nvPr>
        </p:nvSpPr>
        <p:spPr>
          <a:xfrm>
            <a:off x="1115568" y="548640"/>
            <a:ext cx="10168128" cy="1179576"/>
          </a:xfrm>
        </p:spPr>
        <p:txBody>
          <a:bodyPr>
            <a:normAutofit/>
          </a:bodyPr>
          <a:lstStyle/>
          <a:p>
            <a:r>
              <a:rPr lang="en-US" altLang="en-US" sz="4000" dirty="0"/>
              <a:t>Grasp Patterns Summary</a:t>
            </a:r>
          </a:p>
        </p:txBody>
      </p:sp>
      <p:sp>
        <p:nvSpPr>
          <p:cNvPr id="11279" name="Rectangle 1127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268" name="Slide Number Placeholder 3">
            <a:extLst>
              <a:ext uri="{FF2B5EF4-FFF2-40B4-BE49-F238E27FC236}">
                <a16:creationId xmlns:a16="http://schemas.microsoft.com/office/drawing/2014/main" id="{FDD81628-C696-1862-709C-198343093498}"/>
              </a:ext>
            </a:extLst>
          </p:cNvPr>
          <p:cNvSpPr>
            <a:spLocks noGrp="1"/>
          </p:cNvSpPr>
          <p:nvPr>
            <p:ph type="sldNum" sz="quarter" idx="10"/>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993D3883-ADE9-408C-8722-B3FA2DD00400}" type="slidenum">
              <a:rPr lang="de-DE" altLang="en-US" sz="1900">
                <a:solidFill>
                  <a:schemeClr val="tx1">
                    <a:lumMod val="50000"/>
                    <a:lumOff val="50000"/>
                  </a:schemeClr>
                </a:solidFill>
              </a:rPr>
              <a:pPr>
                <a:lnSpc>
                  <a:spcPct val="90000"/>
                </a:lnSpc>
                <a:spcAft>
                  <a:spcPts val="600"/>
                </a:spcAft>
              </a:pPr>
              <a:t>24</a:t>
            </a:fld>
            <a:endParaRPr lang="de-DE" altLang="en-US" sz="1900">
              <a:solidFill>
                <a:schemeClr val="tx1">
                  <a:lumMod val="50000"/>
                  <a:lumOff val="50000"/>
                </a:schemeClr>
              </a:solidFill>
            </a:endParaRPr>
          </a:p>
        </p:txBody>
      </p:sp>
      <p:graphicFrame>
        <p:nvGraphicFramePr>
          <p:cNvPr id="4" name="Content Placeholder 3">
            <a:extLst>
              <a:ext uri="{FF2B5EF4-FFF2-40B4-BE49-F238E27FC236}">
                <a16:creationId xmlns:a16="http://schemas.microsoft.com/office/drawing/2014/main" id="{899EE5FB-135B-9D22-3AF3-259959BD4BE5}"/>
              </a:ext>
            </a:extLst>
          </p:cNvPr>
          <p:cNvGraphicFramePr>
            <a:graphicFrameLocks noGrp="1"/>
          </p:cNvGraphicFramePr>
          <p:nvPr>
            <p:ph idx="1"/>
            <p:extLst>
              <p:ext uri="{D42A27DB-BD31-4B8C-83A1-F6EECF244321}">
                <p14:modId xmlns:p14="http://schemas.microsoft.com/office/powerpoint/2010/main" val="2953308137"/>
              </p:ext>
            </p:extLst>
          </p:nvPr>
        </p:nvGraphicFramePr>
        <p:xfrm>
          <a:off x="466344" y="1619783"/>
          <a:ext cx="10729830" cy="5238217"/>
        </p:xfrm>
        <a:graphic>
          <a:graphicData uri="http://schemas.openxmlformats.org/drawingml/2006/table">
            <a:tbl>
              <a:tblPr/>
              <a:tblGrid>
                <a:gridCol w="2194561">
                  <a:extLst>
                    <a:ext uri="{9D8B030D-6E8A-4147-A177-3AD203B41FA5}">
                      <a16:colId xmlns:a16="http://schemas.microsoft.com/office/drawing/2014/main" val="30408811"/>
                    </a:ext>
                  </a:extLst>
                </a:gridCol>
                <a:gridCol w="3657600">
                  <a:extLst>
                    <a:ext uri="{9D8B030D-6E8A-4147-A177-3AD203B41FA5}">
                      <a16:colId xmlns:a16="http://schemas.microsoft.com/office/drawing/2014/main" val="2543357398"/>
                    </a:ext>
                  </a:extLst>
                </a:gridCol>
                <a:gridCol w="4877669">
                  <a:extLst>
                    <a:ext uri="{9D8B030D-6E8A-4147-A177-3AD203B41FA5}">
                      <a16:colId xmlns:a16="http://schemas.microsoft.com/office/drawing/2014/main" val="4143394177"/>
                    </a:ext>
                  </a:extLst>
                </a:gridCol>
              </a:tblGrid>
              <a:tr h="311730">
                <a:tc>
                  <a:txBody>
                    <a:bodyPr/>
                    <a:lstStyle/>
                    <a:p>
                      <a:pPr>
                        <a:buNone/>
                      </a:pPr>
                      <a:r>
                        <a:rPr lang="en-US" sz="1600" b="1"/>
                        <a:t>Pattern</a:t>
                      </a:r>
                      <a:endParaRPr lang="en-US" sz="1600"/>
                    </a:p>
                  </a:txBody>
                  <a:tcPr marL="39921" marR="39921" marT="19960" marB="19960" anchor="ctr">
                    <a:lnL>
                      <a:noFill/>
                    </a:lnL>
                    <a:lnR>
                      <a:noFill/>
                    </a:lnR>
                    <a:lnT>
                      <a:noFill/>
                    </a:lnT>
                    <a:lnB>
                      <a:noFill/>
                    </a:lnB>
                    <a:noFill/>
                  </a:tcPr>
                </a:tc>
                <a:tc>
                  <a:txBody>
                    <a:bodyPr/>
                    <a:lstStyle/>
                    <a:p>
                      <a:pPr>
                        <a:buNone/>
                      </a:pPr>
                      <a:r>
                        <a:rPr lang="en-US" sz="1600" b="1"/>
                        <a:t>Problem It Solves</a:t>
                      </a:r>
                      <a:endParaRPr lang="en-US" sz="1600"/>
                    </a:p>
                  </a:txBody>
                  <a:tcPr marL="39921" marR="39921" marT="19960" marB="19960" anchor="ctr">
                    <a:lnL>
                      <a:noFill/>
                    </a:lnL>
                    <a:lnR>
                      <a:noFill/>
                    </a:lnR>
                    <a:lnT>
                      <a:noFill/>
                    </a:lnT>
                    <a:lnB>
                      <a:noFill/>
                    </a:lnB>
                    <a:noFill/>
                  </a:tcPr>
                </a:tc>
                <a:tc>
                  <a:txBody>
                    <a:bodyPr/>
                    <a:lstStyle/>
                    <a:p>
                      <a:pPr>
                        <a:buNone/>
                      </a:pPr>
                      <a:r>
                        <a:rPr lang="en-US" sz="1600" b="1"/>
                        <a:t>Solution (Responsibility Assignment)</a:t>
                      </a:r>
                      <a:endParaRPr lang="en-US" sz="1600"/>
                    </a:p>
                  </a:txBody>
                  <a:tcPr marL="39921" marR="39921" marT="19960" marB="19960" anchor="ctr">
                    <a:lnL>
                      <a:noFill/>
                    </a:lnL>
                    <a:lnR>
                      <a:noFill/>
                    </a:lnR>
                    <a:lnT>
                      <a:noFill/>
                    </a:lnT>
                    <a:lnB>
                      <a:noFill/>
                    </a:lnB>
                    <a:noFill/>
                  </a:tcPr>
                </a:tc>
                <a:extLst>
                  <a:ext uri="{0D108BD9-81ED-4DB2-BD59-A6C34878D82A}">
                    <a16:rowId xmlns:a16="http://schemas.microsoft.com/office/drawing/2014/main" val="2103047628"/>
                  </a:ext>
                </a:extLst>
              </a:tr>
              <a:tr h="445667">
                <a:tc>
                  <a:txBody>
                    <a:bodyPr/>
                    <a:lstStyle/>
                    <a:p>
                      <a:pPr>
                        <a:buNone/>
                      </a:pPr>
                      <a:r>
                        <a:rPr lang="en-US" sz="1600" b="1"/>
                        <a:t>Information Expert</a:t>
                      </a:r>
                      <a:endParaRPr lang="en-US" sz="1600"/>
                    </a:p>
                  </a:txBody>
                  <a:tcPr marL="39921" marR="39921" marT="19960" marB="19960" anchor="ctr">
                    <a:lnL>
                      <a:noFill/>
                    </a:lnL>
                    <a:lnR>
                      <a:noFill/>
                    </a:lnR>
                    <a:lnT>
                      <a:noFill/>
                    </a:lnT>
                    <a:lnB>
                      <a:noFill/>
                    </a:lnB>
                    <a:noFill/>
                  </a:tcPr>
                </a:tc>
                <a:tc>
                  <a:txBody>
                    <a:bodyPr/>
                    <a:lstStyle/>
                    <a:p>
                      <a:pPr>
                        <a:buNone/>
                      </a:pPr>
                      <a:r>
                        <a:rPr lang="en-US" sz="1600"/>
                        <a:t>Who should be responsible for a behavior?</a:t>
                      </a:r>
                    </a:p>
                  </a:txBody>
                  <a:tcPr marL="39921" marR="39921" marT="19960" marB="19960" anchor="ctr">
                    <a:lnL>
                      <a:noFill/>
                    </a:lnL>
                    <a:lnR>
                      <a:noFill/>
                    </a:lnR>
                    <a:lnT>
                      <a:noFill/>
                    </a:lnT>
                    <a:lnB>
                      <a:noFill/>
                    </a:lnB>
                    <a:noFill/>
                  </a:tcPr>
                </a:tc>
                <a:tc>
                  <a:txBody>
                    <a:bodyPr/>
                    <a:lstStyle/>
                    <a:p>
                      <a:pPr>
                        <a:buNone/>
                      </a:pPr>
                      <a:r>
                        <a:rPr lang="en-US" sz="1600"/>
                        <a:t>Assign to the class that has the necessary information.</a:t>
                      </a:r>
                    </a:p>
                  </a:txBody>
                  <a:tcPr marL="39921" marR="39921" marT="19960" marB="19960" anchor="ctr">
                    <a:lnL>
                      <a:noFill/>
                    </a:lnL>
                    <a:lnR>
                      <a:noFill/>
                    </a:lnR>
                    <a:lnT>
                      <a:noFill/>
                    </a:lnT>
                    <a:lnB>
                      <a:noFill/>
                    </a:lnB>
                    <a:noFill/>
                  </a:tcPr>
                </a:tc>
                <a:extLst>
                  <a:ext uri="{0D108BD9-81ED-4DB2-BD59-A6C34878D82A}">
                    <a16:rowId xmlns:a16="http://schemas.microsoft.com/office/drawing/2014/main" val="3748683408"/>
                  </a:ext>
                </a:extLst>
              </a:tr>
              <a:tr h="579604">
                <a:tc>
                  <a:txBody>
                    <a:bodyPr/>
                    <a:lstStyle/>
                    <a:p>
                      <a:pPr>
                        <a:buNone/>
                      </a:pPr>
                      <a:r>
                        <a:rPr lang="en-US" sz="1600" b="1"/>
                        <a:t>Creator</a:t>
                      </a:r>
                      <a:endParaRPr lang="en-US" sz="1600"/>
                    </a:p>
                  </a:txBody>
                  <a:tcPr marL="39921" marR="39921" marT="19960" marB="19960" anchor="ctr">
                    <a:lnL>
                      <a:noFill/>
                    </a:lnL>
                    <a:lnR>
                      <a:noFill/>
                    </a:lnR>
                    <a:lnT>
                      <a:noFill/>
                    </a:lnT>
                    <a:lnB>
                      <a:noFill/>
                    </a:lnB>
                    <a:noFill/>
                  </a:tcPr>
                </a:tc>
                <a:tc>
                  <a:txBody>
                    <a:bodyPr/>
                    <a:lstStyle/>
                    <a:p>
                      <a:pPr>
                        <a:buNone/>
                      </a:pPr>
                      <a:r>
                        <a:rPr lang="en-US" sz="1600"/>
                        <a:t>Who should create a new object?</a:t>
                      </a:r>
                    </a:p>
                  </a:txBody>
                  <a:tcPr marL="39921" marR="39921" marT="19960" marB="19960" anchor="ctr">
                    <a:lnL>
                      <a:noFill/>
                    </a:lnL>
                    <a:lnR>
                      <a:noFill/>
                    </a:lnR>
                    <a:lnT>
                      <a:noFill/>
                    </a:lnT>
                    <a:lnB>
                      <a:noFill/>
                    </a:lnB>
                    <a:noFill/>
                  </a:tcPr>
                </a:tc>
                <a:tc>
                  <a:txBody>
                    <a:bodyPr/>
                    <a:lstStyle/>
                    <a:p>
                      <a:pPr>
                        <a:buNone/>
                      </a:pPr>
                      <a:r>
                        <a:rPr lang="en-US" sz="1600"/>
                        <a:t>Assign creation to a class that aggregates, closely uses, records, or has init. data.</a:t>
                      </a:r>
                    </a:p>
                  </a:txBody>
                  <a:tcPr marL="39921" marR="39921" marT="19960" marB="19960" anchor="ctr">
                    <a:lnL>
                      <a:noFill/>
                    </a:lnL>
                    <a:lnR>
                      <a:noFill/>
                    </a:lnR>
                    <a:lnT>
                      <a:noFill/>
                    </a:lnT>
                    <a:lnB>
                      <a:noFill/>
                    </a:lnB>
                    <a:noFill/>
                  </a:tcPr>
                </a:tc>
                <a:extLst>
                  <a:ext uri="{0D108BD9-81ED-4DB2-BD59-A6C34878D82A}">
                    <a16:rowId xmlns:a16="http://schemas.microsoft.com/office/drawing/2014/main" val="2024329949"/>
                  </a:ext>
                </a:extLst>
              </a:tr>
              <a:tr h="445667">
                <a:tc>
                  <a:txBody>
                    <a:bodyPr/>
                    <a:lstStyle/>
                    <a:p>
                      <a:pPr>
                        <a:buNone/>
                      </a:pPr>
                      <a:r>
                        <a:rPr lang="en-US" sz="1600" b="1" dirty="0"/>
                        <a:t>Controller</a:t>
                      </a:r>
                      <a:endParaRPr lang="en-US" sz="1600" dirty="0"/>
                    </a:p>
                  </a:txBody>
                  <a:tcPr marL="39921" marR="39921" marT="19960" marB="19960" anchor="ctr">
                    <a:lnL>
                      <a:noFill/>
                    </a:lnL>
                    <a:lnR>
                      <a:noFill/>
                    </a:lnR>
                    <a:lnT>
                      <a:noFill/>
                    </a:lnT>
                    <a:lnB>
                      <a:noFill/>
                    </a:lnB>
                    <a:noFill/>
                  </a:tcPr>
                </a:tc>
                <a:tc>
                  <a:txBody>
                    <a:bodyPr/>
                    <a:lstStyle/>
                    <a:p>
                      <a:pPr>
                        <a:buNone/>
                      </a:pPr>
                      <a:r>
                        <a:rPr lang="en-US" sz="1600" dirty="0"/>
                        <a:t>Who handles a system event (use case input)?</a:t>
                      </a:r>
                    </a:p>
                  </a:txBody>
                  <a:tcPr marL="39921" marR="39921" marT="19960" marB="19960" anchor="ctr">
                    <a:lnL>
                      <a:noFill/>
                    </a:lnL>
                    <a:lnR>
                      <a:noFill/>
                    </a:lnR>
                    <a:lnT>
                      <a:noFill/>
                    </a:lnT>
                    <a:lnB>
                      <a:noFill/>
                    </a:lnB>
                    <a:noFill/>
                  </a:tcPr>
                </a:tc>
                <a:tc>
                  <a:txBody>
                    <a:bodyPr/>
                    <a:lstStyle/>
                    <a:p>
                      <a:pPr>
                        <a:buNone/>
                      </a:pPr>
                      <a:r>
                        <a:rPr lang="en-US" sz="1600"/>
                        <a:t>Assign to a controller class representing the system or a use case.</a:t>
                      </a:r>
                    </a:p>
                  </a:txBody>
                  <a:tcPr marL="39921" marR="39921" marT="19960" marB="19960" anchor="ctr">
                    <a:lnL>
                      <a:noFill/>
                    </a:lnL>
                    <a:lnR>
                      <a:noFill/>
                    </a:lnR>
                    <a:lnT>
                      <a:noFill/>
                    </a:lnT>
                    <a:lnB>
                      <a:noFill/>
                    </a:lnB>
                    <a:noFill/>
                  </a:tcPr>
                </a:tc>
                <a:extLst>
                  <a:ext uri="{0D108BD9-81ED-4DB2-BD59-A6C34878D82A}">
                    <a16:rowId xmlns:a16="http://schemas.microsoft.com/office/drawing/2014/main" val="3337434726"/>
                  </a:ext>
                </a:extLst>
              </a:tr>
              <a:tr h="579604">
                <a:tc>
                  <a:txBody>
                    <a:bodyPr/>
                    <a:lstStyle/>
                    <a:p>
                      <a:pPr>
                        <a:buNone/>
                      </a:pPr>
                      <a:r>
                        <a:rPr lang="en-US" sz="1600" b="1"/>
                        <a:t>Low Coupling</a:t>
                      </a:r>
                      <a:endParaRPr lang="en-US" sz="1600"/>
                    </a:p>
                  </a:txBody>
                  <a:tcPr marL="39921" marR="39921" marT="19960" marB="19960" anchor="ctr">
                    <a:lnL>
                      <a:noFill/>
                    </a:lnL>
                    <a:lnR>
                      <a:noFill/>
                    </a:lnR>
                    <a:lnT>
                      <a:noFill/>
                    </a:lnT>
                    <a:lnB>
                      <a:noFill/>
                    </a:lnB>
                    <a:noFill/>
                  </a:tcPr>
                </a:tc>
                <a:tc>
                  <a:txBody>
                    <a:bodyPr/>
                    <a:lstStyle/>
                    <a:p>
                      <a:pPr>
                        <a:buNone/>
                      </a:pPr>
                      <a:r>
                        <a:rPr lang="en-US" sz="1600"/>
                        <a:t>How to reduce dependency between classes?</a:t>
                      </a:r>
                    </a:p>
                  </a:txBody>
                  <a:tcPr marL="39921" marR="39921" marT="19960" marB="19960" anchor="ctr">
                    <a:lnL>
                      <a:noFill/>
                    </a:lnL>
                    <a:lnR>
                      <a:noFill/>
                    </a:lnR>
                    <a:lnT>
                      <a:noFill/>
                    </a:lnT>
                    <a:lnB>
                      <a:noFill/>
                    </a:lnB>
                    <a:noFill/>
                  </a:tcPr>
                </a:tc>
                <a:tc>
                  <a:txBody>
                    <a:bodyPr/>
                    <a:lstStyle/>
                    <a:p>
                      <a:pPr>
                        <a:buNone/>
                      </a:pPr>
                      <a:r>
                        <a:rPr lang="en-US" sz="1600" dirty="0"/>
                        <a:t>Assign responsibilities to keep dependencies minimal.</a:t>
                      </a:r>
                    </a:p>
                  </a:txBody>
                  <a:tcPr marL="39921" marR="39921" marT="19960" marB="19960" anchor="ctr">
                    <a:lnL>
                      <a:noFill/>
                    </a:lnL>
                    <a:lnR>
                      <a:noFill/>
                    </a:lnR>
                    <a:lnT>
                      <a:noFill/>
                    </a:lnT>
                    <a:lnB>
                      <a:noFill/>
                    </a:lnB>
                    <a:noFill/>
                  </a:tcPr>
                </a:tc>
                <a:extLst>
                  <a:ext uri="{0D108BD9-81ED-4DB2-BD59-A6C34878D82A}">
                    <a16:rowId xmlns:a16="http://schemas.microsoft.com/office/drawing/2014/main" val="2847709642"/>
                  </a:ext>
                </a:extLst>
              </a:tr>
              <a:tr h="579604">
                <a:tc>
                  <a:txBody>
                    <a:bodyPr/>
                    <a:lstStyle/>
                    <a:p>
                      <a:pPr>
                        <a:buNone/>
                      </a:pPr>
                      <a:r>
                        <a:rPr lang="en-US" sz="1600" b="1"/>
                        <a:t>High Cohesion</a:t>
                      </a:r>
                      <a:endParaRPr lang="en-US" sz="1600"/>
                    </a:p>
                  </a:txBody>
                  <a:tcPr marL="39921" marR="39921" marT="19960" marB="19960" anchor="ctr">
                    <a:lnL>
                      <a:noFill/>
                    </a:lnL>
                    <a:lnR>
                      <a:noFill/>
                    </a:lnR>
                    <a:lnT>
                      <a:noFill/>
                    </a:lnT>
                    <a:lnB>
                      <a:noFill/>
                    </a:lnB>
                    <a:noFill/>
                  </a:tcPr>
                </a:tc>
                <a:tc>
                  <a:txBody>
                    <a:bodyPr/>
                    <a:lstStyle/>
                    <a:p>
                      <a:pPr>
                        <a:buNone/>
                      </a:pPr>
                      <a:r>
                        <a:rPr lang="en-US" sz="1600"/>
                        <a:t>How to keep classes focused and manageable?</a:t>
                      </a:r>
                    </a:p>
                  </a:txBody>
                  <a:tcPr marL="39921" marR="39921" marT="19960" marB="19960" anchor="ctr">
                    <a:lnL>
                      <a:noFill/>
                    </a:lnL>
                    <a:lnR>
                      <a:noFill/>
                    </a:lnR>
                    <a:lnT>
                      <a:noFill/>
                    </a:lnT>
                    <a:lnB>
                      <a:noFill/>
                    </a:lnB>
                    <a:noFill/>
                  </a:tcPr>
                </a:tc>
                <a:tc>
                  <a:txBody>
                    <a:bodyPr/>
                    <a:lstStyle/>
                    <a:p>
                      <a:pPr>
                        <a:buNone/>
                      </a:pPr>
                      <a:r>
                        <a:rPr lang="en-US" sz="1600"/>
                        <a:t>Assign related responsibilities together; avoid unrelated ones in the same class.</a:t>
                      </a:r>
                    </a:p>
                  </a:txBody>
                  <a:tcPr marL="39921" marR="39921" marT="19960" marB="19960" anchor="ctr">
                    <a:lnL>
                      <a:noFill/>
                    </a:lnL>
                    <a:lnR>
                      <a:noFill/>
                    </a:lnR>
                    <a:lnT>
                      <a:noFill/>
                    </a:lnT>
                    <a:lnB>
                      <a:noFill/>
                    </a:lnB>
                    <a:noFill/>
                  </a:tcPr>
                </a:tc>
                <a:extLst>
                  <a:ext uri="{0D108BD9-81ED-4DB2-BD59-A6C34878D82A}">
                    <a16:rowId xmlns:a16="http://schemas.microsoft.com/office/drawing/2014/main" val="104854710"/>
                  </a:ext>
                </a:extLst>
              </a:tr>
              <a:tr h="579604">
                <a:tc>
                  <a:txBody>
                    <a:bodyPr/>
                    <a:lstStyle/>
                    <a:p>
                      <a:pPr>
                        <a:buNone/>
                      </a:pPr>
                      <a:r>
                        <a:rPr lang="en-US" sz="1600" b="1"/>
                        <a:t>Polymorphism</a:t>
                      </a:r>
                      <a:endParaRPr lang="en-US" sz="1600"/>
                    </a:p>
                  </a:txBody>
                  <a:tcPr marL="39921" marR="39921" marT="19960" marB="19960" anchor="ctr">
                    <a:lnL>
                      <a:noFill/>
                    </a:lnL>
                    <a:lnR>
                      <a:noFill/>
                    </a:lnR>
                    <a:lnT>
                      <a:noFill/>
                    </a:lnT>
                    <a:lnB>
                      <a:noFill/>
                    </a:lnB>
                    <a:noFill/>
                  </a:tcPr>
                </a:tc>
                <a:tc>
                  <a:txBody>
                    <a:bodyPr/>
                    <a:lstStyle/>
                    <a:p>
                      <a:pPr>
                        <a:buNone/>
                      </a:pPr>
                      <a:r>
                        <a:rPr lang="en-US" sz="1600"/>
                        <a:t>How to handle behavior that varies by type?</a:t>
                      </a:r>
                    </a:p>
                  </a:txBody>
                  <a:tcPr marL="39921" marR="39921" marT="19960" marB="19960" anchor="ctr">
                    <a:lnL>
                      <a:noFill/>
                    </a:lnL>
                    <a:lnR>
                      <a:noFill/>
                    </a:lnR>
                    <a:lnT>
                      <a:noFill/>
                    </a:lnT>
                    <a:lnB>
                      <a:noFill/>
                    </a:lnB>
                    <a:noFill/>
                  </a:tcPr>
                </a:tc>
                <a:tc>
                  <a:txBody>
                    <a:bodyPr/>
                    <a:lstStyle/>
                    <a:p>
                      <a:pPr>
                        <a:buNone/>
                      </a:pPr>
                      <a:r>
                        <a:rPr lang="en-US" sz="1600"/>
                        <a:t>Assign responsibility for variant behavior to the type that varies, using polymorphism.</a:t>
                      </a:r>
                    </a:p>
                  </a:txBody>
                  <a:tcPr marL="39921" marR="39921" marT="19960" marB="19960" anchor="ctr">
                    <a:lnL>
                      <a:noFill/>
                    </a:lnL>
                    <a:lnR>
                      <a:noFill/>
                    </a:lnR>
                    <a:lnT>
                      <a:noFill/>
                    </a:lnT>
                    <a:lnB>
                      <a:noFill/>
                    </a:lnB>
                    <a:noFill/>
                  </a:tcPr>
                </a:tc>
                <a:extLst>
                  <a:ext uri="{0D108BD9-81ED-4DB2-BD59-A6C34878D82A}">
                    <a16:rowId xmlns:a16="http://schemas.microsoft.com/office/drawing/2014/main" val="3999962945"/>
                  </a:ext>
                </a:extLst>
              </a:tr>
              <a:tr h="445667">
                <a:tc>
                  <a:txBody>
                    <a:bodyPr/>
                    <a:lstStyle/>
                    <a:p>
                      <a:pPr>
                        <a:buNone/>
                      </a:pPr>
                      <a:r>
                        <a:rPr lang="en-US" sz="1600" b="1"/>
                        <a:t>Pure Fabrication</a:t>
                      </a:r>
                      <a:endParaRPr lang="en-US" sz="1600"/>
                    </a:p>
                  </a:txBody>
                  <a:tcPr marL="39921" marR="39921" marT="19960" marB="19960" anchor="ctr">
                    <a:lnL>
                      <a:noFill/>
                    </a:lnL>
                    <a:lnR>
                      <a:noFill/>
                    </a:lnR>
                    <a:lnT>
                      <a:noFill/>
                    </a:lnT>
                    <a:lnB>
                      <a:noFill/>
                    </a:lnB>
                    <a:noFill/>
                  </a:tcPr>
                </a:tc>
                <a:tc>
                  <a:txBody>
                    <a:bodyPr/>
                    <a:lstStyle/>
                    <a:p>
                      <a:pPr>
                        <a:buNone/>
                      </a:pPr>
                      <a:r>
                        <a:rPr lang="en-US" sz="1600"/>
                        <a:t>What if assigning to a real class hurts cohesion/coupling?</a:t>
                      </a:r>
                    </a:p>
                  </a:txBody>
                  <a:tcPr marL="39921" marR="39921" marT="19960" marB="19960" anchor="ctr">
                    <a:lnL>
                      <a:noFill/>
                    </a:lnL>
                    <a:lnR>
                      <a:noFill/>
                    </a:lnR>
                    <a:lnT>
                      <a:noFill/>
                    </a:lnT>
                    <a:lnB>
                      <a:noFill/>
                    </a:lnB>
                    <a:noFill/>
                  </a:tcPr>
                </a:tc>
                <a:tc>
                  <a:txBody>
                    <a:bodyPr/>
                    <a:lstStyle/>
                    <a:p>
                      <a:pPr>
                        <a:buNone/>
                      </a:pPr>
                      <a:r>
                        <a:rPr lang="en-US" sz="1600" dirty="0"/>
                        <a:t>Create a made-up class to take the responsibility.</a:t>
                      </a:r>
                    </a:p>
                  </a:txBody>
                  <a:tcPr marL="39921" marR="39921" marT="19960" marB="19960" anchor="ctr">
                    <a:lnL>
                      <a:noFill/>
                    </a:lnL>
                    <a:lnR>
                      <a:noFill/>
                    </a:lnR>
                    <a:lnT>
                      <a:noFill/>
                    </a:lnT>
                    <a:lnB>
                      <a:noFill/>
                    </a:lnB>
                    <a:noFill/>
                  </a:tcPr>
                </a:tc>
                <a:extLst>
                  <a:ext uri="{0D108BD9-81ED-4DB2-BD59-A6C34878D82A}">
                    <a16:rowId xmlns:a16="http://schemas.microsoft.com/office/drawing/2014/main" val="1546108656"/>
                  </a:ext>
                </a:extLst>
              </a:tr>
              <a:tr h="445667">
                <a:tc>
                  <a:txBody>
                    <a:bodyPr/>
                    <a:lstStyle/>
                    <a:p>
                      <a:pPr>
                        <a:buNone/>
                      </a:pPr>
                      <a:r>
                        <a:rPr lang="en-US" sz="1600" b="1"/>
                        <a:t>Indirection</a:t>
                      </a:r>
                      <a:endParaRPr lang="en-US" sz="1600"/>
                    </a:p>
                  </a:txBody>
                  <a:tcPr marL="39921" marR="39921" marT="19960" marB="19960" anchor="ctr">
                    <a:lnL>
                      <a:noFill/>
                    </a:lnL>
                    <a:lnR>
                      <a:noFill/>
                    </a:lnR>
                    <a:lnT>
                      <a:noFill/>
                    </a:lnT>
                    <a:lnB>
                      <a:noFill/>
                    </a:lnB>
                    <a:noFill/>
                  </a:tcPr>
                </a:tc>
                <a:tc>
                  <a:txBody>
                    <a:bodyPr/>
                    <a:lstStyle/>
                    <a:p>
                      <a:pPr>
                        <a:buNone/>
                      </a:pPr>
                      <a:r>
                        <a:rPr lang="en-US" sz="1600"/>
                        <a:t>How to avoid direct coupling between two elements?</a:t>
                      </a:r>
                    </a:p>
                  </a:txBody>
                  <a:tcPr marL="39921" marR="39921" marT="19960" marB="19960" anchor="ctr">
                    <a:lnL>
                      <a:noFill/>
                    </a:lnL>
                    <a:lnR>
                      <a:noFill/>
                    </a:lnR>
                    <a:lnT>
                      <a:noFill/>
                    </a:lnT>
                    <a:lnB>
                      <a:noFill/>
                    </a:lnB>
                    <a:noFill/>
                  </a:tcPr>
                </a:tc>
                <a:tc>
                  <a:txBody>
                    <a:bodyPr/>
                    <a:lstStyle/>
                    <a:p>
                      <a:pPr>
                        <a:buNone/>
                      </a:pPr>
                      <a:r>
                        <a:rPr lang="en-US" sz="1600"/>
                        <a:t>Assign responsibility to a mediator class that decouples them.</a:t>
                      </a:r>
                    </a:p>
                  </a:txBody>
                  <a:tcPr marL="39921" marR="39921" marT="19960" marB="19960" anchor="ctr">
                    <a:lnL>
                      <a:noFill/>
                    </a:lnL>
                    <a:lnR>
                      <a:noFill/>
                    </a:lnR>
                    <a:lnT>
                      <a:noFill/>
                    </a:lnT>
                    <a:lnB>
                      <a:noFill/>
                    </a:lnB>
                    <a:noFill/>
                  </a:tcPr>
                </a:tc>
                <a:extLst>
                  <a:ext uri="{0D108BD9-81ED-4DB2-BD59-A6C34878D82A}">
                    <a16:rowId xmlns:a16="http://schemas.microsoft.com/office/drawing/2014/main" val="3459744011"/>
                  </a:ext>
                </a:extLst>
              </a:tr>
              <a:tr h="579604">
                <a:tc>
                  <a:txBody>
                    <a:bodyPr/>
                    <a:lstStyle/>
                    <a:p>
                      <a:pPr>
                        <a:buNone/>
                      </a:pPr>
                      <a:r>
                        <a:rPr lang="en-US" sz="1600" b="1" dirty="0"/>
                        <a:t>Law of Demeter</a:t>
                      </a:r>
                      <a:endParaRPr lang="en-US" sz="1600" dirty="0"/>
                    </a:p>
                  </a:txBody>
                  <a:tcPr marL="39921" marR="39921" marT="19960" marB="19960" anchor="ctr">
                    <a:lnL>
                      <a:noFill/>
                    </a:lnL>
                    <a:lnR>
                      <a:noFill/>
                    </a:lnR>
                    <a:lnT>
                      <a:noFill/>
                    </a:lnT>
                    <a:lnB>
                      <a:noFill/>
                    </a:lnB>
                    <a:noFill/>
                  </a:tcPr>
                </a:tc>
                <a:tc>
                  <a:txBody>
                    <a:bodyPr/>
                    <a:lstStyle/>
                    <a:p>
                      <a:pPr>
                        <a:buNone/>
                      </a:pPr>
                      <a:r>
                        <a:rPr lang="en-US" sz="1600" dirty="0"/>
                        <a:t>How to prevent “train-wreck” chains of calls and fragile coupling</a:t>
                      </a:r>
                    </a:p>
                  </a:txBody>
                  <a:tcPr marL="39921" marR="39921" marT="19960" marB="19960" anchor="ctr">
                    <a:lnL>
                      <a:noFill/>
                    </a:lnL>
                    <a:lnR>
                      <a:noFill/>
                    </a:lnR>
                    <a:lnT>
                      <a:noFill/>
                    </a:lnT>
                    <a:lnB>
                      <a:noFill/>
                    </a:lnB>
                    <a:noFill/>
                  </a:tcPr>
                </a:tc>
                <a:tc>
                  <a:txBody>
                    <a:bodyPr/>
                    <a:lstStyle/>
                    <a:p>
                      <a:pPr>
                        <a:buNone/>
                      </a:pPr>
                      <a:r>
                        <a:rPr lang="en-US" sz="1600" dirty="0"/>
                        <a:t>A method should only talk to its immediate collaborators (self, fields, parameters, new objects).</a:t>
                      </a:r>
                    </a:p>
                  </a:txBody>
                  <a:tcPr anchor="ctr">
                    <a:lnL>
                      <a:noFill/>
                    </a:lnL>
                    <a:lnR>
                      <a:noFill/>
                    </a:lnR>
                    <a:lnT>
                      <a:noFill/>
                    </a:lnT>
                    <a:lnB>
                      <a:noFill/>
                    </a:lnB>
                    <a:noFill/>
                  </a:tcPr>
                </a:tc>
                <a:extLst>
                  <a:ext uri="{0D108BD9-81ED-4DB2-BD59-A6C34878D82A}">
                    <a16:rowId xmlns:a16="http://schemas.microsoft.com/office/drawing/2014/main" val="185456922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68EFBE-DFC8-7153-3F8D-25FA70D20BAD}"/>
            </a:ext>
          </a:extLst>
        </p:cNvPr>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1BB73ED4-77FE-31AB-85ED-4856DACE25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275" name="Rectangle 11274">
            <a:extLst>
              <a:ext uri="{FF2B5EF4-FFF2-40B4-BE49-F238E27FC236}">
                <a16:creationId xmlns:a16="http://schemas.microsoft.com/office/drawing/2014/main" id="{5B57045A-B0B0-518F-5A2D-5AD9E3707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277" name="Rectangle 11276">
            <a:extLst>
              <a:ext uri="{FF2B5EF4-FFF2-40B4-BE49-F238E27FC236}">
                <a16:creationId xmlns:a16="http://schemas.microsoft.com/office/drawing/2014/main" id="{A1AAAAA0-7EE7-E555-74F6-F48274BA7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6" name="Title 1">
            <a:extLst>
              <a:ext uri="{FF2B5EF4-FFF2-40B4-BE49-F238E27FC236}">
                <a16:creationId xmlns:a16="http://schemas.microsoft.com/office/drawing/2014/main" id="{00AA9F30-CD4E-4BDE-7866-DA8B8D029ADC}"/>
              </a:ext>
            </a:extLst>
          </p:cNvPr>
          <p:cNvSpPr>
            <a:spLocks noGrp="1"/>
          </p:cNvSpPr>
          <p:nvPr>
            <p:ph type="title"/>
          </p:nvPr>
        </p:nvSpPr>
        <p:spPr>
          <a:xfrm>
            <a:off x="1115568" y="548640"/>
            <a:ext cx="10168128" cy="1179576"/>
          </a:xfrm>
        </p:spPr>
        <p:txBody>
          <a:bodyPr>
            <a:normAutofit/>
          </a:bodyPr>
          <a:lstStyle/>
          <a:p>
            <a:r>
              <a:rPr lang="en-US" altLang="en-US" sz="4000"/>
              <a:t>What is a Pattern?</a:t>
            </a:r>
          </a:p>
        </p:txBody>
      </p:sp>
      <p:sp>
        <p:nvSpPr>
          <p:cNvPr id="11279" name="Rectangle 11278">
            <a:extLst>
              <a:ext uri="{FF2B5EF4-FFF2-40B4-BE49-F238E27FC236}">
                <a16:creationId xmlns:a16="http://schemas.microsoft.com/office/drawing/2014/main" id="{FA427440-5501-BFB2-D4D5-76EC12CD9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267" name="Content Placeholder 2">
            <a:extLst>
              <a:ext uri="{FF2B5EF4-FFF2-40B4-BE49-F238E27FC236}">
                <a16:creationId xmlns:a16="http://schemas.microsoft.com/office/drawing/2014/main" id="{0C72D0B7-5255-7F89-BF71-4BE6825B78E5}"/>
              </a:ext>
            </a:extLst>
          </p:cNvPr>
          <p:cNvSpPr>
            <a:spLocks noGrp="1"/>
          </p:cNvSpPr>
          <p:nvPr>
            <p:ph idx="1"/>
          </p:nvPr>
        </p:nvSpPr>
        <p:spPr>
          <a:xfrm>
            <a:off x="1115568" y="2481943"/>
            <a:ext cx="10168128" cy="3695020"/>
          </a:xfrm>
        </p:spPr>
        <p:txBody>
          <a:bodyPr>
            <a:normAutofit/>
          </a:bodyPr>
          <a:lstStyle/>
          <a:p>
            <a:r>
              <a:rPr lang="en-US" altLang="en-US" sz="3200" dirty="0"/>
              <a:t>General principles and solutions to guide developers in the creation of software</a:t>
            </a:r>
          </a:p>
          <a:p>
            <a:r>
              <a:rPr lang="en-US" altLang="en-US" sz="3200" dirty="0"/>
              <a:t>The pattern is named and documented in a structured format describing the problem and solution</a:t>
            </a:r>
          </a:p>
          <a:p>
            <a:r>
              <a:rPr lang="en-US" altLang="en-US" sz="3200" dirty="0"/>
              <a:t>The pattern can be applied to a new context</a:t>
            </a:r>
          </a:p>
          <a:p>
            <a:r>
              <a:rPr lang="en-US" altLang="en-US" sz="3200" dirty="0"/>
              <a:t>Contains advice on how to apply it in a novel situation, discusses trade-offs, implementations, and variations.</a:t>
            </a:r>
          </a:p>
        </p:txBody>
      </p:sp>
      <p:sp>
        <p:nvSpPr>
          <p:cNvPr id="11268" name="Slide Number Placeholder 3">
            <a:extLst>
              <a:ext uri="{FF2B5EF4-FFF2-40B4-BE49-F238E27FC236}">
                <a16:creationId xmlns:a16="http://schemas.microsoft.com/office/drawing/2014/main" id="{C8580CD6-53A8-5E45-BCC3-C66CA12A7991}"/>
              </a:ext>
            </a:extLst>
          </p:cNvPr>
          <p:cNvSpPr>
            <a:spLocks noGrp="1"/>
          </p:cNvSpPr>
          <p:nvPr>
            <p:ph type="sldNum" sz="quarter" idx="10"/>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993D3883-ADE9-408C-8722-B3FA2DD00400}" type="slidenum">
              <a:rPr lang="de-DE" altLang="en-US" sz="1900">
                <a:solidFill>
                  <a:schemeClr val="tx1">
                    <a:lumMod val="50000"/>
                    <a:lumOff val="50000"/>
                  </a:schemeClr>
                </a:solidFill>
              </a:rPr>
              <a:pPr>
                <a:lnSpc>
                  <a:spcPct val="90000"/>
                </a:lnSpc>
                <a:spcAft>
                  <a:spcPts val="600"/>
                </a:spcAft>
              </a:pPr>
              <a:t>25</a:t>
            </a:fld>
            <a:endParaRPr lang="de-DE" altLang="en-US" sz="1900">
              <a:solidFill>
                <a:schemeClr val="tx1">
                  <a:lumMod val="50000"/>
                  <a:lumOff val="50000"/>
                </a:schemeClr>
              </a:solidFill>
            </a:endParaRPr>
          </a:p>
        </p:txBody>
      </p:sp>
    </p:spTree>
    <p:extLst>
      <p:ext uri="{BB962C8B-B14F-4D97-AF65-F5344CB8AC3E}">
        <p14:creationId xmlns:p14="http://schemas.microsoft.com/office/powerpoint/2010/main" val="29687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39F60-CD6F-B061-6EB7-ECD43D3A892A}"/>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EXPERT PATTERN</a:t>
            </a:r>
          </a:p>
        </p:txBody>
      </p:sp>
      <p:pic>
        <p:nvPicPr>
          <p:cNvPr id="6" name="Graphic 5" descr="Head with Gears">
            <a:extLst>
              <a:ext uri="{FF2B5EF4-FFF2-40B4-BE49-F238E27FC236}">
                <a16:creationId xmlns:a16="http://schemas.microsoft.com/office/drawing/2014/main" id="{7C7984A8-A191-B628-B429-17D392D944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8" name="Graphic 7" descr="Head with Gears">
            <a:extLst>
              <a:ext uri="{FF2B5EF4-FFF2-40B4-BE49-F238E27FC236}">
                <a16:creationId xmlns:a16="http://schemas.microsoft.com/office/drawing/2014/main" id="{9666EE60-793A-4E69-9BD0-6FBCC1566D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483067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7" name="Rectangle 1229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299" name="Rectangle 1229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301" name="Rectangle 1230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91" name="Rectangle 2">
            <a:extLst>
              <a:ext uri="{FF2B5EF4-FFF2-40B4-BE49-F238E27FC236}">
                <a16:creationId xmlns:a16="http://schemas.microsoft.com/office/drawing/2014/main" id="{AE844E94-1890-BB71-CFB0-06A13E1DF98D}"/>
              </a:ext>
            </a:extLst>
          </p:cNvPr>
          <p:cNvSpPr>
            <a:spLocks noGrp="1" noChangeArrowheads="1"/>
          </p:cNvSpPr>
          <p:nvPr>
            <p:ph type="title"/>
          </p:nvPr>
        </p:nvSpPr>
        <p:spPr>
          <a:xfrm>
            <a:off x="1115568" y="548640"/>
            <a:ext cx="10168128" cy="1179576"/>
          </a:xfrm>
        </p:spPr>
        <p:txBody>
          <a:bodyPr>
            <a:normAutofit/>
          </a:bodyPr>
          <a:lstStyle/>
          <a:p>
            <a:r>
              <a:rPr lang="en-US" altLang="en-US" sz="4000"/>
              <a:t>Expert…</a:t>
            </a:r>
          </a:p>
        </p:txBody>
      </p:sp>
      <p:sp>
        <p:nvSpPr>
          <p:cNvPr id="12303" name="Rectangle 1230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292" name="Rectangle 3">
            <a:extLst>
              <a:ext uri="{FF2B5EF4-FFF2-40B4-BE49-F238E27FC236}">
                <a16:creationId xmlns:a16="http://schemas.microsoft.com/office/drawing/2014/main" id="{50632358-8218-119E-8D62-9720ADD37688}"/>
              </a:ext>
            </a:extLst>
          </p:cNvPr>
          <p:cNvSpPr>
            <a:spLocks noGrp="1" noChangeArrowheads="1"/>
          </p:cNvSpPr>
          <p:nvPr>
            <p:ph type="body" idx="1"/>
          </p:nvPr>
        </p:nvSpPr>
        <p:spPr>
          <a:xfrm>
            <a:off x="359764" y="2481943"/>
            <a:ext cx="11362844" cy="3695020"/>
          </a:xfrm>
        </p:spPr>
        <p:txBody>
          <a:bodyPr>
            <a:normAutofit/>
          </a:bodyPr>
          <a:lstStyle/>
          <a:p>
            <a:pPr marL="342900" indent="-342900"/>
            <a:r>
              <a:rPr lang="en-US" altLang="en-US" sz="4000" dirty="0"/>
              <a:t>Intent: </a:t>
            </a:r>
          </a:p>
          <a:p>
            <a:pPr marL="742950" lvl="1" indent="-285750"/>
            <a:r>
              <a:rPr lang="en-US" altLang="en-US" sz="4000" dirty="0"/>
              <a:t>Assign a responsibility to the information expert – the class that has the information necessary to fulfill the responsibility.</a:t>
            </a:r>
          </a:p>
          <a:p>
            <a:pPr marL="742950" lvl="1" indent="-285750"/>
            <a:endParaRPr lang="en-US" altLang="en-US" sz="4000" dirty="0"/>
          </a:p>
          <a:p>
            <a:pPr marL="742950" lvl="1" indent="-285750"/>
            <a:r>
              <a:rPr lang="en-US" altLang="en-US" sz="4000" dirty="0"/>
              <a:t>“That which has the information, does the work.”</a:t>
            </a:r>
          </a:p>
        </p:txBody>
      </p:sp>
      <p:sp>
        <p:nvSpPr>
          <p:cNvPr id="12290" name="Slide Number Placeholder 3">
            <a:extLst>
              <a:ext uri="{FF2B5EF4-FFF2-40B4-BE49-F238E27FC236}">
                <a16:creationId xmlns:a16="http://schemas.microsoft.com/office/drawing/2014/main" id="{A27356FC-1135-1C3C-61EE-5F1CCF5B32F0}"/>
              </a:ext>
            </a:extLst>
          </p:cNvPr>
          <p:cNvSpPr>
            <a:spLocks noGrp="1"/>
          </p:cNvSpPr>
          <p:nvPr>
            <p:ph type="sldNum" sz="quarter" idx="10"/>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B2921D57-23B3-4A84-AAE1-0908D49FE313}" type="slidenum">
              <a:rPr lang="de-DE" altLang="en-US" sz="1900">
                <a:solidFill>
                  <a:schemeClr val="tx1">
                    <a:lumMod val="50000"/>
                    <a:lumOff val="50000"/>
                  </a:schemeClr>
                </a:solidFill>
              </a:rPr>
              <a:pPr>
                <a:lnSpc>
                  <a:spcPct val="90000"/>
                </a:lnSpc>
                <a:spcAft>
                  <a:spcPts val="600"/>
                </a:spcAft>
              </a:pPr>
              <a:t>27</a:t>
            </a:fld>
            <a:endParaRPr lang="de-DE" altLang="en-US" sz="1900">
              <a:solidFill>
                <a:schemeClr val="tx1">
                  <a:lumMod val="50000"/>
                  <a:lumOff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21" name="Rectangle 13320">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323" name="Rectangle 13322">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325" name="Rectangle 1332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15" name="Rectangle 2">
            <a:extLst>
              <a:ext uri="{FF2B5EF4-FFF2-40B4-BE49-F238E27FC236}">
                <a16:creationId xmlns:a16="http://schemas.microsoft.com/office/drawing/2014/main" id="{238278B3-6EFA-48AB-71BC-285C7B3E99C1}"/>
              </a:ext>
            </a:extLst>
          </p:cNvPr>
          <p:cNvSpPr>
            <a:spLocks noGrp="1" noChangeArrowheads="1"/>
          </p:cNvSpPr>
          <p:nvPr>
            <p:ph type="title"/>
          </p:nvPr>
        </p:nvSpPr>
        <p:spPr>
          <a:xfrm>
            <a:off x="1115568" y="548640"/>
            <a:ext cx="10168128" cy="1179576"/>
          </a:xfrm>
        </p:spPr>
        <p:txBody>
          <a:bodyPr>
            <a:normAutofit/>
          </a:bodyPr>
          <a:lstStyle/>
          <a:p>
            <a:r>
              <a:rPr lang="en-US" altLang="en-US" sz="4000"/>
              <a:t>…Expert</a:t>
            </a:r>
          </a:p>
        </p:txBody>
      </p:sp>
      <p:sp>
        <p:nvSpPr>
          <p:cNvPr id="13327" name="Rectangle 13326">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316" name="Rectangle 3">
            <a:extLst>
              <a:ext uri="{FF2B5EF4-FFF2-40B4-BE49-F238E27FC236}">
                <a16:creationId xmlns:a16="http://schemas.microsoft.com/office/drawing/2014/main" id="{EECC3FC0-58C9-EC3D-DE3A-302C2121A857}"/>
              </a:ext>
            </a:extLst>
          </p:cNvPr>
          <p:cNvSpPr>
            <a:spLocks noGrp="1" noChangeArrowheads="1"/>
          </p:cNvSpPr>
          <p:nvPr>
            <p:ph type="body" idx="1"/>
          </p:nvPr>
        </p:nvSpPr>
        <p:spPr>
          <a:xfrm>
            <a:off x="626849" y="2276856"/>
            <a:ext cx="11365281" cy="3900107"/>
          </a:xfrm>
        </p:spPr>
        <p:txBody>
          <a:bodyPr>
            <a:noAutofit/>
          </a:bodyPr>
          <a:lstStyle/>
          <a:p>
            <a:pPr marL="342900" indent="-342900"/>
            <a:r>
              <a:rPr lang="en-US" altLang="en-US" b="1" u="sng" dirty="0"/>
              <a:t>Problem:</a:t>
            </a:r>
          </a:p>
          <a:p>
            <a:pPr marL="742950" lvl="1" indent="-285750"/>
            <a:r>
              <a:rPr lang="en-US" altLang="en-US" sz="2800" dirty="0"/>
              <a:t>What is most basic, general principle of responsibility assignment?</a:t>
            </a:r>
          </a:p>
          <a:p>
            <a:pPr marL="742950" lvl="1" indent="-285750"/>
            <a:r>
              <a:rPr lang="en-US" altLang="en-US" sz="2800" dirty="0"/>
              <a:t>A class model may define hundreds of software classes, and an application may require thousands of responsibilities to be fulfilled.</a:t>
            </a:r>
          </a:p>
          <a:p>
            <a:pPr marL="742950" lvl="1" indent="-285750"/>
            <a:r>
              <a:rPr lang="en-US" altLang="en-US" sz="2800" dirty="0"/>
              <a:t>During OOD we make decisions about the assignment of responsibilities.</a:t>
            </a:r>
          </a:p>
          <a:p>
            <a:pPr marL="742950" lvl="1" indent="-285750"/>
            <a:r>
              <a:rPr lang="en-US" altLang="en-US" sz="2800" dirty="0"/>
              <a:t>Done well, systems tend to be easier to understand, maintain, and extend.</a:t>
            </a:r>
          </a:p>
        </p:txBody>
      </p:sp>
      <p:sp>
        <p:nvSpPr>
          <p:cNvPr id="13314" name="Slide Number Placeholder 3">
            <a:extLst>
              <a:ext uri="{FF2B5EF4-FFF2-40B4-BE49-F238E27FC236}">
                <a16:creationId xmlns:a16="http://schemas.microsoft.com/office/drawing/2014/main" id="{926EBB7F-AF6B-32F0-6FC5-37B432CB69F1}"/>
              </a:ext>
            </a:extLst>
          </p:cNvPr>
          <p:cNvSpPr>
            <a:spLocks noGrp="1"/>
          </p:cNvSpPr>
          <p:nvPr>
            <p:ph type="sldNum" sz="quarter" idx="10"/>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86BDFB58-AD85-4217-9612-BB6188AE28E9}" type="slidenum">
              <a:rPr lang="de-DE" altLang="en-US" sz="1900">
                <a:solidFill>
                  <a:schemeClr val="tx1">
                    <a:lumMod val="50000"/>
                    <a:lumOff val="50000"/>
                  </a:schemeClr>
                </a:solidFill>
              </a:rPr>
              <a:pPr>
                <a:lnSpc>
                  <a:spcPct val="90000"/>
                </a:lnSpc>
                <a:spcAft>
                  <a:spcPts val="600"/>
                </a:spcAft>
              </a:pPr>
              <a:t>28</a:t>
            </a:fld>
            <a:endParaRPr lang="de-DE" altLang="en-US" sz="1900">
              <a:solidFill>
                <a:schemeClr val="tx1">
                  <a:lumMod val="50000"/>
                  <a:lumOff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a:xfrm>
            <a:off x="910119" y="572569"/>
            <a:ext cx="3380527" cy="1642956"/>
          </a:xfrm>
        </p:spPr>
        <p:txBody>
          <a:bodyPr anchor="b">
            <a:normAutofit/>
          </a:bodyPr>
          <a:lstStyle/>
          <a:p>
            <a:r>
              <a:rPr lang="en-US" altLang="en-US" sz="3600" dirty="0">
                <a:solidFill>
                  <a:schemeClr val="tx2"/>
                </a:solidFill>
              </a:rPr>
              <a:t>Example: Class Diagram</a:t>
            </a:r>
          </a:p>
        </p:txBody>
      </p:sp>
      <p:sp>
        <p:nvSpPr>
          <p:cNvPr id="4" name="Slide Number Placeholder 3"/>
          <p:cNvSpPr>
            <a:spLocks noGrp="1"/>
          </p:cNvSpPr>
          <p:nvPr>
            <p:ph type="sldNum" sz="quarter" idx="10"/>
          </p:nvPr>
        </p:nvSpPr>
        <p:spPr>
          <a:xfrm>
            <a:off x="11445238" y="6356350"/>
            <a:ext cx="54864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CABEAC46-B3E9-42FD-B02C-5AE907EC9AF9}" type="slidenum">
              <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29</a:t>
            </a:fld>
            <a:endPar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endParaRPr>
          </a:p>
        </p:txBody>
      </p:sp>
      <p:grpSp>
        <p:nvGrpSpPr>
          <p:cNvPr id="1028" name="Group 4"/>
          <p:cNvGrpSpPr>
            <a:grpSpLocks noChangeAspect="1"/>
          </p:cNvGrpSpPr>
          <p:nvPr/>
        </p:nvGrpSpPr>
        <p:grpSpPr bwMode="auto">
          <a:xfrm>
            <a:off x="5139176" y="609600"/>
            <a:ext cx="6298079" cy="5638800"/>
            <a:chOff x="863" y="962"/>
            <a:chExt cx="3697" cy="3310"/>
          </a:xfrm>
        </p:grpSpPr>
        <p:sp>
          <p:nvSpPr>
            <p:cNvPr id="1027" name="AutoShape 3"/>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Rectangle 5"/>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0" name="Rectangle 6"/>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register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1" name="Rectangle 7"/>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2" name="Rectangle 8"/>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3" name="Rectangle 9"/>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4" name="Rectangle 10"/>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Rectangle 11"/>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Rectangle 12"/>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Store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7" name="Rectangle 13"/>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Rectangle 14"/>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address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9" name="Rectangle 15"/>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name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0" name="Rectangle 16"/>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1" name="Rectangle 17"/>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2" name="Rectangle 18"/>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3" name="Rectangle 19"/>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date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4" name="Rectangle 20"/>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time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5" name="Rectangle 21"/>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Rectangle 22"/>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Payment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7" name="Rectangle 23"/>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Rectangle 24"/>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amount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9" name="Rectangle 25"/>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0" name="Rectangle 26"/>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1" name="Rectangle 27"/>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LineItem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2" name="Rectangle 28"/>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3" name="Rectangle 29"/>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quantity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4" name="Rectangle 30"/>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Rectangle 31"/>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Cashier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6" name="Rectangle 32"/>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Rectangle 33"/>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Rectangle 34"/>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Customer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9" name="Rectangle 35"/>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0" name="Rectangle 36"/>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1" name="Rectangle 37"/>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Manager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2" name="Rectangle 38"/>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3" name="Rectangle 39"/>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Rectangle 40"/>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5" name="Rectangle 41"/>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Catalog</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6" name="Rectangle 42"/>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Rectangle 43"/>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Rectangle 44"/>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9" name="Rectangle 45"/>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Specification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0" name="Rectangle 46"/>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1" name="Rectangle 47"/>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description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2" name="Rectangle 48"/>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price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3" name="Rectangle 49"/>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UPC</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4" name="Line 50"/>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Rectangle 51"/>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Stocks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6" name="Rectangle 52"/>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7" name="Line 53"/>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8" name="Rectangle 54"/>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Houses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9" name="Rectangle 55"/>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0" name="Rectangle 56"/>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1" name="Line 57"/>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2" name="Rectangle 58"/>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Used-by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3" name="Rectangle 59"/>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4" name="Line 60"/>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Rectangle 61"/>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6" name="Rectangle 62"/>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7" name="Rectangle 63"/>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8" name="Line 64"/>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9" name="Rectangle 65"/>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0" name="Rectangle 66"/>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1" name="Line 67"/>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68"/>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Captured-on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3" name="Line 69"/>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Rectangle 70"/>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Contained-in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5" name="Rectangle 71"/>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6" name="Rectangle 72"/>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7" name="Freeform 73"/>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Rectangle 74"/>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9" name="Rectangle 75"/>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0" name="Freeform 76"/>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Rectangle 77"/>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Records-sale-of</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2" name="Rectangle 78"/>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0..1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3" name="Line 79"/>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4" name="Rectangle 80"/>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Started-by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5" name="Freeform 81"/>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Rectangle 82"/>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Paid-by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7" name="Freeform 83"/>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Rectangle 84"/>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Initiated-by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9" name="Freeform 85"/>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Rectangle 86"/>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Logs-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1" name="Rectangle 87"/>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completed</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3" name="Rectangle 89"/>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4" name="Freeform 90"/>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Rectangle 91"/>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3</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6" name="Rectangle 92"/>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 Records-sales-on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7" name="Rectangle 93"/>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8" name="Rectangle 94"/>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9" name="Rectangle 95"/>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0" name="Rectangle 96"/>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1" name="Rectangle 97"/>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2" name="Rectangle 98"/>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3" name="Rectangle 99"/>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4" name="Rectangle 100"/>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5" name="Rectangle 101"/>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6" name="Rectangle 102"/>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7" name="Rectangle 103"/>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8" name="Rectangle 104"/>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9" name="Rectangle 105"/>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0" name="Rectangle 106"/>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1" name="Rectangle 107"/>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2" name="Rectangle 108"/>
            <p:cNvSpPr>
              <a:spLocks noChangeArrowheads="1"/>
            </p:cNvSpPr>
            <p:nvPr/>
          </p:nvSpPr>
          <p:spPr bwMode="auto">
            <a:xfrm>
              <a:off x="1873"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3" name="Rectangle 109"/>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4" name="Rectangle 110"/>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grpSp>
    </p:spTree>
    <p:extLst>
      <p:ext uri="{BB962C8B-B14F-4D97-AF65-F5344CB8AC3E}">
        <p14:creationId xmlns:p14="http://schemas.microsoft.com/office/powerpoint/2010/main" val="2019466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478DCEA1-8D81-2A8C-2F6C-07447452B10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6AE0216F-BA1E-4A45-8E9D-B4D25FCE8E65}" type="slidenum">
              <a:rPr lang="de-DE" altLang="en-US" sz="1000" smtClean="0"/>
              <a:pPr/>
              <a:t>30</a:t>
            </a:fld>
            <a:endParaRPr lang="de-DE" altLang="en-US" sz="1000"/>
          </a:p>
        </p:txBody>
      </p:sp>
      <p:sp>
        <p:nvSpPr>
          <p:cNvPr id="14339" name="Rectangle 2">
            <a:extLst>
              <a:ext uri="{FF2B5EF4-FFF2-40B4-BE49-F238E27FC236}">
                <a16:creationId xmlns:a16="http://schemas.microsoft.com/office/drawing/2014/main" id="{A14BA18C-DFA9-AA1E-9F65-960C29EED2FB}"/>
              </a:ext>
            </a:extLst>
          </p:cNvPr>
          <p:cNvSpPr>
            <a:spLocks noGrp="1" noChangeArrowheads="1"/>
          </p:cNvSpPr>
          <p:nvPr>
            <p:ph type="title"/>
          </p:nvPr>
        </p:nvSpPr>
        <p:spPr/>
        <p:txBody>
          <a:bodyPr/>
          <a:lstStyle/>
          <a:p>
            <a:r>
              <a:rPr lang="en-US" altLang="en-US"/>
              <a:t>Expert – example…</a:t>
            </a:r>
          </a:p>
        </p:txBody>
      </p:sp>
      <p:sp>
        <p:nvSpPr>
          <p:cNvPr id="14340" name="Rectangle 3">
            <a:extLst>
              <a:ext uri="{FF2B5EF4-FFF2-40B4-BE49-F238E27FC236}">
                <a16:creationId xmlns:a16="http://schemas.microsoft.com/office/drawing/2014/main" id="{0414C0A9-AF55-9768-E1D4-53168E542791}"/>
              </a:ext>
            </a:extLst>
          </p:cNvPr>
          <p:cNvSpPr>
            <a:spLocks noGrp="1" noChangeArrowheads="1"/>
          </p:cNvSpPr>
          <p:nvPr>
            <p:ph type="body" idx="1"/>
          </p:nvPr>
        </p:nvSpPr>
        <p:spPr/>
        <p:txBody>
          <a:bodyPr/>
          <a:lstStyle/>
          <a:p>
            <a:pPr marL="342900" indent="-342900"/>
            <a:r>
              <a:rPr lang="en-US" altLang="en-US" dirty="0"/>
              <a:t>In a point-of-sale terminal application, some class needs to know the grand total of a sale.</a:t>
            </a:r>
          </a:p>
          <a:p>
            <a:pPr marL="342900" indent="-342900"/>
            <a:r>
              <a:rPr lang="en-US" altLang="en-US" dirty="0"/>
              <a:t>By </a:t>
            </a:r>
            <a:r>
              <a:rPr lang="en-US" altLang="en-US" u="sng" dirty="0">
                <a:solidFill>
                  <a:srgbClr val="FF0000"/>
                </a:solidFill>
              </a:rPr>
              <a:t>Expert</a:t>
            </a:r>
            <a:r>
              <a:rPr lang="en-US" altLang="en-US" dirty="0"/>
              <a:t>, the class that has the information needed to determine total should have that responsibility.</a:t>
            </a:r>
          </a:p>
        </p:txBody>
      </p:sp>
      <p:pic>
        <p:nvPicPr>
          <p:cNvPr id="14341" name="Picture 4">
            <a:extLst>
              <a:ext uri="{FF2B5EF4-FFF2-40B4-BE49-F238E27FC236}">
                <a16:creationId xmlns:a16="http://schemas.microsoft.com/office/drawing/2014/main" id="{F4070EC4-DB32-F3B0-DB7E-0FFF24006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1" y="3733800"/>
            <a:ext cx="3190875" cy="23431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4342" name="TextBox 5">
            <a:extLst>
              <a:ext uri="{FF2B5EF4-FFF2-40B4-BE49-F238E27FC236}">
                <a16:creationId xmlns:a16="http://schemas.microsoft.com/office/drawing/2014/main" id="{6A5B683C-8073-5FD0-FB90-061F41883EB8}"/>
              </a:ext>
            </a:extLst>
          </p:cNvPr>
          <p:cNvSpPr txBox="1">
            <a:spLocks noChangeArrowheads="1"/>
          </p:cNvSpPr>
          <p:nvPr/>
        </p:nvSpPr>
        <p:spPr bwMode="auto">
          <a:xfrm>
            <a:off x="6302375" y="5121276"/>
            <a:ext cx="2423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80808"/>
                </a:solidFill>
              </a:rPr>
              <a:t>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95C609D9-56A8-860B-3221-910941DA0C6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D403FA8-0814-462B-9830-EA67C99E27C6}" type="slidenum">
              <a:rPr lang="de-DE" altLang="en-US" sz="1000"/>
              <a:pPr/>
              <a:t>31</a:t>
            </a:fld>
            <a:endParaRPr lang="de-DE" altLang="en-US" sz="1000"/>
          </a:p>
        </p:txBody>
      </p:sp>
      <p:sp>
        <p:nvSpPr>
          <p:cNvPr id="15363" name="Rectangle 2">
            <a:extLst>
              <a:ext uri="{FF2B5EF4-FFF2-40B4-BE49-F238E27FC236}">
                <a16:creationId xmlns:a16="http://schemas.microsoft.com/office/drawing/2014/main" id="{47F36878-38A2-66EC-5676-A382542CA359}"/>
              </a:ext>
            </a:extLst>
          </p:cNvPr>
          <p:cNvSpPr>
            <a:spLocks noGrp="1" noChangeArrowheads="1"/>
          </p:cNvSpPr>
          <p:nvPr>
            <p:ph type="title"/>
          </p:nvPr>
        </p:nvSpPr>
        <p:spPr/>
        <p:txBody>
          <a:bodyPr/>
          <a:lstStyle/>
          <a:p>
            <a:r>
              <a:rPr lang="en-US" altLang="en-US"/>
              <a:t>…Expert – example…</a:t>
            </a:r>
          </a:p>
        </p:txBody>
      </p:sp>
      <p:sp>
        <p:nvSpPr>
          <p:cNvPr id="15364" name="Rectangle 3">
            <a:extLst>
              <a:ext uri="{FF2B5EF4-FFF2-40B4-BE49-F238E27FC236}">
                <a16:creationId xmlns:a16="http://schemas.microsoft.com/office/drawing/2014/main" id="{32D56D33-AAC8-0291-EFD7-3A3CFABDAEBD}"/>
              </a:ext>
            </a:extLst>
          </p:cNvPr>
          <p:cNvSpPr>
            <a:spLocks noGrp="1" noChangeArrowheads="1"/>
          </p:cNvSpPr>
          <p:nvPr>
            <p:ph type="body" idx="1"/>
          </p:nvPr>
        </p:nvSpPr>
        <p:spPr/>
        <p:txBody>
          <a:bodyPr/>
          <a:lstStyle/>
          <a:p>
            <a:pPr marL="342900" indent="-342900"/>
            <a:r>
              <a:rPr lang="en-US" altLang="en-US"/>
              <a:t>What info is needed?</a:t>
            </a:r>
          </a:p>
          <a:p>
            <a:pPr marL="742950" lvl="1" indent="-285750"/>
            <a:r>
              <a:rPr lang="en-US" altLang="en-US" sz="2800"/>
              <a:t>Needs to know about all </a:t>
            </a:r>
            <a:r>
              <a:rPr lang="en-US" altLang="en-US" sz="2800" i="1"/>
              <a:t>SaleLineItem</a:t>
            </a:r>
            <a:r>
              <a:rPr lang="en-US" altLang="en-US" sz="2800"/>
              <a:t> instances and the sum of their subtotals.</a:t>
            </a:r>
          </a:p>
          <a:p>
            <a:pPr marL="742950" lvl="1" indent="-285750"/>
            <a:r>
              <a:rPr lang="en-US" altLang="en-US" sz="2800"/>
              <a:t>Only </a:t>
            </a:r>
            <a:r>
              <a:rPr lang="en-US" altLang="en-US" sz="2800" i="1"/>
              <a:t>Sale</a:t>
            </a:r>
            <a:r>
              <a:rPr lang="en-US" altLang="en-US" sz="2800"/>
              <a:t> knows this, so has responsibility.</a:t>
            </a:r>
          </a:p>
        </p:txBody>
      </p:sp>
      <p:pic>
        <p:nvPicPr>
          <p:cNvPr id="15365" name="Picture 4">
            <a:extLst>
              <a:ext uri="{FF2B5EF4-FFF2-40B4-BE49-F238E27FC236}">
                <a16:creationId xmlns:a16="http://schemas.microsoft.com/office/drawing/2014/main" id="{59772E86-AAE3-B592-25DA-2E0EC83EA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1" y="4114801"/>
            <a:ext cx="5356225" cy="10652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4BDBB44B-2806-535B-50FF-544290A211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1E4FA40F-6AA1-4187-8275-7AC78DEC4D2B}" type="slidenum">
              <a:rPr lang="de-DE" altLang="en-US" sz="1000"/>
              <a:pPr/>
              <a:t>32</a:t>
            </a:fld>
            <a:endParaRPr lang="de-DE" altLang="en-US" sz="1000"/>
          </a:p>
        </p:txBody>
      </p:sp>
      <p:sp>
        <p:nvSpPr>
          <p:cNvPr id="16387" name="Rectangle 2">
            <a:extLst>
              <a:ext uri="{FF2B5EF4-FFF2-40B4-BE49-F238E27FC236}">
                <a16:creationId xmlns:a16="http://schemas.microsoft.com/office/drawing/2014/main" id="{AFA642B2-DFA9-5BA9-A346-93731F59FCFD}"/>
              </a:ext>
            </a:extLst>
          </p:cNvPr>
          <p:cNvSpPr>
            <a:spLocks noGrp="1" noChangeArrowheads="1"/>
          </p:cNvSpPr>
          <p:nvPr>
            <p:ph type="title"/>
          </p:nvPr>
        </p:nvSpPr>
        <p:spPr/>
        <p:txBody>
          <a:bodyPr/>
          <a:lstStyle/>
          <a:p>
            <a:r>
              <a:rPr lang="en-US" altLang="en-US"/>
              <a:t>…Expert – example…</a:t>
            </a:r>
          </a:p>
        </p:txBody>
      </p:sp>
      <p:sp>
        <p:nvSpPr>
          <p:cNvPr id="16388" name="Rectangle 3">
            <a:extLst>
              <a:ext uri="{FF2B5EF4-FFF2-40B4-BE49-F238E27FC236}">
                <a16:creationId xmlns:a16="http://schemas.microsoft.com/office/drawing/2014/main" id="{ABC1A99A-D8FE-18A4-C562-831FCB7035F0}"/>
              </a:ext>
            </a:extLst>
          </p:cNvPr>
          <p:cNvSpPr>
            <a:spLocks noGrp="1" noChangeArrowheads="1"/>
          </p:cNvSpPr>
          <p:nvPr>
            <p:ph type="body" idx="1"/>
          </p:nvPr>
        </p:nvSpPr>
        <p:spPr>
          <a:xfrm>
            <a:off x="383822" y="1905000"/>
            <a:ext cx="11401778" cy="4114800"/>
          </a:xfrm>
        </p:spPr>
        <p:txBody>
          <a:bodyPr/>
          <a:lstStyle/>
          <a:p>
            <a:pPr marL="342900" indent="-342900"/>
            <a:r>
              <a:rPr lang="en-US" altLang="en-US" dirty="0"/>
              <a:t>But what is responsible for subtotal?</a:t>
            </a:r>
          </a:p>
          <a:p>
            <a:pPr marL="342900" indent="-342900"/>
            <a:r>
              <a:rPr lang="en-US" altLang="en-US" dirty="0"/>
              <a:t>Need </a:t>
            </a:r>
            <a:r>
              <a:rPr lang="en-US" altLang="en-US" i="1" dirty="0" err="1"/>
              <a:t>SalesLineItem.quantity</a:t>
            </a:r>
            <a:r>
              <a:rPr lang="en-US" altLang="en-US" dirty="0"/>
              <a:t> and </a:t>
            </a:r>
            <a:r>
              <a:rPr lang="en-US" altLang="en-US" i="1" dirty="0" err="1"/>
              <a:t>ProductSpecification.price</a:t>
            </a:r>
            <a:r>
              <a:rPr lang="en-US" altLang="en-US" i="1" dirty="0"/>
              <a:t>, </a:t>
            </a:r>
            <a:r>
              <a:rPr lang="en-US" altLang="en-US" dirty="0"/>
              <a:t>so </a:t>
            </a:r>
            <a:r>
              <a:rPr lang="en-US" altLang="en-US" i="1" dirty="0" err="1"/>
              <a:t>SalesLineItem</a:t>
            </a:r>
            <a:r>
              <a:rPr lang="en-US" altLang="en-US" dirty="0"/>
              <a:t> is responsible.</a:t>
            </a:r>
          </a:p>
        </p:txBody>
      </p:sp>
      <p:grpSp>
        <p:nvGrpSpPr>
          <p:cNvPr id="16389" name="Group 7">
            <a:extLst>
              <a:ext uri="{FF2B5EF4-FFF2-40B4-BE49-F238E27FC236}">
                <a16:creationId xmlns:a16="http://schemas.microsoft.com/office/drawing/2014/main" id="{247EE9B9-5AF9-20D8-B093-6C2B8AAA5D50}"/>
              </a:ext>
            </a:extLst>
          </p:cNvPr>
          <p:cNvGrpSpPr>
            <a:grpSpLocks noChangeAspect="1"/>
          </p:cNvGrpSpPr>
          <p:nvPr/>
        </p:nvGrpSpPr>
        <p:grpSpPr bwMode="auto">
          <a:xfrm>
            <a:off x="3457575" y="3351213"/>
            <a:ext cx="5437188" cy="2603500"/>
            <a:chOff x="1261" y="1967"/>
            <a:chExt cx="3425" cy="1640"/>
          </a:xfrm>
        </p:grpSpPr>
        <p:sp>
          <p:nvSpPr>
            <p:cNvPr id="16390" name="AutoShape 6">
              <a:extLst>
                <a:ext uri="{FF2B5EF4-FFF2-40B4-BE49-F238E27FC236}">
                  <a16:creationId xmlns:a16="http://schemas.microsoft.com/office/drawing/2014/main" id="{F33670D9-E55D-AFC4-027C-BC794AF2E7A7}"/>
                </a:ext>
              </a:extLst>
            </p:cNvPr>
            <p:cNvSpPr>
              <a:spLocks noChangeAspect="1" noChangeArrowheads="1" noTextEdit="1"/>
            </p:cNvSpPr>
            <p:nvPr/>
          </p:nvSpPr>
          <p:spPr bwMode="auto">
            <a:xfrm>
              <a:off x="1289" y="1967"/>
              <a:ext cx="3397" cy="1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391" name="Rectangle 8">
              <a:extLst>
                <a:ext uri="{FF2B5EF4-FFF2-40B4-BE49-F238E27FC236}">
                  <a16:creationId xmlns:a16="http://schemas.microsoft.com/office/drawing/2014/main" id="{7F00D9E4-5D7E-8BDF-C3A3-A29E47241C92}"/>
                </a:ext>
              </a:extLst>
            </p:cNvPr>
            <p:cNvSpPr>
              <a:spLocks noChangeArrowheads="1"/>
            </p:cNvSpPr>
            <p:nvPr/>
          </p:nvSpPr>
          <p:spPr bwMode="auto">
            <a:xfrm>
              <a:off x="3979" y="2256"/>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392" name="Rectangle 9">
              <a:extLst>
                <a:ext uri="{FF2B5EF4-FFF2-40B4-BE49-F238E27FC236}">
                  <a16:creationId xmlns:a16="http://schemas.microsoft.com/office/drawing/2014/main" id="{42E6348B-C3AC-C702-9B05-286B49DB19BF}"/>
                </a:ext>
              </a:extLst>
            </p:cNvPr>
            <p:cNvSpPr>
              <a:spLocks noChangeArrowheads="1"/>
            </p:cNvSpPr>
            <p:nvPr/>
          </p:nvSpPr>
          <p:spPr bwMode="auto">
            <a:xfrm>
              <a:off x="4225" y="2286"/>
              <a:ext cx="1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a:t>
              </a:r>
              <a:endParaRPr lang="en-US" altLang="en-US"/>
            </a:p>
          </p:txBody>
        </p:sp>
        <p:sp>
          <p:nvSpPr>
            <p:cNvPr id="16393" name="Rectangle 10">
              <a:extLst>
                <a:ext uri="{FF2B5EF4-FFF2-40B4-BE49-F238E27FC236}">
                  <a16:creationId xmlns:a16="http://schemas.microsoft.com/office/drawing/2014/main" id="{80022044-D7F2-121D-C5FF-987034C24C9F}"/>
                </a:ext>
              </a:extLst>
            </p:cNvPr>
            <p:cNvSpPr>
              <a:spLocks noChangeArrowheads="1"/>
            </p:cNvSpPr>
            <p:nvPr/>
          </p:nvSpPr>
          <p:spPr bwMode="auto">
            <a:xfrm>
              <a:off x="3979" y="2435"/>
              <a:ext cx="657" cy="26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394" name="Rectangle 11">
              <a:extLst>
                <a:ext uri="{FF2B5EF4-FFF2-40B4-BE49-F238E27FC236}">
                  <a16:creationId xmlns:a16="http://schemas.microsoft.com/office/drawing/2014/main" id="{14B1DFF9-CDA7-586C-8AE3-498F5D4A7DF7}"/>
                </a:ext>
              </a:extLst>
            </p:cNvPr>
            <p:cNvSpPr>
              <a:spLocks noChangeArrowheads="1"/>
            </p:cNvSpPr>
            <p:nvPr/>
          </p:nvSpPr>
          <p:spPr bwMode="auto">
            <a:xfrm>
              <a:off x="4023" y="2465"/>
              <a:ext cx="15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date</a:t>
              </a:r>
              <a:endParaRPr lang="en-US" altLang="en-US"/>
            </a:p>
          </p:txBody>
        </p:sp>
        <p:sp>
          <p:nvSpPr>
            <p:cNvPr id="16395" name="Rectangle 12">
              <a:extLst>
                <a:ext uri="{FF2B5EF4-FFF2-40B4-BE49-F238E27FC236}">
                  <a16:creationId xmlns:a16="http://schemas.microsoft.com/office/drawing/2014/main" id="{3B7FB3BC-C7AB-2C72-D925-B3D5883E5745}"/>
                </a:ext>
              </a:extLst>
            </p:cNvPr>
            <p:cNvSpPr>
              <a:spLocks noChangeArrowheads="1"/>
            </p:cNvSpPr>
            <p:nvPr/>
          </p:nvSpPr>
          <p:spPr bwMode="auto">
            <a:xfrm>
              <a:off x="4023" y="2555"/>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time</a:t>
              </a:r>
              <a:endParaRPr lang="en-US" altLang="en-US"/>
            </a:p>
          </p:txBody>
        </p:sp>
        <p:sp>
          <p:nvSpPr>
            <p:cNvPr id="16396" name="Rectangle 13">
              <a:extLst>
                <a:ext uri="{FF2B5EF4-FFF2-40B4-BE49-F238E27FC236}">
                  <a16:creationId xmlns:a16="http://schemas.microsoft.com/office/drawing/2014/main" id="{7B0C0D4D-BD21-0C35-837B-E0F3ED0D390E}"/>
                </a:ext>
              </a:extLst>
            </p:cNvPr>
            <p:cNvSpPr>
              <a:spLocks noChangeArrowheads="1"/>
            </p:cNvSpPr>
            <p:nvPr/>
          </p:nvSpPr>
          <p:spPr bwMode="auto">
            <a:xfrm>
              <a:off x="3979" y="2704"/>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397" name="Rectangle 14">
              <a:extLst>
                <a:ext uri="{FF2B5EF4-FFF2-40B4-BE49-F238E27FC236}">
                  <a16:creationId xmlns:a16="http://schemas.microsoft.com/office/drawing/2014/main" id="{44921FE5-5974-C70D-DEFA-305C38FFB53B}"/>
                </a:ext>
              </a:extLst>
            </p:cNvPr>
            <p:cNvSpPr>
              <a:spLocks noChangeArrowheads="1"/>
            </p:cNvSpPr>
            <p:nvPr/>
          </p:nvSpPr>
          <p:spPr bwMode="auto">
            <a:xfrm>
              <a:off x="4023" y="2734"/>
              <a:ext cx="20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total()</a:t>
              </a:r>
              <a:endParaRPr lang="en-US" altLang="en-US"/>
            </a:p>
          </p:txBody>
        </p:sp>
        <p:sp>
          <p:nvSpPr>
            <p:cNvPr id="16398" name="Rectangle 15">
              <a:extLst>
                <a:ext uri="{FF2B5EF4-FFF2-40B4-BE49-F238E27FC236}">
                  <a16:creationId xmlns:a16="http://schemas.microsoft.com/office/drawing/2014/main" id="{96A45E49-4D0C-54CA-DEF3-AB72C37E5677}"/>
                </a:ext>
              </a:extLst>
            </p:cNvPr>
            <p:cNvSpPr>
              <a:spLocks noChangeArrowheads="1"/>
            </p:cNvSpPr>
            <p:nvPr/>
          </p:nvSpPr>
          <p:spPr bwMode="auto">
            <a:xfrm>
              <a:off x="2127" y="2256"/>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399" name="Line 16">
              <a:extLst>
                <a:ext uri="{FF2B5EF4-FFF2-40B4-BE49-F238E27FC236}">
                  <a16:creationId xmlns:a16="http://schemas.microsoft.com/office/drawing/2014/main" id="{7C7A3477-E6E4-1976-2CD1-148AE033677D}"/>
                </a:ext>
              </a:extLst>
            </p:cNvPr>
            <p:cNvSpPr>
              <a:spLocks noChangeShapeType="1"/>
            </p:cNvSpPr>
            <p:nvPr/>
          </p:nvSpPr>
          <p:spPr bwMode="auto">
            <a:xfrm>
              <a:off x="2396" y="2398"/>
              <a:ext cx="17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Rectangle 17">
              <a:extLst>
                <a:ext uri="{FF2B5EF4-FFF2-40B4-BE49-F238E27FC236}">
                  <a16:creationId xmlns:a16="http://schemas.microsoft.com/office/drawing/2014/main" id="{4B872DA6-FD59-60DD-874B-01E6D619EF88}"/>
                </a:ext>
              </a:extLst>
            </p:cNvPr>
            <p:cNvSpPr>
              <a:spLocks noChangeArrowheads="1"/>
            </p:cNvSpPr>
            <p:nvPr/>
          </p:nvSpPr>
          <p:spPr bwMode="auto">
            <a:xfrm>
              <a:off x="2396" y="2281"/>
              <a:ext cx="24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:Sale</a:t>
              </a:r>
              <a:endParaRPr lang="en-US" altLang="en-US" dirty="0"/>
            </a:p>
          </p:txBody>
        </p:sp>
        <p:sp>
          <p:nvSpPr>
            <p:cNvPr id="16401" name="Line 18">
              <a:extLst>
                <a:ext uri="{FF2B5EF4-FFF2-40B4-BE49-F238E27FC236}">
                  <a16:creationId xmlns:a16="http://schemas.microsoft.com/office/drawing/2014/main" id="{59598BB3-C5CE-EC19-65A6-E42C6B94FA69}"/>
                </a:ext>
              </a:extLst>
            </p:cNvPr>
            <p:cNvSpPr>
              <a:spLocks noChangeShapeType="1"/>
            </p:cNvSpPr>
            <p:nvPr/>
          </p:nvSpPr>
          <p:spPr bwMode="auto">
            <a:xfrm>
              <a:off x="1261" y="2368"/>
              <a:ext cx="866"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2" name="Rectangle 19">
              <a:extLst>
                <a:ext uri="{FF2B5EF4-FFF2-40B4-BE49-F238E27FC236}">
                  <a16:creationId xmlns:a16="http://schemas.microsoft.com/office/drawing/2014/main" id="{2A6505C0-2C1D-E326-9A76-C1BAB405AD15}"/>
                </a:ext>
              </a:extLst>
            </p:cNvPr>
            <p:cNvSpPr>
              <a:spLocks noChangeArrowheads="1"/>
            </p:cNvSpPr>
            <p:nvPr/>
          </p:nvSpPr>
          <p:spPr bwMode="auto">
            <a:xfrm>
              <a:off x="1529" y="2110"/>
              <a:ext cx="41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t := total()</a:t>
              </a:r>
              <a:endParaRPr lang="en-US" altLang="en-US" dirty="0"/>
            </a:p>
          </p:txBody>
        </p:sp>
        <p:sp>
          <p:nvSpPr>
            <p:cNvPr id="16403" name="Rectangle 20">
              <a:extLst>
                <a:ext uri="{FF2B5EF4-FFF2-40B4-BE49-F238E27FC236}">
                  <a16:creationId xmlns:a16="http://schemas.microsoft.com/office/drawing/2014/main" id="{3762DBDA-F167-5453-18EB-7CE39CF6FE68}"/>
                </a:ext>
              </a:extLst>
            </p:cNvPr>
            <p:cNvSpPr>
              <a:spLocks noChangeArrowheads="1"/>
            </p:cNvSpPr>
            <p:nvPr/>
          </p:nvSpPr>
          <p:spPr bwMode="auto">
            <a:xfrm>
              <a:off x="3154" y="2769"/>
              <a:ext cx="716" cy="223"/>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04" name="Line 21">
              <a:extLst>
                <a:ext uri="{FF2B5EF4-FFF2-40B4-BE49-F238E27FC236}">
                  <a16:creationId xmlns:a16="http://schemas.microsoft.com/office/drawing/2014/main" id="{2B842106-43C6-808D-3774-23D89F9AC94F}"/>
                </a:ext>
              </a:extLst>
            </p:cNvPr>
            <p:cNvSpPr>
              <a:spLocks noChangeShapeType="1"/>
            </p:cNvSpPr>
            <p:nvPr/>
          </p:nvSpPr>
          <p:spPr bwMode="auto">
            <a:xfrm>
              <a:off x="3180" y="3047"/>
              <a:ext cx="492"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5" name="Rectangle 22">
              <a:extLst>
                <a:ext uri="{FF2B5EF4-FFF2-40B4-BE49-F238E27FC236}">
                  <a16:creationId xmlns:a16="http://schemas.microsoft.com/office/drawing/2014/main" id="{CB68B00C-9253-0C7E-8056-A9881AB3FF39}"/>
                </a:ext>
              </a:extLst>
            </p:cNvPr>
            <p:cNvSpPr>
              <a:spLocks noChangeArrowheads="1"/>
            </p:cNvSpPr>
            <p:nvPr/>
          </p:nvSpPr>
          <p:spPr bwMode="auto">
            <a:xfrm>
              <a:off x="3180" y="2958"/>
              <a:ext cx="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06" name="Rectangle 26">
              <a:extLst>
                <a:ext uri="{FF2B5EF4-FFF2-40B4-BE49-F238E27FC236}">
                  <a16:creationId xmlns:a16="http://schemas.microsoft.com/office/drawing/2014/main" id="{778F1F73-AF67-F7AA-E80A-E1C58A91CC1D}"/>
                </a:ext>
              </a:extLst>
            </p:cNvPr>
            <p:cNvSpPr>
              <a:spLocks noChangeArrowheads="1"/>
            </p:cNvSpPr>
            <p:nvPr/>
          </p:nvSpPr>
          <p:spPr bwMode="auto">
            <a:xfrm>
              <a:off x="3979" y="3062"/>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07" name="Rectangle 27">
              <a:extLst>
                <a:ext uri="{FF2B5EF4-FFF2-40B4-BE49-F238E27FC236}">
                  <a16:creationId xmlns:a16="http://schemas.microsoft.com/office/drawing/2014/main" id="{33C6FE32-7589-79D9-4D73-846389D015F6}"/>
                </a:ext>
              </a:extLst>
            </p:cNvPr>
            <p:cNvSpPr>
              <a:spLocks noChangeArrowheads="1"/>
            </p:cNvSpPr>
            <p:nvPr/>
          </p:nvSpPr>
          <p:spPr bwMode="auto">
            <a:xfrm>
              <a:off x="4061" y="3092"/>
              <a:ext cx="50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SalesLineItem</a:t>
              </a:r>
              <a:endParaRPr lang="en-US" altLang="en-US"/>
            </a:p>
          </p:txBody>
        </p:sp>
        <p:sp>
          <p:nvSpPr>
            <p:cNvPr id="16408" name="Rectangle 28">
              <a:extLst>
                <a:ext uri="{FF2B5EF4-FFF2-40B4-BE49-F238E27FC236}">
                  <a16:creationId xmlns:a16="http://schemas.microsoft.com/office/drawing/2014/main" id="{59EEC7D0-C8F0-9484-A86C-2A927E650F43}"/>
                </a:ext>
              </a:extLst>
            </p:cNvPr>
            <p:cNvSpPr>
              <a:spLocks noChangeArrowheads="1"/>
            </p:cNvSpPr>
            <p:nvPr/>
          </p:nvSpPr>
          <p:spPr bwMode="auto">
            <a:xfrm>
              <a:off x="3979" y="3241"/>
              <a:ext cx="657" cy="180"/>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09" name="Rectangle 29">
              <a:extLst>
                <a:ext uri="{FF2B5EF4-FFF2-40B4-BE49-F238E27FC236}">
                  <a16:creationId xmlns:a16="http://schemas.microsoft.com/office/drawing/2014/main" id="{A641BDC9-96A8-A452-5728-1B37A56F47DC}"/>
                </a:ext>
              </a:extLst>
            </p:cNvPr>
            <p:cNvSpPr>
              <a:spLocks noChangeArrowheads="1"/>
            </p:cNvSpPr>
            <p:nvPr/>
          </p:nvSpPr>
          <p:spPr bwMode="auto">
            <a:xfrm>
              <a:off x="4023" y="3271"/>
              <a:ext cx="28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quantity</a:t>
              </a:r>
              <a:endParaRPr lang="en-US" altLang="en-US"/>
            </a:p>
          </p:txBody>
        </p:sp>
        <p:sp>
          <p:nvSpPr>
            <p:cNvPr id="16410" name="Rectangle 30">
              <a:extLst>
                <a:ext uri="{FF2B5EF4-FFF2-40B4-BE49-F238E27FC236}">
                  <a16:creationId xmlns:a16="http://schemas.microsoft.com/office/drawing/2014/main" id="{123AF2A8-F1F2-B0D0-E04B-DDFEE83ECE8A}"/>
                </a:ext>
              </a:extLst>
            </p:cNvPr>
            <p:cNvSpPr>
              <a:spLocks noChangeArrowheads="1"/>
            </p:cNvSpPr>
            <p:nvPr/>
          </p:nvSpPr>
          <p:spPr bwMode="auto">
            <a:xfrm>
              <a:off x="3979" y="3421"/>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11" name="Rectangle 31">
              <a:extLst>
                <a:ext uri="{FF2B5EF4-FFF2-40B4-BE49-F238E27FC236}">
                  <a16:creationId xmlns:a16="http://schemas.microsoft.com/office/drawing/2014/main" id="{86E0E1FF-DE9D-3F32-DB1C-7B3855753F92}"/>
                </a:ext>
              </a:extLst>
            </p:cNvPr>
            <p:cNvSpPr>
              <a:spLocks noChangeArrowheads="1"/>
            </p:cNvSpPr>
            <p:nvPr/>
          </p:nvSpPr>
          <p:spPr bwMode="auto">
            <a:xfrm>
              <a:off x="4023" y="3450"/>
              <a:ext cx="33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subtotal()</a:t>
              </a:r>
              <a:endParaRPr lang="en-US" altLang="en-US"/>
            </a:p>
          </p:txBody>
        </p:sp>
        <p:sp>
          <p:nvSpPr>
            <p:cNvPr id="16412" name="Line 34">
              <a:extLst>
                <a:ext uri="{FF2B5EF4-FFF2-40B4-BE49-F238E27FC236}">
                  <a16:creationId xmlns:a16="http://schemas.microsoft.com/office/drawing/2014/main" id="{4EDEA0C6-7A21-426E-A833-DB68F381FBE3}"/>
                </a:ext>
              </a:extLst>
            </p:cNvPr>
            <p:cNvSpPr>
              <a:spLocks noChangeShapeType="1"/>
            </p:cNvSpPr>
            <p:nvPr/>
          </p:nvSpPr>
          <p:spPr bwMode="auto">
            <a:xfrm>
              <a:off x="3292" y="3510"/>
              <a:ext cx="604" cy="1"/>
            </a:xfrm>
            <a:prstGeom prst="line">
              <a:avLst/>
            </a:prstGeom>
            <a:noFill/>
            <a:ln w="7">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413" name="Freeform 35">
              <a:extLst>
                <a:ext uri="{FF2B5EF4-FFF2-40B4-BE49-F238E27FC236}">
                  <a16:creationId xmlns:a16="http://schemas.microsoft.com/office/drawing/2014/main" id="{6F67D659-A531-E2B9-DE11-E400BB144D00}"/>
                </a:ext>
              </a:extLst>
            </p:cNvPr>
            <p:cNvSpPr>
              <a:spLocks/>
            </p:cNvSpPr>
            <p:nvPr/>
          </p:nvSpPr>
          <p:spPr bwMode="auto">
            <a:xfrm>
              <a:off x="3896" y="3488"/>
              <a:ext cx="45" cy="44"/>
            </a:xfrm>
            <a:custGeom>
              <a:avLst/>
              <a:gdLst>
                <a:gd name="T0" fmla="*/ 0 w 45"/>
                <a:gd name="T1" fmla="*/ 22 h 44"/>
                <a:gd name="T2" fmla="*/ 0 w 45"/>
                <a:gd name="T3" fmla="*/ 30 h 44"/>
                <a:gd name="T4" fmla="*/ 8 w 45"/>
                <a:gd name="T5" fmla="*/ 30 h 44"/>
                <a:gd name="T6" fmla="*/ 8 w 45"/>
                <a:gd name="T7" fmla="*/ 37 h 44"/>
                <a:gd name="T8" fmla="*/ 15 w 45"/>
                <a:gd name="T9" fmla="*/ 37 h 44"/>
                <a:gd name="T10" fmla="*/ 23 w 45"/>
                <a:gd name="T11" fmla="*/ 44 h 44"/>
                <a:gd name="T12" fmla="*/ 23 w 45"/>
                <a:gd name="T13" fmla="*/ 44 h 44"/>
                <a:gd name="T14" fmla="*/ 30 w 45"/>
                <a:gd name="T15" fmla="*/ 37 h 44"/>
                <a:gd name="T16" fmla="*/ 38 w 45"/>
                <a:gd name="T17" fmla="*/ 37 h 44"/>
                <a:gd name="T18" fmla="*/ 38 w 45"/>
                <a:gd name="T19" fmla="*/ 30 h 44"/>
                <a:gd name="T20" fmla="*/ 45 w 45"/>
                <a:gd name="T21" fmla="*/ 30 h 44"/>
                <a:gd name="T22" fmla="*/ 45 w 45"/>
                <a:gd name="T23" fmla="*/ 22 h 44"/>
                <a:gd name="T24" fmla="*/ 45 w 45"/>
                <a:gd name="T25" fmla="*/ 15 h 44"/>
                <a:gd name="T26" fmla="*/ 38 w 45"/>
                <a:gd name="T27" fmla="*/ 7 h 44"/>
                <a:gd name="T28" fmla="*/ 38 w 45"/>
                <a:gd name="T29" fmla="*/ 7 h 44"/>
                <a:gd name="T30" fmla="*/ 30 w 45"/>
                <a:gd name="T31" fmla="*/ 0 h 44"/>
                <a:gd name="T32" fmla="*/ 23 w 45"/>
                <a:gd name="T33" fmla="*/ 0 h 44"/>
                <a:gd name="T34" fmla="*/ 23 w 45"/>
                <a:gd name="T35" fmla="*/ 0 h 44"/>
                <a:gd name="T36" fmla="*/ 15 w 45"/>
                <a:gd name="T37" fmla="*/ 0 h 44"/>
                <a:gd name="T38" fmla="*/ 8 w 45"/>
                <a:gd name="T39" fmla="*/ 7 h 44"/>
                <a:gd name="T40" fmla="*/ 8 w 45"/>
                <a:gd name="T41" fmla="*/ 7 h 44"/>
                <a:gd name="T42" fmla="*/ 0 w 45"/>
                <a:gd name="T43" fmla="*/ 15 h 44"/>
                <a:gd name="T44" fmla="*/ 0 w 45"/>
                <a:gd name="T45" fmla="*/ 22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5"/>
                <a:gd name="T70" fmla="*/ 0 h 44"/>
                <a:gd name="T71" fmla="*/ 45 w 45"/>
                <a:gd name="T72" fmla="*/ 44 h 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5" h="44">
                  <a:moveTo>
                    <a:pt x="0" y="22"/>
                  </a:moveTo>
                  <a:lnTo>
                    <a:pt x="0" y="30"/>
                  </a:lnTo>
                  <a:lnTo>
                    <a:pt x="8" y="30"/>
                  </a:lnTo>
                  <a:lnTo>
                    <a:pt x="8" y="37"/>
                  </a:lnTo>
                  <a:lnTo>
                    <a:pt x="15" y="37"/>
                  </a:lnTo>
                  <a:lnTo>
                    <a:pt x="23" y="44"/>
                  </a:lnTo>
                  <a:lnTo>
                    <a:pt x="30" y="37"/>
                  </a:lnTo>
                  <a:lnTo>
                    <a:pt x="38" y="37"/>
                  </a:lnTo>
                  <a:lnTo>
                    <a:pt x="38" y="30"/>
                  </a:lnTo>
                  <a:lnTo>
                    <a:pt x="45" y="30"/>
                  </a:lnTo>
                  <a:lnTo>
                    <a:pt x="45" y="22"/>
                  </a:lnTo>
                  <a:lnTo>
                    <a:pt x="45" y="15"/>
                  </a:lnTo>
                  <a:lnTo>
                    <a:pt x="38" y="7"/>
                  </a:lnTo>
                  <a:lnTo>
                    <a:pt x="30" y="0"/>
                  </a:lnTo>
                  <a:lnTo>
                    <a:pt x="23" y="0"/>
                  </a:lnTo>
                  <a:lnTo>
                    <a:pt x="15" y="0"/>
                  </a:lnTo>
                  <a:lnTo>
                    <a:pt x="8" y="7"/>
                  </a:lnTo>
                  <a:lnTo>
                    <a:pt x="0" y="15"/>
                  </a:lnTo>
                  <a:lnTo>
                    <a:pt x="0" y="22"/>
                  </a:lnTo>
                </a:path>
              </a:pathLst>
            </a:custGeom>
            <a:noFill/>
            <a:ln w="7">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14" name="Rectangle 36">
              <a:extLst>
                <a:ext uri="{FF2B5EF4-FFF2-40B4-BE49-F238E27FC236}">
                  <a16:creationId xmlns:a16="http://schemas.microsoft.com/office/drawing/2014/main" id="{989818FA-A456-1307-C48F-817CE117DC92}"/>
                </a:ext>
              </a:extLst>
            </p:cNvPr>
            <p:cNvSpPr>
              <a:spLocks noChangeArrowheads="1"/>
            </p:cNvSpPr>
            <p:nvPr/>
          </p:nvSpPr>
          <p:spPr bwMode="auto">
            <a:xfrm>
              <a:off x="2665" y="3406"/>
              <a:ext cx="806" cy="201"/>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15" name="Rectangle 37">
              <a:extLst>
                <a:ext uri="{FF2B5EF4-FFF2-40B4-BE49-F238E27FC236}">
                  <a16:creationId xmlns:a16="http://schemas.microsoft.com/office/drawing/2014/main" id="{738F732D-B175-7D2B-8D6B-9525B8F7E0D4}"/>
                </a:ext>
              </a:extLst>
            </p:cNvPr>
            <p:cNvSpPr>
              <a:spLocks noChangeArrowheads="1"/>
            </p:cNvSpPr>
            <p:nvPr/>
          </p:nvSpPr>
          <p:spPr bwMode="auto">
            <a:xfrm>
              <a:off x="2702" y="3436"/>
              <a:ext cx="45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New method</a:t>
              </a:r>
              <a:endParaRPr lang="en-US" altLang="en-US"/>
            </a:p>
          </p:txBody>
        </p:sp>
        <p:sp>
          <p:nvSpPr>
            <p:cNvPr id="16416" name="Freeform 38">
              <a:extLst>
                <a:ext uri="{FF2B5EF4-FFF2-40B4-BE49-F238E27FC236}">
                  <a16:creationId xmlns:a16="http://schemas.microsoft.com/office/drawing/2014/main" id="{C2E7812C-1DB1-CE4B-9635-3B8F27EDC712}"/>
                </a:ext>
              </a:extLst>
            </p:cNvPr>
            <p:cNvSpPr>
              <a:spLocks/>
            </p:cNvSpPr>
            <p:nvPr/>
          </p:nvSpPr>
          <p:spPr bwMode="auto">
            <a:xfrm>
              <a:off x="3396" y="3406"/>
              <a:ext cx="75" cy="52"/>
            </a:xfrm>
            <a:custGeom>
              <a:avLst/>
              <a:gdLst>
                <a:gd name="T0" fmla="*/ 0 w 75"/>
                <a:gd name="T1" fmla="*/ 0 h 52"/>
                <a:gd name="T2" fmla="*/ 75 w 75"/>
                <a:gd name="T3" fmla="*/ 52 h 52"/>
                <a:gd name="T4" fmla="*/ 75 w 75"/>
                <a:gd name="T5" fmla="*/ 0 h 52"/>
                <a:gd name="T6" fmla="*/ 0 w 75"/>
                <a:gd name="T7" fmla="*/ 0 h 52"/>
                <a:gd name="T8" fmla="*/ 0 60000 65536"/>
                <a:gd name="T9" fmla="*/ 0 60000 65536"/>
                <a:gd name="T10" fmla="*/ 0 60000 65536"/>
                <a:gd name="T11" fmla="*/ 0 60000 65536"/>
                <a:gd name="T12" fmla="*/ 0 w 75"/>
                <a:gd name="T13" fmla="*/ 0 h 52"/>
                <a:gd name="T14" fmla="*/ 75 w 75"/>
                <a:gd name="T15" fmla="*/ 52 h 52"/>
              </a:gdLst>
              <a:ahLst/>
              <a:cxnLst>
                <a:cxn ang="T8">
                  <a:pos x="T0" y="T1"/>
                </a:cxn>
                <a:cxn ang="T9">
                  <a:pos x="T2" y="T3"/>
                </a:cxn>
                <a:cxn ang="T10">
                  <a:pos x="T4" y="T5"/>
                </a:cxn>
                <a:cxn ang="T11">
                  <a:pos x="T6" y="T7"/>
                </a:cxn>
              </a:cxnLst>
              <a:rect l="T12" t="T13" r="T14" b="T15"/>
              <a:pathLst>
                <a:path w="75" h="52">
                  <a:moveTo>
                    <a:pt x="0" y="0"/>
                  </a:moveTo>
                  <a:lnTo>
                    <a:pt x="75" y="52"/>
                  </a:lnTo>
                  <a:lnTo>
                    <a:pt x="75" y="0"/>
                  </a:lnTo>
                  <a:lnTo>
                    <a:pt x="0" y="0"/>
                  </a:lnTo>
                  <a:close/>
                </a:path>
              </a:pathLst>
            </a:custGeom>
            <a:solidFill>
              <a:srgbClr val="FFFFFF"/>
            </a:solidFill>
            <a:ln w="7">
              <a:solidFill>
                <a:srgbClr val="FFFFFF"/>
              </a:solidFill>
              <a:round/>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17" name="Freeform 39">
              <a:extLst>
                <a:ext uri="{FF2B5EF4-FFF2-40B4-BE49-F238E27FC236}">
                  <a16:creationId xmlns:a16="http://schemas.microsoft.com/office/drawing/2014/main" id="{F9DCC4C5-C26A-32D5-9426-F5F96E4161F8}"/>
                </a:ext>
              </a:extLst>
            </p:cNvPr>
            <p:cNvSpPr>
              <a:spLocks/>
            </p:cNvSpPr>
            <p:nvPr/>
          </p:nvSpPr>
          <p:spPr bwMode="auto">
            <a:xfrm>
              <a:off x="3396" y="3406"/>
              <a:ext cx="75" cy="52"/>
            </a:xfrm>
            <a:custGeom>
              <a:avLst/>
              <a:gdLst>
                <a:gd name="T0" fmla="*/ 75 w 75"/>
                <a:gd name="T1" fmla="*/ 52 h 52"/>
                <a:gd name="T2" fmla="*/ 0 w 75"/>
                <a:gd name="T3" fmla="*/ 0 h 52"/>
                <a:gd name="T4" fmla="*/ 0 w 75"/>
                <a:gd name="T5" fmla="*/ 52 h 52"/>
                <a:gd name="T6" fmla="*/ 75 w 75"/>
                <a:gd name="T7" fmla="*/ 52 h 52"/>
                <a:gd name="T8" fmla="*/ 0 60000 65536"/>
                <a:gd name="T9" fmla="*/ 0 60000 65536"/>
                <a:gd name="T10" fmla="*/ 0 60000 65536"/>
                <a:gd name="T11" fmla="*/ 0 60000 65536"/>
                <a:gd name="T12" fmla="*/ 0 w 75"/>
                <a:gd name="T13" fmla="*/ 0 h 52"/>
                <a:gd name="T14" fmla="*/ 75 w 75"/>
                <a:gd name="T15" fmla="*/ 52 h 52"/>
              </a:gdLst>
              <a:ahLst/>
              <a:cxnLst>
                <a:cxn ang="T8">
                  <a:pos x="T0" y="T1"/>
                </a:cxn>
                <a:cxn ang="T9">
                  <a:pos x="T2" y="T3"/>
                </a:cxn>
                <a:cxn ang="T10">
                  <a:pos x="T4" y="T5"/>
                </a:cxn>
                <a:cxn ang="T11">
                  <a:pos x="T6" y="T7"/>
                </a:cxn>
              </a:cxnLst>
              <a:rect l="T12" t="T13" r="T14" b="T15"/>
              <a:pathLst>
                <a:path w="75" h="52">
                  <a:moveTo>
                    <a:pt x="75" y="52"/>
                  </a:moveTo>
                  <a:lnTo>
                    <a:pt x="0" y="0"/>
                  </a:lnTo>
                  <a:lnTo>
                    <a:pt x="0" y="52"/>
                  </a:lnTo>
                  <a:lnTo>
                    <a:pt x="75" y="52"/>
                  </a:lnTo>
                  <a:close/>
                </a:path>
              </a:pathLst>
            </a:custGeom>
            <a:solidFill>
              <a:srgbClr val="000000"/>
            </a:solidFill>
            <a:ln w="7">
              <a:solidFill>
                <a:srgbClr val="000000"/>
              </a:solidFill>
              <a:round/>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18" name="Line 40">
              <a:extLst>
                <a:ext uri="{FF2B5EF4-FFF2-40B4-BE49-F238E27FC236}">
                  <a16:creationId xmlns:a16="http://schemas.microsoft.com/office/drawing/2014/main" id="{5E8AEF4B-CA4D-C6D7-962B-557EEB261351}"/>
                </a:ext>
              </a:extLst>
            </p:cNvPr>
            <p:cNvSpPr>
              <a:spLocks noChangeShapeType="1"/>
            </p:cNvSpPr>
            <p:nvPr/>
          </p:nvSpPr>
          <p:spPr bwMode="auto">
            <a:xfrm>
              <a:off x="1716" y="2302"/>
              <a:ext cx="277" cy="0"/>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9" name="Freeform 41">
              <a:extLst>
                <a:ext uri="{FF2B5EF4-FFF2-40B4-BE49-F238E27FC236}">
                  <a16:creationId xmlns:a16="http://schemas.microsoft.com/office/drawing/2014/main" id="{C9C26D2F-A16B-7099-52BA-799517A1714B}"/>
                </a:ext>
              </a:extLst>
            </p:cNvPr>
            <p:cNvSpPr>
              <a:spLocks/>
            </p:cNvSpPr>
            <p:nvPr/>
          </p:nvSpPr>
          <p:spPr bwMode="auto">
            <a:xfrm>
              <a:off x="1985" y="2279"/>
              <a:ext cx="52" cy="37"/>
            </a:xfrm>
            <a:custGeom>
              <a:avLst/>
              <a:gdLst>
                <a:gd name="T0" fmla="*/ 0 w 52"/>
                <a:gd name="T1" fmla="*/ 37 h 37"/>
                <a:gd name="T2" fmla="*/ 52 w 52"/>
                <a:gd name="T3" fmla="*/ 22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22"/>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20" name="Rectangle 44">
              <a:extLst>
                <a:ext uri="{FF2B5EF4-FFF2-40B4-BE49-F238E27FC236}">
                  <a16:creationId xmlns:a16="http://schemas.microsoft.com/office/drawing/2014/main" id="{A6D32730-0DF3-FF09-1093-3407C9B16485}"/>
                </a:ext>
              </a:extLst>
            </p:cNvPr>
            <p:cNvSpPr>
              <a:spLocks noChangeArrowheads="1"/>
            </p:cNvSpPr>
            <p:nvPr/>
          </p:nvSpPr>
          <p:spPr bwMode="auto">
            <a:xfrm>
              <a:off x="3095" y="2829"/>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21" name="Rectangle 46">
              <a:extLst>
                <a:ext uri="{FF2B5EF4-FFF2-40B4-BE49-F238E27FC236}">
                  <a16:creationId xmlns:a16="http://schemas.microsoft.com/office/drawing/2014/main" id="{F689B082-BDAB-7BDA-925D-C7F6119482BC}"/>
                </a:ext>
              </a:extLst>
            </p:cNvPr>
            <p:cNvSpPr>
              <a:spLocks noChangeArrowheads="1"/>
            </p:cNvSpPr>
            <p:nvPr/>
          </p:nvSpPr>
          <p:spPr bwMode="auto">
            <a:xfrm>
              <a:off x="3120" y="2867"/>
              <a:ext cx="65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:SalesLineItem</a:t>
              </a:r>
              <a:endParaRPr lang="en-US" altLang="en-US"/>
            </a:p>
          </p:txBody>
        </p:sp>
        <p:sp>
          <p:nvSpPr>
            <p:cNvPr id="16422" name="Freeform 47">
              <a:extLst>
                <a:ext uri="{FF2B5EF4-FFF2-40B4-BE49-F238E27FC236}">
                  <a16:creationId xmlns:a16="http://schemas.microsoft.com/office/drawing/2014/main" id="{A8A8AC45-C6FB-BAE0-0384-8BF7BCE59AA6}"/>
                </a:ext>
              </a:extLst>
            </p:cNvPr>
            <p:cNvSpPr>
              <a:spLocks/>
            </p:cNvSpPr>
            <p:nvPr/>
          </p:nvSpPr>
          <p:spPr bwMode="auto">
            <a:xfrm>
              <a:off x="2844" y="2368"/>
              <a:ext cx="582" cy="538"/>
            </a:xfrm>
            <a:custGeom>
              <a:avLst/>
              <a:gdLst>
                <a:gd name="T0" fmla="*/ 0 w 582"/>
                <a:gd name="T1" fmla="*/ 0 h 538"/>
                <a:gd name="T2" fmla="*/ 582 w 582"/>
                <a:gd name="T3" fmla="*/ 0 h 538"/>
                <a:gd name="T4" fmla="*/ 582 w 582"/>
                <a:gd name="T5" fmla="*/ 538 h 538"/>
                <a:gd name="T6" fmla="*/ 0 60000 65536"/>
                <a:gd name="T7" fmla="*/ 0 60000 65536"/>
                <a:gd name="T8" fmla="*/ 0 60000 65536"/>
                <a:gd name="T9" fmla="*/ 0 w 582"/>
                <a:gd name="T10" fmla="*/ 0 h 538"/>
                <a:gd name="T11" fmla="*/ 582 w 582"/>
                <a:gd name="T12" fmla="*/ 538 h 538"/>
              </a:gdLst>
              <a:ahLst/>
              <a:cxnLst>
                <a:cxn ang="T6">
                  <a:pos x="T0" y="T1"/>
                </a:cxn>
                <a:cxn ang="T7">
                  <a:pos x="T2" y="T3"/>
                </a:cxn>
                <a:cxn ang="T8">
                  <a:pos x="T4" y="T5"/>
                </a:cxn>
              </a:cxnLst>
              <a:rect l="T9" t="T10" r="T11" b="T12"/>
              <a:pathLst>
                <a:path w="582" h="538">
                  <a:moveTo>
                    <a:pt x="0" y="0"/>
                  </a:moveTo>
                  <a:lnTo>
                    <a:pt x="582" y="0"/>
                  </a:lnTo>
                  <a:lnTo>
                    <a:pt x="582" y="538"/>
                  </a:lnTo>
                </a:path>
              </a:pathLst>
            </a:custGeom>
            <a:noFill/>
            <a:ln w="7">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6423" name="Rectangle 48">
              <a:extLst>
                <a:ext uri="{FF2B5EF4-FFF2-40B4-BE49-F238E27FC236}">
                  <a16:creationId xmlns:a16="http://schemas.microsoft.com/office/drawing/2014/main" id="{90094380-E7A9-2321-10F3-7A5CF2BA1464}"/>
                </a:ext>
              </a:extLst>
            </p:cNvPr>
            <p:cNvSpPr>
              <a:spLocks noChangeArrowheads="1"/>
            </p:cNvSpPr>
            <p:nvPr/>
          </p:nvSpPr>
          <p:spPr bwMode="auto">
            <a:xfrm>
              <a:off x="2959" y="2160"/>
              <a:ext cx="94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 sli := subtotal()</a:t>
              </a:r>
              <a:endParaRPr lang="en-US" altLang="en-US"/>
            </a:p>
          </p:txBody>
        </p:sp>
        <p:sp>
          <p:nvSpPr>
            <p:cNvPr id="16424" name="Line 49">
              <a:extLst>
                <a:ext uri="{FF2B5EF4-FFF2-40B4-BE49-F238E27FC236}">
                  <a16:creationId xmlns:a16="http://schemas.microsoft.com/office/drawing/2014/main" id="{B63EABF3-CCEA-FF5C-9337-A4B2979BDC85}"/>
                </a:ext>
              </a:extLst>
            </p:cNvPr>
            <p:cNvSpPr>
              <a:spLocks noChangeShapeType="1"/>
            </p:cNvSpPr>
            <p:nvPr/>
          </p:nvSpPr>
          <p:spPr bwMode="auto">
            <a:xfrm>
              <a:off x="3516" y="2435"/>
              <a:ext cx="1" cy="90"/>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5" name="Freeform 50">
              <a:extLst>
                <a:ext uri="{FF2B5EF4-FFF2-40B4-BE49-F238E27FC236}">
                  <a16:creationId xmlns:a16="http://schemas.microsoft.com/office/drawing/2014/main" id="{8A6CB915-59A0-1C3D-4622-2E9AEFB1EE79}"/>
                </a:ext>
              </a:extLst>
            </p:cNvPr>
            <p:cNvSpPr>
              <a:spLocks/>
            </p:cNvSpPr>
            <p:nvPr/>
          </p:nvSpPr>
          <p:spPr bwMode="auto">
            <a:xfrm>
              <a:off x="3501" y="2518"/>
              <a:ext cx="30" cy="52"/>
            </a:xfrm>
            <a:custGeom>
              <a:avLst/>
              <a:gdLst>
                <a:gd name="T0" fmla="*/ 30 w 30"/>
                <a:gd name="T1" fmla="*/ 0 h 52"/>
                <a:gd name="T2" fmla="*/ 15 w 30"/>
                <a:gd name="T3" fmla="*/ 52 h 52"/>
                <a:gd name="T4" fmla="*/ 0 w 30"/>
                <a:gd name="T5" fmla="*/ 0 h 52"/>
                <a:gd name="T6" fmla="*/ 30 w 30"/>
                <a:gd name="T7" fmla="*/ 0 h 52"/>
                <a:gd name="T8" fmla="*/ 0 60000 65536"/>
                <a:gd name="T9" fmla="*/ 0 60000 65536"/>
                <a:gd name="T10" fmla="*/ 0 60000 65536"/>
                <a:gd name="T11" fmla="*/ 0 60000 65536"/>
                <a:gd name="T12" fmla="*/ 0 w 30"/>
                <a:gd name="T13" fmla="*/ 0 h 52"/>
                <a:gd name="T14" fmla="*/ 30 w 30"/>
                <a:gd name="T15" fmla="*/ 52 h 52"/>
              </a:gdLst>
              <a:ahLst/>
              <a:cxnLst>
                <a:cxn ang="T8">
                  <a:pos x="T0" y="T1"/>
                </a:cxn>
                <a:cxn ang="T9">
                  <a:pos x="T2" y="T3"/>
                </a:cxn>
                <a:cxn ang="T10">
                  <a:pos x="T4" y="T5"/>
                </a:cxn>
                <a:cxn ang="T11">
                  <a:pos x="T6" y="T7"/>
                </a:cxn>
              </a:cxnLst>
              <a:rect l="T12" t="T13" r="T14" b="T15"/>
              <a:pathLst>
                <a:path w="30" h="52">
                  <a:moveTo>
                    <a:pt x="30" y="0"/>
                  </a:moveTo>
                  <a:lnTo>
                    <a:pt x="15" y="52"/>
                  </a:lnTo>
                  <a:lnTo>
                    <a:pt x="0" y="0"/>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1159257E-882D-F25A-0CBB-B88E86CF50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3E114932-3753-4444-9351-E3FF2C00837B}" type="slidenum">
              <a:rPr lang="de-DE" altLang="en-US" sz="1000"/>
              <a:pPr/>
              <a:t>33</a:t>
            </a:fld>
            <a:endParaRPr lang="de-DE" altLang="en-US" sz="1000"/>
          </a:p>
        </p:txBody>
      </p:sp>
      <p:sp>
        <p:nvSpPr>
          <p:cNvPr id="17411" name="Rectangle 2">
            <a:extLst>
              <a:ext uri="{FF2B5EF4-FFF2-40B4-BE49-F238E27FC236}">
                <a16:creationId xmlns:a16="http://schemas.microsoft.com/office/drawing/2014/main" id="{4C3BAF8C-1E82-0870-4E42-615946D476D1}"/>
              </a:ext>
            </a:extLst>
          </p:cNvPr>
          <p:cNvSpPr>
            <a:spLocks noGrp="1" noChangeArrowheads="1"/>
          </p:cNvSpPr>
          <p:nvPr>
            <p:ph type="title"/>
          </p:nvPr>
        </p:nvSpPr>
        <p:spPr/>
        <p:txBody>
          <a:bodyPr/>
          <a:lstStyle/>
          <a:p>
            <a:r>
              <a:rPr lang="en-US" altLang="en-US"/>
              <a:t>…Expert – example…</a:t>
            </a:r>
          </a:p>
        </p:txBody>
      </p:sp>
      <p:sp>
        <p:nvSpPr>
          <p:cNvPr id="17412" name="Rectangle 3">
            <a:extLst>
              <a:ext uri="{FF2B5EF4-FFF2-40B4-BE49-F238E27FC236}">
                <a16:creationId xmlns:a16="http://schemas.microsoft.com/office/drawing/2014/main" id="{6070EFF7-F0DA-815C-1413-0165914C0420}"/>
              </a:ext>
            </a:extLst>
          </p:cNvPr>
          <p:cNvSpPr>
            <a:spLocks noGrp="1" noChangeArrowheads="1"/>
          </p:cNvSpPr>
          <p:nvPr>
            <p:ph type="body" idx="1"/>
          </p:nvPr>
        </p:nvSpPr>
        <p:spPr/>
        <p:txBody>
          <a:bodyPr/>
          <a:lstStyle/>
          <a:p>
            <a:pPr marL="342900" indent="-342900"/>
            <a:r>
              <a:rPr lang="en-US" altLang="en-US" sz="3600" dirty="0"/>
              <a:t>And finally,</a:t>
            </a:r>
          </a:p>
        </p:txBody>
      </p:sp>
      <p:grpSp>
        <p:nvGrpSpPr>
          <p:cNvPr id="17413" name="Group 7">
            <a:extLst>
              <a:ext uri="{FF2B5EF4-FFF2-40B4-BE49-F238E27FC236}">
                <a16:creationId xmlns:a16="http://schemas.microsoft.com/office/drawing/2014/main" id="{8245C110-129A-6B5C-0A59-90C27974CAEB}"/>
              </a:ext>
            </a:extLst>
          </p:cNvPr>
          <p:cNvGrpSpPr>
            <a:grpSpLocks noChangeAspect="1"/>
          </p:cNvGrpSpPr>
          <p:nvPr/>
        </p:nvGrpSpPr>
        <p:grpSpPr bwMode="auto">
          <a:xfrm>
            <a:off x="3505200" y="2489201"/>
            <a:ext cx="5392738" cy="3725863"/>
            <a:chOff x="1248" y="1568"/>
            <a:chExt cx="3397" cy="2347"/>
          </a:xfrm>
        </p:grpSpPr>
        <p:sp>
          <p:nvSpPr>
            <p:cNvPr id="17414" name="AutoShape 6">
              <a:extLst>
                <a:ext uri="{FF2B5EF4-FFF2-40B4-BE49-F238E27FC236}">
                  <a16:creationId xmlns:a16="http://schemas.microsoft.com/office/drawing/2014/main" id="{5D0E61C0-401F-A851-5E52-554DD67F156A}"/>
                </a:ext>
              </a:extLst>
            </p:cNvPr>
            <p:cNvSpPr>
              <a:spLocks noChangeAspect="1" noChangeArrowheads="1" noTextEdit="1"/>
            </p:cNvSpPr>
            <p:nvPr/>
          </p:nvSpPr>
          <p:spPr bwMode="auto">
            <a:xfrm>
              <a:off x="1248" y="1632"/>
              <a:ext cx="3397" cy="228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15" name="Rectangle 8">
              <a:extLst>
                <a:ext uri="{FF2B5EF4-FFF2-40B4-BE49-F238E27FC236}">
                  <a16:creationId xmlns:a16="http://schemas.microsoft.com/office/drawing/2014/main" id="{D0BE0A7B-5534-B698-6593-C17C5508098A}"/>
                </a:ext>
              </a:extLst>
            </p:cNvPr>
            <p:cNvSpPr>
              <a:spLocks noChangeArrowheads="1"/>
            </p:cNvSpPr>
            <p:nvPr/>
          </p:nvSpPr>
          <p:spPr bwMode="auto">
            <a:xfrm>
              <a:off x="3981" y="1654"/>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16" name="Rectangle 9">
              <a:extLst>
                <a:ext uri="{FF2B5EF4-FFF2-40B4-BE49-F238E27FC236}">
                  <a16:creationId xmlns:a16="http://schemas.microsoft.com/office/drawing/2014/main" id="{EF357669-9344-7AD4-13DC-4DE680244D37}"/>
                </a:ext>
              </a:extLst>
            </p:cNvPr>
            <p:cNvSpPr>
              <a:spLocks noChangeArrowheads="1"/>
            </p:cNvSpPr>
            <p:nvPr/>
          </p:nvSpPr>
          <p:spPr bwMode="auto">
            <a:xfrm>
              <a:off x="4227" y="1684"/>
              <a:ext cx="1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a:t>
              </a:r>
              <a:endParaRPr lang="en-US" altLang="en-US"/>
            </a:p>
          </p:txBody>
        </p:sp>
        <p:sp>
          <p:nvSpPr>
            <p:cNvPr id="17417" name="Rectangle 10">
              <a:extLst>
                <a:ext uri="{FF2B5EF4-FFF2-40B4-BE49-F238E27FC236}">
                  <a16:creationId xmlns:a16="http://schemas.microsoft.com/office/drawing/2014/main" id="{4A317E40-0ED1-7231-3A0E-7E9B2B54CC28}"/>
                </a:ext>
              </a:extLst>
            </p:cNvPr>
            <p:cNvSpPr>
              <a:spLocks noChangeArrowheads="1"/>
            </p:cNvSpPr>
            <p:nvPr/>
          </p:nvSpPr>
          <p:spPr bwMode="auto">
            <a:xfrm>
              <a:off x="3981" y="1833"/>
              <a:ext cx="657" cy="26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18" name="Rectangle 11">
              <a:extLst>
                <a:ext uri="{FF2B5EF4-FFF2-40B4-BE49-F238E27FC236}">
                  <a16:creationId xmlns:a16="http://schemas.microsoft.com/office/drawing/2014/main" id="{D57DF825-C024-F7E5-ED8F-498186814A6C}"/>
                </a:ext>
              </a:extLst>
            </p:cNvPr>
            <p:cNvSpPr>
              <a:spLocks noChangeArrowheads="1"/>
            </p:cNvSpPr>
            <p:nvPr/>
          </p:nvSpPr>
          <p:spPr bwMode="auto">
            <a:xfrm>
              <a:off x="4025" y="1863"/>
              <a:ext cx="15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date</a:t>
              </a:r>
              <a:endParaRPr lang="en-US" altLang="en-US"/>
            </a:p>
          </p:txBody>
        </p:sp>
        <p:sp>
          <p:nvSpPr>
            <p:cNvPr id="17419" name="Rectangle 12">
              <a:extLst>
                <a:ext uri="{FF2B5EF4-FFF2-40B4-BE49-F238E27FC236}">
                  <a16:creationId xmlns:a16="http://schemas.microsoft.com/office/drawing/2014/main" id="{272C9649-0C6A-4C2C-2280-531B449DC281}"/>
                </a:ext>
              </a:extLst>
            </p:cNvPr>
            <p:cNvSpPr>
              <a:spLocks noChangeArrowheads="1"/>
            </p:cNvSpPr>
            <p:nvPr/>
          </p:nvSpPr>
          <p:spPr bwMode="auto">
            <a:xfrm>
              <a:off x="4025" y="1953"/>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time</a:t>
              </a:r>
              <a:endParaRPr lang="en-US" altLang="en-US"/>
            </a:p>
          </p:txBody>
        </p:sp>
        <p:sp>
          <p:nvSpPr>
            <p:cNvPr id="17420" name="Rectangle 13">
              <a:extLst>
                <a:ext uri="{FF2B5EF4-FFF2-40B4-BE49-F238E27FC236}">
                  <a16:creationId xmlns:a16="http://schemas.microsoft.com/office/drawing/2014/main" id="{EC32726C-A4E9-8BA1-AB50-EF34E28DE8FE}"/>
                </a:ext>
              </a:extLst>
            </p:cNvPr>
            <p:cNvSpPr>
              <a:spLocks noChangeArrowheads="1"/>
            </p:cNvSpPr>
            <p:nvPr/>
          </p:nvSpPr>
          <p:spPr bwMode="auto">
            <a:xfrm>
              <a:off x="3981" y="2102"/>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21" name="Rectangle 14">
              <a:extLst>
                <a:ext uri="{FF2B5EF4-FFF2-40B4-BE49-F238E27FC236}">
                  <a16:creationId xmlns:a16="http://schemas.microsoft.com/office/drawing/2014/main" id="{A0A654ED-CB0D-B095-740F-387C9CCBD851}"/>
                </a:ext>
              </a:extLst>
            </p:cNvPr>
            <p:cNvSpPr>
              <a:spLocks noChangeArrowheads="1"/>
            </p:cNvSpPr>
            <p:nvPr/>
          </p:nvSpPr>
          <p:spPr bwMode="auto">
            <a:xfrm>
              <a:off x="4025" y="2132"/>
              <a:ext cx="20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total()</a:t>
              </a:r>
              <a:endParaRPr lang="en-US" altLang="en-US"/>
            </a:p>
          </p:txBody>
        </p:sp>
        <p:sp>
          <p:nvSpPr>
            <p:cNvPr id="17422" name="Rectangle 15">
              <a:extLst>
                <a:ext uri="{FF2B5EF4-FFF2-40B4-BE49-F238E27FC236}">
                  <a16:creationId xmlns:a16="http://schemas.microsoft.com/office/drawing/2014/main" id="{6395F48A-8E14-8479-6B26-21B437978840}"/>
                </a:ext>
              </a:extLst>
            </p:cNvPr>
            <p:cNvSpPr>
              <a:spLocks noChangeArrowheads="1"/>
            </p:cNvSpPr>
            <p:nvPr/>
          </p:nvSpPr>
          <p:spPr bwMode="auto">
            <a:xfrm>
              <a:off x="2107" y="1647"/>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23" name="Line 16">
              <a:extLst>
                <a:ext uri="{FF2B5EF4-FFF2-40B4-BE49-F238E27FC236}">
                  <a16:creationId xmlns:a16="http://schemas.microsoft.com/office/drawing/2014/main" id="{77F40178-F065-43F8-32C3-968E989B49B4}"/>
                </a:ext>
              </a:extLst>
            </p:cNvPr>
            <p:cNvSpPr>
              <a:spLocks noChangeShapeType="1"/>
            </p:cNvSpPr>
            <p:nvPr/>
          </p:nvSpPr>
          <p:spPr bwMode="auto">
            <a:xfrm>
              <a:off x="2398" y="1796"/>
              <a:ext cx="17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4" name="Rectangle 17">
              <a:extLst>
                <a:ext uri="{FF2B5EF4-FFF2-40B4-BE49-F238E27FC236}">
                  <a16:creationId xmlns:a16="http://schemas.microsoft.com/office/drawing/2014/main" id="{6CDA2F5F-F70C-9B40-3152-82EAE33BCE75}"/>
                </a:ext>
              </a:extLst>
            </p:cNvPr>
            <p:cNvSpPr>
              <a:spLocks noChangeArrowheads="1"/>
            </p:cNvSpPr>
            <p:nvPr/>
          </p:nvSpPr>
          <p:spPr bwMode="auto">
            <a:xfrm>
              <a:off x="2398" y="1649"/>
              <a:ext cx="18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a:t>
              </a:r>
              <a:endParaRPr lang="en-US" altLang="en-US"/>
            </a:p>
          </p:txBody>
        </p:sp>
        <p:sp>
          <p:nvSpPr>
            <p:cNvPr id="17425" name="Line 18">
              <a:extLst>
                <a:ext uri="{FF2B5EF4-FFF2-40B4-BE49-F238E27FC236}">
                  <a16:creationId xmlns:a16="http://schemas.microsoft.com/office/drawing/2014/main" id="{5E0F3051-F8C8-015A-85A7-4B2A6E303BE5}"/>
                </a:ext>
              </a:extLst>
            </p:cNvPr>
            <p:cNvSpPr>
              <a:spLocks noChangeShapeType="1"/>
            </p:cNvSpPr>
            <p:nvPr/>
          </p:nvSpPr>
          <p:spPr bwMode="auto">
            <a:xfrm>
              <a:off x="1263" y="1766"/>
              <a:ext cx="866"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6" name="Rectangle 19">
              <a:extLst>
                <a:ext uri="{FF2B5EF4-FFF2-40B4-BE49-F238E27FC236}">
                  <a16:creationId xmlns:a16="http://schemas.microsoft.com/office/drawing/2014/main" id="{C23524E4-2E94-B029-3B82-5BDC84E5548C}"/>
                </a:ext>
              </a:extLst>
            </p:cNvPr>
            <p:cNvSpPr>
              <a:spLocks noChangeArrowheads="1"/>
            </p:cNvSpPr>
            <p:nvPr/>
          </p:nvSpPr>
          <p:spPr bwMode="auto">
            <a:xfrm>
              <a:off x="1517" y="1568"/>
              <a:ext cx="41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t := total()</a:t>
              </a:r>
              <a:endParaRPr lang="en-US" altLang="en-US"/>
            </a:p>
          </p:txBody>
        </p:sp>
        <p:sp>
          <p:nvSpPr>
            <p:cNvPr id="17427" name="Rectangle 20">
              <a:extLst>
                <a:ext uri="{FF2B5EF4-FFF2-40B4-BE49-F238E27FC236}">
                  <a16:creationId xmlns:a16="http://schemas.microsoft.com/office/drawing/2014/main" id="{4182656F-FF3A-C1AA-C372-D375905897F1}"/>
                </a:ext>
              </a:extLst>
            </p:cNvPr>
            <p:cNvSpPr>
              <a:spLocks noChangeArrowheads="1"/>
            </p:cNvSpPr>
            <p:nvPr/>
          </p:nvSpPr>
          <p:spPr bwMode="auto">
            <a:xfrm>
              <a:off x="2129" y="2371"/>
              <a:ext cx="717" cy="223"/>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28" name="Line 21">
              <a:extLst>
                <a:ext uri="{FF2B5EF4-FFF2-40B4-BE49-F238E27FC236}">
                  <a16:creationId xmlns:a16="http://schemas.microsoft.com/office/drawing/2014/main" id="{0038544D-7D25-0EA9-F197-133557FB2CCD}"/>
                </a:ext>
              </a:extLst>
            </p:cNvPr>
            <p:cNvSpPr>
              <a:spLocks noChangeShapeType="1"/>
            </p:cNvSpPr>
            <p:nvPr/>
          </p:nvSpPr>
          <p:spPr bwMode="auto">
            <a:xfrm>
              <a:off x="2189" y="2512"/>
              <a:ext cx="5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9" name="Rectangle 23">
              <a:extLst>
                <a:ext uri="{FF2B5EF4-FFF2-40B4-BE49-F238E27FC236}">
                  <a16:creationId xmlns:a16="http://schemas.microsoft.com/office/drawing/2014/main" id="{3E1BC6A9-9DB0-14C7-2621-AFB5A392A203}"/>
                </a:ext>
              </a:extLst>
            </p:cNvPr>
            <p:cNvSpPr>
              <a:spLocks noChangeArrowheads="1"/>
            </p:cNvSpPr>
            <p:nvPr/>
          </p:nvSpPr>
          <p:spPr bwMode="auto">
            <a:xfrm>
              <a:off x="3981" y="2460"/>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30" name="Rectangle 24">
              <a:extLst>
                <a:ext uri="{FF2B5EF4-FFF2-40B4-BE49-F238E27FC236}">
                  <a16:creationId xmlns:a16="http://schemas.microsoft.com/office/drawing/2014/main" id="{2D48B841-930A-F242-002B-E2771DB52F75}"/>
                </a:ext>
              </a:extLst>
            </p:cNvPr>
            <p:cNvSpPr>
              <a:spLocks noChangeArrowheads="1"/>
            </p:cNvSpPr>
            <p:nvPr/>
          </p:nvSpPr>
          <p:spPr bwMode="auto">
            <a:xfrm>
              <a:off x="4063" y="2490"/>
              <a:ext cx="50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SalesLineItem</a:t>
              </a:r>
              <a:endParaRPr lang="en-US" altLang="en-US"/>
            </a:p>
          </p:txBody>
        </p:sp>
        <p:sp>
          <p:nvSpPr>
            <p:cNvPr id="17431" name="Rectangle 25">
              <a:extLst>
                <a:ext uri="{FF2B5EF4-FFF2-40B4-BE49-F238E27FC236}">
                  <a16:creationId xmlns:a16="http://schemas.microsoft.com/office/drawing/2014/main" id="{051298C5-4DF4-D189-9EA8-18C441326D41}"/>
                </a:ext>
              </a:extLst>
            </p:cNvPr>
            <p:cNvSpPr>
              <a:spLocks noChangeArrowheads="1"/>
            </p:cNvSpPr>
            <p:nvPr/>
          </p:nvSpPr>
          <p:spPr bwMode="auto">
            <a:xfrm>
              <a:off x="3981" y="2639"/>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32" name="Rectangle 26">
              <a:extLst>
                <a:ext uri="{FF2B5EF4-FFF2-40B4-BE49-F238E27FC236}">
                  <a16:creationId xmlns:a16="http://schemas.microsoft.com/office/drawing/2014/main" id="{E0DA5501-5754-0DA6-A1BB-9AA4FA00916E}"/>
                </a:ext>
              </a:extLst>
            </p:cNvPr>
            <p:cNvSpPr>
              <a:spLocks noChangeArrowheads="1"/>
            </p:cNvSpPr>
            <p:nvPr/>
          </p:nvSpPr>
          <p:spPr bwMode="auto">
            <a:xfrm>
              <a:off x="4025" y="2669"/>
              <a:ext cx="28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quantity</a:t>
              </a:r>
              <a:endParaRPr lang="en-US" altLang="en-US"/>
            </a:p>
          </p:txBody>
        </p:sp>
        <p:sp>
          <p:nvSpPr>
            <p:cNvPr id="17433" name="Rectangle 27">
              <a:extLst>
                <a:ext uri="{FF2B5EF4-FFF2-40B4-BE49-F238E27FC236}">
                  <a16:creationId xmlns:a16="http://schemas.microsoft.com/office/drawing/2014/main" id="{7E537155-0AA9-3232-16B9-D15E226D7A6B}"/>
                </a:ext>
              </a:extLst>
            </p:cNvPr>
            <p:cNvSpPr>
              <a:spLocks noChangeArrowheads="1"/>
            </p:cNvSpPr>
            <p:nvPr/>
          </p:nvSpPr>
          <p:spPr bwMode="auto">
            <a:xfrm>
              <a:off x="3981" y="2818"/>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34" name="Rectangle 28">
              <a:extLst>
                <a:ext uri="{FF2B5EF4-FFF2-40B4-BE49-F238E27FC236}">
                  <a16:creationId xmlns:a16="http://schemas.microsoft.com/office/drawing/2014/main" id="{BF9C5BA9-230B-441A-292C-AB6AC829D03C}"/>
                </a:ext>
              </a:extLst>
            </p:cNvPr>
            <p:cNvSpPr>
              <a:spLocks noChangeArrowheads="1"/>
            </p:cNvSpPr>
            <p:nvPr/>
          </p:nvSpPr>
          <p:spPr bwMode="auto">
            <a:xfrm>
              <a:off x="4025" y="2848"/>
              <a:ext cx="33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subtotal()</a:t>
              </a:r>
              <a:endParaRPr lang="en-US" altLang="en-US"/>
            </a:p>
          </p:txBody>
        </p:sp>
        <p:sp>
          <p:nvSpPr>
            <p:cNvPr id="17435" name="Line 29">
              <a:extLst>
                <a:ext uri="{FF2B5EF4-FFF2-40B4-BE49-F238E27FC236}">
                  <a16:creationId xmlns:a16="http://schemas.microsoft.com/office/drawing/2014/main" id="{877701CA-7B97-B456-C496-00904CFE21F1}"/>
                </a:ext>
              </a:extLst>
            </p:cNvPr>
            <p:cNvSpPr>
              <a:spLocks noChangeShapeType="1"/>
            </p:cNvSpPr>
            <p:nvPr/>
          </p:nvSpPr>
          <p:spPr bwMode="auto">
            <a:xfrm>
              <a:off x="2487" y="1878"/>
              <a:ext cx="1" cy="493"/>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6" name="Rectangle 30">
              <a:extLst>
                <a:ext uri="{FF2B5EF4-FFF2-40B4-BE49-F238E27FC236}">
                  <a16:creationId xmlns:a16="http://schemas.microsoft.com/office/drawing/2014/main" id="{6C29C0D4-48F7-6563-396A-B198CBE2E824}"/>
                </a:ext>
              </a:extLst>
            </p:cNvPr>
            <p:cNvSpPr>
              <a:spLocks noChangeArrowheads="1"/>
            </p:cNvSpPr>
            <p:nvPr/>
          </p:nvSpPr>
          <p:spPr bwMode="auto">
            <a:xfrm>
              <a:off x="1569" y="2050"/>
              <a:ext cx="63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 st := subtotal()</a:t>
              </a:r>
              <a:endParaRPr lang="en-US" altLang="en-US"/>
            </a:p>
          </p:txBody>
        </p:sp>
        <p:sp>
          <p:nvSpPr>
            <p:cNvPr id="17437" name="Rectangle 31">
              <a:extLst>
                <a:ext uri="{FF2B5EF4-FFF2-40B4-BE49-F238E27FC236}">
                  <a16:creationId xmlns:a16="http://schemas.microsoft.com/office/drawing/2014/main" id="{166A12E1-7A3F-0030-BB4D-7B9F234086AB}"/>
                </a:ext>
              </a:extLst>
            </p:cNvPr>
            <p:cNvSpPr>
              <a:spLocks noChangeArrowheads="1"/>
            </p:cNvSpPr>
            <p:nvPr/>
          </p:nvSpPr>
          <p:spPr bwMode="auto">
            <a:xfrm>
              <a:off x="2129" y="3087"/>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38" name="Line 32">
              <a:extLst>
                <a:ext uri="{FF2B5EF4-FFF2-40B4-BE49-F238E27FC236}">
                  <a16:creationId xmlns:a16="http://schemas.microsoft.com/office/drawing/2014/main" id="{386CDBC7-B284-DAE4-F127-3B1514E59949}"/>
                </a:ext>
              </a:extLst>
            </p:cNvPr>
            <p:cNvSpPr>
              <a:spLocks noChangeShapeType="1"/>
            </p:cNvSpPr>
            <p:nvPr/>
          </p:nvSpPr>
          <p:spPr bwMode="auto">
            <a:xfrm>
              <a:off x="2338" y="3184"/>
              <a:ext cx="29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9" name="Line 33">
              <a:extLst>
                <a:ext uri="{FF2B5EF4-FFF2-40B4-BE49-F238E27FC236}">
                  <a16:creationId xmlns:a16="http://schemas.microsoft.com/office/drawing/2014/main" id="{3860AEDE-97E3-0B15-55EE-3A0D4393AB1D}"/>
                </a:ext>
              </a:extLst>
            </p:cNvPr>
            <p:cNvSpPr>
              <a:spLocks noChangeShapeType="1"/>
            </p:cNvSpPr>
            <p:nvPr/>
          </p:nvSpPr>
          <p:spPr bwMode="auto">
            <a:xfrm>
              <a:off x="2256" y="3273"/>
              <a:ext cx="463"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0" name="Rectangle 34">
              <a:extLst>
                <a:ext uri="{FF2B5EF4-FFF2-40B4-BE49-F238E27FC236}">
                  <a16:creationId xmlns:a16="http://schemas.microsoft.com/office/drawing/2014/main" id="{81CB121F-7BE7-3EAE-DFA9-768BFB571811}"/>
                </a:ext>
              </a:extLst>
            </p:cNvPr>
            <p:cNvSpPr>
              <a:spLocks noChangeArrowheads="1"/>
            </p:cNvSpPr>
            <p:nvPr/>
          </p:nvSpPr>
          <p:spPr bwMode="auto">
            <a:xfrm>
              <a:off x="2338" y="3079"/>
              <a:ext cx="2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:Product</a:t>
              </a:r>
              <a:endParaRPr lang="en-US" altLang="en-US" dirty="0"/>
            </a:p>
          </p:txBody>
        </p:sp>
        <p:sp>
          <p:nvSpPr>
            <p:cNvPr id="17441" name="Rectangle 35">
              <a:extLst>
                <a:ext uri="{FF2B5EF4-FFF2-40B4-BE49-F238E27FC236}">
                  <a16:creationId xmlns:a16="http://schemas.microsoft.com/office/drawing/2014/main" id="{DE9EAD0E-DE32-A580-F5BE-745CDF0BF451}"/>
                </a:ext>
              </a:extLst>
            </p:cNvPr>
            <p:cNvSpPr>
              <a:spLocks noChangeArrowheads="1"/>
            </p:cNvSpPr>
            <p:nvPr/>
          </p:nvSpPr>
          <p:spPr bwMode="auto">
            <a:xfrm>
              <a:off x="2256" y="3176"/>
              <a:ext cx="45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Specification</a:t>
              </a:r>
              <a:endParaRPr lang="en-US" altLang="en-US" dirty="0"/>
            </a:p>
          </p:txBody>
        </p:sp>
        <p:sp>
          <p:nvSpPr>
            <p:cNvPr id="17442" name="Line 36">
              <a:extLst>
                <a:ext uri="{FF2B5EF4-FFF2-40B4-BE49-F238E27FC236}">
                  <a16:creationId xmlns:a16="http://schemas.microsoft.com/office/drawing/2014/main" id="{85BCF8BB-7584-3CEA-B70D-260688E94445}"/>
                </a:ext>
              </a:extLst>
            </p:cNvPr>
            <p:cNvSpPr>
              <a:spLocks noChangeShapeType="1"/>
            </p:cNvSpPr>
            <p:nvPr/>
          </p:nvSpPr>
          <p:spPr bwMode="auto">
            <a:xfrm>
              <a:off x="2487" y="2594"/>
              <a:ext cx="1" cy="493"/>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3" name="Rectangle 37">
              <a:extLst>
                <a:ext uri="{FF2B5EF4-FFF2-40B4-BE49-F238E27FC236}">
                  <a16:creationId xmlns:a16="http://schemas.microsoft.com/office/drawing/2014/main" id="{B926C23C-2739-97AE-CD49-F7F958685A12}"/>
                </a:ext>
              </a:extLst>
            </p:cNvPr>
            <p:cNvSpPr>
              <a:spLocks noChangeArrowheads="1"/>
            </p:cNvSpPr>
            <p:nvPr/>
          </p:nvSpPr>
          <p:spPr bwMode="auto">
            <a:xfrm>
              <a:off x="1621" y="2766"/>
              <a:ext cx="54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1.1: p := price()</a:t>
              </a:r>
              <a:endParaRPr lang="en-US" altLang="en-US"/>
            </a:p>
          </p:txBody>
        </p:sp>
        <p:sp>
          <p:nvSpPr>
            <p:cNvPr id="17444" name="Rectangle 38">
              <a:extLst>
                <a:ext uri="{FF2B5EF4-FFF2-40B4-BE49-F238E27FC236}">
                  <a16:creationId xmlns:a16="http://schemas.microsoft.com/office/drawing/2014/main" id="{88F8AB31-3B4F-4F82-8532-4E61CC3022CD}"/>
                </a:ext>
              </a:extLst>
            </p:cNvPr>
            <p:cNvSpPr>
              <a:spLocks noChangeArrowheads="1"/>
            </p:cNvSpPr>
            <p:nvPr/>
          </p:nvSpPr>
          <p:spPr bwMode="auto">
            <a:xfrm>
              <a:off x="3981" y="3087"/>
              <a:ext cx="657" cy="268"/>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45" name="Rectangle 39">
              <a:extLst>
                <a:ext uri="{FF2B5EF4-FFF2-40B4-BE49-F238E27FC236}">
                  <a16:creationId xmlns:a16="http://schemas.microsoft.com/office/drawing/2014/main" id="{75325C7D-D770-7D17-8C25-0DAB9128C889}"/>
                </a:ext>
              </a:extLst>
            </p:cNvPr>
            <p:cNvSpPr>
              <a:spLocks noChangeArrowheads="1"/>
            </p:cNvSpPr>
            <p:nvPr/>
          </p:nvSpPr>
          <p:spPr bwMode="auto">
            <a:xfrm>
              <a:off x="4167" y="3109"/>
              <a:ext cx="27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Product</a:t>
              </a:r>
              <a:endParaRPr lang="en-US" altLang="en-US"/>
            </a:p>
          </p:txBody>
        </p:sp>
        <p:sp>
          <p:nvSpPr>
            <p:cNvPr id="17446" name="Rectangle 40">
              <a:extLst>
                <a:ext uri="{FF2B5EF4-FFF2-40B4-BE49-F238E27FC236}">
                  <a16:creationId xmlns:a16="http://schemas.microsoft.com/office/drawing/2014/main" id="{65E91518-58C2-B06B-A828-1696A9A6C2A6}"/>
                </a:ext>
              </a:extLst>
            </p:cNvPr>
            <p:cNvSpPr>
              <a:spLocks noChangeArrowheads="1"/>
            </p:cNvSpPr>
            <p:nvPr/>
          </p:nvSpPr>
          <p:spPr bwMode="auto">
            <a:xfrm>
              <a:off x="4078" y="3206"/>
              <a:ext cx="45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Specification</a:t>
              </a:r>
              <a:endParaRPr lang="en-US" altLang="en-US"/>
            </a:p>
          </p:txBody>
        </p:sp>
        <p:sp>
          <p:nvSpPr>
            <p:cNvPr id="17447" name="Rectangle 41">
              <a:extLst>
                <a:ext uri="{FF2B5EF4-FFF2-40B4-BE49-F238E27FC236}">
                  <a16:creationId xmlns:a16="http://schemas.microsoft.com/office/drawing/2014/main" id="{E4A9E946-C37C-47DB-15E8-F4AC69C2A0E5}"/>
                </a:ext>
              </a:extLst>
            </p:cNvPr>
            <p:cNvSpPr>
              <a:spLocks noChangeArrowheads="1"/>
            </p:cNvSpPr>
            <p:nvPr/>
          </p:nvSpPr>
          <p:spPr bwMode="auto">
            <a:xfrm>
              <a:off x="3981" y="3355"/>
              <a:ext cx="657" cy="366"/>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48" name="Rectangle 42">
              <a:extLst>
                <a:ext uri="{FF2B5EF4-FFF2-40B4-BE49-F238E27FC236}">
                  <a16:creationId xmlns:a16="http://schemas.microsoft.com/office/drawing/2014/main" id="{BD07FC35-697D-2A94-EEC5-85CE83BFE179}"/>
                </a:ext>
              </a:extLst>
            </p:cNvPr>
            <p:cNvSpPr>
              <a:spLocks noChangeArrowheads="1"/>
            </p:cNvSpPr>
            <p:nvPr/>
          </p:nvSpPr>
          <p:spPr bwMode="auto">
            <a:xfrm>
              <a:off x="4025" y="3385"/>
              <a:ext cx="38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description</a:t>
              </a:r>
              <a:endParaRPr lang="en-US" altLang="en-US"/>
            </a:p>
          </p:txBody>
        </p:sp>
        <p:sp>
          <p:nvSpPr>
            <p:cNvPr id="17449" name="Rectangle 43">
              <a:extLst>
                <a:ext uri="{FF2B5EF4-FFF2-40B4-BE49-F238E27FC236}">
                  <a16:creationId xmlns:a16="http://schemas.microsoft.com/office/drawing/2014/main" id="{7C7F499B-01FA-CF51-4146-87ACC835CD20}"/>
                </a:ext>
              </a:extLst>
            </p:cNvPr>
            <p:cNvSpPr>
              <a:spLocks noChangeArrowheads="1"/>
            </p:cNvSpPr>
            <p:nvPr/>
          </p:nvSpPr>
          <p:spPr bwMode="auto">
            <a:xfrm>
              <a:off x="4025" y="3482"/>
              <a:ext cx="17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price</a:t>
              </a:r>
              <a:endParaRPr lang="en-US" altLang="en-US"/>
            </a:p>
          </p:txBody>
        </p:sp>
        <p:sp>
          <p:nvSpPr>
            <p:cNvPr id="17450" name="Rectangle 44">
              <a:extLst>
                <a:ext uri="{FF2B5EF4-FFF2-40B4-BE49-F238E27FC236}">
                  <a16:creationId xmlns:a16="http://schemas.microsoft.com/office/drawing/2014/main" id="{72AD0450-633C-2B6C-DD40-BF68EE9BF783}"/>
                </a:ext>
              </a:extLst>
            </p:cNvPr>
            <p:cNvSpPr>
              <a:spLocks noChangeArrowheads="1"/>
            </p:cNvSpPr>
            <p:nvPr/>
          </p:nvSpPr>
          <p:spPr bwMode="auto">
            <a:xfrm>
              <a:off x="4025" y="3572"/>
              <a:ext cx="17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UPC</a:t>
              </a:r>
              <a:endParaRPr lang="en-US" altLang="en-US"/>
            </a:p>
          </p:txBody>
        </p:sp>
        <p:sp>
          <p:nvSpPr>
            <p:cNvPr id="17451" name="Rectangle 45">
              <a:extLst>
                <a:ext uri="{FF2B5EF4-FFF2-40B4-BE49-F238E27FC236}">
                  <a16:creationId xmlns:a16="http://schemas.microsoft.com/office/drawing/2014/main" id="{589F98B1-3313-9ED5-5946-622AAB1FFB30}"/>
                </a:ext>
              </a:extLst>
            </p:cNvPr>
            <p:cNvSpPr>
              <a:spLocks noChangeArrowheads="1"/>
            </p:cNvSpPr>
            <p:nvPr/>
          </p:nvSpPr>
          <p:spPr bwMode="auto">
            <a:xfrm>
              <a:off x="3981" y="3721"/>
              <a:ext cx="657" cy="179"/>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52" name="Rectangle 46">
              <a:extLst>
                <a:ext uri="{FF2B5EF4-FFF2-40B4-BE49-F238E27FC236}">
                  <a16:creationId xmlns:a16="http://schemas.microsoft.com/office/drawing/2014/main" id="{02F04B73-78CD-BAFC-FA84-5CC2404D4296}"/>
                </a:ext>
              </a:extLst>
            </p:cNvPr>
            <p:cNvSpPr>
              <a:spLocks noChangeArrowheads="1"/>
            </p:cNvSpPr>
            <p:nvPr/>
          </p:nvSpPr>
          <p:spPr bwMode="auto">
            <a:xfrm>
              <a:off x="4025" y="3751"/>
              <a:ext cx="22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price()</a:t>
              </a:r>
              <a:endParaRPr lang="en-US" altLang="en-US"/>
            </a:p>
          </p:txBody>
        </p:sp>
        <p:sp>
          <p:nvSpPr>
            <p:cNvPr id="17453" name="Line 47">
              <a:extLst>
                <a:ext uri="{FF2B5EF4-FFF2-40B4-BE49-F238E27FC236}">
                  <a16:creationId xmlns:a16="http://schemas.microsoft.com/office/drawing/2014/main" id="{03DA1B9E-8088-1DB3-0F9E-4C7790EE4A14}"/>
                </a:ext>
              </a:extLst>
            </p:cNvPr>
            <p:cNvSpPr>
              <a:spLocks noChangeShapeType="1"/>
            </p:cNvSpPr>
            <p:nvPr/>
          </p:nvSpPr>
          <p:spPr bwMode="auto">
            <a:xfrm>
              <a:off x="3294" y="3803"/>
              <a:ext cx="604" cy="1"/>
            </a:xfrm>
            <a:prstGeom prst="line">
              <a:avLst/>
            </a:prstGeom>
            <a:noFill/>
            <a:ln w="7">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7454" name="Freeform 48">
              <a:extLst>
                <a:ext uri="{FF2B5EF4-FFF2-40B4-BE49-F238E27FC236}">
                  <a16:creationId xmlns:a16="http://schemas.microsoft.com/office/drawing/2014/main" id="{96225AFE-FC2A-0033-8458-C40016A00149}"/>
                </a:ext>
              </a:extLst>
            </p:cNvPr>
            <p:cNvSpPr>
              <a:spLocks/>
            </p:cNvSpPr>
            <p:nvPr/>
          </p:nvSpPr>
          <p:spPr bwMode="auto">
            <a:xfrm>
              <a:off x="3898" y="3781"/>
              <a:ext cx="45" cy="44"/>
            </a:xfrm>
            <a:custGeom>
              <a:avLst/>
              <a:gdLst>
                <a:gd name="T0" fmla="*/ 0 w 45"/>
                <a:gd name="T1" fmla="*/ 22 h 44"/>
                <a:gd name="T2" fmla="*/ 0 w 45"/>
                <a:gd name="T3" fmla="*/ 30 h 44"/>
                <a:gd name="T4" fmla="*/ 8 w 45"/>
                <a:gd name="T5" fmla="*/ 30 h 44"/>
                <a:gd name="T6" fmla="*/ 8 w 45"/>
                <a:gd name="T7" fmla="*/ 37 h 44"/>
                <a:gd name="T8" fmla="*/ 15 w 45"/>
                <a:gd name="T9" fmla="*/ 37 h 44"/>
                <a:gd name="T10" fmla="*/ 23 w 45"/>
                <a:gd name="T11" fmla="*/ 44 h 44"/>
                <a:gd name="T12" fmla="*/ 23 w 45"/>
                <a:gd name="T13" fmla="*/ 44 h 44"/>
                <a:gd name="T14" fmla="*/ 30 w 45"/>
                <a:gd name="T15" fmla="*/ 37 h 44"/>
                <a:gd name="T16" fmla="*/ 38 w 45"/>
                <a:gd name="T17" fmla="*/ 37 h 44"/>
                <a:gd name="T18" fmla="*/ 38 w 45"/>
                <a:gd name="T19" fmla="*/ 30 h 44"/>
                <a:gd name="T20" fmla="*/ 45 w 45"/>
                <a:gd name="T21" fmla="*/ 30 h 44"/>
                <a:gd name="T22" fmla="*/ 45 w 45"/>
                <a:gd name="T23" fmla="*/ 22 h 44"/>
                <a:gd name="T24" fmla="*/ 45 w 45"/>
                <a:gd name="T25" fmla="*/ 15 h 44"/>
                <a:gd name="T26" fmla="*/ 38 w 45"/>
                <a:gd name="T27" fmla="*/ 7 h 44"/>
                <a:gd name="T28" fmla="*/ 38 w 45"/>
                <a:gd name="T29" fmla="*/ 7 h 44"/>
                <a:gd name="T30" fmla="*/ 30 w 45"/>
                <a:gd name="T31" fmla="*/ 0 h 44"/>
                <a:gd name="T32" fmla="*/ 23 w 45"/>
                <a:gd name="T33" fmla="*/ 0 h 44"/>
                <a:gd name="T34" fmla="*/ 23 w 45"/>
                <a:gd name="T35" fmla="*/ 0 h 44"/>
                <a:gd name="T36" fmla="*/ 15 w 45"/>
                <a:gd name="T37" fmla="*/ 0 h 44"/>
                <a:gd name="T38" fmla="*/ 8 w 45"/>
                <a:gd name="T39" fmla="*/ 7 h 44"/>
                <a:gd name="T40" fmla="*/ 8 w 45"/>
                <a:gd name="T41" fmla="*/ 7 h 44"/>
                <a:gd name="T42" fmla="*/ 0 w 45"/>
                <a:gd name="T43" fmla="*/ 15 h 44"/>
                <a:gd name="T44" fmla="*/ 0 w 45"/>
                <a:gd name="T45" fmla="*/ 22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5"/>
                <a:gd name="T70" fmla="*/ 0 h 44"/>
                <a:gd name="T71" fmla="*/ 45 w 45"/>
                <a:gd name="T72" fmla="*/ 44 h 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5" h="44">
                  <a:moveTo>
                    <a:pt x="0" y="22"/>
                  </a:moveTo>
                  <a:lnTo>
                    <a:pt x="0" y="30"/>
                  </a:lnTo>
                  <a:lnTo>
                    <a:pt x="8" y="30"/>
                  </a:lnTo>
                  <a:lnTo>
                    <a:pt x="8" y="37"/>
                  </a:lnTo>
                  <a:lnTo>
                    <a:pt x="15" y="37"/>
                  </a:lnTo>
                  <a:lnTo>
                    <a:pt x="23" y="44"/>
                  </a:lnTo>
                  <a:lnTo>
                    <a:pt x="30" y="37"/>
                  </a:lnTo>
                  <a:lnTo>
                    <a:pt x="38" y="37"/>
                  </a:lnTo>
                  <a:lnTo>
                    <a:pt x="38" y="30"/>
                  </a:lnTo>
                  <a:lnTo>
                    <a:pt x="45" y="30"/>
                  </a:lnTo>
                  <a:lnTo>
                    <a:pt x="45" y="22"/>
                  </a:lnTo>
                  <a:lnTo>
                    <a:pt x="45" y="15"/>
                  </a:lnTo>
                  <a:lnTo>
                    <a:pt x="38" y="7"/>
                  </a:lnTo>
                  <a:lnTo>
                    <a:pt x="30" y="0"/>
                  </a:lnTo>
                  <a:lnTo>
                    <a:pt x="23" y="0"/>
                  </a:lnTo>
                  <a:lnTo>
                    <a:pt x="15" y="0"/>
                  </a:lnTo>
                  <a:lnTo>
                    <a:pt x="8" y="7"/>
                  </a:lnTo>
                  <a:lnTo>
                    <a:pt x="0" y="15"/>
                  </a:lnTo>
                  <a:lnTo>
                    <a:pt x="0" y="22"/>
                  </a:lnTo>
                </a:path>
              </a:pathLst>
            </a:custGeom>
            <a:noFill/>
            <a:ln w="7">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55" name="Rectangle 49">
              <a:extLst>
                <a:ext uri="{FF2B5EF4-FFF2-40B4-BE49-F238E27FC236}">
                  <a16:creationId xmlns:a16="http://schemas.microsoft.com/office/drawing/2014/main" id="{EAD2F088-8728-BC2A-9324-3DEDCDC5097C}"/>
                </a:ext>
              </a:extLst>
            </p:cNvPr>
            <p:cNvSpPr>
              <a:spLocks noChangeArrowheads="1"/>
            </p:cNvSpPr>
            <p:nvPr/>
          </p:nvSpPr>
          <p:spPr bwMode="auto">
            <a:xfrm>
              <a:off x="2667" y="3699"/>
              <a:ext cx="806" cy="201"/>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56" name="Rectangle 50">
              <a:extLst>
                <a:ext uri="{FF2B5EF4-FFF2-40B4-BE49-F238E27FC236}">
                  <a16:creationId xmlns:a16="http://schemas.microsoft.com/office/drawing/2014/main" id="{3D97A5A1-8187-C299-011F-94F9F66DEC15}"/>
                </a:ext>
              </a:extLst>
            </p:cNvPr>
            <p:cNvSpPr>
              <a:spLocks noChangeArrowheads="1"/>
            </p:cNvSpPr>
            <p:nvPr/>
          </p:nvSpPr>
          <p:spPr bwMode="auto">
            <a:xfrm>
              <a:off x="2704" y="3729"/>
              <a:ext cx="45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New method</a:t>
              </a:r>
              <a:endParaRPr lang="en-US" altLang="en-US"/>
            </a:p>
          </p:txBody>
        </p:sp>
        <p:sp>
          <p:nvSpPr>
            <p:cNvPr id="17457" name="Freeform 51">
              <a:extLst>
                <a:ext uri="{FF2B5EF4-FFF2-40B4-BE49-F238E27FC236}">
                  <a16:creationId xmlns:a16="http://schemas.microsoft.com/office/drawing/2014/main" id="{F0F60980-56F5-8C07-8F92-3EB2DA6A35D2}"/>
                </a:ext>
              </a:extLst>
            </p:cNvPr>
            <p:cNvSpPr>
              <a:spLocks/>
            </p:cNvSpPr>
            <p:nvPr/>
          </p:nvSpPr>
          <p:spPr bwMode="auto">
            <a:xfrm>
              <a:off x="3398" y="3699"/>
              <a:ext cx="75" cy="52"/>
            </a:xfrm>
            <a:custGeom>
              <a:avLst/>
              <a:gdLst>
                <a:gd name="T0" fmla="*/ 0 w 75"/>
                <a:gd name="T1" fmla="*/ 0 h 52"/>
                <a:gd name="T2" fmla="*/ 75 w 75"/>
                <a:gd name="T3" fmla="*/ 52 h 52"/>
                <a:gd name="T4" fmla="*/ 75 w 75"/>
                <a:gd name="T5" fmla="*/ 0 h 52"/>
                <a:gd name="T6" fmla="*/ 0 w 75"/>
                <a:gd name="T7" fmla="*/ 0 h 52"/>
                <a:gd name="T8" fmla="*/ 0 60000 65536"/>
                <a:gd name="T9" fmla="*/ 0 60000 65536"/>
                <a:gd name="T10" fmla="*/ 0 60000 65536"/>
                <a:gd name="T11" fmla="*/ 0 60000 65536"/>
                <a:gd name="T12" fmla="*/ 0 w 75"/>
                <a:gd name="T13" fmla="*/ 0 h 52"/>
                <a:gd name="T14" fmla="*/ 75 w 75"/>
                <a:gd name="T15" fmla="*/ 52 h 52"/>
              </a:gdLst>
              <a:ahLst/>
              <a:cxnLst>
                <a:cxn ang="T8">
                  <a:pos x="T0" y="T1"/>
                </a:cxn>
                <a:cxn ang="T9">
                  <a:pos x="T2" y="T3"/>
                </a:cxn>
                <a:cxn ang="T10">
                  <a:pos x="T4" y="T5"/>
                </a:cxn>
                <a:cxn ang="T11">
                  <a:pos x="T6" y="T7"/>
                </a:cxn>
              </a:cxnLst>
              <a:rect l="T12" t="T13" r="T14" b="T15"/>
              <a:pathLst>
                <a:path w="75" h="52">
                  <a:moveTo>
                    <a:pt x="0" y="0"/>
                  </a:moveTo>
                  <a:lnTo>
                    <a:pt x="75" y="52"/>
                  </a:lnTo>
                  <a:lnTo>
                    <a:pt x="75" y="0"/>
                  </a:lnTo>
                  <a:lnTo>
                    <a:pt x="0" y="0"/>
                  </a:lnTo>
                  <a:close/>
                </a:path>
              </a:pathLst>
            </a:custGeom>
            <a:solidFill>
              <a:srgbClr val="FFFFFF"/>
            </a:solidFill>
            <a:ln w="7">
              <a:solidFill>
                <a:srgbClr val="FFFFFF"/>
              </a:solidFill>
              <a:round/>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58" name="Freeform 52">
              <a:extLst>
                <a:ext uri="{FF2B5EF4-FFF2-40B4-BE49-F238E27FC236}">
                  <a16:creationId xmlns:a16="http://schemas.microsoft.com/office/drawing/2014/main" id="{E8F6F7BC-41E3-369B-B9B8-EA3CB4BC7021}"/>
                </a:ext>
              </a:extLst>
            </p:cNvPr>
            <p:cNvSpPr>
              <a:spLocks/>
            </p:cNvSpPr>
            <p:nvPr/>
          </p:nvSpPr>
          <p:spPr bwMode="auto">
            <a:xfrm>
              <a:off x="3398" y="3699"/>
              <a:ext cx="75" cy="52"/>
            </a:xfrm>
            <a:custGeom>
              <a:avLst/>
              <a:gdLst>
                <a:gd name="T0" fmla="*/ 75 w 75"/>
                <a:gd name="T1" fmla="*/ 52 h 52"/>
                <a:gd name="T2" fmla="*/ 0 w 75"/>
                <a:gd name="T3" fmla="*/ 0 h 52"/>
                <a:gd name="T4" fmla="*/ 0 w 75"/>
                <a:gd name="T5" fmla="*/ 52 h 52"/>
                <a:gd name="T6" fmla="*/ 75 w 75"/>
                <a:gd name="T7" fmla="*/ 52 h 52"/>
                <a:gd name="T8" fmla="*/ 0 60000 65536"/>
                <a:gd name="T9" fmla="*/ 0 60000 65536"/>
                <a:gd name="T10" fmla="*/ 0 60000 65536"/>
                <a:gd name="T11" fmla="*/ 0 60000 65536"/>
                <a:gd name="T12" fmla="*/ 0 w 75"/>
                <a:gd name="T13" fmla="*/ 0 h 52"/>
                <a:gd name="T14" fmla="*/ 75 w 75"/>
                <a:gd name="T15" fmla="*/ 52 h 52"/>
              </a:gdLst>
              <a:ahLst/>
              <a:cxnLst>
                <a:cxn ang="T8">
                  <a:pos x="T0" y="T1"/>
                </a:cxn>
                <a:cxn ang="T9">
                  <a:pos x="T2" y="T3"/>
                </a:cxn>
                <a:cxn ang="T10">
                  <a:pos x="T4" y="T5"/>
                </a:cxn>
                <a:cxn ang="T11">
                  <a:pos x="T6" y="T7"/>
                </a:cxn>
              </a:cxnLst>
              <a:rect l="T12" t="T13" r="T14" b="T15"/>
              <a:pathLst>
                <a:path w="75" h="52">
                  <a:moveTo>
                    <a:pt x="75" y="52"/>
                  </a:moveTo>
                  <a:lnTo>
                    <a:pt x="0" y="0"/>
                  </a:lnTo>
                  <a:lnTo>
                    <a:pt x="0" y="52"/>
                  </a:lnTo>
                  <a:lnTo>
                    <a:pt x="75" y="52"/>
                  </a:lnTo>
                  <a:close/>
                </a:path>
              </a:pathLst>
            </a:custGeom>
            <a:solidFill>
              <a:srgbClr val="000000"/>
            </a:solidFill>
            <a:ln w="7">
              <a:solidFill>
                <a:srgbClr val="000000"/>
              </a:solidFill>
              <a:round/>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59" name="Line 53">
              <a:extLst>
                <a:ext uri="{FF2B5EF4-FFF2-40B4-BE49-F238E27FC236}">
                  <a16:creationId xmlns:a16="http://schemas.microsoft.com/office/drawing/2014/main" id="{11351966-5E40-4B88-A8E1-ADF2A67FA04A}"/>
                </a:ext>
              </a:extLst>
            </p:cNvPr>
            <p:cNvSpPr>
              <a:spLocks noChangeShapeType="1"/>
            </p:cNvSpPr>
            <p:nvPr/>
          </p:nvSpPr>
          <p:spPr bwMode="auto">
            <a:xfrm>
              <a:off x="2256" y="2006"/>
              <a:ext cx="1" cy="89"/>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460" name="Freeform 54">
              <a:extLst>
                <a:ext uri="{FF2B5EF4-FFF2-40B4-BE49-F238E27FC236}">
                  <a16:creationId xmlns:a16="http://schemas.microsoft.com/office/drawing/2014/main" id="{62E89518-756D-19BA-2C97-E0343FBC031A}"/>
                </a:ext>
              </a:extLst>
            </p:cNvPr>
            <p:cNvSpPr>
              <a:spLocks/>
            </p:cNvSpPr>
            <p:nvPr/>
          </p:nvSpPr>
          <p:spPr bwMode="auto">
            <a:xfrm>
              <a:off x="2248" y="2095"/>
              <a:ext cx="30" cy="52"/>
            </a:xfrm>
            <a:custGeom>
              <a:avLst/>
              <a:gdLst>
                <a:gd name="T0" fmla="*/ 0 w 30"/>
                <a:gd name="T1" fmla="*/ 0 h 52"/>
                <a:gd name="T2" fmla="*/ 15 w 30"/>
                <a:gd name="T3" fmla="*/ 52 h 52"/>
                <a:gd name="T4" fmla="*/ 30 w 30"/>
                <a:gd name="T5" fmla="*/ 0 h 52"/>
                <a:gd name="T6" fmla="*/ 0 w 30"/>
                <a:gd name="T7" fmla="*/ 0 h 52"/>
                <a:gd name="T8" fmla="*/ 0 60000 65536"/>
                <a:gd name="T9" fmla="*/ 0 60000 65536"/>
                <a:gd name="T10" fmla="*/ 0 60000 65536"/>
                <a:gd name="T11" fmla="*/ 0 60000 65536"/>
                <a:gd name="T12" fmla="*/ 0 w 30"/>
                <a:gd name="T13" fmla="*/ 0 h 52"/>
                <a:gd name="T14" fmla="*/ 30 w 30"/>
                <a:gd name="T15" fmla="*/ 52 h 52"/>
              </a:gdLst>
              <a:ahLst/>
              <a:cxnLst>
                <a:cxn ang="T8">
                  <a:pos x="T0" y="T1"/>
                </a:cxn>
                <a:cxn ang="T9">
                  <a:pos x="T2" y="T3"/>
                </a:cxn>
                <a:cxn ang="T10">
                  <a:pos x="T4" y="T5"/>
                </a:cxn>
                <a:cxn ang="T11">
                  <a:pos x="T6" y="T7"/>
                </a:cxn>
              </a:cxnLst>
              <a:rect l="T12" t="T13" r="T14" b="T15"/>
              <a:pathLst>
                <a:path w="30" h="52">
                  <a:moveTo>
                    <a:pt x="0" y="0"/>
                  </a:moveTo>
                  <a:lnTo>
                    <a:pt x="15" y="52"/>
                  </a:lnTo>
                  <a:lnTo>
                    <a:pt x="3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61" name="Line 55">
              <a:extLst>
                <a:ext uri="{FF2B5EF4-FFF2-40B4-BE49-F238E27FC236}">
                  <a16:creationId xmlns:a16="http://schemas.microsoft.com/office/drawing/2014/main" id="{49EFDD45-4B29-0D86-D043-6DC47F8E1F62}"/>
                </a:ext>
              </a:extLst>
            </p:cNvPr>
            <p:cNvSpPr>
              <a:spLocks noChangeShapeType="1"/>
            </p:cNvSpPr>
            <p:nvPr/>
          </p:nvSpPr>
          <p:spPr bwMode="auto">
            <a:xfrm>
              <a:off x="2249" y="2760"/>
              <a:ext cx="1" cy="89"/>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2" name="Freeform 56">
              <a:extLst>
                <a:ext uri="{FF2B5EF4-FFF2-40B4-BE49-F238E27FC236}">
                  <a16:creationId xmlns:a16="http://schemas.microsoft.com/office/drawing/2014/main" id="{6C497719-4E70-976A-A442-016EC3CAA851}"/>
                </a:ext>
              </a:extLst>
            </p:cNvPr>
            <p:cNvSpPr>
              <a:spLocks/>
            </p:cNvSpPr>
            <p:nvPr/>
          </p:nvSpPr>
          <p:spPr bwMode="auto">
            <a:xfrm>
              <a:off x="2248" y="2856"/>
              <a:ext cx="30" cy="52"/>
            </a:xfrm>
            <a:custGeom>
              <a:avLst/>
              <a:gdLst>
                <a:gd name="T0" fmla="*/ 0 w 30"/>
                <a:gd name="T1" fmla="*/ 0 h 52"/>
                <a:gd name="T2" fmla="*/ 15 w 30"/>
                <a:gd name="T3" fmla="*/ 52 h 52"/>
                <a:gd name="T4" fmla="*/ 30 w 30"/>
                <a:gd name="T5" fmla="*/ 0 h 52"/>
                <a:gd name="T6" fmla="*/ 0 w 30"/>
                <a:gd name="T7" fmla="*/ 0 h 52"/>
                <a:gd name="T8" fmla="*/ 0 60000 65536"/>
                <a:gd name="T9" fmla="*/ 0 60000 65536"/>
                <a:gd name="T10" fmla="*/ 0 60000 65536"/>
                <a:gd name="T11" fmla="*/ 0 60000 65536"/>
                <a:gd name="T12" fmla="*/ 0 w 30"/>
                <a:gd name="T13" fmla="*/ 0 h 52"/>
                <a:gd name="T14" fmla="*/ 30 w 30"/>
                <a:gd name="T15" fmla="*/ 52 h 52"/>
              </a:gdLst>
              <a:ahLst/>
              <a:cxnLst>
                <a:cxn ang="T8">
                  <a:pos x="T0" y="T1"/>
                </a:cxn>
                <a:cxn ang="T9">
                  <a:pos x="T2" y="T3"/>
                </a:cxn>
                <a:cxn ang="T10">
                  <a:pos x="T4" y="T5"/>
                </a:cxn>
                <a:cxn ang="T11">
                  <a:pos x="T6" y="T7"/>
                </a:cxn>
              </a:cxnLst>
              <a:rect l="T12" t="T13" r="T14" b="T15"/>
              <a:pathLst>
                <a:path w="30" h="52">
                  <a:moveTo>
                    <a:pt x="0" y="0"/>
                  </a:moveTo>
                  <a:lnTo>
                    <a:pt x="15" y="52"/>
                  </a:lnTo>
                  <a:lnTo>
                    <a:pt x="3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63" name="Line 57">
              <a:extLst>
                <a:ext uri="{FF2B5EF4-FFF2-40B4-BE49-F238E27FC236}">
                  <a16:creationId xmlns:a16="http://schemas.microsoft.com/office/drawing/2014/main" id="{AE90076E-D509-55DF-AA65-BDDAD662E8F6}"/>
                </a:ext>
              </a:extLst>
            </p:cNvPr>
            <p:cNvSpPr>
              <a:spLocks noChangeShapeType="1"/>
            </p:cNvSpPr>
            <p:nvPr/>
          </p:nvSpPr>
          <p:spPr bwMode="auto">
            <a:xfrm>
              <a:off x="1905" y="1699"/>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4" name="Freeform 58">
              <a:extLst>
                <a:ext uri="{FF2B5EF4-FFF2-40B4-BE49-F238E27FC236}">
                  <a16:creationId xmlns:a16="http://schemas.microsoft.com/office/drawing/2014/main" id="{1BFA2DDD-BFDA-AC6D-FA16-3D1CB0A99AAA}"/>
                </a:ext>
              </a:extLst>
            </p:cNvPr>
            <p:cNvSpPr>
              <a:spLocks/>
            </p:cNvSpPr>
            <p:nvPr/>
          </p:nvSpPr>
          <p:spPr bwMode="auto">
            <a:xfrm>
              <a:off x="1987" y="1677"/>
              <a:ext cx="52" cy="37"/>
            </a:xfrm>
            <a:custGeom>
              <a:avLst/>
              <a:gdLst>
                <a:gd name="T0" fmla="*/ 0 w 52"/>
                <a:gd name="T1" fmla="*/ 37 h 37"/>
                <a:gd name="T2" fmla="*/ 52 w 52"/>
                <a:gd name="T3" fmla="*/ 22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22"/>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65" name="Rectangle 59">
              <a:extLst>
                <a:ext uri="{FF2B5EF4-FFF2-40B4-BE49-F238E27FC236}">
                  <a16:creationId xmlns:a16="http://schemas.microsoft.com/office/drawing/2014/main" id="{A83B8A54-82A1-A4EF-C41A-4F9660599754}"/>
                </a:ext>
              </a:extLst>
            </p:cNvPr>
            <p:cNvSpPr>
              <a:spLocks noChangeArrowheads="1"/>
            </p:cNvSpPr>
            <p:nvPr/>
          </p:nvSpPr>
          <p:spPr bwMode="auto">
            <a:xfrm>
              <a:off x="2199" y="2318"/>
              <a:ext cx="716"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17466" name="Rectangle 22">
              <a:extLst>
                <a:ext uri="{FF2B5EF4-FFF2-40B4-BE49-F238E27FC236}">
                  <a16:creationId xmlns:a16="http://schemas.microsoft.com/office/drawing/2014/main" id="{D3F4B50E-403E-B513-2893-9727AE8B991E}"/>
                </a:ext>
              </a:extLst>
            </p:cNvPr>
            <p:cNvSpPr>
              <a:spLocks noChangeArrowheads="1"/>
            </p:cNvSpPr>
            <p:nvPr/>
          </p:nvSpPr>
          <p:spPr bwMode="auto">
            <a:xfrm>
              <a:off x="2196" y="2358"/>
              <a:ext cx="75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:SalesLineItem</a:t>
              </a:r>
              <a:endParaRPr lang="en-US" alt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1" name="Rectangle 1844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5" name="Rectangle 2">
            <a:extLst>
              <a:ext uri="{FF2B5EF4-FFF2-40B4-BE49-F238E27FC236}">
                <a16:creationId xmlns:a16="http://schemas.microsoft.com/office/drawing/2014/main" id="{6FCFBC2A-9B70-0D2D-74E3-DAEF7195BA09}"/>
              </a:ext>
            </a:extLst>
          </p:cNvPr>
          <p:cNvSpPr>
            <a:spLocks noGrp="1" noChangeArrowheads="1"/>
          </p:cNvSpPr>
          <p:nvPr>
            <p:ph type="title"/>
          </p:nvPr>
        </p:nvSpPr>
        <p:spPr>
          <a:xfrm>
            <a:off x="-833311" y="962167"/>
            <a:ext cx="3103808" cy="4421876"/>
          </a:xfrm>
        </p:spPr>
        <p:txBody>
          <a:bodyPr anchor="t">
            <a:normAutofit/>
          </a:bodyPr>
          <a:lstStyle/>
          <a:p>
            <a:pPr algn="r"/>
            <a:r>
              <a:rPr lang="en-US" altLang="en-US" sz="4000" dirty="0"/>
              <a:t>Expert</a:t>
            </a:r>
          </a:p>
        </p:txBody>
      </p:sp>
      <p:sp>
        <p:nvSpPr>
          <p:cNvPr id="18436" name="Rectangle 3">
            <a:extLst>
              <a:ext uri="{FF2B5EF4-FFF2-40B4-BE49-F238E27FC236}">
                <a16:creationId xmlns:a16="http://schemas.microsoft.com/office/drawing/2014/main" id="{1AE1AF24-53AD-7608-7C8E-28DBD706FE9D}"/>
              </a:ext>
            </a:extLst>
          </p:cNvPr>
          <p:cNvSpPr>
            <a:spLocks noGrp="1" noChangeArrowheads="1"/>
          </p:cNvSpPr>
          <p:nvPr>
            <p:ph type="body" idx="1"/>
          </p:nvPr>
        </p:nvSpPr>
        <p:spPr>
          <a:xfrm>
            <a:off x="2517423" y="962167"/>
            <a:ext cx="9186898" cy="4743174"/>
          </a:xfrm>
        </p:spPr>
        <p:txBody>
          <a:bodyPr anchor="t">
            <a:normAutofit/>
          </a:bodyPr>
          <a:lstStyle/>
          <a:p>
            <a:pPr marL="342900" indent="-342900"/>
            <a:r>
              <a:rPr lang="en-US" altLang="en-US" sz="4400" dirty="0"/>
              <a:t>Consequences:</a:t>
            </a:r>
          </a:p>
          <a:p>
            <a:pPr marL="742950" lvl="1" indent="-285750"/>
            <a:r>
              <a:rPr lang="en-US" altLang="en-US" sz="4400" dirty="0"/>
              <a:t>Encapsulation is maintained so supports low coupling.</a:t>
            </a:r>
          </a:p>
          <a:p>
            <a:pPr marL="457200" lvl="1" indent="0">
              <a:buNone/>
            </a:pPr>
            <a:endParaRPr lang="en-US" altLang="en-US" sz="4400" dirty="0"/>
          </a:p>
          <a:p>
            <a:pPr marL="742950" lvl="1" indent="-285750"/>
            <a:r>
              <a:rPr lang="en-US" altLang="en-US" sz="4400" dirty="0"/>
              <a:t>Behavior distributed encouraging cohesive “lightweight” classes.</a:t>
            </a:r>
          </a:p>
        </p:txBody>
      </p:sp>
      <p:sp>
        <p:nvSpPr>
          <p:cNvPr id="18443" name="Rectangle 1844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5" name="Rectangle 1844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Slide Number Placeholder 3">
            <a:extLst>
              <a:ext uri="{FF2B5EF4-FFF2-40B4-BE49-F238E27FC236}">
                <a16:creationId xmlns:a16="http://schemas.microsoft.com/office/drawing/2014/main" id="{B89A4A4D-A11B-C31B-E099-97FBD31842C5}"/>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E91C04B2-6F89-4F86-A245-AE7C41E3D657}" type="slidenum">
              <a:rPr lang="de-DE" altLang="en-US" sz="1100">
                <a:solidFill>
                  <a:srgbClr val="FFFFFF"/>
                </a:solidFill>
              </a:rPr>
              <a:pPr>
                <a:spcAft>
                  <a:spcPts val="600"/>
                </a:spcAft>
              </a:pPr>
              <a:t>34</a:t>
            </a:fld>
            <a:endParaRPr lang="de-DE" altLang="en-US" sz="1100">
              <a:solidFill>
                <a:srgbClr val="FFFF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C3B82-89AF-8E76-84EC-34D268A6CB52}"/>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CREATOR PATTERN</a:t>
            </a:r>
          </a:p>
        </p:txBody>
      </p:sp>
      <p:pic>
        <p:nvPicPr>
          <p:cNvPr id="6" name="Graphic 5" descr="User">
            <a:extLst>
              <a:ext uri="{FF2B5EF4-FFF2-40B4-BE49-F238E27FC236}">
                <a16:creationId xmlns:a16="http://schemas.microsoft.com/office/drawing/2014/main" id="{111FC5B4-9F53-4BBD-1FC9-9D6A490C49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8" name="Graphic 7" descr="User">
            <a:extLst>
              <a:ext uri="{FF2B5EF4-FFF2-40B4-BE49-F238E27FC236}">
                <a16:creationId xmlns:a16="http://schemas.microsoft.com/office/drawing/2014/main" id="{40DAC403-3F3D-4881-9B96-BDD4583C6E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42722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5" name="Rectangle 1946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9" name="Rectangle 2">
            <a:extLst>
              <a:ext uri="{FF2B5EF4-FFF2-40B4-BE49-F238E27FC236}">
                <a16:creationId xmlns:a16="http://schemas.microsoft.com/office/drawing/2014/main" id="{7F3E1011-BEBD-4442-ABE1-D68DA16D78F8}"/>
              </a:ext>
            </a:extLst>
          </p:cNvPr>
          <p:cNvSpPr>
            <a:spLocks noGrp="1" noChangeArrowheads="1"/>
          </p:cNvSpPr>
          <p:nvPr>
            <p:ph type="title"/>
          </p:nvPr>
        </p:nvSpPr>
        <p:spPr>
          <a:xfrm>
            <a:off x="-148901" y="623499"/>
            <a:ext cx="3103808" cy="4421876"/>
          </a:xfrm>
        </p:spPr>
        <p:txBody>
          <a:bodyPr anchor="t">
            <a:normAutofit/>
          </a:bodyPr>
          <a:lstStyle/>
          <a:p>
            <a:pPr algn="r"/>
            <a:r>
              <a:rPr lang="en-US" altLang="en-US" sz="4000" dirty="0"/>
              <a:t>Creator</a:t>
            </a:r>
          </a:p>
        </p:txBody>
      </p:sp>
      <p:sp>
        <p:nvSpPr>
          <p:cNvPr id="19460" name="Rectangle 3">
            <a:extLst>
              <a:ext uri="{FF2B5EF4-FFF2-40B4-BE49-F238E27FC236}">
                <a16:creationId xmlns:a16="http://schemas.microsoft.com/office/drawing/2014/main" id="{5357EF53-1B78-C239-ED3F-9567BD522A21}"/>
              </a:ext>
            </a:extLst>
          </p:cNvPr>
          <p:cNvSpPr>
            <a:spLocks noGrp="1" noChangeArrowheads="1"/>
          </p:cNvSpPr>
          <p:nvPr>
            <p:ph type="body" idx="1"/>
          </p:nvPr>
        </p:nvSpPr>
        <p:spPr>
          <a:xfrm>
            <a:off x="3103808" y="453651"/>
            <a:ext cx="8749525" cy="5493497"/>
          </a:xfrm>
        </p:spPr>
        <p:txBody>
          <a:bodyPr anchor="t">
            <a:normAutofit fontScale="92500" lnSpcReduction="10000"/>
          </a:bodyPr>
          <a:lstStyle/>
          <a:p>
            <a:pPr marL="342900" indent="-342900"/>
            <a:r>
              <a:rPr lang="en-US" altLang="en-US" sz="3600" dirty="0"/>
              <a:t>Intent:</a:t>
            </a:r>
          </a:p>
          <a:p>
            <a:pPr marL="742950" lvl="1" indent="-285750"/>
            <a:r>
              <a:rPr lang="en-US" altLang="en-US" sz="3600" dirty="0"/>
              <a:t>Assign class B the responsibility to create instance of class A if one of the following is true:</a:t>
            </a:r>
          </a:p>
          <a:p>
            <a:pPr marL="457200" lvl="1" indent="0">
              <a:buNone/>
            </a:pPr>
            <a:endParaRPr lang="en-US" altLang="en-US" sz="3600" dirty="0"/>
          </a:p>
          <a:p>
            <a:pPr lvl="2"/>
            <a:r>
              <a:rPr lang="en-US" altLang="en-US" sz="3600" dirty="0"/>
              <a:t>B contains or aggregates A</a:t>
            </a:r>
          </a:p>
          <a:p>
            <a:pPr lvl="2"/>
            <a:r>
              <a:rPr lang="en-US" altLang="en-US" sz="3600" dirty="0"/>
              <a:t>B closely uses A</a:t>
            </a:r>
          </a:p>
          <a:p>
            <a:pPr lvl="2"/>
            <a:r>
              <a:rPr lang="en-US" altLang="en-US" sz="3600" dirty="0"/>
              <a:t>B has the initializing data for A</a:t>
            </a:r>
          </a:p>
          <a:p>
            <a:pPr marL="914400" lvl="2" indent="0">
              <a:buNone/>
            </a:pPr>
            <a:endParaRPr lang="en-US" altLang="en-US" sz="3600" dirty="0"/>
          </a:p>
          <a:p>
            <a:pPr marL="742950" lvl="1" indent="-285750"/>
            <a:r>
              <a:rPr lang="en-US" altLang="en-US" sz="3600" dirty="0"/>
              <a:t>If more than one option applies, prefer class B which contains or aggregates A.</a:t>
            </a:r>
          </a:p>
          <a:p>
            <a:pPr marL="742950" lvl="1" indent="-285750"/>
            <a:endParaRPr lang="en-US" altLang="en-US" sz="2000" dirty="0"/>
          </a:p>
        </p:txBody>
      </p:sp>
      <p:sp>
        <p:nvSpPr>
          <p:cNvPr id="19467" name="Rectangle 1946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9" name="Rectangle 1946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8" name="Slide Number Placeholder 3">
            <a:extLst>
              <a:ext uri="{FF2B5EF4-FFF2-40B4-BE49-F238E27FC236}">
                <a16:creationId xmlns:a16="http://schemas.microsoft.com/office/drawing/2014/main" id="{492062DB-A8AB-F1AF-FC8E-A31988C66DE2}"/>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CE567A71-C5AC-4BD1-873B-44CDC17D41BD}" type="slidenum">
              <a:rPr lang="de-DE" altLang="en-US" sz="1100">
                <a:solidFill>
                  <a:srgbClr val="FFFFFF"/>
                </a:solidFill>
              </a:rPr>
              <a:pPr>
                <a:spcAft>
                  <a:spcPts val="600"/>
                </a:spcAft>
              </a:pPr>
              <a:t>36</a:t>
            </a:fld>
            <a:endParaRPr lang="de-DE" altLang="en-US" sz="11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89" name="Rectangle 2048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3" name="Rectangle 2">
            <a:extLst>
              <a:ext uri="{FF2B5EF4-FFF2-40B4-BE49-F238E27FC236}">
                <a16:creationId xmlns:a16="http://schemas.microsoft.com/office/drawing/2014/main" id="{9DA90C79-B22D-10D8-99C8-E6765C54EBA1}"/>
              </a:ext>
            </a:extLst>
          </p:cNvPr>
          <p:cNvSpPr>
            <a:spLocks noGrp="1" noChangeArrowheads="1"/>
          </p:cNvSpPr>
          <p:nvPr>
            <p:ph type="title"/>
          </p:nvPr>
        </p:nvSpPr>
        <p:spPr>
          <a:xfrm>
            <a:off x="656823" y="962166"/>
            <a:ext cx="3103808" cy="4421876"/>
          </a:xfrm>
        </p:spPr>
        <p:txBody>
          <a:bodyPr anchor="t">
            <a:normAutofit/>
          </a:bodyPr>
          <a:lstStyle/>
          <a:p>
            <a:pPr algn="r"/>
            <a:r>
              <a:rPr lang="en-US" altLang="en-US" sz="4000"/>
              <a:t>…Creator</a:t>
            </a:r>
          </a:p>
        </p:txBody>
      </p:sp>
      <p:sp>
        <p:nvSpPr>
          <p:cNvPr id="20484" name="Rectangle 3">
            <a:extLst>
              <a:ext uri="{FF2B5EF4-FFF2-40B4-BE49-F238E27FC236}">
                <a16:creationId xmlns:a16="http://schemas.microsoft.com/office/drawing/2014/main" id="{E3D17D1E-25E3-7A0C-F904-2530F5352445}"/>
              </a:ext>
            </a:extLst>
          </p:cNvPr>
          <p:cNvSpPr>
            <a:spLocks noGrp="1" noChangeArrowheads="1"/>
          </p:cNvSpPr>
          <p:nvPr>
            <p:ph type="body" idx="1"/>
          </p:nvPr>
        </p:nvSpPr>
        <p:spPr>
          <a:xfrm>
            <a:off x="4088929" y="962167"/>
            <a:ext cx="7978893" cy="4743174"/>
          </a:xfrm>
        </p:spPr>
        <p:txBody>
          <a:bodyPr anchor="t">
            <a:normAutofit/>
          </a:bodyPr>
          <a:lstStyle/>
          <a:p>
            <a:pPr marL="342900" indent="-342900"/>
            <a:r>
              <a:rPr lang="en-US" altLang="en-US" sz="4800" dirty="0"/>
              <a:t>Problem:</a:t>
            </a:r>
          </a:p>
          <a:p>
            <a:pPr marL="742950" lvl="1" indent="-285750"/>
            <a:r>
              <a:rPr lang="en-US" altLang="en-US" sz="4800" dirty="0"/>
              <a:t>Who should be responsible for creating new instances of some class?</a:t>
            </a:r>
          </a:p>
        </p:txBody>
      </p:sp>
      <p:sp>
        <p:nvSpPr>
          <p:cNvPr id="20491" name="Rectangle 2049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3" name="Rectangle 2049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Slide Number Placeholder 3">
            <a:extLst>
              <a:ext uri="{FF2B5EF4-FFF2-40B4-BE49-F238E27FC236}">
                <a16:creationId xmlns:a16="http://schemas.microsoft.com/office/drawing/2014/main" id="{6520C081-FA06-D291-C1CB-04AE5A68DF57}"/>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D4734E9D-F198-47B8-B3AE-7CE62F9A7289}" type="slidenum">
              <a:rPr lang="de-DE" altLang="en-US" sz="1100">
                <a:solidFill>
                  <a:srgbClr val="FFFFFF"/>
                </a:solidFill>
              </a:rPr>
              <a:pPr>
                <a:spcAft>
                  <a:spcPts val="600"/>
                </a:spcAft>
              </a:pPr>
              <a:t>37</a:t>
            </a:fld>
            <a:endParaRPr lang="de-DE" altLang="en-US" sz="11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a:xfrm>
            <a:off x="910119" y="572569"/>
            <a:ext cx="3380527" cy="1642956"/>
          </a:xfrm>
        </p:spPr>
        <p:txBody>
          <a:bodyPr anchor="b">
            <a:normAutofit/>
          </a:bodyPr>
          <a:lstStyle/>
          <a:p>
            <a:r>
              <a:rPr lang="en-US" altLang="en-US" sz="3600" dirty="0">
                <a:solidFill>
                  <a:schemeClr val="tx2"/>
                </a:solidFill>
              </a:rPr>
              <a:t>Example: Class Diagram</a:t>
            </a:r>
          </a:p>
        </p:txBody>
      </p:sp>
      <p:sp>
        <p:nvSpPr>
          <p:cNvPr id="4" name="Slide Number Placeholder 3"/>
          <p:cNvSpPr>
            <a:spLocks noGrp="1"/>
          </p:cNvSpPr>
          <p:nvPr>
            <p:ph type="sldNum" sz="quarter" idx="10"/>
          </p:nvPr>
        </p:nvSpPr>
        <p:spPr>
          <a:xfrm>
            <a:off x="11445238" y="6356350"/>
            <a:ext cx="54864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CABEAC46-B3E9-42FD-B02C-5AE907EC9AF9}" type="slidenum">
              <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38</a:t>
            </a:fld>
            <a:endPar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endParaRPr>
          </a:p>
        </p:txBody>
      </p:sp>
      <p:grpSp>
        <p:nvGrpSpPr>
          <p:cNvPr id="1028" name="Group 4"/>
          <p:cNvGrpSpPr>
            <a:grpSpLocks noChangeAspect="1"/>
          </p:cNvGrpSpPr>
          <p:nvPr/>
        </p:nvGrpSpPr>
        <p:grpSpPr bwMode="auto">
          <a:xfrm>
            <a:off x="5139176" y="609600"/>
            <a:ext cx="6298079" cy="5638800"/>
            <a:chOff x="863" y="962"/>
            <a:chExt cx="3697" cy="3310"/>
          </a:xfrm>
        </p:grpSpPr>
        <p:sp>
          <p:nvSpPr>
            <p:cNvPr id="1027" name="AutoShape 3"/>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Rectangle 5"/>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0" name="Rectangle 6"/>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register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1" name="Rectangle 7"/>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2" name="Rectangle 8"/>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3" name="Rectangle 9"/>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4" name="Rectangle 10"/>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Rectangle 11"/>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Rectangle 12"/>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Store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7" name="Rectangle 13"/>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Rectangle 14"/>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address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9" name="Rectangle 15"/>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name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0" name="Rectangle 16"/>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1" name="Rectangle 17"/>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2" name="Rectangle 18"/>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3" name="Rectangle 19"/>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date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4" name="Rectangle 20"/>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time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5" name="Rectangle 21"/>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Rectangle 22"/>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Payment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7" name="Rectangle 23"/>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Rectangle 24"/>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amount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9" name="Rectangle 25"/>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0" name="Rectangle 26"/>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1" name="Rectangle 27"/>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LineItem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2" name="Rectangle 28"/>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3" name="Rectangle 29"/>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quantity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4" name="Rectangle 30"/>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Rectangle 31"/>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Cashier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6" name="Rectangle 32"/>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Rectangle 33"/>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Rectangle 34"/>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Customer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9" name="Rectangle 35"/>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0" name="Rectangle 36"/>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1" name="Rectangle 37"/>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Manager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2" name="Rectangle 38"/>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3" name="Rectangle 39"/>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Rectangle 40"/>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5" name="Rectangle 41"/>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Catalog</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6" name="Rectangle 42"/>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Rectangle 43"/>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Rectangle 44"/>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9" name="Rectangle 45"/>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Specification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0" name="Rectangle 46"/>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1" name="Rectangle 47"/>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description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2" name="Rectangle 48"/>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price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3" name="Rectangle 49"/>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UPC</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4" name="Line 50"/>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Rectangle 51"/>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Stocks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6" name="Rectangle 52"/>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7" name="Line 53"/>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8" name="Rectangle 54"/>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Houses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9" name="Rectangle 55"/>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0" name="Rectangle 56"/>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1" name="Line 57"/>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2" name="Rectangle 58"/>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Used-by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3" name="Rectangle 59"/>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4" name="Line 60"/>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Rectangle 61"/>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6" name="Rectangle 62"/>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7" name="Rectangle 63"/>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8" name="Line 64"/>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9" name="Rectangle 65"/>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0" name="Rectangle 66"/>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1" name="Line 67"/>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68"/>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Captured-on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3" name="Line 69"/>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Rectangle 70"/>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Contained-in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5" name="Rectangle 71"/>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6" name="Rectangle 72"/>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7" name="Freeform 73"/>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Rectangle 74"/>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9" name="Rectangle 75"/>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0" name="Freeform 76"/>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Rectangle 77"/>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Records-sale-of</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2" name="Rectangle 78"/>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0..1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3" name="Line 79"/>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4" name="Rectangle 80"/>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Started-by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5" name="Freeform 81"/>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Rectangle 82"/>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Paid-by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7" name="Freeform 83"/>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Rectangle 84"/>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Initiated-by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9" name="Freeform 85"/>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Rectangle 86"/>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Logs-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1" name="Rectangle 87"/>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completed</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2" name="Rectangle 88"/>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6</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3" name="Rectangle 89"/>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4" name="Freeform 90"/>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Rectangle 91"/>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3</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6" name="Rectangle 92"/>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 Records-sales-on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7" name="Rectangle 93"/>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8" name="Rectangle 94"/>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9" name="Rectangle 95"/>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0" name="Rectangle 96"/>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1" name="Rectangle 97"/>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2" name="Rectangle 98"/>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3" name="Rectangle 99"/>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4" name="Rectangle 100"/>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5" name="Rectangle 101"/>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6" name="Rectangle 102"/>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7" name="Rectangle 103"/>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8" name="Rectangle 104"/>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9" name="Rectangle 105"/>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0" name="Rectangle 106"/>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1" name="Rectangle 107"/>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2" name="Rectangle 108"/>
            <p:cNvSpPr>
              <a:spLocks noChangeArrowheads="1"/>
            </p:cNvSpPr>
            <p:nvPr/>
          </p:nvSpPr>
          <p:spPr bwMode="auto">
            <a:xfrm>
              <a:off x="1873"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3" name="Rectangle 109"/>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4" name="Rectangle 110"/>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grpSp>
    </p:spTree>
    <p:extLst>
      <p:ext uri="{BB962C8B-B14F-4D97-AF65-F5344CB8AC3E}">
        <p14:creationId xmlns:p14="http://schemas.microsoft.com/office/powerpoint/2010/main" val="4081363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26F46021-69DB-CE3C-0239-945ECAC3753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4ADA63F-1B95-4938-A2AB-C9138BE0353B}" type="slidenum">
              <a:rPr lang="de-DE" altLang="en-US" sz="1000"/>
              <a:pPr/>
              <a:t>39</a:t>
            </a:fld>
            <a:endParaRPr lang="de-DE" altLang="en-US" sz="1000"/>
          </a:p>
        </p:txBody>
      </p:sp>
      <p:sp>
        <p:nvSpPr>
          <p:cNvPr id="21507" name="Rectangle 2">
            <a:extLst>
              <a:ext uri="{FF2B5EF4-FFF2-40B4-BE49-F238E27FC236}">
                <a16:creationId xmlns:a16="http://schemas.microsoft.com/office/drawing/2014/main" id="{A4ED4DE4-6922-4200-219E-B0E8D51858E6}"/>
              </a:ext>
            </a:extLst>
          </p:cNvPr>
          <p:cNvSpPr>
            <a:spLocks noGrp="1" noChangeArrowheads="1"/>
          </p:cNvSpPr>
          <p:nvPr>
            <p:ph type="title"/>
          </p:nvPr>
        </p:nvSpPr>
        <p:spPr/>
        <p:txBody>
          <a:bodyPr/>
          <a:lstStyle/>
          <a:p>
            <a:r>
              <a:rPr lang="en-US" altLang="en-US"/>
              <a:t>Creator – Example… </a:t>
            </a:r>
          </a:p>
        </p:txBody>
      </p:sp>
      <p:sp>
        <p:nvSpPr>
          <p:cNvPr id="21508" name="Rectangle 3">
            <a:extLst>
              <a:ext uri="{FF2B5EF4-FFF2-40B4-BE49-F238E27FC236}">
                <a16:creationId xmlns:a16="http://schemas.microsoft.com/office/drawing/2014/main" id="{277A1943-E614-115A-3FBA-7CAB68E3653A}"/>
              </a:ext>
            </a:extLst>
          </p:cNvPr>
          <p:cNvSpPr>
            <a:spLocks noGrp="1" noChangeArrowheads="1"/>
          </p:cNvSpPr>
          <p:nvPr>
            <p:ph type="body" idx="1"/>
          </p:nvPr>
        </p:nvSpPr>
        <p:spPr/>
        <p:txBody>
          <a:bodyPr/>
          <a:lstStyle/>
          <a:p>
            <a:pPr marL="342900" indent="-342900"/>
            <a:r>
              <a:rPr lang="en-US" altLang="en-US" dirty="0"/>
              <a:t>In POS app, who should create </a:t>
            </a:r>
            <a:r>
              <a:rPr lang="en-US" altLang="en-US" i="1" dirty="0" err="1"/>
              <a:t>SalesLineItem</a:t>
            </a:r>
            <a:r>
              <a:rPr lang="en-US" altLang="en-US" dirty="0"/>
              <a:t> instance.</a:t>
            </a:r>
          </a:p>
          <a:p>
            <a:pPr marL="342900" indent="-342900"/>
            <a:r>
              <a:rPr lang="en-US" altLang="en-US" dirty="0"/>
              <a:t>By </a:t>
            </a:r>
            <a:r>
              <a:rPr lang="en-US" altLang="en-US" u="sng" dirty="0">
                <a:solidFill>
                  <a:srgbClr val="FF0000"/>
                </a:solidFill>
              </a:rPr>
              <a:t>Creator</a:t>
            </a:r>
            <a:r>
              <a:rPr lang="en-US" altLang="en-US" dirty="0"/>
              <a:t>, look for class that aggregates, contains, etc.</a:t>
            </a:r>
          </a:p>
        </p:txBody>
      </p:sp>
      <p:pic>
        <p:nvPicPr>
          <p:cNvPr id="21509" name="Picture 4">
            <a:extLst>
              <a:ext uri="{FF2B5EF4-FFF2-40B4-BE49-F238E27FC236}">
                <a16:creationId xmlns:a16="http://schemas.microsoft.com/office/drawing/2014/main" id="{4AB4B2E5-297A-295C-02C9-2DE1E4A79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1" y="3733800"/>
            <a:ext cx="3190875" cy="23431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1510" name="TextBox 5">
            <a:extLst>
              <a:ext uri="{FF2B5EF4-FFF2-40B4-BE49-F238E27FC236}">
                <a16:creationId xmlns:a16="http://schemas.microsoft.com/office/drawing/2014/main" id="{602A46C8-0C2A-6669-7D04-BE7D479BDDA9}"/>
              </a:ext>
            </a:extLst>
          </p:cNvPr>
          <p:cNvSpPr txBox="1">
            <a:spLocks noChangeArrowheads="1"/>
          </p:cNvSpPr>
          <p:nvPr/>
        </p:nvSpPr>
        <p:spPr bwMode="auto">
          <a:xfrm>
            <a:off x="6335713" y="5143501"/>
            <a:ext cx="2423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80808"/>
                </a:solidFill>
              </a:rPr>
              <a:t>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8CA12AA3-011C-28E6-70FE-E3E56650F6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FA8F3D11-C2A9-4000-8954-9B2673F127D5}" type="slidenum">
              <a:rPr lang="de-DE" altLang="en-US" sz="1000"/>
              <a:pPr/>
              <a:t>40</a:t>
            </a:fld>
            <a:endParaRPr lang="de-DE" altLang="en-US" sz="1000"/>
          </a:p>
        </p:txBody>
      </p:sp>
      <p:sp>
        <p:nvSpPr>
          <p:cNvPr id="22531" name="Rectangle 2">
            <a:extLst>
              <a:ext uri="{FF2B5EF4-FFF2-40B4-BE49-F238E27FC236}">
                <a16:creationId xmlns:a16="http://schemas.microsoft.com/office/drawing/2014/main" id="{2E2149C6-D668-8387-976A-3D8B387F48A8}"/>
              </a:ext>
            </a:extLst>
          </p:cNvPr>
          <p:cNvSpPr>
            <a:spLocks noGrp="1" noChangeArrowheads="1"/>
          </p:cNvSpPr>
          <p:nvPr>
            <p:ph type="title"/>
          </p:nvPr>
        </p:nvSpPr>
        <p:spPr/>
        <p:txBody>
          <a:bodyPr/>
          <a:lstStyle/>
          <a:p>
            <a:r>
              <a:rPr lang="en-US" altLang="en-US"/>
              <a:t>…Creator – Example…</a:t>
            </a:r>
          </a:p>
        </p:txBody>
      </p:sp>
      <p:sp>
        <p:nvSpPr>
          <p:cNvPr id="22532" name="Rectangle 3">
            <a:extLst>
              <a:ext uri="{FF2B5EF4-FFF2-40B4-BE49-F238E27FC236}">
                <a16:creationId xmlns:a16="http://schemas.microsoft.com/office/drawing/2014/main" id="{8101FB72-3646-9E8A-469B-D870D9E845B6}"/>
              </a:ext>
            </a:extLst>
          </p:cNvPr>
          <p:cNvSpPr>
            <a:spLocks noGrp="1" noChangeArrowheads="1"/>
          </p:cNvSpPr>
          <p:nvPr>
            <p:ph type="body" idx="1"/>
          </p:nvPr>
        </p:nvSpPr>
        <p:spPr/>
        <p:txBody>
          <a:bodyPr/>
          <a:lstStyle/>
          <a:p>
            <a:pPr marL="342900" indent="-342900"/>
            <a:r>
              <a:rPr lang="en-US" altLang="en-US" sz="3600" i="1" dirty="0"/>
              <a:t>Sale</a:t>
            </a:r>
            <a:r>
              <a:rPr lang="en-US" altLang="en-US" sz="3600" dirty="0"/>
              <a:t> aggregates many </a:t>
            </a:r>
            <a:r>
              <a:rPr lang="en-US" altLang="en-US" sz="3600" i="1" dirty="0" err="1"/>
              <a:t>SalesLineItem</a:t>
            </a:r>
            <a:r>
              <a:rPr lang="en-US" altLang="en-US" sz="3600" dirty="0"/>
              <a:t> objects so </a:t>
            </a:r>
            <a:r>
              <a:rPr lang="en-US" altLang="en-US" sz="3600" i="1" dirty="0"/>
              <a:t>Sale</a:t>
            </a:r>
            <a:r>
              <a:rPr lang="en-US" altLang="en-US" sz="3600" dirty="0"/>
              <a:t> is candidate</a:t>
            </a:r>
          </a:p>
        </p:txBody>
      </p:sp>
      <p:pic>
        <p:nvPicPr>
          <p:cNvPr id="22533" name="Picture 4">
            <a:extLst>
              <a:ext uri="{FF2B5EF4-FFF2-40B4-BE49-F238E27FC236}">
                <a16:creationId xmlns:a16="http://schemas.microsoft.com/office/drawing/2014/main" id="{3CAB8253-7EAF-EF2F-8DAE-009ADB120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1" y="3505200"/>
            <a:ext cx="5521325" cy="157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61" name="Rectangle 2356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5" name="Rectangle 2">
            <a:extLst>
              <a:ext uri="{FF2B5EF4-FFF2-40B4-BE49-F238E27FC236}">
                <a16:creationId xmlns:a16="http://schemas.microsoft.com/office/drawing/2014/main" id="{9C33E26A-2956-BD09-B3C9-0B740A231BD5}"/>
              </a:ext>
            </a:extLst>
          </p:cNvPr>
          <p:cNvSpPr>
            <a:spLocks noGrp="1" noChangeArrowheads="1"/>
          </p:cNvSpPr>
          <p:nvPr>
            <p:ph type="title"/>
          </p:nvPr>
        </p:nvSpPr>
        <p:spPr>
          <a:xfrm>
            <a:off x="-306946" y="989462"/>
            <a:ext cx="3103808" cy="4421876"/>
          </a:xfrm>
        </p:spPr>
        <p:txBody>
          <a:bodyPr anchor="t">
            <a:normAutofit/>
          </a:bodyPr>
          <a:lstStyle/>
          <a:p>
            <a:pPr algn="r"/>
            <a:r>
              <a:rPr lang="en-US" altLang="en-US" sz="4000" dirty="0"/>
              <a:t>Creator</a:t>
            </a:r>
          </a:p>
        </p:txBody>
      </p:sp>
      <p:sp>
        <p:nvSpPr>
          <p:cNvPr id="23556" name="Rectangle 3">
            <a:extLst>
              <a:ext uri="{FF2B5EF4-FFF2-40B4-BE49-F238E27FC236}">
                <a16:creationId xmlns:a16="http://schemas.microsoft.com/office/drawing/2014/main" id="{3A3E79A1-F1F6-1F20-235D-05C4607183AD}"/>
              </a:ext>
            </a:extLst>
          </p:cNvPr>
          <p:cNvSpPr>
            <a:spLocks noGrp="1" noChangeArrowheads="1"/>
          </p:cNvSpPr>
          <p:nvPr>
            <p:ph type="body" idx="1"/>
          </p:nvPr>
        </p:nvSpPr>
        <p:spPr>
          <a:xfrm>
            <a:off x="3264840" y="828813"/>
            <a:ext cx="7967604" cy="4743174"/>
          </a:xfrm>
        </p:spPr>
        <p:txBody>
          <a:bodyPr anchor="t">
            <a:normAutofit/>
          </a:bodyPr>
          <a:lstStyle/>
          <a:p>
            <a:pPr marL="342900" indent="-342900"/>
            <a:r>
              <a:rPr lang="en-US" altLang="en-US" sz="4000" dirty="0"/>
              <a:t>Consequences</a:t>
            </a:r>
          </a:p>
          <a:p>
            <a:pPr marL="0" indent="0">
              <a:buNone/>
            </a:pPr>
            <a:endParaRPr lang="en-US" altLang="en-US" sz="4000" dirty="0"/>
          </a:p>
          <a:p>
            <a:pPr marL="742950" lvl="1" indent="-285750" algn="just"/>
            <a:r>
              <a:rPr lang="en-US" altLang="en-US" sz="4000" dirty="0"/>
              <a:t>Coupling is usually not increased because created class is likely already visible to creator class, due to the existing associations that motivated the choice.</a:t>
            </a:r>
          </a:p>
        </p:txBody>
      </p:sp>
      <p:sp>
        <p:nvSpPr>
          <p:cNvPr id="23563" name="Rectangle 2356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5" name="Rectangle 2356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Slide Number Placeholder 3">
            <a:extLst>
              <a:ext uri="{FF2B5EF4-FFF2-40B4-BE49-F238E27FC236}">
                <a16:creationId xmlns:a16="http://schemas.microsoft.com/office/drawing/2014/main" id="{2B9BA762-94AA-6E26-29BC-2AED14177CFE}"/>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DD73768B-A12D-4D92-B462-5B83982062EC}" type="slidenum">
              <a:rPr lang="de-DE" altLang="en-US" sz="1100">
                <a:solidFill>
                  <a:srgbClr val="FFFFFF"/>
                </a:solidFill>
              </a:rPr>
              <a:pPr>
                <a:spcAft>
                  <a:spcPts val="600"/>
                </a:spcAft>
              </a:pPr>
              <a:t>41</a:t>
            </a:fld>
            <a:endParaRPr lang="de-DE" altLang="en-US" sz="1100">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monopoly scheme&#10;&#10;Description automatically generated">
            <a:extLst>
              <a:ext uri="{FF2B5EF4-FFF2-40B4-BE49-F238E27FC236}">
                <a16:creationId xmlns:a16="http://schemas.microsoft.com/office/drawing/2014/main" id="{3C25CAEE-D5E8-FAE3-A42A-7C95151C1425}"/>
              </a:ext>
            </a:extLst>
          </p:cNvPr>
          <p:cNvPicPr>
            <a:picLocks noGrp="1" noChangeAspect="1"/>
          </p:cNvPicPr>
          <p:nvPr>
            <p:ph idx="1"/>
          </p:nvPr>
        </p:nvPicPr>
        <p:blipFill>
          <a:blip r:embed="rId2"/>
          <a:stretch>
            <a:fillRect/>
          </a:stretch>
        </p:blipFill>
        <p:spPr>
          <a:xfrm>
            <a:off x="3624748" y="998876"/>
            <a:ext cx="7958663"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B66AA1E-3E0B-4B71-0D62-0E6BD5AB6167}"/>
              </a:ext>
            </a:extLst>
          </p:cNvPr>
          <p:cNvSpPr txBox="1"/>
          <p:nvPr/>
        </p:nvSpPr>
        <p:spPr>
          <a:xfrm>
            <a:off x="289553" y="3566584"/>
            <a:ext cx="3058886" cy="1754326"/>
          </a:xfrm>
          <a:prstGeom prst="rect">
            <a:avLst/>
          </a:prstGeom>
          <a:noFill/>
        </p:spPr>
        <p:txBody>
          <a:bodyPr wrap="square">
            <a:spAutoFit/>
          </a:bodyPr>
          <a:lstStyle/>
          <a:p>
            <a:pPr marL="285750" indent="-285750" algn="just">
              <a:buFont typeface="Arial" panose="020B0604020202020204" pitchFamily="34" charset="0"/>
              <a:buChar char="•"/>
            </a:pPr>
            <a:r>
              <a:rPr lang="en-US" dirty="0"/>
              <a:t>Who should get a square given a unique ID?</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When you start a game, who creates the squares for the board?</a:t>
            </a:r>
          </a:p>
        </p:txBody>
      </p:sp>
    </p:spTree>
    <p:extLst>
      <p:ext uri="{BB962C8B-B14F-4D97-AF65-F5344CB8AC3E}">
        <p14:creationId xmlns:p14="http://schemas.microsoft.com/office/powerpoint/2010/main" val="3258019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26">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8">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804DCA8-1C4F-CF16-0EEB-4ED5D6A3AA50}"/>
              </a:ext>
            </a:extLst>
          </p:cNvPr>
          <p:cNvPicPr>
            <a:picLocks noChangeAspect="1"/>
          </p:cNvPicPr>
          <p:nvPr/>
        </p:nvPicPr>
        <p:blipFill>
          <a:blip r:embed="rId2"/>
          <a:stretch>
            <a:fillRect/>
          </a:stretch>
        </p:blipFill>
        <p:spPr>
          <a:xfrm>
            <a:off x="643467" y="2727449"/>
            <a:ext cx="5294716" cy="1403099"/>
          </a:xfrm>
          <a:prstGeom prst="rect">
            <a:avLst/>
          </a:prstGeom>
        </p:spPr>
      </p:pic>
      <p:cxnSp>
        <p:nvCxnSpPr>
          <p:cNvPr id="37" name="Straight Connector 30">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53A4A79-D6A6-DD9E-F2E1-C55B639BBB3E}"/>
              </a:ext>
            </a:extLst>
          </p:cNvPr>
          <p:cNvPicPr>
            <a:picLocks noChangeAspect="1"/>
          </p:cNvPicPr>
          <p:nvPr/>
        </p:nvPicPr>
        <p:blipFill>
          <a:blip r:embed="rId3"/>
          <a:stretch>
            <a:fillRect/>
          </a:stretch>
        </p:blipFill>
        <p:spPr>
          <a:xfrm>
            <a:off x="6253817" y="2284018"/>
            <a:ext cx="5294715" cy="2289963"/>
          </a:xfrm>
          <a:prstGeom prst="rect">
            <a:avLst/>
          </a:prstGeom>
        </p:spPr>
      </p:pic>
    </p:spTree>
    <p:extLst>
      <p:ext uri="{BB962C8B-B14F-4D97-AF65-F5344CB8AC3E}">
        <p14:creationId xmlns:p14="http://schemas.microsoft.com/office/powerpoint/2010/main" val="29002883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a:extLst>
              <a:ext uri="{FF2B5EF4-FFF2-40B4-BE49-F238E27FC236}">
                <a16:creationId xmlns:a16="http://schemas.microsoft.com/office/drawing/2014/main" id="{93982151-7A53-DB27-2695-5CDA3B11893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620615A4-CB6F-4DA7-90B3-EE349BCCBFC9}" type="slidenum">
              <a:rPr lang="de-DE" altLang="en-US" sz="1000"/>
              <a:pPr/>
              <a:t>44</a:t>
            </a:fld>
            <a:endParaRPr lang="de-DE" altLang="en-US" sz="1000"/>
          </a:p>
        </p:txBody>
      </p:sp>
      <p:sp>
        <p:nvSpPr>
          <p:cNvPr id="57347" name="Rectangle 2">
            <a:extLst>
              <a:ext uri="{FF2B5EF4-FFF2-40B4-BE49-F238E27FC236}">
                <a16:creationId xmlns:a16="http://schemas.microsoft.com/office/drawing/2014/main" id="{7FE699A3-9B3A-A1F5-81A7-39197121F8C3}"/>
              </a:ext>
            </a:extLst>
          </p:cNvPr>
          <p:cNvSpPr>
            <a:spLocks noGrp="1" noChangeArrowheads="1"/>
          </p:cNvSpPr>
          <p:nvPr>
            <p:ph type="title"/>
          </p:nvPr>
        </p:nvSpPr>
        <p:spPr>
          <a:noFill/>
        </p:spPr>
        <p:txBody>
          <a:bodyPr vert="horz" lIns="92075" tIns="46038" rIns="92075" bIns="46038" rtlCol="0" anchor="ctr">
            <a:normAutofit/>
          </a:bodyPr>
          <a:lstStyle/>
          <a:p>
            <a:r>
              <a:rPr lang="en-US" altLang="en-US" sz="5400"/>
              <a:t>References</a:t>
            </a:r>
          </a:p>
        </p:txBody>
      </p:sp>
      <p:sp>
        <p:nvSpPr>
          <p:cNvPr id="57348" name="Rectangle 3">
            <a:extLst>
              <a:ext uri="{FF2B5EF4-FFF2-40B4-BE49-F238E27FC236}">
                <a16:creationId xmlns:a16="http://schemas.microsoft.com/office/drawing/2014/main" id="{6076B404-E338-B43F-1FEB-BAEDAE050DAE}"/>
              </a:ext>
            </a:extLst>
          </p:cNvPr>
          <p:cNvSpPr>
            <a:spLocks noGrp="1" noChangeArrowheads="1"/>
          </p:cNvSpPr>
          <p:nvPr>
            <p:ph type="body" idx="1"/>
          </p:nvPr>
        </p:nvSpPr>
        <p:spPr>
          <a:noFill/>
        </p:spPr>
        <p:txBody>
          <a:bodyPr vert="horz" lIns="92075" tIns="46038" rIns="92075" bIns="46038" rtlCol="0">
            <a:normAutofit/>
          </a:bodyPr>
          <a:lstStyle/>
          <a:p>
            <a:pPr marL="342900" indent="-342900"/>
            <a:r>
              <a:rPr lang="en-US" altLang="en-US"/>
              <a:t>Larman, C. </a:t>
            </a:r>
            <a:r>
              <a:rPr lang="en-US" altLang="en-US" i="1"/>
              <a:t>Applying UML and Patterns: An Introduction to Object-Oriented Analysis and Design and Iterative Development</a:t>
            </a:r>
            <a:r>
              <a:rPr lang="en-US" altLang="en-US"/>
              <a:t>, Third Edition, Upper Saddle River, NJ: Prentice Hall PTR, 2005.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8, 9, 10, 11, 12, 13</a:t>
            </a:r>
          </a:p>
          <a:p>
            <a:pPr marL="0" lvl="1" indent="0">
              <a:spcBef>
                <a:spcPts val="1200"/>
              </a:spcBef>
              <a:buNone/>
            </a:pPr>
            <a:r>
              <a:rPr lang="en-US" sz="3100" dirty="0"/>
              <a:t>         </a:t>
            </a:r>
            <a:r>
              <a:rPr lang="en-US" sz="3100" b="1" dirty="0"/>
              <a:t>Assignments &amp; Project Tasks:</a:t>
            </a:r>
          </a:p>
          <a:p>
            <a:pPr lvl="2"/>
            <a:r>
              <a:rPr lang="en-US" sz="3100" dirty="0"/>
              <a:t>Project Deliverable 2 is open (Due next Wednesday). This is a </a:t>
            </a:r>
            <a:r>
              <a:rPr lang="en-US" sz="3100" u="sng" dirty="0"/>
              <a:t>Group Submission</a:t>
            </a:r>
            <a:r>
              <a:rPr lang="en-US" sz="3100" dirty="0"/>
              <a:t>.</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3277" y="409506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1279"/>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107709183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02 My SCR template">
  <a:themeElements>
    <a:clrScheme name="">
      <a:dk1>
        <a:srgbClr val="336699"/>
      </a:dk1>
      <a:lt1>
        <a:srgbClr val="FFFFFF"/>
      </a:lt1>
      <a:dk2>
        <a:srgbClr val="999999"/>
      </a:dk2>
      <a:lt2>
        <a:srgbClr val="990000"/>
      </a:lt2>
      <a:accent1>
        <a:srgbClr val="FFCC00"/>
      </a:accent1>
      <a:accent2>
        <a:srgbClr val="FF9900"/>
      </a:accent2>
      <a:accent3>
        <a:srgbClr val="FFFFFF"/>
      </a:accent3>
      <a:accent4>
        <a:srgbClr val="2A5682"/>
      </a:accent4>
      <a:accent5>
        <a:srgbClr val="FFE2AA"/>
      </a:accent5>
      <a:accent6>
        <a:srgbClr val="E78A00"/>
      </a:accent6>
      <a:hlink>
        <a:srgbClr val="99CC66"/>
      </a:hlink>
      <a:folHlink>
        <a:srgbClr val="336699"/>
      </a:folHlink>
    </a:clrScheme>
    <a:fontScheme name="2002 My SCR 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lnDef>
  </a:objectDefaults>
  <a:extraClrSchemeLst>
    <a:extraClrScheme>
      <a:clrScheme name="2002 My SCR template 1">
        <a:dk1>
          <a:srgbClr val="002B5D"/>
        </a:dk1>
        <a:lt1>
          <a:srgbClr val="FFFFFF"/>
        </a:lt1>
        <a:dk2>
          <a:srgbClr val="FF9B06"/>
        </a:dk2>
        <a:lt2>
          <a:srgbClr val="641014"/>
        </a:lt2>
        <a:accent1>
          <a:srgbClr val="ACCF00"/>
        </a:accent1>
        <a:accent2>
          <a:srgbClr val="C8DB57"/>
        </a:accent2>
        <a:accent3>
          <a:srgbClr val="FFFFFF"/>
        </a:accent3>
        <a:accent4>
          <a:srgbClr val="00234E"/>
        </a:accent4>
        <a:accent5>
          <a:srgbClr val="D2E4AA"/>
        </a:accent5>
        <a:accent6>
          <a:srgbClr val="B5C64E"/>
        </a:accent6>
        <a:hlink>
          <a:srgbClr val="D8DE91"/>
        </a:hlink>
        <a:folHlink>
          <a:srgbClr val="E4E8B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1594</TotalTime>
  <Words>2601</Words>
  <Application>Microsoft Macintosh PowerPoint</Application>
  <PresentationFormat>Widescreen</PresentationFormat>
  <Paragraphs>582</Paragraphs>
  <Slides>46</Slides>
  <Notes>32</Notes>
  <HiddenSlides>0</HiddenSlides>
  <MMClips>1</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46</vt:i4>
      </vt:variant>
    </vt:vector>
  </HeadingPairs>
  <TitlesOfParts>
    <vt:vector size="59" baseType="lpstr">
      <vt:lpstr>Arial</vt:lpstr>
      <vt:lpstr>Arial Narrow</vt:lpstr>
      <vt:lpstr>Calibri</vt:lpstr>
      <vt:lpstr>Calibri Light</vt:lpstr>
      <vt:lpstr>Helvetica</vt:lpstr>
      <vt:lpstr>Marlett</vt:lpstr>
      <vt:lpstr>Rockwell Extra Bold</vt:lpstr>
      <vt:lpstr>SIEMENS-Firmenmarke</vt:lpstr>
      <vt:lpstr>Times New Roman</vt:lpstr>
      <vt:lpstr>Wingdings</vt:lpstr>
      <vt:lpstr>Office Theme</vt:lpstr>
      <vt:lpstr>2002 My SCR template</vt:lpstr>
      <vt:lpstr>Wood Type</vt:lpstr>
      <vt:lpstr>Software Engineering CS411, FALL 2025 </vt:lpstr>
      <vt:lpstr>Lesson plan</vt:lpstr>
      <vt:lpstr>Operation Contracts</vt:lpstr>
      <vt:lpstr>System Operation Contracts</vt:lpstr>
      <vt:lpstr>System Operation Contracts</vt:lpstr>
      <vt:lpstr>System Operation Contracts</vt:lpstr>
      <vt:lpstr>Operation Contract Full Template</vt:lpstr>
      <vt:lpstr>Operations Contract</vt:lpstr>
      <vt:lpstr>Example: Class Diagram for Point of Sale (PoS System)</vt:lpstr>
      <vt:lpstr>Example (Operation Contract for enterItem)</vt:lpstr>
      <vt:lpstr>In Practice: When to write operations contracts</vt:lpstr>
      <vt:lpstr>Software Architecture Styles</vt:lpstr>
      <vt:lpstr>Data Centered Architecture</vt:lpstr>
      <vt:lpstr>Data Flow Architecture</vt:lpstr>
      <vt:lpstr>Call and Return Architecture</vt:lpstr>
      <vt:lpstr>Object Oriented Architecture</vt:lpstr>
      <vt:lpstr>Layered Architecture</vt:lpstr>
      <vt:lpstr>GRASP PATTERNS for  OO Design</vt:lpstr>
      <vt:lpstr>GRASP:  Patterns of General Principles in Assigning Responsibilities</vt:lpstr>
      <vt:lpstr>A Responsibility</vt:lpstr>
      <vt:lpstr>“Doing” responsibilities</vt:lpstr>
      <vt:lpstr>“Knowing” responsibilities</vt:lpstr>
      <vt:lpstr>GRASP Patterns</vt:lpstr>
      <vt:lpstr>Grasp Patterns Summary</vt:lpstr>
      <vt:lpstr>What is a Pattern?</vt:lpstr>
      <vt:lpstr>EXPERT PATTERN</vt:lpstr>
      <vt:lpstr>Expert…</vt:lpstr>
      <vt:lpstr>…Expert</vt:lpstr>
      <vt:lpstr>Example: Class Diagram</vt:lpstr>
      <vt:lpstr>Expert – example…</vt:lpstr>
      <vt:lpstr>…Expert – example…</vt:lpstr>
      <vt:lpstr>…Expert – example…</vt:lpstr>
      <vt:lpstr>…Expert – example…</vt:lpstr>
      <vt:lpstr>Expert</vt:lpstr>
      <vt:lpstr>CREATOR PATTERN</vt:lpstr>
      <vt:lpstr>Creator</vt:lpstr>
      <vt:lpstr>…Creator</vt:lpstr>
      <vt:lpstr>Example: Class Diagram</vt:lpstr>
      <vt:lpstr>Creator – Example… </vt:lpstr>
      <vt:lpstr>…Creator – Example…</vt:lpstr>
      <vt:lpstr>Creator</vt:lpstr>
      <vt:lpstr>PowerPoint Presentation</vt:lpstr>
      <vt:lpstr>PowerPoint Presentation</vt:lpstr>
      <vt:lpstr>References</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Kontothanassis, Leonidas</cp:lastModifiedBy>
  <cp:revision>68</cp:revision>
  <dcterms:created xsi:type="dcterms:W3CDTF">2022-09-05T18:50:47Z</dcterms:created>
  <dcterms:modified xsi:type="dcterms:W3CDTF">2025-09-22T15:09:39Z</dcterms:modified>
</cp:coreProperties>
</file>