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  <p:sldMasterId id="2147483673" r:id="rId3"/>
  </p:sldMasterIdLst>
  <p:notesMasterIdLst>
    <p:notesMasterId r:id="rId43"/>
  </p:notesMasterIdLst>
  <p:sldIdLst>
    <p:sldId id="339" r:id="rId4"/>
    <p:sldId id="771" r:id="rId5"/>
    <p:sldId id="540" r:id="rId6"/>
    <p:sldId id="535" r:id="rId7"/>
    <p:sldId id="534" r:id="rId8"/>
    <p:sldId id="536" r:id="rId9"/>
    <p:sldId id="537" r:id="rId10"/>
    <p:sldId id="555" r:id="rId11"/>
    <p:sldId id="539" r:id="rId12"/>
    <p:sldId id="538" r:id="rId13"/>
    <p:sldId id="777" r:id="rId14"/>
    <p:sldId id="541" r:id="rId15"/>
    <p:sldId id="405" r:id="rId16"/>
    <p:sldId id="406" r:id="rId17"/>
    <p:sldId id="407" r:id="rId18"/>
    <p:sldId id="408" r:id="rId19"/>
    <p:sldId id="409" r:id="rId20"/>
    <p:sldId id="460" r:id="rId21"/>
    <p:sldId id="542" r:id="rId22"/>
    <p:sldId id="410" r:id="rId23"/>
    <p:sldId id="411" r:id="rId24"/>
    <p:sldId id="492" r:id="rId25"/>
    <p:sldId id="412" r:id="rId26"/>
    <p:sldId id="413" r:id="rId27"/>
    <p:sldId id="414" r:id="rId28"/>
    <p:sldId id="415" r:id="rId29"/>
    <p:sldId id="416" r:id="rId30"/>
    <p:sldId id="543" r:id="rId31"/>
    <p:sldId id="417" r:id="rId32"/>
    <p:sldId id="418" r:id="rId33"/>
    <p:sldId id="533" r:id="rId34"/>
    <p:sldId id="419" r:id="rId35"/>
    <p:sldId id="420" r:id="rId36"/>
    <p:sldId id="421" r:id="rId37"/>
    <p:sldId id="550" r:id="rId38"/>
    <p:sldId id="551" r:id="rId39"/>
    <p:sldId id="457" r:id="rId40"/>
    <p:sldId id="775" r:id="rId41"/>
    <p:sldId id="472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76" autoAdjust="0"/>
    <p:restoredTop sz="89116" autoAdjust="0"/>
  </p:normalViewPr>
  <p:slideViewPr>
    <p:cSldViewPr snapToGrid="0">
      <p:cViewPr varScale="1">
        <p:scale>
          <a:sx n="113" d="100"/>
          <a:sy n="113" d="100"/>
        </p:scale>
        <p:origin x="12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048847-F91B-4B1D-AD73-BB1B8880DDE5}" type="datetimeFigureOut">
              <a:rPr lang="en-US" smtClean="0"/>
              <a:t>7/14/25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B0D67-D7BD-4ABE-8D65-14A981A516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460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Goddess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en.wikipedia.org/wiki/Agriculture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B37E82E-57AD-4AAF-B9F4-A759377B7E20}" type="slidenum">
              <a:rPr lang="en-US"/>
              <a:pPr/>
              <a:t>4</a:t>
            </a:fld>
            <a:endParaRPr lang="en-US"/>
          </a:p>
        </p:txBody>
      </p:sp>
      <p:sp>
        <p:nvSpPr>
          <p:cNvPr id="76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88075" cy="3481387"/>
          </a:xfrm>
          <a:ln/>
        </p:spPr>
      </p:sp>
      <p:sp>
        <p:nvSpPr>
          <p:cNvPr id="7690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558" y="4409758"/>
            <a:ext cx="5130586" cy="4177665"/>
          </a:xfrm>
        </p:spPr>
        <p:txBody>
          <a:bodyPr/>
          <a:lstStyle/>
          <a:p>
            <a:pPr defTabSz="915772"/>
            <a:endParaRPr lang="en-US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A482EEC-E663-438C-B41C-52AE046FACA3}" type="slidenum">
              <a:rPr lang="en-US"/>
              <a:pPr/>
              <a:t>5</a:t>
            </a:fld>
            <a:endParaRPr lang="en-US"/>
          </a:p>
        </p:txBody>
      </p:sp>
      <p:sp>
        <p:nvSpPr>
          <p:cNvPr id="7669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88075" cy="3481387"/>
          </a:xfrm>
          <a:ln/>
        </p:spPr>
      </p:sp>
      <p:sp>
        <p:nvSpPr>
          <p:cNvPr id="766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558" y="4409758"/>
            <a:ext cx="5130586" cy="4177665"/>
          </a:xfrm>
        </p:spPr>
        <p:txBody>
          <a:bodyPr/>
          <a:lstStyle/>
          <a:p>
            <a:pPr defTabSz="915772"/>
            <a:r>
              <a:rPr lang="en-US" altLang="en-US" dirty="0"/>
              <a:t>Operation contractions use a pre and post condition</a:t>
            </a:r>
            <a:r>
              <a:rPr lang="en-US" altLang="en-US" baseline="0" dirty="0"/>
              <a:t> form to describe detailed changes to objects in a domain model</a:t>
            </a:r>
          </a:p>
          <a:p>
            <a:pPr defTabSz="915772"/>
            <a:endParaRPr lang="en-US" altLang="en-US" baseline="0" dirty="0"/>
          </a:p>
          <a:p>
            <a:pPr defTabSz="915772"/>
            <a:r>
              <a:rPr lang="en-US" altLang="en-US" baseline="0" dirty="0"/>
              <a:t>To create a contract – identify the system operations from the system sequence diagram</a:t>
            </a:r>
            <a:endParaRPr lang="en-US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96BB32-6519-4E1C-9CEC-DC94E5440FDA}" type="slidenum">
              <a:rPr lang="en-US"/>
              <a:pPr/>
              <a:t>6</a:t>
            </a:fld>
            <a:endParaRPr lang="en-US"/>
          </a:p>
        </p:txBody>
      </p:sp>
      <p:sp>
        <p:nvSpPr>
          <p:cNvPr id="7710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88075" cy="3481387"/>
          </a:xfrm>
          <a:ln/>
        </p:spPr>
      </p:sp>
      <p:sp>
        <p:nvSpPr>
          <p:cNvPr id="7710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558" y="4409758"/>
            <a:ext cx="5130586" cy="4177665"/>
          </a:xfrm>
        </p:spPr>
        <p:txBody>
          <a:bodyPr/>
          <a:lstStyle/>
          <a:p>
            <a:pPr defTabSz="915772"/>
            <a:r>
              <a:rPr lang="en-US" altLang="en-US" dirty="0"/>
              <a:t>Association</a:t>
            </a:r>
            <a:r>
              <a:rPr lang="en-US" altLang="en-US" baseline="0" dirty="0"/>
              <a:t> – path messages are sent</a:t>
            </a:r>
            <a:endParaRPr lang="en-US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B9FA703-E8BF-4CB3-BA55-5F9C93600BF5}" type="slidenum">
              <a:rPr lang="en-US"/>
              <a:pPr/>
              <a:t>7</a:t>
            </a:fld>
            <a:endParaRPr lang="en-US"/>
          </a:p>
        </p:txBody>
      </p:sp>
      <p:sp>
        <p:nvSpPr>
          <p:cNvPr id="7731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88075" cy="3481387"/>
          </a:xfrm>
          <a:ln/>
        </p:spPr>
      </p:sp>
      <p:sp>
        <p:nvSpPr>
          <p:cNvPr id="773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558" y="4409758"/>
            <a:ext cx="5130586" cy="4177665"/>
          </a:xfrm>
        </p:spPr>
        <p:txBody>
          <a:bodyPr/>
          <a:lstStyle/>
          <a:p>
            <a:pPr defTabSz="915772"/>
            <a:endParaRPr lang="en-US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5239236-8648-4B3B-A92F-3045E7CAAD0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6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4813" y="695325"/>
            <a:ext cx="6178550" cy="3476625"/>
          </a:xfrm>
          <a:ln/>
        </p:spPr>
      </p:sp>
      <p:sp>
        <p:nvSpPr>
          <p:cNvPr id="796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863" y="4403725"/>
            <a:ext cx="5121275" cy="4171950"/>
          </a:xfrm>
        </p:spPr>
        <p:txBody>
          <a:bodyPr/>
          <a:lstStyle/>
          <a:p>
            <a:pPr defTabSz="914400"/>
            <a:r>
              <a:rPr lang="en-US" altLang="en-US" dirty="0"/>
              <a:t>Multiplicity – defines how many instances of class A can be associated with class B</a:t>
            </a:r>
          </a:p>
          <a:p>
            <a:pPr defTabSz="914400"/>
            <a:endParaRPr lang="en-US" altLang="en-US" dirty="0"/>
          </a:p>
          <a:p>
            <a:pPr defTabSz="914400"/>
            <a:r>
              <a:rPr lang="en-US" altLang="en-US" dirty="0"/>
              <a:t>Single</a:t>
            </a:r>
            <a:r>
              <a:rPr lang="en-US" altLang="en-US" baseline="0" dirty="0"/>
              <a:t> instance of store can be associated with “many” (zero or more, indicated by the *) Sale instance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618953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5D954BD-C11F-4B84-93FB-D9AF7D3720E0}" type="slidenum">
              <a:rPr lang="en-US"/>
              <a:pPr/>
              <a:t>10</a:t>
            </a:fld>
            <a:endParaRPr lang="en-US"/>
          </a:p>
        </p:txBody>
      </p:sp>
      <p:sp>
        <p:nvSpPr>
          <p:cNvPr id="7751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88075" cy="3481387"/>
          </a:xfrm>
          <a:ln/>
        </p:spPr>
      </p:sp>
      <p:sp>
        <p:nvSpPr>
          <p:cNvPr id="7751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558" y="4409758"/>
            <a:ext cx="5130586" cy="4177665"/>
          </a:xfrm>
        </p:spPr>
        <p:txBody>
          <a:bodyPr/>
          <a:lstStyle/>
          <a:p>
            <a:pPr defTabSz="915772"/>
            <a:endParaRPr lang="en-US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Slide Image Placeholder 1">
            <a:extLst>
              <a:ext uri="{FF2B5EF4-FFF2-40B4-BE49-F238E27FC236}">
                <a16:creationId xmlns:a16="http://schemas.microsoft.com/office/drawing/2014/main" id="{0D6728EC-4E66-D473-7EBD-44A4BEAAA47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2467" name="Notes Placeholder 2">
            <a:extLst>
              <a:ext uri="{FF2B5EF4-FFF2-40B4-BE49-F238E27FC236}">
                <a16:creationId xmlns:a16="http://schemas.microsoft.com/office/drawing/2014/main" id="{81B19696-5E85-231B-946E-3727793EF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The grasp principles or patterns are a learning aid to help you understand essential object design and apply design reasoning in a methodical, rational, explainable way</a:t>
            </a:r>
          </a:p>
        </p:txBody>
      </p:sp>
      <p:sp>
        <p:nvSpPr>
          <p:cNvPr id="62468" name="Slide Number Placeholder 3">
            <a:extLst>
              <a:ext uri="{FF2B5EF4-FFF2-40B4-BE49-F238E27FC236}">
                <a16:creationId xmlns:a16="http://schemas.microsoft.com/office/drawing/2014/main" id="{69B1B4ED-6DF6-0A66-EE6D-CF11120C2F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91BD9277-C166-4B0E-BE21-99D0ACC7E7E5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13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Slide Image Placeholder 1">
            <a:extLst>
              <a:ext uri="{FF2B5EF4-FFF2-40B4-BE49-F238E27FC236}">
                <a16:creationId xmlns:a16="http://schemas.microsoft.com/office/drawing/2014/main" id="{090955F8-D93E-9568-579B-D4664B70C07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3491" name="Notes Placeholder 2">
            <a:extLst>
              <a:ext uri="{FF2B5EF4-FFF2-40B4-BE49-F238E27FC236}">
                <a16:creationId xmlns:a16="http://schemas.microsoft.com/office/drawing/2014/main" id="{2355CB69-31DA-2147-21CE-B1F07DE673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A responsibility is also an abstraction of the object does</a:t>
            </a:r>
          </a:p>
          <a:p>
            <a:endParaRPr lang="en-US" altLang="en-US"/>
          </a:p>
          <a:p>
            <a:r>
              <a:rPr lang="en-US" altLang="en-US"/>
              <a:t>Two types of responsibilities:  doing and knowing.</a:t>
            </a:r>
          </a:p>
        </p:txBody>
      </p:sp>
      <p:sp>
        <p:nvSpPr>
          <p:cNvPr id="63492" name="Slide Number Placeholder 3">
            <a:extLst>
              <a:ext uri="{FF2B5EF4-FFF2-40B4-BE49-F238E27FC236}">
                <a16:creationId xmlns:a16="http://schemas.microsoft.com/office/drawing/2014/main" id="{7A002696-E6DA-36DA-2F98-32E8973EFD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C7C6FB77-87B4-43EA-9F51-13A360FB6C5B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14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Slide Image Placeholder 1">
            <a:extLst>
              <a:ext uri="{FF2B5EF4-FFF2-40B4-BE49-F238E27FC236}">
                <a16:creationId xmlns:a16="http://schemas.microsoft.com/office/drawing/2014/main" id="{D66D6185-A7CE-D48E-0BEE-B952A29C626C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4515" name="Notes Placeholder 2">
            <a:extLst>
              <a:ext uri="{FF2B5EF4-FFF2-40B4-BE49-F238E27FC236}">
                <a16:creationId xmlns:a16="http://schemas.microsoft.com/office/drawing/2014/main" id="{F46A8D0B-A6FE-720A-6CA4-27A6C4C82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64516" name="Slide Number Placeholder 3">
            <a:extLst>
              <a:ext uri="{FF2B5EF4-FFF2-40B4-BE49-F238E27FC236}">
                <a16:creationId xmlns:a16="http://schemas.microsoft.com/office/drawing/2014/main" id="{693D8937-82EB-5568-CD19-250334F78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43A789AA-9EB0-4A4D-8A5E-12C8C82CE5BD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16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Slide Image Placeholder 1">
            <a:extLst>
              <a:ext uri="{FF2B5EF4-FFF2-40B4-BE49-F238E27FC236}">
                <a16:creationId xmlns:a16="http://schemas.microsoft.com/office/drawing/2014/main" id="{D1002D7F-A292-7F2F-4810-A3F403AFDF5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5539" name="Notes Placeholder 2">
            <a:extLst>
              <a:ext uri="{FF2B5EF4-FFF2-40B4-BE49-F238E27FC236}">
                <a16:creationId xmlns:a16="http://schemas.microsoft.com/office/drawing/2014/main" id="{D2FC9C2C-D4F8-9F76-46BB-88675AB8CA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Demeter is a greek goddess.</a:t>
            </a:r>
          </a:p>
          <a:p>
            <a:r>
              <a:rPr lang="en-US" altLang="en-US"/>
              <a:t>“distribution-mother” and </a:t>
            </a:r>
            <a:r>
              <a:rPr lang="en-US" altLang="en-US">
                <a:hlinkClick r:id="rId3" action="ppaction://hlinkfile" tooltip="Goddess"/>
              </a:rPr>
              <a:t>goddess</a:t>
            </a:r>
            <a:r>
              <a:rPr lang="en-US" altLang="en-US"/>
              <a:t> of </a:t>
            </a:r>
            <a:r>
              <a:rPr lang="en-US" altLang="en-US">
                <a:hlinkClick r:id="rId4" action="ppaction://hlinkfile" tooltip="Agriculture"/>
              </a:rPr>
              <a:t>agriculture</a:t>
            </a:r>
            <a:r>
              <a:rPr lang="en-US" altLang="en-US"/>
              <a:t>, to signify a bottom-up philosophy of programming which is also embodied in the law itself.</a:t>
            </a:r>
          </a:p>
        </p:txBody>
      </p:sp>
      <p:sp>
        <p:nvSpPr>
          <p:cNvPr id="65540" name="Slide Number Placeholder 3">
            <a:extLst>
              <a:ext uri="{FF2B5EF4-FFF2-40B4-BE49-F238E27FC236}">
                <a16:creationId xmlns:a16="http://schemas.microsoft.com/office/drawing/2014/main" id="{2E91989E-099E-F7CB-49C7-F2858DCC3B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045719DE-831D-4C89-86A8-4774617FE98D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17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Slide Image Placeholder 1">
            <a:extLst>
              <a:ext uri="{FF2B5EF4-FFF2-40B4-BE49-F238E27FC236}">
                <a16:creationId xmlns:a16="http://schemas.microsoft.com/office/drawing/2014/main" id="{580F4D26-EAA9-0744-276D-B193BBAF520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6563" name="Notes Placeholder 2">
            <a:extLst>
              <a:ext uri="{FF2B5EF4-FFF2-40B4-BE49-F238E27FC236}">
                <a16:creationId xmlns:a16="http://schemas.microsoft.com/office/drawing/2014/main" id="{8174EF07-1FBB-5746-B0C7-A6BB2DD76C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66564" name="Slide Number Placeholder 3">
            <a:extLst>
              <a:ext uri="{FF2B5EF4-FFF2-40B4-BE49-F238E27FC236}">
                <a16:creationId xmlns:a16="http://schemas.microsoft.com/office/drawing/2014/main" id="{62F03C85-A0F0-463F-3375-E58368D394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AEBBD529-AC5E-45E2-9A7F-E0F3C7BD02F0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18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Slide Image Placeholder 1">
            <a:extLst>
              <a:ext uri="{FF2B5EF4-FFF2-40B4-BE49-F238E27FC236}">
                <a16:creationId xmlns:a16="http://schemas.microsoft.com/office/drawing/2014/main" id="{273F7373-2CA6-59EE-4B37-31DE6778330C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7587" name="Notes Placeholder 2">
            <a:extLst>
              <a:ext uri="{FF2B5EF4-FFF2-40B4-BE49-F238E27FC236}">
                <a16:creationId xmlns:a16="http://schemas.microsoft.com/office/drawing/2014/main" id="{5F470998-D3A7-0215-B719-02E718B2C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AKA Information Expert</a:t>
            </a:r>
          </a:p>
        </p:txBody>
      </p:sp>
      <p:sp>
        <p:nvSpPr>
          <p:cNvPr id="67588" name="Slide Number Placeholder 3">
            <a:extLst>
              <a:ext uri="{FF2B5EF4-FFF2-40B4-BE49-F238E27FC236}">
                <a16:creationId xmlns:a16="http://schemas.microsoft.com/office/drawing/2014/main" id="{ABB5D920-7FB2-238B-69D0-9E0818301C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AD4B74DE-EF3C-46DC-B266-A024CB910CC1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20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5239236-8648-4B3B-A92F-3045E7CAAD0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6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4813" y="695325"/>
            <a:ext cx="6178550" cy="3476625"/>
          </a:xfrm>
          <a:ln/>
        </p:spPr>
      </p:sp>
      <p:sp>
        <p:nvSpPr>
          <p:cNvPr id="796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863" y="4403725"/>
            <a:ext cx="5121275" cy="4171950"/>
          </a:xfrm>
        </p:spPr>
        <p:txBody>
          <a:bodyPr/>
          <a:lstStyle/>
          <a:p>
            <a:pPr defTabSz="914400"/>
            <a:r>
              <a:rPr lang="en-US" altLang="en-US" dirty="0"/>
              <a:t>Multiplicity – defines how many instances of class A can be associated with class B</a:t>
            </a:r>
          </a:p>
          <a:p>
            <a:pPr defTabSz="914400"/>
            <a:endParaRPr lang="en-US" altLang="en-US" dirty="0"/>
          </a:p>
          <a:p>
            <a:pPr defTabSz="914400"/>
            <a:r>
              <a:rPr lang="en-US" altLang="en-US" dirty="0"/>
              <a:t>Single</a:t>
            </a:r>
            <a:r>
              <a:rPr lang="en-US" altLang="en-US" baseline="0" dirty="0"/>
              <a:t> instance of store can be associated with “many” (zero or more, indicated by the *) Sale instance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3156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Slide Image Placeholder 1">
            <a:extLst>
              <a:ext uri="{FF2B5EF4-FFF2-40B4-BE49-F238E27FC236}">
                <a16:creationId xmlns:a16="http://schemas.microsoft.com/office/drawing/2014/main" id="{FE60D572-73B2-2910-BFB6-9B59B6CE382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8611" name="Notes Placeholder 2">
            <a:extLst>
              <a:ext uri="{FF2B5EF4-FFF2-40B4-BE49-F238E27FC236}">
                <a16:creationId xmlns:a16="http://schemas.microsoft.com/office/drawing/2014/main" id="{C7217823-C76A-26FA-9E93-A9CEC3FEA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Ask “who should be responsible for knowing the grand total of a sale?”</a:t>
            </a:r>
          </a:p>
          <a:p>
            <a:endParaRPr lang="en-US" altLang="en-US"/>
          </a:p>
          <a:p>
            <a:r>
              <a:rPr lang="en-US" altLang="en-US"/>
              <a:t>Here is a partial domain model showing the “associations” of Sale</a:t>
            </a:r>
          </a:p>
          <a:p>
            <a:endParaRPr lang="en-US" altLang="en-US"/>
          </a:p>
          <a:p>
            <a:r>
              <a:rPr lang="en-US" altLang="en-US"/>
              <a:t>Go to the next slide to figure out what is needed to determine the grand total.</a:t>
            </a:r>
          </a:p>
        </p:txBody>
      </p:sp>
      <p:sp>
        <p:nvSpPr>
          <p:cNvPr id="68612" name="Slide Number Placeholder 3">
            <a:extLst>
              <a:ext uri="{FF2B5EF4-FFF2-40B4-BE49-F238E27FC236}">
                <a16:creationId xmlns:a16="http://schemas.microsoft.com/office/drawing/2014/main" id="{D7924F1D-A278-589A-F4CB-C46F6F9D6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59182030-F1B3-497D-83CF-D400ED9B84EF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23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Slide Image Placeholder 1">
            <a:extLst>
              <a:ext uri="{FF2B5EF4-FFF2-40B4-BE49-F238E27FC236}">
                <a16:creationId xmlns:a16="http://schemas.microsoft.com/office/drawing/2014/main" id="{2674C7E1-49DE-A36C-B735-2BFDD45B4E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9635" name="Notes Placeholder 2">
            <a:extLst>
              <a:ext uri="{FF2B5EF4-FFF2-40B4-BE49-F238E27FC236}">
                <a16:creationId xmlns:a16="http://schemas.microsoft.com/office/drawing/2014/main" id="{7AB403C0-10D2-C8E0-6BA0-6957FE430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It is necessary to know about all the saleslineitem instances of a sale and the sum of their subtotals.  Sale knows theses – buy the Expert guideline, Sale is a suitable class for this responsibility.  </a:t>
            </a:r>
          </a:p>
          <a:p>
            <a:endParaRPr lang="en-US" altLang="en-US"/>
          </a:p>
          <a:p>
            <a:r>
              <a:rPr lang="en-US" altLang="en-US"/>
              <a:t>Partial Interaction and class diagrams shown here – showing where you would assign the responsibility – Sale has the method total() and Sale is getting a message requesting that information.</a:t>
            </a:r>
          </a:p>
          <a:p>
            <a:endParaRPr lang="en-US" altLang="en-US"/>
          </a:p>
        </p:txBody>
      </p:sp>
      <p:sp>
        <p:nvSpPr>
          <p:cNvPr id="69636" name="Slide Number Placeholder 3">
            <a:extLst>
              <a:ext uri="{FF2B5EF4-FFF2-40B4-BE49-F238E27FC236}">
                <a16:creationId xmlns:a16="http://schemas.microsoft.com/office/drawing/2014/main" id="{6E304CB2-18E3-C3FE-EC7A-806DEB4AA5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18F39F6B-266A-43AD-B7AA-D061A611583D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24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Slide Image Placeholder 1">
            <a:extLst>
              <a:ext uri="{FF2B5EF4-FFF2-40B4-BE49-F238E27FC236}">
                <a16:creationId xmlns:a16="http://schemas.microsoft.com/office/drawing/2014/main" id="{D073415B-DF07-9481-9023-2D34035A74D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0659" name="Notes Placeholder 2">
            <a:extLst>
              <a:ext uri="{FF2B5EF4-FFF2-40B4-BE49-F238E27FC236}">
                <a16:creationId xmlns:a16="http://schemas.microsoft.com/office/drawing/2014/main" id="{2BF97EBD-251B-7EDD-AA7D-A20DABE2C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Tx/>
              <a:buChar char="•"/>
            </a:pPr>
            <a:r>
              <a:rPr lang="en-US" altLang="en-US"/>
              <a:t>What information is needed to determine the line item “subtotal”?</a:t>
            </a:r>
          </a:p>
          <a:p>
            <a:pPr>
              <a:buFontTx/>
              <a:buChar char="•"/>
            </a:pPr>
            <a:endParaRPr lang="en-US" altLang="en-US"/>
          </a:p>
          <a:p>
            <a:pPr>
              <a:buFontTx/>
              <a:buChar char="•"/>
            </a:pPr>
            <a:r>
              <a:rPr lang="en-US" altLang="en-US"/>
              <a:t>SalesLineItem knows its quantity and its associated product specification (price) (look at slide 11)</a:t>
            </a:r>
          </a:p>
          <a:p>
            <a:pPr>
              <a:buFontTx/>
              <a:buChar char="•"/>
            </a:pPr>
            <a:r>
              <a:rPr lang="en-US" altLang="en-US"/>
              <a:t>Therefore by “expert”, salesLineItem should determine the subtotal.  It is the information expert.</a:t>
            </a:r>
          </a:p>
          <a:p>
            <a:pPr>
              <a:buFontTx/>
              <a:buChar char="•"/>
            </a:pPr>
            <a:endParaRPr lang="en-US" altLang="en-US"/>
          </a:p>
          <a:p>
            <a:pPr>
              <a:buFontTx/>
              <a:buChar char="•"/>
            </a:pPr>
            <a:endParaRPr lang="en-US" altLang="en-US"/>
          </a:p>
        </p:txBody>
      </p:sp>
      <p:sp>
        <p:nvSpPr>
          <p:cNvPr id="70660" name="Slide Number Placeholder 3">
            <a:extLst>
              <a:ext uri="{FF2B5EF4-FFF2-40B4-BE49-F238E27FC236}">
                <a16:creationId xmlns:a16="http://schemas.microsoft.com/office/drawing/2014/main" id="{DD5E4FC9-79C5-BB83-DB66-5E89D5D647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B4092A12-B68F-487D-9882-5C2E05E6BAE9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25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Slide Image Placeholder 1">
            <a:extLst>
              <a:ext uri="{FF2B5EF4-FFF2-40B4-BE49-F238E27FC236}">
                <a16:creationId xmlns:a16="http://schemas.microsoft.com/office/drawing/2014/main" id="{B2374541-DFFC-86DE-FB2C-8127E66FBB1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1683" name="Notes Placeholder 2">
            <a:extLst>
              <a:ext uri="{FF2B5EF4-FFF2-40B4-BE49-F238E27FC236}">
                <a16:creationId xmlns:a16="http://schemas.microsoft.com/office/drawing/2014/main" id="{95E1BA4B-2D41-ECB7-771C-2777AFCF74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/>
              <a:t>To fulfill the </a:t>
            </a:r>
            <a:r>
              <a:rPr lang="en-US" altLang="en-US" dirty="0" err="1"/>
              <a:t>responsibliity</a:t>
            </a:r>
            <a:r>
              <a:rPr lang="en-US" altLang="en-US" dirty="0"/>
              <a:t> of knowing and answering its subtotal, a sales </a:t>
            </a:r>
            <a:r>
              <a:rPr lang="en-US" altLang="en-US" dirty="0" err="1"/>
              <a:t>lineitem</a:t>
            </a:r>
            <a:r>
              <a:rPr lang="en-US" altLang="en-US" dirty="0"/>
              <a:t> needs to know the product price.</a:t>
            </a:r>
          </a:p>
          <a:p>
            <a:endParaRPr lang="en-US" altLang="en-US" dirty="0"/>
          </a:p>
          <a:p>
            <a:r>
              <a:rPr lang="en-US" altLang="en-US" dirty="0"/>
              <a:t>The </a:t>
            </a:r>
            <a:r>
              <a:rPr lang="en-US" altLang="en-US" dirty="0" err="1"/>
              <a:t>productSpecification</a:t>
            </a:r>
            <a:r>
              <a:rPr lang="en-US" altLang="en-US" dirty="0"/>
              <a:t> is an information expert on answering the price; therefore a message must be sent asking for the price</a:t>
            </a:r>
          </a:p>
          <a:p>
            <a:endParaRPr lang="en-US" altLang="en-US" dirty="0"/>
          </a:p>
          <a:p>
            <a:r>
              <a:rPr lang="en-US" altLang="en-US" dirty="0"/>
              <a:t>SO – to fulfill the responsibility of knowing and answering the sale’s total, 3 responsibilities were assigned to three design classes of </a:t>
            </a:r>
            <a:r>
              <a:rPr lang="en-US" altLang="en-US" dirty="0" err="1"/>
              <a:t>objects:sale</a:t>
            </a:r>
            <a:r>
              <a:rPr lang="en-US" altLang="en-US" dirty="0"/>
              <a:t> (new the sale total), </a:t>
            </a:r>
            <a:r>
              <a:rPr lang="en-US" altLang="en-US" dirty="0" err="1"/>
              <a:t>SalesLineItem</a:t>
            </a:r>
            <a:r>
              <a:rPr lang="en-US" altLang="en-US" dirty="0"/>
              <a:t> (knows line item subtotal), </a:t>
            </a:r>
            <a:r>
              <a:rPr lang="en-US" altLang="en-US" dirty="0" err="1"/>
              <a:t>ProductSpecification</a:t>
            </a:r>
            <a:r>
              <a:rPr lang="en-US" altLang="en-US" dirty="0"/>
              <a:t> (knows product price)</a:t>
            </a:r>
          </a:p>
        </p:txBody>
      </p:sp>
      <p:sp>
        <p:nvSpPr>
          <p:cNvPr id="71684" name="Slide Number Placeholder 3">
            <a:extLst>
              <a:ext uri="{FF2B5EF4-FFF2-40B4-BE49-F238E27FC236}">
                <a16:creationId xmlns:a16="http://schemas.microsoft.com/office/drawing/2014/main" id="{29F0FCB1-A816-ED05-79BA-72335CEF60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8974507A-DA55-4DDB-B333-D511746B0390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26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Slide Image Placeholder 1">
            <a:extLst>
              <a:ext uri="{FF2B5EF4-FFF2-40B4-BE49-F238E27FC236}">
                <a16:creationId xmlns:a16="http://schemas.microsoft.com/office/drawing/2014/main" id="{31C21467-5E30-F7FF-E598-01303B9A064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2707" name="Notes Placeholder 2">
            <a:extLst>
              <a:ext uri="{FF2B5EF4-FFF2-40B4-BE49-F238E27FC236}">
                <a16:creationId xmlns:a16="http://schemas.microsoft.com/office/drawing/2014/main" id="{6A554CCF-DAAF-ACBA-E3AD-BADA573CB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/>
              <a:t>Low coupling – leads to more robust and maintainable systems</a:t>
            </a:r>
          </a:p>
          <a:p>
            <a:r>
              <a:rPr lang="en-US" altLang="en-US" dirty="0"/>
              <a:t>Lightweight – easier to understand</a:t>
            </a:r>
          </a:p>
        </p:txBody>
      </p:sp>
      <p:sp>
        <p:nvSpPr>
          <p:cNvPr id="72708" name="Slide Number Placeholder 3">
            <a:extLst>
              <a:ext uri="{FF2B5EF4-FFF2-40B4-BE49-F238E27FC236}">
                <a16:creationId xmlns:a16="http://schemas.microsoft.com/office/drawing/2014/main" id="{3E4EFC97-AFF1-C85C-371E-5AE0D6A65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90014E4F-CAB9-4934-932D-47BAD2924635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27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Slide Image Placeholder 1">
            <a:extLst>
              <a:ext uri="{FF2B5EF4-FFF2-40B4-BE49-F238E27FC236}">
                <a16:creationId xmlns:a16="http://schemas.microsoft.com/office/drawing/2014/main" id="{38BCDB1E-9131-23FF-7184-2B97020525D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3731" name="Notes Placeholder 2">
            <a:extLst>
              <a:ext uri="{FF2B5EF4-FFF2-40B4-BE49-F238E27FC236}">
                <a16:creationId xmlns:a16="http://schemas.microsoft.com/office/drawing/2014/main" id="{E05B510B-A9FC-E6E9-E8B7-F062B22DF3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Aggregates – to gather as a whole</a:t>
            </a:r>
          </a:p>
        </p:txBody>
      </p:sp>
      <p:sp>
        <p:nvSpPr>
          <p:cNvPr id="73732" name="Slide Number Placeholder 3">
            <a:extLst>
              <a:ext uri="{FF2B5EF4-FFF2-40B4-BE49-F238E27FC236}">
                <a16:creationId xmlns:a16="http://schemas.microsoft.com/office/drawing/2014/main" id="{53DED3E6-37F7-5380-9666-8ECE51C56C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06857390-37A9-4570-8CAE-1EB2A3F0F109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29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5239236-8648-4B3B-A92F-3045E7CAAD0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6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4813" y="695325"/>
            <a:ext cx="6178550" cy="3476625"/>
          </a:xfrm>
          <a:ln/>
        </p:spPr>
      </p:sp>
      <p:sp>
        <p:nvSpPr>
          <p:cNvPr id="796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863" y="4403725"/>
            <a:ext cx="5121275" cy="4171950"/>
          </a:xfrm>
        </p:spPr>
        <p:txBody>
          <a:bodyPr/>
          <a:lstStyle/>
          <a:p>
            <a:pPr defTabSz="914400"/>
            <a:r>
              <a:rPr lang="en-US" altLang="en-US" dirty="0"/>
              <a:t>Multiplicity – defines how many instances of class A can be associated with class B</a:t>
            </a:r>
          </a:p>
          <a:p>
            <a:pPr defTabSz="914400"/>
            <a:endParaRPr lang="en-US" altLang="en-US" dirty="0"/>
          </a:p>
          <a:p>
            <a:pPr defTabSz="914400"/>
            <a:r>
              <a:rPr lang="en-US" altLang="en-US" dirty="0"/>
              <a:t>Single</a:t>
            </a:r>
            <a:r>
              <a:rPr lang="en-US" altLang="en-US" baseline="0" dirty="0"/>
              <a:t> instance of store can be associated with “many” (zero or more, indicated by the *) Sale instance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631095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Slide Image Placeholder 1">
            <a:extLst>
              <a:ext uri="{FF2B5EF4-FFF2-40B4-BE49-F238E27FC236}">
                <a16:creationId xmlns:a16="http://schemas.microsoft.com/office/drawing/2014/main" id="{958EC06C-2D58-E659-BE51-BA18206A33B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4755" name="Notes Placeholder 2">
            <a:extLst>
              <a:ext uri="{FF2B5EF4-FFF2-40B4-BE49-F238E27FC236}">
                <a16:creationId xmlns:a16="http://schemas.microsoft.com/office/drawing/2014/main" id="{FC04DC23-BE7A-87C9-5872-937E78573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Partial domain model shown here</a:t>
            </a:r>
          </a:p>
          <a:p>
            <a:endParaRPr lang="en-US" altLang="en-US"/>
          </a:p>
          <a:p>
            <a:r>
              <a:rPr lang="en-US" altLang="en-US"/>
              <a:t>Since Sale contains many SalesLineItem objects the creator pattern suggests that Sale is a good candidate to have the responsibility of creating SalesLineITem instances – shown on next slide</a:t>
            </a:r>
          </a:p>
        </p:txBody>
      </p:sp>
      <p:sp>
        <p:nvSpPr>
          <p:cNvPr id="74756" name="Slide Number Placeholder 3">
            <a:extLst>
              <a:ext uri="{FF2B5EF4-FFF2-40B4-BE49-F238E27FC236}">
                <a16:creationId xmlns:a16="http://schemas.microsoft.com/office/drawing/2014/main" id="{2F7A3485-E6A0-5190-97DF-56A07E91F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8DBE63C4-F10F-4454-8485-18D3B7ECF63A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32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Slide Image Placeholder 1">
            <a:extLst>
              <a:ext uri="{FF2B5EF4-FFF2-40B4-BE49-F238E27FC236}">
                <a16:creationId xmlns:a16="http://schemas.microsoft.com/office/drawing/2014/main" id="{E5FA87F0-08CE-BC07-C5F3-B10451B5D1F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5779" name="Notes Placeholder 2">
            <a:extLst>
              <a:ext uri="{FF2B5EF4-FFF2-40B4-BE49-F238E27FC236}">
                <a16:creationId xmlns:a16="http://schemas.microsoft.com/office/drawing/2014/main" id="{387DD492-C442-D7D3-FBD3-435222F7DC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Since Sale contains many SalesLineItem objects the creator pattern suggests that Sale is a good candidate to have the responsibility of creating SalesLineITem instances </a:t>
            </a:r>
          </a:p>
        </p:txBody>
      </p:sp>
      <p:sp>
        <p:nvSpPr>
          <p:cNvPr id="75780" name="Slide Number Placeholder 3">
            <a:extLst>
              <a:ext uri="{FF2B5EF4-FFF2-40B4-BE49-F238E27FC236}">
                <a16:creationId xmlns:a16="http://schemas.microsoft.com/office/drawing/2014/main" id="{A2057AF3-3A5C-5E99-ABEC-70D3FFC82A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A22638FE-90AA-49D5-B89B-68DDB6FCA86E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33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Slide Image Placeholder 1">
            <a:extLst>
              <a:ext uri="{FF2B5EF4-FFF2-40B4-BE49-F238E27FC236}">
                <a16:creationId xmlns:a16="http://schemas.microsoft.com/office/drawing/2014/main" id="{0AAD8259-882D-781F-71D1-81975A2FEFA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6803" name="Notes Placeholder 2">
            <a:extLst>
              <a:ext uri="{FF2B5EF4-FFF2-40B4-BE49-F238E27FC236}">
                <a16:creationId xmlns:a16="http://schemas.microsoft.com/office/drawing/2014/main" id="{31878D81-D032-1853-F03E-DE1496BA3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Coupling – dependencies – degree to which modules depend on each other</a:t>
            </a:r>
          </a:p>
        </p:txBody>
      </p:sp>
      <p:sp>
        <p:nvSpPr>
          <p:cNvPr id="76804" name="Slide Number Placeholder 3">
            <a:extLst>
              <a:ext uri="{FF2B5EF4-FFF2-40B4-BE49-F238E27FC236}">
                <a16:creationId xmlns:a16="http://schemas.microsoft.com/office/drawing/2014/main" id="{6AA89A9D-2ED2-4F35-7713-0D4324768D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DF14BAB0-E748-4D2A-B4C4-95D6B1224E9D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34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5">
            <a:extLst>
              <a:ext uri="{FF2B5EF4-FFF2-40B4-BE49-F238E27FC236}">
                <a16:creationId xmlns:a16="http://schemas.microsoft.com/office/drawing/2014/main" id="{56FFF4B5-776F-2F86-AD06-89FC9631832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FB77F520-5F1B-4F35-A091-8C2E593F2DD3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37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2403" name="Rectangle 2">
            <a:extLst>
              <a:ext uri="{FF2B5EF4-FFF2-40B4-BE49-F238E27FC236}">
                <a16:creationId xmlns:a16="http://schemas.microsoft.com/office/drawing/2014/main" id="{B1A77E34-C8F1-363E-D46C-390025F807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73788" cy="3473450"/>
          </a:xfrm>
          <a:ln/>
        </p:spPr>
      </p:sp>
      <p:sp>
        <p:nvSpPr>
          <p:cNvPr id="102404" name="Rectangle 3">
            <a:extLst>
              <a:ext uri="{FF2B5EF4-FFF2-40B4-BE49-F238E27FC236}">
                <a16:creationId xmlns:a16="http://schemas.microsoft.com/office/drawing/2014/main" id="{9AD4E686-B3A4-EC00-44B1-2CFBFE982A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0275" y="4403725"/>
            <a:ext cx="5124450" cy="41719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3518" tIns="46760" rIns="93518" bIns="46760" anchor="ctr"/>
          <a:lstStyle/>
          <a:p>
            <a:pPr defTabSz="914400"/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7C918-20C2-4BAB-2D2C-B38AE8C15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EBEC92-6DCA-9FD0-EEEC-EC003BAAEE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CE859-F241-0ACD-8897-7F12712DA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E2907-09B0-78FC-8E76-F74A8E0CD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97F20-8B1F-2B59-A47F-D2A290CCB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819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9508D-A5CB-45B7-DFB8-E0234B5D6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123E2-C76D-1127-FF35-AF6FD2741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47F7C-981C-F881-53A9-E96CA035C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D6235E-DC6E-FFCF-3638-E9FD3D93B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FBAD0-D5F2-409D-7051-0BF8E5C76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11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4BA50-CCB1-0778-8762-8CBCE629E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D12CA-35D1-D5FB-4A46-B048631B4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A9003-34ED-8574-A5D0-D68DF02C1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C3AAF-63D0-E92C-34FB-915DFC31D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42D99-D592-A100-609F-1B765442D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510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659A0-0E7A-0289-E156-75F93A91F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B8049-D55B-127E-E17C-FED9FB5C25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8B8108-D3D6-C73B-323C-0AA408D15E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192B38-E8CF-F470-2F9A-6C54367E0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7/14/25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FA0BC-9D1A-47D4-1A57-1F842146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A9EB2-322A-250C-066B-6BFBB89F1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32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61091-B280-D020-B87F-56A5C7998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A241C-2CEA-2888-11BA-513E3DAE9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D3E2FF-9950-99FF-33E5-E58F4F63B5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A4D120-887B-C7E7-84E5-E8638EFFE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30BC97-3A89-E6D7-1140-51C25937DE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4872CC-523B-EDFF-B07C-A988FF25E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7/14/25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DC73F5-4907-67F9-6775-0034061F0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923B05-41DD-9B73-E688-AD4D5574B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3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FDD47-9F9D-1C4B-2165-9A53BB6C0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0D5964-9C5D-EA8F-DA52-78E3261CB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7/14/25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A55C0A-7735-2D52-EEA5-234D79115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DC1569-42A8-98D0-16F3-B183232AB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203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8B3E13-7EA6-3D73-648A-2D0D22743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7/14/25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331C45-823D-48D6-E882-B9E105D23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9D351-3EEA-D614-A892-FFF26DE28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842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55A8B-50D0-83FB-2159-2B579DF22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BC32D-920C-1C24-48E6-CC3109972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299DDF-0A0B-9DA1-5CD4-A91ADE067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8DF80B-BCA3-4FB3-6DCB-9B98EF772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7/14/25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7FE636-FDF9-6C74-F1B2-FE52D6F4B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BD3ED8-4EFE-38B7-5C03-FB19B9DC8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458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104E8-D094-B7C7-0658-D030AD44C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3528A8-9417-066D-515E-B2BFDB456B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661CA-CB31-CE95-59EB-199EB01FE3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3D29A-7780-32C6-BCE9-DA203FC78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7/14/25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49631F-67E1-EBBB-7362-1A69C42F2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0B73C7-BEDB-BE2F-217E-6FEBC3818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522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5D78B-9936-1F51-5CB7-1F108EEE6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BAD41-306C-C39A-7D73-62ABBFF0F3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D22CF-C457-89F9-52AF-973D3183C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1B72F-0EE0-461F-7306-9D3B900E1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A33E54-F7D9-99BD-6AF1-600F160E3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441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1AF3BD-73E4-3394-B2D5-E3A7F4831D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40C9F7-A547-28A7-7323-ACA4095826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17E184-987F-4FE3-BE43-C6C2EE5A5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E8E29-E126-0F76-B95D-8D0B5853F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2B896-055F-C156-CF27-EED60EB9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0553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C7F33F08-D016-6ED5-B138-B93CDD4D75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901" y="0"/>
            <a:ext cx="11722100" cy="533400"/>
          </a:xfrm>
          <a:prstGeom prst="rect">
            <a:avLst/>
          </a:prstGeom>
          <a:solidFill>
            <a:srgbClr val="336699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1800"/>
          </a:p>
        </p:txBody>
      </p:sp>
      <p:sp>
        <p:nvSpPr>
          <p:cNvPr id="3" name="Text Box 5">
            <a:extLst>
              <a:ext uri="{FF2B5EF4-FFF2-40B4-BE49-F238E27FC236}">
                <a16:creationId xmlns:a16="http://schemas.microsoft.com/office/drawing/2014/main" id="{95271A30-4721-8D61-C73E-A7C7F17BC2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1067" y="104775"/>
            <a:ext cx="11700933" cy="6001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91440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3000">
                <a:solidFill>
                  <a:schemeClr val="bg1"/>
                </a:solidFill>
                <a:latin typeface="SIEMENS-Firmenmarke" pitchFamily="2" charset="0"/>
              </a:rPr>
              <a:t>SWENG 537: Software Systems Design</a:t>
            </a:r>
            <a:endParaRPr lang="en-US" sz="2800">
              <a:solidFill>
                <a:schemeClr val="bg1"/>
              </a:solidFill>
              <a:latin typeface="SIEMENS-Firmenmarke" pitchFamily="2" charset="0"/>
            </a:endParaRPr>
          </a:p>
        </p:txBody>
      </p:sp>
      <p:sp>
        <p:nvSpPr>
          <p:cNvPr id="4" name="Text Box 6">
            <a:extLst>
              <a:ext uri="{FF2B5EF4-FFF2-40B4-BE49-F238E27FC236}">
                <a16:creationId xmlns:a16="http://schemas.microsoft.com/office/drawing/2014/main" id="{AA06E916-F9EF-BB91-1539-3B53D89551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26400" y="6523039"/>
            <a:ext cx="3759200" cy="323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de-DE" sz="1000">
                <a:solidFill>
                  <a:srgbClr val="336699"/>
                </a:solidFill>
              </a:rPr>
              <a:t>© Engineering Division, Penn State Great Valley</a:t>
            </a:r>
          </a:p>
          <a:p>
            <a:pPr algn="r">
              <a:lnSpc>
                <a:spcPct val="90000"/>
              </a:lnSpc>
              <a:defRPr/>
            </a:pPr>
            <a:r>
              <a:rPr lang="de-DE" sz="1000">
                <a:solidFill>
                  <a:srgbClr val="336699"/>
                </a:solidFill>
              </a:rPr>
              <a:t>Last Updated: </a:t>
            </a:r>
            <a:fld id="{76AEC2A7-4FC1-486E-9F5F-8DDAB7DDBC36}" type="datetime4">
              <a:rPr lang="en-US" sz="1000">
                <a:solidFill>
                  <a:srgbClr val="336699"/>
                </a:solidFill>
              </a:rPr>
              <a:pPr algn="r">
                <a:lnSpc>
                  <a:spcPct val="90000"/>
                </a:lnSpc>
                <a:defRPr/>
              </a:pPr>
              <a:t>July 14, 2025</a:t>
            </a:fld>
            <a:endParaRPr lang="de-DE" sz="1600">
              <a:latin typeface="Arial" charset="0"/>
            </a:endParaRPr>
          </a:p>
        </p:txBody>
      </p:sp>
      <p:sp>
        <p:nvSpPr>
          <p:cNvPr id="5" name="Text Box 8">
            <a:extLst>
              <a:ext uri="{FF2B5EF4-FFF2-40B4-BE49-F238E27FC236}">
                <a16:creationId xmlns:a16="http://schemas.microsoft.com/office/drawing/2014/main" id="{798A1968-A2F0-D475-33DA-03D232BC2817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2931054" y="3578697"/>
            <a:ext cx="6321425" cy="230832"/>
          </a:xfrm>
          <a:prstGeom prst="rect">
            <a:avLst/>
          </a:prstGeom>
          <a:gradFill rotWithShape="0">
            <a:gsLst>
              <a:gs pos="0">
                <a:srgbClr val="999999"/>
              </a:gs>
              <a:gs pos="100000">
                <a:srgbClr val="999999">
                  <a:gamma/>
                  <a:shade val="46275"/>
                  <a:invGamma/>
                </a:srgbClr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lIns="0" tIns="0">
            <a:spAutoFit/>
          </a:bodyPr>
          <a:lstStyle/>
          <a:p>
            <a:pPr algn="l">
              <a:defRPr/>
            </a:pPr>
            <a:r>
              <a:rPr lang="de-DE" sz="1200" b="1">
                <a:solidFill>
                  <a:schemeClr val="bg1"/>
                </a:solidFill>
                <a:latin typeface="Arial" charset="0"/>
              </a:rPr>
              <a:t>        </a:t>
            </a:r>
          </a:p>
        </p:txBody>
      </p:sp>
      <p:sp>
        <p:nvSpPr>
          <p:cNvPr id="11981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2235200" y="1219200"/>
            <a:ext cx="9144000" cy="1447800"/>
          </a:xfrm>
        </p:spPr>
        <p:txBody>
          <a:bodyPr rIns="0" anchor="b"/>
          <a:lstStyle>
            <a:lvl1pPr>
              <a:defRPr sz="3400">
                <a:solidFill>
                  <a:srgbClr val="990000"/>
                </a:solidFill>
              </a:defRPr>
            </a:lvl1pPr>
          </a:lstStyle>
          <a:p>
            <a:r>
              <a:rPr lang="de-DE"/>
              <a:t>headline arial narrow bold</a:t>
            </a:r>
            <a:br>
              <a:rPr lang="de-DE"/>
            </a:br>
            <a:r>
              <a:rPr lang="de-DE"/>
              <a:t>44 pt, 0 pt leading</a:t>
            </a:r>
          </a:p>
        </p:txBody>
      </p:sp>
      <p:sp>
        <p:nvSpPr>
          <p:cNvPr id="119811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224617" y="3614738"/>
            <a:ext cx="9144000" cy="1752600"/>
          </a:xfrm>
        </p:spPr>
        <p:txBody>
          <a:bodyPr rIns="0"/>
          <a:lstStyle>
            <a:lvl1pPr marL="0" indent="0" algn="ctr">
              <a:buFont typeface="Wingdings" pitchFamily="2" charset="2"/>
              <a:buNone/>
              <a:defRPr sz="2400" b="1"/>
            </a:lvl1pPr>
          </a:lstStyle>
          <a:p>
            <a:r>
              <a:rPr lang="de-DE"/>
              <a:t>arial narrow 24 pt. bold</a:t>
            </a:r>
          </a:p>
        </p:txBody>
      </p:sp>
    </p:spTree>
    <p:extLst>
      <p:ext uri="{BB962C8B-B14F-4D97-AF65-F5344CB8AC3E}">
        <p14:creationId xmlns:p14="http://schemas.microsoft.com/office/powerpoint/2010/main" val="810008466"/>
      </p:ext>
    </p:extLst>
  </p:cSld>
  <p:clrMapOvr>
    <a:masterClrMapping/>
  </p:clrMapOvr>
  <p:transition>
    <p:strips dir="rd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0DFE61C6-DBA0-BD74-142E-68756D37EF39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C03EE66-85A7-42E5-BCB9-2884DF035A82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3145244014"/>
      </p:ext>
    </p:extLst>
  </p:cSld>
  <p:clrMapOvr>
    <a:masterClrMapping/>
  </p:clrMapOvr>
  <p:transition>
    <p:strips dir="rd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4CE2F57C-A21D-B485-AF29-40E5F8945C1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EBD54E7-5F7C-4CC0-81D1-A19AC002651B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091857135"/>
      </p:ext>
    </p:extLst>
  </p:cSld>
  <p:clrMapOvr>
    <a:masterClrMapping/>
  </p:clrMapOvr>
  <p:transition>
    <p:strips dir="rd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21317" y="1828800"/>
            <a:ext cx="5128683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53200" y="1828800"/>
            <a:ext cx="51308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9">
            <a:extLst>
              <a:ext uri="{FF2B5EF4-FFF2-40B4-BE49-F238E27FC236}">
                <a16:creationId xmlns:a16="http://schemas.microsoft.com/office/drawing/2014/main" id="{57448D6C-E875-AD2A-4D9C-79719B8B303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FEE65DB-B2AB-495D-9299-B5DFCFA28388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941692148"/>
      </p:ext>
    </p:extLst>
  </p:cSld>
  <p:clrMapOvr>
    <a:masterClrMapping/>
  </p:clrMapOvr>
  <p:transition>
    <p:strips dir="rd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9">
            <a:extLst>
              <a:ext uri="{FF2B5EF4-FFF2-40B4-BE49-F238E27FC236}">
                <a16:creationId xmlns:a16="http://schemas.microsoft.com/office/drawing/2014/main" id="{486ED3EF-C3EA-8B5D-4B16-559D86A4E0C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0F98CF5-9AE7-4786-B13E-797328401BF6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396810015"/>
      </p:ext>
    </p:extLst>
  </p:cSld>
  <p:clrMapOvr>
    <a:masterClrMapping/>
  </p:clrMapOvr>
  <p:transition>
    <p:strips dir="rd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9">
            <a:extLst>
              <a:ext uri="{FF2B5EF4-FFF2-40B4-BE49-F238E27FC236}">
                <a16:creationId xmlns:a16="http://schemas.microsoft.com/office/drawing/2014/main" id="{E36A3930-6349-12FB-5192-86424ADD893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527568B-A8F3-4468-9EF1-2B509F023149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3683681138"/>
      </p:ext>
    </p:extLst>
  </p:cSld>
  <p:clrMapOvr>
    <a:masterClrMapping/>
  </p:clrMapOvr>
  <p:transition>
    <p:strips dir="rd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>
            <a:extLst>
              <a:ext uri="{FF2B5EF4-FFF2-40B4-BE49-F238E27FC236}">
                <a16:creationId xmlns:a16="http://schemas.microsoft.com/office/drawing/2014/main" id="{B441927B-3258-E4C3-CE6C-550F37628F2D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037515-ABFA-425C-A5BB-467EEDC3C6CD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214041240"/>
      </p:ext>
    </p:extLst>
  </p:cSld>
  <p:clrMapOvr>
    <a:masterClrMapping/>
  </p:clrMapOvr>
  <p:transition>
    <p:strips dir="rd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9">
            <a:extLst>
              <a:ext uri="{FF2B5EF4-FFF2-40B4-BE49-F238E27FC236}">
                <a16:creationId xmlns:a16="http://schemas.microsoft.com/office/drawing/2014/main" id="{7CAC1458-2254-43E1-BBC2-13C3021A841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18E807-297E-4F87-ACBA-A9BDCFAB9B75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042409524"/>
      </p:ext>
    </p:extLst>
  </p:cSld>
  <p:clrMapOvr>
    <a:masterClrMapping/>
  </p:clrMapOvr>
  <p:transition>
    <p:strips dir="rd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9">
            <a:extLst>
              <a:ext uri="{FF2B5EF4-FFF2-40B4-BE49-F238E27FC236}">
                <a16:creationId xmlns:a16="http://schemas.microsoft.com/office/drawing/2014/main" id="{280C4D00-106C-6C34-336C-9AD363A1511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953752E-C382-4970-A515-C6C47B2256A5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993135771"/>
      </p:ext>
    </p:extLst>
  </p:cSld>
  <p:clrMapOvr>
    <a:masterClrMapping/>
  </p:clrMapOvr>
  <p:transition>
    <p:strips dir="rd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1BDCA160-64B8-B2DF-0A57-8B117EE1005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1BFFDC5-0B19-42D5-A7FB-FFDBB9E974CB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094030374"/>
      </p:ext>
    </p:extLst>
  </p:cSld>
  <p:clrMapOvr>
    <a:masterClrMapping/>
  </p:clrMapOvr>
  <p:transition>
    <p:strips dir="rd"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69917" y="609600"/>
            <a:ext cx="2614083" cy="5334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21317" y="609600"/>
            <a:ext cx="7645400" cy="5334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06C9261F-98D6-FBD5-D721-5C0B664941D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386F535-B57D-425A-BFA5-AA4AC0F0DE9D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4117519442"/>
      </p:ext>
    </p:extLst>
  </p:cSld>
  <p:clrMapOvr>
    <a:masterClrMapping/>
  </p:clrMapOvr>
  <p:transition>
    <p:strips dir="rd"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80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EF089-A624-4AB7-8B7F-2212E43B5F77}" type="datetime1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17834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363538" indent="-363538">
              <a:tabLst/>
              <a:defRPr sz="3600"/>
            </a:lvl1pPr>
            <a:lvl2pPr marL="628650" indent="-354013">
              <a:tabLst/>
              <a:defRPr sz="3200"/>
            </a:lvl2pPr>
            <a:lvl3pPr marL="893763" indent="-346075">
              <a:tabLst/>
              <a:defRPr sz="2800"/>
            </a:lvl3pPr>
            <a:lvl4pPr marL="1158875" indent="-336550">
              <a:tabLst/>
              <a:defRPr sz="2800"/>
            </a:lvl4pPr>
            <a:lvl5pPr marL="1423988" indent="-327025">
              <a:tabLst/>
              <a:defRPr sz="2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BC5EE-8023-48A0-B577-A5117191FDD2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37070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8A247A89-8FD0-4D3F-AE44-186FA5A357B4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57643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76F02-BBAE-414F-9EC4-5B5F51B31BDB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53293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F49CE-F4FE-45C3-BBAB-CFE946522D3B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7221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21F2F-1A99-4762-A6E9-3172ACF4978C}" type="datetime1">
              <a:rPr lang="en-US" smtClean="0"/>
              <a:t>7/14/25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2524593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A1192-0569-4FE3-B36A-F319D4D12EA7}" type="datetime1">
              <a:rPr lang="en-US" smtClean="0"/>
              <a:t>7/14/25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5781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0433F-3AC1-46DB-A8F6-3397C409090D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4817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6D33-D9B1-481D-971E-4AEB549657B4}" type="datetime1">
              <a:rPr lang="en-US" smtClean="0"/>
              <a:t>7/14/25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0741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0853F-751A-4ADE-AEBA-5696F2A13B50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8794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279F3-C829-4592-BA39-957487C9EDF2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815653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 + 1 colum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 txBox="1">
            <a:spLocks noGrp="1"/>
          </p:cNvSpPr>
          <p:nvPr>
            <p:ph type="title"/>
          </p:nvPr>
        </p:nvSpPr>
        <p:spPr>
          <a:xfrm>
            <a:off x="1048200" y="410826"/>
            <a:ext cx="10095600" cy="9369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body" idx="1"/>
          </p:nvPr>
        </p:nvSpPr>
        <p:spPr>
          <a:xfrm>
            <a:off x="1048200" y="1682267"/>
            <a:ext cx="10095600" cy="47649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419100">
              <a:spcBef>
                <a:spcPts val="600"/>
              </a:spcBef>
              <a:spcAft>
                <a:spcPts val="0"/>
              </a:spcAft>
              <a:buSzPts val="3000"/>
              <a:buChar char="◎"/>
              <a:defRPr/>
            </a:lvl1pPr>
            <a:lvl2pPr marL="914400" lvl="1" indent="-38100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SzPts val="2400"/>
              <a:buChar char="◉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1205845" y="6333134"/>
            <a:ext cx="731600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30771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2" Type="http://schemas.openxmlformats.org/officeDocument/2006/relationships/slideLayout" Target="../slideLayouts/slideLayout2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5" Type="http://schemas.microsoft.com/office/2007/relationships/hdphoto" Target="../media/hdphoto1.wdp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3E55C1-AE0D-3A18-37E0-79544F0BC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9D306-3FD0-BDCB-12EC-C7792AE3A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692521-5971-A773-811D-A748C3EC2F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20FC74-79A4-43E6-BBAD-E788C1A3E90F}" type="datetimeFigureOut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D4B3E-CEA8-7115-56DC-5E2A05AA98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B59FAF-B8B0-C983-6B9A-6153FD4AD8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516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>
            <a:extLst>
              <a:ext uri="{FF2B5EF4-FFF2-40B4-BE49-F238E27FC236}">
                <a16:creationId xmlns:a16="http://schemas.microsoft.com/office/drawing/2014/main" id="{18F1ECE1-9929-DE64-5632-72540D1E0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901" y="0"/>
            <a:ext cx="11722100" cy="533400"/>
          </a:xfrm>
          <a:prstGeom prst="rect">
            <a:avLst/>
          </a:prstGeom>
          <a:solidFill>
            <a:srgbClr val="336699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defTabSz="762000">
              <a:defRPr/>
            </a:pPr>
            <a:endParaRPr lang="en-US" sz="1600">
              <a:solidFill>
                <a:schemeClr val="bg1"/>
              </a:solidFill>
            </a:endParaRPr>
          </a:p>
        </p:txBody>
      </p:sp>
      <p:sp>
        <p:nvSpPr>
          <p:cNvPr id="118787" name="Text Box 3">
            <a:extLst>
              <a:ext uri="{FF2B5EF4-FFF2-40B4-BE49-F238E27FC236}">
                <a16:creationId xmlns:a16="http://schemas.microsoft.com/office/drawing/2014/main" id="{76FAA039-BCD5-DF52-3464-54E83919E5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518" y="95250"/>
            <a:ext cx="10674349" cy="446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2600">
                <a:solidFill>
                  <a:schemeClr val="bg1"/>
                </a:solidFill>
                <a:latin typeface="SIEMENS-Firmenmarke" pitchFamily="2" charset="0"/>
              </a:rPr>
              <a:t>SWENG 537: Software Systems Design</a:t>
            </a:r>
            <a:endParaRPr lang="en-US" sz="2400">
              <a:solidFill>
                <a:schemeClr val="bg1"/>
              </a:solidFill>
              <a:latin typeface="SIEMENS-Firmenmarke" pitchFamily="2" charset="0"/>
            </a:endParaRPr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EE92D2C-33B8-70ED-16BA-3A755D5F5C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21317" y="609600"/>
            <a:ext cx="10462683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/>
              <a:t>Click to edit mater Title style</a:t>
            </a:r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136EAA36-8F01-3A0D-8422-3765DC01E1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21317" y="1828800"/>
            <a:ext cx="10462683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/>
              <a:t>Click to edit Master text styles</a:t>
            </a:r>
          </a:p>
          <a:p>
            <a:pPr lvl="1"/>
            <a:r>
              <a:rPr lang="de-DE" altLang="en-US"/>
              <a:t>Second level</a:t>
            </a:r>
          </a:p>
          <a:p>
            <a:pPr lvl="2"/>
            <a:r>
              <a:rPr lang="de-DE" altLang="en-US"/>
              <a:t>Third level</a:t>
            </a:r>
          </a:p>
          <a:p>
            <a:pPr lvl="3"/>
            <a:r>
              <a:rPr lang="de-DE" altLang="en-US"/>
              <a:t>Fourth level</a:t>
            </a:r>
          </a:p>
          <a:p>
            <a:pPr lvl="4"/>
            <a:r>
              <a:rPr lang="de-DE" altLang="en-US"/>
              <a:t>Fifth level</a:t>
            </a:r>
          </a:p>
        </p:txBody>
      </p:sp>
      <p:sp>
        <p:nvSpPr>
          <p:cNvPr id="118803" name="Rectangle 19">
            <a:extLst>
              <a:ext uri="{FF2B5EF4-FFF2-40B4-BE49-F238E27FC236}">
                <a16:creationId xmlns:a16="http://schemas.microsoft.com/office/drawing/2014/main" id="{CCC05AEF-4FC5-7CA8-848A-24CEB999B89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13851" y="6400800"/>
            <a:ext cx="2470149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10000"/>
              </a:lnSpc>
              <a:defRPr sz="1000"/>
            </a:lvl1pPr>
          </a:lstStyle>
          <a:p>
            <a:fld id="{E0656729-D543-4138-8524-6AD43830E923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118804" name="Text Box 20">
            <a:extLst>
              <a:ext uri="{FF2B5EF4-FFF2-40B4-BE49-F238E27FC236}">
                <a16:creationId xmlns:a16="http://schemas.microsoft.com/office/drawing/2014/main" id="{DFA5C3A8-C016-4867-F5D6-A2ACFA93DCCB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-2930790" y="3582666"/>
            <a:ext cx="6329363" cy="230832"/>
          </a:xfrm>
          <a:prstGeom prst="rect">
            <a:avLst/>
          </a:prstGeom>
          <a:gradFill rotWithShape="0">
            <a:gsLst>
              <a:gs pos="0">
                <a:srgbClr val="999999"/>
              </a:gs>
              <a:gs pos="100000">
                <a:srgbClr val="999999">
                  <a:gamma/>
                  <a:shade val="46275"/>
                  <a:invGamma/>
                </a:srgbClr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lIns="0" tIns="0">
            <a:spAutoFit/>
          </a:bodyPr>
          <a:lstStyle/>
          <a:p>
            <a:pPr algn="l">
              <a:defRPr/>
            </a:pPr>
            <a:r>
              <a:rPr lang="de-DE" sz="1200" b="1">
                <a:solidFill>
                  <a:schemeClr val="bg1"/>
                </a:solidFill>
                <a:latin typeface="Arial" charset="0"/>
              </a:rPr>
              <a:t>        </a:t>
            </a:r>
            <a:r>
              <a:rPr lang="en-US" sz="1200" b="1">
                <a:solidFill>
                  <a:schemeClr val="bg1"/>
                </a:solidFill>
                <a:latin typeface="Arial" charset="0"/>
                <a:cs typeface="Arial" charset="0"/>
              </a:rPr>
              <a:t>© ENGINEERING DIVISION, </a:t>
            </a:r>
            <a:r>
              <a:rPr lang="de-DE" sz="1200" b="1">
                <a:solidFill>
                  <a:schemeClr val="bg1"/>
                </a:solidFill>
                <a:latin typeface="Arial" charset="0"/>
              </a:rPr>
              <a:t>PENN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3374561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ransition>
    <p:strips dir="rd"/>
  </p:transition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9pPr>
    </p:titleStyle>
    <p:bodyStyle>
      <a:lvl1pPr marL="190500" indent="-190500" algn="l" rtl="0" eaLnBrk="0" fontAlgn="base" hangingPunct="0">
        <a:spcBef>
          <a:spcPct val="15000"/>
        </a:spcBef>
        <a:spcAft>
          <a:spcPct val="0"/>
        </a:spcAft>
        <a:buSzPct val="70000"/>
        <a:buFont typeface="Wingdings" panose="05000000000000000000" pitchFamily="2" charset="2"/>
        <a:buChar char="q"/>
        <a:defRPr>
          <a:solidFill>
            <a:schemeClr val="tx1"/>
          </a:solidFill>
          <a:latin typeface="+mn-lt"/>
          <a:ea typeface="+mn-ea"/>
          <a:cs typeface="+mn-cs"/>
        </a:defRPr>
      </a:lvl1pPr>
      <a:lvl2pPr marL="571500" indent="-190500" algn="l" rtl="0" eaLnBrk="0" fontAlgn="base" hangingPunct="0"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600">
          <a:solidFill>
            <a:schemeClr val="tx1"/>
          </a:solidFill>
          <a:latin typeface="+mn-lt"/>
        </a:defRPr>
      </a:lvl2pPr>
      <a:lvl3pPr marL="952500" indent="-190500" algn="l" rtl="0" eaLnBrk="0" fontAlgn="base" hangingPunct="0">
        <a:lnSpc>
          <a:spcPct val="11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400">
          <a:solidFill>
            <a:schemeClr val="tx1"/>
          </a:solidFill>
          <a:latin typeface="+mn-lt"/>
        </a:defRPr>
      </a:lvl3pPr>
      <a:lvl4pPr marL="13335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200">
          <a:solidFill>
            <a:schemeClr val="tx1"/>
          </a:solidFill>
          <a:latin typeface="+mn-lt"/>
        </a:defRPr>
      </a:lvl4pPr>
      <a:lvl5pPr marL="17145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5pPr>
      <a:lvl6pPr marL="21717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6pPr>
      <a:lvl7pPr marL="26289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7pPr>
      <a:lvl8pPr marL="30861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8pPr>
      <a:lvl9pPr marL="35433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88B3F41A-BBB1-4D5B-B4E1-5EA02F485917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328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7" Type="http://schemas.openxmlformats.org/officeDocument/2006/relationships/image" Target="../media/image5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EB384DB2-5DBE-4000-BBD8-68F4A6F35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8895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8497EEB-0DDE-4044-AAB7-899504057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72078"/>
            <a:ext cx="12192000" cy="3095754"/>
          </a:xfrm>
          <a:prstGeom prst="rect">
            <a:avLst/>
          </a:prstGeom>
          <a:blipFill dpi="0" rotWithShape="1">
            <a:blip r:embed="rId4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91D5588-0A43-44F8-8BF9-4BD0CB073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45590" y="5218262"/>
            <a:ext cx="1080904" cy="1080902"/>
            <a:chOff x="9685338" y="4460675"/>
            <a:chExt cx="1080904" cy="1080902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C96F04B2-EA02-4F51-91CB-9399DBE724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6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524F9A86-344F-4139-A831-9D8F3E0EE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" name="Title 3"/>
          <p:cNvSpPr>
            <a:spLocks noGrp="1"/>
          </p:cNvSpPr>
          <p:nvPr>
            <p:ph type="ctrTitle" sz="quarter"/>
          </p:nvPr>
        </p:nvSpPr>
        <p:spPr>
          <a:xfrm>
            <a:off x="619432" y="3803009"/>
            <a:ext cx="10953136" cy="1604733"/>
          </a:xfrm>
        </p:spPr>
        <p:txBody>
          <a:bodyPr anchor="b">
            <a:normAutofit/>
          </a:bodyPr>
          <a:lstStyle/>
          <a:p>
            <a:pPr algn="ctr"/>
            <a:r>
              <a:rPr lang="en-US" sz="6100" dirty="0">
                <a:latin typeface="Calibri" panose="020F0502020204030204" pitchFamily="34" charset="0"/>
                <a:cs typeface="Calibri" panose="020F0502020204030204" pitchFamily="34" charset="0"/>
              </a:rPr>
              <a:t>Software Engineering</a:t>
            </a:r>
            <a:br>
              <a:rPr lang="en-US" sz="61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6100" dirty="0">
                <a:latin typeface="Calibri" panose="020F0502020204030204" pitchFamily="34" charset="0"/>
                <a:cs typeface="Calibri" panose="020F0502020204030204" pitchFamily="34" charset="0"/>
              </a:rPr>
              <a:t>CS-UH 2012, Spring 2025 </a:t>
            </a:r>
            <a:endParaRPr lang="en-US" sz="6100" dirty="0"/>
          </a:p>
        </p:txBody>
      </p:sp>
      <p:sp>
        <p:nvSpPr>
          <p:cNvPr id="5" name="Subtitle 4"/>
          <p:cNvSpPr>
            <a:spLocks noGrp="1"/>
          </p:cNvSpPr>
          <p:nvPr>
            <p:ph type="subTitle" sz="quarter" idx="1"/>
          </p:nvPr>
        </p:nvSpPr>
        <p:spPr>
          <a:xfrm>
            <a:off x="1954031" y="5407742"/>
            <a:ext cx="8283940" cy="86504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0000"/>
                </a:solidFill>
              </a:rPr>
              <a:t>Lecture 7: Design Principles I by </a:t>
            </a:r>
            <a:r>
              <a:rPr lang="en-US" dirty="0">
                <a:solidFill>
                  <a:srgbClr val="000000"/>
                </a:solidFill>
              </a:rPr>
              <a:t>Dr. Mohamad Kassab</a:t>
            </a:r>
          </a:p>
          <a:p>
            <a:pPr algn="ctr"/>
            <a:r>
              <a:rPr lang="en-US" dirty="0">
                <a:solidFill>
                  <a:srgbClr val="000000"/>
                </a:solidFill>
              </a:rPr>
              <a:t>Leonidas Kontothanassis   </a:t>
            </a:r>
            <a:r>
              <a:rPr lang="en-US" dirty="0" err="1">
                <a:solidFill>
                  <a:srgbClr val="000000"/>
                </a:solidFill>
              </a:rPr>
              <a:t>kthanasi@bu.edu</a:t>
            </a:r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7" name="Video 6" descr="A white gears in a circle&#10;&#10;Description automatically generated">
            <a:extLst>
              <a:ext uri="{FF2B5EF4-FFF2-40B4-BE49-F238E27FC236}">
                <a16:creationId xmlns:a16="http://schemas.microsoft.com/office/drawing/2014/main" id="{4694D9F2-7F32-C331-7163-755981700F5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7"/>
          <a:srcRect r="1" b="285"/>
          <a:stretch/>
        </p:blipFill>
        <p:spPr>
          <a:xfrm>
            <a:off x="3604426" y="643468"/>
            <a:ext cx="4983148" cy="279506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3A1EA5-3A5A-E904-971A-35508953B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AB73BC-B049-4115-A692-8D63A059BFB8}" type="slidenum">
              <a:rPr kumimoji="0" lang="en-US" sz="28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1954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85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009DD9B-5EE2-4C0D-8B2B-351C8C102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720DB99-7745-4E75-9D96-AAB6D55C5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4504" y="464119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68803C4-E159-4360-B7BB-74205C8F7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4504" y="601952"/>
            <a:ext cx="10222992" cy="1385874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4B0465-3B07-49BF-BEA7-D814762462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4504" y="2038655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9A3347-8576-FA16-4B27-35AF1FDC9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</p:spPr>
        <p:txBody>
          <a:bodyPr>
            <a:normAutofit/>
          </a:bodyPr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D7749-20C1-909A-BE69-465D4AE59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647" y="2291220"/>
            <a:ext cx="11202271" cy="4366469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 you to the </a:t>
            </a:r>
            <a:r>
              <a:rPr lang="en-US" sz="3400" b="1" u="sng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Operations Contract 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External Operations.</a:t>
            </a:r>
          </a:p>
          <a:p>
            <a:pPr marL="0" indent="0" algn="just">
              <a:buNone/>
            </a:pPr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/>
            <a:r>
              <a:rPr lang="en-US" altLang="en-US" sz="3600" dirty="0"/>
              <a:t>GRASP Patterns:</a:t>
            </a:r>
          </a:p>
          <a:p>
            <a:pPr marL="608012" lvl="1" indent="-342900"/>
            <a:r>
              <a:rPr lang="en-US" altLang="en-US" dirty="0"/>
              <a:t>Expert</a:t>
            </a:r>
          </a:p>
          <a:p>
            <a:pPr marL="608012" lvl="1" indent="-342900"/>
            <a:r>
              <a:rPr lang="en-US" altLang="en-US" dirty="0"/>
              <a:t>Creator</a:t>
            </a:r>
          </a:p>
          <a:p>
            <a:pPr marL="608012" lvl="1" indent="-342900"/>
            <a:r>
              <a:rPr lang="en-US" altLang="en-US" dirty="0"/>
              <a:t>Controller</a:t>
            </a:r>
          </a:p>
          <a:p>
            <a:pPr marL="608012" lvl="1" indent="-342900"/>
            <a:r>
              <a:rPr lang="en-US" altLang="en-US" dirty="0"/>
              <a:t>Low Coupling/High Cohesion</a:t>
            </a:r>
          </a:p>
          <a:p>
            <a:pPr marL="608012" lvl="1" indent="-342900"/>
            <a:r>
              <a:rPr lang="en-US" altLang="en-US" dirty="0"/>
              <a:t>Polymorphism</a:t>
            </a:r>
          </a:p>
          <a:p>
            <a:pPr marL="608012" lvl="1" indent="-342900"/>
            <a:r>
              <a:rPr lang="en-US" altLang="en-US" dirty="0"/>
              <a:t>Pure Fabrication</a:t>
            </a:r>
          </a:p>
          <a:p>
            <a:pPr marL="608012" lvl="1" indent="-342900"/>
            <a:r>
              <a:rPr lang="en-US" altLang="en-US" dirty="0"/>
              <a:t>Indirection</a:t>
            </a:r>
          </a:p>
          <a:p>
            <a:pPr marL="608012" lvl="1" indent="-342900"/>
            <a:r>
              <a:rPr lang="en-US" altLang="en-US" dirty="0"/>
              <a:t>Don’t Talk to Strangers (Law of Demeter)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B7FFA5-14CB-4A4F-9BCC-CA3AA5D9D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01725" y="6229681"/>
            <a:ext cx="457200" cy="457200"/>
          </a:xfrm>
          <a:prstGeom prst="ellipse">
            <a:avLst/>
          </a:prstGeom>
          <a:blipFill dpi="0" rotWithShape="1"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50800" ty="0" sx="85000" sy="85000" flip="none" algn="tl"/>
          </a:blipFill>
          <a:ln w="2540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ckwell Extra Bold" pitchFamily="18" charset="0"/>
              <a:ea typeface="+mn-ea"/>
              <a:cs typeface="+mn-cs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4E48745-7512-4EC2-9E20-9092D121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0918" y="6258874"/>
            <a:ext cx="398813" cy="398815"/>
          </a:xfrm>
          <a:prstGeom prst="ellipse">
            <a:avLst/>
          </a:prstGeom>
          <a:noFill/>
          <a:ln w="12700" cap="flat" cmpd="sng" algn="ctr">
            <a:solidFill>
              <a:srgbClr val="FFFFFF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70DE7D-4BAE-F41A-DF31-318F363A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1128" y="6272784"/>
            <a:ext cx="64008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4FAB73BC-B049-4115-A692-8D63A059BFB8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3E4F3252-7D2C-3003-86C3-E3ED47410D51}"/>
              </a:ext>
            </a:extLst>
          </p:cNvPr>
          <p:cNvSpPr/>
          <p:nvPr/>
        </p:nvSpPr>
        <p:spPr>
          <a:xfrm>
            <a:off x="3039761" y="3583459"/>
            <a:ext cx="177571" cy="64633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D350DB9-71AF-BE1B-D545-849303FE64B5}"/>
              </a:ext>
            </a:extLst>
          </p:cNvPr>
          <p:cNvCxnSpPr/>
          <p:nvPr/>
        </p:nvCxnSpPr>
        <p:spPr>
          <a:xfrm>
            <a:off x="3282779" y="3906624"/>
            <a:ext cx="267317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17E876-CBAE-BE0E-4D6D-EB2C1B5F0E89}"/>
              </a:ext>
            </a:extLst>
          </p:cNvPr>
          <p:cNvSpPr txBox="1"/>
          <p:nvPr/>
        </p:nvSpPr>
        <p:spPr>
          <a:xfrm>
            <a:off x="5955957" y="3481129"/>
            <a:ext cx="51305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We focus on these two in this lecture, </a:t>
            </a:r>
          </a:p>
          <a:p>
            <a:r>
              <a:rPr lang="en-US" b="1" dirty="0">
                <a:solidFill>
                  <a:srgbClr val="FFC000"/>
                </a:solidFill>
              </a:rPr>
              <a:t>and we will keep the remaining for the next lecture.</a:t>
            </a:r>
          </a:p>
        </p:txBody>
      </p:sp>
    </p:spTree>
    <p:extLst>
      <p:ext uri="{BB962C8B-B14F-4D97-AF65-F5344CB8AC3E}">
        <p14:creationId xmlns:p14="http://schemas.microsoft.com/office/powerpoint/2010/main" val="3328224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1ACA2EA0-FFD3-42EC-9406-B595015ED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5288BCE-665C-472A-8C43-664BCFA31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8762" y="1247775"/>
            <a:ext cx="9144000" cy="3007447"/>
          </a:xfrm>
          <a:prstGeom prst="rect">
            <a:avLst/>
          </a:prstGeom>
          <a:solidFill>
            <a:schemeClr val="bg1"/>
          </a:solidFill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1DC896-C33D-5842-0BEB-D285A7A72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4988" y="1442172"/>
            <a:ext cx="8582025" cy="217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Operation Contracts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C57131-53A7-4C1A-BEA8-25F06A06A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7872" y="3912322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4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15" name="Slide Background">
            <a:extLst>
              <a:ext uri="{FF2B5EF4-FFF2-40B4-BE49-F238E27FC236}">
                <a16:creationId xmlns:a16="http://schemas.microsoft.com/office/drawing/2014/main" id="{7DE220E6-BA55-4F04-B3C4-F4985F3E7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68017" name="tint">
            <a:extLst>
              <a:ext uri="{FF2B5EF4-FFF2-40B4-BE49-F238E27FC236}">
                <a16:creationId xmlns:a16="http://schemas.microsoft.com/office/drawing/2014/main" id="{5AE190BC-D2FD-433E-AB89-0DF68EFD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5644" y="0"/>
            <a:ext cx="1046356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 useBgFill="1">
        <p:nvSpPr>
          <p:cNvPr id="768019" name="Rectangle 768018">
            <a:extLst>
              <a:ext uri="{FF2B5EF4-FFF2-40B4-BE49-F238E27FC236}">
                <a16:creationId xmlns:a16="http://schemas.microsoft.com/office/drawing/2014/main" id="{43E8FEA2-54EE-4F84-B5DB-A055A7D80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6444" y="0"/>
            <a:ext cx="6075554" cy="6858000"/>
          </a:xfrm>
          <a:prstGeom prst="rect">
            <a:avLst/>
          </a:prstGeom>
          <a:ln>
            <a:noFill/>
          </a:ln>
          <a:effectLst>
            <a:outerShdw blurRad="508000" dist="190500" dir="5460000" sx="93000" sy="93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8002" name="Rectangle 2"/>
          <p:cNvSpPr>
            <a:spLocks noGrp="1" noChangeArrowheads="1"/>
          </p:cNvSpPr>
          <p:nvPr>
            <p:ph type="title"/>
          </p:nvPr>
        </p:nvSpPr>
        <p:spPr>
          <a:xfrm>
            <a:off x="6816432" y="762001"/>
            <a:ext cx="4554680" cy="1708243"/>
          </a:xfrm>
        </p:spPr>
        <p:txBody>
          <a:bodyPr anchor="ctr">
            <a:normAutofit/>
          </a:bodyPr>
          <a:lstStyle/>
          <a:p>
            <a:r>
              <a:rPr lang="en-US" altLang="en-US" sz="4000"/>
              <a:t>System Operation Contracts</a:t>
            </a:r>
          </a:p>
        </p:txBody>
      </p:sp>
      <p:pic>
        <p:nvPicPr>
          <p:cNvPr id="768007" name="Graphic 768006" descr="Document">
            <a:extLst>
              <a:ext uri="{FF2B5EF4-FFF2-40B4-BE49-F238E27FC236}">
                <a16:creationId xmlns:a16="http://schemas.microsoft.com/office/drawing/2014/main" id="{3AC793E7-E6AB-B749-BCE1-5BE9A7A75D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1367" y="1158500"/>
            <a:ext cx="4541003" cy="4541003"/>
          </a:xfrm>
          <a:prstGeom prst="rect">
            <a:avLst/>
          </a:prstGeom>
        </p:spPr>
      </p:pic>
      <p:sp>
        <p:nvSpPr>
          <p:cNvPr id="7680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240162" y="2470244"/>
            <a:ext cx="5830938" cy="3769835"/>
          </a:xfrm>
        </p:spPr>
        <p:txBody>
          <a:bodyPr anchor="ctr">
            <a:normAutofit/>
          </a:bodyPr>
          <a:lstStyle/>
          <a:p>
            <a:pPr marL="342900" indent="-342900"/>
            <a:r>
              <a:rPr lang="en-US" sz="2700" dirty="0"/>
              <a:t>Documents operations a system must perform.</a:t>
            </a:r>
          </a:p>
          <a:p>
            <a:pPr marL="342900" indent="-342900"/>
            <a:endParaRPr lang="en-US" sz="2700" dirty="0"/>
          </a:p>
          <a:p>
            <a:pPr marL="342900" indent="-342900"/>
            <a:r>
              <a:rPr lang="en-US" sz="2700" dirty="0"/>
              <a:t>For each operation, documents:</a:t>
            </a:r>
          </a:p>
          <a:p>
            <a:pPr marL="742950" lvl="1" indent="-285750"/>
            <a:r>
              <a:rPr lang="en-US" sz="2700" dirty="0"/>
              <a:t>What the operation commits to achieve</a:t>
            </a:r>
          </a:p>
          <a:p>
            <a:pPr marL="742950" lvl="1" indent="-285750"/>
            <a:r>
              <a:rPr lang="en-US" sz="2700" dirty="0"/>
              <a:t>An operation’s pre and post conditions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732520" y="6356350"/>
            <a:ext cx="319938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472FF2C2-FBA8-4298-A0A0-FDFEBB59E08A}" type="slidenum">
              <a:rPr lang="de-DE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4</a:t>
            </a:fld>
            <a:endParaRPr lang="de-DE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65960" name="Rectangle 76595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5962" name="Rectangle 76596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5964" name="Rectangle 76596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5966" name="Rectangle 76596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5954" name="Rectangle 2"/>
          <p:cNvSpPr>
            <a:spLocks noGrp="1" noChangeArrowheads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System Operation Contracts</a:t>
            </a:r>
          </a:p>
        </p:txBody>
      </p:sp>
      <p:pic>
        <p:nvPicPr>
          <p:cNvPr id="765955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57167" y="1966293"/>
            <a:ext cx="8677664" cy="4452160"/>
          </a:xfrm>
          <a:prstGeom prst="rect">
            <a:avLst/>
          </a:prstGeom>
          <a:noFill/>
        </p:spPr>
      </p:pic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fld id="{10C0E1BF-AC19-4E39-AD54-1E1A62203205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 algn="r">
                <a:spcAft>
                  <a:spcPts val="600"/>
                </a:spcAft>
              </a:pPr>
              <a:t>5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065" name="Rectangle 770064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0050" name="Rectangle 2"/>
          <p:cNvSpPr>
            <a:spLocks noGrp="1" noChangeArrowheads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altLang="en-US" sz="4000">
                <a:solidFill>
                  <a:schemeClr val="bg1"/>
                </a:solidFill>
              </a:rPr>
              <a:t>System Operation Contracts</a:t>
            </a:r>
          </a:p>
        </p:txBody>
      </p:sp>
      <p:sp>
        <p:nvSpPr>
          <p:cNvPr id="770067" name="Rectangle 770066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0069" name="Rectangle 770068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60867" y="3246439"/>
            <a:ext cx="672957" cy="343768"/>
          </a:xfrm>
        </p:spPr>
        <p:txBody>
          <a:bodyPr anchor="ctr">
            <a:normAutofit/>
          </a:bodyPr>
          <a:lstStyle/>
          <a:p>
            <a:pPr algn="ctr">
              <a:spcAft>
                <a:spcPts val="600"/>
              </a:spcAft>
            </a:pPr>
            <a:fld id="{E4612732-A0D0-478A-9235-6FF7B78A0585}" type="slidenum">
              <a:rPr lang="de-DE" sz="1400">
                <a:solidFill>
                  <a:schemeClr val="tx1"/>
                </a:solidFill>
              </a:rPr>
              <a:pPr algn="ctr">
                <a:spcAft>
                  <a:spcPts val="600"/>
                </a:spcAft>
              </a:pPr>
              <a:t>6</a:t>
            </a:fld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7700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55548" y="2217343"/>
            <a:ext cx="10653275" cy="3959619"/>
          </a:xfrm>
        </p:spPr>
        <p:txBody>
          <a:bodyPr>
            <a:normAutofit lnSpcReduction="10000"/>
          </a:bodyPr>
          <a:lstStyle/>
          <a:p>
            <a:pPr marL="342900" indent="-342900"/>
            <a:r>
              <a:rPr lang="en-US" sz="2400" dirty="0"/>
              <a:t>To create a contract</a:t>
            </a:r>
          </a:p>
          <a:p>
            <a:pPr marL="742950" lvl="1" indent="-285750"/>
            <a:r>
              <a:rPr lang="en-US" dirty="0"/>
              <a:t>Identify operations from System Sequence Diagrams (SSDs)</a:t>
            </a:r>
          </a:p>
          <a:p>
            <a:pPr marL="742950" lvl="1" indent="-285750"/>
            <a:endParaRPr lang="en-US" dirty="0"/>
          </a:p>
          <a:p>
            <a:pPr marL="742950" lvl="1" indent="-285750"/>
            <a:r>
              <a:rPr lang="en-US" dirty="0"/>
              <a:t>For each operation, write:</a:t>
            </a:r>
          </a:p>
          <a:p>
            <a:pPr lvl="2"/>
            <a:r>
              <a:rPr lang="en-US" sz="2400" dirty="0"/>
              <a:t>Responsibilities (purpose of operation)</a:t>
            </a:r>
          </a:p>
          <a:p>
            <a:pPr lvl="2"/>
            <a:endParaRPr lang="en-US" sz="2400" dirty="0"/>
          </a:p>
          <a:p>
            <a:pPr lvl="2"/>
            <a:r>
              <a:rPr lang="en-US" sz="2400" dirty="0"/>
              <a:t>Pre-Conditions (state of the system before execution of the operation)</a:t>
            </a:r>
          </a:p>
          <a:p>
            <a:pPr lvl="2"/>
            <a:endParaRPr lang="en-US" sz="2400" dirty="0"/>
          </a:p>
          <a:p>
            <a:pPr lvl="2"/>
            <a:r>
              <a:rPr lang="en-US" sz="2400" dirty="0"/>
              <a:t>Post-Conditions (state changes to objects in the conceptual model, e.g., instance creation/deletion; attribute modification, association creation/deletion)</a:t>
            </a:r>
          </a:p>
          <a:p>
            <a:pPr lvl="2"/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72104" name="Rectangle 77210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2106" name="Rectangle 77210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2108" name="Rectangle 77210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2110" name="Rectangle 77210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2112" name="Freeform: Shape 77211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2098" name="Rectangle 2"/>
          <p:cNvSpPr>
            <a:spLocks noGrp="1" noChangeArrowheads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Operation Contract Full Template</a:t>
            </a:r>
          </a:p>
        </p:txBody>
      </p:sp>
      <p:pic>
        <p:nvPicPr>
          <p:cNvPr id="772099" name="Picture 3" descr="contract2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038605" y="37211"/>
            <a:ext cx="8113770" cy="6875819"/>
          </a:xfrm>
          <a:prstGeom prst="rect">
            <a:avLst/>
          </a:prstGeom>
          <a:noFill/>
        </p:spPr>
      </p:pic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fld id="{250ADCC1-ADA1-436F-8E49-4B03770FD01B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 algn="r">
                <a:spcAft>
                  <a:spcPts val="600"/>
                </a:spcAft>
              </a:pPr>
              <a:t>7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F60C50-4779-B427-7CA0-C70C7036B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Operations Contract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1587CB-8994-9ACF-8210-19656A565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853928" cy="4251960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US" sz="3000" dirty="0"/>
              <a:t>When we assign the post conditions, we can be inspired by looking into the domain model that we already created, and ask our selves:</a:t>
            </a:r>
          </a:p>
          <a:p>
            <a:pPr algn="just"/>
            <a:endParaRPr lang="en-US" sz="3000" dirty="0"/>
          </a:p>
          <a:p>
            <a:pPr lvl="1" algn="just"/>
            <a:r>
              <a:rPr lang="en-US" sz="2600" dirty="0"/>
              <a:t>Which </a:t>
            </a:r>
            <a:r>
              <a:rPr lang="en-US" sz="2600" b="1" dirty="0">
                <a:solidFill>
                  <a:schemeClr val="accent1"/>
                </a:solidFill>
              </a:rPr>
              <a:t>instances (objects) will be created</a:t>
            </a:r>
            <a:r>
              <a:rPr lang="en-US" sz="2600" b="1" dirty="0"/>
              <a:t> </a:t>
            </a:r>
            <a:r>
              <a:rPr lang="en-US" sz="2600" dirty="0"/>
              <a:t>when the external operation enters the system?</a:t>
            </a:r>
          </a:p>
          <a:p>
            <a:pPr lvl="1" algn="just"/>
            <a:endParaRPr lang="en-US" sz="2600" dirty="0"/>
          </a:p>
          <a:p>
            <a:pPr lvl="1" algn="just"/>
            <a:r>
              <a:rPr lang="en-US" sz="2600" dirty="0"/>
              <a:t>Which </a:t>
            </a:r>
            <a:r>
              <a:rPr lang="en-US" sz="2600" b="1" dirty="0">
                <a:solidFill>
                  <a:schemeClr val="accent1"/>
                </a:solidFill>
              </a:rPr>
              <a:t>Associations will be formed </a:t>
            </a:r>
            <a:r>
              <a:rPr lang="en-US" sz="2600" dirty="0"/>
              <a:t>when the external operation enters the system?</a:t>
            </a:r>
          </a:p>
          <a:p>
            <a:pPr marL="457200" lvl="1" indent="0" algn="just">
              <a:buNone/>
            </a:pPr>
            <a:endParaRPr lang="en-US" sz="2600" dirty="0"/>
          </a:p>
          <a:p>
            <a:pPr lvl="1" algn="just"/>
            <a:r>
              <a:rPr lang="en-US" sz="2600" dirty="0"/>
              <a:t>Which </a:t>
            </a:r>
            <a:r>
              <a:rPr lang="en-US" sz="2600" b="1" dirty="0">
                <a:solidFill>
                  <a:schemeClr val="accent1"/>
                </a:solidFill>
              </a:rPr>
              <a:t>attributes will have their values modified </a:t>
            </a:r>
            <a:r>
              <a:rPr lang="en-US" sz="2600" dirty="0"/>
              <a:t>when the external operation enters the system?</a:t>
            </a:r>
          </a:p>
        </p:txBody>
      </p:sp>
    </p:spTree>
    <p:extLst>
      <p:ext uri="{BB962C8B-B14F-4D97-AF65-F5344CB8AC3E}">
        <p14:creationId xmlns:p14="http://schemas.microsoft.com/office/powerpoint/2010/main" val="3976229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650" name="Rectangle 2"/>
          <p:cNvSpPr>
            <a:spLocks noGrp="1" noChangeArrowheads="1"/>
          </p:cNvSpPr>
          <p:nvPr>
            <p:ph type="title"/>
          </p:nvPr>
        </p:nvSpPr>
        <p:spPr>
          <a:xfrm>
            <a:off x="334429" y="559837"/>
            <a:ext cx="4564659" cy="1642956"/>
          </a:xfrm>
        </p:spPr>
        <p:txBody>
          <a:bodyPr anchor="b">
            <a:normAutofit/>
          </a:bodyPr>
          <a:lstStyle/>
          <a:p>
            <a:r>
              <a:rPr lang="en-US" altLang="en-US" sz="3600" dirty="0">
                <a:solidFill>
                  <a:schemeClr val="tx2"/>
                </a:solidFill>
              </a:rPr>
              <a:t>Example: Class Diagram for Point of Sale (</a:t>
            </a:r>
            <a:r>
              <a:rPr lang="en-US" altLang="en-US" sz="3600" dirty="0" err="1">
                <a:solidFill>
                  <a:schemeClr val="tx2"/>
                </a:solidFill>
              </a:rPr>
              <a:t>PoS</a:t>
            </a:r>
            <a:r>
              <a:rPr lang="en-US" altLang="en-US" sz="3600" dirty="0">
                <a:solidFill>
                  <a:schemeClr val="tx2"/>
                </a:solidFill>
              </a:rPr>
              <a:t> System)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1445238" y="6356350"/>
            <a:ext cx="54864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ABEAC46-B3E9-42FD-B02C-5AE907EC9AF9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28" name="Group 4"/>
          <p:cNvGrpSpPr>
            <a:grpSpLocks noChangeAspect="1"/>
          </p:cNvGrpSpPr>
          <p:nvPr/>
        </p:nvGrpSpPr>
        <p:grpSpPr bwMode="auto">
          <a:xfrm>
            <a:off x="5139176" y="609600"/>
            <a:ext cx="6298079" cy="5638800"/>
            <a:chOff x="863" y="962"/>
            <a:chExt cx="3697" cy="3310"/>
          </a:xfrm>
        </p:grpSpPr>
        <p:sp>
          <p:nvSpPr>
            <p:cNvPr id="1027" name="AutoShape 3"/>
            <p:cNvSpPr>
              <a:spLocks noChangeAspect="1" noChangeArrowheads="1" noTextEdit="1"/>
            </p:cNvSpPr>
            <p:nvPr/>
          </p:nvSpPr>
          <p:spPr bwMode="auto">
            <a:xfrm>
              <a:off x="863" y="962"/>
              <a:ext cx="3697" cy="3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9" name="Rectangle 5"/>
            <p:cNvSpPr>
              <a:spLocks noChangeArrowheads="1"/>
            </p:cNvSpPr>
            <p:nvPr/>
          </p:nvSpPr>
          <p:spPr bwMode="auto">
            <a:xfrm>
              <a:off x="2553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0" name="Rectangle 6"/>
            <p:cNvSpPr>
              <a:spLocks noChangeArrowheads="1"/>
            </p:cNvSpPr>
            <p:nvPr/>
          </p:nvSpPr>
          <p:spPr bwMode="auto">
            <a:xfrm>
              <a:off x="2706" y="3055"/>
              <a:ext cx="26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register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1" name="Rectangle 7"/>
            <p:cNvSpPr>
              <a:spLocks noChangeArrowheads="1"/>
            </p:cNvSpPr>
            <p:nvPr/>
          </p:nvSpPr>
          <p:spPr bwMode="auto">
            <a:xfrm>
              <a:off x="2553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2" name="Rectangle 8"/>
            <p:cNvSpPr>
              <a:spLocks noChangeArrowheads="1"/>
            </p:cNvSpPr>
            <p:nvPr/>
          </p:nvSpPr>
          <p:spPr bwMode="auto">
            <a:xfrm>
              <a:off x="3703" y="2268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3" name="Rectangle 9"/>
            <p:cNvSpPr>
              <a:spLocks noChangeArrowheads="1"/>
            </p:cNvSpPr>
            <p:nvPr/>
          </p:nvSpPr>
          <p:spPr bwMode="auto">
            <a:xfrm>
              <a:off x="3930" y="2309"/>
              <a:ext cx="15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4" name="Rectangle 10"/>
            <p:cNvSpPr>
              <a:spLocks noChangeArrowheads="1"/>
            </p:cNvSpPr>
            <p:nvPr/>
          </p:nvSpPr>
          <p:spPr bwMode="auto">
            <a:xfrm>
              <a:off x="3703" y="2445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5" name="Rectangle 11"/>
            <p:cNvSpPr>
              <a:spLocks noChangeArrowheads="1"/>
            </p:cNvSpPr>
            <p:nvPr/>
          </p:nvSpPr>
          <p:spPr bwMode="auto">
            <a:xfrm>
              <a:off x="2553" y="2222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6" name="Rectangle 12"/>
            <p:cNvSpPr>
              <a:spLocks noChangeArrowheads="1"/>
            </p:cNvSpPr>
            <p:nvPr/>
          </p:nvSpPr>
          <p:spPr bwMode="auto">
            <a:xfrm>
              <a:off x="2720" y="2263"/>
              <a:ext cx="19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Store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7" name="Rectangle 13"/>
            <p:cNvSpPr>
              <a:spLocks noChangeArrowheads="1"/>
            </p:cNvSpPr>
            <p:nvPr/>
          </p:nvSpPr>
          <p:spPr bwMode="auto">
            <a:xfrm>
              <a:off x="2553" y="2399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8" name="Rectangle 14"/>
            <p:cNvSpPr>
              <a:spLocks noChangeArrowheads="1"/>
            </p:cNvSpPr>
            <p:nvPr/>
          </p:nvSpPr>
          <p:spPr bwMode="auto">
            <a:xfrm>
              <a:off x="2599" y="2439"/>
              <a:ext cx="28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address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9" name="Rectangle 15"/>
            <p:cNvSpPr>
              <a:spLocks noChangeArrowheads="1"/>
            </p:cNvSpPr>
            <p:nvPr/>
          </p:nvSpPr>
          <p:spPr bwMode="auto">
            <a:xfrm>
              <a:off x="2599" y="2534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name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0" name="Rectangle 16"/>
            <p:cNvSpPr>
              <a:spLocks noChangeArrowheads="1"/>
            </p:cNvSpPr>
            <p:nvPr/>
          </p:nvSpPr>
          <p:spPr bwMode="auto">
            <a:xfrm>
              <a:off x="1319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1" name="Rectangle 17"/>
            <p:cNvSpPr>
              <a:spLocks noChangeArrowheads="1"/>
            </p:cNvSpPr>
            <p:nvPr/>
          </p:nvSpPr>
          <p:spPr bwMode="auto">
            <a:xfrm>
              <a:off x="1500" y="3055"/>
              <a:ext cx="16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2" name="Rectangle 18"/>
            <p:cNvSpPr>
              <a:spLocks noChangeArrowheads="1"/>
            </p:cNvSpPr>
            <p:nvPr/>
          </p:nvSpPr>
          <p:spPr bwMode="auto">
            <a:xfrm>
              <a:off x="1319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3" name="Rectangle 19"/>
            <p:cNvSpPr>
              <a:spLocks noChangeArrowheads="1"/>
            </p:cNvSpPr>
            <p:nvPr/>
          </p:nvSpPr>
          <p:spPr bwMode="auto">
            <a:xfrm>
              <a:off x="1365" y="3231"/>
              <a:ext cx="15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date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4" name="Rectangle 20"/>
            <p:cNvSpPr>
              <a:spLocks noChangeArrowheads="1"/>
            </p:cNvSpPr>
            <p:nvPr/>
          </p:nvSpPr>
          <p:spPr bwMode="auto">
            <a:xfrm>
              <a:off x="1365" y="3420"/>
              <a:ext cx="15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time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5" name="Rectangle 21"/>
            <p:cNvSpPr>
              <a:spLocks noChangeArrowheads="1"/>
            </p:cNvSpPr>
            <p:nvPr/>
          </p:nvSpPr>
          <p:spPr bwMode="auto">
            <a:xfrm>
              <a:off x="876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6" name="Rectangle 22"/>
            <p:cNvSpPr>
              <a:spLocks noChangeArrowheads="1"/>
            </p:cNvSpPr>
            <p:nvPr/>
          </p:nvSpPr>
          <p:spPr bwMode="auto">
            <a:xfrm>
              <a:off x="980" y="3950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Payment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7" name="Rectangle 23"/>
            <p:cNvSpPr>
              <a:spLocks noChangeArrowheads="1"/>
            </p:cNvSpPr>
            <p:nvPr/>
          </p:nvSpPr>
          <p:spPr bwMode="auto">
            <a:xfrm>
              <a:off x="876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8" name="Rectangle 24"/>
            <p:cNvSpPr>
              <a:spLocks noChangeArrowheads="1"/>
            </p:cNvSpPr>
            <p:nvPr/>
          </p:nvSpPr>
          <p:spPr bwMode="auto">
            <a:xfrm>
              <a:off x="922" y="4127"/>
              <a:ext cx="2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amount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9" name="Rectangle 25"/>
            <p:cNvSpPr>
              <a:spLocks noChangeArrowheads="1"/>
            </p:cNvSpPr>
            <p:nvPr/>
          </p:nvSpPr>
          <p:spPr bwMode="auto">
            <a:xfrm>
              <a:off x="1319" y="2134"/>
              <a:ext cx="521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0" name="Rectangle 26"/>
            <p:cNvSpPr>
              <a:spLocks noChangeArrowheads="1"/>
            </p:cNvSpPr>
            <p:nvPr/>
          </p:nvSpPr>
          <p:spPr bwMode="auto">
            <a:xfrm>
              <a:off x="1480" y="2173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1" name="Rectangle 27"/>
            <p:cNvSpPr>
              <a:spLocks noChangeArrowheads="1"/>
            </p:cNvSpPr>
            <p:nvPr/>
          </p:nvSpPr>
          <p:spPr bwMode="auto">
            <a:xfrm>
              <a:off x="1426" y="2268"/>
              <a:ext cx="30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LineItem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2" name="Rectangle 28"/>
            <p:cNvSpPr>
              <a:spLocks noChangeArrowheads="1"/>
            </p:cNvSpPr>
            <p:nvPr/>
          </p:nvSpPr>
          <p:spPr bwMode="auto">
            <a:xfrm>
              <a:off x="1319" y="2401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3" name="Rectangle 29"/>
            <p:cNvSpPr>
              <a:spLocks noChangeArrowheads="1"/>
            </p:cNvSpPr>
            <p:nvPr/>
          </p:nvSpPr>
          <p:spPr bwMode="auto">
            <a:xfrm>
              <a:off x="1365" y="2443"/>
              <a:ext cx="28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quantity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4" name="Rectangle 30"/>
            <p:cNvSpPr>
              <a:spLocks noChangeArrowheads="1"/>
            </p:cNvSpPr>
            <p:nvPr/>
          </p:nvSpPr>
          <p:spPr bwMode="auto">
            <a:xfrm>
              <a:off x="3363" y="3908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5" name="Rectangle 31"/>
            <p:cNvSpPr>
              <a:spLocks noChangeArrowheads="1"/>
            </p:cNvSpPr>
            <p:nvPr/>
          </p:nvSpPr>
          <p:spPr bwMode="auto">
            <a:xfrm>
              <a:off x="3487" y="3950"/>
              <a:ext cx="27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Cashier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6" name="Rectangle 32"/>
            <p:cNvSpPr>
              <a:spLocks noChangeArrowheads="1"/>
            </p:cNvSpPr>
            <p:nvPr/>
          </p:nvSpPr>
          <p:spPr bwMode="auto">
            <a:xfrm>
              <a:off x="3363" y="4086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7" name="Rectangle 33"/>
            <p:cNvSpPr>
              <a:spLocks noChangeArrowheads="1"/>
            </p:cNvSpPr>
            <p:nvPr/>
          </p:nvSpPr>
          <p:spPr bwMode="auto">
            <a:xfrm>
              <a:off x="1774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8" name="Rectangle 34"/>
            <p:cNvSpPr>
              <a:spLocks noChangeArrowheads="1"/>
            </p:cNvSpPr>
            <p:nvPr/>
          </p:nvSpPr>
          <p:spPr bwMode="auto">
            <a:xfrm>
              <a:off x="1862" y="3950"/>
              <a:ext cx="34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Customer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9" name="Rectangle 35"/>
            <p:cNvSpPr>
              <a:spLocks noChangeArrowheads="1"/>
            </p:cNvSpPr>
            <p:nvPr/>
          </p:nvSpPr>
          <p:spPr bwMode="auto">
            <a:xfrm>
              <a:off x="1774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0" name="Rectangle 36"/>
            <p:cNvSpPr>
              <a:spLocks noChangeArrowheads="1"/>
            </p:cNvSpPr>
            <p:nvPr/>
          </p:nvSpPr>
          <p:spPr bwMode="auto">
            <a:xfrm>
              <a:off x="3706" y="3107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1" name="Rectangle 37"/>
            <p:cNvSpPr>
              <a:spLocks noChangeArrowheads="1"/>
            </p:cNvSpPr>
            <p:nvPr/>
          </p:nvSpPr>
          <p:spPr bwMode="auto">
            <a:xfrm>
              <a:off x="3811" y="3148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Manager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2" name="Rectangle 38"/>
            <p:cNvSpPr>
              <a:spLocks noChangeArrowheads="1"/>
            </p:cNvSpPr>
            <p:nvPr/>
          </p:nvSpPr>
          <p:spPr bwMode="auto">
            <a:xfrm>
              <a:off x="3706" y="3284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3" name="Rectangle 39"/>
            <p:cNvSpPr>
              <a:spLocks noChangeArrowheads="1"/>
            </p:cNvSpPr>
            <p:nvPr/>
          </p:nvSpPr>
          <p:spPr bwMode="auto">
            <a:xfrm>
              <a:off x="2553" y="1468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4" name="Rectangle 40"/>
            <p:cNvSpPr>
              <a:spLocks noChangeArrowheads="1"/>
            </p:cNvSpPr>
            <p:nvPr/>
          </p:nvSpPr>
          <p:spPr bwMode="auto">
            <a:xfrm>
              <a:off x="2677" y="1507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5" name="Rectangle 41"/>
            <p:cNvSpPr>
              <a:spLocks noChangeArrowheads="1"/>
            </p:cNvSpPr>
            <p:nvPr/>
          </p:nvSpPr>
          <p:spPr bwMode="auto">
            <a:xfrm>
              <a:off x="2679" y="1601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Catalog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6" name="Rectangle 42"/>
            <p:cNvSpPr>
              <a:spLocks noChangeArrowheads="1"/>
            </p:cNvSpPr>
            <p:nvPr/>
          </p:nvSpPr>
          <p:spPr bwMode="auto">
            <a:xfrm>
              <a:off x="2553" y="173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7" name="Rectangle 43"/>
            <p:cNvSpPr>
              <a:spLocks noChangeArrowheads="1"/>
            </p:cNvSpPr>
            <p:nvPr/>
          </p:nvSpPr>
          <p:spPr bwMode="auto">
            <a:xfrm>
              <a:off x="3700" y="1376"/>
              <a:ext cx="615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8" name="Rectangle 44"/>
            <p:cNvSpPr>
              <a:spLocks noChangeArrowheads="1"/>
            </p:cNvSpPr>
            <p:nvPr/>
          </p:nvSpPr>
          <p:spPr bwMode="auto">
            <a:xfrm>
              <a:off x="3870" y="1415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9" name="Rectangle 45"/>
            <p:cNvSpPr>
              <a:spLocks noChangeArrowheads="1"/>
            </p:cNvSpPr>
            <p:nvPr/>
          </p:nvSpPr>
          <p:spPr bwMode="auto">
            <a:xfrm>
              <a:off x="3782" y="1509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Specification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0" name="Rectangle 46"/>
            <p:cNvSpPr>
              <a:spLocks noChangeArrowheads="1"/>
            </p:cNvSpPr>
            <p:nvPr/>
          </p:nvSpPr>
          <p:spPr bwMode="auto">
            <a:xfrm>
              <a:off x="3700" y="1643"/>
              <a:ext cx="615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1" name="Rectangle 47"/>
            <p:cNvSpPr>
              <a:spLocks noChangeArrowheads="1"/>
            </p:cNvSpPr>
            <p:nvPr/>
          </p:nvSpPr>
          <p:spPr bwMode="auto">
            <a:xfrm>
              <a:off x="3746" y="1683"/>
              <a:ext cx="3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description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2" name="Rectangle 48"/>
            <p:cNvSpPr>
              <a:spLocks noChangeArrowheads="1"/>
            </p:cNvSpPr>
            <p:nvPr/>
          </p:nvSpPr>
          <p:spPr bwMode="auto">
            <a:xfrm>
              <a:off x="3746" y="1777"/>
              <a:ext cx="1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price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3" name="Rectangle 49"/>
            <p:cNvSpPr>
              <a:spLocks noChangeArrowheads="1"/>
            </p:cNvSpPr>
            <p:nvPr/>
          </p:nvSpPr>
          <p:spPr bwMode="auto">
            <a:xfrm>
              <a:off x="3746" y="1872"/>
              <a:ext cx="1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UPC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4" name="Line 50"/>
            <p:cNvSpPr>
              <a:spLocks noChangeShapeType="1"/>
            </p:cNvSpPr>
            <p:nvPr/>
          </p:nvSpPr>
          <p:spPr bwMode="auto">
            <a:xfrm flipH="1">
              <a:off x="3074" y="2445"/>
              <a:ext cx="629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5" name="Rectangle 51"/>
            <p:cNvSpPr>
              <a:spLocks noChangeArrowheads="1"/>
            </p:cNvSpPr>
            <p:nvPr/>
          </p:nvSpPr>
          <p:spPr bwMode="auto">
            <a:xfrm>
              <a:off x="3268" y="2358"/>
              <a:ext cx="24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Stocks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6" name="Rectangle 52"/>
            <p:cNvSpPr>
              <a:spLocks noChangeArrowheads="1"/>
            </p:cNvSpPr>
            <p:nvPr/>
          </p:nvSpPr>
          <p:spPr bwMode="auto">
            <a:xfrm>
              <a:off x="3576" y="2451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7" name="Line 53"/>
            <p:cNvSpPr>
              <a:spLocks noChangeShapeType="1"/>
            </p:cNvSpPr>
            <p:nvPr/>
          </p:nvSpPr>
          <p:spPr bwMode="auto">
            <a:xfrm flipV="1">
              <a:off x="2814" y="2667"/>
              <a:ext cx="1" cy="347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8" name="Rectangle 54"/>
            <p:cNvSpPr>
              <a:spLocks noChangeArrowheads="1"/>
            </p:cNvSpPr>
            <p:nvPr/>
          </p:nvSpPr>
          <p:spPr bwMode="auto">
            <a:xfrm>
              <a:off x="2925" y="2752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Houses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9" name="Rectangle 55"/>
            <p:cNvSpPr>
              <a:spLocks noChangeArrowheads="1"/>
            </p:cNvSpPr>
            <p:nvPr/>
          </p:nvSpPr>
          <p:spPr bwMode="auto">
            <a:xfrm>
              <a:off x="2881" y="2884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0" name="Rectangle 56"/>
            <p:cNvSpPr>
              <a:spLocks noChangeArrowheads="1"/>
            </p:cNvSpPr>
            <p:nvPr/>
          </p:nvSpPr>
          <p:spPr bwMode="auto">
            <a:xfrm>
              <a:off x="2969" y="2868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1" name="Line 57"/>
            <p:cNvSpPr>
              <a:spLocks noChangeShapeType="1"/>
            </p:cNvSpPr>
            <p:nvPr/>
          </p:nvSpPr>
          <p:spPr bwMode="auto">
            <a:xfrm>
              <a:off x="2814" y="1913"/>
              <a:ext cx="1" cy="309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2" name="Rectangle 58"/>
            <p:cNvSpPr>
              <a:spLocks noChangeArrowheads="1"/>
            </p:cNvSpPr>
            <p:nvPr/>
          </p:nvSpPr>
          <p:spPr bwMode="auto">
            <a:xfrm>
              <a:off x="2914" y="2010"/>
              <a:ext cx="300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Used-by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3" name="Rectangle 59"/>
            <p:cNvSpPr>
              <a:spLocks noChangeArrowheads="1"/>
            </p:cNvSpPr>
            <p:nvPr/>
          </p:nvSpPr>
          <p:spPr bwMode="auto">
            <a:xfrm>
              <a:off x="2916" y="2095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4" name="Line 60"/>
            <p:cNvSpPr>
              <a:spLocks noChangeShapeType="1"/>
            </p:cNvSpPr>
            <p:nvPr/>
          </p:nvSpPr>
          <p:spPr bwMode="auto">
            <a:xfrm flipH="1">
              <a:off x="3074" y="1690"/>
              <a:ext cx="626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5" name="Rectangle 61"/>
            <p:cNvSpPr>
              <a:spLocks noChangeArrowheads="1"/>
            </p:cNvSpPr>
            <p:nvPr/>
          </p:nvSpPr>
          <p:spPr bwMode="auto">
            <a:xfrm>
              <a:off x="3231" y="1604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6" name="Rectangle 62"/>
            <p:cNvSpPr>
              <a:spLocks noChangeArrowheads="1"/>
            </p:cNvSpPr>
            <p:nvPr/>
          </p:nvSpPr>
          <p:spPr bwMode="auto">
            <a:xfrm>
              <a:off x="3548" y="1728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7" name="Rectangle 63"/>
            <p:cNvSpPr>
              <a:spLocks noChangeArrowheads="1"/>
            </p:cNvSpPr>
            <p:nvPr/>
          </p:nvSpPr>
          <p:spPr bwMode="auto">
            <a:xfrm>
              <a:off x="3637" y="1712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8" name="Line 64"/>
            <p:cNvSpPr>
              <a:spLocks noChangeShapeType="1"/>
            </p:cNvSpPr>
            <p:nvPr/>
          </p:nvSpPr>
          <p:spPr bwMode="auto">
            <a:xfrm flipV="1">
              <a:off x="4007" y="2006"/>
              <a:ext cx="1" cy="262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9" name="Rectangle 65"/>
            <p:cNvSpPr>
              <a:spLocks noChangeArrowheads="1"/>
            </p:cNvSpPr>
            <p:nvPr/>
          </p:nvSpPr>
          <p:spPr bwMode="auto">
            <a:xfrm>
              <a:off x="4094" y="2050"/>
              <a:ext cx="35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0" name="Rectangle 66"/>
            <p:cNvSpPr>
              <a:spLocks noChangeArrowheads="1"/>
            </p:cNvSpPr>
            <p:nvPr/>
          </p:nvSpPr>
          <p:spPr bwMode="auto">
            <a:xfrm>
              <a:off x="4043" y="214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1" name="Line 67"/>
            <p:cNvSpPr>
              <a:spLocks noChangeShapeType="1"/>
            </p:cNvSpPr>
            <p:nvPr/>
          </p:nvSpPr>
          <p:spPr bwMode="auto">
            <a:xfrm flipH="1">
              <a:off x="1840" y="3419"/>
              <a:ext cx="713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2" name="Rectangle 68"/>
            <p:cNvSpPr>
              <a:spLocks noChangeArrowheads="1"/>
            </p:cNvSpPr>
            <p:nvPr/>
          </p:nvSpPr>
          <p:spPr bwMode="auto">
            <a:xfrm>
              <a:off x="1978" y="3333"/>
              <a:ext cx="44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Captured-on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3" name="Line 69"/>
            <p:cNvSpPr>
              <a:spLocks noChangeShapeType="1"/>
            </p:cNvSpPr>
            <p:nvPr/>
          </p:nvSpPr>
          <p:spPr bwMode="auto">
            <a:xfrm flipV="1">
              <a:off x="1579" y="2579"/>
              <a:ext cx="1" cy="435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4" name="Rectangle 70"/>
            <p:cNvSpPr>
              <a:spLocks noChangeArrowheads="1"/>
            </p:cNvSpPr>
            <p:nvPr/>
          </p:nvSpPr>
          <p:spPr bwMode="auto">
            <a:xfrm>
              <a:off x="1099" y="2756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Contained-in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5" name="Rectangle 71"/>
            <p:cNvSpPr>
              <a:spLocks noChangeArrowheads="1"/>
            </p:cNvSpPr>
            <p:nvPr/>
          </p:nvSpPr>
          <p:spPr bwMode="auto">
            <a:xfrm>
              <a:off x="1646" y="2620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6" name="Rectangle 72"/>
            <p:cNvSpPr>
              <a:spLocks noChangeArrowheads="1"/>
            </p:cNvSpPr>
            <p:nvPr/>
          </p:nvSpPr>
          <p:spPr bwMode="auto">
            <a:xfrm>
              <a:off x="1735" y="2604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7" name="Freeform 73"/>
            <p:cNvSpPr>
              <a:spLocks/>
            </p:cNvSpPr>
            <p:nvPr/>
          </p:nvSpPr>
          <p:spPr bwMode="auto">
            <a:xfrm>
              <a:off x="1686" y="1293"/>
              <a:ext cx="2321" cy="841"/>
            </a:xfrm>
            <a:custGeom>
              <a:avLst/>
              <a:gdLst/>
              <a:ahLst/>
              <a:cxnLst>
                <a:cxn ang="0">
                  <a:pos x="2321" y="83"/>
                </a:cxn>
                <a:cxn ang="0">
                  <a:pos x="2321" y="0"/>
                </a:cxn>
                <a:cxn ang="0">
                  <a:pos x="0" y="0"/>
                </a:cxn>
                <a:cxn ang="0">
                  <a:pos x="0" y="841"/>
                </a:cxn>
              </a:cxnLst>
              <a:rect l="0" t="0" r="r" b="b"/>
              <a:pathLst>
                <a:path w="2321" h="841">
                  <a:moveTo>
                    <a:pt x="2321" y="83"/>
                  </a:moveTo>
                  <a:lnTo>
                    <a:pt x="2321" y="0"/>
                  </a:lnTo>
                  <a:lnTo>
                    <a:pt x="0" y="0"/>
                  </a:lnTo>
                  <a:lnTo>
                    <a:pt x="0" y="841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8" name="Rectangle 74"/>
            <p:cNvSpPr>
              <a:spLocks noChangeArrowheads="1"/>
            </p:cNvSpPr>
            <p:nvPr/>
          </p:nvSpPr>
          <p:spPr bwMode="auto">
            <a:xfrm>
              <a:off x="2615" y="1205"/>
              <a:ext cx="4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9" name="Rectangle 75"/>
            <p:cNvSpPr>
              <a:spLocks noChangeArrowheads="1"/>
            </p:cNvSpPr>
            <p:nvPr/>
          </p:nvSpPr>
          <p:spPr bwMode="auto">
            <a:xfrm>
              <a:off x="1735" y="2008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0" name="Freeform 76"/>
            <p:cNvSpPr>
              <a:spLocks/>
            </p:cNvSpPr>
            <p:nvPr/>
          </p:nvSpPr>
          <p:spPr bwMode="auto">
            <a:xfrm>
              <a:off x="1473" y="1071"/>
              <a:ext cx="3016" cy="1374"/>
            </a:xfrm>
            <a:custGeom>
              <a:avLst/>
              <a:gdLst/>
              <a:ahLst/>
              <a:cxnLst>
                <a:cxn ang="0">
                  <a:pos x="0" y="1063"/>
                </a:cxn>
                <a:cxn ang="0">
                  <a:pos x="0" y="0"/>
                </a:cxn>
                <a:cxn ang="0">
                  <a:pos x="3016" y="0"/>
                </a:cxn>
                <a:cxn ang="0">
                  <a:pos x="3016" y="1374"/>
                </a:cxn>
                <a:cxn ang="0">
                  <a:pos x="2839" y="1374"/>
                </a:cxn>
              </a:cxnLst>
              <a:rect l="0" t="0" r="r" b="b"/>
              <a:pathLst>
                <a:path w="3016" h="1374">
                  <a:moveTo>
                    <a:pt x="0" y="1063"/>
                  </a:moveTo>
                  <a:lnTo>
                    <a:pt x="0" y="0"/>
                  </a:lnTo>
                  <a:lnTo>
                    <a:pt x="3016" y="0"/>
                  </a:lnTo>
                  <a:lnTo>
                    <a:pt x="3016" y="1374"/>
                  </a:lnTo>
                  <a:lnTo>
                    <a:pt x="2839" y="137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1" name="Rectangle 77"/>
            <p:cNvSpPr>
              <a:spLocks noChangeArrowheads="1"/>
            </p:cNvSpPr>
            <p:nvPr/>
          </p:nvSpPr>
          <p:spPr bwMode="auto">
            <a:xfrm>
              <a:off x="2702" y="984"/>
              <a:ext cx="5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Records-sale-of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2" name="Rectangle 78"/>
            <p:cNvSpPr>
              <a:spLocks noChangeArrowheads="1"/>
            </p:cNvSpPr>
            <p:nvPr/>
          </p:nvSpPr>
          <p:spPr bwMode="auto">
            <a:xfrm>
              <a:off x="1330" y="1998"/>
              <a:ext cx="13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0..1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3" name="Line 79"/>
            <p:cNvSpPr>
              <a:spLocks noChangeShapeType="1"/>
            </p:cNvSpPr>
            <p:nvPr/>
          </p:nvSpPr>
          <p:spPr bwMode="auto">
            <a:xfrm flipH="1">
              <a:off x="3074" y="3284"/>
              <a:ext cx="632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4" name="Rectangle 80"/>
            <p:cNvSpPr>
              <a:spLocks noChangeArrowheads="1"/>
            </p:cNvSpPr>
            <p:nvPr/>
          </p:nvSpPr>
          <p:spPr bwMode="auto">
            <a:xfrm>
              <a:off x="3208" y="3197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Started-by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5" name="Freeform 81"/>
            <p:cNvSpPr>
              <a:spLocks/>
            </p:cNvSpPr>
            <p:nvPr/>
          </p:nvSpPr>
          <p:spPr bwMode="auto">
            <a:xfrm>
              <a:off x="1137" y="3554"/>
              <a:ext cx="336" cy="354"/>
            </a:xfrm>
            <a:custGeom>
              <a:avLst/>
              <a:gdLst/>
              <a:ahLst/>
              <a:cxnLst>
                <a:cxn ang="0">
                  <a:pos x="0" y="354"/>
                </a:cxn>
                <a:cxn ang="0">
                  <a:pos x="0" y="177"/>
                </a:cxn>
                <a:cxn ang="0">
                  <a:pos x="336" y="177"/>
                </a:cxn>
                <a:cxn ang="0">
                  <a:pos x="336" y="0"/>
                </a:cxn>
              </a:cxnLst>
              <a:rect l="0" t="0" r="r" b="b"/>
              <a:pathLst>
                <a:path w="336" h="354">
                  <a:moveTo>
                    <a:pt x="0" y="354"/>
                  </a:moveTo>
                  <a:lnTo>
                    <a:pt x="0" y="177"/>
                  </a:lnTo>
                  <a:lnTo>
                    <a:pt x="336" y="177"/>
                  </a:lnTo>
                  <a:lnTo>
                    <a:pt x="336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6" name="Rectangle 82"/>
            <p:cNvSpPr>
              <a:spLocks noChangeArrowheads="1"/>
            </p:cNvSpPr>
            <p:nvPr/>
          </p:nvSpPr>
          <p:spPr bwMode="auto">
            <a:xfrm>
              <a:off x="1106" y="3646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Paid-by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7" name="Freeform 83"/>
            <p:cNvSpPr>
              <a:spLocks/>
            </p:cNvSpPr>
            <p:nvPr/>
          </p:nvSpPr>
          <p:spPr bwMode="auto">
            <a:xfrm>
              <a:off x="1686" y="3554"/>
              <a:ext cx="348" cy="354"/>
            </a:xfrm>
            <a:custGeom>
              <a:avLst/>
              <a:gdLst/>
              <a:ahLst/>
              <a:cxnLst>
                <a:cxn ang="0">
                  <a:pos x="348" y="354"/>
                </a:cxn>
                <a:cxn ang="0">
                  <a:pos x="348" y="177"/>
                </a:cxn>
                <a:cxn ang="0">
                  <a:pos x="0" y="177"/>
                </a:cxn>
                <a:cxn ang="0">
                  <a:pos x="0" y="0"/>
                </a:cxn>
              </a:cxnLst>
              <a:rect l="0" t="0" r="r" b="b"/>
              <a:pathLst>
                <a:path w="348" h="354">
                  <a:moveTo>
                    <a:pt x="348" y="354"/>
                  </a:moveTo>
                  <a:lnTo>
                    <a:pt x="348" y="177"/>
                  </a:lnTo>
                  <a:lnTo>
                    <a:pt x="0" y="177"/>
                  </a:lnTo>
                  <a:lnTo>
                    <a:pt x="0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8" name="Rectangle 84"/>
            <p:cNvSpPr>
              <a:spLocks noChangeArrowheads="1"/>
            </p:cNvSpPr>
            <p:nvPr/>
          </p:nvSpPr>
          <p:spPr bwMode="auto">
            <a:xfrm>
              <a:off x="1794" y="3629"/>
              <a:ext cx="39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Initiated-by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9" name="Freeform 85"/>
            <p:cNvSpPr>
              <a:spLocks/>
            </p:cNvSpPr>
            <p:nvPr/>
          </p:nvSpPr>
          <p:spPr bwMode="auto">
            <a:xfrm>
              <a:off x="1840" y="2556"/>
              <a:ext cx="713" cy="594"/>
            </a:xfrm>
            <a:custGeom>
              <a:avLst/>
              <a:gdLst/>
              <a:ahLst/>
              <a:cxnLst>
                <a:cxn ang="0">
                  <a:pos x="0" y="594"/>
                </a:cxn>
                <a:cxn ang="0">
                  <a:pos x="357" y="594"/>
                </a:cxn>
                <a:cxn ang="0">
                  <a:pos x="357" y="0"/>
                </a:cxn>
                <a:cxn ang="0">
                  <a:pos x="713" y="0"/>
                </a:cxn>
              </a:cxnLst>
              <a:rect l="0" t="0" r="r" b="b"/>
              <a:pathLst>
                <a:path w="713" h="594">
                  <a:moveTo>
                    <a:pt x="0" y="594"/>
                  </a:moveTo>
                  <a:lnTo>
                    <a:pt x="357" y="594"/>
                  </a:lnTo>
                  <a:lnTo>
                    <a:pt x="357" y="0"/>
                  </a:lnTo>
                  <a:lnTo>
                    <a:pt x="713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0" name="Rectangle 86"/>
            <p:cNvSpPr>
              <a:spLocks noChangeArrowheads="1"/>
            </p:cNvSpPr>
            <p:nvPr/>
          </p:nvSpPr>
          <p:spPr bwMode="auto">
            <a:xfrm>
              <a:off x="2328" y="2706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Logs-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1" name="Rectangle 87"/>
            <p:cNvSpPr>
              <a:spLocks noChangeArrowheads="1"/>
            </p:cNvSpPr>
            <p:nvPr/>
          </p:nvSpPr>
          <p:spPr bwMode="auto">
            <a:xfrm>
              <a:off x="2244" y="2801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completed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2" name="Rectangle 88"/>
            <p:cNvSpPr>
              <a:spLocks noChangeArrowheads="1"/>
            </p:cNvSpPr>
            <p:nvPr/>
          </p:nvSpPr>
          <p:spPr bwMode="auto">
            <a:xfrm>
              <a:off x="2405" y="28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6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3" name="Rectangle 89"/>
            <p:cNvSpPr>
              <a:spLocks noChangeArrowheads="1"/>
            </p:cNvSpPr>
            <p:nvPr/>
          </p:nvSpPr>
          <p:spPr bwMode="auto">
            <a:xfrm>
              <a:off x="1868" y="300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4" name="Freeform 90"/>
            <p:cNvSpPr>
              <a:spLocks/>
            </p:cNvSpPr>
            <p:nvPr/>
          </p:nvSpPr>
          <p:spPr bwMode="auto">
            <a:xfrm>
              <a:off x="2814" y="3554"/>
              <a:ext cx="808" cy="35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77"/>
                </a:cxn>
                <a:cxn ang="0">
                  <a:pos x="808" y="177"/>
                </a:cxn>
                <a:cxn ang="0">
                  <a:pos x="808" y="354"/>
                </a:cxn>
              </a:cxnLst>
              <a:rect l="0" t="0" r="r" b="b"/>
              <a:pathLst>
                <a:path w="808" h="354">
                  <a:moveTo>
                    <a:pt x="0" y="0"/>
                  </a:moveTo>
                  <a:lnTo>
                    <a:pt x="0" y="177"/>
                  </a:lnTo>
                  <a:lnTo>
                    <a:pt x="808" y="177"/>
                  </a:lnTo>
                  <a:lnTo>
                    <a:pt x="808" y="35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5" name="Rectangle 91"/>
            <p:cNvSpPr>
              <a:spLocks noChangeArrowheads="1"/>
            </p:cNvSpPr>
            <p:nvPr/>
          </p:nvSpPr>
          <p:spPr bwMode="auto">
            <a:xfrm>
              <a:off x="2876" y="364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3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6" name="Rectangle 92"/>
            <p:cNvSpPr>
              <a:spLocks noChangeArrowheads="1"/>
            </p:cNvSpPr>
            <p:nvPr/>
          </p:nvSpPr>
          <p:spPr bwMode="auto">
            <a:xfrm>
              <a:off x="2920" y="3645"/>
              <a:ext cx="65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 Records-sales-on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7" name="Rectangle 93"/>
            <p:cNvSpPr>
              <a:spLocks noChangeArrowheads="1"/>
            </p:cNvSpPr>
            <p:nvPr/>
          </p:nvSpPr>
          <p:spPr bwMode="auto">
            <a:xfrm>
              <a:off x="3114" y="169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8" name="Rectangle 94"/>
            <p:cNvSpPr>
              <a:spLocks noChangeArrowheads="1"/>
            </p:cNvSpPr>
            <p:nvPr/>
          </p:nvSpPr>
          <p:spPr bwMode="auto">
            <a:xfrm>
              <a:off x="2449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9" name="Rectangle 95"/>
            <p:cNvSpPr>
              <a:spLocks noChangeArrowheads="1"/>
            </p:cNvSpPr>
            <p:nvPr/>
          </p:nvSpPr>
          <p:spPr bwMode="auto">
            <a:xfrm>
              <a:off x="2845" y="270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0" name="Rectangle 96"/>
            <p:cNvSpPr>
              <a:spLocks noChangeArrowheads="1"/>
            </p:cNvSpPr>
            <p:nvPr/>
          </p:nvSpPr>
          <p:spPr bwMode="auto">
            <a:xfrm>
              <a:off x="3114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1" name="Rectangle 97"/>
            <p:cNvSpPr>
              <a:spLocks noChangeArrowheads="1"/>
            </p:cNvSpPr>
            <p:nvPr/>
          </p:nvSpPr>
          <p:spPr bwMode="auto">
            <a:xfrm>
              <a:off x="4049" y="124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2" name="Rectangle 98"/>
            <p:cNvSpPr>
              <a:spLocks noChangeArrowheads="1"/>
            </p:cNvSpPr>
            <p:nvPr/>
          </p:nvSpPr>
          <p:spPr bwMode="auto">
            <a:xfrm>
              <a:off x="4355" y="244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3" name="Rectangle 99"/>
            <p:cNvSpPr>
              <a:spLocks noChangeArrowheads="1"/>
            </p:cNvSpPr>
            <p:nvPr/>
          </p:nvSpPr>
          <p:spPr bwMode="auto">
            <a:xfrm>
              <a:off x="3601" y="328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4" name="Rectangle 100"/>
            <p:cNvSpPr>
              <a:spLocks noChangeArrowheads="1"/>
            </p:cNvSpPr>
            <p:nvPr/>
          </p:nvSpPr>
          <p:spPr bwMode="auto">
            <a:xfrm>
              <a:off x="3114" y="3304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5" name="Rectangle 101"/>
            <p:cNvSpPr>
              <a:spLocks noChangeArrowheads="1"/>
            </p:cNvSpPr>
            <p:nvPr/>
          </p:nvSpPr>
          <p:spPr bwMode="auto">
            <a:xfrm>
              <a:off x="3654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6" name="Rectangle 102"/>
            <p:cNvSpPr>
              <a:spLocks noChangeArrowheads="1"/>
            </p:cNvSpPr>
            <p:nvPr/>
          </p:nvSpPr>
          <p:spPr bwMode="auto">
            <a:xfrm>
              <a:off x="2739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7" name="Rectangle 103"/>
            <p:cNvSpPr>
              <a:spLocks noChangeArrowheads="1"/>
            </p:cNvSpPr>
            <p:nvPr/>
          </p:nvSpPr>
          <p:spPr bwMode="auto">
            <a:xfrm>
              <a:off x="2066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8" name="Rectangle 104"/>
            <p:cNvSpPr>
              <a:spLocks noChangeArrowheads="1"/>
            </p:cNvSpPr>
            <p:nvPr/>
          </p:nvSpPr>
          <p:spPr bwMode="auto">
            <a:xfrm>
              <a:off x="1741" y="355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9" name="Rectangle 105"/>
            <p:cNvSpPr>
              <a:spLocks noChangeArrowheads="1"/>
            </p:cNvSpPr>
            <p:nvPr/>
          </p:nvSpPr>
          <p:spPr bwMode="auto">
            <a:xfrm>
              <a:off x="1061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0" name="Rectangle 106"/>
            <p:cNvSpPr>
              <a:spLocks noChangeArrowheads="1"/>
            </p:cNvSpPr>
            <p:nvPr/>
          </p:nvSpPr>
          <p:spPr bwMode="auto">
            <a:xfrm>
              <a:off x="1503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1" name="Rectangle 107"/>
            <p:cNvSpPr>
              <a:spLocks noChangeArrowheads="1"/>
            </p:cNvSpPr>
            <p:nvPr/>
          </p:nvSpPr>
          <p:spPr bwMode="auto">
            <a:xfrm>
              <a:off x="1611" y="288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2" name="Rectangle 108"/>
            <p:cNvSpPr>
              <a:spLocks noChangeArrowheads="1"/>
            </p:cNvSpPr>
            <p:nvPr/>
          </p:nvSpPr>
          <p:spPr bwMode="auto">
            <a:xfrm>
              <a:off x="1873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3" name="Rectangle 109"/>
            <p:cNvSpPr>
              <a:spLocks noChangeArrowheads="1"/>
            </p:cNvSpPr>
            <p:nvPr/>
          </p:nvSpPr>
          <p:spPr bwMode="auto">
            <a:xfrm>
              <a:off x="2449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4" name="Rectangle 110"/>
            <p:cNvSpPr>
              <a:spLocks noChangeArrowheads="1"/>
            </p:cNvSpPr>
            <p:nvPr/>
          </p:nvSpPr>
          <p:spPr bwMode="auto">
            <a:xfrm>
              <a:off x="2739" y="191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4495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74152" name="Rectangle 77415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154" name="Rectangle 774153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4156" name="Rectangle 774155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158" name="Rectangle 774157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4160" name="Freeform: Shape 77415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Example (Operation Contract for </a:t>
            </a:r>
            <a:r>
              <a:rPr lang="en-US" altLang="en-US" sz="4000" i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enterItem</a:t>
            </a:r>
            <a:r>
              <a:rPr lang="en-US" alt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  <p:pic>
        <p:nvPicPr>
          <p:cNvPr id="774147" name="Picture 3" descr="contract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2428" y="493540"/>
            <a:ext cx="7225748" cy="5870920"/>
          </a:xfrm>
          <a:prstGeom prst="rect">
            <a:avLst/>
          </a:prstGeom>
          <a:noFill/>
        </p:spPr>
      </p:pic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fld id="{B4DA01F8-02BC-447E-BCC7-96AFC80205E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 algn="r">
                <a:spcAft>
                  <a:spcPts val="600"/>
                </a:spcAft>
              </a:pPr>
              <a:t>10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10875E-4B80-38DF-0444-F274C38B9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In Practice: When to write operations contracts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9217F-28F9-F969-62E1-ED24A396AC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675" y="1789028"/>
            <a:ext cx="11732646" cy="4828970"/>
          </a:xfrm>
        </p:spPr>
        <p:txBody>
          <a:bodyPr anchor="ctr"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Complex or Critical Operations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If an operation involves complex logic, significant side effects, or critical business rules, a detailed contract can serve as a guide for implementation and testing.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200" b="1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When It May Not Be Necessary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Trivial or Internal Operations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For simple, self-contained operations (especially those that are internal helpers or that have obvious behavior), a full formal contract might be overkill.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Low-Risk Operations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If an operation’s behavior is straightforward and unlikely to cause issues, you might choose to document it more informally or rely on clear code implementation instead of a formal contract.</a:t>
            </a:r>
          </a:p>
          <a:p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604049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1ACA2EA0-FFD3-42EC-9406-B595015ED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5288BCE-665C-472A-8C43-664BCFA31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8762" y="1247775"/>
            <a:ext cx="9144000" cy="3007447"/>
          </a:xfrm>
          <a:prstGeom prst="rect">
            <a:avLst/>
          </a:prstGeom>
          <a:solidFill>
            <a:schemeClr val="bg1"/>
          </a:solidFill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630A69-460A-2A66-4CEC-D0055DCEE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4988" y="1442172"/>
            <a:ext cx="8582025" cy="217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GRASP PATTERNS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C57131-53A7-4C1A-BEA8-25F06A06A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7872" y="3912322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220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2">
            <a:extLst>
              <a:ext uri="{FF2B5EF4-FFF2-40B4-BE49-F238E27FC236}">
                <a16:creationId xmlns:a16="http://schemas.microsoft.com/office/drawing/2014/main" id="{8A7DBF89-F056-E6DE-0BF5-0E6B429A19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868556" y="1138036"/>
            <a:ext cx="6063613" cy="1402470"/>
          </a:xfrm>
        </p:spPr>
        <p:txBody>
          <a:bodyPr anchor="t">
            <a:normAutofit/>
          </a:bodyPr>
          <a:lstStyle/>
          <a:p>
            <a:r>
              <a:rPr lang="en-US" altLang="en-US" sz="3000" dirty="0"/>
              <a:t>GRASP: </a:t>
            </a:r>
            <a:br>
              <a:rPr lang="en-US" altLang="en-US" sz="3000" dirty="0"/>
            </a:br>
            <a:r>
              <a:rPr lang="en-US" altLang="en-US" sz="3000" dirty="0"/>
              <a:t>Patterns of General Principles in Assigning Responsibilities</a:t>
            </a:r>
          </a:p>
        </p:txBody>
      </p:sp>
      <p:pic>
        <p:nvPicPr>
          <p:cNvPr id="6150" name="Picture 6149" descr="Colourful sticky notes">
            <a:extLst>
              <a:ext uri="{FF2B5EF4-FFF2-40B4-BE49-F238E27FC236}">
                <a16:creationId xmlns:a16="http://schemas.microsoft.com/office/drawing/2014/main" id="{6666C4CD-E8CA-EE5E-BF06-03F65BD375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3429" r="16433" b="-1"/>
          <a:stretch/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cxnSp>
        <p:nvCxnSpPr>
          <p:cNvPr id="6154" name="Straight Connector 6153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71697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48" name="Rectangle 3">
            <a:extLst>
              <a:ext uri="{FF2B5EF4-FFF2-40B4-BE49-F238E27FC236}">
                <a16:creationId xmlns:a16="http://schemas.microsoft.com/office/drawing/2014/main" id="{DEFB6635-F001-0825-1A31-81DC16DF1C8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448878" y="2521891"/>
            <a:ext cx="6323443" cy="4078934"/>
          </a:xfrm>
        </p:spPr>
        <p:txBody>
          <a:bodyPr>
            <a:noAutofit/>
          </a:bodyPr>
          <a:lstStyle/>
          <a:p>
            <a:pPr lvl="2"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G</a:t>
            </a:r>
            <a:r>
              <a:rPr lang="en-US" altLang="en-US" sz="2400" dirty="0"/>
              <a:t>eneral </a:t>
            </a:r>
          </a:p>
          <a:p>
            <a:pPr lvl="2"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R</a:t>
            </a:r>
            <a:r>
              <a:rPr lang="en-US" altLang="en-US" sz="2400" dirty="0"/>
              <a:t>esponsibility </a:t>
            </a:r>
          </a:p>
          <a:p>
            <a:pPr lvl="2"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A</a:t>
            </a:r>
            <a:r>
              <a:rPr lang="en-US" altLang="en-US" sz="2400" dirty="0"/>
              <a:t>ssignment </a:t>
            </a:r>
          </a:p>
          <a:p>
            <a:pPr lvl="2"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S</a:t>
            </a:r>
            <a:r>
              <a:rPr lang="en-US" altLang="en-US" sz="2400" dirty="0"/>
              <a:t>oftware </a:t>
            </a:r>
          </a:p>
          <a:p>
            <a:pPr lvl="2"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P</a:t>
            </a:r>
            <a:r>
              <a:rPr lang="en-US" altLang="en-US" sz="2400" dirty="0"/>
              <a:t>atterns. </a:t>
            </a:r>
          </a:p>
          <a:p>
            <a:pPr lvl="2">
              <a:buNone/>
            </a:pPr>
            <a:endParaRPr lang="en-US" altLang="en-US" sz="2400" dirty="0"/>
          </a:p>
          <a:p>
            <a:pPr marL="342900" indent="-342900"/>
            <a:r>
              <a:rPr lang="en-US" altLang="en-US" sz="2400" dirty="0"/>
              <a:t>Provide guidance for assigning responsibilities to classes and, to limited extent, determining classes that will be in a design.</a:t>
            </a:r>
          </a:p>
        </p:txBody>
      </p:sp>
      <p:sp>
        <p:nvSpPr>
          <p:cNvPr id="6146" name="Slide Number Placeholder 3">
            <a:extLst>
              <a:ext uri="{FF2B5EF4-FFF2-40B4-BE49-F238E27FC236}">
                <a16:creationId xmlns:a16="http://schemas.microsoft.com/office/drawing/2014/main" id="{B1964C82-603C-D45A-D079-0BED903FAD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F8BF4A2B-B024-44C8-ADC2-028369787A2B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>
            <a:extLst>
              <a:ext uri="{FF2B5EF4-FFF2-40B4-BE49-F238E27FC236}">
                <a16:creationId xmlns:a16="http://schemas.microsoft.com/office/drawing/2014/main" id="{57A11078-B0C1-C39F-4315-CE5FBD1540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62001" y="1138265"/>
            <a:ext cx="3056625" cy="2909296"/>
          </a:xfrm>
        </p:spPr>
        <p:txBody>
          <a:bodyPr anchor="t">
            <a:normAutofit/>
          </a:bodyPr>
          <a:lstStyle/>
          <a:p>
            <a:r>
              <a:rPr lang="en-US" altLang="en-US" sz="3200"/>
              <a:t>A Responsibility</a:t>
            </a:r>
          </a:p>
        </p:txBody>
      </p:sp>
      <p:cxnSp>
        <p:nvCxnSpPr>
          <p:cNvPr id="7177" name="Straight Connector 7176">
            <a:extLst>
              <a:ext uri="{FF2B5EF4-FFF2-40B4-BE49-F238E27FC236}">
                <a16:creationId xmlns:a16="http://schemas.microsoft.com/office/drawing/2014/main" id="{00CD8E7C-C23B-A3B9-B18A-838AED877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72" name="Rectangle 3">
            <a:extLst>
              <a:ext uri="{FF2B5EF4-FFF2-40B4-BE49-F238E27FC236}">
                <a16:creationId xmlns:a16="http://schemas.microsoft.com/office/drawing/2014/main" id="{E01D47C0-7687-30CC-6054-278248B645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18627" y="753376"/>
            <a:ext cx="8113544" cy="5434637"/>
          </a:xfrm>
        </p:spPr>
        <p:txBody>
          <a:bodyPr>
            <a:normAutofit/>
          </a:bodyPr>
          <a:lstStyle/>
          <a:p>
            <a:pPr marL="342900" indent="-342900" algn="just">
              <a:buNone/>
            </a:pPr>
            <a:r>
              <a:rPr lang="en-US" altLang="en-US" dirty="0"/>
              <a:t>“A contract or obligation of a type or class”</a:t>
            </a:r>
          </a:p>
          <a:p>
            <a:pPr marL="342900" indent="-342900" algn="just">
              <a:buNone/>
            </a:pPr>
            <a:r>
              <a:rPr lang="en-US" altLang="en-US" dirty="0"/>
              <a:t>UML User Guide</a:t>
            </a:r>
          </a:p>
          <a:p>
            <a:pPr marL="342900" indent="-342900" algn="just"/>
            <a:r>
              <a:rPr lang="en-US" altLang="en-US" dirty="0"/>
              <a:t>Responsibilities can be one of two basic types:</a:t>
            </a:r>
          </a:p>
          <a:p>
            <a:pPr marL="742950" lvl="1" indent="-285750" algn="just"/>
            <a:r>
              <a:rPr lang="en-US" altLang="en-US" sz="2800" u="sng" dirty="0"/>
              <a:t>Doing</a:t>
            </a:r>
          </a:p>
          <a:p>
            <a:pPr lvl="2" algn="just"/>
            <a:r>
              <a:rPr lang="en-US" altLang="en-US" sz="2800" dirty="0"/>
              <a:t>A </a:t>
            </a:r>
            <a:r>
              <a:rPr lang="en-US" altLang="en-US" sz="2800" i="1" dirty="0"/>
              <a:t>Sale</a:t>
            </a:r>
            <a:r>
              <a:rPr lang="en-US" altLang="en-US" sz="2800" dirty="0"/>
              <a:t> is responsible for printing itself</a:t>
            </a:r>
          </a:p>
          <a:p>
            <a:pPr marL="742950" lvl="1" indent="-285750" algn="just"/>
            <a:r>
              <a:rPr lang="en-US" altLang="en-US" sz="2800" u="sng" dirty="0"/>
              <a:t>Knowing</a:t>
            </a:r>
          </a:p>
          <a:p>
            <a:pPr lvl="2" algn="just"/>
            <a:r>
              <a:rPr lang="en-US" altLang="en-US" sz="2800" dirty="0"/>
              <a:t>A </a:t>
            </a:r>
            <a:r>
              <a:rPr lang="en-US" altLang="en-US" sz="2800" i="1" dirty="0"/>
              <a:t>Sale</a:t>
            </a:r>
            <a:r>
              <a:rPr lang="en-US" altLang="en-US" sz="2800" dirty="0"/>
              <a:t> is responsible for recording its date</a:t>
            </a:r>
          </a:p>
          <a:p>
            <a:pPr marL="914400" lvl="2" indent="0" algn="just">
              <a:buNone/>
            </a:pPr>
            <a:endParaRPr lang="en-US" altLang="en-US" sz="2800" dirty="0"/>
          </a:p>
          <a:p>
            <a:pPr marL="342900" indent="-342900" algn="just"/>
            <a:r>
              <a:rPr lang="en-US" altLang="en-US" dirty="0"/>
              <a:t>Responsibilities are not methods…the responsibility to provide access to relational databases is more than a single method…more than a single class!</a:t>
            </a:r>
          </a:p>
        </p:txBody>
      </p:sp>
      <p:sp>
        <p:nvSpPr>
          <p:cNvPr id="7170" name="Slide Number Placeholder 3">
            <a:extLst>
              <a:ext uri="{FF2B5EF4-FFF2-40B4-BE49-F238E27FC236}">
                <a16:creationId xmlns:a16="http://schemas.microsoft.com/office/drawing/2014/main" id="{426A902D-E7D8-2214-86F5-440714B05F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7347A960-0C76-4BC4-82DD-63EFCA24FEF7}" type="slidenum">
              <a:rPr lang="de-DE" altLang="en-US" sz="1900"/>
              <a:pPr>
                <a:lnSpc>
                  <a:spcPct val="90000"/>
                </a:lnSpc>
                <a:spcAft>
                  <a:spcPts val="600"/>
                </a:spcAft>
              </a:pPr>
              <a:t>14</a:t>
            </a:fld>
            <a:endParaRPr lang="de-DE" altLang="en-US" sz="1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2">
            <a:extLst>
              <a:ext uri="{FF2B5EF4-FFF2-40B4-BE49-F238E27FC236}">
                <a16:creationId xmlns:a16="http://schemas.microsoft.com/office/drawing/2014/main" id="{03F4AF62-2F45-36DA-9EE4-4688FAB45C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868557" y="1138036"/>
            <a:ext cx="5444382" cy="1402470"/>
          </a:xfrm>
        </p:spPr>
        <p:txBody>
          <a:bodyPr anchor="t">
            <a:normAutofit/>
          </a:bodyPr>
          <a:lstStyle/>
          <a:p>
            <a:r>
              <a:rPr lang="en-US" altLang="en-US" sz="3200"/>
              <a:t>“Doing” responsibilities</a:t>
            </a:r>
          </a:p>
        </p:txBody>
      </p:sp>
      <p:pic>
        <p:nvPicPr>
          <p:cNvPr id="8198" name="Picture 8197" descr="Checkmate in a chess game">
            <a:extLst>
              <a:ext uri="{FF2B5EF4-FFF2-40B4-BE49-F238E27FC236}">
                <a16:creationId xmlns:a16="http://schemas.microsoft.com/office/drawing/2014/main" id="{6414E1D1-2ABA-9525-7C09-EDA1A75819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295" r="22808" b="2"/>
          <a:stretch/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cxnSp>
        <p:nvCxnSpPr>
          <p:cNvPr id="8202" name="Straight Connector 8201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71697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96" name="Rectangle 3">
            <a:extLst>
              <a:ext uri="{FF2B5EF4-FFF2-40B4-BE49-F238E27FC236}">
                <a16:creationId xmlns:a16="http://schemas.microsoft.com/office/drawing/2014/main" id="{CAC45EA0-D1BE-4380-A645-64666512B8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546361" y="1903752"/>
            <a:ext cx="6460760" cy="4238632"/>
          </a:xfrm>
        </p:spPr>
        <p:txBody>
          <a:bodyPr>
            <a:normAutofit/>
          </a:bodyPr>
          <a:lstStyle/>
          <a:p>
            <a:pPr marL="342900" indent="-342900"/>
            <a:r>
              <a:rPr lang="en-US" altLang="en-US" sz="3200" dirty="0"/>
              <a:t>An object:</a:t>
            </a:r>
          </a:p>
          <a:p>
            <a:pPr marL="0" indent="0">
              <a:buNone/>
            </a:pPr>
            <a:endParaRPr lang="en-US" altLang="en-US" sz="3200" dirty="0"/>
          </a:p>
          <a:p>
            <a:pPr marL="742950" lvl="1" indent="-285750"/>
            <a:r>
              <a:rPr lang="en-US" altLang="en-US" sz="3200" dirty="0"/>
              <a:t>Doing something to itself</a:t>
            </a:r>
          </a:p>
          <a:p>
            <a:pPr marL="742950" lvl="1" indent="-285750"/>
            <a:r>
              <a:rPr lang="en-US" altLang="en-US" sz="3200" dirty="0"/>
              <a:t>Initiating action in other objects</a:t>
            </a:r>
          </a:p>
          <a:p>
            <a:pPr marL="742950" lvl="1" indent="-285750"/>
            <a:r>
              <a:rPr lang="en-US" altLang="en-US" sz="3200" dirty="0"/>
              <a:t>Controlling and coordinating activities in other objects</a:t>
            </a:r>
          </a:p>
        </p:txBody>
      </p:sp>
      <p:sp>
        <p:nvSpPr>
          <p:cNvPr id="8194" name="Slide Number Placeholder 3">
            <a:extLst>
              <a:ext uri="{FF2B5EF4-FFF2-40B4-BE49-F238E27FC236}">
                <a16:creationId xmlns:a16="http://schemas.microsoft.com/office/drawing/2014/main" id="{4A55BB5E-CE1C-175E-D665-640EB0E1C8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A96892A9-3E57-44E4-83F5-7FFAD1D70D7B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15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>
            <a:extLst>
              <a:ext uri="{FF2B5EF4-FFF2-40B4-BE49-F238E27FC236}">
                <a16:creationId xmlns:a16="http://schemas.microsoft.com/office/drawing/2014/main" id="{08014F44-2323-03E4-F9C1-A2A2B7F210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868557" y="1138036"/>
            <a:ext cx="5444382" cy="1402470"/>
          </a:xfrm>
        </p:spPr>
        <p:txBody>
          <a:bodyPr anchor="t">
            <a:normAutofit/>
          </a:bodyPr>
          <a:lstStyle/>
          <a:p>
            <a:r>
              <a:rPr lang="en-US" altLang="en-US" sz="3200"/>
              <a:t>“Knowing” responsibilities</a:t>
            </a:r>
          </a:p>
        </p:txBody>
      </p:sp>
      <p:pic>
        <p:nvPicPr>
          <p:cNvPr id="9222" name="Picture 9221" descr="Many question marks on black background">
            <a:extLst>
              <a:ext uri="{FF2B5EF4-FFF2-40B4-BE49-F238E27FC236}">
                <a16:creationId xmlns:a16="http://schemas.microsoft.com/office/drawing/2014/main" id="{CC1DF211-2B93-8B78-8550-3B9C556418B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181" r="2" b="2"/>
          <a:stretch/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cxnSp>
        <p:nvCxnSpPr>
          <p:cNvPr id="9226" name="Straight Connector 9225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71697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20" name="Rectangle 3">
            <a:extLst>
              <a:ext uri="{FF2B5EF4-FFF2-40B4-BE49-F238E27FC236}">
                <a16:creationId xmlns:a16="http://schemas.microsoft.com/office/drawing/2014/main" id="{B72B3D76-EB21-9654-31B4-9DDA356CA8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151178" y="2053652"/>
            <a:ext cx="6870933" cy="4088731"/>
          </a:xfrm>
        </p:spPr>
        <p:txBody>
          <a:bodyPr>
            <a:normAutofit/>
          </a:bodyPr>
          <a:lstStyle/>
          <a:p>
            <a:pPr marL="342900" indent="-342900"/>
            <a:r>
              <a:rPr lang="en-US" altLang="en-US" sz="3300" dirty="0"/>
              <a:t>An object:</a:t>
            </a:r>
          </a:p>
          <a:p>
            <a:pPr marL="742950" lvl="1" indent="-285750"/>
            <a:r>
              <a:rPr lang="en-US" altLang="en-US" sz="3300" dirty="0"/>
              <a:t>Knowing about private encapsulated data</a:t>
            </a:r>
          </a:p>
          <a:p>
            <a:pPr marL="457200" lvl="1" indent="0">
              <a:buNone/>
            </a:pPr>
            <a:endParaRPr lang="en-US" altLang="en-US" sz="3300" dirty="0"/>
          </a:p>
          <a:p>
            <a:pPr marL="742950" lvl="1" indent="-285750"/>
            <a:r>
              <a:rPr lang="en-US" altLang="en-US" sz="3300" dirty="0"/>
              <a:t>Knowing about related objects</a:t>
            </a:r>
          </a:p>
          <a:p>
            <a:pPr marL="457200" lvl="1" indent="0">
              <a:buNone/>
            </a:pPr>
            <a:endParaRPr lang="en-US" altLang="en-US" sz="3300" dirty="0"/>
          </a:p>
          <a:p>
            <a:pPr marL="742950" lvl="1" indent="-285750"/>
            <a:r>
              <a:rPr lang="en-US" altLang="en-US" sz="3300" dirty="0"/>
              <a:t>Knowing about things it can derive or calculate.</a:t>
            </a:r>
          </a:p>
        </p:txBody>
      </p:sp>
      <p:sp>
        <p:nvSpPr>
          <p:cNvPr id="9218" name="Slide Number Placeholder 3">
            <a:extLst>
              <a:ext uri="{FF2B5EF4-FFF2-40B4-BE49-F238E27FC236}">
                <a16:creationId xmlns:a16="http://schemas.microsoft.com/office/drawing/2014/main" id="{18729194-779A-0E42-C125-8C139B807D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8B33D0B5-6C05-415D-A8AE-18BE48A14413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16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>
            <a:extLst>
              <a:ext uri="{FF2B5EF4-FFF2-40B4-BE49-F238E27FC236}">
                <a16:creationId xmlns:a16="http://schemas.microsoft.com/office/drawing/2014/main" id="{DFDB1BB9-6BCD-9E1B-05D6-622FC08BC2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868557" y="1138036"/>
            <a:ext cx="5444382" cy="1402470"/>
          </a:xfrm>
        </p:spPr>
        <p:txBody>
          <a:bodyPr anchor="t">
            <a:normAutofit/>
          </a:bodyPr>
          <a:lstStyle/>
          <a:p>
            <a:r>
              <a:rPr lang="en-US" altLang="en-US" sz="3200"/>
              <a:t>GRASP Patterns</a:t>
            </a:r>
          </a:p>
        </p:txBody>
      </p:sp>
      <p:pic>
        <p:nvPicPr>
          <p:cNvPr id="10246" name="Picture 10245" descr="Large skydiving group mid-air">
            <a:extLst>
              <a:ext uri="{FF2B5EF4-FFF2-40B4-BE49-F238E27FC236}">
                <a16:creationId xmlns:a16="http://schemas.microsoft.com/office/drawing/2014/main" id="{E4E30EF5-8770-E46E-5FB4-ED85B98ACD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609" r="24441"/>
          <a:stretch/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cxnSp>
        <p:nvCxnSpPr>
          <p:cNvPr id="10250" name="Straight Connector 10249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71697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4" name="Rectangle 3">
            <a:extLst>
              <a:ext uri="{FF2B5EF4-FFF2-40B4-BE49-F238E27FC236}">
                <a16:creationId xmlns:a16="http://schemas.microsoft.com/office/drawing/2014/main" id="{B6AC82EC-E5CB-F6DD-1E34-BE2A0280741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591332" y="1813810"/>
            <a:ext cx="6438986" cy="4907665"/>
          </a:xfrm>
        </p:spPr>
        <p:txBody>
          <a:bodyPr>
            <a:normAutofit lnSpcReduction="10000"/>
          </a:bodyPr>
          <a:lstStyle/>
          <a:p>
            <a:pPr marL="342900" indent="-342900"/>
            <a:r>
              <a:rPr lang="en-US" altLang="en-US" sz="3300" dirty="0"/>
              <a:t>Expert</a:t>
            </a:r>
          </a:p>
          <a:p>
            <a:pPr marL="342900" indent="-342900"/>
            <a:r>
              <a:rPr lang="en-US" altLang="en-US" sz="3300" dirty="0"/>
              <a:t>Creator</a:t>
            </a:r>
          </a:p>
          <a:p>
            <a:pPr marL="342900" indent="-342900"/>
            <a:r>
              <a:rPr lang="en-US" altLang="en-US" sz="3300" dirty="0"/>
              <a:t>Low Coupling/High Cohesion</a:t>
            </a:r>
          </a:p>
          <a:p>
            <a:pPr marL="342900" indent="-342900"/>
            <a:r>
              <a:rPr lang="en-US" altLang="en-US" sz="3300" dirty="0"/>
              <a:t>Controller</a:t>
            </a:r>
          </a:p>
          <a:p>
            <a:pPr marL="342900" indent="-342900"/>
            <a:r>
              <a:rPr lang="en-US" altLang="en-US" sz="3300" dirty="0"/>
              <a:t>Polymorphism</a:t>
            </a:r>
          </a:p>
          <a:p>
            <a:pPr marL="342900" indent="-342900"/>
            <a:r>
              <a:rPr lang="en-US" altLang="en-US" sz="3300" dirty="0"/>
              <a:t>Pure Fabrication</a:t>
            </a:r>
          </a:p>
          <a:p>
            <a:pPr marL="342900" indent="-342900"/>
            <a:r>
              <a:rPr lang="en-US" altLang="en-US" sz="3300" dirty="0"/>
              <a:t>Indirection</a:t>
            </a:r>
          </a:p>
          <a:p>
            <a:pPr marL="342900" indent="-342900"/>
            <a:r>
              <a:rPr lang="en-US" altLang="en-US" sz="3300" dirty="0"/>
              <a:t>Don’t Talk to Strangers (Law of Demeter)</a:t>
            </a:r>
          </a:p>
          <a:p>
            <a:pPr marL="342900" indent="-342900"/>
            <a:endParaRPr lang="en-US" altLang="en-US" sz="2000" dirty="0"/>
          </a:p>
        </p:txBody>
      </p:sp>
      <p:sp>
        <p:nvSpPr>
          <p:cNvPr id="10242" name="Slide Number Placeholder 3">
            <a:extLst>
              <a:ext uri="{FF2B5EF4-FFF2-40B4-BE49-F238E27FC236}">
                <a16:creationId xmlns:a16="http://schemas.microsoft.com/office/drawing/2014/main" id="{7A836BBC-CFD7-D531-1A4D-720A8B666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CAB30DE9-DFFF-4589-94E0-06D494FAC6D0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17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273" name="Rectangle 11272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275" name="Rectangle 11274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277" name="Rectangle 11276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66" name="Title 1">
            <a:extLst>
              <a:ext uri="{FF2B5EF4-FFF2-40B4-BE49-F238E27FC236}">
                <a16:creationId xmlns:a16="http://schemas.microsoft.com/office/drawing/2014/main" id="{34CE99F5-DCCF-658E-2E76-6640434CE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altLang="en-US" sz="4000"/>
              <a:t>What is a Pattern?</a:t>
            </a:r>
          </a:p>
        </p:txBody>
      </p:sp>
      <p:sp>
        <p:nvSpPr>
          <p:cNvPr id="11279" name="Rectangle 11278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267" name="Content Placeholder 2">
            <a:extLst>
              <a:ext uri="{FF2B5EF4-FFF2-40B4-BE49-F238E27FC236}">
                <a16:creationId xmlns:a16="http://schemas.microsoft.com/office/drawing/2014/main" id="{287994ED-4877-11D5-89B5-0BED27F1D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General principles and solutions to guide developers in the creation of software</a:t>
            </a:r>
          </a:p>
          <a:p>
            <a:r>
              <a:rPr lang="en-US" altLang="en-US" sz="3200" dirty="0"/>
              <a:t>The pattern is named and documented in a structured format describing the problem and solution</a:t>
            </a:r>
          </a:p>
          <a:p>
            <a:r>
              <a:rPr lang="en-US" altLang="en-US" sz="3200" dirty="0"/>
              <a:t>The pattern can be applied to a new context</a:t>
            </a:r>
          </a:p>
          <a:p>
            <a:r>
              <a:rPr lang="en-US" altLang="en-US" sz="3200" dirty="0"/>
              <a:t>Contains advice on how to apply it in a novel situation, discusses trade-offs, implementations, and variations.</a:t>
            </a:r>
          </a:p>
        </p:txBody>
      </p:sp>
      <p:sp>
        <p:nvSpPr>
          <p:cNvPr id="11268" name="Slide Number Placeholder 3">
            <a:extLst>
              <a:ext uri="{FF2B5EF4-FFF2-40B4-BE49-F238E27FC236}">
                <a16:creationId xmlns:a16="http://schemas.microsoft.com/office/drawing/2014/main" id="{FDD81628-C696-1862-709C-1983430934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540496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993D3883-ADE9-408C-8722-B3FA2DD00400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18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239F60-CD6F-B061-6EB7-ECD43D3A8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EXPERT PATTERN</a:t>
            </a:r>
          </a:p>
        </p:txBody>
      </p:sp>
      <p:pic>
        <p:nvPicPr>
          <p:cNvPr id="6" name="Graphic 5" descr="Head with Gears">
            <a:extLst>
              <a:ext uri="{FF2B5EF4-FFF2-40B4-BE49-F238E27FC236}">
                <a16:creationId xmlns:a16="http://schemas.microsoft.com/office/drawing/2014/main" id="{7C7984A8-A191-B628-B429-17D392D94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8" name="Graphic 7" descr="Head with Gears">
            <a:extLst>
              <a:ext uri="{FF2B5EF4-FFF2-40B4-BE49-F238E27FC236}">
                <a16:creationId xmlns:a16="http://schemas.microsoft.com/office/drawing/2014/main" id="{9666EE60-793A-4E69-9BD0-6FBCC1566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067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297" name="Rectangle 12296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299" name="Rectangle 12298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301" name="Rectangle 12300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AE844E94-1890-BB71-CFB0-06A13E1DF9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altLang="en-US" sz="4000"/>
              <a:t>Expert…</a:t>
            </a:r>
          </a:p>
        </p:txBody>
      </p:sp>
      <p:sp>
        <p:nvSpPr>
          <p:cNvPr id="12303" name="Rectangle 12302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292" name="Rectangle 3">
            <a:extLst>
              <a:ext uri="{FF2B5EF4-FFF2-40B4-BE49-F238E27FC236}">
                <a16:creationId xmlns:a16="http://schemas.microsoft.com/office/drawing/2014/main" id="{50632358-8218-119E-8D62-9720ADD376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59764" y="2481943"/>
            <a:ext cx="11362844" cy="3695020"/>
          </a:xfrm>
        </p:spPr>
        <p:txBody>
          <a:bodyPr>
            <a:normAutofit/>
          </a:bodyPr>
          <a:lstStyle/>
          <a:p>
            <a:pPr marL="342900" indent="-342900"/>
            <a:r>
              <a:rPr lang="en-US" altLang="en-US" sz="4000" dirty="0"/>
              <a:t>Intent: </a:t>
            </a:r>
          </a:p>
          <a:p>
            <a:pPr marL="742950" lvl="1" indent="-285750"/>
            <a:r>
              <a:rPr lang="en-US" altLang="en-US" sz="4000" dirty="0"/>
              <a:t>Assign a responsibility to the information expert – the class that has the information necessary to fulfill the responsibility.</a:t>
            </a:r>
          </a:p>
          <a:p>
            <a:pPr marL="742950" lvl="1" indent="-285750"/>
            <a:endParaRPr lang="en-US" altLang="en-US" sz="4000" dirty="0"/>
          </a:p>
          <a:p>
            <a:pPr marL="742950" lvl="1" indent="-285750"/>
            <a:r>
              <a:rPr lang="en-US" altLang="en-US" sz="4000" dirty="0"/>
              <a:t>“That which has the information, does the work.”</a:t>
            </a:r>
          </a:p>
        </p:txBody>
      </p:sp>
      <p:sp>
        <p:nvSpPr>
          <p:cNvPr id="12290" name="Slide Number Placeholder 3">
            <a:extLst>
              <a:ext uri="{FF2B5EF4-FFF2-40B4-BE49-F238E27FC236}">
                <a16:creationId xmlns:a16="http://schemas.microsoft.com/office/drawing/2014/main" id="{A27356FC-1135-1C3C-61EE-5F1CCF5B32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540496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B2921D57-23B3-4A84-AAE1-0908D49FE313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20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321" name="Rectangle 13320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323" name="Rectangle 13322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325" name="Rectangle 13324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238278B3-6EFA-48AB-71BC-285C7B3E99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altLang="en-US" sz="4000"/>
              <a:t>…Expert</a:t>
            </a:r>
          </a:p>
        </p:txBody>
      </p:sp>
      <p:sp>
        <p:nvSpPr>
          <p:cNvPr id="13327" name="Rectangle 13326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EECC3FC0-58C9-EC3D-DE3A-302C2121A85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26849" y="2276856"/>
            <a:ext cx="11365281" cy="3900107"/>
          </a:xfrm>
        </p:spPr>
        <p:txBody>
          <a:bodyPr>
            <a:noAutofit/>
          </a:bodyPr>
          <a:lstStyle/>
          <a:p>
            <a:pPr marL="342900" indent="-342900"/>
            <a:r>
              <a:rPr lang="en-US" altLang="en-US" b="1" u="sng" dirty="0"/>
              <a:t>Problem:</a:t>
            </a:r>
          </a:p>
          <a:p>
            <a:pPr marL="742950" lvl="1" indent="-285750"/>
            <a:r>
              <a:rPr lang="en-US" altLang="en-US" sz="2800" dirty="0"/>
              <a:t>What is most basic, general principle of responsibility assignment?</a:t>
            </a:r>
          </a:p>
          <a:p>
            <a:pPr marL="742950" lvl="1" indent="-285750"/>
            <a:r>
              <a:rPr lang="en-US" altLang="en-US" sz="2800" dirty="0"/>
              <a:t>A class model may define hundreds of software classes, and an application may require thousands of responsibilities to be fulfilled.</a:t>
            </a:r>
          </a:p>
          <a:p>
            <a:pPr marL="742950" lvl="1" indent="-285750"/>
            <a:r>
              <a:rPr lang="en-US" altLang="en-US" sz="2800" dirty="0"/>
              <a:t>During OOD we make decisions about the assignment of responsibilities.</a:t>
            </a:r>
          </a:p>
          <a:p>
            <a:pPr marL="742950" lvl="1" indent="-285750"/>
            <a:r>
              <a:rPr lang="en-US" altLang="en-US" sz="2800" dirty="0"/>
              <a:t>Done well, systems tend to be easier to understand, maintain, and extend.</a:t>
            </a:r>
          </a:p>
        </p:txBody>
      </p:sp>
      <p:sp>
        <p:nvSpPr>
          <p:cNvPr id="13314" name="Slide Number Placeholder 3">
            <a:extLst>
              <a:ext uri="{FF2B5EF4-FFF2-40B4-BE49-F238E27FC236}">
                <a16:creationId xmlns:a16="http://schemas.microsoft.com/office/drawing/2014/main" id="{926EBB7F-AF6B-32F0-6FC5-37B432CB6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540496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86BDFB58-AD85-4217-9612-BB6188AE28E9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21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650" name="Rectangle 2"/>
          <p:cNvSpPr>
            <a:spLocks noGrp="1" noChangeArrowheads="1"/>
          </p:cNvSpPr>
          <p:nvPr>
            <p:ph type="title"/>
          </p:nvPr>
        </p:nvSpPr>
        <p:spPr>
          <a:xfrm>
            <a:off x="910119" y="572569"/>
            <a:ext cx="3380527" cy="1642956"/>
          </a:xfrm>
        </p:spPr>
        <p:txBody>
          <a:bodyPr anchor="b">
            <a:normAutofit/>
          </a:bodyPr>
          <a:lstStyle/>
          <a:p>
            <a:r>
              <a:rPr lang="en-US" altLang="en-US" sz="3600" dirty="0">
                <a:solidFill>
                  <a:schemeClr val="tx2"/>
                </a:solidFill>
              </a:rPr>
              <a:t>Example: Class Diagram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1445238" y="6356350"/>
            <a:ext cx="54864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ABEAC46-B3E9-42FD-B02C-5AE907EC9AF9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28" name="Group 4"/>
          <p:cNvGrpSpPr>
            <a:grpSpLocks noChangeAspect="1"/>
          </p:cNvGrpSpPr>
          <p:nvPr/>
        </p:nvGrpSpPr>
        <p:grpSpPr bwMode="auto">
          <a:xfrm>
            <a:off x="5139176" y="609600"/>
            <a:ext cx="6298079" cy="5638800"/>
            <a:chOff x="863" y="962"/>
            <a:chExt cx="3697" cy="3310"/>
          </a:xfrm>
        </p:grpSpPr>
        <p:sp>
          <p:nvSpPr>
            <p:cNvPr id="1027" name="AutoShape 3"/>
            <p:cNvSpPr>
              <a:spLocks noChangeAspect="1" noChangeArrowheads="1" noTextEdit="1"/>
            </p:cNvSpPr>
            <p:nvPr/>
          </p:nvSpPr>
          <p:spPr bwMode="auto">
            <a:xfrm>
              <a:off x="863" y="962"/>
              <a:ext cx="3697" cy="3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9" name="Rectangle 5"/>
            <p:cNvSpPr>
              <a:spLocks noChangeArrowheads="1"/>
            </p:cNvSpPr>
            <p:nvPr/>
          </p:nvSpPr>
          <p:spPr bwMode="auto">
            <a:xfrm>
              <a:off x="2553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0" name="Rectangle 6"/>
            <p:cNvSpPr>
              <a:spLocks noChangeArrowheads="1"/>
            </p:cNvSpPr>
            <p:nvPr/>
          </p:nvSpPr>
          <p:spPr bwMode="auto">
            <a:xfrm>
              <a:off x="2706" y="3055"/>
              <a:ext cx="26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register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1" name="Rectangle 7"/>
            <p:cNvSpPr>
              <a:spLocks noChangeArrowheads="1"/>
            </p:cNvSpPr>
            <p:nvPr/>
          </p:nvSpPr>
          <p:spPr bwMode="auto">
            <a:xfrm>
              <a:off x="2553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2" name="Rectangle 8"/>
            <p:cNvSpPr>
              <a:spLocks noChangeArrowheads="1"/>
            </p:cNvSpPr>
            <p:nvPr/>
          </p:nvSpPr>
          <p:spPr bwMode="auto">
            <a:xfrm>
              <a:off x="3703" y="2268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3" name="Rectangle 9"/>
            <p:cNvSpPr>
              <a:spLocks noChangeArrowheads="1"/>
            </p:cNvSpPr>
            <p:nvPr/>
          </p:nvSpPr>
          <p:spPr bwMode="auto">
            <a:xfrm>
              <a:off x="3930" y="2309"/>
              <a:ext cx="15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4" name="Rectangle 10"/>
            <p:cNvSpPr>
              <a:spLocks noChangeArrowheads="1"/>
            </p:cNvSpPr>
            <p:nvPr/>
          </p:nvSpPr>
          <p:spPr bwMode="auto">
            <a:xfrm>
              <a:off x="3703" y="2445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5" name="Rectangle 11"/>
            <p:cNvSpPr>
              <a:spLocks noChangeArrowheads="1"/>
            </p:cNvSpPr>
            <p:nvPr/>
          </p:nvSpPr>
          <p:spPr bwMode="auto">
            <a:xfrm>
              <a:off x="2553" y="2222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6" name="Rectangle 12"/>
            <p:cNvSpPr>
              <a:spLocks noChangeArrowheads="1"/>
            </p:cNvSpPr>
            <p:nvPr/>
          </p:nvSpPr>
          <p:spPr bwMode="auto">
            <a:xfrm>
              <a:off x="2720" y="2263"/>
              <a:ext cx="19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Store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7" name="Rectangle 13"/>
            <p:cNvSpPr>
              <a:spLocks noChangeArrowheads="1"/>
            </p:cNvSpPr>
            <p:nvPr/>
          </p:nvSpPr>
          <p:spPr bwMode="auto">
            <a:xfrm>
              <a:off x="2553" y="2399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8" name="Rectangle 14"/>
            <p:cNvSpPr>
              <a:spLocks noChangeArrowheads="1"/>
            </p:cNvSpPr>
            <p:nvPr/>
          </p:nvSpPr>
          <p:spPr bwMode="auto">
            <a:xfrm>
              <a:off x="2599" y="2439"/>
              <a:ext cx="28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address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9" name="Rectangle 15"/>
            <p:cNvSpPr>
              <a:spLocks noChangeArrowheads="1"/>
            </p:cNvSpPr>
            <p:nvPr/>
          </p:nvSpPr>
          <p:spPr bwMode="auto">
            <a:xfrm>
              <a:off x="2599" y="2534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name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0" name="Rectangle 16"/>
            <p:cNvSpPr>
              <a:spLocks noChangeArrowheads="1"/>
            </p:cNvSpPr>
            <p:nvPr/>
          </p:nvSpPr>
          <p:spPr bwMode="auto">
            <a:xfrm>
              <a:off x="1319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1" name="Rectangle 17"/>
            <p:cNvSpPr>
              <a:spLocks noChangeArrowheads="1"/>
            </p:cNvSpPr>
            <p:nvPr/>
          </p:nvSpPr>
          <p:spPr bwMode="auto">
            <a:xfrm>
              <a:off x="1500" y="3055"/>
              <a:ext cx="16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2" name="Rectangle 18"/>
            <p:cNvSpPr>
              <a:spLocks noChangeArrowheads="1"/>
            </p:cNvSpPr>
            <p:nvPr/>
          </p:nvSpPr>
          <p:spPr bwMode="auto">
            <a:xfrm>
              <a:off x="1319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3" name="Rectangle 19"/>
            <p:cNvSpPr>
              <a:spLocks noChangeArrowheads="1"/>
            </p:cNvSpPr>
            <p:nvPr/>
          </p:nvSpPr>
          <p:spPr bwMode="auto">
            <a:xfrm>
              <a:off x="1365" y="3231"/>
              <a:ext cx="15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date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4" name="Rectangle 20"/>
            <p:cNvSpPr>
              <a:spLocks noChangeArrowheads="1"/>
            </p:cNvSpPr>
            <p:nvPr/>
          </p:nvSpPr>
          <p:spPr bwMode="auto">
            <a:xfrm>
              <a:off x="1365" y="3420"/>
              <a:ext cx="15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time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5" name="Rectangle 21"/>
            <p:cNvSpPr>
              <a:spLocks noChangeArrowheads="1"/>
            </p:cNvSpPr>
            <p:nvPr/>
          </p:nvSpPr>
          <p:spPr bwMode="auto">
            <a:xfrm>
              <a:off x="876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6" name="Rectangle 22"/>
            <p:cNvSpPr>
              <a:spLocks noChangeArrowheads="1"/>
            </p:cNvSpPr>
            <p:nvPr/>
          </p:nvSpPr>
          <p:spPr bwMode="auto">
            <a:xfrm>
              <a:off x="980" y="3950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Payment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7" name="Rectangle 23"/>
            <p:cNvSpPr>
              <a:spLocks noChangeArrowheads="1"/>
            </p:cNvSpPr>
            <p:nvPr/>
          </p:nvSpPr>
          <p:spPr bwMode="auto">
            <a:xfrm>
              <a:off x="876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8" name="Rectangle 24"/>
            <p:cNvSpPr>
              <a:spLocks noChangeArrowheads="1"/>
            </p:cNvSpPr>
            <p:nvPr/>
          </p:nvSpPr>
          <p:spPr bwMode="auto">
            <a:xfrm>
              <a:off x="922" y="4127"/>
              <a:ext cx="2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amount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9" name="Rectangle 25"/>
            <p:cNvSpPr>
              <a:spLocks noChangeArrowheads="1"/>
            </p:cNvSpPr>
            <p:nvPr/>
          </p:nvSpPr>
          <p:spPr bwMode="auto">
            <a:xfrm>
              <a:off x="1319" y="2134"/>
              <a:ext cx="521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0" name="Rectangle 26"/>
            <p:cNvSpPr>
              <a:spLocks noChangeArrowheads="1"/>
            </p:cNvSpPr>
            <p:nvPr/>
          </p:nvSpPr>
          <p:spPr bwMode="auto">
            <a:xfrm>
              <a:off x="1480" y="2173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1" name="Rectangle 27"/>
            <p:cNvSpPr>
              <a:spLocks noChangeArrowheads="1"/>
            </p:cNvSpPr>
            <p:nvPr/>
          </p:nvSpPr>
          <p:spPr bwMode="auto">
            <a:xfrm>
              <a:off x="1426" y="2268"/>
              <a:ext cx="30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LineItem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2" name="Rectangle 28"/>
            <p:cNvSpPr>
              <a:spLocks noChangeArrowheads="1"/>
            </p:cNvSpPr>
            <p:nvPr/>
          </p:nvSpPr>
          <p:spPr bwMode="auto">
            <a:xfrm>
              <a:off x="1319" y="2401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3" name="Rectangle 29"/>
            <p:cNvSpPr>
              <a:spLocks noChangeArrowheads="1"/>
            </p:cNvSpPr>
            <p:nvPr/>
          </p:nvSpPr>
          <p:spPr bwMode="auto">
            <a:xfrm>
              <a:off x="1365" y="2443"/>
              <a:ext cx="28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quantity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4" name="Rectangle 30"/>
            <p:cNvSpPr>
              <a:spLocks noChangeArrowheads="1"/>
            </p:cNvSpPr>
            <p:nvPr/>
          </p:nvSpPr>
          <p:spPr bwMode="auto">
            <a:xfrm>
              <a:off x="3363" y="3908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5" name="Rectangle 31"/>
            <p:cNvSpPr>
              <a:spLocks noChangeArrowheads="1"/>
            </p:cNvSpPr>
            <p:nvPr/>
          </p:nvSpPr>
          <p:spPr bwMode="auto">
            <a:xfrm>
              <a:off x="3487" y="3950"/>
              <a:ext cx="27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Cashier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6" name="Rectangle 32"/>
            <p:cNvSpPr>
              <a:spLocks noChangeArrowheads="1"/>
            </p:cNvSpPr>
            <p:nvPr/>
          </p:nvSpPr>
          <p:spPr bwMode="auto">
            <a:xfrm>
              <a:off x="3363" y="4086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7" name="Rectangle 33"/>
            <p:cNvSpPr>
              <a:spLocks noChangeArrowheads="1"/>
            </p:cNvSpPr>
            <p:nvPr/>
          </p:nvSpPr>
          <p:spPr bwMode="auto">
            <a:xfrm>
              <a:off x="1774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8" name="Rectangle 34"/>
            <p:cNvSpPr>
              <a:spLocks noChangeArrowheads="1"/>
            </p:cNvSpPr>
            <p:nvPr/>
          </p:nvSpPr>
          <p:spPr bwMode="auto">
            <a:xfrm>
              <a:off x="1862" y="3950"/>
              <a:ext cx="34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Customer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9" name="Rectangle 35"/>
            <p:cNvSpPr>
              <a:spLocks noChangeArrowheads="1"/>
            </p:cNvSpPr>
            <p:nvPr/>
          </p:nvSpPr>
          <p:spPr bwMode="auto">
            <a:xfrm>
              <a:off x="1774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0" name="Rectangle 36"/>
            <p:cNvSpPr>
              <a:spLocks noChangeArrowheads="1"/>
            </p:cNvSpPr>
            <p:nvPr/>
          </p:nvSpPr>
          <p:spPr bwMode="auto">
            <a:xfrm>
              <a:off x="3706" y="3107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1" name="Rectangle 37"/>
            <p:cNvSpPr>
              <a:spLocks noChangeArrowheads="1"/>
            </p:cNvSpPr>
            <p:nvPr/>
          </p:nvSpPr>
          <p:spPr bwMode="auto">
            <a:xfrm>
              <a:off x="3811" y="3148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Manager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2" name="Rectangle 38"/>
            <p:cNvSpPr>
              <a:spLocks noChangeArrowheads="1"/>
            </p:cNvSpPr>
            <p:nvPr/>
          </p:nvSpPr>
          <p:spPr bwMode="auto">
            <a:xfrm>
              <a:off x="3706" y="3284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3" name="Rectangle 39"/>
            <p:cNvSpPr>
              <a:spLocks noChangeArrowheads="1"/>
            </p:cNvSpPr>
            <p:nvPr/>
          </p:nvSpPr>
          <p:spPr bwMode="auto">
            <a:xfrm>
              <a:off x="2553" y="1468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4" name="Rectangle 40"/>
            <p:cNvSpPr>
              <a:spLocks noChangeArrowheads="1"/>
            </p:cNvSpPr>
            <p:nvPr/>
          </p:nvSpPr>
          <p:spPr bwMode="auto">
            <a:xfrm>
              <a:off x="2677" y="1507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5" name="Rectangle 41"/>
            <p:cNvSpPr>
              <a:spLocks noChangeArrowheads="1"/>
            </p:cNvSpPr>
            <p:nvPr/>
          </p:nvSpPr>
          <p:spPr bwMode="auto">
            <a:xfrm>
              <a:off x="2679" y="1601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Catalog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6" name="Rectangle 42"/>
            <p:cNvSpPr>
              <a:spLocks noChangeArrowheads="1"/>
            </p:cNvSpPr>
            <p:nvPr/>
          </p:nvSpPr>
          <p:spPr bwMode="auto">
            <a:xfrm>
              <a:off x="2553" y="173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7" name="Rectangle 43"/>
            <p:cNvSpPr>
              <a:spLocks noChangeArrowheads="1"/>
            </p:cNvSpPr>
            <p:nvPr/>
          </p:nvSpPr>
          <p:spPr bwMode="auto">
            <a:xfrm>
              <a:off x="3700" y="1376"/>
              <a:ext cx="615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8" name="Rectangle 44"/>
            <p:cNvSpPr>
              <a:spLocks noChangeArrowheads="1"/>
            </p:cNvSpPr>
            <p:nvPr/>
          </p:nvSpPr>
          <p:spPr bwMode="auto">
            <a:xfrm>
              <a:off x="3870" y="1415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9" name="Rectangle 45"/>
            <p:cNvSpPr>
              <a:spLocks noChangeArrowheads="1"/>
            </p:cNvSpPr>
            <p:nvPr/>
          </p:nvSpPr>
          <p:spPr bwMode="auto">
            <a:xfrm>
              <a:off x="3782" y="1509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Specification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0" name="Rectangle 46"/>
            <p:cNvSpPr>
              <a:spLocks noChangeArrowheads="1"/>
            </p:cNvSpPr>
            <p:nvPr/>
          </p:nvSpPr>
          <p:spPr bwMode="auto">
            <a:xfrm>
              <a:off x="3700" y="1643"/>
              <a:ext cx="615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1" name="Rectangle 47"/>
            <p:cNvSpPr>
              <a:spLocks noChangeArrowheads="1"/>
            </p:cNvSpPr>
            <p:nvPr/>
          </p:nvSpPr>
          <p:spPr bwMode="auto">
            <a:xfrm>
              <a:off x="3746" y="1683"/>
              <a:ext cx="3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description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2" name="Rectangle 48"/>
            <p:cNvSpPr>
              <a:spLocks noChangeArrowheads="1"/>
            </p:cNvSpPr>
            <p:nvPr/>
          </p:nvSpPr>
          <p:spPr bwMode="auto">
            <a:xfrm>
              <a:off x="3746" y="1777"/>
              <a:ext cx="1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price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3" name="Rectangle 49"/>
            <p:cNvSpPr>
              <a:spLocks noChangeArrowheads="1"/>
            </p:cNvSpPr>
            <p:nvPr/>
          </p:nvSpPr>
          <p:spPr bwMode="auto">
            <a:xfrm>
              <a:off x="3746" y="1872"/>
              <a:ext cx="1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UPC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4" name="Line 50"/>
            <p:cNvSpPr>
              <a:spLocks noChangeShapeType="1"/>
            </p:cNvSpPr>
            <p:nvPr/>
          </p:nvSpPr>
          <p:spPr bwMode="auto">
            <a:xfrm flipH="1">
              <a:off x="3074" y="2445"/>
              <a:ext cx="629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5" name="Rectangle 51"/>
            <p:cNvSpPr>
              <a:spLocks noChangeArrowheads="1"/>
            </p:cNvSpPr>
            <p:nvPr/>
          </p:nvSpPr>
          <p:spPr bwMode="auto">
            <a:xfrm>
              <a:off x="3268" y="2358"/>
              <a:ext cx="24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Stocks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6" name="Rectangle 52"/>
            <p:cNvSpPr>
              <a:spLocks noChangeArrowheads="1"/>
            </p:cNvSpPr>
            <p:nvPr/>
          </p:nvSpPr>
          <p:spPr bwMode="auto">
            <a:xfrm>
              <a:off x="3576" y="2451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7" name="Line 53"/>
            <p:cNvSpPr>
              <a:spLocks noChangeShapeType="1"/>
            </p:cNvSpPr>
            <p:nvPr/>
          </p:nvSpPr>
          <p:spPr bwMode="auto">
            <a:xfrm flipV="1">
              <a:off x="2814" y="2667"/>
              <a:ext cx="1" cy="347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8" name="Rectangle 54"/>
            <p:cNvSpPr>
              <a:spLocks noChangeArrowheads="1"/>
            </p:cNvSpPr>
            <p:nvPr/>
          </p:nvSpPr>
          <p:spPr bwMode="auto">
            <a:xfrm>
              <a:off x="2925" y="2752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Houses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9" name="Rectangle 55"/>
            <p:cNvSpPr>
              <a:spLocks noChangeArrowheads="1"/>
            </p:cNvSpPr>
            <p:nvPr/>
          </p:nvSpPr>
          <p:spPr bwMode="auto">
            <a:xfrm>
              <a:off x="2881" y="2884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0" name="Rectangle 56"/>
            <p:cNvSpPr>
              <a:spLocks noChangeArrowheads="1"/>
            </p:cNvSpPr>
            <p:nvPr/>
          </p:nvSpPr>
          <p:spPr bwMode="auto">
            <a:xfrm>
              <a:off x="2969" y="2868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1" name="Line 57"/>
            <p:cNvSpPr>
              <a:spLocks noChangeShapeType="1"/>
            </p:cNvSpPr>
            <p:nvPr/>
          </p:nvSpPr>
          <p:spPr bwMode="auto">
            <a:xfrm>
              <a:off x="2814" y="1913"/>
              <a:ext cx="1" cy="309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2" name="Rectangle 58"/>
            <p:cNvSpPr>
              <a:spLocks noChangeArrowheads="1"/>
            </p:cNvSpPr>
            <p:nvPr/>
          </p:nvSpPr>
          <p:spPr bwMode="auto">
            <a:xfrm>
              <a:off x="2914" y="2010"/>
              <a:ext cx="300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Used-by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3" name="Rectangle 59"/>
            <p:cNvSpPr>
              <a:spLocks noChangeArrowheads="1"/>
            </p:cNvSpPr>
            <p:nvPr/>
          </p:nvSpPr>
          <p:spPr bwMode="auto">
            <a:xfrm>
              <a:off x="2916" y="2095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4" name="Line 60"/>
            <p:cNvSpPr>
              <a:spLocks noChangeShapeType="1"/>
            </p:cNvSpPr>
            <p:nvPr/>
          </p:nvSpPr>
          <p:spPr bwMode="auto">
            <a:xfrm flipH="1">
              <a:off x="3074" y="1690"/>
              <a:ext cx="626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5" name="Rectangle 61"/>
            <p:cNvSpPr>
              <a:spLocks noChangeArrowheads="1"/>
            </p:cNvSpPr>
            <p:nvPr/>
          </p:nvSpPr>
          <p:spPr bwMode="auto">
            <a:xfrm>
              <a:off x="3231" y="1604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6" name="Rectangle 62"/>
            <p:cNvSpPr>
              <a:spLocks noChangeArrowheads="1"/>
            </p:cNvSpPr>
            <p:nvPr/>
          </p:nvSpPr>
          <p:spPr bwMode="auto">
            <a:xfrm>
              <a:off x="3548" y="1728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7" name="Rectangle 63"/>
            <p:cNvSpPr>
              <a:spLocks noChangeArrowheads="1"/>
            </p:cNvSpPr>
            <p:nvPr/>
          </p:nvSpPr>
          <p:spPr bwMode="auto">
            <a:xfrm>
              <a:off x="3637" y="1712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8" name="Line 64"/>
            <p:cNvSpPr>
              <a:spLocks noChangeShapeType="1"/>
            </p:cNvSpPr>
            <p:nvPr/>
          </p:nvSpPr>
          <p:spPr bwMode="auto">
            <a:xfrm flipV="1">
              <a:off x="4007" y="2006"/>
              <a:ext cx="1" cy="262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9" name="Rectangle 65"/>
            <p:cNvSpPr>
              <a:spLocks noChangeArrowheads="1"/>
            </p:cNvSpPr>
            <p:nvPr/>
          </p:nvSpPr>
          <p:spPr bwMode="auto">
            <a:xfrm>
              <a:off x="4094" y="2050"/>
              <a:ext cx="35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0" name="Rectangle 66"/>
            <p:cNvSpPr>
              <a:spLocks noChangeArrowheads="1"/>
            </p:cNvSpPr>
            <p:nvPr/>
          </p:nvSpPr>
          <p:spPr bwMode="auto">
            <a:xfrm>
              <a:off x="4043" y="214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1" name="Line 67"/>
            <p:cNvSpPr>
              <a:spLocks noChangeShapeType="1"/>
            </p:cNvSpPr>
            <p:nvPr/>
          </p:nvSpPr>
          <p:spPr bwMode="auto">
            <a:xfrm flipH="1">
              <a:off x="1840" y="3419"/>
              <a:ext cx="713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2" name="Rectangle 68"/>
            <p:cNvSpPr>
              <a:spLocks noChangeArrowheads="1"/>
            </p:cNvSpPr>
            <p:nvPr/>
          </p:nvSpPr>
          <p:spPr bwMode="auto">
            <a:xfrm>
              <a:off x="1978" y="3333"/>
              <a:ext cx="44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Captured-on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3" name="Line 69"/>
            <p:cNvSpPr>
              <a:spLocks noChangeShapeType="1"/>
            </p:cNvSpPr>
            <p:nvPr/>
          </p:nvSpPr>
          <p:spPr bwMode="auto">
            <a:xfrm flipV="1">
              <a:off x="1579" y="2579"/>
              <a:ext cx="1" cy="435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4" name="Rectangle 70"/>
            <p:cNvSpPr>
              <a:spLocks noChangeArrowheads="1"/>
            </p:cNvSpPr>
            <p:nvPr/>
          </p:nvSpPr>
          <p:spPr bwMode="auto">
            <a:xfrm>
              <a:off x="1099" y="2756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Contained-in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5" name="Rectangle 71"/>
            <p:cNvSpPr>
              <a:spLocks noChangeArrowheads="1"/>
            </p:cNvSpPr>
            <p:nvPr/>
          </p:nvSpPr>
          <p:spPr bwMode="auto">
            <a:xfrm>
              <a:off x="1646" y="2620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6" name="Rectangle 72"/>
            <p:cNvSpPr>
              <a:spLocks noChangeArrowheads="1"/>
            </p:cNvSpPr>
            <p:nvPr/>
          </p:nvSpPr>
          <p:spPr bwMode="auto">
            <a:xfrm>
              <a:off x="1735" y="2604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7" name="Freeform 73"/>
            <p:cNvSpPr>
              <a:spLocks/>
            </p:cNvSpPr>
            <p:nvPr/>
          </p:nvSpPr>
          <p:spPr bwMode="auto">
            <a:xfrm>
              <a:off x="1686" y="1293"/>
              <a:ext cx="2321" cy="841"/>
            </a:xfrm>
            <a:custGeom>
              <a:avLst/>
              <a:gdLst/>
              <a:ahLst/>
              <a:cxnLst>
                <a:cxn ang="0">
                  <a:pos x="2321" y="83"/>
                </a:cxn>
                <a:cxn ang="0">
                  <a:pos x="2321" y="0"/>
                </a:cxn>
                <a:cxn ang="0">
                  <a:pos x="0" y="0"/>
                </a:cxn>
                <a:cxn ang="0">
                  <a:pos x="0" y="841"/>
                </a:cxn>
              </a:cxnLst>
              <a:rect l="0" t="0" r="r" b="b"/>
              <a:pathLst>
                <a:path w="2321" h="841">
                  <a:moveTo>
                    <a:pt x="2321" y="83"/>
                  </a:moveTo>
                  <a:lnTo>
                    <a:pt x="2321" y="0"/>
                  </a:lnTo>
                  <a:lnTo>
                    <a:pt x="0" y="0"/>
                  </a:lnTo>
                  <a:lnTo>
                    <a:pt x="0" y="841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8" name="Rectangle 74"/>
            <p:cNvSpPr>
              <a:spLocks noChangeArrowheads="1"/>
            </p:cNvSpPr>
            <p:nvPr/>
          </p:nvSpPr>
          <p:spPr bwMode="auto">
            <a:xfrm>
              <a:off x="2615" y="1205"/>
              <a:ext cx="4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9" name="Rectangle 75"/>
            <p:cNvSpPr>
              <a:spLocks noChangeArrowheads="1"/>
            </p:cNvSpPr>
            <p:nvPr/>
          </p:nvSpPr>
          <p:spPr bwMode="auto">
            <a:xfrm>
              <a:off x="1735" y="2008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0" name="Freeform 76"/>
            <p:cNvSpPr>
              <a:spLocks/>
            </p:cNvSpPr>
            <p:nvPr/>
          </p:nvSpPr>
          <p:spPr bwMode="auto">
            <a:xfrm>
              <a:off x="1473" y="1071"/>
              <a:ext cx="3016" cy="1374"/>
            </a:xfrm>
            <a:custGeom>
              <a:avLst/>
              <a:gdLst/>
              <a:ahLst/>
              <a:cxnLst>
                <a:cxn ang="0">
                  <a:pos x="0" y="1063"/>
                </a:cxn>
                <a:cxn ang="0">
                  <a:pos x="0" y="0"/>
                </a:cxn>
                <a:cxn ang="0">
                  <a:pos x="3016" y="0"/>
                </a:cxn>
                <a:cxn ang="0">
                  <a:pos x="3016" y="1374"/>
                </a:cxn>
                <a:cxn ang="0">
                  <a:pos x="2839" y="1374"/>
                </a:cxn>
              </a:cxnLst>
              <a:rect l="0" t="0" r="r" b="b"/>
              <a:pathLst>
                <a:path w="3016" h="1374">
                  <a:moveTo>
                    <a:pt x="0" y="1063"/>
                  </a:moveTo>
                  <a:lnTo>
                    <a:pt x="0" y="0"/>
                  </a:lnTo>
                  <a:lnTo>
                    <a:pt x="3016" y="0"/>
                  </a:lnTo>
                  <a:lnTo>
                    <a:pt x="3016" y="1374"/>
                  </a:lnTo>
                  <a:lnTo>
                    <a:pt x="2839" y="137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1" name="Rectangle 77"/>
            <p:cNvSpPr>
              <a:spLocks noChangeArrowheads="1"/>
            </p:cNvSpPr>
            <p:nvPr/>
          </p:nvSpPr>
          <p:spPr bwMode="auto">
            <a:xfrm>
              <a:off x="2702" y="984"/>
              <a:ext cx="5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Records-sale-of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2" name="Rectangle 78"/>
            <p:cNvSpPr>
              <a:spLocks noChangeArrowheads="1"/>
            </p:cNvSpPr>
            <p:nvPr/>
          </p:nvSpPr>
          <p:spPr bwMode="auto">
            <a:xfrm>
              <a:off x="1330" y="1998"/>
              <a:ext cx="13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0..1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3" name="Line 79"/>
            <p:cNvSpPr>
              <a:spLocks noChangeShapeType="1"/>
            </p:cNvSpPr>
            <p:nvPr/>
          </p:nvSpPr>
          <p:spPr bwMode="auto">
            <a:xfrm flipH="1">
              <a:off x="3074" y="3284"/>
              <a:ext cx="632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4" name="Rectangle 80"/>
            <p:cNvSpPr>
              <a:spLocks noChangeArrowheads="1"/>
            </p:cNvSpPr>
            <p:nvPr/>
          </p:nvSpPr>
          <p:spPr bwMode="auto">
            <a:xfrm>
              <a:off x="3208" y="3197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Started-by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5" name="Freeform 81"/>
            <p:cNvSpPr>
              <a:spLocks/>
            </p:cNvSpPr>
            <p:nvPr/>
          </p:nvSpPr>
          <p:spPr bwMode="auto">
            <a:xfrm>
              <a:off x="1137" y="3554"/>
              <a:ext cx="336" cy="354"/>
            </a:xfrm>
            <a:custGeom>
              <a:avLst/>
              <a:gdLst/>
              <a:ahLst/>
              <a:cxnLst>
                <a:cxn ang="0">
                  <a:pos x="0" y="354"/>
                </a:cxn>
                <a:cxn ang="0">
                  <a:pos x="0" y="177"/>
                </a:cxn>
                <a:cxn ang="0">
                  <a:pos x="336" y="177"/>
                </a:cxn>
                <a:cxn ang="0">
                  <a:pos x="336" y="0"/>
                </a:cxn>
              </a:cxnLst>
              <a:rect l="0" t="0" r="r" b="b"/>
              <a:pathLst>
                <a:path w="336" h="354">
                  <a:moveTo>
                    <a:pt x="0" y="354"/>
                  </a:moveTo>
                  <a:lnTo>
                    <a:pt x="0" y="177"/>
                  </a:lnTo>
                  <a:lnTo>
                    <a:pt x="336" y="177"/>
                  </a:lnTo>
                  <a:lnTo>
                    <a:pt x="336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6" name="Rectangle 82"/>
            <p:cNvSpPr>
              <a:spLocks noChangeArrowheads="1"/>
            </p:cNvSpPr>
            <p:nvPr/>
          </p:nvSpPr>
          <p:spPr bwMode="auto">
            <a:xfrm>
              <a:off x="1106" y="3646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Paid-by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7" name="Freeform 83"/>
            <p:cNvSpPr>
              <a:spLocks/>
            </p:cNvSpPr>
            <p:nvPr/>
          </p:nvSpPr>
          <p:spPr bwMode="auto">
            <a:xfrm>
              <a:off x="1686" y="3554"/>
              <a:ext cx="348" cy="354"/>
            </a:xfrm>
            <a:custGeom>
              <a:avLst/>
              <a:gdLst/>
              <a:ahLst/>
              <a:cxnLst>
                <a:cxn ang="0">
                  <a:pos x="348" y="354"/>
                </a:cxn>
                <a:cxn ang="0">
                  <a:pos x="348" y="177"/>
                </a:cxn>
                <a:cxn ang="0">
                  <a:pos x="0" y="177"/>
                </a:cxn>
                <a:cxn ang="0">
                  <a:pos x="0" y="0"/>
                </a:cxn>
              </a:cxnLst>
              <a:rect l="0" t="0" r="r" b="b"/>
              <a:pathLst>
                <a:path w="348" h="354">
                  <a:moveTo>
                    <a:pt x="348" y="354"/>
                  </a:moveTo>
                  <a:lnTo>
                    <a:pt x="348" y="177"/>
                  </a:lnTo>
                  <a:lnTo>
                    <a:pt x="0" y="177"/>
                  </a:lnTo>
                  <a:lnTo>
                    <a:pt x="0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8" name="Rectangle 84"/>
            <p:cNvSpPr>
              <a:spLocks noChangeArrowheads="1"/>
            </p:cNvSpPr>
            <p:nvPr/>
          </p:nvSpPr>
          <p:spPr bwMode="auto">
            <a:xfrm>
              <a:off x="1794" y="3629"/>
              <a:ext cx="39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Initiated-by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9" name="Freeform 85"/>
            <p:cNvSpPr>
              <a:spLocks/>
            </p:cNvSpPr>
            <p:nvPr/>
          </p:nvSpPr>
          <p:spPr bwMode="auto">
            <a:xfrm>
              <a:off x="1840" y="2556"/>
              <a:ext cx="713" cy="594"/>
            </a:xfrm>
            <a:custGeom>
              <a:avLst/>
              <a:gdLst/>
              <a:ahLst/>
              <a:cxnLst>
                <a:cxn ang="0">
                  <a:pos x="0" y="594"/>
                </a:cxn>
                <a:cxn ang="0">
                  <a:pos x="357" y="594"/>
                </a:cxn>
                <a:cxn ang="0">
                  <a:pos x="357" y="0"/>
                </a:cxn>
                <a:cxn ang="0">
                  <a:pos x="713" y="0"/>
                </a:cxn>
              </a:cxnLst>
              <a:rect l="0" t="0" r="r" b="b"/>
              <a:pathLst>
                <a:path w="713" h="594">
                  <a:moveTo>
                    <a:pt x="0" y="594"/>
                  </a:moveTo>
                  <a:lnTo>
                    <a:pt x="357" y="594"/>
                  </a:lnTo>
                  <a:lnTo>
                    <a:pt x="357" y="0"/>
                  </a:lnTo>
                  <a:lnTo>
                    <a:pt x="713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0" name="Rectangle 86"/>
            <p:cNvSpPr>
              <a:spLocks noChangeArrowheads="1"/>
            </p:cNvSpPr>
            <p:nvPr/>
          </p:nvSpPr>
          <p:spPr bwMode="auto">
            <a:xfrm>
              <a:off x="2328" y="2706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Logs-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1" name="Rectangle 87"/>
            <p:cNvSpPr>
              <a:spLocks noChangeArrowheads="1"/>
            </p:cNvSpPr>
            <p:nvPr/>
          </p:nvSpPr>
          <p:spPr bwMode="auto">
            <a:xfrm>
              <a:off x="2244" y="2801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completed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3" name="Rectangle 89"/>
            <p:cNvSpPr>
              <a:spLocks noChangeArrowheads="1"/>
            </p:cNvSpPr>
            <p:nvPr/>
          </p:nvSpPr>
          <p:spPr bwMode="auto">
            <a:xfrm>
              <a:off x="1868" y="300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4" name="Freeform 90"/>
            <p:cNvSpPr>
              <a:spLocks/>
            </p:cNvSpPr>
            <p:nvPr/>
          </p:nvSpPr>
          <p:spPr bwMode="auto">
            <a:xfrm>
              <a:off x="2814" y="3554"/>
              <a:ext cx="808" cy="35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77"/>
                </a:cxn>
                <a:cxn ang="0">
                  <a:pos x="808" y="177"/>
                </a:cxn>
                <a:cxn ang="0">
                  <a:pos x="808" y="354"/>
                </a:cxn>
              </a:cxnLst>
              <a:rect l="0" t="0" r="r" b="b"/>
              <a:pathLst>
                <a:path w="808" h="354">
                  <a:moveTo>
                    <a:pt x="0" y="0"/>
                  </a:moveTo>
                  <a:lnTo>
                    <a:pt x="0" y="177"/>
                  </a:lnTo>
                  <a:lnTo>
                    <a:pt x="808" y="177"/>
                  </a:lnTo>
                  <a:lnTo>
                    <a:pt x="808" y="35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5" name="Rectangle 91"/>
            <p:cNvSpPr>
              <a:spLocks noChangeArrowheads="1"/>
            </p:cNvSpPr>
            <p:nvPr/>
          </p:nvSpPr>
          <p:spPr bwMode="auto">
            <a:xfrm>
              <a:off x="2876" y="364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3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6" name="Rectangle 92"/>
            <p:cNvSpPr>
              <a:spLocks noChangeArrowheads="1"/>
            </p:cNvSpPr>
            <p:nvPr/>
          </p:nvSpPr>
          <p:spPr bwMode="auto">
            <a:xfrm>
              <a:off x="2920" y="3645"/>
              <a:ext cx="65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 Records-sales-on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7" name="Rectangle 93"/>
            <p:cNvSpPr>
              <a:spLocks noChangeArrowheads="1"/>
            </p:cNvSpPr>
            <p:nvPr/>
          </p:nvSpPr>
          <p:spPr bwMode="auto">
            <a:xfrm>
              <a:off x="3114" y="169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8" name="Rectangle 94"/>
            <p:cNvSpPr>
              <a:spLocks noChangeArrowheads="1"/>
            </p:cNvSpPr>
            <p:nvPr/>
          </p:nvSpPr>
          <p:spPr bwMode="auto">
            <a:xfrm>
              <a:off x="2449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9" name="Rectangle 95"/>
            <p:cNvSpPr>
              <a:spLocks noChangeArrowheads="1"/>
            </p:cNvSpPr>
            <p:nvPr/>
          </p:nvSpPr>
          <p:spPr bwMode="auto">
            <a:xfrm>
              <a:off x="2845" y="270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0" name="Rectangle 96"/>
            <p:cNvSpPr>
              <a:spLocks noChangeArrowheads="1"/>
            </p:cNvSpPr>
            <p:nvPr/>
          </p:nvSpPr>
          <p:spPr bwMode="auto">
            <a:xfrm>
              <a:off x="3114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1" name="Rectangle 97"/>
            <p:cNvSpPr>
              <a:spLocks noChangeArrowheads="1"/>
            </p:cNvSpPr>
            <p:nvPr/>
          </p:nvSpPr>
          <p:spPr bwMode="auto">
            <a:xfrm>
              <a:off x="4049" y="124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2" name="Rectangle 98"/>
            <p:cNvSpPr>
              <a:spLocks noChangeArrowheads="1"/>
            </p:cNvSpPr>
            <p:nvPr/>
          </p:nvSpPr>
          <p:spPr bwMode="auto">
            <a:xfrm>
              <a:off x="4355" y="244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3" name="Rectangle 99"/>
            <p:cNvSpPr>
              <a:spLocks noChangeArrowheads="1"/>
            </p:cNvSpPr>
            <p:nvPr/>
          </p:nvSpPr>
          <p:spPr bwMode="auto">
            <a:xfrm>
              <a:off x="3601" y="328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4" name="Rectangle 100"/>
            <p:cNvSpPr>
              <a:spLocks noChangeArrowheads="1"/>
            </p:cNvSpPr>
            <p:nvPr/>
          </p:nvSpPr>
          <p:spPr bwMode="auto">
            <a:xfrm>
              <a:off x="3114" y="3304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5" name="Rectangle 101"/>
            <p:cNvSpPr>
              <a:spLocks noChangeArrowheads="1"/>
            </p:cNvSpPr>
            <p:nvPr/>
          </p:nvSpPr>
          <p:spPr bwMode="auto">
            <a:xfrm>
              <a:off x="3654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6" name="Rectangle 102"/>
            <p:cNvSpPr>
              <a:spLocks noChangeArrowheads="1"/>
            </p:cNvSpPr>
            <p:nvPr/>
          </p:nvSpPr>
          <p:spPr bwMode="auto">
            <a:xfrm>
              <a:off x="2739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7" name="Rectangle 103"/>
            <p:cNvSpPr>
              <a:spLocks noChangeArrowheads="1"/>
            </p:cNvSpPr>
            <p:nvPr/>
          </p:nvSpPr>
          <p:spPr bwMode="auto">
            <a:xfrm>
              <a:off x="2066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8" name="Rectangle 104"/>
            <p:cNvSpPr>
              <a:spLocks noChangeArrowheads="1"/>
            </p:cNvSpPr>
            <p:nvPr/>
          </p:nvSpPr>
          <p:spPr bwMode="auto">
            <a:xfrm>
              <a:off x="1741" y="355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9" name="Rectangle 105"/>
            <p:cNvSpPr>
              <a:spLocks noChangeArrowheads="1"/>
            </p:cNvSpPr>
            <p:nvPr/>
          </p:nvSpPr>
          <p:spPr bwMode="auto">
            <a:xfrm>
              <a:off x="1061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0" name="Rectangle 106"/>
            <p:cNvSpPr>
              <a:spLocks noChangeArrowheads="1"/>
            </p:cNvSpPr>
            <p:nvPr/>
          </p:nvSpPr>
          <p:spPr bwMode="auto">
            <a:xfrm>
              <a:off x="1503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1" name="Rectangle 107"/>
            <p:cNvSpPr>
              <a:spLocks noChangeArrowheads="1"/>
            </p:cNvSpPr>
            <p:nvPr/>
          </p:nvSpPr>
          <p:spPr bwMode="auto">
            <a:xfrm>
              <a:off x="1611" y="288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2" name="Rectangle 108"/>
            <p:cNvSpPr>
              <a:spLocks noChangeArrowheads="1"/>
            </p:cNvSpPr>
            <p:nvPr/>
          </p:nvSpPr>
          <p:spPr bwMode="auto">
            <a:xfrm>
              <a:off x="1873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3" name="Rectangle 109"/>
            <p:cNvSpPr>
              <a:spLocks noChangeArrowheads="1"/>
            </p:cNvSpPr>
            <p:nvPr/>
          </p:nvSpPr>
          <p:spPr bwMode="auto">
            <a:xfrm>
              <a:off x="2449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4" name="Rectangle 110"/>
            <p:cNvSpPr>
              <a:spLocks noChangeArrowheads="1"/>
            </p:cNvSpPr>
            <p:nvPr/>
          </p:nvSpPr>
          <p:spPr bwMode="auto">
            <a:xfrm>
              <a:off x="2739" y="191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9466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Number Placeholder 3">
            <a:extLst>
              <a:ext uri="{FF2B5EF4-FFF2-40B4-BE49-F238E27FC236}">
                <a16:creationId xmlns:a16="http://schemas.microsoft.com/office/drawing/2014/main" id="{478DCEA1-8D81-2A8C-2F6C-07447452B1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6AE0216F-BA1E-4A45-8E9D-B4D25FCE8E65}" type="slidenum">
              <a:rPr lang="de-DE" altLang="en-US" sz="1000" smtClean="0"/>
              <a:pPr/>
              <a:t>23</a:t>
            </a:fld>
            <a:endParaRPr lang="de-DE" altLang="en-US" sz="1000"/>
          </a:p>
        </p:txBody>
      </p:sp>
      <p:sp>
        <p:nvSpPr>
          <p:cNvPr id="14339" name="Rectangle 2">
            <a:extLst>
              <a:ext uri="{FF2B5EF4-FFF2-40B4-BE49-F238E27FC236}">
                <a16:creationId xmlns:a16="http://schemas.microsoft.com/office/drawing/2014/main" id="{A14BA18C-DFA9-AA1E-9F65-960C29EED2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Expert – example…</a:t>
            </a: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0414C0A9-AF55-9768-E1D4-53168E5427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altLang="en-US" dirty="0"/>
              <a:t>In a point-of-sale terminal application, some class needs to know the grand total of a sale.</a:t>
            </a:r>
          </a:p>
          <a:p>
            <a:pPr marL="342900" indent="-342900"/>
            <a:r>
              <a:rPr lang="en-US" altLang="en-US" dirty="0"/>
              <a:t>By </a:t>
            </a:r>
            <a:r>
              <a:rPr lang="en-US" altLang="en-US" u="sng" dirty="0">
                <a:solidFill>
                  <a:srgbClr val="FF0000"/>
                </a:solidFill>
              </a:rPr>
              <a:t>Expert</a:t>
            </a:r>
            <a:r>
              <a:rPr lang="en-US" altLang="en-US" dirty="0"/>
              <a:t>, the class that has the information needed to determine total should have that responsibility.</a:t>
            </a:r>
          </a:p>
        </p:txBody>
      </p:sp>
      <p:pic>
        <p:nvPicPr>
          <p:cNvPr id="14341" name="Picture 4">
            <a:extLst>
              <a:ext uri="{FF2B5EF4-FFF2-40B4-BE49-F238E27FC236}">
                <a16:creationId xmlns:a16="http://schemas.microsoft.com/office/drawing/2014/main" id="{F4070EC4-DB32-F3B0-DB7E-0FFF24006C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401" y="3733800"/>
            <a:ext cx="3190875" cy="2343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  <p:sp>
        <p:nvSpPr>
          <p:cNvPr id="14342" name="TextBox 5">
            <a:extLst>
              <a:ext uri="{FF2B5EF4-FFF2-40B4-BE49-F238E27FC236}">
                <a16:creationId xmlns:a16="http://schemas.microsoft.com/office/drawing/2014/main" id="{6A5B683C-8073-5FD0-FB90-061F41883E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2375" y="5121276"/>
            <a:ext cx="24237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r>
              <a:rPr lang="en-US" altLang="en-US" sz="1000">
                <a:solidFill>
                  <a:srgbClr val="08080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Number Placeholder 3">
            <a:extLst>
              <a:ext uri="{FF2B5EF4-FFF2-40B4-BE49-F238E27FC236}">
                <a16:creationId xmlns:a16="http://schemas.microsoft.com/office/drawing/2014/main" id="{95C609D9-56A8-860B-3221-910941DA0C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CD403FA8-0814-462B-9830-EA67C99E27C6}" type="slidenum">
              <a:rPr lang="de-DE" altLang="en-US" sz="1000"/>
              <a:pPr/>
              <a:t>24</a:t>
            </a:fld>
            <a:endParaRPr lang="de-DE" altLang="en-US" sz="1000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47F36878-38A2-66EC-5676-A382542CA35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…Expert – example…</a:t>
            </a:r>
          </a:p>
        </p:txBody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32D56D33-AAC8-0291-EFD7-3A3CFABDAEB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altLang="en-US"/>
              <a:t>What info is needed?</a:t>
            </a:r>
          </a:p>
          <a:p>
            <a:pPr marL="742950" lvl="1" indent="-285750"/>
            <a:r>
              <a:rPr lang="en-US" altLang="en-US" sz="2800"/>
              <a:t>Needs to know about all </a:t>
            </a:r>
            <a:r>
              <a:rPr lang="en-US" altLang="en-US" sz="2800" i="1"/>
              <a:t>SaleLineItem</a:t>
            </a:r>
            <a:r>
              <a:rPr lang="en-US" altLang="en-US" sz="2800"/>
              <a:t> instances and the sum of their subtotals.</a:t>
            </a:r>
          </a:p>
          <a:p>
            <a:pPr marL="742950" lvl="1" indent="-285750"/>
            <a:r>
              <a:rPr lang="en-US" altLang="en-US" sz="2800"/>
              <a:t>Only </a:t>
            </a:r>
            <a:r>
              <a:rPr lang="en-US" altLang="en-US" sz="2800" i="1"/>
              <a:t>Sale</a:t>
            </a:r>
            <a:r>
              <a:rPr lang="en-US" altLang="en-US" sz="2800"/>
              <a:t> knows this, so has responsibility.</a:t>
            </a:r>
          </a:p>
        </p:txBody>
      </p:sp>
      <p:pic>
        <p:nvPicPr>
          <p:cNvPr id="15365" name="Picture 4">
            <a:extLst>
              <a:ext uri="{FF2B5EF4-FFF2-40B4-BE49-F238E27FC236}">
                <a16:creationId xmlns:a16="http://schemas.microsoft.com/office/drawing/2014/main" id="{59772E86-AAE3-B592-25DA-2E0EC83EAA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6601" y="4114801"/>
            <a:ext cx="5356225" cy="10652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Number Placeholder 3">
            <a:extLst>
              <a:ext uri="{FF2B5EF4-FFF2-40B4-BE49-F238E27FC236}">
                <a16:creationId xmlns:a16="http://schemas.microsoft.com/office/drawing/2014/main" id="{4BDBB44B-2806-535B-50FF-544290A211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1E4FA40F-6AA1-4187-8275-7AC78DEC4D2B}" type="slidenum">
              <a:rPr lang="de-DE" altLang="en-US" sz="1000"/>
              <a:pPr/>
              <a:t>25</a:t>
            </a:fld>
            <a:endParaRPr lang="de-DE" altLang="en-US" sz="1000"/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AFA642B2-DFA9-5BA9-A346-93731F59FC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…Expert – example…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ABC1A99A-D8FE-18A4-C562-831FCB7035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3822" y="1905000"/>
            <a:ext cx="11401778" cy="4114800"/>
          </a:xfrm>
        </p:spPr>
        <p:txBody>
          <a:bodyPr/>
          <a:lstStyle/>
          <a:p>
            <a:pPr marL="342900" indent="-342900"/>
            <a:r>
              <a:rPr lang="en-US" altLang="en-US" dirty="0"/>
              <a:t>But what is responsible for subtotal?</a:t>
            </a:r>
          </a:p>
          <a:p>
            <a:pPr marL="342900" indent="-342900"/>
            <a:r>
              <a:rPr lang="en-US" altLang="en-US" dirty="0"/>
              <a:t>Need </a:t>
            </a:r>
            <a:r>
              <a:rPr lang="en-US" altLang="en-US" i="1" dirty="0" err="1"/>
              <a:t>SalesLineItem.quantity</a:t>
            </a:r>
            <a:r>
              <a:rPr lang="en-US" altLang="en-US" dirty="0"/>
              <a:t> and </a:t>
            </a:r>
            <a:r>
              <a:rPr lang="en-US" altLang="en-US" i="1" dirty="0" err="1"/>
              <a:t>ProductSpecification.price</a:t>
            </a:r>
            <a:r>
              <a:rPr lang="en-US" altLang="en-US" i="1" dirty="0"/>
              <a:t>, </a:t>
            </a:r>
            <a:r>
              <a:rPr lang="en-US" altLang="en-US" dirty="0"/>
              <a:t>so </a:t>
            </a:r>
            <a:r>
              <a:rPr lang="en-US" altLang="en-US" i="1" dirty="0" err="1"/>
              <a:t>SalesLineItem</a:t>
            </a:r>
            <a:r>
              <a:rPr lang="en-US" altLang="en-US" dirty="0"/>
              <a:t> is responsible.</a:t>
            </a:r>
          </a:p>
        </p:txBody>
      </p:sp>
      <p:grpSp>
        <p:nvGrpSpPr>
          <p:cNvPr id="16389" name="Group 7">
            <a:extLst>
              <a:ext uri="{FF2B5EF4-FFF2-40B4-BE49-F238E27FC236}">
                <a16:creationId xmlns:a16="http://schemas.microsoft.com/office/drawing/2014/main" id="{247EE9B9-5AF9-20D8-B093-6C2B8AAA5D50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457575" y="3351213"/>
            <a:ext cx="5437188" cy="2603500"/>
            <a:chOff x="1261" y="1967"/>
            <a:chExt cx="3425" cy="1640"/>
          </a:xfrm>
        </p:grpSpPr>
        <p:sp>
          <p:nvSpPr>
            <p:cNvPr id="16390" name="AutoShape 6">
              <a:extLst>
                <a:ext uri="{FF2B5EF4-FFF2-40B4-BE49-F238E27FC236}">
                  <a16:creationId xmlns:a16="http://schemas.microsoft.com/office/drawing/2014/main" id="{F33670D9-E55D-AFC4-027C-BC794AF2E7A7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1289" y="1967"/>
              <a:ext cx="3397" cy="13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1" name="Rectangle 8">
              <a:extLst>
                <a:ext uri="{FF2B5EF4-FFF2-40B4-BE49-F238E27FC236}">
                  <a16:creationId xmlns:a16="http://schemas.microsoft.com/office/drawing/2014/main" id="{7F00D9E4-5D7E-8BDF-C3A3-A29E47241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9" y="2256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392" name="Rectangle 9">
              <a:extLst>
                <a:ext uri="{FF2B5EF4-FFF2-40B4-BE49-F238E27FC236}">
                  <a16:creationId xmlns:a16="http://schemas.microsoft.com/office/drawing/2014/main" id="{42E6348B-C3AC-C702-9B05-286B49DB19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2286"/>
              <a:ext cx="16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Sale</a:t>
              </a:r>
              <a:endParaRPr lang="en-US" altLang="en-US"/>
            </a:p>
          </p:txBody>
        </p:sp>
        <p:sp>
          <p:nvSpPr>
            <p:cNvPr id="16393" name="Rectangle 10">
              <a:extLst>
                <a:ext uri="{FF2B5EF4-FFF2-40B4-BE49-F238E27FC236}">
                  <a16:creationId xmlns:a16="http://schemas.microsoft.com/office/drawing/2014/main" id="{80022044-D7F2-121D-C5FF-987034C24C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9" y="2435"/>
              <a:ext cx="657" cy="26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394" name="Rectangle 11">
              <a:extLst>
                <a:ext uri="{FF2B5EF4-FFF2-40B4-BE49-F238E27FC236}">
                  <a16:creationId xmlns:a16="http://schemas.microsoft.com/office/drawing/2014/main" id="{14B1DFF9-CDA7-586C-8AE3-498F5D4A7D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3" y="2465"/>
              <a:ext cx="156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date</a:t>
              </a:r>
              <a:endParaRPr lang="en-US" altLang="en-US"/>
            </a:p>
          </p:txBody>
        </p:sp>
        <p:sp>
          <p:nvSpPr>
            <p:cNvPr id="16395" name="Rectangle 12">
              <a:extLst>
                <a:ext uri="{FF2B5EF4-FFF2-40B4-BE49-F238E27FC236}">
                  <a16:creationId xmlns:a16="http://schemas.microsoft.com/office/drawing/2014/main" id="{3B7FB3BC-C7AB-2C72-D925-B3D5883E57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3" y="2555"/>
              <a:ext cx="152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time</a:t>
              </a:r>
              <a:endParaRPr lang="en-US" altLang="en-US"/>
            </a:p>
          </p:txBody>
        </p:sp>
        <p:sp>
          <p:nvSpPr>
            <p:cNvPr id="16396" name="Rectangle 13">
              <a:extLst>
                <a:ext uri="{FF2B5EF4-FFF2-40B4-BE49-F238E27FC236}">
                  <a16:creationId xmlns:a16="http://schemas.microsoft.com/office/drawing/2014/main" id="{7B0C0D4D-BD21-0C35-837B-E0F3ED0D39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9" y="2704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397" name="Rectangle 14">
              <a:extLst>
                <a:ext uri="{FF2B5EF4-FFF2-40B4-BE49-F238E27FC236}">
                  <a16:creationId xmlns:a16="http://schemas.microsoft.com/office/drawing/2014/main" id="{44921FE5-5974-C70D-DEFA-305C38FFB5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3" y="2734"/>
              <a:ext cx="206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total()</a:t>
              </a:r>
              <a:endParaRPr lang="en-US" altLang="en-US"/>
            </a:p>
          </p:txBody>
        </p:sp>
        <p:sp>
          <p:nvSpPr>
            <p:cNvPr id="16398" name="Rectangle 15">
              <a:extLst>
                <a:ext uri="{FF2B5EF4-FFF2-40B4-BE49-F238E27FC236}">
                  <a16:creationId xmlns:a16="http://schemas.microsoft.com/office/drawing/2014/main" id="{96A45E49-4D0C-54CA-DEF3-AB72C37E5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27" y="2256"/>
              <a:ext cx="717" cy="224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399" name="Line 16">
              <a:extLst>
                <a:ext uri="{FF2B5EF4-FFF2-40B4-BE49-F238E27FC236}">
                  <a16:creationId xmlns:a16="http://schemas.microsoft.com/office/drawing/2014/main" id="{7C7A3477-E6E4-1976-2CD1-148AE03367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6" y="2398"/>
              <a:ext cx="179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00" name="Rectangle 17">
              <a:extLst>
                <a:ext uri="{FF2B5EF4-FFF2-40B4-BE49-F238E27FC236}">
                  <a16:creationId xmlns:a16="http://schemas.microsoft.com/office/drawing/2014/main" id="{4B872DA6-FD59-60DD-874B-01E6D619EF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96" y="2281"/>
              <a:ext cx="246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:Sale</a:t>
              </a:r>
              <a:endParaRPr lang="en-US" altLang="en-US" dirty="0"/>
            </a:p>
          </p:txBody>
        </p:sp>
        <p:sp>
          <p:nvSpPr>
            <p:cNvPr id="16401" name="Line 18">
              <a:extLst>
                <a:ext uri="{FF2B5EF4-FFF2-40B4-BE49-F238E27FC236}">
                  <a16:creationId xmlns:a16="http://schemas.microsoft.com/office/drawing/2014/main" id="{59598BB3-C5CE-EC19-65A6-E42C6B94FA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1" y="2368"/>
              <a:ext cx="866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02" name="Rectangle 19">
              <a:extLst>
                <a:ext uri="{FF2B5EF4-FFF2-40B4-BE49-F238E27FC236}">
                  <a16:creationId xmlns:a16="http://schemas.microsoft.com/office/drawing/2014/main" id="{2A6505C0-2C1D-E326-9A76-C1BAB405AD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9" y="2110"/>
              <a:ext cx="41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t := total()</a:t>
              </a:r>
              <a:endParaRPr lang="en-US" altLang="en-US" dirty="0"/>
            </a:p>
          </p:txBody>
        </p:sp>
        <p:sp>
          <p:nvSpPr>
            <p:cNvPr id="16403" name="Rectangle 20">
              <a:extLst>
                <a:ext uri="{FF2B5EF4-FFF2-40B4-BE49-F238E27FC236}">
                  <a16:creationId xmlns:a16="http://schemas.microsoft.com/office/drawing/2014/main" id="{3762DBDA-F167-5453-18EB-7CE39CF6FE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54" y="2769"/>
              <a:ext cx="716" cy="223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04" name="Line 21">
              <a:extLst>
                <a:ext uri="{FF2B5EF4-FFF2-40B4-BE49-F238E27FC236}">
                  <a16:creationId xmlns:a16="http://schemas.microsoft.com/office/drawing/2014/main" id="{2B842106-43C6-808D-3774-23D89F9AC9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80" y="3047"/>
              <a:ext cx="492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05" name="Rectangle 22">
              <a:extLst>
                <a:ext uri="{FF2B5EF4-FFF2-40B4-BE49-F238E27FC236}">
                  <a16:creationId xmlns:a16="http://schemas.microsoft.com/office/drawing/2014/main" id="{CB68B00C-9253-0C7E-8056-A9881AB3FF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80" y="2958"/>
              <a:ext cx="0" cy="1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06" name="Rectangle 26">
              <a:extLst>
                <a:ext uri="{FF2B5EF4-FFF2-40B4-BE49-F238E27FC236}">
                  <a16:creationId xmlns:a16="http://schemas.microsoft.com/office/drawing/2014/main" id="{778F1F73-AF67-F7AA-E80A-E1C58A91CC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9" y="3062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07" name="Rectangle 27">
              <a:extLst>
                <a:ext uri="{FF2B5EF4-FFF2-40B4-BE49-F238E27FC236}">
                  <a16:creationId xmlns:a16="http://schemas.microsoft.com/office/drawing/2014/main" id="{33C6FE32-7589-79D9-4D73-846389D01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1" y="3092"/>
              <a:ext cx="50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SalesLineItem</a:t>
              </a:r>
              <a:endParaRPr lang="en-US" altLang="en-US"/>
            </a:p>
          </p:txBody>
        </p:sp>
        <p:sp>
          <p:nvSpPr>
            <p:cNvPr id="16408" name="Rectangle 28">
              <a:extLst>
                <a:ext uri="{FF2B5EF4-FFF2-40B4-BE49-F238E27FC236}">
                  <a16:creationId xmlns:a16="http://schemas.microsoft.com/office/drawing/2014/main" id="{59EEC7D0-C8F0-9484-A86C-2A927E650F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9" y="3241"/>
              <a:ext cx="657" cy="180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09" name="Rectangle 29">
              <a:extLst>
                <a:ext uri="{FF2B5EF4-FFF2-40B4-BE49-F238E27FC236}">
                  <a16:creationId xmlns:a16="http://schemas.microsoft.com/office/drawing/2014/main" id="{A641BDC9-96A8-A452-5728-1B37A56F47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3" y="3271"/>
              <a:ext cx="28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quantity</a:t>
              </a:r>
              <a:endParaRPr lang="en-US" altLang="en-US"/>
            </a:p>
          </p:txBody>
        </p:sp>
        <p:sp>
          <p:nvSpPr>
            <p:cNvPr id="16410" name="Rectangle 30">
              <a:extLst>
                <a:ext uri="{FF2B5EF4-FFF2-40B4-BE49-F238E27FC236}">
                  <a16:creationId xmlns:a16="http://schemas.microsoft.com/office/drawing/2014/main" id="{123AF2A8-F1F2-B0D0-E04B-DDFEE83ECE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9" y="3421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11" name="Rectangle 31">
              <a:extLst>
                <a:ext uri="{FF2B5EF4-FFF2-40B4-BE49-F238E27FC236}">
                  <a16:creationId xmlns:a16="http://schemas.microsoft.com/office/drawing/2014/main" id="{86E0E1FF-DE9D-3F32-DB1C-7B3855753F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3" y="3450"/>
              <a:ext cx="33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subtotal()</a:t>
              </a:r>
              <a:endParaRPr lang="en-US" altLang="en-US"/>
            </a:p>
          </p:txBody>
        </p:sp>
        <p:sp>
          <p:nvSpPr>
            <p:cNvPr id="16412" name="Line 34">
              <a:extLst>
                <a:ext uri="{FF2B5EF4-FFF2-40B4-BE49-F238E27FC236}">
                  <a16:creationId xmlns:a16="http://schemas.microsoft.com/office/drawing/2014/main" id="{4EDEA0C6-7A21-426E-A833-DB68F381FB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2" y="3510"/>
              <a:ext cx="604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13" name="Freeform 35">
              <a:extLst>
                <a:ext uri="{FF2B5EF4-FFF2-40B4-BE49-F238E27FC236}">
                  <a16:creationId xmlns:a16="http://schemas.microsoft.com/office/drawing/2014/main" id="{6F67D659-A531-E2B9-DE11-E400BB144D00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6" y="3488"/>
              <a:ext cx="45" cy="44"/>
            </a:xfrm>
            <a:custGeom>
              <a:avLst/>
              <a:gdLst>
                <a:gd name="T0" fmla="*/ 0 w 45"/>
                <a:gd name="T1" fmla="*/ 22 h 44"/>
                <a:gd name="T2" fmla="*/ 0 w 45"/>
                <a:gd name="T3" fmla="*/ 30 h 44"/>
                <a:gd name="T4" fmla="*/ 8 w 45"/>
                <a:gd name="T5" fmla="*/ 30 h 44"/>
                <a:gd name="T6" fmla="*/ 8 w 45"/>
                <a:gd name="T7" fmla="*/ 37 h 44"/>
                <a:gd name="T8" fmla="*/ 15 w 45"/>
                <a:gd name="T9" fmla="*/ 37 h 44"/>
                <a:gd name="T10" fmla="*/ 23 w 45"/>
                <a:gd name="T11" fmla="*/ 44 h 44"/>
                <a:gd name="T12" fmla="*/ 23 w 45"/>
                <a:gd name="T13" fmla="*/ 44 h 44"/>
                <a:gd name="T14" fmla="*/ 30 w 45"/>
                <a:gd name="T15" fmla="*/ 37 h 44"/>
                <a:gd name="T16" fmla="*/ 38 w 45"/>
                <a:gd name="T17" fmla="*/ 37 h 44"/>
                <a:gd name="T18" fmla="*/ 38 w 45"/>
                <a:gd name="T19" fmla="*/ 30 h 44"/>
                <a:gd name="T20" fmla="*/ 45 w 45"/>
                <a:gd name="T21" fmla="*/ 30 h 44"/>
                <a:gd name="T22" fmla="*/ 45 w 45"/>
                <a:gd name="T23" fmla="*/ 22 h 44"/>
                <a:gd name="T24" fmla="*/ 45 w 45"/>
                <a:gd name="T25" fmla="*/ 15 h 44"/>
                <a:gd name="T26" fmla="*/ 38 w 45"/>
                <a:gd name="T27" fmla="*/ 7 h 44"/>
                <a:gd name="T28" fmla="*/ 38 w 45"/>
                <a:gd name="T29" fmla="*/ 7 h 44"/>
                <a:gd name="T30" fmla="*/ 30 w 45"/>
                <a:gd name="T31" fmla="*/ 0 h 44"/>
                <a:gd name="T32" fmla="*/ 23 w 45"/>
                <a:gd name="T33" fmla="*/ 0 h 44"/>
                <a:gd name="T34" fmla="*/ 23 w 45"/>
                <a:gd name="T35" fmla="*/ 0 h 44"/>
                <a:gd name="T36" fmla="*/ 15 w 45"/>
                <a:gd name="T37" fmla="*/ 0 h 44"/>
                <a:gd name="T38" fmla="*/ 8 w 45"/>
                <a:gd name="T39" fmla="*/ 7 h 44"/>
                <a:gd name="T40" fmla="*/ 8 w 45"/>
                <a:gd name="T41" fmla="*/ 7 h 44"/>
                <a:gd name="T42" fmla="*/ 0 w 45"/>
                <a:gd name="T43" fmla="*/ 15 h 44"/>
                <a:gd name="T44" fmla="*/ 0 w 45"/>
                <a:gd name="T45" fmla="*/ 22 h 44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w 45"/>
                <a:gd name="T70" fmla="*/ 0 h 44"/>
                <a:gd name="T71" fmla="*/ 45 w 45"/>
                <a:gd name="T72" fmla="*/ 44 h 44"/>
              </a:gdLst>
              <a:ahLst/>
              <a:cxnLst>
                <a:cxn ang="T46">
                  <a:pos x="T0" y="T1"/>
                </a:cxn>
                <a:cxn ang="T47">
                  <a:pos x="T2" y="T3"/>
                </a:cxn>
                <a:cxn ang="T48">
                  <a:pos x="T4" y="T5"/>
                </a:cxn>
                <a:cxn ang="T49">
                  <a:pos x="T6" y="T7"/>
                </a:cxn>
                <a:cxn ang="T50">
                  <a:pos x="T8" y="T9"/>
                </a:cxn>
                <a:cxn ang="T51">
                  <a:pos x="T10" y="T11"/>
                </a:cxn>
                <a:cxn ang="T52">
                  <a:pos x="T12" y="T13"/>
                </a:cxn>
                <a:cxn ang="T53">
                  <a:pos x="T14" y="T15"/>
                </a:cxn>
                <a:cxn ang="T54">
                  <a:pos x="T16" y="T17"/>
                </a:cxn>
                <a:cxn ang="T55">
                  <a:pos x="T18" y="T19"/>
                </a:cxn>
                <a:cxn ang="T56">
                  <a:pos x="T20" y="T21"/>
                </a:cxn>
                <a:cxn ang="T57">
                  <a:pos x="T22" y="T23"/>
                </a:cxn>
                <a:cxn ang="T58">
                  <a:pos x="T24" y="T25"/>
                </a:cxn>
                <a:cxn ang="T59">
                  <a:pos x="T26" y="T27"/>
                </a:cxn>
                <a:cxn ang="T60">
                  <a:pos x="T28" y="T29"/>
                </a:cxn>
                <a:cxn ang="T61">
                  <a:pos x="T30" y="T31"/>
                </a:cxn>
                <a:cxn ang="T62">
                  <a:pos x="T32" y="T33"/>
                </a:cxn>
                <a:cxn ang="T63">
                  <a:pos x="T34" y="T35"/>
                </a:cxn>
                <a:cxn ang="T64">
                  <a:pos x="T36" y="T37"/>
                </a:cxn>
                <a:cxn ang="T65">
                  <a:pos x="T38" y="T39"/>
                </a:cxn>
                <a:cxn ang="T66">
                  <a:pos x="T40" y="T41"/>
                </a:cxn>
                <a:cxn ang="T67">
                  <a:pos x="T42" y="T43"/>
                </a:cxn>
                <a:cxn ang="T68">
                  <a:pos x="T44" y="T45"/>
                </a:cxn>
              </a:cxnLst>
              <a:rect l="T69" t="T70" r="T71" b="T72"/>
              <a:pathLst>
                <a:path w="45" h="44">
                  <a:moveTo>
                    <a:pt x="0" y="22"/>
                  </a:moveTo>
                  <a:lnTo>
                    <a:pt x="0" y="30"/>
                  </a:lnTo>
                  <a:lnTo>
                    <a:pt x="8" y="30"/>
                  </a:lnTo>
                  <a:lnTo>
                    <a:pt x="8" y="37"/>
                  </a:lnTo>
                  <a:lnTo>
                    <a:pt x="15" y="37"/>
                  </a:lnTo>
                  <a:lnTo>
                    <a:pt x="23" y="44"/>
                  </a:lnTo>
                  <a:lnTo>
                    <a:pt x="30" y="37"/>
                  </a:lnTo>
                  <a:lnTo>
                    <a:pt x="38" y="37"/>
                  </a:lnTo>
                  <a:lnTo>
                    <a:pt x="38" y="30"/>
                  </a:lnTo>
                  <a:lnTo>
                    <a:pt x="45" y="30"/>
                  </a:lnTo>
                  <a:lnTo>
                    <a:pt x="45" y="22"/>
                  </a:lnTo>
                  <a:lnTo>
                    <a:pt x="45" y="15"/>
                  </a:lnTo>
                  <a:lnTo>
                    <a:pt x="38" y="7"/>
                  </a:lnTo>
                  <a:lnTo>
                    <a:pt x="30" y="0"/>
                  </a:lnTo>
                  <a:lnTo>
                    <a:pt x="23" y="0"/>
                  </a:lnTo>
                  <a:lnTo>
                    <a:pt x="15" y="0"/>
                  </a:lnTo>
                  <a:lnTo>
                    <a:pt x="8" y="7"/>
                  </a:lnTo>
                  <a:lnTo>
                    <a:pt x="0" y="15"/>
                  </a:lnTo>
                  <a:lnTo>
                    <a:pt x="0" y="22"/>
                  </a:lnTo>
                </a:path>
              </a:pathLst>
            </a:cu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14" name="Rectangle 36">
              <a:extLst>
                <a:ext uri="{FF2B5EF4-FFF2-40B4-BE49-F238E27FC236}">
                  <a16:creationId xmlns:a16="http://schemas.microsoft.com/office/drawing/2014/main" id="{989818FA-A456-1307-C48F-817CE117D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5" y="3406"/>
              <a:ext cx="806" cy="201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15" name="Rectangle 37">
              <a:extLst>
                <a:ext uri="{FF2B5EF4-FFF2-40B4-BE49-F238E27FC236}">
                  <a16:creationId xmlns:a16="http://schemas.microsoft.com/office/drawing/2014/main" id="{738F732D-B175-7D2B-8D6B-9525B8F7E0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2" y="3436"/>
              <a:ext cx="45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New method</a:t>
              </a:r>
              <a:endParaRPr lang="en-US" altLang="en-US"/>
            </a:p>
          </p:txBody>
        </p:sp>
        <p:sp>
          <p:nvSpPr>
            <p:cNvPr id="16416" name="Freeform 38">
              <a:extLst>
                <a:ext uri="{FF2B5EF4-FFF2-40B4-BE49-F238E27FC236}">
                  <a16:creationId xmlns:a16="http://schemas.microsoft.com/office/drawing/2014/main" id="{C2E7812C-1DB1-CE4B-9635-3B8F27EDC712}"/>
                </a:ext>
              </a:extLst>
            </p:cNvPr>
            <p:cNvSpPr>
              <a:spLocks/>
            </p:cNvSpPr>
            <p:nvPr/>
          </p:nvSpPr>
          <p:spPr bwMode="auto">
            <a:xfrm>
              <a:off x="3396" y="3406"/>
              <a:ext cx="75" cy="52"/>
            </a:xfrm>
            <a:custGeom>
              <a:avLst/>
              <a:gdLst>
                <a:gd name="T0" fmla="*/ 0 w 75"/>
                <a:gd name="T1" fmla="*/ 0 h 52"/>
                <a:gd name="T2" fmla="*/ 75 w 75"/>
                <a:gd name="T3" fmla="*/ 52 h 52"/>
                <a:gd name="T4" fmla="*/ 75 w 75"/>
                <a:gd name="T5" fmla="*/ 0 h 52"/>
                <a:gd name="T6" fmla="*/ 0 w 75"/>
                <a:gd name="T7" fmla="*/ 0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5"/>
                <a:gd name="T13" fmla="*/ 0 h 52"/>
                <a:gd name="T14" fmla="*/ 75 w 75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5" h="52">
                  <a:moveTo>
                    <a:pt x="0" y="0"/>
                  </a:moveTo>
                  <a:lnTo>
                    <a:pt x="75" y="52"/>
                  </a:lnTo>
                  <a:lnTo>
                    <a:pt x="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">
              <a:solidFill>
                <a:srgbClr val="FFFFFF"/>
              </a:solidFill>
              <a:round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17" name="Freeform 39">
              <a:extLst>
                <a:ext uri="{FF2B5EF4-FFF2-40B4-BE49-F238E27FC236}">
                  <a16:creationId xmlns:a16="http://schemas.microsoft.com/office/drawing/2014/main" id="{F9DCC4C5-C26A-32D5-9426-F5F96E4161F8}"/>
                </a:ext>
              </a:extLst>
            </p:cNvPr>
            <p:cNvSpPr>
              <a:spLocks/>
            </p:cNvSpPr>
            <p:nvPr/>
          </p:nvSpPr>
          <p:spPr bwMode="auto">
            <a:xfrm>
              <a:off x="3396" y="3406"/>
              <a:ext cx="75" cy="52"/>
            </a:xfrm>
            <a:custGeom>
              <a:avLst/>
              <a:gdLst>
                <a:gd name="T0" fmla="*/ 75 w 75"/>
                <a:gd name="T1" fmla="*/ 52 h 52"/>
                <a:gd name="T2" fmla="*/ 0 w 75"/>
                <a:gd name="T3" fmla="*/ 0 h 52"/>
                <a:gd name="T4" fmla="*/ 0 w 75"/>
                <a:gd name="T5" fmla="*/ 52 h 52"/>
                <a:gd name="T6" fmla="*/ 75 w 75"/>
                <a:gd name="T7" fmla="*/ 52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5"/>
                <a:gd name="T13" fmla="*/ 0 h 52"/>
                <a:gd name="T14" fmla="*/ 75 w 75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5" h="52">
                  <a:moveTo>
                    <a:pt x="75" y="52"/>
                  </a:moveTo>
                  <a:lnTo>
                    <a:pt x="0" y="0"/>
                  </a:lnTo>
                  <a:lnTo>
                    <a:pt x="0" y="52"/>
                  </a:lnTo>
                  <a:lnTo>
                    <a:pt x="75" y="52"/>
                  </a:lnTo>
                  <a:close/>
                </a:path>
              </a:pathLst>
            </a:custGeom>
            <a:solidFill>
              <a:srgbClr val="000000"/>
            </a:solidFill>
            <a:ln w="7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18" name="Line 40">
              <a:extLst>
                <a:ext uri="{FF2B5EF4-FFF2-40B4-BE49-F238E27FC236}">
                  <a16:creationId xmlns:a16="http://schemas.microsoft.com/office/drawing/2014/main" id="{5E8AEF4B-CA4D-C6D7-962B-557EEB2613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16" y="2302"/>
              <a:ext cx="277" cy="0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19" name="Freeform 41">
              <a:extLst>
                <a:ext uri="{FF2B5EF4-FFF2-40B4-BE49-F238E27FC236}">
                  <a16:creationId xmlns:a16="http://schemas.microsoft.com/office/drawing/2014/main" id="{C9C26D2F-A16B-7099-52BA-799517A171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985" y="2279"/>
              <a:ext cx="52" cy="37"/>
            </a:xfrm>
            <a:custGeom>
              <a:avLst/>
              <a:gdLst>
                <a:gd name="T0" fmla="*/ 0 w 52"/>
                <a:gd name="T1" fmla="*/ 37 h 37"/>
                <a:gd name="T2" fmla="*/ 52 w 52"/>
                <a:gd name="T3" fmla="*/ 22 h 37"/>
                <a:gd name="T4" fmla="*/ 0 w 52"/>
                <a:gd name="T5" fmla="*/ 0 h 37"/>
                <a:gd name="T6" fmla="*/ 0 w 52"/>
                <a:gd name="T7" fmla="*/ 37 h 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2"/>
                <a:gd name="T13" fmla="*/ 0 h 37"/>
                <a:gd name="T14" fmla="*/ 52 w 52"/>
                <a:gd name="T15" fmla="*/ 37 h 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2" h="37">
                  <a:moveTo>
                    <a:pt x="0" y="37"/>
                  </a:moveTo>
                  <a:lnTo>
                    <a:pt x="52" y="22"/>
                  </a:lnTo>
                  <a:lnTo>
                    <a:pt x="0" y="0"/>
                  </a:lnTo>
                  <a:lnTo>
                    <a:pt x="0" y="3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20" name="Rectangle 44">
              <a:extLst>
                <a:ext uri="{FF2B5EF4-FFF2-40B4-BE49-F238E27FC236}">
                  <a16:creationId xmlns:a16="http://schemas.microsoft.com/office/drawing/2014/main" id="{A6D32730-0DF3-FF09-1093-3407C9B16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5" y="2829"/>
              <a:ext cx="717" cy="224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21" name="Rectangle 46">
              <a:extLst>
                <a:ext uri="{FF2B5EF4-FFF2-40B4-BE49-F238E27FC236}">
                  <a16:creationId xmlns:a16="http://schemas.microsoft.com/office/drawing/2014/main" id="{F689B082-BDAB-7BDA-925D-C7F6119482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0" y="2867"/>
              <a:ext cx="65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:SalesLineItem</a:t>
              </a:r>
              <a:endParaRPr lang="en-US" altLang="en-US"/>
            </a:p>
          </p:txBody>
        </p:sp>
        <p:sp>
          <p:nvSpPr>
            <p:cNvPr id="16422" name="Freeform 47">
              <a:extLst>
                <a:ext uri="{FF2B5EF4-FFF2-40B4-BE49-F238E27FC236}">
                  <a16:creationId xmlns:a16="http://schemas.microsoft.com/office/drawing/2014/main" id="{A8A8AC45-C6FB-BAE0-0384-8BF7BCE59AA6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4" y="2368"/>
              <a:ext cx="582" cy="538"/>
            </a:xfrm>
            <a:custGeom>
              <a:avLst/>
              <a:gdLst>
                <a:gd name="T0" fmla="*/ 0 w 582"/>
                <a:gd name="T1" fmla="*/ 0 h 538"/>
                <a:gd name="T2" fmla="*/ 582 w 582"/>
                <a:gd name="T3" fmla="*/ 0 h 538"/>
                <a:gd name="T4" fmla="*/ 582 w 582"/>
                <a:gd name="T5" fmla="*/ 538 h 538"/>
                <a:gd name="T6" fmla="*/ 0 60000 65536"/>
                <a:gd name="T7" fmla="*/ 0 60000 65536"/>
                <a:gd name="T8" fmla="*/ 0 60000 65536"/>
                <a:gd name="T9" fmla="*/ 0 w 582"/>
                <a:gd name="T10" fmla="*/ 0 h 538"/>
                <a:gd name="T11" fmla="*/ 582 w 582"/>
                <a:gd name="T12" fmla="*/ 538 h 53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82" h="538">
                  <a:moveTo>
                    <a:pt x="0" y="0"/>
                  </a:moveTo>
                  <a:lnTo>
                    <a:pt x="582" y="0"/>
                  </a:lnTo>
                  <a:lnTo>
                    <a:pt x="582" y="538"/>
                  </a:lnTo>
                </a:path>
              </a:pathLst>
            </a:cu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23" name="Rectangle 48">
              <a:extLst>
                <a:ext uri="{FF2B5EF4-FFF2-40B4-BE49-F238E27FC236}">
                  <a16:creationId xmlns:a16="http://schemas.microsoft.com/office/drawing/2014/main" id="{90094380-E7A9-2321-10F3-7A5CF2BA14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59" y="2160"/>
              <a:ext cx="94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1*: sli := subtotal()</a:t>
              </a:r>
              <a:endParaRPr lang="en-US" altLang="en-US"/>
            </a:p>
          </p:txBody>
        </p:sp>
        <p:sp>
          <p:nvSpPr>
            <p:cNvPr id="16424" name="Line 49">
              <a:extLst>
                <a:ext uri="{FF2B5EF4-FFF2-40B4-BE49-F238E27FC236}">
                  <a16:creationId xmlns:a16="http://schemas.microsoft.com/office/drawing/2014/main" id="{B63EABF3-CCEA-FF5C-9337-A4B2979BDC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16" y="2435"/>
              <a:ext cx="1" cy="90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25" name="Freeform 50">
              <a:extLst>
                <a:ext uri="{FF2B5EF4-FFF2-40B4-BE49-F238E27FC236}">
                  <a16:creationId xmlns:a16="http://schemas.microsoft.com/office/drawing/2014/main" id="{8A6CB915-59A0-1C3D-4622-2E9AEFB1EE79}"/>
                </a:ext>
              </a:extLst>
            </p:cNvPr>
            <p:cNvSpPr>
              <a:spLocks/>
            </p:cNvSpPr>
            <p:nvPr/>
          </p:nvSpPr>
          <p:spPr bwMode="auto">
            <a:xfrm>
              <a:off x="3501" y="2518"/>
              <a:ext cx="30" cy="52"/>
            </a:xfrm>
            <a:custGeom>
              <a:avLst/>
              <a:gdLst>
                <a:gd name="T0" fmla="*/ 30 w 30"/>
                <a:gd name="T1" fmla="*/ 0 h 52"/>
                <a:gd name="T2" fmla="*/ 15 w 30"/>
                <a:gd name="T3" fmla="*/ 52 h 52"/>
                <a:gd name="T4" fmla="*/ 0 w 30"/>
                <a:gd name="T5" fmla="*/ 0 h 52"/>
                <a:gd name="T6" fmla="*/ 30 w 30"/>
                <a:gd name="T7" fmla="*/ 0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0"/>
                <a:gd name="T13" fmla="*/ 0 h 52"/>
                <a:gd name="T14" fmla="*/ 30 w 30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0" h="52">
                  <a:moveTo>
                    <a:pt x="30" y="0"/>
                  </a:moveTo>
                  <a:lnTo>
                    <a:pt x="15" y="52"/>
                  </a:lnTo>
                  <a:lnTo>
                    <a:pt x="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lide Number Placeholder 3">
            <a:extLst>
              <a:ext uri="{FF2B5EF4-FFF2-40B4-BE49-F238E27FC236}">
                <a16:creationId xmlns:a16="http://schemas.microsoft.com/office/drawing/2014/main" id="{1159257E-882D-F25A-0CBB-B88E86CF50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3E114932-3753-4444-9351-E3FF2C00837B}" type="slidenum">
              <a:rPr lang="de-DE" altLang="en-US" sz="1000"/>
              <a:pPr/>
              <a:t>26</a:t>
            </a:fld>
            <a:endParaRPr lang="de-DE" altLang="en-US" sz="1000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4C3BAF8C-1E82-0870-4E42-615946D476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…Expert – example…</a:t>
            </a:r>
          </a:p>
        </p:txBody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6070EFF7-F0DA-815C-1413-0165914C042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altLang="en-US" sz="3600" dirty="0"/>
              <a:t>And finally,</a:t>
            </a:r>
          </a:p>
        </p:txBody>
      </p:sp>
      <p:grpSp>
        <p:nvGrpSpPr>
          <p:cNvPr id="17413" name="Group 7">
            <a:extLst>
              <a:ext uri="{FF2B5EF4-FFF2-40B4-BE49-F238E27FC236}">
                <a16:creationId xmlns:a16="http://schemas.microsoft.com/office/drawing/2014/main" id="{8245C110-129A-6B5C-0A59-90C27974CA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505200" y="2489201"/>
            <a:ext cx="5392738" cy="3725863"/>
            <a:chOff x="1248" y="1568"/>
            <a:chExt cx="3397" cy="2347"/>
          </a:xfrm>
        </p:grpSpPr>
        <p:sp>
          <p:nvSpPr>
            <p:cNvPr id="17414" name="AutoShape 6">
              <a:extLst>
                <a:ext uri="{FF2B5EF4-FFF2-40B4-BE49-F238E27FC236}">
                  <a16:creationId xmlns:a16="http://schemas.microsoft.com/office/drawing/2014/main" id="{5D0E61C0-401F-A851-5E52-554DD67F156A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1248" y="1632"/>
              <a:ext cx="3397" cy="228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15" name="Rectangle 8">
              <a:extLst>
                <a:ext uri="{FF2B5EF4-FFF2-40B4-BE49-F238E27FC236}">
                  <a16:creationId xmlns:a16="http://schemas.microsoft.com/office/drawing/2014/main" id="{D0BE0A7B-5534-B698-6593-C17C550809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1654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16" name="Rectangle 9">
              <a:extLst>
                <a:ext uri="{FF2B5EF4-FFF2-40B4-BE49-F238E27FC236}">
                  <a16:creationId xmlns:a16="http://schemas.microsoft.com/office/drawing/2014/main" id="{EF357669-9344-7AD4-13DC-4DE680244D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84"/>
              <a:ext cx="16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Sale</a:t>
              </a:r>
              <a:endParaRPr lang="en-US" altLang="en-US"/>
            </a:p>
          </p:txBody>
        </p:sp>
        <p:sp>
          <p:nvSpPr>
            <p:cNvPr id="17417" name="Rectangle 10">
              <a:extLst>
                <a:ext uri="{FF2B5EF4-FFF2-40B4-BE49-F238E27FC236}">
                  <a16:creationId xmlns:a16="http://schemas.microsoft.com/office/drawing/2014/main" id="{4A317E40-0ED1-7231-3A0E-7E9B2B54CC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1833"/>
              <a:ext cx="657" cy="26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18" name="Rectangle 11">
              <a:extLst>
                <a:ext uri="{FF2B5EF4-FFF2-40B4-BE49-F238E27FC236}">
                  <a16:creationId xmlns:a16="http://schemas.microsoft.com/office/drawing/2014/main" id="{D57DF825-C024-F7E5-ED8F-498186814A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1863"/>
              <a:ext cx="156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date</a:t>
              </a:r>
              <a:endParaRPr lang="en-US" altLang="en-US"/>
            </a:p>
          </p:txBody>
        </p:sp>
        <p:sp>
          <p:nvSpPr>
            <p:cNvPr id="17419" name="Rectangle 12">
              <a:extLst>
                <a:ext uri="{FF2B5EF4-FFF2-40B4-BE49-F238E27FC236}">
                  <a16:creationId xmlns:a16="http://schemas.microsoft.com/office/drawing/2014/main" id="{272C9649-0C6A-4C2C-2280-531B449DC2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1953"/>
              <a:ext cx="152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time</a:t>
              </a:r>
              <a:endParaRPr lang="en-US" altLang="en-US"/>
            </a:p>
          </p:txBody>
        </p:sp>
        <p:sp>
          <p:nvSpPr>
            <p:cNvPr id="17420" name="Rectangle 13">
              <a:extLst>
                <a:ext uri="{FF2B5EF4-FFF2-40B4-BE49-F238E27FC236}">
                  <a16:creationId xmlns:a16="http://schemas.microsoft.com/office/drawing/2014/main" id="{EC32726C-A4E9-8BA1-AB50-EF34E28DE8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2102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21" name="Rectangle 14">
              <a:extLst>
                <a:ext uri="{FF2B5EF4-FFF2-40B4-BE49-F238E27FC236}">
                  <a16:creationId xmlns:a16="http://schemas.microsoft.com/office/drawing/2014/main" id="{A0A654ED-CB0D-B095-740F-387C9CCBD8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2132"/>
              <a:ext cx="206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total()</a:t>
              </a:r>
              <a:endParaRPr lang="en-US" altLang="en-US"/>
            </a:p>
          </p:txBody>
        </p:sp>
        <p:sp>
          <p:nvSpPr>
            <p:cNvPr id="17422" name="Rectangle 15">
              <a:extLst>
                <a:ext uri="{FF2B5EF4-FFF2-40B4-BE49-F238E27FC236}">
                  <a16:creationId xmlns:a16="http://schemas.microsoft.com/office/drawing/2014/main" id="{6395F48A-8E14-8479-6B26-21B4379788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7" y="1647"/>
              <a:ext cx="717" cy="224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23" name="Line 16">
              <a:extLst>
                <a:ext uri="{FF2B5EF4-FFF2-40B4-BE49-F238E27FC236}">
                  <a16:creationId xmlns:a16="http://schemas.microsoft.com/office/drawing/2014/main" id="{77F40178-F065-43F8-32C3-968E989B49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8" y="1796"/>
              <a:ext cx="179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24" name="Rectangle 17">
              <a:extLst>
                <a:ext uri="{FF2B5EF4-FFF2-40B4-BE49-F238E27FC236}">
                  <a16:creationId xmlns:a16="http://schemas.microsoft.com/office/drawing/2014/main" id="{6CDA2F5F-F70C-9B40-3152-82EAE33BCE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98" y="1649"/>
              <a:ext cx="18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:Sale</a:t>
              </a:r>
              <a:endParaRPr lang="en-US" altLang="en-US"/>
            </a:p>
          </p:txBody>
        </p:sp>
        <p:sp>
          <p:nvSpPr>
            <p:cNvPr id="17425" name="Line 18">
              <a:extLst>
                <a:ext uri="{FF2B5EF4-FFF2-40B4-BE49-F238E27FC236}">
                  <a16:creationId xmlns:a16="http://schemas.microsoft.com/office/drawing/2014/main" id="{5E0F3051-F8C8-015A-85A7-4B2A6E303B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3" y="1766"/>
              <a:ext cx="866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26" name="Rectangle 19">
              <a:extLst>
                <a:ext uri="{FF2B5EF4-FFF2-40B4-BE49-F238E27FC236}">
                  <a16:creationId xmlns:a16="http://schemas.microsoft.com/office/drawing/2014/main" id="{C23524E4-2E94-B029-3B82-5BDC84E554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7" y="1568"/>
              <a:ext cx="41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t := total()</a:t>
              </a:r>
              <a:endParaRPr lang="en-US" altLang="en-US"/>
            </a:p>
          </p:txBody>
        </p:sp>
        <p:sp>
          <p:nvSpPr>
            <p:cNvPr id="17427" name="Rectangle 20">
              <a:extLst>
                <a:ext uri="{FF2B5EF4-FFF2-40B4-BE49-F238E27FC236}">
                  <a16:creationId xmlns:a16="http://schemas.microsoft.com/office/drawing/2014/main" id="{4182656F-FF3A-C1AA-C372-D375905897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29" y="2371"/>
              <a:ext cx="717" cy="223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28" name="Line 21">
              <a:extLst>
                <a:ext uri="{FF2B5EF4-FFF2-40B4-BE49-F238E27FC236}">
                  <a16:creationId xmlns:a16="http://schemas.microsoft.com/office/drawing/2014/main" id="{0038544D-7D25-0EA9-F197-133557FB2C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9" y="2512"/>
              <a:ext cx="590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29" name="Rectangle 23">
              <a:extLst>
                <a:ext uri="{FF2B5EF4-FFF2-40B4-BE49-F238E27FC236}">
                  <a16:creationId xmlns:a16="http://schemas.microsoft.com/office/drawing/2014/main" id="{3E1BC6A9-9DB0-14C7-2621-AFB5A392A2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2460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30" name="Rectangle 24">
              <a:extLst>
                <a:ext uri="{FF2B5EF4-FFF2-40B4-BE49-F238E27FC236}">
                  <a16:creationId xmlns:a16="http://schemas.microsoft.com/office/drawing/2014/main" id="{2D48B841-930A-F242-002B-E2771DB52F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3" y="2490"/>
              <a:ext cx="50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SalesLineItem</a:t>
              </a:r>
              <a:endParaRPr lang="en-US" altLang="en-US"/>
            </a:p>
          </p:txBody>
        </p:sp>
        <p:sp>
          <p:nvSpPr>
            <p:cNvPr id="17431" name="Rectangle 25">
              <a:extLst>
                <a:ext uri="{FF2B5EF4-FFF2-40B4-BE49-F238E27FC236}">
                  <a16:creationId xmlns:a16="http://schemas.microsoft.com/office/drawing/2014/main" id="{051298C5-4DF4-D189-9EA8-18C441326D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2639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32" name="Rectangle 26">
              <a:extLst>
                <a:ext uri="{FF2B5EF4-FFF2-40B4-BE49-F238E27FC236}">
                  <a16:creationId xmlns:a16="http://schemas.microsoft.com/office/drawing/2014/main" id="{E0DA5501-5754-0DA6-A1BB-9AA4FA0091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2669"/>
              <a:ext cx="28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quantity</a:t>
              </a:r>
              <a:endParaRPr lang="en-US" altLang="en-US"/>
            </a:p>
          </p:txBody>
        </p:sp>
        <p:sp>
          <p:nvSpPr>
            <p:cNvPr id="17433" name="Rectangle 27">
              <a:extLst>
                <a:ext uri="{FF2B5EF4-FFF2-40B4-BE49-F238E27FC236}">
                  <a16:creationId xmlns:a16="http://schemas.microsoft.com/office/drawing/2014/main" id="{7E537155-0AA9-3232-16B9-D15E226D7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2818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34" name="Rectangle 28">
              <a:extLst>
                <a:ext uri="{FF2B5EF4-FFF2-40B4-BE49-F238E27FC236}">
                  <a16:creationId xmlns:a16="http://schemas.microsoft.com/office/drawing/2014/main" id="{BF9C5BA9-230B-441A-292C-AB6AC829D0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2848"/>
              <a:ext cx="33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subtotal()</a:t>
              </a:r>
              <a:endParaRPr lang="en-US" altLang="en-US"/>
            </a:p>
          </p:txBody>
        </p:sp>
        <p:sp>
          <p:nvSpPr>
            <p:cNvPr id="17435" name="Line 29">
              <a:extLst>
                <a:ext uri="{FF2B5EF4-FFF2-40B4-BE49-F238E27FC236}">
                  <a16:creationId xmlns:a16="http://schemas.microsoft.com/office/drawing/2014/main" id="{877701CA-7B97-B456-C496-00904CFE21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87" y="1878"/>
              <a:ext cx="1" cy="493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36" name="Rectangle 30">
              <a:extLst>
                <a:ext uri="{FF2B5EF4-FFF2-40B4-BE49-F238E27FC236}">
                  <a16:creationId xmlns:a16="http://schemas.microsoft.com/office/drawing/2014/main" id="{6C29C0D4-48F7-6563-396A-B198CBE2E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9" y="2050"/>
              <a:ext cx="632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1*: st := subtotal()</a:t>
              </a:r>
              <a:endParaRPr lang="en-US" altLang="en-US"/>
            </a:p>
          </p:txBody>
        </p:sp>
        <p:sp>
          <p:nvSpPr>
            <p:cNvPr id="17437" name="Rectangle 31">
              <a:extLst>
                <a:ext uri="{FF2B5EF4-FFF2-40B4-BE49-F238E27FC236}">
                  <a16:creationId xmlns:a16="http://schemas.microsoft.com/office/drawing/2014/main" id="{166A12E1-7A3F-0030-BB4D-7B9F234086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29" y="3087"/>
              <a:ext cx="717" cy="224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38" name="Line 32">
              <a:extLst>
                <a:ext uri="{FF2B5EF4-FFF2-40B4-BE49-F238E27FC236}">
                  <a16:creationId xmlns:a16="http://schemas.microsoft.com/office/drawing/2014/main" id="{386CDBC7-B284-DAE4-F127-3B1514E599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38" y="3184"/>
              <a:ext cx="299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39" name="Line 33">
              <a:extLst>
                <a:ext uri="{FF2B5EF4-FFF2-40B4-BE49-F238E27FC236}">
                  <a16:creationId xmlns:a16="http://schemas.microsoft.com/office/drawing/2014/main" id="{3860AEDE-97E3-0B15-55EE-3A0D4393AB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6" y="3273"/>
              <a:ext cx="463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40" name="Rectangle 34">
              <a:extLst>
                <a:ext uri="{FF2B5EF4-FFF2-40B4-BE49-F238E27FC236}">
                  <a16:creationId xmlns:a16="http://schemas.microsoft.com/office/drawing/2014/main" id="{81CB121F-7BE7-3EAE-DFA9-768BFB5718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38" y="3079"/>
              <a:ext cx="29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:Product</a:t>
              </a:r>
              <a:endParaRPr lang="en-US" altLang="en-US" dirty="0"/>
            </a:p>
          </p:txBody>
        </p:sp>
        <p:sp>
          <p:nvSpPr>
            <p:cNvPr id="17441" name="Rectangle 35">
              <a:extLst>
                <a:ext uri="{FF2B5EF4-FFF2-40B4-BE49-F238E27FC236}">
                  <a16:creationId xmlns:a16="http://schemas.microsoft.com/office/drawing/2014/main" id="{DE9EAD0E-DE32-A580-F5BE-745CDF0BF4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6" y="3176"/>
              <a:ext cx="45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Specification</a:t>
              </a:r>
              <a:endParaRPr lang="en-US" altLang="en-US" dirty="0"/>
            </a:p>
          </p:txBody>
        </p:sp>
        <p:sp>
          <p:nvSpPr>
            <p:cNvPr id="17442" name="Line 36">
              <a:extLst>
                <a:ext uri="{FF2B5EF4-FFF2-40B4-BE49-F238E27FC236}">
                  <a16:creationId xmlns:a16="http://schemas.microsoft.com/office/drawing/2014/main" id="{85BCF8BB-7584-3CEA-B70D-260688E944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87" y="2594"/>
              <a:ext cx="1" cy="493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43" name="Rectangle 37">
              <a:extLst>
                <a:ext uri="{FF2B5EF4-FFF2-40B4-BE49-F238E27FC236}">
                  <a16:creationId xmlns:a16="http://schemas.microsoft.com/office/drawing/2014/main" id="{B926C23C-2739-97AE-CD49-F7F958685A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21" y="2766"/>
              <a:ext cx="54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1.1: p := price()</a:t>
              </a:r>
              <a:endParaRPr lang="en-US" altLang="en-US"/>
            </a:p>
          </p:txBody>
        </p:sp>
        <p:sp>
          <p:nvSpPr>
            <p:cNvPr id="17444" name="Rectangle 38">
              <a:extLst>
                <a:ext uri="{FF2B5EF4-FFF2-40B4-BE49-F238E27FC236}">
                  <a16:creationId xmlns:a16="http://schemas.microsoft.com/office/drawing/2014/main" id="{88F8AB31-3B4F-4F82-8532-4E61CC3022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3087"/>
              <a:ext cx="657" cy="268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45" name="Rectangle 39">
              <a:extLst>
                <a:ext uri="{FF2B5EF4-FFF2-40B4-BE49-F238E27FC236}">
                  <a16:creationId xmlns:a16="http://schemas.microsoft.com/office/drawing/2014/main" id="{75325C7D-D770-7D17-8C25-0DAB9128C8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67" y="3109"/>
              <a:ext cx="27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Product</a:t>
              </a:r>
              <a:endParaRPr lang="en-US" altLang="en-US"/>
            </a:p>
          </p:txBody>
        </p:sp>
        <p:sp>
          <p:nvSpPr>
            <p:cNvPr id="17446" name="Rectangle 40">
              <a:extLst>
                <a:ext uri="{FF2B5EF4-FFF2-40B4-BE49-F238E27FC236}">
                  <a16:creationId xmlns:a16="http://schemas.microsoft.com/office/drawing/2014/main" id="{65E91518-58C2-B06B-A828-1696A9A6C2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8" y="3206"/>
              <a:ext cx="45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Specification</a:t>
              </a:r>
              <a:endParaRPr lang="en-US" altLang="en-US"/>
            </a:p>
          </p:txBody>
        </p:sp>
        <p:sp>
          <p:nvSpPr>
            <p:cNvPr id="17447" name="Rectangle 41">
              <a:extLst>
                <a:ext uri="{FF2B5EF4-FFF2-40B4-BE49-F238E27FC236}">
                  <a16:creationId xmlns:a16="http://schemas.microsoft.com/office/drawing/2014/main" id="{E4A9E946-C37C-47DB-15E8-F4AC69C2A0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3355"/>
              <a:ext cx="657" cy="366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48" name="Rectangle 42">
              <a:extLst>
                <a:ext uri="{FF2B5EF4-FFF2-40B4-BE49-F238E27FC236}">
                  <a16:creationId xmlns:a16="http://schemas.microsoft.com/office/drawing/2014/main" id="{BD07FC35-697D-2A94-EEC5-85CE83BFE1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3385"/>
              <a:ext cx="3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description</a:t>
              </a:r>
              <a:endParaRPr lang="en-US" altLang="en-US"/>
            </a:p>
          </p:txBody>
        </p:sp>
        <p:sp>
          <p:nvSpPr>
            <p:cNvPr id="17449" name="Rectangle 43">
              <a:extLst>
                <a:ext uri="{FF2B5EF4-FFF2-40B4-BE49-F238E27FC236}">
                  <a16:creationId xmlns:a16="http://schemas.microsoft.com/office/drawing/2014/main" id="{7C7F499B-01FA-CF51-4146-87ACC835CD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3482"/>
              <a:ext cx="17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price</a:t>
              </a:r>
              <a:endParaRPr lang="en-US" altLang="en-US"/>
            </a:p>
          </p:txBody>
        </p:sp>
        <p:sp>
          <p:nvSpPr>
            <p:cNvPr id="17450" name="Rectangle 44">
              <a:extLst>
                <a:ext uri="{FF2B5EF4-FFF2-40B4-BE49-F238E27FC236}">
                  <a16:creationId xmlns:a16="http://schemas.microsoft.com/office/drawing/2014/main" id="{72AD0450-633C-2B6C-DD40-BF68EE9BF7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3572"/>
              <a:ext cx="17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UPC</a:t>
              </a:r>
              <a:endParaRPr lang="en-US" altLang="en-US"/>
            </a:p>
          </p:txBody>
        </p:sp>
        <p:sp>
          <p:nvSpPr>
            <p:cNvPr id="17451" name="Rectangle 45">
              <a:extLst>
                <a:ext uri="{FF2B5EF4-FFF2-40B4-BE49-F238E27FC236}">
                  <a16:creationId xmlns:a16="http://schemas.microsoft.com/office/drawing/2014/main" id="{589F98B1-3313-9ED5-5946-622AAB1FF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3721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52" name="Rectangle 46">
              <a:extLst>
                <a:ext uri="{FF2B5EF4-FFF2-40B4-BE49-F238E27FC236}">
                  <a16:creationId xmlns:a16="http://schemas.microsoft.com/office/drawing/2014/main" id="{02F04B73-78CD-BAFC-FA84-5CC2404D42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3751"/>
              <a:ext cx="22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price()</a:t>
              </a:r>
              <a:endParaRPr lang="en-US" altLang="en-US"/>
            </a:p>
          </p:txBody>
        </p:sp>
        <p:sp>
          <p:nvSpPr>
            <p:cNvPr id="17453" name="Line 47">
              <a:extLst>
                <a:ext uri="{FF2B5EF4-FFF2-40B4-BE49-F238E27FC236}">
                  <a16:creationId xmlns:a16="http://schemas.microsoft.com/office/drawing/2014/main" id="{03DA1B9E-8088-1DB3-0F9E-4C7790EE4A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3803"/>
              <a:ext cx="604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54" name="Freeform 48">
              <a:extLst>
                <a:ext uri="{FF2B5EF4-FFF2-40B4-BE49-F238E27FC236}">
                  <a16:creationId xmlns:a16="http://schemas.microsoft.com/office/drawing/2014/main" id="{96225AFE-FC2A-0033-8458-C40016A00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8" y="3781"/>
              <a:ext cx="45" cy="44"/>
            </a:xfrm>
            <a:custGeom>
              <a:avLst/>
              <a:gdLst>
                <a:gd name="T0" fmla="*/ 0 w 45"/>
                <a:gd name="T1" fmla="*/ 22 h 44"/>
                <a:gd name="T2" fmla="*/ 0 w 45"/>
                <a:gd name="T3" fmla="*/ 30 h 44"/>
                <a:gd name="T4" fmla="*/ 8 w 45"/>
                <a:gd name="T5" fmla="*/ 30 h 44"/>
                <a:gd name="T6" fmla="*/ 8 w 45"/>
                <a:gd name="T7" fmla="*/ 37 h 44"/>
                <a:gd name="T8" fmla="*/ 15 w 45"/>
                <a:gd name="T9" fmla="*/ 37 h 44"/>
                <a:gd name="T10" fmla="*/ 23 w 45"/>
                <a:gd name="T11" fmla="*/ 44 h 44"/>
                <a:gd name="T12" fmla="*/ 23 w 45"/>
                <a:gd name="T13" fmla="*/ 44 h 44"/>
                <a:gd name="T14" fmla="*/ 30 w 45"/>
                <a:gd name="T15" fmla="*/ 37 h 44"/>
                <a:gd name="T16" fmla="*/ 38 w 45"/>
                <a:gd name="T17" fmla="*/ 37 h 44"/>
                <a:gd name="T18" fmla="*/ 38 w 45"/>
                <a:gd name="T19" fmla="*/ 30 h 44"/>
                <a:gd name="T20" fmla="*/ 45 w 45"/>
                <a:gd name="T21" fmla="*/ 30 h 44"/>
                <a:gd name="T22" fmla="*/ 45 w 45"/>
                <a:gd name="T23" fmla="*/ 22 h 44"/>
                <a:gd name="T24" fmla="*/ 45 w 45"/>
                <a:gd name="T25" fmla="*/ 15 h 44"/>
                <a:gd name="T26" fmla="*/ 38 w 45"/>
                <a:gd name="T27" fmla="*/ 7 h 44"/>
                <a:gd name="T28" fmla="*/ 38 w 45"/>
                <a:gd name="T29" fmla="*/ 7 h 44"/>
                <a:gd name="T30" fmla="*/ 30 w 45"/>
                <a:gd name="T31" fmla="*/ 0 h 44"/>
                <a:gd name="T32" fmla="*/ 23 w 45"/>
                <a:gd name="T33" fmla="*/ 0 h 44"/>
                <a:gd name="T34" fmla="*/ 23 w 45"/>
                <a:gd name="T35" fmla="*/ 0 h 44"/>
                <a:gd name="T36" fmla="*/ 15 w 45"/>
                <a:gd name="T37" fmla="*/ 0 h 44"/>
                <a:gd name="T38" fmla="*/ 8 w 45"/>
                <a:gd name="T39" fmla="*/ 7 h 44"/>
                <a:gd name="T40" fmla="*/ 8 w 45"/>
                <a:gd name="T41" fmla="*/ 7 h 44"/>
                <a:gd name="T42" fmla="*/ 0 w 45"/>
                <a:gd name="T43" fmla="*/ 15 h 44"/>
                <a:gd name="T44" fmla="*/ 0 w 45"/>
                <a:gd name="T45" fmla="*/ 22 h 44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w 45"/>
                <a:gd name="T70" fmla="*/ 0 h 44"/>
                <a:gd name="T71" fmla="*/ 45 w 45"/>
                <a:gd name="T72" fmla="*/ 44 h 44"/>
              </a:gdLst>
              <a:ahLst/>
              <a:cxnLst>
                <a:cxn ang="T46">
                  <a:pos x="T0" y="T1"/>
                </a:cxn>
                <a:cxn ang="T47">
                  <a:pos x="T2" y="T3"/>
                </a:cxn>
                <a:cxn ang="T48">
                  <a:pos x="T4" y="T5"/>
                </a:cxn>
                <a:cxn ang="T49">
                  <a:pos x="T6" y="T7"/>
                </a:cxn>
                <a:cxn ang="T50">
                  <a:pos x="T8" y="T9"/>
                </a:cxn>
                <a:cxn ang="T51">
                  <a:pos x="T10" y="T11"/>
                </a:cxn>
                <a:cxn ang="T52">
                  <a:pos x="T12" y="T13"/>
                </a:cxn>
                <a:cxn ang="T53">
                  <a:pos x="T14" y="T15"/>
                </a:cxn>
                <a:cxn ang="T54">
                  <a:pos x="T16" y="T17"/>
                </a:cxn>
                <a:cxn ang="T55">
                  <a:pos x="T18" y="T19"/>
                </a:cxn>
                <a:cxn ang="T56">
                  <a:pos x="T20" y="T21"/>
                </a:cxn>
                <a:cxn ang="T57">
                  <a:pos x="T22" y="T23"/>
                </a:cxn>
                <a:cxn ang="T58">
                  <a:pos x="T24" y="T25"/>
                </a:cxn>
                <a:cxn ang="T59">
                  <a:pos x="T26" y="T27"/>
                </a:cxn>
                <a:cxn ang="T60">
                  <a:pos x="T28" y="T29"/>
                </a:cxn>
                <a:cxn ang="T61">
                  <a:pos x="T30" y="T31"/>
                </a:cxn>
                <a:cxn ang="T62">
                  <a:pos x="T32" y="T33"/>
                </a:cxn>
                <a:cxn ang="T63">
                  <a:pos x="T34" y="T35"/>
                </a:cxn>
                <a:cxn ang="T64">
                  <a:pos x="T36" y="T37"/>
                </a:cxn>
                <a:cxn ang="T65">
                  <a:pos x="T38" y="T39"/>
                </a:cxn>
                <a:cxn ang="T66">
                  <a:pos x="T40" y="T41"/>
                </a:cxn>
                <a:cxn ang="T67">
                  <a:pos x="T42" y="T43"/>
                </a:cxn>
                <a:cxn ang="T68">
                  <a:pos x="T44" y="T45"/>
                </a:cxn>
              </a:cxnLst>
              <a:rect l="T69" t="T70" r="T71" b="T72"/>
              <a:pathLst>
                <a:path w="45" h="44">
                  <a:moveTo>
                    <a:pt x="0" y="22"/>
                  </a:moveTo>
                  <a:lnTo>
                    <a:pt x="0" y="30"/>
                  </a:lnTo>
                  <a:lnTo>
                    <a:pt x="8" y="30"/>
                  </a:lnTo>
                  <a:lnTo>
                    <a:pt x="8" y="37"/>
                  </a:lnTo>
                  <a:lnTo>
                    <a:pt x="15" y="37"/>
                  </a:lnTo>
                  <a:lnTo>
                    <a:pt x="23" y="44"/>
                  </a:lnTo>
                  <a:lnTo>
                    <a:pt x="30" y="37"/>
                  </a:lnTo>
                  <a:lnTo>
                    <a:pt x="38" y="37"/>
                  </a:lnTo>
                  <a:lnTo>
                    <a:pt x="38" y="30"/>
                  </a:lnTo>
                  <a:lnTo>
                    <a:pt x="45" y="30"/>
                  </a:lnTo>
                  <a:lnTo>
                    <a:pt x="45" y="22"/>
                  </a:lnTo>
                  <a:lnTo>
                    <a:pt x="45" y="15"/>
                  </a:lnTo>
                  <a:lnTo>
                    <a:pt x="38" y="7"/>
                  </a:lnTo>
                  <a:lnTo>
                    <a:pt x="30" y="0"/>
                  </a:lnTo>
                  <a:lnTo>
                    <a:pt x="23" y="0"/>
                  </a:lnTo>
                  <a:lnTo>
                    <a:pt x="15" y="0"/>
                  </a:lnTo>
                  <a:lnTo>
                    <a:pt x="8" y="7"/>
                  </a:lnTo>
                  <a:lnTo>
                    <a:pt x="0" y="15"/>
                  </a:lnTo>
                  <a:lnTo>
                    <a:pt x="0" y="22"/>
                  </a:lnTo>
                </a:path>
              </a:pathLst>
            </a:cu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55" name="Rectangle 49">
              <a:extLst>
                <a:ext uri="{FF2B5EF4-FFF2-40B4-BE49-F238E27FC236}">
                  <a16:creationId xmlns:a16="http://schemas.microsoft.com/office/drawing/2014/main" id="{EAD2F088-8728-BC2A-9324-3DEDCDC509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7" y="3699"/>
              <a:ext cx="806" cy="201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56" name="Rectangle 50">
              <a:extLst>
                <a:ext uri="{FF2B5EF4-FFF2-40B4-BE49-F238E27FC236}">
                  <a16:creationId xmlns:a16="http://schemas.microsoft.com/office/drawing/2014/main" id="{3D97A5A1-8187-C299-011F-94F9F66DEC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4" y="3729"/>
              <a:ext cx="45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New method</a:t>
              </a:r>
              <a:endParaRPr lang="en-US" altLang="en-US"/>
            </a:p>
          </p:txBody>
        </p:sp>
        <p:sp>
          <p:nvSpPr>
            <p:cNvPr id="17457" name="Freeform 51">
              <a:extLst>
                <a:ext uri="{FF2B5EF4-FFF2-40B4-BE49-F238E27FC236}">
                  <a16:creationId xmlns:a16="http://schemas.microsoft.com/office/drawing/2014/main" id="{F0F60980-56F5-8C07-8F92-3EB2DA6A35D2}"/>
                </a:ext>
              </a:extLst>
            </p:cNvPr>
            <p:cNvSpPr>
              <a:spLocks/>
            </p:cNvSpPr>
            <p:nvPr/>
          </p:nvSpPr>
          <p:spPr bwMode="auto">
            <a:xfrm>
              <a:off x="3398" y="3699"/>
              <a:ext cx="75" cy="52"/>
            </a:xfrm>
            <a:custGeom>
              <a:avLst/>
              <a:gdLst>
                <a:gd name="T0" fmla="*/ 0 w 75"/>
                <a:gd name="T1" fmla="*/ 0 h 52"/>
                <a:gd name="T2" fmla="*/ 75 w 75"/>
                <a:gd name="T3" fmla="*/ 52 h 52"/>
                <a:gd name="T4" fmla="*/ 75 w 75"/>
                <a:gd name="T5" fmla="*/ 0 h 52"/>
                <a:gd name="T6" fmla="*/ 0 w 75"/>
                <a:gd name="T7" fmla="*/ 0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5"/>
                <a:gd name="T13" fmla="*/ 0 h 52"/>
                <a:gd name="T14" fmla="*/ 75 w 75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5" h="52">
                  <a:moveTo>
                    <a:pt x="0" y="0"/>
                  </a:moveTo>
                  <a:lnTo>
                    <a:pt x="75" y="52"/>
                  </a:lnTo>
                  <a:lnTo>
                    <a:pt x="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">
              <a:solidFill>
                <a:srgbClr val="FFFFFF"/>
              </a:solidFill>
              <a:round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58" name="Freeform 52">
              <a:extLst>
                <a:ext uri="{FF2B5EF4-FFF2-40B4-BE49-F238E27FC236}">
                  <a16:creationId xmlns:a16="http://schemas.microsoft.com/office/drawing/2014/main" id="{E8F6F7BC-41E3-369B-B9B8-EA3CB4BC702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98" y="3699"/>
              <a:ext cx="75" cy="52"/>
            </a:xfrm>
            <a:custGeom>
              <a:avLst/>
              <a:gdLst>
                <a:gd name="T0" fmla="*/ 75 w 75"/>
                <a:gd name="T1" fmla="*/ 52 h 52"/>
                <a:gd name="T2" fmla="*/ 0 w 75"/>
                <a:gd name="T3" fmla="*/ 0 h 52"/>
                <a:gd name="T4" fmla="*/ 0 w 75"/>
                <a:gd name="T5" fmla="*/ 52 h 52"/>
                <a:gd name="T6" fmla="*/ 75 w 75"/>
                <a:gd name="T7" fmla="*/ 52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5"/>
                <a:gd name="T13" fmla="*/ 0 h 52"/>
                <a:gd name="T14" fmla="*/ 75 w 75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5" h="52">
                  <a:moveTo>
                    <a:pt x="75" y="52"/>
                  </a:moveTo>
                  <a:lnTo>
                    <a:pt x="0" y="0"/>
                  </a:lnTo>
                  <a:lnTo>
                    <a:pt x="0" y="52"/>
                  </a:lnTo>
                  <a:lnTo>
                    <a:pt x="75" y="52"/>
                  </a:lnTo>
                  <a:close/>
                </a:path>
              </a:pathLst>
            </a:custGeom>
            <a:solidFill>
              <a:srgbClr val="000000"/>
            </a:solidFill>
            <a:ln w="7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59" name="Line 53">
              <a:extLst>
                <a:ext uri="{FF2B5EF4-FFF2-40B4-BE49-F238E27FC236}">
                  <a16:creationId xmlns:a16="http://schemas.microsoft.com/office/drawing/2014/main" id="{11351966-5E40-4B88-A8E1-ADF2A67FA0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6" y="2006"/>
              <a:ext cx="1" cy="89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460" name="Freeform 54">
              <a:extLst>
                <a:ext uri="{FF2B5EF4-FFF2-40B4-BE49-F238E27FC236}">
                  <a16:creationId xmlns:a16="http://schemas.microsoft.com/office/drawing/2014/main" id="{62E89518-756D-19BA-2C97-E0343FBC031A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8" y="2095"/>
              <a:ext cx="30" cy="52"/>
            </a:xfrm>
            <a:custGeom>
              <a:avLst/>
              <a:gdLst>
                <a:gd name="T0" fmla="*/ 0 w 30"/>
                <a:gd name="T1" fmla="*/ 0 h 52"/>
                <a:gd name="T2" fmla="*/ 15 w 30"/>
                <a:gd name="T3" fmla="*/ 52 h 52"/>
                <a:gd name="T4" fmla="*/ 30 w 30"/>
                <a:gd name="T5" fmla="*/ 0 h 52"/>
                <a:gd name="T6" fmla="*/ 0 w 30"/>
                <a:gd name="T7" fmla="*/ 0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0"/>
                <a:gd name="T13" fmla="*/ 0 h 52"/>
                <a:gd name="T14" fmla="*/ 30 w 30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0" h="52">
                  <a:moveTo>
                    <a:pt x="0" y="0"/>
                  </a:moveTo>
                  <a:lnTo>
                    <a:pt x="15" y="52"/>
                  </a:lnTo>
                  <a:lnTo>
                    <a:pt x="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61" name="Line 55">
              <a:extLst>
                <a:ext uri="{FF2B5EF4-FFF2-40B4-BE49-F238E27FC236}">
                  <a16:creationId xmlns:a16="http://schemas.microsoft.com/office/drawing/2014/main" id="{49EFDD45-4B29-0D86-D043-6DC47F8E1F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49" y="2760"/>
              <a:ext cx="1" cy="89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62" name="Freeform 56">
              <a:extLst>
                <a:ext uri="{FF2B5EF4-FFF2-40B4-BE49-F238E27FC236}">
                  <a16:creationId xmlns:a16="http://schemas.microsoft.com/office/drawing/2014/main" id="{6C497719-4E70-976A-A442-016EC3CAA851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8" y="2856"/>
              <a:ext cx="30" cy="52"/>
            </a:xfrm>
            <a:custGeom>
              <a:avLst/>
              <a:gdLst>
                <a:gd name="T0" fmla="*/ 0 w 30"/>
                <a:gd name="T1" fmla="*/ 0 h 52"/>
                <a:gd name="T2" fmla="*/ 15 w 30"/>
                <a:gd name="T3" fmla="*/ 52 h 52"/>
                <a:gd name="T4" fmla="*/ 30 w 30"/>
                <a:gd name="T5" fmla="*/ 0 h 52"/>
                <a:gd name="T6" fmla="*/ 0 w 30"/>
                <a:gd name="T7" fmla="*/ 0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0"/>
                <a:gd name="T13" fmla="*/ 0 h 52"/>
                <a:gd name="T14" fmla="*/ 30 w 30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0" h="52">
                  <a:moveTo>
                    <a:pt x="0" y="0"/>
                  </a:moveTo>
                  <a:lnTo>
                    <a:pt x="15" y="52"/>
                  </a:lnTo>
                  <a:lnTo>
                    <a:pt x="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63" name="Line 57">
              <a:extLst>
                <a:ext uri="{FF2B5EF4-FFF2-40B4-BE49-F238E27FC236}">
                  <a16:creationId xmlns:a16="http://schemas.microsoft.com/office/drawing/2014/main" id="{AE90076E-D509-55DF-AA65-BDDAD662E8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05" y="1699"/>
              <a:ext cx="90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64" name="Freeform 58">
              <a:extLst>
                <a:ext uri="{FF2B5EF4-FFF2-40B4-BE49-F238E27FC236}">
                  <a16:creationId xmlns:a16="http://schemas.microsoft.com/office/drawing/2014/main" id="{1BFA2DDD-BFDA-AC6D-FA16-3D1CB0A99AAA}"/>
                </a:ext>
              </a:extLst>
            </p:cNvPr>
            <p:cNvSpPr>
              <a:spLocks/>
            </p:cNvSpPr>
            <p:nvPr/>
          </p:nvSpPr>
          <p:spPr bwMode="auto">
            <a:xfrm>
              <a:off x="1987" y="1677"/>
              <a:ext cx="52" cy="37"/>
            </a:xfrm>
            <a:custGeom>
              <a:avLst/>
              <a:gdLst>
                <a:gd name="T0" fmla="*/ 0 w 52"/>
                <a:gd name="T1" fmla="*/ 37 h 37"/>
                <a:gd name="T2" fmla="*/ 52 w 52"/>
                <a:gd name="T3" fmla="*/ 22 h 37"/>
                <a:gd name="T4" fmla="*/ 0 w 52"/>
                <a:gd name="T5" fmla="*/ 0 h 37"/>
                <a:gd name="T6" fmla="*/ 0 w 52"/>
                <a:gd name="T7" fmla="*/ 37 h 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2"/>
                <a:gd name="T13" fmla="*/ 0 h 37"/>
                <a:gd name="T14" fmla="*/ 52 w 52"/>
                <a:gd name="T15" fmla="*/ 37 h 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2" h="37">
                  <a:moveTo>
                    <a:pt x="0" y="37"/>
                  </a:moveTo>
                  <a:lnTo>
                    <a:pt x="52" y="22"/>
                  </a:lnTo>
                  <a:lnTo>
                    <a:pt x="0" y="0"/>
                  </a:lnTo>
                  <a:lnTo>
                    <a:pt x="0" y="3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65" name="Rectangle 59">
              <a:extLst>
                <a:ext uri="{FF2B5EF4-FFF2-40B4-BE49-F238E27FC236}">
                  <a16:creationId xmlns:a16="http://schemas.microsoft.com/office/drawing/2014/main" id="{A83B8A54-82A1-A4EF-C41A-4F96605997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99" y="2318"/>
              <a:ext cx="716" cy="224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66" name="Rectangle 22">
              <a:extLst>
                <a:ext uri="{FF2B5EF4-FFF2-40B4-BE49-F238E27FC236}">
                  <a16:creationId xmlns:a16="http://schemas.microsoft.com/office/drawing/2014/main" id="{D3F4B50E-403E-B513-2893-9727AE8B9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96" y="2358"/>
              <a:ext cx="75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:SalesLineItem</a:t>
              </a:r>
              <a:endParaRPr lang="en-US" altLang="en-US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441" name="Rectangle 18440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6FCFBC2A-9B70-0D2D-74E3-DAEF7195BA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833311" y="962167"/>
            <a:ext cx="3103808" cy="4421876"/>
          </a:xfrm>
        </p:spPr>
        <p:txBody>
          <a:bodyPr anchor="t">
            <a:normAutofit/>
          </a:bodyPr>
          <a:lstStyle/>
          <a:p>
            <a:pPr algn="r"/>
            <a:r>
              <a:rPr lang="en-US" altLang="en-US" sz="4000" dirty="0"/>
              <a:t>Expert</a:t>
            </a:r>
          </a:p>
        </p:txBody>
      </p:sp>
      <p:sp>
        <p:nvSpPr>
          <p:cNvPr id="18436" name="Rectangle 3">
            <a:extLst>
              <a:ext uri="{FF2B5EF4-FFF2-40B4-BE49-F238E27FC236}">
                <a16:creationId xmlns:a16="http://schemas.microsoft.com/office/drawing/2014/main" id="{1AE1AF24-53AD-7608-7C8E-28DBD706FE9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7423" y="962167"/>
            <a:ext cx="9186898" cy="4743174"/>
          </a:xfrm>
        </p:spPr>
        <p:txBody>
          <a:bodyPr anchor="t">
            <a:normAutofit/>
          </a:bodyPr>
          <a:lstStyle/>
          <a:p>
            <a:pPr marL="342900" indent="-342900"/>
            <a:r>
              <a:rPr lang="en-US" altLang="en-US" sz="4400" dirty="0"/>
              <a:t>Consequences:</a:t>
            </a:r>
          </a:p>
          <a:p>
            <a:pPr marL="742950" lvl="1" indent="-285750"/>
            <a:r>
              <a:rPr lang="en-US" altLang="en-US" sz="4400" dirty="0"/>
              <a:t>Encapsulation is maintained so supports low coupling.</a:t>
            </a:r>
          </a:p>
          <a:p>
            <a:pPr marL="457200" lvl="1" indent="0">
              <a:buNone/>
            </a:pPr>
            <a:endParaRPr lang="en-US" altLang="en-US" sz="4400" dirty="0"/>
          </a:p>
          <a:p>
            <a:pPr marL="742950" lvl="1" indent="-285750"/>
            <a:r>
              <a:rPr lang="en-US" altLang="en-US" sz="4400" dirty="0"/>
              <a:t>Behavior distributed encouraging cohesive “lightweight” classes.</a:t>
            </a:r>
          </a:p>
        </p:txBody>
      </p:sp>
      <p:sp>
        <p:nvSpPr>
          <p:cNvPr id="18443" name="Rectangle 18442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45" name="Rectangle 18444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76000"/>
                </a:srgbClr>
              </a:gs>
              <a:gs pos="100000">
                <a:schemeClr val="accent1"/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34" name="Slide Number Placeholder 3">
            <a:extLst>
              <a:ext uri="{FF2B5EF4-FFF2-40B4-BE49-F238E27FC236}">
                <a16:creationId xmlns:a16="http://schemas.microsoft.com/office/drawing/2014/main" id="{B89A4A4D-A11B-C31B-E099-97FBD31842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04320" y="6455664"/>
            <a:ext cx="448056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spcAft>
                <a:spcPts val="600"/>
              </a:spcAft>
            </a:pPr>
            <a:fld id="{E91C04B2-6F89-4F86-A245-AE7C41E3D657}" type="slidenum">
              <a:rPr lang="de-DE" alt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27</a:t>
            </a:fld>
            <a:endParaRPr lang="de-DE" altLang="en-US" sz="11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2C3B82-89AF-8E76-84EC-34D268A6C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CREATOR PATTERN</a:t>
            </a:r>
          </a:p>
        </p:txBody>
      </p:sp>
      <p:pic>
        <p:nvPicPr>
          <p:cNvPr id="6" name="Graphic 5" descr="User">
            <a:extLst>
              <a:ext uri="{FF2B5EF4-FFF2-40B4-BE49-F238E27FC236}">
                <a16:creationId xmlns:a16="http://schemas.microsoft.com/office/drawing/2014/main" id="{111FC5B4-9F53-4BBD-1FC9-9D6A490C49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8" name="Graphic 7" descr="User">
            <a:extLst>
              <a:ext uri="{FF2B5EF4-FFF2-40B4-BE49-F238E27FC236}">
                <a16:creationId xmlns:a16="http://schemas.microsoft.com/office/drawing/2014/main" id="{40DAC403-3F3D-4881-9B96-BDD4583C6E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223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465" name="Rectangle 19464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7F3E1011-BEBD-4442-ABE1-D68DA16D78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148901" y="623499"/>
            <a:ext cx="3103808" cy="4421876"/>
          </a:xfrm>
        </p:spPr>
        <p:txBody>
          <a:bodyPr anchor="t">
            <a:normAutofit/>
          </a:bodyPr>
          <a:lstStyle/>
          <a:p>
            <a:pPr algn="r"/>
            <a:r>
              <a:rPr lang="en-US" altLang="en-US" sz="4000" dirty="0"/>
              <a:t>Creator</a:t>
            </a:r>
          </a:p>
        </p:txBody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5357EF53-1B78-C239-ED3F-9567BD522A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103808" y="453651"/>
            <a:ext cx="8749525" cy="5493497"/>
          </a:xfrm>
        </p:spPr>
        <p:txBody>
          <a:bodyPr anchor="t">
            <a:normAutofit fontScale="92500" lnSpcReduction="10000"/>
          </a:bodyPr>
          <a:lstStyle/>
          <a:p>
            <a:pPr marL="342900" indent="-342900"/>
            <a:r>
              <a:rPr lang="en-US" altLang="en-US" sz="3600" dirty="0"/>
              <a:t>Intent:</a:t>
            </a:r>
          </a:p>
          <a:p>
            <a:pPr marL="742950" lvl="1" indent="-285750"/>
            <a:r>
              <a:rPr lang="en-US" altLang="en-US" sz="3600" dirty="0"/>
              <a:t>Assign class B the responsibility to create instance of class A if one of the following is true:</a:t>
            </a:r>
          </a:p>
          <a:p>
            <a:pPr marL="457200" lvl="1" indent="0">
              <a:buNone/>
            </a:pPr>
            <a:endParaRPr lang="en-US" altLang="en-US" sz="3600" dirty="0"/>
          </a:p>
          <a:p>
            <a:pPr lvl="2"/>
            <a:r>
              <a:rPr lang="en-US" altLang="en-US" sz="3600" dirty="0"/>
              <a:t>B contains or aggregates A</a:t>
            </a:r>
          </a:p>
          <a:p>
            <a:pPr lvl="2"/>
            <a:r>
              <a:rPr lang="en-US" altLang="en-US" sz="3600" dirty="0"/>
              <a:t>B closely uses A</a:t>
            </a:r>
          </a:p>
          <a:p>
            <a:pPr lvl="2"/>
            <a:r>
              <a:rPr lang="en-US" altLang="en-US" sz="3600" dirty="0"/>
              <a:t>B has the initializing data for A</a:t>
            </a:r>
          </a:p>
          <a:p>
            <a:pPr marL="914400" lvl="2" indent="0">
              <a:buNone/>
            </a:pPr>
            <a:endParaRPr lang="en-US" altLang="en-US" sz="3600" dirty="0"/>
          </a:p>
          <a:p>
            <a:pPr marL="742950" lvl="1" indent="-285750"/>
            <a:r>
              <a:rPr lang="en-US" altLang="en-US" sz="3600" dirty="0"/>
              <a:t>If more than one option applies, prefer class B which contains or aggregates A.</a:t>
            </a:r>
          </a:p>
          <a:p>
            <a:pPr marL="742950" lvl="1" indent="-285750"/>
            <a:endParaRPr lang="en-US" altLang="en-US" sz="2000" dirty="0"/>
          </a:p>
        </p:txBody>
      </p:sp>
      <p:sp>
        <p:nvSpPr>
          <p:cNvPr id="19467" name="Rectangle 19466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69" name="Rectangle 19468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76000"/>
                </a:srgbClr>
              </a:gs>
              <a:gs pos="100000">
                <a:schemeClr val="accent1"/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58" name="Slide Number Placeholder 3">
            <a:extLst>
              <a:ext uri="{FF2B5EF4-FFF2-40B4-BE49-F238E27FC236}">
                <a16:creationId xmlns:a16="http://schemas.microsoft.com/office/drawing/2014/main" id="{492062DB-A8AB-F1AF-FC8E-A31988C66D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04320" y="6455664"/>
            <a:ext cx="448056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spcAft>
                <a:spcPts val="600"/>
              </a:spcAft>
            </a:pPr>
            <a:fld id="{CE567A71-C5AC-4BD1-873B-44CDC17D41BD}" type="slidenum">
              <a:rPr lang="de-DE" alt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29</a:t>
            </a:fld>
            <a:endParaRPr lang="de-DE" altLang="en-US" sz="11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489" name="Rectangle 20488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9DA90C79-B22D-10D8-99C8-E6765C54EB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56823" y="962166"/>
            <a:ext cx="3103808" cy="4421876"/>
          </a:xfrm>
        </p:spPr>
        <p:txBody>
          <a:bodyPr anchor="t">
            <a:normAutofit/>
          </a:bodyPr>
          <a:lstStyle/>
          <a:p>
            <a:pPr algn="r"/>
            <a:r>
              <a:rPr lang="en-US" altLang="en-US" sz="4000"/>
              <a:t>…Creator</a:t>
            </a:r>
          </a:p>
        </p:txBody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E3D17D1E-25E3-7A0C-F904-2530F535244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088929" y="962167"/>
            <a:ext cx="7978893" cy="4743174"/>
          </a:xfrm>
        </p:spPr>
        <p:txBody>
          <a:bodyPr anchor="t">
            <a:normAutofit/>
          </a:bodyPr>
          <a:lstStyle/>
          <a:p>
            <a:pPr marL="342900" indent="-342900"/>
            <a:r>
              <a:rPr lang="en-US" altLang="en-US" sz="4800" dirty="0"/>
              <a:t>Problem:</a:t>
            </a:r>
          </a:p>
          <a:p>
            <a:pPr marL="742950" lvl="1" indent="-285750"/>
            <a:r>
              <a:rPr lang="en-US" altLang="en-US" sz="4800" dirty="0"/>
              <a:t>Who should be responsible for creating new instances of some class?</a:t>
            </a:r>
          </a:p>
        </p:txBody>
      </p:sp>
      <p:sp>
        <p:nvSpPr>
          <p:cNvPr id="20491" name="Rectangle 20490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93" name="Rectangle 20492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76000"/>
                </a:srgbClr>
              </a:gs>
              <a:gs pos="100000">
                <a:schemeClr val="accent1"/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82" name="Slide Number Placeholder 3">
            <a:extLst>
              <a:ext uri="{FF2B5EF4-FFF2-40B4-BE49-F238E27FC236}">
                <a16:creationId xmlns:a16="http://schemas.microsoft.com/office/drawing/2014/main" id="{6520C081-FA06-D291-C1CB-04AE5A68DF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04320" y="6455664"/>
            <a:ext cx="448056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spcAft>
                <a:spcPts val="600"/>
              </a:spcAft>
            </a:pPr>
            <a:fld id="{D4734E9D-F198-47B8-B3AE-7CE62F9A7289}" type="slidenum">
              <a:rPr lang="de-DE" alt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30</a:t>
            </a:fld>
            <a:endParaRPr lang="de-DE" altLang="en-US" sz="11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650" name="Rectangle 2"/>
          <p:cNvSpPr>
            <a:spLocks noGrp="1" noChangeArrowheads="1"/>
          </p:cNvSpPr>
          <p:nvPr>
            <p:ph type="title"/>
          </p:nvPr>
        </p:nvSpPr>
        <p:spPr>
          <a:xfrm>
            <a:off x="910119" y="572569"/>
            <a:ext cx="3380527" cy="1642956"/>
          </a:xfrm>
        </p:spPr>
        <p:txBody>
          <a:bodyPr anchor="b">
            <a:normAutofit/>
          </a:bodyPr>
          <a:lstStyle/>
          <a:p>
            <a:r>
              <a:rPr lang="en-US" altLang="en-US" sz="3600" dirty="0">
                <a:solidFill>
                  <a:schemeClr val="tx2"/>
                </a:solidFill>
              </a:rPr>
              <a:t>Example: Class Diagram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1445238" y="6356350"/>
            <a:ext cx="54864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ABEAC46-B3E9-42FD-B02C-5AE907EC9AF9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28" name="Group 4"/>
          <p:cNvGrpSpPr>
            <a:grpSpLocks noChangeAspect="1"/>
          </p:cNvGrpSpPr>
          <p:nvPr/>
        </p:nvGrpSpPr>
        <p:grpSpPr bwMode="auto">
          <a:xfrm>
            <a:off x="5139176" y="609600"/>
            <a:ext cx="6298079" cy="5638800"/>
            <a:chOff x="863" y="962"/>
            <a:chExt cx="3697" cy="3310"/>
          </a:xfrm>
        </p:grpSpPr>
        <p:sp>
          <p:nvSpPr>
            <p:cNvPr id="1027" name="AutoShape 3"/>
            <p:cNvSpPr>
              <a:spLocks noChangeAspect="1" noChangeArrowheads="1" noTextEdit="1"/>
            </p:cNvSpPr>
            <p:nvPr/>
          </p:nvSpPr>
          <p:spPr bwMode="auto">
            <a:xfrm>
              <a:off x="863" y="962"/>
              <a:ext cx="3697" cy="3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9" name="Rectangle 5"/>
            <p:cNvSpPr>
              <a:spLocks noChangeArrowheads="1"/>
            </p:cNvSpPr>
            <p:nvPr/>
          </p:nvSpPr>
          <p:spPr bwMode="auto">
            <a:xfrm>
              <a:off x="2553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0" name="Rectangle 6"/>
            <p:cNvSpPr>
              <a:spLocks noChangeArrowheads="1"/>
            </p:cNvSpPr>
            <p:nvPr/>
          </p:nvSpPr>
          <p:spPr bwMode="auto">
            <a:xfrm>
              <a:off x="2706" y="3055"/>
              <a:ext cx="26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register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1" name="Rectangle 7"/>
            <p:cNvSpPr>
              <a:spLocks noChangeArrowheads="1"/>
            </p:cNvSpPr>
            <p:nvPr/>
          </p:nvSpPr>
          <p:spPr bwMode="auto">
            <a:xfrm>
              <a:off x="2553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2" name="Rectangle 8"/>
            <p:cNvSpPr>
              <a:spLocks noChangeArrowheads="1"/>
            </p:cNvSpPr>
            <p:nvPr/>
          </p:nvSpPr>
          <p:spPr bwMode="auto">
            <a:xfrm>
              <a:off x="3703" y="2268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3" name="Rectangle 9"/>
            <p:cNvSpPr>
              <a:spLocks noChangeArrowheads="1"/>
            </p:cNvSpPr>
            <p:nvPr/>
          </p:nvSpPr>
          <p:spPr bwMode="auto">
            <a:xfrm>
              <a:off x="3930" y="2309"/>
              <a:ext cx="15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4" name="Rectangle 10"/>
            <p:cNvSpPr>
              <a:spLocks noChangeArrowheads="1"/>
            </p:cNvSpPr>
            <p:nvPr/>
          </p:nvSpPr>
          <p:spPr bwMode="auto">
            <a:xfrm>
              <a:off x="3703" y="2445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5" name="Rectangle 11"/>
            <p:cNvSpPr>
              <a:spLocks noChangeArrowheads="1"/>
            </p:cNvSpPr>
            <p:nvPr/>
          </p:nvSpPr>
          <p:spPr bwMode="auto">
            <a:xfrm>
              <a:off x="2553" y="2222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6" name="Rectangle 12"/>
            <p:cNvSpPr>
              <a:spLocks noChangeArrowheads="1"/>
            </p:cNvSpPr>
            <p:nvPr/>
          </p:nvSpPr>
          <p:spPr bwMode="auto">
            <a:xfrm>
              <a:off x="2720" y="2263"/>
              <a:ext cx="19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Store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7" name="Rectangle 13"/>
            <p:cNvSpPr>
              <a:spLocks noChangeArrowheads="1"/>
            </p:cNvSpPr>
            <p:nvPr/>
          </p:nvSpPr>
          <p:spPr bwMode="auto">
            <a:xfrm>
              <a:off x="2553" y="2399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8" name="Rectangle 14"/>
            <p:cNvSpPr>
              <a:spLocks noChangeArrowheads="1"/>
            </p:cNvSpPr>
            <p:nvPr/>
          </p:nvSpPr>
          <p:spPr bwMode="auto">
            <a:xfrm>
              <a:off x="2599" y="2439"/>
              <a:ext cx="28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address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9" name="Rectangle 15"/>
            <p:cNvSpPr>
              <a:spLocks noChangeArrowheads="1"/>
            </p:cNvSpPr>
            <p:nvPr/>
          </p:nvSpPr>
          <p:spPr bwMode="auto">
            <a:xfrm>
              <a:off x="2599" y="2534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name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0" name="Rectangle 16"/>
            <p:cNvSpPr>
              <a:spLocks noChangeArrowheads="1"/>
            </p:cNvSpPr>
            <p:nvPr/>
          </p:nvSpPr>
          <p:spPr bwMode="auto">
            <a:xfrm>
              <a:off x="1319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1" name="Rectangle 17"/>
            <p:cNvSpPr>
              <a:spLocks noChangeArrowheads="1"/>
            </p:cNvSpPr>
            <p:nvPr/>
          </p:nvSpPr>
          <p:spPr bwMode="auto">
            <a:xfrm>
              <a:off x="1500" y="3055"/>
              <a:ext cx="16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2" name="Rectangle 18"/>
            <p:cNvSpPr>
              <a:spLocks noChangeArrowheads="1"/>
            </p:cNvSpPr>
            <p:nvPr/>
          </p:nvSpPr>
          <p:spPr bwMode="auto">
            <a:xfrm>
              <a:off x="1319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3" name="Rectangle 19"/>
            <p:cNvSpPr>
              <a:spLocks noChangeArrowheads="1"/>
            </p:cNvSpPr>
            <p:nvPr/>
          </p:nvSpPr>
          <p:spPr bwMode="auto">
            <a:xfrm>
              <a:off x="1365" y="3231"/>
              <a:ext cx="15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date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4" name="Rectangle 20"/>
            <p:cNvSpPr>
              <a:spLocks noChangeArrowheads="1"/>
            </p:cNvSpPr>
            <p:nvPr/>
          </p:nvSpPr>
          <p:spPr bwMode="auto">
            <a:xfrm>
              <a:off x="1365" y="3420"/>
              <a:ext cx="15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time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5" name="Rectangle 21"/>
            <p:cNvSpPr>
              <a:spLocks noChangeArrowheads="1"/>
            </p:cNvSpPr>
            <p:nvPr/>
          </p:nvSpPr>
          <p:spPr bwMode="auto">
            <a:xfrm>
              <a:off x="876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6" name="Rectangle 22"/>
            <p:cNvSpPr>
              <a:spLocks noChangeArrowheads="1"/>
            </p:cNvSpPr>
            <p:nvPr/>
          </p:nvSpPr>
          <p:spPr bwMode="auto">
            <a:xfrm>
              <a:off x="980" y="3950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Payment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7" name="Rectangle 23"/>
            <p:cNvSpPr>
              <a:spLocks noChangeArrowheads="1"/>
            </p:cNvSpPr>
            <p:nvPr/>
          </p:nvSpPr>
          <p:spPr bwMode="auto">
            <a:xfrm>
              <a:off x="876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8" name="Rectangle 24"/>
            <p:cNvSpPr>
              <a:spLocks noChangeArrowheads="1"/>
            </p:cNvSpPr>
            <p:nvPr/>
          </p:nvSpPr>
          <p:spPr bwMode="auto">
            <a:xfrm>
              <a:off x="922" y="4127"/>
              <a:ext cx="2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amount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9" name="Rectangle 25"/>
            <p:cNvSpPr>
              <a:spLocks noChangeArrowheads="1"/>
            </p:cNvSpPr>
            <p:nvPr/>
          </p:nvSpPr>
          <p:spPr bwMode="auto">
            <a:xfrm>
              <a:off x="1319" y="2134"/>
              <a:ext cx="521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0" name="Rectangle 26"/>
            <p:cNvSpPr>
              <a:spLocks noChangeArrowheads="1"/>
            </p:cNvSpPr>
            <p:nvPr/>
          </p:nvSpPr>
          <p:spPr bwMode="auto">
            <a:xfrm>
              <a:off x="1480" y="2173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1" name="Rectangle 27"/>
            <p:cNvSpPr>
              <a:spLocks noChangeArrowheads="1"/>
            </p:cNvSpPr>
            <p:nvPr/>
          </p:nvSpPr>
          <p:spPr bwMode="auto">
            <a:xfrm>
              <a:off x="1426" y="2268"/>
              <a:ext cx="30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LineItem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2" name="Rectangle 28"/>
            <p:cNvSpPr>
              <a:spLocks noChangeArrowheads="1"/>
            </p:cNvSpPr>
            <p:nvPr/>
          </p:nvSpPr>
          <p:spPr bwMode="auto">
            <a:xfrm>
              <a:off x="1319" y="2401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3" name="Rectangle 29"/>
            <p:cNvSpPr>
              <a:spLocks noChangeArrowheads="1"/>
            </p:cNvSpPr>
            <p:nvPr/>
          </p:nvSpPr>
          <p:spPr bwMode="auto">
            <a:xfrm>
              <a:off x="1365" y="2443"/>
              <a:ext cx="28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quantity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4" name="Rectangle 30"/>
            <p:cNvSpPr>
              <a:spLocks noChangeArrowheads="1"/>
            </p:cNvSpPr>
            <p:nvPr/>
          </p:nvSpPr>
          <p:spPr bwMode="auto">
            <a:xfrm>
              <a:off x="3363" y="3908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5" name="Rectangle 31"/>
            <p:cNvSpPr>
              <a:spLocks noChangeArrowheads="1"/>
            </p:cNvSpPr>
            <p:nvPr/>
          </p:nvSpPr>
          <p:spPr bwMode="auto">
            <a:xfrm>
              <a:off x="3487" y="3950"/>
              <a:ext cx="27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Cashier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6" name="Rectangle 32"/>
            <p:cNvSpPr>
              <a:spLocks noChangeArrowheads="1"/>
            </p:cNvSpPr>
            <p:nvPr/>
          </p:nvSpPr>
          <p:spPr bwMode="auto">
            <a:xfrm>
              <a:off x="3363" y="4086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7" name="Rectangle 33"/>
            <p:cNvSpPr>
              <a:spLocks noChangeArrowheads="1"/>
            </p:cNvSpPr>
            <p:nvPr/>
          </p:nvSpPr>
          <p:spPr bwMode="auto">
            <a:xfrm>
              <a:off x="1774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8" name="Rectangle 34"/>
            <p:cNvSpPr>
              <a:spLocks noChangeArrowheads="1"/>
            </p:cNvSpPr>
            <p:nvPr/>
          </p:nvSpPr>
          <p:spPr bwMode="auto">
            <a:xfrm>
              <a:off x="1862" y="3950"/>
              <a:ext cx="34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Customer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9" name="Rectangle 35"/>
            <p:cNvSpPr>
              <a:spLocks noChangeArrowheads="1"/>
            </p:cNvSpPr>
            <p:nvPr/>
          </p:nvSpPr>
          <p:spPr bwMode="auto">
            <a:xfrm>
              <a:off x="1774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0" name="Rectangle 36"/>
            <p:cNvSpPr>
              <a:spLocks noChangeArrowheads="1"/>
            </p:cNvSpPr>
            <p:nvPr/>
          </p:nvSpPr>
          <p:spPr bwMode="auto">
            <a:xfrm>
              <a:off x="3706" y="3107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1" name="Rectangle 37"/>
            <p:cNvSpPr>
              <a:spLocks noChangeArrowheads="1"/>
            </p:cNvSpPr>
            <p:nvPr/>
          </p:nvSpPr>
          <p:spPr bwMode="auto">
            <a:xfrm>
              <a:off x="3811" y="3148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Manager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2" name="Rectangle 38"/>
            <p:cNvSpPr>
              <a:spLocks noChangeArrowheads="1"/>
            </p:cNvSpPr>
            <p:nvPr/>
          </p:nvSpPr>
          <p:spPr bwMode="auto">
            <a:xfrm>
              <a:off x="3706" y="3284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3" name="Rectangle 39"/>
            <p:cNvSpPr>
              <a:spLocks noChangeArrowheads="1"/>
            </p:cNvSpPr>
            <p:nvPr/>
          </p:nvSpPr>
          <p:spPr bwMode="auto">
            <a:xfrm>
              <a:off x="2553" y="1468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4" name="Rectangle 40"/>
            <p:cNvSpPr>
              <a:spLocks noChangeArrowheads="1"/>
            </p:cNvSpPr>
            <p:nvPr/>
          </p:nvSpPr>
          <p:spPr bwMode="auto">
            <a:xfrm>
              <a:off x="2677" y="1507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5" name="Rectangle 41"/>
            <p:cNvSpPr>
              <a:spLocks noChangeArrowheads="1"/>
            </p:cNvSpPr>
            <p:nvPr/>
          </p:nvSpPr>
          <p:spPr bwMode="auto">
            <a:xfrm>
              <a:off x="2679" y="1601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Catalog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6" name="Rectangle 42"/>
            <p:cNvSpPr>
              <a:spLocks noChangeArrowheads="1"/>
            </p:cNvSpPr>
            <p:nvPr/>
          </p:nvSpPr>
          <p:spPr bwMode="auto">
            <a:xfrm>
              <a:off x="2553" y="173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7" name="Rectangle 43"/>
            <p:cNvSpPr>
              <a:spLocks noChangeArrowheads="1"/>
            </p:cNvSpPr>
            <p:nvPr/>
          </p:nvSpPr>
          <p:spPr bwMode="auto">
            <a:xfrm>
              <a:off x="3700" y="1376"/>
              <a:ext cx="615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8" name="Rectangle 44"/>
            <p:cNvSpPr>
              <a:spLocks noChangeArrowheads="1"/>
            </p:cNvSpPr>
            <p:nvPr/>
          </p:nvSpPr>
          <p:spPr bwMode="auto">
            <a:xfrm>
              <a:off x="3870" y="1415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9" name="Rectangle 45"/>
            <p:cNvSpPr>
              <a:spLocks noChangeArrowheads="1"/>
            </p:cNvSpPr>
            <p:nvPr/>
          </p:nvSpPr>
          <p:spPr bwMode="auto">
            <a:xfrm>
              <a:off x="3782" y="1509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Specification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0" name="Rectangle 46"/>
            <p:cNvSpPr>
              <a:spLocks noChangeArrowheads="1"/>
            </p:cNvSpPr>
            <p:nvPr/>
          </p:nvSpPr>
          <p:spPr bwMode="auto">
            <a:xfrm>
              <a:off x="3700" y="1643"/>
              <a:ext cx="615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1" name="Rectangle 47"/>
            <p:cNvSpPr>
              <a:spLocks noChangeArrowheads="1"/>
            </p:cNvSpPr>
            <p:nvPr/>
          </p:nvSpPr>
          <p:spPr bwMode="auto">
            <a:xfrm>
              <a:off x="3746" y="1683"/>
              <a:ext cx="3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description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2" name="Rectangle 48"/>
            <p:cNvSpPr>
              <a:spLocks noChangeArrowheads="1"/>
            </p:cNvSpPr>
            <p:nvPr/>
          </p:nvSpPr>
          <p:spPr bwMode="auto">
            <a:xfrm>
              <a:off x="3746" y="1777"/>
              <a:ext cx="1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price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3" name="Rectangle 49"/>
            <p:cNvSpPr>
              <a:spLocks noChangeArrowheads="1"/>
            </p:cNvSpPr>
            <p:nvPr/>
          </p:nvSpPr>
          <p:spPr bwMode="auto">
            <a:xfrm>
              <a:off x="3746" y="1872"/>
              <a:ext cx="1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UPC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4" name="Line 50"/>
            <p:cNvSpPr>
              <a:spLocks noChangeShapeType="1"/>
            </p:cNvSpPr>
            <p:nvPr/>
          </p:nvSpPr>
          <p:spPr bwMode="auto">
            <a:xfrm flipH="1">
              <a:off x="3074" y="2445"/>
              <a:ext cx="629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5" name="Rectangle 51"/>
            <p:cNvSpPr>
              <a:spLocks noChangeArrowheads="1"/>
            </p:cNvSpPr>
            <p:nvPr/>
          </p:nvSpPr>
          <p:spPr bwMode="auto">
            <a:xfrm>
              <a:off x="3268" y="2358"/>
              <a:ext cx="24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Stocks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6" name="Rectangle 52"/>
            <p:cNvSpPr>
              <a:spLocks noChangeArrowheads="1"/>
            </p:cNvSpPr>
            <p:nvPr/>
          </p:nvSpPr>
          <p:spPr bwMode="auto">
            <a:xfrm>
              <a:off x="3576" y="2451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7" name="Line 53"/>
            <p:cNvSpPr>
              <a:spLocks noChangeShapeType="1"/>
            </p:cNvSpPr>
            <p:nvPr/>
          </p:nvSpPr>
          <p:spPr bwMode="auto">
            <a:xfrm flipV="1">
              <a:off x="2814" y="2667"/>
              <a:ext cx="1" cy="347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8" name="Rectangle 54"/>
            <p:cNvSpPr>
              <a:spLocks noChangeArrowheads="1"/>
            </p:cNvSpPr>
            <p:nvPr/>
          </p:nvSpPr>
          <p:spPr bwMode="auto">
            <a:xfrm>
              <a:off x="2925" y="2752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Houses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9" name="Rectangle 55"/>
            <p:cNvSpPr>
              <a:spLocks noChangeArrowheads="1"/>
            </p:cNvSpPr>
            <p:nvPr/>
          </p:nvSpPr>
          <p:spPr bwMode="auto">
            <a:xfrm>
              <a:off x="2881" y="2884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0" name="Rectangle 56"/>
            <p:cNvSpPr>
              <a:spLocks noChangeArrowheads="1"/>
            </p:cNvSpPr>
            <p:nvPr/>
          </p:nvSpPr>
          <p:spPr bwMode="auto">
            <a:xfrm>
              <a:off x="2969" y="2868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1" name="Line 57"/>
            <p:cNvSpPr>
              <a:spLocks noChangeShapeType="1"/>
            </p:cNvSpPr>
            <p:nvPr/>
          </p:nvSpPr>
          <p:spPr bwMode="auto">
            <a:xfrm>
              <a:off x="2814" y="1913"/>
              <a:ext cx="1" cy="309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2" name="Rectangle 58"/>
            <p:cNvSpPr>
              <a:spLocks noChangeArrowheads="1"/>
            </p:cNvSpPr>
            <p:nvPr/>
          </p:nvSpPr>
          <p:spPr bwMode="auto">
            <a:xfrm>
              <a:off x="2914" y="2010"/>
              <a:ext cx="300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Used-by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3" name="Rectangle 59"/>
            <p:cNvSpPr>
              <a:spLocks noChangeArrowheads="1"/>
            </p:cNvSpPr>
            <p:nvPr/>
          </p:nvSpPr>
          <p:spPr bwMode="auto">
            <a:xfrm>
              <a:off x="2916" y="2095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4" name="Line 60"/>
            <p:cNvSpPr>
              <a:spLocks noChangeShapeType="1"/>
            </p:cNvSpPr>
            <p:nvPr/>
          </p:nvSpPr>
          <p:spPr bwMode="auto">
            <a:xfrm flipH="1">
              <a:off x="3074" y="1690"/>
              <a:ext cx="626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5" name="Rectangle 61"/>
            <p:cNvSpPr>
              <a:spLocks noChangeArrowheads="1"/>
            </p:cNvSpPr>
            <p:nvPr/>
          </p:nvSpPr>
          <p:spPr bwMode="auto">
            <a:xfrm>
              <a:off x="3231" y="1604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6" name="Rectangle 62"/>
            <p:cNvSpPr>
              <a:spLocks noChangeArrowheads="1"/>
            </p:cNvSpPr>
            <p:nvPr/>
          </p:nvSpPr>
          <p:spPr bwMode="auto">
            <a:xfrm>
              <a:off x="3548" y="1728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7" name="Rectangle 63"/>
            <p:cNvSpPr>
              <a:spLocks noChangeArrowheads="1"/>
            </p:cNvSpPr>
            <p:nvPr/>
          </p:nvSpPr>
          <p:spPr bwMode="auto">
            <a:xfrm>
              <a:off x="3637" y="1712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8" name="Line 64"/>
            <p:cNvSpPr>
              <a:spLocks noChangeShapeType="1"/>
            </p:cNvSpPr>
            <p:nvPr/>
          </p:nvSpPr>
          <p:spPr bwMode="auto">
            <a:xfrm flipV="1">
              <a:off x="4007" y="2006"/>
              <a:ext cx="1" cy="262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9" name="Rectangle 65"/>
            <p:cNvSpPr>
              <a:spLocks noChangeArrowheads="1"/>
            </p:cNvSpPr>
            <p:nvPr/>
          </p:nvSpPr>
          <p:spPr bwMode="auto">
            <a:xfrm>
              <a:off x="4094" y="2050"/>
              <a:ext cx="35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0" name="Rectangle 66"/>
            <p:cNvSpPr>
              <a:spLocks noChangeArrowheads="1"/>
            </p:cNvSpPr>
            <p:nvPr/>
          </p:nvSpPr>
          <p:spPr bwMode="auto">
            <a:xfrm>
              <a:off x="4043" y="214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1" name="Line 67"/>
            <p:cNvSpPr>
              <a:spLocks noChangeShapeType="1"/>
            </p:cNvSpPr>
            <p:nvPr/>
          </p:nvSpPr>
          <p:spPr bwMode="auto">
            <a:xfrm flipH="1">
              <a:off x="1840" y="3419"/>
              <a:ext cx="713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2" name="Rectangle 68"/>
            <p:cNvSpPr>
              <a:spLocks noChangeArrowheads="1"/>
            </p:cNvSpPr>
            <p:nvPr/>
          </p:nvSpPr>
          <p:spPr bwMode="auto">
            <a:xfrm>
              <a:off x="1978" y="3333"/>
              <a:ext cx="44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Captured-on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3" name="Line 69"/>
            <p:cNvSpPr>
              <a:spLocks noChangeShapeType="1"/>
            </p:cNvSpPr>
            <p:nvPr/>
          </p:nvSpPr>
          <p:spPr bwMode="auto">
            <a:xfrm flipV="1">
              <a:off x="1579" y="2579"/>
              <a:ext cx="1" cy="435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4" name="Rectangle 70"/>
            <p:cNvSpPr>
              <a:spLocks noChangeArrowheads="1"/>
            </p:cNvSpPr>
            <p:nvPr/>
          </p:nvSpPr>
          <p:spPr bwMode="auto">
            <a:xfrm>
              <a:off x="1099" y="2756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Contained-in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5" name="Rectangle 71"/>
            <p:cNvSpPr>
              <a:spLocks noChangeArrowheads="1"/>
            </p:cNvSpPr>
            <p:nvPr/>
          </p:nvSpPr>
          <p:spPr bwMode="auto">
            <a:xfrm>
              <a:off x="1646" y="2620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6" name="Rectangle 72"/>
            <p:cNvSpPr>
              <a:spLocks noChangeArrowheads="1"/>
            </p:cNvSpPr>
            <p:nvPr/>
          </p:nvSpPr>
          <p:spPr bwMode="auto">
            <a:xfrm>
              <a:off x="1735" y="2604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7" name="Freeform 73"/>
            <p:cNvSpPr>
              <a:spLocks/>
            </p:cNvSpPr>
            <p:nvPr/>
          </p:nvSpPr>
          <p:spPr bwMode="auto">
            <a:xfrm>
              <a:off x="1686" y="1293"/>
              <a:ext cx="2321" cy="841"/>
            </a:xfrm>
            <a:custGeom>
              <a:avLst/>
              <a:gdLst/>
              <a:ahLst/>
              <a:cxnLst>
                <a:cxn ang="0">
                  <a:pos x="2321" y="83"/>
                </a:cxn>
                <a:cxn ang="0">
                  <a:pos x="2321" y="0"/>
                </a:cxn>
                <a:cxn ang="0">
                  <a:pos x="0" y="0"/>
                </a:cxn>
                <a:cxn ang="0">
                  <a:pos x="0" y="841"/>
                </a:cxn>
              </a:cxnLst>
              <a:rect l="0" t="0" r="r" b="b"/>
              <a:pathLst>
                <a:path w="2321" h="841">
                  <a:moveTo>
                    <a:pt x="2321" y="83"/>
                  </a:moveTo>
                  <a:lnTo>
                    <a:pt x="2321" y="0"/>
                  </a:lnTo>
                  <a:lnTo>
                    <a:pt x="0" y="0"/>
                  </a:lnTo>
                  <a:lnTo>
                    <a:pt x="0" y="841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8" name="Rectangle 74"/>
            <p:cNvSpPr>
              <a:spLocks noChangeArrowheads="1"/>
            </p:cNvSpPr>
            <p:nvPr/>
          </p:nvSpPr>
          <p:spPr bwMode="auto">
            <a:xfrm>
              <a:off x="2615" y="1205"/>
              <a:ext cx="4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9" name="Rectangle 75"/>
            <p:cNvSpPr>
              <a:spLocks noChangeArrowheads="1"/>
            </p:cNvSpPr>
            <p:nvPr/>
          </p:nvSpPr>
          <p:spPr bwMode="auto">
            <a:xfrm>
              <a:off x="1735" y="2008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0" name="Freeform 76"/>
            <p:cNvSpPr>
              <a:spLocks/>
            </p:cNvSpPr>
            <p:nvPr/>
          </p:nvSpPr>
          <p:spPr bwMode="auto">
            <a:xfrm>
              <a:off x="1473" y="1071"/>
              <a:ext cx="3016" cy="1374"/>
            </a:xfrm>
            <a:custGeom>
              <a:avLst/>
              <a:gdLst/>
              <a:ahLst/>
              <a:cxnLst>
                <a:cxn ang="0">
                  <a:pos x="0" y="1063"/>
                </a:cxn>
                <a:cxn ang="0">
                  <a:pos x="0" y="0"/>
                </a:cxn>
                <a:cxn ang="0">
                  <a:pos x="3016" y="0"/>
                </a:cxn>
                <a:cxn ang="0">
                  <a:pos x="3016" y="1374"/>
                </a:cxn>
                <a:cxn ang="0">
                  <a:pos x="2839" y="1374"/>
                </a:cxn>
              </a:cxnLst>
              <a:rect l="0" t="0" r="r" b="b"/>
              <a:pathLst>
                <a:path w="3016" h="1374">
                  <a:moveTo>
                    <a:pt x="0" y="1063"/>
                  </a:moveTo>
                  <a:lnTo>
                    <a:pt x="0" y="0"/>
                  </a:lnTo>
                  <a:lnTo>
                    <a:pt x="3016" y="0"/>
                  </a:lnTo>
                  <a:lnTo>
                    <a:pt x="3016" y="1374"/>
                  </a:lnTo>
                  <a:lnTo>
                    <a:pt x="2839" y="137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1" name="Rectangle 77"/>
            <p:cNvSpPr>
              <a:spLocks noChangeArrowheads="1"/>
            </p:cNvSpPr>
            <p:nvPr/>
          </p:nvSpPr>
          <p:spPr bwMode="auto">
            <a:xfrm>
              <a:off x="2702" y="984"/>
              <a:ext cx="5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Records-sale-of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2" name="Rectangle 78"/>
            <p:cNvSpPr>
              <a:spLocks noChangeArrowheads="1"/>
            </p:cNvSpPr>
            <p:nvPr/>
          </p:nvSpPr>
          <p:spPr bwMode="auto">
            <a:xfrm>
              <a:off x="1330" y="1998"/>
              <a:ext cx="13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0..1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3" name="Line 79"/>
            <p:cNvSpPr>
              <a:spLocks noChangeShapeType="1"/>
            </p:cNvSpPr>
            <p:nvPr/>
          </p:nvSpPr>
          <p:spPr bwMode="auto">
            <a:xfrm flipH="1">
              <a:off x="3074" y="3284"/>
              <a:ext cx="632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4" name="Rectangle 80"/>
            <p:cNvSpPr>
              <a:spLocks noChangeArrowheads="1"/>
            </p:cNvSpPr>
            <p:nvPr/>
          </p:nvSpPr>
          <p:spPr bwMode="auto">
            <a:xfrm>
              <a:off x="3208" y="3197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Started-by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5" name="Freeform 81"/>
            <p:cNvSpPr>
              <a:spLocks/>
            </p:cNvSpPr>
            <p:nvPr/>
          </p:nvSpPr>
          <p:spPr bwMode="auto">
            <a:xfrm>
              <a:off x="1137" y="3554"/>
              <a:ext cx="336" cy="354"/>
            </a:xfrm>
            <a:custGeom>
              <a:avLst/>
              <a:gdLst/>
              <a:ahLst/>
              <a:cxnLst>
                <a:cxn ang="0">
                  <a:pos x="0" y="354"/>
                </a:cxn>
                <a:cxn ang="0">
                  <a:pos x="0" y="177"/>
                </a:cxn>
                <a:cxn ang="0">
                  <a:pos x="336" y="177"/>
                </a:cxn>
                <a:cxn ang="0">
                  <a:pos x="336" y="0"/>
                </a:cxn>
              </a:cxnLst>
              <a:rect l="0" t="0" r="r" b="b"/>
              <a:pathLst>
                <a:path w="336" h="354">
                  <a:moveTo>
                    <a:pt x="0" y="354"/>
                  </a:moveTo>
                  <a:lnTo>
                    <a:pt x="0" y="177"/>
                  </a:lnTo>
                  <a:lnTo>
                    <a:pt x="336" y="177"/>
                  </a:lnTo>
                  <a:lnTo>
                    <a:pt x="336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6" name="Rectangle 82"/>
            <p:cNvSpPr>
              <a:spLocks noChangeArrowheads="1"/>
            </p:cNvSpPr>
            <p:nvPr/>
          </p:nvSpPr>
          <p:spPr bwMode="auto">
            <a:xfrm>
              <a:off x="1106" y="3646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Paid-by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7" name="Freeform 83"/>
            <p:cNvSpPr>
              <a:spLocks/>
            </p:cNvSpPr>
            <p:nvPr/>
          </p:nvSpPr>
          <p:spPr bwMode="auto">
            <a:xfrm>
              <a:off x="1686" y="3554"/>
              <a:ext cx="348" cy="354"/>
            </a:xfrm>
            <a:custGeom>
              <a:avLst/>
              <a:gdLst/>
              <a:ahLst/>
              <a:cxnLst>
                <a:cxn ang="0">
                  <a:pos x="348" y="354"/>
                </a:cxn>
                <a:cxn ang="0">
                  <a:pos x="348" y="177"/>
                </a:cxn>
                <a:cxn ang="0">
                  <a:pos x="0" y="177"/>
                </a:cxn>
                <a:cxn ang="0">
                  <a:pos x="0" y="0"/>
                </a:cxn>
              </a:cxnLst>
              <a:rect l="0" t="0" r="r" b="b"/>
              <a:pathLst>
                <a:path w="348" h="354">
                  <a:moveTo>
                    <a:pt x="348" y="354"/>
                  </a:moveTo>
                  <a:lnTo>
                    <a:pt x="348" y="177"/>
                  </a:lnTo>
                  <a:lnTo>
                    <a:pt x="0" y="177"/>
                  </a:lnTo>
                  <a:lnTo>
                    <a:pt x="0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8" name="Rectangle 84"/>
            <p:cNvSpPr>
              <a:spLocks noChangeArrowheads="1"/>
            </p:cNvSpPr>
            <p:nvPr/>
          </p:nvSpPr>
          <p:spPr bwMode="auto">
            <a:xfrm>
              <a:off x="1794" y="3629"/>
              <a:ext cx="39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Initiated-by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9" name="Freeform 85"/>
            <p:cNvSpPr>
              <a:spLocks/>
            </p:cNvSpPr>
            <p:nvPr/>
          </p:nvSpPr>
          <p:spPr bwMode="auto">
            <a:xfrm>
              <a:off x="1840" y="2556"/>
              <a:ext cx="713" cy="594"/>
            </a:xfrm>
            <a:custGeom>
              <a:avLst/>
              <a:gdLst/>
              <a:ahLst/>
              <a:cxnLst>
                <a:cxn ang="0">
                  <a:pos x="0" y="594"/>
                </a:cxn>
                <a:cxn ang="0">
                  <a:pos x="357" y="594"/>
                </a:cxn>
                <a:cxn ang="0">
                  <a:pos x="357" y="0"/>
                </a:cxn>
                <a:cxn ang="0">
                  <a:pos x="713" y="0"/>
                </a:cxn>
              </a:cxnLst>
              <a:rect l="0" t="0" r="r" b="b"/>
              <a:pathLst>
                <a:path w="713" h="594">
                  <a:moveTo>
                    <a:pt x="0" y="594"/>
                  </a:moveTo>
                  <a:lnTo>
                    <a:pt x="357" y="594"/>
                  </a:lnTo>
                  <a:lnTo>
                    <a:pt x="357" y="0"/>
                  </a:lnTo>
                  <a:lnTo>
                    <a:pt x="713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0" name="Rectangle 86"/>
            <p:cNvSpPr>
              <a:spLocks noChangeArrowheads="1"/>
            </p:cNvSpPr>
            <p:nvPr/>
          </p:nvSpPr>
          <p:spPr bwMode="auto">
            <a:xfrm>
              <a:off x="2328" y="2706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Logs-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1" name="Rectangle 87"/>
            <p:cNvSpPr>
              <a:spLocks noChangeArrowheads="1"/>
            </p:cNvSpPr>
            <p:nvPr/>
          </p:nvSpPr>
          <p:spPr bwMode="auto">
            <a:xfrm>
              <a:off x="2244" y="2801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completed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2" name="Rectangle 88"/>
            <p:cNvSpPr>
              <a:spLocks noChangeArrowheads="1"/>
            </p:cNvSpPr>
            <p:nvPr/>
          </p:nvSpPr>
          <p:spPr bwMode="auto">
            <a:xfrm>
              <a:off x="2405" y="28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6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3" name="Rectangle 89"/>
            <p:cNvSpPr>
              <a:spLocks noChangeArrowheads="1"/>
            </p:cNvSpPr>
            <p:nvPr/>
          </p:nvSpPr>
          <p:spPr bwMode="auto">
            <a:xfrm>
              <a:off x="1868" y="300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4" name="Freeform 90"/>
            <p:cNvSpPr>
              <a:spLocks/>
            </p:cNvSpPr>
            <p:nvPr/>
          </p:nvSpPr>
          <p:spPr bwMode="auto">
            <a:xfrm>
              <a:off x="2814" y="3554"/>
              <a:ext cx="808" cy="35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77"/>
                </a:cxn>
                <a:cxn ang="0">
                  <a:pos x="808" y="177"/>
                </a:cxn>
                <a:cxn ang="0">
                  <a:pos x="808" y="354"/>
                </a:cxn>
              </a:cxnLst>
              <a:rect l="0" t="0" r="r" b="b"/>
              <a:pathLst>
                <a:path w="808" h="354">
                  <a:moveTo>
                    <a:pt x="0" y="0"/>
                  </a:moveTo>
                  <a:lnTo>
                    <a:pt x="0" y="177"/>
                  </a:lnTo>
                  <a:lnTo>
                    <a:pt x="808" y="177"/>
                  </a:lnTo>
                  <a:lnTo>
                    <a:pt x="808" y="35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5" name="Rectangle 91"/>
            <p:cNvSpPr>
              <a:spLocks noChangeArrowheads="1"/>
            </p:cNvSpPr>
            <p:nvPr/>
          </p:nvSpPr>
          <p:spPr bwMode="auto">
            <a:xfrm>
              <a:off x="2876" y="364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3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6" name="Rectangle 92"/>
            <p:cNvSpPr>
              <a:spLocks noChangeArrowheads="1"/>
            </p:cNvSpPr>
            <p:nvPr/>
          </p:nvSpPr>
          <p:spPr bwMode="auto">
            <a:xfrm>
              <a:off x="2920" y="3645"/>
              <a:ext cx="65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 Records-sales-on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7" name="Rectangle 93"/>
            <p:cNvSpPr>
              <a:spLocks noChangeArrowheads="1"/>
            </p:cNvSpPr>
            <p:nvPr/>
          </p:nvSpPr>
          <p:spPr bwMode="auto">
            <a:xfrm>
              <a:off x="3114" y="169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8" name="Rectangle 94"/>
            <p:cNvSpPr>
              <a:spLocks noChangeArrowheads="1"/>
            </p:cNvSpPr>
            <p:nvPr/>
          </p:nvSpPr>
          <p:spPr bwMode="auto">
            <a:xfrm>
              <a:off x="2449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9" name="Rectangle 95"/>
            <p:cNvSpPr>
              <a:spLocks noChangeArrowheads="1"/>
            </p:cNvSpPr>
            <p:nvPr/>
          </p:nvSpPr>
          <p:spPr bwMode="auto">
            <a:xfrm>
              <a:off x="2845" y="270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0" name="Rectangle 96"/>
            <p:cNvSpPr>
              <a:spLocks noChangeArrowheads="1"/>
            </p:cNvSpPr>
            <p:nvPr/>
          </p:nvSpPr>
          <p:spPr bwMode="auto">
            <a:xfrm>
              <a:off x="3114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1" name="Rectangle 97"/>
            <p:cNvSpPr>
              <a:spLocks noChangeArrowheads="1"/>
            </p:cNvSpPr>
            <p:nvPr/>
          </p:nvSpPr>
          <p:spPr bwMode="auto">
            <a:xfrm>
              <a:off x="4049" y="124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2" name="Rectangle 98"/>
            <p:cNvSpPr>
              <a:spLocks noChangeArrowheads="1"/>
            </p:cNvSpPr>
            <p:nvPr/>
          </p:nvSpPr>
          <p:spPr bwMode="auto">
            <a:xfrm>
              <a:off x="4355" y="244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3" name="Rectangle 99"/>
            <p:cNvSpPr>
              <a:spLocks noChangeArrowheads="1"/>
            </p:cNvSpPr>
            <p:nvPr/>
          </p:nvSpPr>
          <p:spPr bwMode="auto">
            <a:xfrm>
              <a:off x="3601" y="328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4" name="Rectangle 100"/>
            <p:cNvSpPr>
              <a:spLocks noChangeArrowheads="1"/>
            </p:cNvSpPr>
            <p:nvPr/>
          </p:nvSpPr>
          <p:spPr bwMode="auto">
            <a:xfrm>
              <a:off x="3114" y="3304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5" name="Rectangle 101"/>
            <p:cNvSpPr>
              <a:spLocks noChangeArrowheads="1"/>
            </p:cNvSpPr>
            <p:nvPr/>
          </p:nvSpPr>
          <p:spPr bwMode="auto">
            <a:xfrm>
              <a:off x="3654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6" name="Rectangle 102"/>
            <p:cNvSpPr>
              <a:spLocks noChangeArrowheads="1"/>
            </p:cNvSpPr>
            <p:nvPr/>
          </p:nvSpPr>
          <p:spPr bwMode="auto">
            <a:xfrm>
              <a:off x="2739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7" name="Rectangle 103"/>
            <p:cNvSpPr>
              <a:spLocks noChangeArrowheads="1"/>
            </p:cNvSpPr>
            <p:nvPr/>
          </p:nvSpPr>
          <p:spPr bwMode="auto">
            <a:xfrm>
              <a:off x="2066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8" name="Rectangle 104"/>
            <p:cNvSpPr>
              <a:spLocks noChangeArrowheads="1"/>
            </p:cNvSpPr>
            <p:nvPr/>
          </p:nvSpPr>
          <p:spPr bwMode="auto">
            <a:xfrm>
              <a:off x="1741" y="355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9" name="Rectangle 105"/>
            <p:cNvSpPr>
              <a:spLocks noChangeArrowheads="1"/>
            </p:cNvSpPr>
            <p:nvPr/>
          </p:nvSpPr>
          <p:spPr bwMode="auto">
            <a:xfrm>
              <a:off x="1061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0" name="Rectangle 106"/>
            <p:cNvSpPr>
              <a:spLocks noChangeArrowheads="1"/>
            </p:cNvSpPr>
            <p:nvPr/>
          </p:nvSpPr>
          <p:spPr bwMode="auto">
            <a:xfrm>
              <a:off x="1503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1" name="Rectangle 107"/>
            <p:cNvSpPr>
              <a:spLocks noChangeArrowheads="1"/>
            </p:cNvSpPr>
            <p:nvPr/>
          </p:nvSpPr>
          <p:spPr bwMode="auto">
            <a:xfrm>
              <a:off x="1611" y="288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2" name="Rectangle 108"/>
            <p:cNvSpPr>
              <a:spLocks noChangeArrowheads="1"/>
            </p:cNvSpPr>
            <p:nvPr/>
          </p:nvSpPr>
          <p:spPr bwMode="auto">
            <a:xfrm>
              <a:off x="1873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3" name="Rectangle 109"/>
            <p:cNvSpPr>
              <a:spLocks noChangeArrowheads="1"/>
            </p:cNvSpPr>
            <p:nvPr/>
          </p:nvSpPr>
          <p:spPr bwMode="auto">
            <a:xfrm>
              <a:off x="2449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4" name="Rectangle 110"/>
            <p:cNvSpPr>
              <a:spLocks noChangeArrowheads="1"/>
            </p:cNvSpPr>
            <p:nvPr/>
          </p:nvSpPr>
          <p:spPr bwMode="auto">
            <a:xfrm>
              <a:off x="2739" y="191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13639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Number Placeholder 3">
            <a:extLst>
              <a:ext uri="{FF2B5EF4-FFF2-40B4-BE49-F238E27FC236}">
                <a16:creationId xmlns:a16="http://schemas.microsoft.com/office/drawing/2014/main" id="{26F46021-69DB-CE3C-0239-945ECAC375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84ADA63F-1B95-4938-A2AB-C9138BE0353B}" type="slidenum">
              <a:rPr lang="de-DE" altLang="en-US" sz="1000"/>
              <a:pPr/>
              <a:t>32</a:t>
            </a:fld>
            <a:endParaRPr lang="de-DE" altLang="en-US" sz="1000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A4ED4DE4-6922-4200-219E-B0E8D51858E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Creator – Example… </a:t>
            </a:r>
          </a:p>
        </p:txBody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277A1943-E614-115A-3FBA-7CAB68E365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altLang="en-US" dirty="0"/>
              <a:t>In POS app, who should create </a:t>
            </a:r>
            <a:r>
              <a:rPr lang="en-US" altLang="en-US" i="1" dirty="0" err="1"/>
              <a:t>SalesLineItem</a:t>
            </a:r>
            <a:r>
              <a:rPr lang="en-US" altLang="en-US" dirty="0"/>
              <a:t> instance.</a:t>
            </a:r>
          </a:p>
          <a:p>
            <a:pPr marL="342900" indent="-342900"/>
            <a:r>
              <a:rPr lang="en-US" altLang="en-US" dirty="0"/>
              <a:t>By </a:t>
            </a:r>
            <a:r>
              <a:rPr lang="en-US" altLang="en-US" u="sng" dirty="0">
                <a:solidFill>
                  <a:srgbClr val="FF0000"/>
                </a:solidFill>
              </a:rPr>
              <a:t>Creator</a:t>
            </a:r>
            <a:r>
              <a:rPr lang="en-US" altLang="en-US" dirty="0"/>
              <a:t>, look for class that aggregates, contains, etc.</a:t>
            </a:r>
          </a:p>
        </p:txBody>
      </p:sp>
      <p:pic>
        <p:nvPicPr>
          <p:cNvPr id="21509" name="Picture 4">
            <a:extLst>
              <a:ext uri="{FF2B5EF4-FFF2-40B4-BE49-F238E27FC236}">
                <a16:creationId xmlns:a16="http://schemas.microsoft.com/office/drawing/2014/main" id="{4AB4B2E5-297A-295C-02C9-2DE1E4A793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401" y="3733800"/>
            <a:ext cx="3190875" cy="2343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  <p:sp>
        <p:nvSpPr>
          <p:cNvPr id="21510" name="TextBox 5">
            <a:extLst>
              <a:ext uri="{FF2B5EF4-FFF2-40B4-BE49-F238E27FC236}">
                <a16:creationId xmlns:a16="http://schemas.microsoft.com/office/drawing/2014/main" id="{602A46C8-0C2A-6669-7D04-BE7D479BDD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35713" y="5143501"/>
            <a:ext cx="24237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r>
              <a:rPr lang="en-US" altLang="en-US" sz="1000">
                <a:solidFill>
                  <a:srgbClr val="08080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Number Placeholder 3">
            <a:extLst>
              <a:ext uri="{FF2B5EF4-FFF2-40B4-BE49-F238E27FC236}">
                <a16:creationId xmlns:a16="http://schemas.microsoft.com/office/drawing/2014/main" id="{8CA12AA3-011C-28E6-70FE-E3E56650F6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FA8F3D11-C2A9-4000-8954-9B2673F127D5}" type="slidenum">
              <a:rPr lang="de-DE" altLang="en-US" sz="1000"/>
              <a:pPr/>
              <a:t>33</a:t>
            </a:fld>
            <a:endParaRPr lang="de-DE" altLang="en-US" sz="1000"/>
          </a:p>
        </p:txBody>
      </p:sp>
      <p:sp>
        <p:nvSpPr>
          <p:cNvPr id="22531" name="Rectangle 2">
            <a:extLst>
              <a:ext uri="{FF2B5EF4-FFF2-40B4-BE49-F238E27FC236}">
                <a16:creationId xmlns:a16="http://schemas.microsoft.com/office/drawing/2014/main" id="{2E2149C6-D668-8387-976A-3D8B387F48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…Creator – Example…</a:t>
            </a:r>
          </a:p>
        </p:txBody>
      </p:sp>
      <p:sp>
        <p:nvSpPr>
          <p:cNvPr id="22532" name="Rectangle 3">
            <a:extLst>
              <a:ext uri="{FF2B5EF4-FFF2-40B4-BE49-F238E27FC236}">
                <a16:creationId xmlns:a16="http://schemas.microsoft.com/office/drawing/2014/main" id="{8101FB72-3646-9E8A-469B-D870D9E845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altLang="en-US" sz="3600" i="1" dirty="0"/>
              <a:t>Sale</a:t>
            </a:r>
            <a:r>
              <a:rPr lang="en-US" altLang="en-US" sz="3600" dirty="0"/>
              <a:t> aggregates many </a:t>
            </a:r>
            <a:r>
              <a:rPr lang="en-US" altLang="en-US" sz="3600" i="1" dirty="0" err="1"/>
              <a:t>SalesLineItem</a:t>
            </a:r>
            <a:r>
              <a:rPr lang="en-US" altLang="en-US" sz="3600" dirty="0"/>
              <a:t> objects so </a:t>
            </a:r>
            <a:r>
              <a:rPr lang="en-US" altLang="en-US" sz="3600" i="1" dirty="0"/>
              <a:t>Sale</a:t>
            </a:r>
            <a:r>
              <a:rPr lang="en-US" altLang="en-US" sz="3600" dirty="0"/>
              <a:t> is candidate</a:t>
            </a:r>
          </a:p>
        </p:txBody>
      </p:sp>
      <p:pic>
        <p:nvPicPr>
          <p:cNvPr id="22533" name="Picture 4">
            <a:extLst>
              <a:ext uri="{FF2B5EF4-FFF2-40B4-BE49-F238E27FC236}">
                <a16:creationId xmlns:a16="http://schemas.microsoft.com/office/drawing/2014/main" id="{3CAB8253-7EAF-EF2F-8DAE-009ADB120D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1" y="3505200"/>
            <a:ext cx="5521325" cy="15748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561" name="Rectangle 23560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9C33E26A-2956-BD09-B3C9-0B740A231B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306946" y="989462"/>
            <a:ext cx="3103808" cy="4421876"/>
          </a:xfrm>
        </p:spPr>
        <p:txBody>
          <a:bodyPr anchor="t">
            <a:normAutofit/>
          </a:bodyPr>
          <a:lstStyle/>
          <a:p>
            <a:pPr algn="r"/>
            <a:r>
              <a:rPr lang="en-US" altLang="en-US" sz="4000" dirty="0"/>
              <a:t>Creator</a:t>
            </a:r>
          </a:p>
        </p:txBody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3A3E79A1-F1F6-1F20-235D-05C4607183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4840" y="828813"/>
            <a:ext cx="7967604" cy="4743174"/>
          </a:xfrm>
        </p:spPr>
        <p:txBody>
          <a:bodyPr anchor="t">
            <a:normAutofit/>
          </a:bodyPr>
          <a:lstStyle/>
          <a:p>
            <a:pPr marL="342900" indent="-342900"/>
            <a:r>
              <a:rPr lang="en-US" altLang="en-US" sz="4000" dirty="0"/>
              <a:t>Consequences</a:t>
            </a:r>
          </a:p>
          <a:p>
            <a:pPr marL="0" indent="0">
              <a:buNone/>
            </a:pPr>
            <a:endParaRPr lang="en-US" altLang="en-US" sz="4000" dirty="0"/>
          </a:p>
          <a:p>
            <a:pPr marL="742950" lvl="1" indent="-285750" algn="just"/>
            <a:r>
              <a:rPr lang="en-US" altLang="en-US" sz="4000" dirty="0"/>
              <a:t>Coupling is usually not increased because created class is likely already visible to creator class, due to the existing associations that motivated the choice.</a:t>
            </a:r>
          </a:p>
        </p:txBody>
      </p:sp>
      <p:sp>
        <p:nvSpPr>
          <p:cNvPr id="23563" name="Rectangle 23562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65" name="Rectangle 23564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76000"/>
                </a:srgbClr>
              </a:gs>
              <a:gs pos="100000">
                <a:schemeClr val="accent1"/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54" name="Slide Number Placeholder 3">
            <a:extLst>
              <a:ext uri="{FF2B5EF4-FFF2-40B4-BE49-F238E27FC236}">
                <a16:creationId xmlns:a16="http://schemas.microsoft.com/office/drawing/2014/main" id="{2B9BA762-94AA-6E26-29BC-2AED14177C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04320" y="6455664"/>
            <a:ext cx="448056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spcAft>
                <a:spcPts val="600"/>
              </a:spcAft>
            </a:pPr>
            <a:fld id="{DD73768B-A12D-4D92-B462-5B83982062EC}" type="slidenum">
              <a:rPr lang="de-DE" alt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34</a:t>
            </a:fld>
            <a:endParaRPr lang="de-DE" altLang="en-US" sz="11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diagram of a monopoly scheme&#10;&#10;Description automatically generated">
            <a:extLst>
              <a:ext uri="{FF2B5EF4-FFF2-40B4-BE49-F238E27FC236}">
                <a16:creationId xmlns:a16="http://schemas.microsoft.com/office/drawing/2014/main" id="{3C25CAEE-D5E8-FAE3-A42A-7C95151C14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4748" y="998876"/>
            <a:ext cx="7958663" cy="5571065"/>
          </a:xfrm>
          <a:prstGeom prst="rect">
            <a:avLst/>
          </a:prstGeom>
          <a:ln>
            <a:noFill/>
          </a:ln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66AA1E-3E0B-4B71-0D62-0E6BD5AB6167}"/>
              </a:ext>
            </a:extLst>
          </p:cNvPr>
          <p:cNvSpPr txBox="1"/>
          <p:nvPr/>
        </p:nvSpPr>
        <p:spPr>
          <a:xfrm>
            <a:off x="289553" y="3566584"/>
            <a:ext cx="305888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Who should get a square given a unique ID?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When you start a game, who creates the squares for the board?</a:t>
            </a:r>
          </a:p>
        </p:txBody>
      </p:sp>
    </p:spTree>
    <p:extLst>
      <p:ext uri="{BB962C8B-B14F-4D97-AF65-F5344CB8AC3E}">
        <p14:creationId xmlns:p14="http://schemas.microsoft.com/office/powerpoint/2010/main" val="32580197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26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28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04DCA8-1C4F-CF16-0EEB-4ED5D6A3AA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2727449"/>
            <a:ext cx="5294716" cy="1403099"/>
          </a:xfrm>
          <a:prstGeom prst="rect">
            <a:avLst/>
          </a:prstGeom>
        </p:spPr>
      </p:pic>
      <p:cxnSp>
        <p:nvCxnSpPr>
          <p:cNvPr id="37" name="Straight Connector 30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B53A4A79-D6A6-DD9E-F2E1-C55B639BB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817" y="2284018"/>
            <a:ext cx="5294715" cy="228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2883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Slide Number Placeholder 3">
            <a:extLst>
              <a:ext uri="{FF2B5EF4-FFF2-40B4-BE49-F238E27FC236}">
                <a16:creationId xmlns:a16="http://schemas.microsoft.com/office/drawing/2014/main" id="{93982151-7A53-DB27-2695-5CDA3B1189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620615A4-CB6F-4DA7-90B3-EE349BCCBFC9}" type="slidenum">
              <a:rPr lang="de-DE" altLang="en-US" sz="1000"/>
              <a:pPr/>
              <a:t>37</a:t>
            </a:fld>
            <a:endParaRPr lang="de-DE" altLang="en-US" sz="1000"/>
          </a:p>
        </p:txBody>
      </p:sp>
      <p:sp>
        <p:nvSpPr>
          <p:cNvPr id="57347" name="Rectangle 2">
            <a:extLst>
              <a:ext uri="{FF2B5EF4-FFF2-40B4-BE49-F238E27FC236}">
                <a16:creationId xmlns:a16="http://schemas.microsoft.com/office/drawing/2014/main" id="{7FE699A3-9B3A-A1F5-81A7-39197121F8C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rtlCol="0" anchor="ctr">
            <a:normAutofit/>
          </a:bodyPr>
          <a:lstStyle/>
          <a:p>
            <a:r>
              <a:rPr lang="en-US" altLang="en-US" sz="5400"/>
              <a:t>References</a:t>
            </a:r>
          </a:p>
        </p:txBody>
      </p:sp>
      <p:sp>
        <p:nvSpPr>
          <p:cNvPr id="57348" name="Rectangle 3">
            <a:extLst>
              <a:ext uri="{FF2B5EF4-FFF2-40B4-BE49-F238E27FC236}">
                <a16:creationId xmlns:a16="http://schemas.microsoft.com/office/drawing/2014/main" id="{6076B404-E338-B43F-1FEB-BAEDAE050D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 vert="horz" lIns="92075" tIns="46038" rIns="92075" bIns="46038" rtlCol="0">
            <a:normAutofit/>
          </a:bodyPr>
          <a:lstStyle/>
          <a:p>
            <a:pPr marL="342900" indent="-342900"/>
            <a:r>
              <a:rPr lang="en-US" altLang="en-US"/>
              <a:t>Larman, C. </a:t>
            </a:r>
            <a:r>
              <a:rPr lang="en-US" altLang="en-US" i="1"/>
              <a:t>Applying UML and Patterns: An Introduction to Object-Oriented Analysis and Design and Iterative Development</a:t>
            </a:r>
            <a:r>
              <a:rPr lang="en-US" altLang="en-US"/>
              <a:t>, Third Edition, Upper Saddle River, NJ: Prentice Hall PTR, 2005.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F56F3-5C3D-7964-9C74-B18CA45B5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348" y="11176"/>
            <a:ext cx="10058400" cy="1609344"/>
          </a:xfrm>
        </p:spPr>
        <p:txBody>
          <a:bodyPr>
            <a:noAutofit/>
          </a:bodyPr>
          <a:lstStyle/>
          <a:p>
            <a:pPr algn="just"/>
            <a:r>
              <a:rPr lang="en-US" sz="4000" dirty="0"/>
              <a:t>Readings , Assignments, Project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A3C13-C6C6-1D43-90A5-FDB21677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10881360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      </a:t>
            </a:r>
            <a:r>
              <a:rPr lang="en-US" sz="3100" b="1" dirty="0"/>
              <a:t>Read:</a:t>
            </a:r>
          </a:p>
          <a:p>
            <a:pPr lvl="2"/>
            <a:endParaRPr lang="en-US" sz="3100" dirty="0"/>
          </a:p>
          <a:p>
            <a:pPr lvl="2"/>
            <a:r>
              <a:rPr lang="en-US" sz="3100" dirty="0"/>
              <a:t>Chapters 9, 11, 12, 14 of the textbook.</a:t>
            </a:r>
          </a:p>
          <a:p>
            <a:pPr marL="274637" lvl="1" indent="0">
              <a:buNone/>
            </a:pPr>
            <a:endParaRPr lang="en-US" sz="3100" dirty="0"/>
          </a:p>
          <a:p>
            <a:pPr marL="0" lvl="1" indent="0">
              <a:spcBef>
                <a:spcPts val="1200"/>
              </a:spcBef>
              <a:buNone/>
            </a:pPr>
            <a:r>
              <a:rPr lang="en-US" sz="3100" dirty="0"/>
              <a:t>         </a:t>
            </a:r>
            <a:r>
              <a:rPr lang="en-US" sz="3100" b="1" dirty="0"/>
              <a:t>Assignments &amp; Project Tasks:</a:t>
            </a:r>
          </a:p>
          <a:p>
            <a:pPr lvl="2"/>
            <a:r>
              <a:rPr lang="en-US" sz="3100" dirty="0"/>
              <a:t>Project Deliverable 2 is open (Due on Tuesday 18/2). This is a </a:t>
            </a:r>
            <a:r>
              <a:rPr lang="en-US" sz="3100" u="sng" dirty="0"/>
              <a:t>Group Submission</a:t>
            </a:r>
            <a:r>
              <a:rPr lang="en-US" sz="3100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2E8F83-779A-E8B9-DD19-B6BCF0E14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AB73BC-B049-4115-A692-8D63A059BFB8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phic 5" descr="Closed book with solid fill">
            <a:extLst>
              <a:ext uri="{FF2B5EF4-FFF2-40B4-BE49-F238E27FC236}">
                <a16:creationId xmlns:a16="http://schemas.microsoft.com/office/drawing/2014/main" id="{361AFB0C-1F93-39C9-9BCB-758EFEAABE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3277" y="1848539"/>
            <a:ext cx="914400" cy="914400"/>
          </a:xfrm>
          <a:prstGeom prst="rect">
            <a:avLst/>
          </a:prstGeom>
        </p:spPr>
      </p:pic>
      <p:pic>
        <p:nvPicPr>
          <p:cNvPr id="8" name="Graphic 7" descr="Inbox Check with solid fill">
            <a:extLst>
              <a:ext uri="{FF2B5EF4-FFF2-40B4-BE49-F238E27FC236}">
                <a16:creationId xmlns:a16="http://schemas.microsoft.com/office/drawing/2014/main" id="{7E1EAE56-3188-9CC6-4554-392E28EF31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277" y="409506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9233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Yellow question mark">
            <a:extLst>
              <a:ext uri="{FF2B5EF4-FFF2-40B4-BE49-F238E27FC236}">
                <a16:creationId xmlns:a16="http://schemas.microsoft.com/office/drawing/2014/main" id="{90FD73D1-447F-2389-971D-2D689D69A9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250"/>
          <a:stretch/>
        </p:blipFill>
        <p:spPr>
          <a:xfrm>
            <a:off x="3" y="-11279"/>
            <a:ext cx="12191997" cy="685798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17F72E41-D8D7-F589-0125-D336DE2AF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598" y="21736"/>
            <a:ext cx="12206598" cy="6879745"/>
            <a:chOff x="-14598" y="21736"/>
            <a:chExt cx="12206598" cy="687974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C13EADE-3A56-21CF-6809-E58C7DDCBA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4578264" y="-733992"/>
              <a:ext cx="3020876" cy="12206596"/>
            </a:xfrm>
            <a:prstGeom prst="rect">
              <a:avLst/>
            </a:prstGeom>
            <a:gradFill flip="none" rotWithShape="1">
              <a:gsLst>
                <a:gs pos="21000">
                  <a:srgbClr val="000000">
                    <a:alpha val="62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B1EA0F4-FEA8-8A8D-25F3-BCCDA3F4F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3832304"/>
              <a:ext cx="12192000" cy="3055057"/>
            </a:xfrm>
            <a:prstGeom prst="rect">
              <a:avLst/>
            </a:prstGeom>
            <a:gradFill flip="none" rotWithShape="1">
              <a:gsLst>
                <a:gs pos="0">
                  <a:schemeClr val="accent5"/>
                </a:gs>
                <a:gs pos="75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558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3842CE-80A1-1110-8DDA-D6F18BE0C6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7617204" y="1610686"/>
              <a:ext cx="4574794" cy="5290794"/>
            </a:xfrm>
            <a:prstGeom prst="rect">
              <a:avLst/>
            </a:prstGeom>
            <a:gradFill flip="none" rotWithShape="1">
              <a:gsLst>
                <a:gs pos="5000">
                  <a:schemeClr val="accent2"/>
                </a:gs>
                <a:gs pos="49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2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C9318B-F00C-0365-EC3A-B46DF3523B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4597" y="21736"/>
              <a:ext cx="3585523" cy="6879745"/>
            </a:xfrm>
            <a:prstGeom prst="rect">
              <a:avLst/>
            </a:prstGeom>
            <a:gradFill flip="none" rotWithShape="1">
              <a:gsLst>
                <a:gs pos="5000">
                  <a:schemeClr val="accent2"/>
                </a:gs>
                <a:gs pos="49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9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E92A2C8-D25D-5522-FFDD-CF5793AEFC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806026" y="1712428"/>
              <a:ext cx="4354310" cy="5995557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60000"/>
                    <a:lumOff val="40000"/>
                  </a:schemeClr>
                </a:gs>
                <a:gs pos="54000">
                  <a:schemeClr val="accent2"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365D34-0718-7406-D03A-0E561285F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93447"/>
            <a:ext cx="10141040" cy="112610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077091832"/>
      </p:ext>
    </p:extLst>
  </p:cSld>
  <p:clrMapOvr>
    <a:masterClrMapping/>
  </p:clrMapOvr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002 My SCR template">
  <a:themeElements>
    <a:clrScheme name="">
      <a:dk1>
        <a:srgbClr val="336699"/>
      </a:dk1>
      <a:lt1>
        <a:srgbClr val="FFFFFF"/>
      </a:lt1>
      <a:dk2>
        <a:srgbClr val="999999"/>
      </a:dk2>
      <a:lt2>
        <a:srgbClr val="990000"/>
      </a:lt2>
      <a:accent1>
        <a:srgbClr val="FFCC00"/>
      </a:accent1>
      <a:accent2>
        <a:srgbClr val="FF9900"/>
      </a:accent2>
      <a:accent3>
        <a:srgbClr val="FFFFFF"/>
      </a:accent3>
      <a:accent4>
        <a:srgbClr val="2A5682"/>
      </a:accent4>
      <a:accent5>
        <a:srgbClr val="FFE2AA"/>
      </a:accent5>
      <a:accent6>
        <a:srgbClr val="E78A00"/>
      </a:accent6>
      <a:hlink>
        <a:srgbClr val="99CC66"/>
      </a:hlink>
      <a:folHlink>
        <a:srgbClr val="336699"/>
      </a:folHlink>
    </a:clrScheme>
    <a:fontScheme name="2002 My SCR template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rgbClr val="171D63"/>
          </a:solidFill>
          <a:prstDash val="solid"/>
          <a:round/>
          <a:headEnd type="none" w="med" len="med"/>
          <a:tailEnd type="none" w="med" len="med"/>
        </a:ln>
        <a:effectLst>
          <a:outerShdw dist="71842" dir="2700000" algn="ctr" rotWithShape="0">
            <a:srgbClr val="171D63"/>
          </a:outerShdw>
        </a:effec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ts val="24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rgbClr val="002B5D"/>
            </a:solidFill>
            <a:effectLst/>
            <a:latin typeface="Arial Narrow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rgbClr val="171D63"/>
          </a:solidFill>
          <a:prstDash val="solid"/>
          <a:round/>
          <a:headEnd type="none" w="med" len="med"/>
          <a:tailEnd type="none" w="med" len="med"/>
        </a:ln>
        <a:effectLst>
          <a:outerShdw dist="71842" dir="2700000" algn="ctr" rotWithShape="0">
            <a:srgbClr val="171D63"/>
          </a:outerShdw>
        </a:effec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ts val="24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rgbClr val="002B5D"/>
            </a:solidFill>
            <a:effectLst/>
            <a:latin typeface="Arial Narrow" pitchFamily="34" charset="0"/>
          </a:defRPr>
        </a:defPPr>
      </a:lstStyle>
    </a:lnDef>
  </a:objectDefaults>
  <a:extraClrSchemeLst>
    <a:extraClrScheme>
      <a:clrScheme name="2002 My SCR template 1">
        <a:dk1>
          <a:srgbClr val="002B5D"/>
        </a:dk1>
        <a:lt1>
          <a:srgbClr val="FFFFFF"/>
        </a:lt1>
        <a:dk2>
          <a:srgbClr val="FF9B06"/>
        </a:dk2>
        <a:lt2>
          <a:srgbClr val="641014"/>
        </a:lt2>
        <a:accent1>
          <a:srgbClr val="ACCF00"/>
        </a:accent1>
        <a:accent2>
          <a:srgbClr val="C8DB57"/>
        </a:accent2>
        <a:accent3>
          <a:srgbClr val="FFFFFF"/>
        </a:accent3>
        <a:accent4>
          <a:srgbClr val="00234E"/>
        </a:accent4>
        <a:accent5>
          <a:srgbClr val="D2E4AA"/>
        </a:accent5>
        <a:accent6>
          <a:srgbClr val="B5C64E"/>
        </a:accent6>
        <a:hlink>
          <a:srgbClr val="D8DE91"/>
        </a:hlink>
        <a:folHlink>
          <a:srgbClr val="E4E8B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1140</TotalTime>
  <Words>2037</Words>
  <Application>Microsoft Macintosh PowerPoint</Application>
  <PresentationFormat>Widescreen</PresentationFormat>
  <Paragraphs>513</Paragraphs>
  <Slides>39</Slides>
  <Notes>24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39</vt:i4>
      </vt:variant>
    </vt:vector>
  </HeadingPairs>
  <TitlesOfParts>
    <vt:vector size="52" baseType="lpstr">
      <vt:lpstr>Arial</vt:lpstr>
      <vt:lpstr>Arial Narrow</vt:lpstr>
      <vt:lpstr>Calibri</vt:lpstr>
      <vt:lpstr>Calibri Light</vt:lpstr>
      <vt:lpstr>Helvetica</vt:lpstr>
      <vt:lpstr>Marlett</vt:lpstr>
      <vt:lpstr>Rockwell Extra Bold</vt:lpstr>
      <vt:lpstr>SIEMENS-Firmenmarke</vt:lpstr>
      <vt:lpstr>Times New Roman</vt:lpstr>
      <vt:lpstr>Wingdings</vt:lpstr>
      <vt:lpstr>Office Theme</vt:lpstr>
      <vt:lpstr>2002 My SCR template</vt:lpstr>
      <vt:lpstr>Wood Type</vt:lpstr>
      <vt:lpstr>Software Engineering CS-UH 2012, Spring 2025 </vt:lpstr>
      <vt:lpstr>Lesson plan</vt:lpstr>
      <vt:lpstr>Operation Contracts</vt:lpstr>
      <vt:lpstr>System Operation Contracts</vt:lpstr>
      <vt:lpstr>System Operation Contracts</vt:lpstr>
      <vt:lpstr>System Operation Contracts</vt:lpstr>
      <vt:lpstr>Operation Contract Full Template</vt:lpstr>
      <vt:lpstr>Operations Contract</vt:lpstr>
      <vt:lpstr>Example: Class Diagram for Point of Sale (PoS System)</vt:lpstr>
      <vt:lpstr>Example (Operation Contract for enterItem)</vt:lpstr>
      <vt:lpstr>In Practice: When to write operations contracts</vt:lpstr>
      <vt:lpstr>GRASP PATTERNS</vt:lpstr>
      <vt:lpstr>GRASP:  Patterns of General Principles in Assigning Responsibilities</vt:lpstr>
      <vt:lpstr>A Responsibility</vt:lpstr>
      <vt:lpstr>“Doing” responsibilities</vt:lpstr>
      <vt:lpstr>“Knowing” responsibilities</vt:lpstr>
      <vt:lpstr>GRASP Patterns</vt:lpstr>
      <vt:lpstr>What is a Pattern?</vt:lpstr>
      <vt:lpstr>EXPERT PATTERN</vt:lpstr>
      <vt:lpstr>Expert…</vt:lpstr>
      <vt:lpstr>…Expert</vt:lpstr>
      <vt:lpstr>Example: Class Diagram</vt:lpstr>
      <vt:lpstr>Expert – example…</vt:lpstr>
      <vt:lpstr>…Expert – example…</vt:lpstr>
      <vt:lpstr>…Expert – example…</vt:lpstr>
      <vt:lpstr>…Expert – example…</vt:lpstr>
      <vt:lpstr>Expert</vt:lpstr>
      <vt:lpstr>CREATOR PATTERN</vt:lpstr>
      <vt:lpstr>Creator</vt:lpstr>
      <vt:lpstr>…Creator</vt:lpstr>
      <vt:lpstr>Example: Class Diagram</vt:lpstr>
      <vt:lpstr>Creator – Example… </vt:lpstr>
      <vt:lpstr>…Creator – Example…</vt:lpstr>
      <vt:lpstr>Creator</vt:lpstr>
      <vt:lpstr>PowerPoint Presentation</vt:lpstr>
      <vt:lpstr>PowerPoint Presentation</vt:lpstr>
      <vt:lpstr>References</vt:lpstr>
      <vt:lpstr>Readings , Assignments, Project Tasks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Requirements Engineering for Software and Systems, 3rd Edition</dc:title>
  <dc:creator>Kassab, Mohamad Hassan</dc:creator>
  <cp:lastModifiedBy>Leonidas Kontothanassis</cp:lastModifiedBy>
  <cp:revision>64</cp:revision>
  <dcterms:created xsi:type="dcterms:W3CDTF">2022-09-05T18:50:47Z</dcterms:created>
  <dcterms:modified xsi:type="dcterms:W3CDTF">2025-07-14T21:51:12Z</dcterms:modified>
</cp:coreProperties>
</file>