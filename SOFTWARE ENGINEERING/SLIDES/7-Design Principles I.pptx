
<file path=[Content_Types].xml><?xml version="1.0" encoding="utf-8"?>
<Types xmlns="http://schemas.openxmlformats.org/package/2006/content-types">
  <Default Extension="emf" ContentType="image/x-emf"/>
  <Default Extension="jpeg" ContentType="image/jpeg"/>
  <Default Extension="jp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 id="2147483673" r:id="rId3"/>
  </p:sldMasterIdLst>
  <p:notesMasterIdLst>
    <p:notesMasterId r:id="rId52"/>
  </p:notesMasterIdLst>
  <p:sldIdLst>
    <p:sldId id="339" r:id="rId4"/>
    <p:sldId id="771" r:id="rId5"/>
    <p:sldId id="786" r:id="rId6"/>
    <p:sldId id="540" r:id="rId7"/>
    <p:sldId id="535" r:id="rId8"/>
    <p:sldId id="534" r:id="rId9"/>
    <p:sldId id="536" r:id="rId10"/>
    <p:sldId id="537" r:id="rId11"/>
    <p:sldId id="555" r:id="rId12"/>
    <p:sldId id="539" r:id="rId13"/>
    <p:sldId id="538" r:id="rId14"/>
    <p:sldId id="777" r:id="rId15"/>
    <p:sldId id="409" r:id="rId16"/>
    <p:sldId id="780" r:id="rId17"/>
    <p:sldId id="781" r:id="rId18"/>
    <p:sldId id="782" r:id="rId19"/>
    <p:sldId id="783" r:id="rId20"/>
    <p:sldId id="784" r:id="rId21"/>
    <p:sldId id="541" r:id="rId22"/>
    <p:sldId id="405" r:id="rId23"/>
    <p:sldId id="406" r:id="rId24"/>
    <p:sldId id="407" r:id="rId25"/>
    <p:sldId id="408" r:id="rId26"/>
    <p:sldId id="779" r:id="rId27"/>
    <p:sldId id="460" r:id="rId28"/>
    <p:sldId id="778" r:id="rId29"/>
    <p:sldId id="542" r:id="rId30"/>
    <p:sldId id="410" r:id="rId31"/>
    <p:sldId id="411" r:id="rId32"/>
    <p:sldId id="492" r:id="rId33"/>
    <p:sldId id="412" r:id="rId34"/>
    <p:sldId id="413" r:id="rId35"/>
    <p:sldId id="414" r:id="rId36"/>
    <p:sldId id="415" r:id="rId37"/>
    <p:sldId id="416" r:id="rId38"/>
    <p:sldId id="543" r:id="rId39"/>
    <p:sldId id="417" r:id="rId40"/>
    <p:sldId id="418" r:id="rId41"/>
    <p:sldId id="533" r:id="rId42"/>
    <p:sldId id="419" r:id="rId43"/>
    <p:sldId id="420" r:id="rId44"/>
    <p:sldId id="421" r:id="rId45"/>
    <p:sldId id="550" r:id="rId46"/>
    <p:sldId id="551" r:id="rId47"/>
    <p:sldId id="457" r:id="rId48"/>
    <p:sldId id="785" r:id="rId49"/>
    <p:sldId id="775" r:id="rId50"/>
    <p:sldId id="472"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536" autoAdjust="0"/>
    <p:restoredTop sz="78386" autoAdjust="0"/>
  </p:normalViewPr>
  <p:slideViewPr>
    <p:cSldViewPr snapToGrid="0">
      <p:cViewPr varScale="1">
        <p:scale>
          <a:sx n="154" d="100"/>
          <a:sy n="154" d="100"/>
        </p:scale>
        <p:origin x="1016" y="200"/>
      </p:cViewPr>
      <p:guideLst/>
    </p:cSldViewPr>
  </p:slid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9" Type="http://schemas.openxmlformats.org/officeDocument/2006/relationships/slide" Target="slides/slide36.xml"/><Relationship Id="rId21" Type="http://schemas.openxmlformats.org/officeDocument/2006/relationships/slide" Target="slides/slide18.xml"/><Relationship Id="rId34" Type="http://schemas.openxmlformats.org/officeDocument/2006/relationships/slide" Target="slides/slide31.xml"/><Relationship Id="rId42" Type="http://schemas.openxmlformats.org/officeDocument/2006/relationships/slide" Target="slides/slide39.xml"/><Relationship Id="rId47" Type="http://schemas.openxmlformats.org/officeDocument/2006/relationships/slide" Target="slides/slide44.xml"/><Relationship Id="rId50" Type="http://schemas.openxmlformats.org/officeDocument/2006/relationships/slide" Target="slides/slide47.xml"/><Relationship Id="rId55" Type="http://schemas.openxmlformats.org/officeDocument/2006/relationships/theme" Target="theme/theme1.xml"/><Relationship Id="rId7" Type="http://schemas.openxmlformats.org/officeDocument/2006/relationships/slide" Target="slides/slide4.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presProps" Target="presProps.xml"/><Relationship Id="rId5" Type="http://schemas.openxmlformats.org/officeDocument/2006/relationships/slide" Target="slides/slide2.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notesMaster" Target="notesMasters/notesMaster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tableStyles" Target="tableStyles.xml"/><Relationship Id="rId8" Type="http://schemas.openxmlformats.org/officeDocument/2006/relationships/slide" Target="slides/slide5.xml"/><Relationship Id="rId51" Type="http://schemas.openxmlformats.org/officeDocument/2006/relationships/slide" Target="slides/slide48.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9/24/25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en.wikipedia.org/wiki/Goddess" TargetMode="External"/><Relationship Id="rId2" Type="http://schemas.openxmlformats.org/officeDocument/2006/relationships/slide" Target="../slides/slide24.xml"/><Relationship Id="rId1" Type="http://schemas.openxmlformats.org/officeDocument/2006/relationships/notesMaster" Target="../notesMasters/notesMaster1.xml"/><Relationship Id="rId4" Type="http://schemas.openxmlformats.org/officeDocument/2006/relationships/hyperlink" Target="http://en.wikipedia.org/wiki/Agriculture" TargetMode="Externa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3</a:t>
            </a:fld>
            <a:endParaRPr lang="en-US"/>
          </a:p>
        </p:txBody>
      </p:sp>
    </p:spTree>
    <p:extLst>
      <p:ext uri="{BB962C8B-B14F-4D97-AF65-F5344CB8AC3E}">
        <p14:creationId xmlns:p14="http://schemas.microsoft.com/office/powerpoint/2010/main" val="28579902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7B37E82E-57AD-4AAF-B9F4-A759377B7E20}" type="slidenum">
              <a:rPr lang="en-US"/>
              <a:pPr/>
              <a:t>5</a:t>
            </a:fld>
            <a:endParaRPr lang="en-US"/>
          </a:p>
        </p:txBody>
      </p:sp>
      <p:sp>
        <p:nvSpPr>
          <p:cNvPr id="769026" name="Rectangle 2"/>
          <p:cNvSpPr>
            <a:spLocks noGrp="1" noRot="1" noChangeAspect="1" noChangeArrowheads="1" noTextEdit="1"/>
          </p:cNvSpPr>
          <p:nvPr>
            <p:ph type="sldImg"/>
          </p:nvPr>
        </p:nvSpPr>
        <p:spPr>
          <a:xfrm>
            <a:off x="406400" y="696913"/>
            <a:ext cx="6188075" cy="3481387"/>
          </a:xfrm>
          <a:ln/>
        </p:spPr>
      </p:sp>
      <p:sp>
        <p:nvSpPr>
          <p:cNvPr id="769027"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AA482EEC-E663-438C-B41C-52AE046FACA3}" type="slidenum">
              <a:rPr lang="en-US"/>
              <a:pPr/>
              <a:t>6</a:t>
            </a:fld>
            <a:endParaRPr lang="en-US"/>
          </a:p>
        </p:txBody>
      </p:sp>
      <p:sp>
        <p:nvSpPr>
          <p:cNvPr id="766978" name="Rectangle 2"/>
          <p:cNvSpPr>
            <a:spLocks noGrp="1" noRot="1" noChangeAspect="1" noChangeArrowheads="1" noTextEdit="1"/>
          </p:cNvSpPr>
          <p:nvPr>
            <p:ph type="sldImg"/>
          </p:nvPr>
        </p:nvSpPr>
        <p:spPr>
          <a:xfrm>
            <a:off x="406400" y="696913"/>
            <a:ext cx="6188075" cy="3481387"/>
          </a:xfrm>
          <a:ln/>
        </p:spPr>
      </p:sp>
      <p:sp>
        <p:nvSpPr>
          <p:cNvPr id="766979" name="Rectangle 3"/>
          <p:cNvSpPr>
            <a:spLocks noGrp="1" noChangeArrowheads="1"/>
          </p:cNvSpPr>
          <p:nvPr>
            <p:ph type="body" idx="1"/>
          </p:nvPr>
        </p:nvSpPr>
        <p:spPr>
          <a:xfrm>
            <a:off x="933558" y="4409758"/>
            <a:ext cx="5130586" cy="4177665"/>
          </a:xfrm>
        </p:spPr>
        <p:txBody>
          <a:bodyPr/>
          <a:lstStyle/>
          <a:p>
            <a:pPr defTabSz="915772"/>
            <a:r>
              <a:rPr lang="en-US" altLang="en-US" dirty="0"/>
              <a:t>Operation contractions use a pre and post condition</a:t>
            </a:r>
            <a:r>
              <a:rPr lang="en-US" altLang="en-US" baseline="0" dirty="0"/>
              <a:t> form to describe detailed changes to objects in a domain model</a:t>
            </a:r>
          </a:p>
          <a:p>
            <a:pPr defTabSz="915772"/>
            <a:endParaRPr lang="en-US" altLang="en-US" baseline="0" dirty="0"/>
          </a:p>
          <a:p>
            <a:pPr defTabSz="915772"/>
            <a:r>
              <a:rPr lang="en-US" altLang="en-US" baseline="0" dirty="0"/>
              <a:t>To create a contract – identify the system operations from the system sequence diagram</a:t>
            </a:r>
            <a:endParaRPr lang="en-US" alt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DD96BB32-6519-4E1C-9CEC-DC94E5440FDA}" type="slidenum">
              <a:rPr lang="en-US"/>
              <a:pPr/>
              <a:t>7</a:t>
            </a:fld>
            <a:endParaRPr lang="en-US"/>
          </a:p>
        </p:txBody>
      </p:sp>
      <p:sp>
        <p:nvSpPr>
          <p:cNvPr id="771074" name="Rectangle 2"/>
          <p:cNvSpPr>
            <a:spLocks noGrp="1" noRot="1" noChangeAspect="1" noChangeArrowheads="1" noTextEdit="1"/>
          </p:cNvSpPr>
          <p:nvPr>
            <p:ph type="sldImg"/>
          </p:nvPr>
        </p:nvSpPr>
        <p:spPr>
          <a:xfrm>
            <a:off x="406400" y="696913"/>
            <a:ext cx="6188075" cy="3481387"/>
          </a:xfrm>
          <a:ln/>
        </p:spPr>
      </p:sp>
      <p:sp>
        <p:nvSpPr>
          <p:cNvPr id="771075" name="Rectangle 3"/>
          <p:cNvSpPr>
            <a:spLocks noGrp="1" noChangeArrowheads="1"/>
          </p:cNvSpPr>
          <p:nvPr>
            <p:ph type="body" idx="1"/>
          </p:nvPr>
        </p:nvSpPr>
        <p:spPr>
          <a:xfrm>
            <a:off x="933558" y="4409758"/>
            <a:ext cx="5130586" cy="4177665"/>
          </a:xfrm>
        </p:spPr>
        <p:txBody>
          <a:bodyPr/>
          <a:lstStyle/>
          <a:p>
            <a:pPr defTabSz="915772"/>
            <a:r>
              <a:rPr lang="en-US" altLang="en-US" dirty="0"/>
              <a:t>Association</a:t>
            </a:r>
            <a:r>
              <a:rPr lang="en-US" altLang="en-US" baseline="0" dirty="0"/>
              <a:t> – path messages are sent</a:t>
            </a:r>
            <a:endParaRPr lang="en-US" alt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6B9FA703-E8BF-4CB3-BA55-5F9C93600BF5}" type="slidenum">
              <a:rPr lang="en-US"/>
              <a:pPr/>
              <a:t>8</a:t>
            </a:fld>
            <a:endParaRPr lang="en-US"/>
          </a:p>
        </p:txBody>
      </p:sp>
      <p:sp>
        <p:nvSpPr>
          <p:cNvPr id="773122" name="Rectangle 2"/>
          <p:cNvSpPr>
            <a:spLocks noGrp="1" noRot="1" noChangeAspect="1" noChangeArrowheads="1" noTextEdit="1"/>
          </p:cNvSpPr>
          <p:nvPr>
            <p:ph type="sldImg"/>
          </p:nvPr>
        </p:nvSpPr>
        <p:spPr>
          <a:xfrm>
            <a:off x="406400" y="696913"/>
            <a:ext cx="6188075" cy="3481387"/>
          </a:xfrm>
          <a:ln/>
        </p:spPr>
      </p:sp>
      <p:sp>
        <p:nvSpPr>
          <p:cNvPr id="773123" name="Rectangle 3"/>
          <p:cNvSpPr>
            <a:spLocks noGrp="1" noChangeArrowheads="1"/>
          </p:cNvSpPr>
          <p:nvPr>
            <p:ph type="body" idx="1"/>
          </p:nvPr>
        </p:nvSpPr>
        <p:spPr>
          <a:xfrm>
            <a:off x="933558" y="4409758"/>
            <a:ext cx="5130586" cy="4177665"/>
          </a:xfrm>
        </p:spPr>
        <p:txBody>
          <a:bodyPr/>
          <a:lstStyle/>
          <a:p>
            <a:pPr defTabSz="915772"/>
            <a:r>
              <a:rPr lang="en-US" altLang="en-US" dirty="0"/>
              <a:t>Name: As explained in slide</a:t>
            </a:r>
          </a:p>
          <a:p>
            <a:pPr defTabSz="915772"/>
            <a:r>
              <a:rPr lang="en-US" altLang="en-US" dirty="0"/>
              <a:t>Type: The class that receives the message associated with the operation and is responsible for bringing it to completion.  In some cases this could be the system itself.</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5239236-8648-4B3B-A92F-3045E7CAAD0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6674" name="Rectangle 2"/>
          <p:cNvSpPr>
            <a:spLocks noGrp="1" noRot="1" noChangeAspect="1" noChangeArrowheads="1" noTextEdit="1"/>
          </p:cNvSpPr>
          <p:nvPr>
            <p:ph type="sldImg"/>
          </p:nvPr>
        </p:nvSpPr>
        <p:spPr>
          <a:xfrm>
            <a:off x="404813" y="695325"/>
            <a:ext cx="6178550" cy="3476625"/>
          </a:xfrm>
          <a:ln/>
        </p:spPr>
      </p:sp>
      <p:sp>
        <p:nvSpPr>
          <p:cNvPr id="796675" name="Rectangle 3"/>
          <p:cNvSpPr>
            <a:spLocks noGrp="1" noChangeArrowheads="1"/>
          </p:cNvSpPr>
          <p:nvPr>
            <p:ph type="body" idx="1"/>
          </p:nvPr>
        </p:nvSpPr>
        <p:spPr>
          <a:xfrm>
            <a:off x="931863" y="4403725"/>
            <a:ext cx="5121275" cy="4171950"/>
          </a:xfrm>
        </p:spPr>
        <p:txBody>
          <a:bodyPr/>
          <a:lstStyle/>
          <a:p>
            <a:pPr defTabSz="914400"/>
            <a:r>
              <a:rPr lang="en-US" altLang="en-US" dirty="0"/>
              <a:t>Multiplicity – defines how many instances of class A can be associated with class B</a:t>
            </a:r>
          </a:p>
          <a:p>
            <a:pPr defTabSz="914400"/>
            <a:endParaRPr lang="en-US" altLang="en-US" dirty="0"/>
          </a:p>
          <a:p>
            <a:pPr defTabSz="914400"/>
            <a:r>
              <a:rPr lang="en-US" altLang="en-US" dirty="0"/>
              <a:t>Single</a:t>
            </a:r>
            <a:r>
              <a:rPr lang="en-US" altLang="en-US" baseline="0" dirty="0"/>
              <a:t> instance of store can be associated with “many” (zero or more, indicated by the *) Sale instance</a:t>
            </a:r>
            <a:endParaRPr lang="en-US" altLang="en-US" dirty="0"/>
          </a:p>
        </p:txBody>
      </p:sp>
    </p:spTree>
    <p:extLst>
      <p:ext uri="{BB962C8B-B14F-4D97-AF65-F5344CB8AC3E}">
        <p14:creationId xmlns:p14="http://schemas.microsoft.com/office/powerpoint/2010/main" val="46189530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fld id="{75D954BD-C11F-4B84-93FB-D9AF7D3720E0}" type="slidenum">
              <a:rPr lang="en-US"/>
              <a:pPr/>
              <a:t>11</a:t>
            </a:fld>
            <a:endParaRPr lang="en-US"/>
          </a:p>
        </p:txBody>
      </p:sp>
      <p:sp>
        <p:nvSpPr>
          <p:cNvPr id="775170" name="Rectangle 2"/>
          <p:cNvSpPr>
            <a:spLocks noGrp="1" noRot="1" noChangeAspect="1" noChangeArrowheads="1" noTextEdit="1"/>
          </p:cNvSpPr>
          <p:nvPr>
            <p:ph type="sldImg"/>
          </p:nvPr>
        </p:nvSpPr>
        <p:spPr>
          <a:xfrm>
            <a:off x="406400" y="696913"/>
            <a:ext cx="6188075" cy="3481387"/>
          </a:xfrm>
          <a:ln/>
        </p:spPr>
      </p:sp>
      <p:sp>
        <p:nvSpPr>
          <p:cNvPr id="775171" name="Rectangle 3"/>
          <p:cNvSpPr>
            <a:spLocks noGrp="1" noChangeArrowheads="1"/>
          </p:cNvSpPr>
          <p:nvPr>
            <p:ph type="body" idx="1"/>
          </p:nvPr>
        </p:nvSpPr>
        <p:spPr>
          <a:xfrm>
            <a:off x="933558" y="4409758"/>
            <a:ext cx="5130586" cy="4177665"/>
          </a:xfrm>
        </p:spPr>
        <p:txBody>
          <a:bodyPr/>
          <a:lstStyle/>
          <a:p>
            <a:pPr defTabSz="915772"/>
            <a:endParaRPr lang="en-US" alt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Slide Image Placeholder 1">
            <a:extLst>
              <a:ext uri="{FF2B5EF4-FFF2-40B4-BE49-F238E27FC236}">
                <a16:creationId xmlns:a16="http://schemas.microsoft.com/office/drawing/2014/main" id="{D1002D7F-A292-7F2F-4810-A3F403AFDF59}"/>
              </a:ext>
            </a:extLst>
          </p:cNvPr>
          <p:cNvSpPr>
            <a:spLocks noGrp="1" noRot="1" noChangeAspect="1" noTextEdit="1"/>
          </p:cNvSpPr>
          <p:nvPr>
            <p:ph type="sldImg"/>
          </p:nvPr>
        </p:nvSpPr>
        <p:spPr>
          <a:ln/>
        </p:spPr>
      </p:sp>
      <p:sp>
        <p:nvSpPr>
          <p:cNvPr id="65539" name="Notes Placeholder 2">
            <a:extLst>
              <a:ext uri="{FF2B5EF4-FFF2-40B4-BE49-F238E27FC236}">
                <a16:creationId xmlns:a16="http://schemas.microsoft.com/office/drawing/2014/main" id="{D2FC9C2C-D4F8-9F76-46BB-88675AB8CA4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dirty="0"/>
          </a:p>
        </p:txBody>
      </p:sp>
      <p:sp>
        <p:nvSpPr>
          <p:cNvPr id="65540" name="Slide Number Placeholder 3">
            <a:extLst>
              <a:ext uri="{FF2B5EF4-FFF2-40B4-BE49-F238E27FC236}">
                <a16:creationId xmlns:a16="http://schemas.microsoft.com/office/drawing/2014/main" id="{2E91989E-099E-F7CB-49C7-F2858DCC3BC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045719DE-831D-4C89-86A8-4774617FE98D}" type="slidenum">
              <a:rPr lang="en-US" altLang="en-US" sz="1000">
                <a:solidFill>
                  <a:schemeClr val="tx1"/>
                </a:solidFill>
                <a:latin typeface="Times New Roman" panose="02020603050405020304" pitchFamily="18" charset="0"/>
              </a:rPr>
              <a:pPr/>
              <a:t>13</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00C9AD-CF26-9879-8EFD-7CA27988ED82}"/>
            </a:ext>
          </a:extLst>
        </p:cNvPr>
        <p:cNvGrpSpPr/>
        <p:nvPr/>
      </p:nvGrpSpPr>
      <p:grpSpPr>
        <a:xfrm>
          <a:off x="0" y="0"/>
          <a:ext cx="0" cy="0"/>
          <a:chOff x="0" y="0"/>
          <a:chExt cx="0" cy="0"/>
        </a:xfrm>
      </p:grpSpPr>
      <p:sp>
        <p:nvSpPr>
          <p:cNvPr id="63490" name="Slide Image Placeholder 1">
            <a:extLst>
              <a:ext uri="{FF2B5EF4-FFF2-40B4-BE49-F238E27FC236}">
                <a16:creationId xmlns:a16="http://schemas.microsoft.com/office/drawing/2014/main" id="{F3E5B9A6-9F0F-FA62-66DE-4895C617833B}"/>
              </a:ext>
            </a:extLst>
          </p:cNvPr>
          <p:cNvSpPr>
            <a:spLocks noGrp="1" noRot="1" noChangeAspect="1" noTextEdit="1"/>
          </p:cNvSpPr>
          <p:nvPr>
            <p:ph type="sldImg"/>
          </p:nvPr>
        </p:nvSpPr>
        <p:spPr>
          <a:ln/>
        </p:spPr>
      </p:sp>
      <p:sp>
        <p:nvSpPr>
          <p:cNvPr id="63491" name="Notes Placeholder 2">
            <a:extLst>
              <a:ext uri="{FF2B5EF4-FFF2-40B4-BE49-F238E27FC236}">
                <a16:creationId xmlns:a16="http://schemas.microsoft.com/office/drawing/2014/main" id="{4FB758F2-377C-19BA-FA6A-591BBF9A2F6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Central Data Store (might be passive or active).  Client software decides on actions independently based on state of data.  Avoid race conditions.  Also pub/sub on data modifications.  Scaling can be a problem.</a:t>
            </a:r>
          </a:p>
        </p:txBody>
      </p:sp>
      <p:sp>
        <p:nvSpPr>
          <p:cNvPr id="63492" name="Slide Number Placeholder 3">
            <a:extLst>
              <a:ext uri="{FF2B5EF4-FFF2-40B4-BE49-F238E27FC236}">
                <a16:creationId xmlns:a16="http://schemas.microsoft.com/office/drawing/2014/main" id="{D71C7918-0D33-8AC4-E750-A0CF98DD009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C7C6FB77-87B4-43EA-9F51-13A360FB6C5B}" type="slidenum">
              <a:rPr lang="en-US" altLang="en-US" sz="1000">
                <a:solidFill>
                  <a:schemeClr val="tx1"/>
                </a:solidFill>
                <a:latin typeface="Times New Roman" panose="02020603050405020304" pitchFamily="18" charset="0"/>
              </a:rPr>
              <a:pPr/>
              <a:t>14</a:t>
            </a:fld>
            <a:endParaRPr lang="en-US" altLang="en-US" sz="100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3166981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37B77-94EF-6189-C8F4-8752F4EE2046}"/>
            </a:ext>
          </a:extLst>
        </p:cNvPr>
        <p:cNvGrpSpPr/>
        <p:nvPr/>
      </p:nvGrpSpPr>
      <p:grpSpPr>
        <a:xfrm>
          <a:off x="0" y="0"/>
          <a:ext cx="0" cy="0"/>
          <a:chOff x="0" y="0"/>
          <a:chExt cx="0" cy="0"/>
        </a:xfrm>
      </p:grpSpPr>
      <p:sp>
        <p:nvSpPr>
          <p:cNvPr id="63490" name="Slide Image Placeholder 1">
            <a:extLst>
              <a:ext uri="{FF2B5EF4-FFF2-40B4-BE49-F238E27FC236}">
                <a16:creationId xmlns:a16="http://schemas.microsoft.com/office/drawing/2014/main" id="{D3E52B77-41FF-1D5A-410C-F42E29D5181B}"/>
              </a:ext>
            </a:extLst>
          </p:cNvPr>
          <p:cNvSpPr>
            <a:spLocks noGrp="1" noRot="1" noChangeAspect="1" noTextEdit="1"/>
          </p:cNvSpPr>
          <p:nvPr>
            <p:ph type="sldImg"/>
          </p:nvPr>
        </p:nvSpPr>
        <p:spPr>
          <a:ln/>
        </p:spPr>
      </p:sp>
      <p:sp>
        <p:nvSpPr>
          <p:cNvPr id="63491" name="Notes Placeholder 2">
            <a:extLst>
              <a:ext uri="{FF2B5EF4-FFF2-40B4-BE49-F238E27FC236}">
                <a16:creationId xmlns:a16="http://schemas.microsoft.com/office/drawing/2014/main" id="{1679AC73-3934-EE9B-88FF-76A332C4744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Useful when the purpose of the system is to transform a continuous (or finite) set of data through a series of transformations.</a:t>
            </a:r>
          </a:p>
        </p:txBody>
      </p:sp>
      <p:sp>
        <p:nvSpPr>
          <p:cNvPr id="63492" name="Slide Number Placeholder 3">
            <a:extLst>
              <a:ext uri="{FF2B5EF4-FFF2-40B4-BE49-F238E27FC236}">
                <a16:creationId xmlns:a16="http://schemas.microsoft.com/office/drawing/2014/main" id="{B049D5C0-BE0B-2AFF-7D0A-2CD941EA018A}"/>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C7C6FB77-87B4-43EA-9F51-13A360FB6C5B}" type="slidenum">
              <a:rPr lang="en-US" altLang="en-US" sz="1000">
                <a:solidFill>
                  <a:schemeClr val="tx1"/>
                </a:solidFill>
                <a:latin typeface="Times New Roman" panose="02020603050405020304" pitchFamily="18" charset="0"/>
              </a:rPr>
              <a:pPr/>
              <a:t>15</a:t>
            </a:fld>
            <a:endParaRPr lang="en-US" altLang="en-US" sz="100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3387923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CBF14-C3D0-E335-058A-D0C92DC59CC2}"/>
            </a:ext>
          </a:extLst>
        </p:cNvPr>
        <p:cNvGrpSpPr/>
        <p:nvPr/>
      </p:nvGrpSpPr>
      <p:grpSpPr>
        <a:xfrm>
          <a:off x="0" y="0"/>
          <a:ext cx="0" cy="0"/>
          <a:chOff x="0" y="0"/>
          <a:chExt cx="0" cy="0"/>
        </a:xfrm>
      </p:grpSpPr>
      <p:sp>
        <p:nvSpPr>
          <p:cNvPr id="63490" name="Slide Image Placeholder 1">
            <a:extLst>
              <a:ext uri="{FF2B5EF4-FFF2-40B4-BE49-F238E27FC236}">
                <a16:creationId xmlns:a16="http://schemas.microsoft.com/office/drawing/2014/main" id="{9F2CB5CD-16FA-EC51-54D0-4B1E93681F71}"/>
              </a:ext>
            </a:extLst>
          </p:cNvPr>
          <p:cNvSpPr>
            <a:spLocks noGrp="1" noRot="1" noChangeAspect="1" noTextEdit="1"/>
          </p:cNvSpPr>
          <p:nvPr>
            <p:ph type="sldImg"/>
          </p:nvPr>
        </p:nvSpPr>
        <p:spPr>
          <a:ln/>
        </p:spPr>
      </p:sp>
      <p:sp>
        <p:nvSpPr>
          <p:cNvPr id="63491" name="Notes Placeholder 2">
            <a:extLst>
              <a:ext uri="{FF2B5EF4-FFF2-40B4-BE49-F238E27FC236}">
                <a16:creationId xmlns:a16="http://schemas.microsoft.com/office/drawing/2014/main" id="{9196BBD2-F174-0236-7F9F-5581A6AB926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Main program with subprograms.  Also useful in the context of RPC.</a:t>
            </a:r>
          </a:p>
        </p:txBody>
      </p:sp>
      <p:sp>
        <p:nvSpPr>
          <p:cNvPr id="63492" name="Slide Number Placeholder 3">
            <a:extLst>
              <a:ext uri="{FF2B5EF4-FFF2-40B4-BE49-F238E27FC236}">
                <a16:creationId xmlns:a16="http://schemas.microsoft.com/office/drawing/2014/main" id="{1C287296-7934-35E7-751C-FE0CFA867D4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C7C6FB77-87B4-43EA-9F51-13A360FB6C5B}" type="slidenum">
              <a:rPr lang="en-US" altLang="en-US" sz="1000">
                <a:solidFill>
                  <a:schemeClr val="tx1"/>
                </a:solidFill>
                <a:latin typeface="Times New Roman" panose="02020603050405020304" pitchFamily="18" charset="0"/>
              </a:rPr>
              <a:pPr/>
              <a:t>16</a:t>
            </a:fld>
            <a:endParaRPr lang="en-US" altLang="en-US" sz="100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428516630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2E0AE0-F4C7-18D1-9D9C-B8425AB1804F}"/>
            </a:ext>
          </a:extLst>
        </p:cNvPr>
        <p:cNvGrpSpPr/>
        <p:nvPr/>
      </p:nvGrpSpPr>
      <p:grpSpPr>
        <a:xfrm>
          <a:off x="0" y="0"/>
          <a:ext cx="0" cy="0"/>
          <a:chOff x="0" y="0"/>
          <a:chExt cx="0" cy="0"/>
        </a:xfrm>
      </p:grpSpPr>
      <p:sp>
        <p:nvSpPr>
          <p:cNvPr id="63490" name="Slide Image Placeholder 1">
            <a:extLst>
              <a:ext uri="{FF2B5EF4-FFF2-40B4-BE49-F238E27FC236}">
                <a16:creationId xmlns:a16="http://schemas.microsoft.com/office/drawing/2014/main" id="{241FB93B-B71F-3A3C-7FEB-5A25522047D8}"/>
              </a:ext>
            </a:extLst>
          </p:cNvPr>
          <p:cNvSpPr>
            <a:spLocks noGrp="1" noRot="1" noChangeAspect="1" noTextEdit="1"/>
          </p:cNvSpPr>
          <p:nvPr>
            <p:ph type="sldImg"/>
          </p:nvPr>
        </p:nvSpPr>
        <p:spPr>
          <a:ln/>
        </p:spPr>
      </p:sp>
      <p:sp>
        <p:nvSpPr>
          <p:cNvPr id="63491" name="Notes Placeholder 2">
            <a:extLst>
              <a:ext uri="{FF2B5EF4-FFF2-40B4-BE49-F238E27FC236}">
                <a16:creationId xmlns:a16="http://schemas.microsoft.com/office/drawing/2014/main" id="{5FD0468E-BC45-6BD9-E1E3-B369C8539EA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Main focus of this is the  class.  Encapsulation, inheritance, abstraction.  GRASP patterns for class creation and manipulation.</a:t>
            </a:r>
          </a:p>
        </p:txBody>
      </p:sp>
      <p:sp>
        <p:nvSpPr>
          <p:cNvPr id="63492" name="Slide Number Placeholder 3">
            <a:extLst>
              <a:ext uri="{FF2B5EF4-FFF2-40B4-BE49-F238E27FC236}">
                <a16:creationId xmlns:a16="http://schemas.microsoft.com/office/drawing/2014/main" id="{59789036-4239-B24F-7849-20BCAB589365}"/>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C7C6FB77-87B4-43EA-9F51-13A360FB6C5B}" type="slidenum">
              <a:rPr lang="en-US" altLang="en-US" sz="1000">
                <a:solidFill>
                  <a:schemeClr val="tx1"/>
                </a:solidFill>
                <a:latin typeface="Times New Roman" panose="02020603050405020304" pitchFamily="18" charset="0"/>
              </a:rPr>
              <a:pPr/>
              <a:t>17</a:t>
            </a:fld>
            <a:endParaRPr lang="en-US" altLang="en-US" sz="100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41085847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1A1B-FE51-8227-53FA-E187FF990951}"/>
            </a:ext>
          </a:extLst>
        </p:cNvPr>
        <p:cNvGrpSpPr/>
        <p:nvPr/>
      </p:nvGrpSpPr>
      <p:grpSpPr>
        <a:xfrm>
          <a:off x="0" y="0"/>
          <a:ext cx="0" cy="0"/>
          <a:chOff x="0" y="0"/>
          <a:chExt cx="0" cy="0"/>
        </a:xfrm>
      </p:grpSpPr>
      <p:sp>
        <p:nvSpPr>
          <p:cNvPr id="63490" name="Slide Image Placeholder 1">
            <a:extLst>
              <a:ext uri="{FF2B5EF4-FFF2-40B4-BE49-F238E27FC236}">
                <a16:creationId xmlns:a16="http://schemas.microsoft.com/office/drawing/2014/main" id="{B3755F98-80FB-D91A-4103-974AE840C487}"/>
              </a:ext>
            </a:extLst>
          </p:cNvPr>
          <p:cNvSpPr>
            <a:spLocks noGrp="1" noRot="1" noChangeAspect="1" noTextEdit="1"/>
          </p:cNvSpPr>
          <p:nvPr>
            <p:ph type="sldImg"/>
          </p:nvPr>
        </p:nvSpPr>
        <p:spPr>
          <a:ln/>
        </p:spPr>
      </p:sp>
      <p:sp>
        <p:nvSpPr>
          <p:cNvPr id="63491" name="Notes Placeholder 2">
            <a:extLst>
              <a:ext uri="{FF2B5EF4-FFF2-40B4-BE49-F238E27FC236}">
                <a16:creationId xmlns:a16="http://schemas.microsoft.com/office/drawing/2014/main" id="{08174807-FBE8-1099-C4C4-C32ABFEBE2A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Each layer provides some functionality with outer layers calling through the layer below.  Do not skip layers! Very useful in OS design, Networking design, systems that have a strong HW component.</a:t>
            </a:r>
          </a:p>
        </p:txBody>
      </p:sp>
      <p:sp>
        <p:nvSpPr>
          <p:cNvPr id="63492" name="Slide Number Placeholder 3">
            <a:extLst>
              <a:ext uri="{FF2B5EF4-FFF2-40B4-BE49-F238E27FC236}">
                <a16:creationId xmlns:a16="http://schemas.microsoft.com/office/drawing/2014/main" id="{DF9A7094-7E5D-C162-BE71-1CD7818AF36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C7C6FB77-87B4-43EA-9F51-13A360FB6C5B}" type="slidenum">
              <a:rPr lang="en-US" altLang="en-US" sz="1000">
                <a:solidFill>
                  <a:schemeClr val="tx1"/>
                </a:solidFill>
                <a:latin typeface="Times New Roman" panose="02020603050405020304" pitchFamily="18" charset="0"/>
              </a:rPr>
              <a:pPr/>
              <a:t>18</a:t>
            </a:fld>
            <a:endParaRPr lang="en-US" altLang="en-US" sz="100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109651646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Slide Image Placeholder 1">
            <a:extLst>
              <a:ext uri="{FF2B5EF4-FFF2-40B4-BE49-F238E27FC236}">
                <a16:creationId xmlns:a16="http://schemas.microsoft.com/office/drawing/2014/main" id="{0D6728EC-4E66-D473-7EBD-44A4BEAAA479}"/>
              </a:ext>
            </a:extLst>
          </p:cNvPr>
          <p:cNvSpPr>
            <a:spLocks noGrp="1" noRot="1" noChangeAspect="1" noTextEdit="1"/>
          </p:cNvSpPr>
          <p:nvPr>
            <p:ph type="sldImg"/>
          </p:nvPr>
        </p:nvSpPr>
        <p:spPr>
          <a:ln/>
        </p:spPr>
      </p:sp>
      <p:sp>
        <p:nvSpPr>
          <p:cNvPr id="62467" name="Notes Placeholder 2">
            <a:extLst>
              <a:ext uri="{FF2B5EF4-FFF2-40B4-BE49-F238E27FC236}">
                <a16:creationId xmlns:a16="http://schemas.microsoft.com/office/drawing/2014/main" id="{81B19696-5E85-231B-946E-3727793EF26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The grasp principles or patterns are a learning aid to help you understand essential object design and apply design reasoning in a methodical, rational, explainable way</a:t>
            </a:r>
          </a:p>
        </p:txBody>
      </p:sp>
      <p:sp>
        <p:nvSpPr>
          <p:cNvPr id="62468" name="Slide Number Placeholder 3">
            <a:extLst>
              <a:ext uri="{FF2B5EF4-FFF2-40B4-BE49-F238E27FC236}">
                <a16:creationId xmlns:a16="http://schemas.microsoft.com/office/drawing/2014/main" id="{69B1B4ED-6DF6-0A66-EE6D-CF11120C2F6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91BD9277-C166-4B0E-BE21-99D0ACC7E7E5}" type="slidenum">
              <a:rPr lang="en-US" altLang="en-US" sz="1000">
                <a:solidFill>
                  <a:schemeClr val="tx1"/>
                </a:solidFill>
                <a:latin typeface="Times New Roman" panose="02020603050405020304" pitchFamily="18" charset="0"/>
              </a:rPr>
              <a:pPr/>
              <a:t>20</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Slide Image Placeholder 1">
            <a:extLst>
              <a:ext uri="{FF2B5EF4-FFF2-40B4-BE49-F238E27FC236}">
                <a16:creationId xmlns:a16="http://schemas.microsoft.com/office/drawing/2014/main" id="{090955F8-D93E-9568-579B-D4664B70C072}"/>
              </a:ext>
            </a:extLst>
          </p:cNvPr>
          <p:cNvSpPr>
            <a:spLocks noGrp="1" noRot="1" noChangeAspect="1" noTextEdit="1"/>
          </p:cNvSpPr>
          <p:nvPr>
            <p:ph type="sldImg"/>
          </p:nvPr>
        </p:nvSpPr>
        <p:spPr>
          <a:ln/>
        </p:spPr>
      </p:sp>
      <p:sp>
        <p:nvSpPr>
          <p:cNvPr id="63491" name="Notes Placeholder 2">
            <a:extLst>
              <a:ext uri="{FF2B5EF4-FFF2-40B4-BE49-F238E27FC236}">
                <a16:creationId xmlns:a16="http://schemas.microsoft.com/office/drawing/2014/main" id="{2355CB69-31DA-2147-21CE-B1F07DE6734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A responsibility is also an abstraction of the object does</a:t>
            </a:r>
          </a:p>
          <a:p>
            <a:endParaRPr lang="en-US" altLang="en-US" dirty="0"/>
          </a:p>
          <a:p>
            <a:r>
              <a:rPr lang="en-US" altLang="en-US" dirty="0"/>
              <a:t>Two types of responsibilities:  doing and knowing.</a:t>
            </a:r>
          </a:p>
          <a:p>
            <a:endParaRPr lang="en-US" altLang="en-US" dirty="0"/>
          </a:p>
          <a:p>
            <a:r>
              <a:rPr lang="en-US" altLang="en-US" dirty="0"/>
              <a:t>May seem contradictory that it is an obligation of a class but can also span classes.  Some responsibilities are very broad and may span the system as a whole.  Example borrow books from a Library.  Those should be broken down to small responsibilities that can be an obligation of a single class.</a:t>
            </a:r>
          </a:p>
        </p:txBody>
      </p:sp>
      <p:sp>
        <p:nvSpPr>
          <p:cNvPr id="63492" name="Slide Number Placeholder 3">
            <a:extLst>
              <a:ext uri="{FF2B5EF4-FFF2-40B4-BE49-F238E27FC236}">
                <a16:creationId xmlns:a16="http://schemas.microsoft.com/office/drawing/2014/main" id="{7A002696-E6DA-36DA-2F98-32E8973EFD9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C7C6FB77-87B4-43EA-9F51-13A360FB6C5B}" type="slidenum">
              <a:rPr lang="en-US" altLang="en-US" sz="1000">
                <a:solidFill>
                  <a:schemeClr val="tx1"/>
                </a:solidFill>
                <a:latin typeface="Times New Roman" panose="02020603050405020304" pitchFamily="18" charset="0"/>
              </a:rPr>
              <a:pPr/>
              <a:t>21</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4" name="Slide Image Placeholder 1">
            <a:extLst>
              <a:ext uri="{FF2B5EF4-FFF2-40B4-BE49-F238E27FC236}">
                <a16:creationId xmlns:a16="http://schemas.microsoft.com/office/drawing/2014/main" id="{D66D6185-A7CE-D48E-0BEE-B952A29C626C}"/>
              </a:ext>
            </a:extLst>
          </p:cNvPr>
          <p:cNvSpPr>
            <a:spLocks noGrp="1" noRot="1" noChangeAspect="1" noTextEdit="1"/>
          </p:cNvSpPr>
          <p:nvPr>
            <p:ph type="sldImg"/>
          </p:nvPr>
        </p:nvSpPr>
        <p:spPr>
          <a:ln/>
        </p:spPr>
      </p:sp>
      <p:sp>
        <p:nvSpPr>
          <p:cNvPr id="64515" name="Notes Placeholder 2">
            <a:extLst>
              <a:ext uri="{FF2B5EF4-FFF2-40B4-BE49-F238E27FC236}">
                <a16:creationId xmlns:a16="http://schemas.microsoft.com/office/drawing/2014/main" id="{F46A8D0B-A6FE-720A-6CA4-27A6C4C8224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64516" name="Slide Number Placeholder 3">
            <a:extLst>
              <a:ext uri="{FF2B5EF4-FFF2-40B4-BE49-F238E27FC236}">
                <a16:creationId xmlns:a16="http://schemas.microsoft.com/office/drawing/2014/main" id="{693D8937-82EB-5568-CD19-250334F7853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43A789AA-9EB0-4A4D-8A5E-12C8C82CE5BD}" type="slidenum">
              <a:rPr lang="en-US" altLang="en-US" sz="1000">
                <a:solidFill>
                  <a:schemeClr val="tx1"/>
                </a:solidFill>
                <a:latin typeface="Times New Roman" panose="02020603050405020304" pitchFamily="18" charset="0"/>
              </a:rPr>
              <a:pPr/>
              <a:t>23</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C3847-60C5-FF75-840B-EDDD8F69AC10}"/>
            </a:ext>
          </a:extLst>
        </p:cNvPr>
        <p:cNvGrpSpPr/>
        <p:nvPr/>
      </p:nvGrpSpPr>
      <p:grpSpPr>
        <a:xfrm>
          <a:off x="0" y="0"/>
          <a:ext cx="0" cy="0"/>
          <a:chOff x="0" y="0"/>
          <a:chExt cx="0" cy="0"/>
        </a:xfrm>
      </p:grpSpPr>
      <p:sp>
        <p:nvSpPr>
          <p:cNvPr id="65538" name="Slide Image Placeholder 1">
            <a:extLst>
              <a:ext uri="{FF2B5EF4-FFF2-40B4-BE49-F238E27FC236}">
                <a16:creationId xmlns:a16="http://schemas.microsoft.com/office/drawing/2014/main" id="{5683FFF2-D6E9-9315-73D0-B38A09113A27}"/>
              </a:ext>
            </a:extLst>
          </p:cNvPr>
          <p:cNvSpPr>
            <a:spLocks noGrp="1" noRot="1" noChangeAspect="1" noTextEdit="1"/>
          </p:cNvSpPr>
          <p:nvPr>
            <p:ph type="sldImg"/>
          </p:nvPr>
        </p:nvSpPr>
        <p:spPr>
          <a:ln/>
        </p:spPr>
      </p:sp>
      <p:sp>
        <p:nvSpPr>
          <p:cNvPr id="65539" name="Notes Placeholder 2">
            <a:extLst>
              <a:ext uri="{FF2B5EF4-FFF2-40B4-BE49-F238E27FC236}">
                <a16:creationId xmlns:a16="http://schemas.microsoft.com/office/drawing/2014/main" id="{7D334226-2E02-4A06-1DC8-AEDC1A31263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Demeter is a </a:t>
            </a:r>
            <a:r>
              <a:rPr lang="en-US" altLang="en-US" dirty="0" err="1"/>
              <a:t>greek</a:t>
            </a:r>
            <a:r>
              <a:rPr lang="en-US" altLang="en-US" dirty="0"/>
              <a:t> goddess.</a:t>
            </a:r>
          </a:p>
          <a:p>
            <a:r>
              <a:rPr lang="en-US" altLang="en-US" dirty="0"/>
              <a:t>“distribution-mother” and </a:t>
            </a:r>
            <a:r>
              <a:rPr lang="en-US" altLang="en-US" dirty="0">
                <a:hlinkClick r:id="rId3" action="ppaction://hlinkfile" tooltip="Goddess"/>
              </a:rPr>
              <a:t>goddess</a:t>
            </a:r>
            <a:r>
              <a:rPr lang="en-US" altLang="en-US" dirty="0"/>
              <a:t> of </a:t>
            </a:r>
            <a:r>
              <a:rPr lang="en-US" altLang="en-US" dirty="0">
                <a:hlinkClick r:id="rId4" action="ppaction://hlinkfile" tooltip="Agriculture"/>
              </a:rPr>
              <a:t>agriculture</a:t>
            </a:r>
            <a:r>
              <a:rPr lang="en-US" altLang="en-US" dirty="0"/>
              <a:t>, to signify a bottom-up philosophy of programming which is also embodied in the law itself.</a:t>
            </a:r>
          </a:p>
          <a:p>
            <a:endParaRPr lang="en-US" altLang="en-US" dirty="0"/>
          </a:p>
          <a:p>
            <a:r>
              <a:rPr lang="en-US" altLang="en-US" dirty="0"/>
              <a:t>Limit how many classes you get to talk to.  Even if it may seem easy to call the public method of some class, if you only need to talk to it rarely perhaps you can find a go-between that you talk to it frequently and it talks to the other one frequently to broker the conversation.</a:t>
            </a:r>
          </a:p>
        </p:txBody>
      </p:sp>
      <p:sp>
        <p:nvSpPr>
          <p:cNvPr id="65540" name="Slide Number Placeholder 3">
            <a:extLst>
              <a:ext uri="{FF2B5EF4-FFF2-40B4-BE49-F238E27FC236}">
                <a16:creationId xmlns:a16="http://schemas.microsoft.com/office/drawing/2014/main" id="{A2116B2B-59C8-7655-1BBE-4D7AA823989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045719DE-831D-4C89-86A8-4774617FE98D}" type="slidenum">
              <a:rPr lang="en-US" altLang="en-US" sz="1000">
                <a:solidFill>
                  <a:schemeClr val="tx1"/>
                </a:solidFill>
                <a:latin typeface="Times New Roman" panose="02020603050405020304" pitchFamily="18" charset="0"/>
              </a:rPr>
              <a:pPr/>
              <a:t>24</a:t>
            </a:fld>
            <a:endParaRPr lang="en-US" altLang="en-US" sz="100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106778798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Slide Image Placeholder 1">
            <a:extLst>
              <a:ext uri="{FF2B5EF4-FFF2-40B4-BE49-F238E27FC236}">
                <a16:creationId xmlns:a16="http://schemas.microsoft.com/office/drawing/2014/main" id="{580F4D26-EAA9-0744-276D-B193BBAF5207}"/>
              </a:ext>
            </a:extLst>
          </p:cNvPr>
          <p:cNvSpPr>
            <a:spLocks noGrp="1" noRot="1" noChangeAspect="1" noTextEdit="1"/>
          </p:cNvSpPr>
          <p:nvPr>
            <p:ph type="sldImg"/>
          </p:nvPr>
        </p:nvSpPr>
        <p:spPr>
          <a:ln/>
        </p:spPr>
      </p:sp>
      <p:sp>
        <p:nvSpPr>
          <p:cNvPr id="66563" name="Notes Placeholder 2">
            <a:extLst>
              <a:ext uri="{FF2B5EF4-FFF2-40B4-BE49-F238E27FC236}">
                <a16:creationId xmlns:a16="http://schemas.microsoft.com/office/drawing/2014/main" id="{8174EF07-1FBB-5746-B0C7-A6BB2DD76CD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66564" name="Slide Number Placeholder 3">
            <a:extLst>
              <a:ext uri="{FF2B5EF4-FFF2-40B4-BE49-F238E27FC236}">
                <a16:creationId xmlns:a16="http://schemas.microsoft.com/office/drawing/2014/main" id="{62F03C85-A0F0-463F-3375-E58368D3943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AEBBD529-AC5E-45E2-9A7F-E0F3C7BD02F0}" type="slidenum">
              <a:rPr lang="en-US" altLang="en-US" sz="1000">
                <a:solidFill>
                  <a:schemeClr val="tx1"/>
                </a:solidFill>
                <a:latin typeface="Times New Roman" panose="02020603050405020304" pitchFamily="18" charset="0"/>
              </a:rPr>
              <a:pPr/>
              <a:t>25</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8D4148-0794-B5BD-EC19-C7127715B31B}"/>
            </a:ext>
          </a:extLst>
        </p:cNvPr>
        <p:cNvGrpSpPr/>
        <p:nvPr/>
      </p:nvGrpSpPr>
      <p:grpSpPr>
        <a:xfrm>
          <a:off x="0" y="0"/>
          <a:ext cx="0" cy="0"/>
          <a:chOff x="0" y="0"/>
          <a:chExt cx="0" cy="0"/>
        </a:xfrm>
      </p:grpSpPr>
      <p:sp>
        <p:nvSpPr>
          <p:cNvPr id="66562" name="Slide Image Placeholder 1">
            <a:extLst>
              <a:ext uri="{FF2B5EF4-FFF2-40B4-BE49-F238E27FC236}">
                <a16:creationId xmlns:a16="http://schemas.microsoft.com/office/drawing/2014/main" id="{E0D18828-9F26-EF49-1A78-FA4DEBFDE0A0}"/>
              </a:ext>
            </a:extLst>
          </p:cNvPr>
          <p:cNvSpPr>
            <a:spLocks noGrp="1" noRot="1" noChangeAspect="1" noTextEdit="1"/>
          </p:cNvSpPr>
          <p:nvPr>
            <p:ph type="sldImg"/>
          </p:nvPr>
        </p:nvSpPr>
        <p:spPr>
          <a:ln/>
        </p:spPr>
      </p:sp>
      <p:sp>
        <p:nvSpPr>
          <p:cNvPr id="66563" name="Notes Placeholder 2">
            <a:extLst>
              <a:ext uri="{FF2B5EF4-FFF2-40B4-BE49-F238E27FC236}">
                <a16:creationId xmlns:a16="http://schemas.microsoft.com/office/drawing/2014/main" id="{660C370A-D40E-C870-94F4-963FA4690797}"/>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66564" name="Slide Number Placeholder 3">
            <a:extLst>
              <a:ext uri="{FF2B5EF4-FFF2-40B4-BE49-F238E27FC236}">
                <a16:creationId xmlns:a16="http://schemas.microsoft.com/office/drawing/2014/main" id="{63135438-F8D1-3906-5140-C2390387F60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AEBBD529-AC5E-45E2-9A7F-E0F3C7BD02F0}" type="slidenum">
              <a:rPr lang="en-US" altLang="en-US" sz="1000">
                <a:solidFill>
                  <a:schemeClr val="tx1"/>
                </a:solidFill>
                <a:latin typeface="Times New Roman" panose="02020603050405020304" pitchFamily="18" charset="0"/>
              </a:rPr>
              <a:pPr/>
              <a:t>26</a:t>
            </a:fld>
            <a:endParaRPr lang="en-US" altLang="en-US" sz="1000">
              <a:solidFill>
                <a:schemeClr val="tx1"/>
              </a:solidFill>
              <a:latin typeface="Times New Roman" panose="02020603050405020304" pitchFamily="18" charset="0"/>
            </a:endParaRPr>
          </a:p>
        </p:txBody>
      </p:sp>
    </p:spTree>
    <p:extLst>
      <p:ext uri="{BB962C8B-B14F-4D97-AF65-F5344CB8AC3E}">
        <p14:creationId xmlns:p14="http://schemas.microsoft.com/office/powerpoint/2010/main" val="111978761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586" name="Slide Image Placeholder 1">
            <a:extLst>
              <a:ext uri="{FF2B5EF4-FFF2-40B4-BE49-F238E27FC236}">
                <a16:creationId xmlns:a16="http://schemas.microsoft.com/office/drawing/2014/main" id="{273F7373-2CA6-59EE-4B37-31DE6778330C}"/>
              </a:ext>
            </a:extLst>
          </p:cNvPr>
          <p:cNvSpPr>
            <a:spLocks noGrp="1" noRot="1" noChangeAspect="1" noTextEdit="1"/>
          </p:cNvSpPr>
          <p:nvPr>
            <p:ph type="sldImg"/>
          </p:nvPr>
        </p:nvSpPr>
        <p:spPr>
          <a:ln/>
        </p:spPr>
      </p:sp>
      <p:sp>
        <p:nvSpPr>
          <p:cNvPr id="67587" name="Notes Placeholder 2">
            <a:extLst>
              <a:ext uri="{FF2B5EF4-FFF2-40B4-BE49-F238E27FC236}">
                <a16:creationId xmlns:a16="http://schemas.microsoft.com/office/drawing/2014/main" id="{5F470998-D3A7-0215-B719-02E718B2C7A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AKA Information Expert</a:t>
            </a:r>
          </a:p>
        </p:txBody>
      </p:sp>
      <p:sp>
        <p:nvSpPr>
          <p:cNvPr id="67588" name="Slide Number Placeholder 3">
            <a:extLst>
              <a:ext uri="{FF2B5EF4-FFF2-40B4-BE49-F238E27FC236}">
                <a16:creationId xmlns:a16="http://schemas.microsoft.com/office/drawing/2014/main" id="{ABB5D920-7FB2-238B-69D0-9E0818301C1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AD4B74DE-EF3C-46DC-B266-A024CB910CC1}" type="slidenum">
              <a:rPr lang="en-US" altLang="en-US" sz="1000">
                <a:solidFill>
                  <a:schemeClr val="tx1"/>
                </a:solidFill>
                <a:latin typeface="Times New Roman" panose="02020603050405020304" pitchFamily="18" charset="0"/>
              </a:rPr>
              <a:pPr/>
              <a:t>28</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5239236-8648-4B3B-A92F-3045E7CAAD0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6674" name="Rectangle 2"/>
          <p:cNvSpPr>
            <a:spLocks noGrp="1" noRot="1" noChangeAspect="1" noChangeArrowheads="1" noTextEdit="1"/>
          </p:cNvSpPr>
          <p:nvPr>
            <p:ph type="sldImg"/>
          </p:nvPr>
        </p:nvSpPr>
        <p:spPr>
          <a:xfrm>
            <a:off x="404813" y="695325"/>
            <a:ext cx="6178550" cy="3476625"/>
          </a:xfrm>
          <a:ln/>
        </p:spPr>
      </p:sp>
      <p:sp>
        <p:nvSpPr>
          <p:cNvPr id="796675" name="Rectangle 3"/>
          <p:cNvSpPr>
            <a:spLocks noGrp="1" noChangeArrowheads="1"/>
          </p:cNvSpPr>
          <p:nvPr>
            <p:ph type="body" idx="1"/>
          </p:nvPr>
        </p:nvSpPr>
        <p:spPr>
          <a:xfrm>
            <a:off x="931863" y="4403725"/>
            <a:ext cx="5121275" cy="4171950"/>
          </a:xfrm>
        </p:spPr>
        <p:txBody>
          <a:bodyPr/>
          <a:lstStyle/>
          <a:p>
            <a:pPr defTabSz="914400"/>
            <a:r>
              <a:rPr lang="en-US" altLang="en-US" dirty="0"/>
              <a:t>Multiplicity – defines how many instances of class A can be associated with class B</a:t>
            </a:r>
          </a:p>
          <a:p>
            <a:pPr defTabSz="914400"/>
            <a:endParaRPr lang="en-US" altLang="en-US" dirty="0"/>
          </a:p>
          <a:p>
            <a:pPr defTabSz="914400"/>
            <a:r>
              <a:rPr lang="en-US" altLang="en-US" dirty="0"/>
              <a:t>Single</a:t>
            </a:r>
            <a:r>
              <a:rPr lang="en-US" altLang="en-US" baseline="0" dirty="0"/>
              <a:t> instance of store can be associated with “many” (zero or more, indicated by the *) Sale instance</a:t>
            </a:r>
            <a:endParaRPr lang="en-US" altLang="en-US" dirty="0"/>
          </a:p>
        </p:txBody>
      </p:sp>
    </p:spTree>
    <p:extLst>
      <p:ext uri="{BB962C8B-B14F-4D97-AF65-F5344CB8AC3E}">
        <p14:creationId xmlns:p14="http://schemas.microsoft.com/office/powerpoint/2010/main" val="133156806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610" name="Slide Image Placeholder 1">
            <a:extLst>
              <a:ext uri="{FF2B5EF4-FFF2-40B4-BE49-F238E27FC236}">
                <a16:creationId xmlns:a16="http://schemas.microsoft.com/office/drawing/2014/main" id="{FE60D572-73B2-2910-BFB6-9B59B6CE3822}"/>
              </a:ext>
            </a:extLst>
          </p:cNvPr>
          <p:cNvSpPr>
            <a:spLocks noGrp="1" noRot="1" noChangeAspect="1" noTextEdit="1"/>
          </p:cNvSpPr>
          <p:nvPr>
            <p:ph type="sldImg"/>
          </p:nvPr>
        </p:nvSpPr>
        <p:spPr>
          <a:ln/>
        </p:spPr>
      </p:sp>
      <p:sp>
        <p:nvSpPr>
          <p:cNvPr id="68611" name="Notes Placeholder 2">
            <a:extLst>
              <a:ext uri="{FF2B5EF4-FFF2-40B4-BE49-F238E27FC236}">
                <a16:creationId xmlns:a16="http://schemas.microsoft.com/office/drawing/2014/main" id="{C7217823-C76A-26FA-9E93-A9CEC3FEA90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Ask “who should be responsible for knowing the grand total of a sale?”</a:t>
            </a:r>
          </a:p>
          <a:p>
            <a:endParaRPr lang="en-US" altLang="en-US"/>
          </a:p>
          <a:p>
            <a:r>
              <a:rPr lang="en-US" altLang="en-US"/>
              <a:t>Here is a partial domain model showing the “associations” of Sale</a:t>
            </a:r>
          </a:p>
          <a:p>
            <a:endParaRPr lang="en-US" altLang="en-US"/>
          </a:p>
          <a:p>
            <a:r>
              <a:rPr lang="en-US" altLang="en-US"/>
              <a:t>Go to the next slide to figure out what is needed to determine the grand total.</a:t>
            </a:r>
          </a:p>
        </p:txBody>
      </p:sp>
      <p:sp>
        <p:nvSpPr>
          <p:cNvPr id="68612" name="Slide Number Placeholder 3">
            <a:extLst>
              <a:ext uri="{FF2B5EF4-FFF2-40B4-BE49-F238E27FC236}">
                <a16:creationId xmlns:a16="http://schemas.microsoft.com/office/drawing/2014/main" id="{D7924F1D-A278-589A-F4CB-C46F6F9D65D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59182030-F1B3-497D-83CF-D400ED9B84EF}" type="slidenum">
              <a:rPr lang="en-US" altLang="en-US" sz="1000">
                <a:solidFill>
                  <a:schemeClr val="tx1"/>
                </a:solidFill>
                <a:latin typeface="Times New Roman" panose="02020603050405020304" pitchFamily="18" charset="0"/>
              </a:rPr>
              <a:pPr/>
              <a:t>31</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634" name="Slide Image Placeholder 1">
            <a:extLst>
              <a:ext uri="{FF2B5EF4-FFF2-40B4-BE49-F238E27FC236}">
                <a16:creationId xmlns:a16="http://schemas.microsoft.com/office/drawing/2014/main" id="{2674C7E1-49DE-A36C-B735-2BFDD45B4E61}"/>
              </a:ext>
            </a:extLst>
          </p:cNvPr>
          <p:cNvSpPr>
            <a:spLocks noGrp="1" noRot="1" noChangeAspect="1" noTextEdit="1"/>
          </p:cNvSpPr>
          <p:nvPr>
            <p:ph type="sldImg"/>
          </p:nvPr>
        </p:nvSpPr>
        <p:spPr>
          <a:ln/>
        </p:spPr>
      </p:sp>
      <p:sp>
        <p:nvSpPr>
          <p:cNvPr id="69635" name="Notes Placeholder 2">
            <a:extLst>
              <a:ext uri="{FF2B5EF4-FFF2-40B4-BE49-F238E27FC236}">
                <a16:creationId xmlns:a16="http://schemas.microsoft.com/office/drawing/2014/main" id="{7AB403C0-10D2-C8E0-6BA0-6957FE430BF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It is necessary to know about all the </a:t>
            </a:r>
            <a:r>
              <a:rPr lang="en-US" altLang="en-US" dirty="0" err="1"/>
              <a:t>saleslineitem</a:t>
            </a:r>
            <a:r>
              <a:rPr lang="en-US" altLang="en-US" dirty="0"/>
              <a:t> instances of a sale and the sum of their subtotals.  Sale knows theses – by the Expert guideline, Sale is a suitable class for this responsibility.  </a:t>
            </a:r>
          </a:p>
          <a:p>
            <a:endParaRPr lang="en-US" altLang="en-US" dirty="0"/>
          </a:p>
          <a:p>
            <a:r>
              <a:rPr lang="en-US" altLang="en-US" dirty="0"/>
              <a:t>Partial Interaction and class diagrams shown here – showing where you would assign the responsibility – Sale has the method total() and Sale is getting a message requesting that information.</a:t>
            </a:r>
          </a:p>
          <a:p>
            <a:endParaRPr lang="en-US" altLang="en-US" dirty="0"/>
          </a:p>
        </p:txBody>
      </p:sp>
      <p:sp>
        <p:nvSpPr>
          <p:cNvPr id="69636" name="Slide Number Placeholder 3">
            <a:extLst>
              <a:ext uri="{FF2B5EF4-FFF2-40B4-BE49-F238E27FC236}">
                <a16:creationId xmlns:a16="http://schemas.microsoft.com/office/drawing/2014/main" id="{6E304CB2-18E3-C3FE-EC7A-806DEB4AA52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18F39F6B-266A-43AD-B7AA-D061A611583D}" type="slidenum">
              <a:rPr lang="en-US" altLang="en-US" sz="1000">
                <a:solidFill>
                  <a:schemeClr val="tx1"/>
                </a:solidFill>
                <a:latin typeface="Times New Roman" panose="02020603050405020304" pitchFamily="18" charset="0"/>
              </a:rPr>
              <a:pPr/>
              <a:t>32</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Slide Image Placeholder 1">
            <a:extLst>
              <a:ext uri="{FF2B5EF4-FFF2-40B4-BE49-F238E27FC236}">
                <a16:creationId xmlns:a16="http://schemas.microsoft.com/office/drawing/2014/main" id="{D073415B-DF07-9481-9023-2D34035A74D0}"/>
              </a:ext>
            </a:extLst>
          </p:cNvPr>
          <p:cNvSpPr>
            <a:spLocks noGrp="1" noRot="1" noChangeAspect="1" noTextEdit="1"/>
          </p:cNvSpPr>
          <p:nvPr>
            <p:ph type="sldImg"/>
          </p:nvPr>
        </p:nvSpPr>
        <p:spPr>
          <a:ln/>
        </p:spPr>
      </p:sp>
      <p:sp>
        <p:nvSpPr>
          <p:cNvPr id="70659" name="Notes Placeholder 2">
            <a:extLst>
              <a:ext uri="{FF2B5EF4-FFF2-40B4-BE49-F238E27FC236}">
                <a16:creationId xmlns:a16="http://schemas.microsoft.com/office/drawing/2014/main" id="{2BF97EBD-251B-7EDD-AA7D-A20DABE2C61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Char char="•"/>
            </a:pPr>
            <a:r>
              <a:rPr lang="en-US" altLang="en-US"/>
              <a:t>What information is needed to determine the line item “subtotal”?</a:t>
            </a:r>
          </a:p>
          <a:p>
            <a:pPr>
              <a:buFontTx/>
              <a:buChar char="•"/>
            </a:pPr>
            <a:endParaRPr lang="en-US" altLang="en-US"/>
          </a:p>
          <a:p>
            <a:pPr>
              <a:buFontTx/>
              <a:buChar char="•"/>
            </a:pPr>
            <a:r>
              <a:rPr lang="en-US" altLang="en-US"/>
              <a:t>SalesLineItem knows its quantity and its associated product specification (price) (look at slide 11)</a:t>
            </a:r>
          </a:p>
          <a:p>
            <a:pPr>
              <a:buFontTx/>
              <a:buChar char="•"/>
            </a:pPr>
            <a:r>
              <a:rPr lang="en-US" altLang="en-US"/>
              <a:t>Therefore by “expert”, salesLineItem should determine the subtotal.  It is the information expert.</a:t>
            </a:r>
          </a:p>
          <a:p>
            <a:pPr>
              <a:buFontTx/>
              <a:buChar char="•"/>
            </a:pPr>
            <a:endParaRPr lang="en-US" altLang="en-US"/>
          </a:p>
          <a:p>
            <a:pPr>
              <a:buFontTx/>
              <a:buChar char="•"/>
            </a:pPr>
            <a:endParaRPr lang="en-US" altLang="en-US"/>
          </a:p>
        </p:txBody>
      </p:sp>
      <p:sp>
        <p:nvSpPr>
          <p:cNvPr id="70660" name="Slide Number Placeholder 3">
            <a:extLst>
              <a:ext uri="{FF2B5EF4-FFF2-40B4-BE49-F238E27FC236}">
                <a16:creationId xmlns:a16="http://schemas.microsoft.com/office/drawing/2014/main" id="{DD5E4FC9-79C5-BB83-DB66-5E89D5D6476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B4092A12-B68F-487D-9882-5C2E05E6BAE9}" type="slidenum">
              <a:rPr lang="en-US" altLang="en-US" sz="1000">
                <a:solidFill>
                  <a:schemeClr val="tx1"/>
                </a:solidFill>
                <a:latin typeface="Times New Roman" panose="02020603050405020304" pitchFamily="18" charset="0"/>
              </a:rPr>
              <a:pPr/>
              <a:t>33</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2" name="Slide Image Placeholder 1">
            <a:extLst>
              <a:ext uri="{FF2B5EF4-FFF2-40B4-BE49-F238E27FC236}">
                <a16:creationId xmlns:a16="http://schemas.microsoft.com/office/drawing/2014/main" id="{B2374541-DFFC-86DE-FB2C-8127E66FBB16}"/>
              </a:ext>
            </a:extLst>
          </p:cNvPr>
          <p:cNvSpPr>
            <a:spLocks noGrp="1" noRot="1" noChangeAspect="1" noTextEdit="1"/>
          </p:cNvSpPr>
          <p:nvPr>
            <p:ph type="sldImg"/>
          </p:nvPr>
        </p:nvSpPr>
        <p:spPr>
          <a:ln/>
        </p:spPr>
      </p:sp>
      <p:sp>
        <p:nvSpPr>
          <p:cNvPr id="71683" name="Notes Placeholder 2">
            <a:extLst>
              <a:ext uri="{FF2B5EF4-FFF2-40B4-BE49-F238E27FC236}">
                <a16:creationId xmlns:a16="http://schemas.microsoft.com/office/drawing/2014/main" id="{95E1BA4B-2D41-ECB7-771C-2777AFCF743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To fulfill the </a:t>
            </a:r>
            <a:r>
              <a:rPr lang="en-US" altLang="en-US" dirty="0" err="1"/>
              <a:t>responsibliity</a:t>
            </a:r>
            <a:r>
              <a:rPr lang="en-US" altLang="en-US" dirty="0"/>
              <a:t> of knowing and answering its subtotal, a sales </a:t>
            </a:r>
            <a:r>
              <a:rPr lang="en-US" altLang="en-US" dirty="0" err="1"/>
              <a:t>lineitem</a:t>
            </a:r>
            <a:r>
              <a:rPr lang="en-US" altLang="en-US" dirty="0"/>
              <a:t> needs to know the product price.</a:t>
            </a:r>
          </a:p>
          <a:p>
            <a:endParaRPr lang="en-US" altLang="en-US" dirty="0"/>
          </a:p>
          <a:p>
            <a:r>
              <a:rPr lang="en-US" altLang="en-US" dirty="0"/>
              <a:t>The </a:t>
            </a:r>
            <a:r>
              <a:rPr lang="en-US" altLang="en-US" dirty="0" err="1"/>
              <a:t>productSpecification</a:t>
            </a:r>
            <a:r>
              <a:rPr lang="en-US" altLang="en-US" dirty="0"/>
              <a:t> is an information expert on answering the price; therefore a message must be sent asking for the price</a:t>
            </a:r>
          </a:p>
          <a:p>
            <a:endParaRPr lang="en-US" altLang="en-US" dirty="0"/>
          </a:p>
          <a:p>
            <a:r>
              <a:rPr lang="en-US" altLang="en-US" dirty="0"/>
              <a:t>SO – to fulfill the responsibility of knowing and answering the sale’s total, 3 responsibilities were assigned to three design classes of </a:t>
            </a:r>
            <a:r>
              <a:rPr lang="en-US" altLang="en-US" dirty="0" err="1"/>
              <a:t>objects:sale</a:t>
            </a:r>
            <a:r>
              <a:rPr lang="en-US" altLang="en-US" dirty="0"/>
              <a:t> (new the sale total), </a:t>
            </a:r>
            <a:r>
              <a:rPr lang="en-US" altLang="en-US" dirty="0" err="1"/>
              <a:t>SalesLineItem</a:t>
            </a:r>
            <a:r>
              <a:rPr lang="en-US" altLang="en-US" dirty="0"/>
              <a:t> (knows line item subtotal), </a:t>
            </a:r>
            <a:r>
              <a:rPr lang="en-US" altLang="en-US" dirty="0" err="1"/>
              <a:t>ProductSpecification</a:t>
            </a:r>
            <a:r>
              <a:rPr lang="en-US" altLang="en-US" dirty="0"/>
              <a:t> (knows product price)</a:t>
            </a:r>
          </a:p>
        </p:txBody>
      </p:sp>
      <p:sp>
        <p:nvSpPr>
          <p:cNvPr id="71684" name="Slide Number Placeholder 3">
            <a:extLst>
              <a:ext uri="{FF2B5EF4-FFF2-40B4-BE49-F238E27FC236}">
                <a16:creationId xmlns:a16="http://schemas.microsoft.com/office/drawing/2014/main" id="{29F0FCB1-A816-ED05-79BA-72335CEF60E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974507A-DA55-4DDB-B333-D511746B0390}" type="slidenum">
              <a:rPr lang="en-US" altLang="en-US" sz="1000">
                <a:solidFill>
                  <a:schemeClr val="tx1"/>
                </a:solidFill>
                <a:latin typeface="Times New Roman" panose="02020603050405020304" pitchFamily="18" charset="0"/>
              </a:rPr>
              <a:pPr/>
              <a:t>34</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Slide Image Placeholder 1">
            <a:extLst>
              <a:ext uri="{FF2B5EF4-FFF2-40B4-BE49-F238E27FC236}">
                <a16:creationId xmlns:a16="http://schemas.microsoft.com/office/drawing/2014/main" id="{31C21467-5E30-F7FF-E598-01303B9A0647}"/>
              </a:ext>
            </a:extLst>
          </p:cNvPr>
          <p:cNvSpPr>
            <a:spLocks noGrp="1" noRot="1" noChangeAspect="1" noTextEdit="1"/>
          </p:cNvSpPr>
          <p:nvPr>
            <p:ph type="sldImg"/>
          </p:nvPr>
        </p:nvSpPr>
        <p:spPr>
          <a:ln/>
        </p:spPr>
      </p:sp>
      <p:sp>
        <p:nvSpPr>
          <p:cNvPr id="72707" name="Notes Placeholder 2">
            <a:extLst>
              <a:ext uri="{FF2B5EF4-FFF2-40B4-BE49-F238E27FC236}">
                <a16:creationId xmlns:a16="http://schemas.microsoft.com/office/drawing/2014/main" id="{6A554CCF-DAAF-ACBA-E3AD-BADA573CBE9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Low coupling – leads to more robust and maintainable systems</a:t>
            </a:r>
          </a:p>
          <a:p>
            <a:r>
              <a:rPr lang="en-US" altLang="en-US" dirty="0"/>
              <a:t>Lightweight – easier to understand</a:t>
            </a:r>
          </a:p>
        </p:txBody>
      </p:sp>
      <p:sp>
        <p:nvSpPr>
          <p:cNvPr id="72708" name="Slide Number Placeholder 3">
            <a:extLst>
              <a:ext uri="{FF2B5EF4-FFF2-40B4-BE49-F238E27FC236}">
                <a16:creationId xmlns:a16="http://schemas.microsoft.com/office/drawing/2014/main" id="{3E4EFC97-AFF1-C85C-371E-5AE0D6A6516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90014E4F-CAB9-4934-932D-47BAD2924635}" type="slidenum">
              <a:rPr lang="en-US" altLang="en-US" sz="1000">
                <a:solidFill>
                  <a:schemeClr val="tx1"/>
                </a:solidFill>
                <a:latin typeface="Times New Roman" panose="02020603050405020304" pitchFamily="18" charset="0"/>
              </a:rPr>
              <a:pPr/>
              <a:t>35</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Slide Image Placeholder 1">
            <a:extLst>
              <a:ext uri="{FF2B5EF4-FFF2-40B4-BE49-F238E27FC236}">
                <a16:creationId xmlns:a16="http://schemas.microsoft.com/office/drawing/2014/main" id="{38BCDB1E-9131-23FF-7184-2B97020525DF}"/>
              </a:ext>
            </a:extLst>
          </p:cNvPr>
          <p:cNvSpPr>
            <a:spLocks noGrp="1" noRot="1" noChangeAspect="1" noTextEdit="1"/>
          </p:cNvSpPr>
          <p:nvPr>
            <p:ph type="sldImg"/>
          </p:nvPr>
        </p:nvSpPr>
        <p:spPr>
          <a:ln/>
        </p:spPr>
      </p:sp>
      <p:sp>
        <p:nvSpPr>
          <p:cNvPr id="73731" name="Notes Placeholder 2">
            <a:extLst>
              <a:ext uri="{FF2B5EF4-FFF2-40B4-BE49-F238E27FC236}">
                <a16:creationId xmlns:a16="http://schemas.microsoft.com/office/drawing/2014/main" id="{E05B510B-A9FC-E6E9-E8B7-F062B22DF30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Aggregates – to gather as a whole</a:t>
            </a:r>
          </a:p>
          <a:p>
            <a:endParaRPr lang="en-US" altLang="en-US" dirty="0"/>
          </a:p>
          <a:p>
            <a:pPr marL="228600" indent="-228600">
              <a:buAutoNum type="arabicPeriod"/>
            </a:pPr>
            <a:r>
              <a:rPr lang="en-US" altLang="en-US" dirty="0"/>
              <a:t>Multiple classes could qualify.  Favor the one with stronger ownership/aggregation.</a:t>
            </a:r>
          </a:p>
          <a:p>
            <a:pPr marL="228600" indent="-228600">
              <a:buAutoNum type="arabicPeriod"/>
            </a:pPr>
            <a:r>
              <a:rPr lang="en-US" altLang="en-US" dirty="0"/>
              <a:t>Next favor that which has more of the information needed locally</a:t>
            </a:r>
          </a:p>
          <a:p>
            <a:pPr marL="228600" indent="-228600">
              <a:buAutoNum type="arabicPeriod"/>
            </a:pPr>
            <a:r>
              <a:rPr lang="en-US" altLang="en-US" dirty="0"/>
              <a:t>Favor low coupling/high cohesion (more on that later).</a:t>
            </a:r>
          </a:p>
        </p:txBody>
      </p:sp>
      <p:sp>
        <p:nvSpPr>
          <p:cNvPr id="73732" name="Slide Number Placeholder 3">
            <a:extLst>
              <a:ext uri="{FF2B5EF4-FFF2-40B4-BE49-F238E27FC236}">
                <a16:creationId xmlns:a16="http://schemas.microsoft.com/office/drawing/2014/main" id="{53DED3E6-37F7-5380-9666-8ECE51C56C2F}"/>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06857390-37A9-4570-8CAE-1EB2A3F0F109}" type="slidenum">
              <a:rPr lang="en-US" altLang="en-US" sz="1000">
                <a:solidFill>
                  <a:schemeClr val="tx1"/>
                </a:solidFill>
                <a:latin typeface="Times New Roman" panose="02020603050405020304" pitchFamily="18" charset="0"/>
              </a:rPr>
              <a:pPr/>
              <a:t>37</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altLang="en-US" dirty="0"/>
              <a:t>Multiple classes could qualify.  Favor the one with stronger ownership/aggregation.</a:t>
            </a:r>
          </a:p>
          <a:p>
            <a:pPr marL="228600" indent="-228600">
              <a:buAutoNum type="arabicPeriod"/>
            </a:pPr>
            <a:r>
              <a:rPr lang="en-US" altLang="en-US" dirty="0"/>
              <a:t>Next favor that which has more of the information needed locally</a:t>
            </a:r>
          </a:p>
          <a:p>
            <a:pPr marL="228600" indent="-228600">
              <a:buAutoNum type="arabicPeriod"/>
            </a:pPr>
            <a:r>
              <a:rPr lang="en-US" altLang="en-US" dirty="0"/>
              <a:t>Favor low coupling/high cohesion (more on that later).</a:t>
            </a:r>
          </a:p>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38</a:t>
            </a:fld>
            <a:endParaRPr lang="en-US"/>
          </a:p>
        </p:txBody>
      </p:sp>
    </p:spTree>
    <p:extLst>
      <p:ext uri="{BB962C8B-B14F-4D97-AF65-F5344CB8AC3E}">
        <p14:creationId xmlns:p14="http://schemas.microsoft.com/office/powerpoint/2010/main" val="353043152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5"/>
          <p:cNvSpPr>
            <a:spLocks noGrp="1" noChangeArrowheads="1"/>
          </p:cNvSpPr>
          <p:nvPr>
            <p:ph type="sldNum" sz="quarter" idx="5"/>
          </p:nvPr>
        </p:nvSpPr>
        <p:spPr>
          <a:ln/>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5239236-8648-4B3B-A92F-3045E7CAAD0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96674" name="Rectangle 2"/>
          <p:cNvSpPr>
            <a:spLocks noGrp="1" noRot="1" noChangeAspect="1" noChangeArrowheads="1" noTextEdit="1"/>
          </p:cNvSpPr>
          <p:nvPr>
            <p:ph type="sldImg"/>
          </p:nvPr>
        </p:nvSpPr>
        <p:spPr>
          <a:xfrm>
            <a:off x="404813" y="695325"/>
            <a:ext cx="6178550" cy="3476625"/>
          </a:xfrm>
          <a:ln/>
        </p:spPr>
      </p:sp>
      <p:sp>
        <p:nvSpPr>
          <p:cNvPr id="796675" name="Rectangle 3"/>
          <p:cNvSpPr>
            <a:spLocks noGrp="1" noChangeArrowheads="1"/>
          </p:cNvSpPr>
          <p:nvPr>
            <p:ph type="body" idx="1"/>
          </p:nvPr>
        </p:nvSpPr>
        <p:spPr>
          <a:xfrm>
            <a:off x="931863" y="4403725"/>
            <a:ext cx="5121275" cy="4171950"/>
          </a:xfrm>
        </p:spPr>
        <p:txBody>
          <a:bodyPr/>
          <a:lstStyle/>
          <a:p>
            <a:pPr defTabSz="914400"/>
            <a:r>
              <a:rPr lang="en-US" altLang="en-US" dirty="0"/>
              <a:t>Multiplicity – defines how many instances of class A can be associated with class B</a:t>
            </a:r>
          </a:p>
          <a:p>
            <a:pPr defTabSz="914400"/>
            <a:endParaRPr lang="en-US" altLang="en-US" dirty="0"/>
          </a:p>
          <a:p>
            <a:pPr defTabSz="914400"/>
            <a:r>
              <a:rPr lang="en-US" altLang="en-US" dirty="0"/>
              <a:t>Single</a:t>
            </a:r>
            <a:r>
              <a:rPr lang="en-US" altLang="en-US" baseline="0" dirty="0"/>
              <a:t> instance of store can be associated with “many” (zero or more, indicated by the *) Sale instance</a:t>
            </a:r>
            <a:endParaRPr lang="en-US" altLang="en-US" dirty="0"/>
          </a:p>
        </p:txBody>
      </p:sp>
    </p:spTree>
    <p:extLst>
      <p:ext uri="{BB962C8B-B14F-4D97-AF65-F5344CB8AC3E}">
        <p14:creationId xmlns:p14="http://schemas.microsoft.com/office/powerpoint/2010/main" val="56310953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Slide Image Placeholder 1">
            <a:extLst>
              <a:ext uri="{FF2B5EF4-FFF2-40B4-BE49-F238E27FC236}">
                <a16:creationId xmlns:a16="http://schemas.microsoft.com/office/drawing/2014/main" id="{958EC06C-2D58-E659-BE51-BA18206A33B3}"/>
              </a:ext>
            </a:extLst>
          </p:cNvPr>
          <p:cNvSpPr>
            <a:spLocks noGrp="1" noRot="1" noChangeAspect="1" noTextEdit="1"/>
          </p:cNvSpPr>
          <p:nvPr>
            <p:ph type="sldImg"/>
          </p:nvPr>
        </p:nvSpPr>
        <p:spPr>
          <a:ln/>
        </p:spPr>
      </p:sp>
      <p:sp>
        <p:nvSpPr>
          <p:cNvPr id="74755" name="Notes Placeholder 2">
            <a:extLst>
              <a:ext uri="{FF2B5EF4-FFF2-40B4-BE49-F238E27FC236}">
                <a16:creationId xmlns:a16="http://schemas.microsoft.com/office/drawing/2014/main" id="{FC04DC23-BE7A-87C9-5872-937E785737B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Partial domain model shown here</a:t>
            </a:r>
          </a:p>
          <a:p>
            <a:endParaRPr lang="en-US" altLang="en-US" dirty="0"/>
          </a:p>
          <a:p>
            <a:r>
              <a:rPr lang="en-US" altLang="en-US" dirty="0"/>
              <a:t>Since Sale contains many </a:t>
            </a:r>
            <a:r>
              <a:rPr lang="en-US" altLang="en-US" dirty="0" err="1"/>
              <a:t>SalesLineItem</a:t>
            </a:r>
            <a:r>
              <a:rPr lang="en-US" altLang="en-US" dirty="0"/>
              <a:t> objects the creator pattern suggests that Sale is a good candidate to have the responsibility of creating </a:t>
            </a:r>
            <a:r>
              <a:rPr lang="en-US" altLang="en-US" dirty="0" err="1"/>
              <a:t>SalesLineITem</a:t>
            </a:r>
            <a:r>
              <a:rPr lang="en-US" altLang="en-US" dirty="0"/>
              <a:t> instances – shown on next slide</a:t>
            </a:r>
          </a:p>
          <a:p>
            <a:r>
              <a:rPr lang="en-US" altLang="en-US" dirty="0"/>
              <a:t>How should we modify the Expert code to comply with the Creator pattern?  Bring up the code and show the change.</a:t>
            </a:r>
          </a:p>
        </p:txBody>
      </p:sp>
      <p:sp>
        <p:nvSpPr>
          <p:cNvPr id="74756" name="Slide Number Placeholder 3">
            <a:extLst>
              <a:ext uri="{FF2B5EF4-FFF2-40B4-BE49-F238E27FC236}">
                <a16:creationId xmlns:a16="http://schemas.microsoft.com/office/drawing/2014/main" id="{2F7A3485-E6A0-5190-97DF-56A07E91F88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DBE63C4-F10F-4454-8485-18D3B7ECF63A}" type="slidenum">
              <a:rPr lang="en-US" altLang="en-US" sz="1000">
                <a:solidFill>
                  <a:schemeClr val="tx1"/>
                </a:solidFill>
                <a:latin typeface="Times New Roman" panose="02020603050405020304" pitchFamily="18" charset="0"/>
              </a:rPr>
              <a:pPr/>
              <a:t>40</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Slide Image Placeholder 1">
            <a:extLst>
              <a:ext uri="{FF2B5EF4-FFF2-40B4-BE49-F238E27FC236}">
                <a16:creationId xmlns:a16="http://schemas.microsoft.com/office/drawing/2014/main" id="{E5FA87F0-08CE-BC07-C5F3-B10451B5D1F2}"/>
              </a:ext>
            </a:extLst>
          </p:cNvPr>
          <p:cNvSpPr>
            <a:spLocks noGrp="1" noRot="1" noChangeAspect="1" noTextEdit="1"/>
          </p:cNvSpPr>
          <p:nvPr>
            <p:ph type="sldImg"/>
          </p:nvPr>
        </p:nvSpPr>
        <p:spPr>
          <a:ln/>
        </p:spPr>
      </p:sp>
      <p:sp>
        <p:nvSpPr>
          <p:cNvPr id="75779" name="Notes Placeholder 2">
            <a:extLst>
              <a:ext uri="{FF2B5EF4-FFF2-40B4-BE49-F238E27FC236}">
                <a16:creationId xmlns:a16="http://schemas.microsoft.com/office/drawing/2014/main" id="{387DD492-C442-D7D3-FBD3-435222F7DCDC}"/>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Since Sale contains many </a:t>
            </a:r>
            <a:r>
              <a:rPr lang="en-US" altLang="en-US" dirty="0" err="1"/>
              <a:t>SalesLineItem</a:t>
            </a:r>
            <a:r>
              <a:rPr lang="en-US" altLang="en-US" dirty="0"/>
              <a:t> objects the creator pattern suggests that Sale is a good candidate to have the responsibility of creating </a:t>
            </a:r>
            <a:r>
              <a:rPr lang="en-US" altLang="en-US" dirty="0" err="1"/>
              <a:t>SalesLineITem</a:t>
            </a:r>
            <a:r>
              <a:rPr lang="en-US" altLang="en-US" dirty="0"/>
              <a:t> instances </a:t>
            </a:r>
          </a:p>
          <a:p>
            <a:endParaRPr lang="en-US" altLang="en-US" dirty="0"/>
          </a:p>
          <a:p>
            <a:r>
              <a:rPr lang="en-US" altLang="en-US" dirty="0"/>
              <a:t>Let’s show the code going from Expert to Creator.</a:t>
            </a:r>
          </a:p>
        </p:txBody>
      </p:sp>
      <p:sp>
        <p:nvSpPr>
          <p:cNvPr id="75780" name="Slide Number Placeholder 3">
            <a:extLst>
              <a:ext uri="{FF2B5EF4-FFF2-40B4-BE49-F238E27FC236}">
                <a16:creationId xmlns:a16="http://schemas.microsoft.com/office/drawing/2014/main" id="{A2057AF3-3A5C-5E99-ABEC-70D3FFC82AA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A22638FE-90AA-49D5-B89B-68DDB6FCA86E}" type="slidenum">
              <a:rPr lang="en-US" altLang="en-US" sz="1000">
                <a:solidFill>
                  <a:schemeClr val="tx1"/>
                </a:solidFill>
                <a:latin typeface="Times New Roman" panose="02020603050405020304" pitchFamily="18" charset="0"/>
              </a:rPr>
              <a:pPr/>
              <a:t>41</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Slide Image Placeholder 1">
            <a:extLst>
              <a:ext uri="{FF2B5EF4-FFF2-40B4-BE49-F238E27FC236}">
                <a16:creationId xmlns:a16="http://schemas.microsoft.com/office/drawing/2014/main" id="{0AAD8259-882D-781F-71D1-81975A2FEFA0}"/>
              </a:ext>
            </a:extLst>
          </p:cNvPr>
          <p:cNvSpPr>
            <a:spLocks noGrp="1" noRot="1" noChangeAspect="1" noTextEdit="1"/>
          </p:cNvSpPr>
          <p:nvPr>
            <p:ph type="sldImg"/>
          </p:nvPr>
        </p:nvSpPr>
        <p:spPr>
          <a:ln/>
        </p:spPr>
      </p:sp>
      <p:sp>
        <p:nvSpPr>
          <p:cNvPr id="76803" name="Notes Placeholder 2">
            <a:extLst>
              <a:ext uri="{FF2B5EF4-FFF2-40B4-BE49-F238E27FC236}">
                <a16:creationId xmlns:a16="http://schemas.microsoft.com/office/drawing/2014/main" id="{31878D81-D032-1853-F03E-DE1496BA335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Coupling – dependencies – degree to which modules depend on each other</a:t>
            </a:r>
          </a:p>
        </p:txBody>
      </p:sp>
      <p:sp>
        <p:nvSpPr>
          <p:cNvPr id="76804" name="Slide Number Placeholder 3">
            <a:extLst>
              <a:ext uri="{FF2B5EF4-FFF2-40B4-BE49-F238E27FC236}">
                <a16:creationId xmlns:a16="http://schemas.microsoft.com/office/drawing/2014/main" id="{6AA89A9D-2ED2-4F35-7713-0D4324768DC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DF14BAB0-E748-4D2A-B4C4-95D6B1224E9D}" type="slidenum">
              <a:rPr lang="en-US" altLang="en-US" sz="1000">
                <a:solidFill>
                  <a:schemeClr val="tx1"/>
                </a:solidFill>
                <a:latin typeface="Times New Roman" panose="02020603050405020304" pitchFamily="18" charset="0"/>
              </a:rPr>
              <a:pPr/>
              <a:t>42</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02" name="Rectangle 5">
            <a:extLst>
              <a:ext uri="{FF2B5EF4-FFF2-40B4-BE49-F238E27FC236}">
                <a16:creationId xmlns:a16="http://schemas.microsoft.com/office/drawing/2014/main" id="{56FFF4B5-776F-2F86-AD06-89FC9631832A}"/>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FB77F520-5F1B-4F35-A091-8C2E593F2DD3}" type="slidenum">
              <a:rPr lang="en-US" altLang="en-US" sz="1000">
                <a:solidFill>
                  <a:schemeClr val="tx1"/>
                </a:solidFill>
                <a:latin typeface="Times New Roman" panose="02020603050405020304" pitchFamily="18" charset="0"/>
              </a:rPr>
              <a:pPr/>
              <a:t>45</a:t>
            </a:fld>
            <a:endParaRPr lang="en-US" altLang="en-US" sz="1000">
              <a:solidFill>
                <a:schemeClr val="tx1"/>
              </a:solidFill>
              <a:latin typeface="Times New Roman" panose="02020603050405020304" pitchFamily="18" charset="0"/>
            </a:endParaRPr>
          </a:p>
        </p:txBody>
      </p:sp>
      <p:sp>
        <p:nvSpPr>
          <p:cNvPr id="102403" name="Rectangle 2">
            <a:extLst>
              <a:ext uri="{FF2B5EF4-FFF2-40B4-BE49-F238E27FC236}">
                <a16:creationId xmlns:a16="http://schemas.microsoft.com/office/drawing/2014/main" id="{B1A77E34-C8F1-363E-D46C-390025F8072A}"/>
              </a:ext>
            </a:extLst>
          </p:cNvPr>
          <p:cNvSpPr>
            <a:spLocks noGrp="1" noRot="1" noChangeAspect="1" noChangeArrowheads="1" noTextEdit="1"/>
          </p:cNvSpPr>
          <p:nvPr>
            <p:ph type="sldImg"/>
          </p:nvPr>
        </p:nvSpPr>
        <p:spPr>
          <a:xfrm>
            <a:off x="406400" y="696913"/>
            <a:ext cx="6173788" cy="3473450"/>
          </a:xfrm>
          <a:ln/>
        </p:spPr>
      </p:sp>
      <p:sp>
        <p:nvSpPr>
          <p:cNvPr id="102404" name="Rectangle 3">
            <a:extLst>
              <a:ext uri="{FF2B5EF4-FFF2-40B4-BE49-F238E27FC236}">
                <a16:creationId xmlns:a16="http://schemas.microsoft.com/office/drawing/2014/main" id="{9AD4E686-B3A4-EC00-44B1-2CFBFE982A38}"/>
              </a:ext>
            </a:extLst>
          </p:cNvPr>
          <p:cNvSpPr>
            <a:spLocks noGrp="1" noChangeArrowheads="1"/>
          </p:cNvSpPr>
          <p:nvPr>
            <p:ph type="body" idx="1"/>
          </p:nvPr>
        </p:nvSpPr>
        <p:spPr>
          <a:xfrm>
            <a:off x="930275" y="4403725"/>
            <a:ext cx="5124450" cy="41719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518" tIns="46760" rIns="93518" bIns="46760" anchor="ctr"/>
          <a:lstStyle/>
          <a:p>
            <a:pPr defTabSz="914400"/>
            <a:endParaRPr lang="en-US"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5FDF5-ECFB-E731-881E-5D5D93E64B77}"/>
            </a:ext>
          </a:extLst>
        </p:cNvPr>
        <p:cNvGrpSpPr/>
        <p:nvPr/>
      </p:nvGrpSpPr>
      <p:grpSpPr>
        <a:xfrm>
          <a:off x="0" y="0"/>
          <a:ext cx="0" cy="0"/>
          <a:chOff x="0" y="0"/>
          <a:chExt cx="0" cy="0"/>
        </a:xfrm>
      </p:grpSpPr>
      <p:sp>
        <p:nvSpPr>
          <p:cNvPr id="102402" name="Rectangle 5">
            <a:extLst>
              <a:ext uri="{FF2B5EF4-FFF2-40B4-BE49-F238E27FC236}">
                <a16:creationId xmlns:a16="http://schemas.microsoft.com/office/drawing/2014/main" id="{1B42FF5D-A6F9-6D56-C753-9B68AD948333}"/>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FB77F520-5F1B-4F35-A091-8C2E593F2DD3}" type="slidenum">
              <a:rPr lang="en-US" altLang="en-US" sz="1000">
                <a:solidFill>
                  <a:schemeClr val="tx1"/>
                </a:solidFill>
                <a:latin typeface="Times New Roman" panose="02020603050405020304" pitchFamily="18" charset="0"/>
              </a:rPr>
              <a:pPr/>
              <a:t>46</a:t>
            </a:fld>
            <a:endParaRPr lang="en-US" altLang="en-US" sz="1000">
              <a:solidFill>
                <a:schemeClr val="tx1"/>
              </a:solidFill>
              <a:latin typeface="Times New Roman" panose="02020603050405020304" pitchFamily="18" charset="0"/>
            </a:endParaRPr>
          </a:p>
        </p:txBody>
      </p:sp>
      <p:sp>
        <p:nvSpPr>
          <p:cNvPr id="102403" name="Rectangle 2">
            <a:extLst>
              <a:ext uri="{FF2B5EF4-FFF2-40B4-BE49-F238E27FC236}">
                <a16:creationId xmlns:a16="http://schemas.microsoft.com/office/drawing/2014/main" id="{79675723-8383-1776-DB02-4C386374E11A}"/>
              </a:ext>
            </a:extLst>
          </p:cNvPr>
          <p:cNvSpPr>
            <a:spLocks noGrp="1" noRot="1" noChangeAspect="1" noChangeArrowheads="1" noTextEdit="1"/>
          </p:cNvSpPr>
          <p:nvPr>
            <p:ph type="sldImg"/>
          </p:nvPr>
        </p:nvSpPr>
        <p:spPr>
          <a:xfrm>
            <a:off x="406400" y="696913"/>
            <a:ext cx="6173788" cy="3473450"/>
          </a:xfrm>
          <a:ln/>
        </p:spPr>
      </p:sp>
      <p:sp>
        <p:nvSpPr>
          <p:cNvPr id="102404" name="Rectangle 3">
            <a:extLst>
              <a:ext uri="{FF2B5EF4-FFF2-40B4-BE49-F238E27FC236}">
                <a16:creationId xmlns:a16="http://schemas.microsoft.com/office/drawing/2014/main" id="{F15A9DF4-8408-4167-554D-828D42511A07}"/>
              </a:ext>
            </a:extLst>
          </p:cNvPr>
          <p:cNvSpPr>
            <a:spLocks noGrp="1" noChangeArrowheads="1"/>
          </p:cNvSpPr>
          <p:nvPr>
            <p:ph type="body" idx="1"/>
          </p:nvPr>
        </p:nvSpPr>
        <p:spPr>
          <a:xfrm>
            <a:off x="930275" y="4403725"/>
            <a:ext cx="5124450" cy="41719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93518" tIns="46760" rIns="93518" bIns="46760" anchor="ctr"/>
          <a:lstStyle/>
          <a:p>
            <a:pPr defTabSz="914400"/>
            <a:endParaRPr lang="en-US" altLang="en-US"/>
          </a:p>
        </p:txBody>
      </p:sp>
    </p:spTree>
    <p:extLst>
      <p:ext uri="{BB962C8B-B14F-4D97-AF65-F5344CB8AC3E}">
        <p14:creationId xmlns:p14="http://schemas.microsoft.com/office/powerpoint/2010/main" val="109971526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47</a:t>
            </a:fld>
            <a:endParaRPr lang="en-US"/>
          </a:p>
        </p:txBody>
      </p:sp>
    </p:spTree>
    <p:extLst>
      <p:ext uri="{BB962C8B-B14F-4D97-AF65-F5344CB8AC3E}">
        <p14:creationId xmlns:p14="http://schemas.microsoft.com/office/powerpoint/2010/main" val="1424730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C7F33F08-D016-6ED5-B138-B93CDD4D75FC}"/>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a:defRPr/>
            </a:pPr>
            <a:endParaRPr lang="en-US" sz="1800"/>
          </a:p>
        </p:txBody>
      </p:sp>
      <p:sp>
        <p:nvSpPr>
          <p:cNvPr id="3" name="Text Box 5">
            <a:extLst>
              <a:ext uri="{FF2B5EF4-FFF2-40B4-BE49-F238E27FC236}">
                <a16:creationId xmlns:a16="http://schemas.microsoft.com/office/drawing/2014/main" id="{95271A30-4721-8D61-C73E-A7C7F17BC2AE}"/>
              </a:ext>
            </a:extLst>
          </p:cNvPr>
          <p:cNvSpPr txBox="1">
            <a:spLocks noChangeArrowheads="1"/>
          </p:cNvSpPr>
          <p:nvPr/>
        </p:nvSpPr>
        <p:spPr bwMode="auto">
          <a:xfrm>
            <a:off x="491067" y="104775"/>
            <a:ext cx="11700933" cy="600164"/>
          </a:xfrm>
          <a:prstGeom prst="rect">
            <a:avLst/>
          </a:prstGeom>
          <a:noFill/>
          <a:ln w="9525">
            <a:noFill/>
            <a:miter lim="800000"/>
            <a:headEnd/>
            <a:tailEnd/>
          </a:ln>
          <a:effectLst/>
        </p:spPr>
        <p:txBody>
          <a:bodyPr lIns="0" tIns="91440">
            <a:spAutoFit/>
          </a:bodyPr>
          <a:lstStyle/>
          <a:p>
            <a:pPr>
              <a:spcBef>
                <a:spcPct val="50000"/>
              </a:spcBef>
              <a:defRPr/>
            </a:pPr>
            <a:r>
              <a:rPr lang="en-US" sz="3000">
                <a:solidFill>
                  <a:schemeClr val="bg1"/>
                </a:solidFill>
                <a:latin typeface="SIEMENS-Firmenmarke" pitchFamily="2" charset="0"/>
              </a:rPr>
              <a:t>SWENG 537: Software Systems Design</a:t>
            </a:r>
            <a:endParaRPr lang="en-US" sz="2800">
              <a:solidFill>
                <a:schemeClr val="bg1"/>
              </a:solidFill>
              <a:latin typeface="SIEMENS-Firmenmarke" pitchFamily="2" charset="0"/>
            </a:endParaRPr>
          </a:p>
        </p:txBody>
      </p:sp>
      <p:sp>
        <p:nvSpPr>
          <p:cNvPr id="4" name="Text Box 6">
            <a:extLst>
              <a:ext uri="{FF2B5EF4-FFF2-40B4-BE49-F238E27FC236}">
                <a16:creationId xmlns:a16="http://schemas.microsoft.com/office/drawing/2014/main" id="{AA06E916-F9EF-BB91-1539-3B53D89551F4}"/>
              </a:ext>
            </a:extLst>
          </p:cNvPr>
          <p:cNvSpPr txBox="1">
            <a:spLocks noChangeArrowheads="1"/>
          </p:cNvSpPr>
          <p:nvPr/>
        </p:nvSpPr>
        <p:spPr bwMode="auto">
          <a:xfrm>
            <a:off x="8026400" y="6523039"/>
            <a:ext cx="3759200" cy="323165"/>
          </a:xfrm>
          <a:prstGeom prst="rect">
            <a:avLst/>
          </a:prstGeom>
          <a:noFill/>
          <a:ln w="9525">
            <a:noFill/>
            <a:miter lim="800000"/>
            <a:headEnd/>
            <a:tailEnd/>
          </a:ln>
          <a:effectLst/>
        </p:spPr>
        <p:txBody>
          <a:bodyPr lIns="0" tIns="0">
            <a:spAutoFit/>
          </a:bodyPr>
          <a:lstStyle/>
          <a:p>
            <a:pPr algn="r">
              <a:lnSpc>
                <a:spcPct val="90000"/>
              </a:lnSpc>
              <a:defRPr/>
            </a:pPr>
            <a:r>
              <a:rPr lang="de-DE" sz="1000">
                <a:solidFill>
                  <a:srgbClr val="336699"/>
                </a:solidFill>
              </a:rPr>
              <a:t>© Engineering Division, Penn State Great Valley</a:t>
            </a:r>
          </a:p>
          <a:p>
            <a:pPr algn="r">
              <a:lnSpc>
                <a:spcPct val="90000"/>
              </a:lnSpc>
              <a:defRPr/>
            </a:pPr>
            <a:r>
              <a:rPr lang="de-DE" sz="1000">
                <a:solidFill>
                  <a:srgbClr val="336699"/>
                </a:solidFill>
              </a:rPr>
              <a:t>Last Updated: </a:t>
            </a:r>
            <a:fld id="{76AEC2A7-4FC1-486E-9F5F-8DDAB7DDBC36}" type="datetime4">
              <a:rPr lang="en-US" sz="1000">
                <a:solidFill>
                  <a:srgbClr val="336699"/>
                </a:solidFill>
              </a:rPr>
              <a:pPr algn="r">
                <a:lnSpc>
                  <a:spcPct val="90000"/>
                </a:lnSpc>
                <a:defRPr/>
              </a:pPr>
              <a:t>September 24, 2025</a:t>
            </a:fld>
            <a:endParaRPr lang="de-DE" sz="1600">
              <a:latin typeface="Arial" charset="0"/>
            </a:endParaRPr>
          </a:p>
        </p:txBody>
      </p:sp>
      <p:sp>
        <p:nvSpPr>
          <p:cNvPr id="5" name="Text Box 8">
            <a:extLst>
              <a:ext uri="{FF2B5EF4-FFF2-40B4-BE49-F238E27FC236}">
                <a16:creationId xmlns:a16="http://schemas.microsoft.com/office/drawing/2014/main" id="{798A1968-A2F0-D475-33DA-03D232BC2817}"/>
              </a:ext>
            </a:extLst>
          </p:cNvPr>
          <p:cNvSpPr txBox="1">
            <a:spLocks noChangeArrowheads="1"/>
          </p:cNvSpPr>
          <p:nvPr/>
        </p:nvSpPr>
        <p:spPr bwMode="auto">
          <a:xfrm rot="16200000">
            <a:off x="-2931054" y="3578697"/>
            <a:ext cx="6321425"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p>
        </p:txBody>
      </p:sp>
      <p:sp>
        <p:nvSpPr>
          <p:cNvPr id="119810" name="Rectangle 2"/>
          <p:cNvSpPr>
            <a:spLocks noGrp="1" noChangeArrowheads="1"/>
          </p:cNvSpPr>
          <p:nvPr>
            <p:ph type="ctrTitle" sz="quarter"/>
          </p:nvPr>
        </p:nvSpPr>
        <p:spPr>
          <a:xfrm>
            <a:off x="2235200" y="1219200"/>
            <a:ext cx="9144000" cy="1447800"/>
          </a:xfrm>
        </p:spPr>
        <p:txBody>
          <a:bodyPr rIns="0" anchor="b"/>
          <a:lstStyle>
            <a:lvl1pPr>
              <a:defRPr sz="3400">
                <a:solidFill>
                  <a:srgbClr val="990000"/>
                </a:solidFill>
              </a:defRPr>
            </a:lvl1pPr>
          </a:lstStyle>
          <a:p>
            <a:r>
              <a:rPr lang="de-DE"/>
              <a:t>headline arial narrow bold</a:t>
            </a:r>
            <a:br>
              <a:rPr lang="de-DE"/>
            </a:br>
            <a:r>
              <a:rPr lang="de-DE"/>
              <a:t>44 pt, 0 pt leading</a:t>
            </a:r>
          </a:p>
        </p:txBody>
      </p:sp>
      <p:sp>
        <p:nvSpPr>
          <p:cNvPr id="119811" name="Rectangle 3"/>
          <p:cNvSpPr>
            <a:spLocks noGrp="1" noChangeArrowheads="1"/>
          </p:cNvSpPr>
          <p:nvPr>
            <p:ph type="subTitle" sz="quarter" idx="1"/>
          </p:nvPr>
        </p:nvSpPr>
        <p:spPr>
          <a:xfrm>
            <a:off x="2224617" y="3614738"/>
            <a:ext cx="9144000" cy="1752600"/>
          </a:xfrm>
        </p:spPr>
        <p:txBody>
          <a:bodyPr rIns="0"/>
          <a:lstStyle>
            <a:lvl1pPr marL="0" indent="0" algn="ctr">
              <a:buFont typeface="Wingdings" pitchFamily="2" charset="2"/>
              <a:buNone/>
              <a:defRPr sz="2400" b="1"/>
            </a:lvl1pPr>
          </a:lstStyle>
          <a:p>
            <a:r>
              <a:rPr lang="de-DE"/>
              <a:t>arial narrow 24 pt. bold</a:t>
            </a:r>
          </a:p>
        </p:txBody>
      </p:sp>
    </p:spTree>
    <p:extLst>
      <p:ext uri="{BB962C8B-B14F-4D97-AF65-F5344CB8AC3E}">
        <p14:creationId xmlns:p14="http://schemas.microsoft.com/office/powerpoint/2010/main" val="810008466"/>
      </p:ext>
    </p:extLst>
  </p:cSld>
  <p:clrMapOvr>
    <a:masterClrMapping/>
  </p:clrMapOvr>
  <p:transition>
    <p:strips dir="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DFE61C6-DBA0-BD74-142E-68756D37EF39}"/>
              </a:ext>
            </a:extLst>
          </p:cNvPr>
          <p:cNvSpPr>
            <a:spLocks noGrp="1" noChangeArrowheads="1"/>
          </p:cNvSpPr>
          <p:nvPr>
            <p:ph type="sldNum" sz="quarter" idx="10"/>
          </p:nvPr>
        </p:nvSpPr>
        <p:spPr>
          <a:ln/>
        </p:spPr>
        <p:txBody>
          <a:bodyPr/>
          <a:lstStyle>
            <a:lvl1pPr>
              <a:defRPr/>
            </a:lvl1pPr>
          </a:lstStyle>
          <a:p>
            <a:fld id="{DC03EE66-85A7-42E5-BCB9-2884DF035A82}" type="slidenum">
              <a:rPr lang="de-DE" altLang="en-US"/>
              <a:pPr/>
              <a:t>‹#›</a:t>
            </a:fld>
            <a:endParaRPr lang="de-DE" altLang="en-US"/>
          </a:p>
        </p:txBody>
      </p:sp>
    </p:spTree>
    <p:extLst>
      <p:ext uri="{BB962C8B-B14F-4D97-AF65-F5344CB8AC3E}">
        <p14:creationId xmlns:p14="http://schemas.microsoft.com/office/powerpoint/2010/main" val="3145244014"/>
      </p:ext>
    </p:extLst>
  </p:cSld>
  <p:clrMapOvr>
    <a:masterClrMapping/>
  </p:clrMapOvr>
  <p:transition>
    <p:strips dir="rd"/>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19">
            <a:extLst>
              <a:ext uri="{FF2B5EF4-FFF2-40B4-BE49-F238E27FC236}">
                <a16:creationId xmlns:a16="http://schemas.microsoft.com/office/drawing/2014/main" id="{4CE2F57C-A21D-B485-AF29-40E5F8945C1E}"/>
              </a:ext>
            </a:extLst>
          </p:cNvPr>
          <p:cNvSpPr>
            <a:spLocks noGrp="1" noChangeArrowheads="1"/>
          </p:cNvSpPr>
          <p:nvPr>
            <p:ph type="sldNum" sz="quarter" idx="10"/>
          </p:nvPr>
        </p:nvSpPr>
        <p:spPr>
          <a:ln/>
        </p:spPr>
        <p:txBody>
          <a:bodyPr/>
          <a:lstStyle>
            <a:lvl1pPr>
              <a:defRPr/>
            </a:lvl1pPr>
          </a:lstStyle>
          <a:p>
            <a:fld id="{0EBD54E7-5F7C-4CC0-81D1-A19AC002651B}" type="slidenum">
              <a:rPr lang="de-DE" altLang="en-US"/>
              <a:pPr/>
              <a:t>‹#›</a:t>
            </a:fld>
            <a:endParaRPr lang="de-DE" altLang="en-US"/>
          </a:p>
        </p:txBody>
      </p:sp>
    </p:spTree>
    <p:extLst>
      <p:ext uri="{BB962C8B-B14F-4D97-AF65-F5344CB8AC3E}">
        <p14:creationId xmlns:p14="http://schemas.microsoft.com/office/powerpoint/2010/main" val="2091857135"/>
      </p:ext>
    </p:extLst>
  </p:cSld>
  <p:clrMapOvr>
    <a:masterClrMapping/>
  </p:clrMapOvr>
  <p:transition>
    <p:strips dir="rd"/>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21317" y="1828800"/>
            <a:ext cx="5128683"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53200" y="1828800"/>
            <a:ext cx="51308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9">
            <a:extLst>
              <a:ext uri="{FF2B5EF4-FFF2-40B4-BE49-F238E27FC236}">
                <a16:creationId xmlns:a16="http://schemas.microsoft.com/office/drawing/2014/main" id="{57448D6C-E875-AD2A-4D9C-79719B8B3030}"/>
              </a:ext>
            </a:extLst>
          </p:cNvPr>
          <p:cNvSpPr>
            <a:spLocks noGrp="1" noChangeArrowheads="1"/>
          </p:cNvSpPr>
          <p:nvPr>
            <p:ph type="sldNum" sz="quarter" idx="10"/>
          </p:nvPr>
        </p:nvSpPr>
        <p:spPr>
          <a:ln/>
        </p:spPr>
        <p:txBody>
          <a:bodyPr/>
          <a:lstStyle>
            <a:lvl1pPr>
              <a:defRPr/>
            </a:lvl1pPr>
          </a:lstStyle>
          <a:p>
            <a:fld id="{4FEE65DB-B2AB-495D-9299-B5DFCFA28388}" type="slidenum">
              <a:rPr lang="de-DE" altLang="en-US"/>
              <a:pPr/>
              <a:t>‹#›</a:t>
            </a:fld>
            <a:endParaRPr lang="de-DE" altLang="en-US"/>
          </a:p>
        </p:txBody>
      </p:sp>
    </p:spTree>
    <p:extLst>
      <p:ext uri="{BB962C8B-B14F-4D97-AF65-F5344CB8AC3E}">
        <p14:creationId xmlns:p14="http://schemas.microsoft.com/office/powerpoint/2010/main" val="1941692148"/>
      </p:ext>
    </p:extLst>
  </p:cSld>
  <p:clrMapOvr>
    <a:masterClrMapping/>
  </p:clrMapOvr>
  <p:transition>
    <p:strips dir="rd"/>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19">
            <a:extLst>
              <a:ext uri="{FF2B5EF4-FFF2-40B4-BE49-F238E27FC236}">
                <a16:creationId xmlns:a16="http://schemas.microsoft.com/office/drawing/2014/main" id="{486ED3EF-C3EA-8B5D-4B16-559D86A4E0CE}"/>
              </a:ext>
            </a:extLst>
          </p:cNvPr>
          <p:cNvSpPr>
            <a:spLocks noGrp="1" noChangeArrowheads="1"/>
          </p:cNvSpPr>
          <p:nvPr>
            <p:ph type="sldNum" sz="quarter" idx="10"/>
          </p:nvPr>
        </p:nvSpPr>
        <p:spPr>
          <a:ln/>
        </p:spPr>
        <p:txBody>
          <a:bodyPr/>
          <a:lstStyle>
            <a:lvl1pPr>
              <a:defRPr/>
            </a:lvl1pPr>
          </a:lstStyle>
          <a:p>
            <a:fld id="{30F98CF5-9AE7-4786-B13E-797328401BF6}" type="slidenum">
              <a:rPr lang="de-DE" altLang="en-US"/>
              <a:pPr/>
              <a:t>‹#›</a:t>
            </a:fld>
            <a:endParaRPr lang="de-DE" altLang="en-US"/>
          </a:p>
        </p:txBody>
      </p:sp>
    </p:spTree>
    <p:extLst>
      <p:ext uri="{BB962C8B-B14F-4D97-AF65-F5344CB8AC3E}">
        <p14:creationId xmlns:p14="http://schemas.microsoft.com/office/powerpoint/2010/main" val="1396810015"/>
      </p:ext>
    </p:extLst>
  </p:cSld>
  <p:clrMapOvr>
    <a:masterClrMapping/>
  </p:clrMapOvr>
  <p:transition>
    <p:strips dir="rd"/>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9">
            <a:extLst>
              <a:ext uri="{FF2B5EF4-FFF2-40B4-BE49-F238E27FC236}">
                <a16:creationId xmlns:a16="http://schemas.microsoft.com/office/drawing/2014/main" id="{E36A3930-6349-12FB-5192-86424ADD8930}"/>
              </a:ext>
            </a:extLst>
          </p:cNvPr>
          <p:cNvSpPr>
            <a:spLocks noGrp="1" noChangeArrowheads="1"/>
          </p:cNvSpPr>
          <p:nvPr>
            <p:ph type="sldNum" sz="quarter" idx="10"/>
          </p:nvPr>
        </p:nvSpPr>
        <p:spPr>
          <a:ln/>
        </p:spPr>
        <p:txBody>
          <a:bodyPr/>
          <a:lstStyle>
            <a:lvl1pPr>
              <a:defRPr/>
            </a:lvl1pPr>
          </a:lstStyle>
          <a:p>
            <a:fld id="{F527568B-A8F3-4468-9EF1-2B509F023149}" type="slidenum">
              <a:rPr lang="de-DE" altLang="en-US"/>
              <a:pPr/>
              <a:t>‹#›</a:t>
            </a:fld>
            <a:endParaRPr lang="de-DE" altLang="en-US"/>
          </a:p>
        </p:txBody>
      </p:sp>
    </p:spTree>
    <p:extLst>
      <p:ext uri="{BB962C8B-B14F-4D97-AF65-F5344CB8AC3E}">
        <p14:creationId xmlns:p14="http://schemas.microsoft.com/office/powerpoint/2010/main" val="3683681138"/>
      </p:ext>
    </p:extLst>
  </p:cSld>
  <p:clrMapOvr>
    <a:masterClrMapping/>
  </p:clrMapOvr>
  <p:transition>
    <p:strips dir="rd"/>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9">
            <a:extLst>
              <a:ext uri="{FF2B5EF4-FFF2-40B4-BE49-F238E27FC236}">
                <a16:creationId xmlns:a16="http://schemas.microsoft.com/office/drawing/2014/main" id="{B441927B-3258-E4C3-CE6C-550F37628F2D}"/>
              </a:ext>
            </a:extLst>
          </p:cNvPr>
          <p:cNvSpPr>
            <a:spLocks noGrp="1" noChangeArrowheads="1"/>
          </p:cNvSpPr>
          <p:nvPr>
            <p:ph type="sldNum" sz="quarter" idx="10"/>
          </p:nvPr>
        </p:nvSpPr>
        <p:spPr>
          <a:ln/>
        </p:spPr>
        <p:txBody>
          <a:bodyPr/>
          <a:lstStyle>
            <a:lvl1pPr>
              <a:defRPr/>
            </a:lvl1pPr>
          </a:lstStyle>
          <a:p>
            <a:fld id="{D8037515-ABFA-425C-A5BB-467EEDC3C6CD}" type="slidenum">
              <a:rPr lang="de-DE" altLang="en-US"/>
              <a:pPr/>
              <a:t>‹#›</a:t>
            </a:fld>
            <a:endParaRPr lang="de-DE" altLang="en-US"/>
          </a:p>
        </p:txBody>
      </p:sp>
    </p:spTree>
    <p:extLst>
      <p:ext uri="{BB962C8B-B14F-4D97-AF65-F5344CB8AC3E}">
        <p14:creationId xmlns:p14="http://schemas.microsoft.com/office/powerpoint/2010/main" val="2214041240"/>
      </p:ext>
    </p:extLst>
  </p:cSld>
  <p:clrMapOvr>
    <a:masterClrMapping/>
  </p:clrMapOvr>
  <p:transition>
    <p:strips dir="rd"/>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7CAC1458-2254-43E1-BBC2-13C3021A8411}"/>
              </a:ext>
            </a:extLst>
          </p:cNvPr>
          <p:cNvSpPr>
            <a:spLocks noGrp="1" noChangeArrowheads="1"/>
          </p:cNvSpPr>
          <p:nvPr>
            <p:ph type="sldNum" sz="quarter" idx="10"/>
          </p:nvPr>
        </p:nvSpPr>
        <p:spPr>
          <a:ln/>
        </p:spPr>
        <p:txBody>
          <a:bodyPr/>
          <a:lstStyle>
            <a:lvl1pPr>
              <a:defRPr/>
            </a:lvl1pPr>
          </a:lstStyle>
          <a:p>
            <a:fld id="{8918E807-297E-4F87-ACBA-A9BDCFAB9B75}" type="slidenum">
              <a:rPr lang="de-DE" altLang="en-US"/>
              <a:pPr/>
              <a:t>‹#›</a:t>
            </a:fld>
            <a:endParaRPr lang="de-DE" altLang="en-US"/>
          </a:p>
        </p:txBody>
      </p:sp>
    </p:spTree>
    <p:extLst>
      <p:ext uri="{BB962C8B-B14F-4D97-AF65-F5344CB8AC3E}">
        <p14:creationId xmlns:p14="http://schemas.microsoft.com/office/powerpoint/2010/main" val="2042409524"/>
      </p:ext>
    </p:extLst>
  </p:cSld>
  <p:clrMapOvr>
    <a:masterClrMapping/>
  </p:clrMapOvr>
  <p:transition>
    <p:strips dir="rd"/>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280C4D00-106C-6C34-336C-9AD363A1511B}"/>
              </a:ext>
            </a:extLst>
          </p:cNvPr>
          <p:cNvSpPr>
            <a:spLocks noGrp="1" noChangeArrowheads="1"/>
          </p:cNvSpPr>
          <p:nvPr>
            <p:ph type="sldNum" sz="quarter" idx="10"/>
          </p:nvPr>
        </p:nvSpPr>
        <p:spPr>
          <a:ln/>
        </p:spPr>
        <p:txBody>
          <a:bodyPr/>
          <a:lstStyle>
            <a:lvl1pPr>
              <a:defRPr/>
            </a:lvl1pPr>
          </a:lstStyle>
          <a:p>
            <a:fld id="{A953752E-C382-4970-A515-C6C47B2256A5}" type="slidenum">
              <a:rPr lang="de-DE" altLang="en-US"/>
              <a:pPr/>
              <a:t>‹#›</a:t>
            </a:fld>
            <a:endParaRPr lang="de-DE" altLang="en-US"/>
          </a:p>
        </p:txBody>
      </p:sp>
    </p:spTree>
    <p:extLst>
      <p:ext uri="{BB962C8B-B14F-4D97-AF65-F5344CB8AC3E}">
        <p14:creationId xmlns:p14="http://schemas.microsoft.com/office/powerpoint/2010/main" val="1993135771"/>
      </p:ext>
    </p:extLst>
  </p:cSld>
  <p:clrMapOvr>
    <a:masterClrMapping/>
  </p:clrMapOvr>
  <p:transition>
    <p:strips dir="rd"/>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1BDCA160-64B8-B2DF-0A57-8B117EE1005F}"/>
              </a:ext>
            </a:extLst>
          </p:cNvPr>
          <p:cNvSpPr>
            <a:spLocks noGrp="1" noChangeArrowheads="1"/>
          </p:cNvSpPr>
          <p:nvPr>
            <p:ph type="sldNum" sz="quarter" idx="10"/>
          </p:nvPr>
        </p:nvSpPr>
        <p:spPr>
          <a:ln/>
        </p:spPr>
        <p:txBody>
          <a:bodyPr/>
          <a:lstStyle>
            <a:lvl1pPr>
              <a:defRPr/>
            </a:lvl1pPr>
          </a:lstStyle>
          <a:p>
            <a:fld id="{51BFFDC5-0B19-42D5-A7FB-FFDBB9E974CB}" type="slidenum">
              <a:rPr lang="de-DE" altLang="en-US"/>
              <a:pPr/>
              <a:t>‹#›</a:t>
            </a:fld>
            <a:endParaRPr lang="de-DE" altLang="en-US"/>
          </a:p>
        </p:txBody>
      </p:sp>
    </p:spTree>
    <p:extLst>
      <p:ext uri="{BB962C8B-B14F-4D97-AF65-F5344CB8AC3E}">
        <p14:creationId xmlns:p14="http://schemas.microsoft.com/office/powerpoint/2010/main" val="2094030374"/>
      </p:ext>
    </p:extLst>
  </p:cSld>
  <p:clrMapOvr>
    <a:masterClrMapping/>
  </p:clrMapOvr>
  <p:transition>
    <p:strips dir="rd"/>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69917" y="609600"/>
            <a:ext cx="2614083" cy="533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221317" y="609600"/>
            <a:ext cx="7645400" cy="533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6C9261F-98D6-FBD5-D721-5C0B664941D1}"/>
              </a:ext>
            </a:extLst>
          </p:cNvPr>
          <p:cNvSpPr>
            <a:spLocks noGrp="1" noChangeArrowheads="1"/>
          </p:cNvSpPr>
          <p:nvPr>
            <p:ph type="sldNum" sz="quarter" idx="10"/>
          </p:nvPr>
        </p:nvSpPr>
        <p:spPr>
          <a:ln/>
        </p:spPr>
        <p:txBody>
          <a:bodyPr/>
          <a:lstStyle>
            <a:lvl1pPr>
              <a:defRPr/>
            </a:lvl1pPr>
          </a:lstStyle>
          <a:p>
            <a:fld id="{0386F535-B57D-425A-BFA5-AA4AC0F0DE9D}" type="slidenum">
              <a:rPr lang="de-DE" altLang="en-US"/>
              <a:pPr/>
              <a:t>‹#›</a:t>
            </a:fld>
            <a:endParaRPr lang="de-DE" altLang="en-US"/>
          </a:p>
        </p:txBody>
      </p:sp>
    </p:spTree>
    <p:extLst>
      <p:ext uri="{BB962C8B-B14F-4D97-AF65-F5344CB8AC3E}">
        <p14:creationId xmlns:p14="http://schemas.microsoft.com/office/powerpoint/2010/main" val="4117519442"/>
      </p:ext>
    </p:extLst>
  </p:cSld>
  <p:clrMapOvr>
    <a:masterClrMapping/>
  </p:clrMapOvr>
  <p:transition>
    <p:strips dir="rd"/>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F02EF089-A624-4AB7-8B7F-2212E43B5F77}" type="datetime1">
              <a:rPr lang="en-US" smtClean="0"/>
              <a:t>9/24/25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6178349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BFBC5EE-8023-48A0-B577-A5117191FDD2}" type="datetime1">
              <a:rPr lang="en-US" smtClean="0"/>
              <a:t>9/24/25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11737070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8A247A89-8FD0-4D3F-AE44-186FA5A357B4}" type="datetime1">
              <a:rPr lang="en-US" smtClean="0"/>
              <a:t>9/24/25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035764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F76F02-BBAE-414F-9EC4-5B5F51B31BDB}" type="datetime1">
              <a:rPr lang="en-US" smtClean="0"/>
              <a:t>9/24/25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7532930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2F49CE-F4FE-45C3-BBAB-CFE946522D3B}" type="datetime1">
              <a:rPr lang="en-US" smtClean="0"/>
              <a:t>9/24/25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5577221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221F2F-1A99-4762-A6E9-3172ACF4978C}" type="datetime1">
              <a:rPr lang="en-US" smtClean="0"/>
              <a:t>9/24/25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6252459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EA1192-0569-4FE3-B36A-F319D4D12EA7}" type="datetime1">
              <a:rPr lang="en-US" smtClean="0"/>
              <a:t>9/24/25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8185781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DC0433F-3AC1-46DB-A8F6-3397C409090D}" type="datetime1">
              <a:rPr lang="en-US" smtClean="0"/>
              <a:t>9/24/25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2554817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BF6D33-D9B1-481D-971E-4AEB549657B4}" type="datetime1">
              <a:rPr lang="en-US" smtClean="0"/>
              <a:t>9/24/25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74107410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F30853F-751A-4ADE-AEBA-5696F2A13B50}" type="datetime1">
              <a:rPr lang="en-US" smtClean="0"/>
              <a:t>9/24/25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54987940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3279F3-C829-4592-BA39-957487C9EDF2}" type="datetime1">
              <a:rPr lang="en-US" smtClean="0"/>
              <a:t>9/24/25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96815653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2307718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6" Type="http://schemas.openxmlformats.org/officeDocument/2006/relationships/image" Target="../media/image3.png"/><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5" Type="http://schemas.microsoft.com/office/2007/relationships/hdphoto" Target="../media/hdphoto1.wdp"/><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9/24/25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18786" name="Rectangle 2">
            <a:extLst>
              <a:ext uri="{FF2B5EF4-FFF2-40B4-BE49-F238E27FC236}">
                <a16:creationId xmlns:a16="http://schemas.microsoft.com/office/drawing/2014/main" id="{18F1ECE1-9929-DE64-5632-72540D1E07E9}"/>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defTabSz="762000">
              <a:defRPr/>
            </a:pPr>
            <a:endParaRPr lang="en-US" sz="1600">
              <a:solidFill>
                <a:schemeClr val="bg1"/>
              </a:solidFill>
            </a:endParaRPr>
          </a:p>
        </p:txBody>
      </p:sp>
      <p:sp>
        <p:nvSpPr>
          <p:cNvPr id="118787" name="Text Box 3">
            <a:extLst>
              <a:ext uri="{FF2B5EF4-FFF2-40B4-BE49-F238E27FC236}">
                <a16:creationId xmlns:a16="http://schemas.microsoft.com/office/drawing/2014/main" id="{76FAA039-BCD5-DF52-3464-54E83919E58D}"/>
              </a:ext>
            </a:extLst>
          </p:cNvPr>
          <p:cNvSpPr txBox="1">
            <a:spLocks noChangeArrowheads="1"/>
          </p:cNvSpPr>
          <p:nvPr/>
        </p:nvSpPr>
        <p:spPr bwMode="auto">
          <a:xfrm>
            <a:off x="789518" y="95250"/>
            <a:ext cx="10674349" cy="446276"/>
          </a:xfrm>
          <a:prstGeom prst="rect">
            <a:avLst/>
          </a:prstGeom>
          <a:noFill/>
          <a:ln w="9525">
            <a:noFill/>
            <a:miter lim="800000"/>
            <a:headEnd/>
            <a:tailEnd/>
          </a:ln>
          <a:effectLst/>
        </p:spPr>
        <p:txBody>
          <a:bodyPr lIns="0" tIns="0">
            <a:spAutoFit/>
          </a:bodyPr>
          <a:lstStyle/>
          <a:p>
            <a:pPr>
              <a:spcBef>
                <a:spcPct val="50000"/>
              </a:spcBef>
              <a:defRPr/>
            </a:pPr>
            <a:r>
              <a:rPr lang="en-US" sz="2600">
                <a:solidFill>
                  <a:schemeClr val="bg1"/>
                </a:solidFill>
                <a:latin typeface="SIEMENS-Firmenmarke" pitchFamily="2" charset="0"/>
              </a:rPr>
              <a:t>SWENG 537: Software Systems Design</a:t>
            </a:r>
            <a:endParaRPr lang="en-US" sz="2400">
              <a:solidFill>
                <a:schemeClr val="bg1"/>
              </a:solidFill>
              <a:latin typeface="SIEMENS-Firmenmarke" pitchFamily="2" charset="0"/>
            </a:endParaRPr>
          </a:p>
        </p:txBody>
      </p:sp>
      <p:sp>
        <p:nvSpPr>
          <p:cNvPr id="2052" name="Rectangle 4">
            <a:extLst>
              <a:ext uri="{FF2B5EF4-FFF2-40B4-BE49-F238E27FC236}">
                <a16:creationId xmlns:a16="http://schemas.microsoft.com/office/drawing/2014/main" id="{EEE92D2C-33B8-70ED-16BA-3A755D5F5C30}"/>
              </a:ext>
            </a:extLst>
          </p:cNvPr>
          <p:cNvSpPr>
            <a:spLocks noGrp="1" noChangeArrowheads="1"/>
          </p:cNvSpPr>
          <p:nvPr>
            <p:ph type="title"/>
          </p:nvPr>
        </p:nvSpPr>
        <p:spPr bwMode="auto">
          <a:xfrm>
            <a:off x="1221317" y="609600"/>
            <a:ext cx="10462683"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ctr" anchorCtr="0" compatLnSpc="1">
            <a:prstTxWarp prst="textNoShape">
              <a:avLst/>
            </a:prstTxWarp>
          </a:bodyPr>
          <a:lstStyle/>
          <a:p>
            <a:pPr lvl="0"/>
            <a:r>
              <a:rPr lang="de-DE" altLang="en-US"/>
              <a:t>Click to edit mater Title style</a:t>
            </a:r>
          </a:p>
        </p:txBody>
      </p:sp>
      <p:sp>
        <p:nvSpPr>
          <p:cNvPr id="2053" name="Rectangle 5">
            <a:extLst>
              <a:ext uri="{FF2B5EF4-FFF2-40B4-BE49-F238E27FC236}">
                <a16:creationId xmlns:a16="http://schemas.microsoft.com/office/drawing/2014/main" id="{136EAA36-8F01-3A0D-8422-3765DC01E178}"/>
              </a:ext>
            </a:extLst>
          </p:cNvPr>
          <p:cNvSpPr>
            <a:spLocks noGrp="1" noChangeArrowheads="1"/>
          </p:cNvSpPr>
          <p:nvPr>
            <p:ph type="body" idx="1"/>
          </p:nvPr>
        </p:nvSpPr>
        <p:spPr bwMode="auto">
          <a:xfrm>
            <a:off x="1221317" y="1828800"/>
            <a:ext cx="10462683"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t" anchorCtr="0" compatLnSpc="1">
            <a:prstTxWarp prst="textNoShape">
              <a:avLst/>
            </a:prstTxWarp>
          </a:bodyPr>
          <a:lstStyle/>
          <a:p>
            <a:pPr lvl="0"/>
            <a:r>
              <a:rPr lang="de-DE" altLang="en-US"/>
              <a:t>Click to edit Master text styles</a:t>
            </a:r>
          </a:p>
          <a:p>
            <a:pPr lvl="1"/>
            <a:r>
              <a:rPr lang="de-DE" altLang="en-US"/>
              <a:t>Second level</a:t>
            </a:r>
          </a:p>
          <a:p>
            <a:pPr lvl="2"/>
            <a:r>
              <a:rPr lang="de-DE" altLang="en-US"/>
              <a:t>Third level</a:t>
            </a:r>
          </a:p>
          <a:p>
            <a:pPr lvl="3"/>
            <a:r>
              <a:rPr lang="de-DE" altLang="en-US"/>
              <a:t>Fourth level</a:t>
            </a:r>
          </a:p>
          <a:p>
            <a:pPr lvl="4"/>
            <a:r>
              <a:rPr lang="de-DE" altLang="en-US"/>
              <a:t>Fifth level</a:t>
            </a:r>
          </a:p>
        </p:txBody>
      </p:sp>
      <p:sp>
        <p:nvSpPr>
          <p:cNvPr id="118803" name="Rectangle 19">
            <a:extLst>
              <a:ext uri="{FF2B5EF4-FFF2-40B4-BE49-F238E27FC236}">
                <a16:creationId xmlns:a16="http://schemas.microsoft.com/office/drawing/2014/main" id="{CCC05AEF-4FC5-7CA8-848A-24CEB999B89A}"/>
              </a:ext>
            </a:extLst>
          </p:cNvPr>
          <p:cNvSpPr>
            <a:spLocks noGrp="1" noChangeArrowheads="1"/>
          </p:cNvSpPr>
          <p:nvPr>
            <p:ph type="sldNum" sz="quarter" idx="4"/>
          </p:nvPr>
        </p:nvSpPr>
        <p:spPr bwMode="auto">
          <a:xfrm>
            <a:off x="9213851" y="6400800"/>
            <a:ext cx="2470149" cy="304800"/>
          </a:xfrm>
          <a:prstGeom prst="rect">
            <a:avLst/>
          </a:prstGeom>
          <a:noFill/>
          <a:ln w="9525">
            <a:noFill/>
            <a:miter lim="800000"/>
            <a:headEnd/>
            <a:tailEnd/>
          </a:ln>
          <a:effectLst/>
        </p:spPr>
        <p:txBody>
          <a:bodyPr vert="horz" wrap="square" lIns="0" tIns="0" rIns="91440" bIns="45720" numCol="1" anchor="t" anchorCtr="0" compatLnSpc="1">
            <a:prstTxWarp prst="textNoShape">
              <a:avLst/>
            </a:prstTxWarp>
          </a:bodyPr>
          <a:lstStyle>
            <a:lvl1pPr algn="r">
              <a:lnSpc>
                <a:spcPct val="110000"/>
              </a:lnSpc>
              <a:defRPr sz="1000"/>
            </a:lvl1pPr>
          </a:lstStyle>
          <a:p>
            <a:fld id="{E0656729-D543-4138-8524-6AD43830E923}" type="slidenum">
              <a:rPr lang="de-DE" altLang="en-US"/>
              <a:pPr/>
              <a:t>‹#›</a:t>
            </a:fld>
            <a:endParaRPr lang="de-DE" altLang="en-US"/>
          </a:p>
        </p:txBody>
      </p:sp>
      <p:sp>
        <p:nvSpPr>
          <p:cNvPr id="118804" name="Text Box 20">
            <a:extLst>
              <a:ext uri="{FF2B5EF4-FFF2-40B4-BE49-F238E27FC236}">
                <a16:creationId xmlns:a16="http://schemas.microsoft.com/office/drawing/2014/main" id="{DFA5C3A8-C016-4867-F5D6-A2ACFA93DCCB}"/>
              </a:ext>
            </a:extLst>
          </p:cNvPr>
          <p:cNvSpPr txBox="1">
            <a:spLocks noChangeArrowheads="1"/>
          </p:cNvSpPr>
          <p:nvPr userDrawn="1"/>
        </p:nvSpPr>
        <p:spPr bwMode="auto">
          <a:xfrm rot="16200000">
            <a:off x="-2930790" y="3582666"/>
            <a:ext cx="6329363"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r>
              <a:rPr lang="en-US" sz="1200" b="1">
                <a:solidFill>
                  <a:schemeClr val="bg1"/>
                </a:solidFill>
                <a:latin typeface="Arial" charset="0"/>
                <a:cs typeface="Arial" charset="0"/>
              </a:rPr>
              <a:t>© ENGINEERING DIVISION, </a:t>
            </a:r>
            <a:r>
              <a:rPr lang="de-DE" sz="1200" b="1">
                <a:solidFill>
                  <a:schemeClr val="bg1"/>
                </a:solidFill>
                <a:latin typeface="Arial" charset="0"/>
              </a:rPr>
              <a:t>PENN STATE UNIVERSITY</a:t>
            </a:r>
          </a:p>
        </p:txBody>
      </p:sp>
    </p:spTree>
    <p:extLst>
      <p:ext uri="{BB962C8B-B14F-4D97-AF65-F5344CB8AC3E}">
        <p14:creationId xmlns:p14="http://schemas.microsoft.com/office/powerpoint/2010/main" val="337456193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ransition>
    <p:strips dir="rd"/>
  </p:transition>
  <p:hf hdr="0" ftr="0" dt="0"/>
  <p:txStyles>
    <p:titleStyle>
      <a:lvl1pPr algn="ctr" rtl="0" eaLnBrk="0" fontAlgn="base" hangingPunct="0">
        <a:spcBef>
          <a:spcPct val="0"/>
        </a:spcBef>
        <a:spcAft>
          <a:spcPct val="0"/>
        </a:spcAft>
        <a:defRPr sz="2400" b="1">
          <a:solidFill>
            <a:srgbClr val="666666"/>
          </a:solidFill>
          <a:latin typeface="+mj-lt"/>
          <a:ea typeface="+mj-ea"/>
          <a:cs typeface="+mj-cs"/>
        </a:defRPr>
      </a:lvl1pPr>
      <a:lvl2pPr algn="ctr" rtl="0" eaLnBrk="0" fontAlgn="base" hangingPunct="0">
        <a:spcBef>
          <a:spcPct val="0"/>
        </a:spcBef>
        <a:spcAft>
          <a:spcPct val="0"/>
        </a:spcAft>
        <a:defRPr sz="2400" b="1">
          <a:solidFill>
            <a:srgbClr val="666666"/>
          </a:solidFill>
          <a:latin typeface="Arial Narrow" pitchFamily="34" charset="0"/>
        </a:defRPr>
      </a:lvl2pPr>
      <a:lvl3pPr algn="ctr" rtl="0" eaLnBrk="0" fontAlgn="base" hangingPunct="0">
        <a:spcBef>
          <a:spcPct val="0"/>
        </a:spcBef>
        <a:spcAft>
          <a:spcPct val="0"/>
        </a:spcAft>
        <a:defRPr sz="2400" b="1">
          <a:solidFill>
            <a:srgbClr val="666666"/>
          </a:solidFill>
          <a:latin typeface="Arial Narrow" pitchFamily="34" charset="0"/>
        </a:defRPr>
      </a:lvl3pPr>
      <a:lvl4pPr algn="ctr" rtl="0" eaLnBrk="0" fontAlgn="base" hangingPunct="0">
        <a:spcBef>
          <a:spcPct val="0"/>
        </a:spcBef>
        <a:spcAft>
          <a:spcPct val="0"/>
        </a:spcAft>
        <a:defRPr sz="2400" b="1">
          <a:solidFill>
            <a:srgbClr val="666666"/>
          </a:solidFill>
          <a:latin typeface="Arial Narrow" pitchFamily="34" charset="0"/>
        </a:defRPr>
      </a:lvl4pPr>
      <a:lvl5pPr algn="ctr" rtl="0" eaLnBrk="0" fontAlgn="base" hangingPunct="0">
        <a:spcBef>
          <a:spcPct val="0"/>
        </a:spcBef>
        <a:spcAft>
          <a:spcPct val="0"/>
        </a:spcAft>
        <a:defRPr sz="2400" b="1">
          <a:solidFill>
            <a:srgbClr val="666666"/>
          </a:solidFill>
          <a:latin typeface="Arial Narrow" pitchFamily="34" charset="0"/>
        </a:defRPr>
      </a:lvl5pPr>
      <a:lvl6pPr marL="457200" algn="ctr" rtl="0" eaLnBrk="0" fontAlgn="base" hangingPunct="0">
        <a:spcBef>
          <a:spcPct val="0"/>
        </a:spcBef>
        <a:spcAft>
          <a:spcPct val="0"/>
        </a:spcAft>
        <a:defRPr sz="2400" b="1">
          <a:solidFill>
            <a:srgbClr val="666666"/>
          </a:solidFill>
          <a:latin typeface="Arial Narrow" pitchFamily="34" charset="0"/>
        </a:defRPr>
      </a:lvl6pPr>
      <a:lvl7pPr marL="914400" algn="ctr" rtl="0" eaLnBrk="0" fontAlgn="base" hangingPunct="0">
        <a:spcBef>
          <a:spcPct val="0"/>
        </a:spcBef>
        <a:spcAft>
          <a:spcPct val="0"/>
        </a:spcAft>
        <a:defRPr sz="2400" b="1">
          <a:solidFill>
            <a:srgbClr val="666666"/>
          </a:solidFill>
          <a:latin typeface="Arial Narrow" pitchFamily="34" charset="0"/>
        </a:defRPr>
      </a:lvl7pPr>
      <a:lvl8pPr marL="1371600" algn="ctr" rtl="0" eaLnBrk="0" fontAlgn="base" hangingPunct="0">
        <a:spcBef>
          <a:spcPct val="0"/>
        </a:spcBef>
        <a:spcAft>
          <a:spcPct val="0"/>
        </a:spcAft>
        <a:defRPr sz="2400" b="1">
          <a:solidFill>
            <a:srgbClr val="666666"/>
          </a:solidFill>
          <a:latin typeface="Arial Narrow" pitchFamily="34" charset="0"/>
        </a:defRPr>
      </a:lvl8pPr>
      <a:lvl9pPr marL="1828800" algn="ctr" rtl="0" eaLnBrk="0" fontAlgn="base" hangingPunct="0">
        <a:spcBef>
          <a:spcPct val="0"/>
        </a:spcBef>
        <a:spcAft>
          <a:spcPct val="0"/>
        </a:spcAft>
        <a:defRPr sz="2400" b="1">
          <a:solidFill>
            <a:srgbClr val="666666"/>
          </a:solidFill>
          <a:latin typeface="Arial Narrow" pitchFamily="34" charset="0"/>
        </a:defRPr>
      </a:lvl9pPr>
    </p:titleStyle>
    <p:bodyStyle>
      <a:lvl1pPr marL="190500" indent="-190500" algn="l" rtl="0" eaLnBrk="0" fontAlgn="base" hangingPunct="0">
        <a:spcBef>
          <a:spcPct val="15000"/>
        </a:spcBef>
        <a:spcAft>
          <a:spcPct val="0"/>
        </a:spcAft>
        <a:buSzPct val="70000"/>
        <a:buFont typeface="Wingdings" panose="05000000000000000000" pitchFamily="2" charset="2"/>
        <a:buChar char="q"/>
        <a:defRPr>
          <a:solidFill>
            <a:schemeClr val="tx1"/>
          </a:solidFill>
          <a:latin typeface="+mn-lt"/>
          <a:ea typeface="+mn-ea"/>
          <a:cs typeface="+mn-cs"/>
        </a:defRPr>
      </a:lvl1pPr>
      <a:lvl2pPr marL="571500" indent="-190500" algn="l" rtl="0" eaLnBrk="0" fontAlgn="base" hangingPunct="0">
        <a:spcBef>
          <a:spcPct val="0"/>
        </a:spcBef>
        <a:spcAft>
          <a:spcPts val="400"/>
        </a:spcAft>
        <a:buSzPct val="70000"/>
        <a:buFont typeface="Marlett" pitchFamily="2" charset="2"/>
        <a:buChar char="i"/>
        <a:defRPr sz="1600">
          <a:solidFill>
            <a:schemeClr val="tx1"/>
          </a:solidFill>
          <a:latin typeface="+mn-lt"/>
        </a:defRPr>
      </a:lvl2pPr>
      <a:lvl3pPr marL="952500" indent="-190500" algn="l" rtl="0" eaLnBrk="0" fontAlgn="base" hangingPunct="0">
        <a:lnSpc>
          <a:spcPct val="110000"/>
        </a:lnSpc>
        <a:spcBef>
          <a:spcPct val="0"/>
        </a:spcBef>
        <a:spcAft>
          <a:spcPts val="400"/>
        </a:spcAft>
        <a:buSzPct val="70000"/>
        <a:buFont typeface="Marlett" pitchFamily="2" charset="2"/>
        <a:buChar char="i"/>
        <a:defRPr sz="1400">
          <a:solidFill>
            <a:schemeClr val="tx1"/>
          </a:solidFill>
          <a:latin typeface="+mn-lt"/>
        </a:defRPr>
      </a:lvl3pPr>
      <a:lvl4pPr marL="1333500" indent="-190500" algn="l" rtl="0" eaLnBrk="0" fontAlgn="base" hangingPunct="0">
        <a:lnSpc>
          <a:spcPct val="150000"/>
        </a:lnSpc>
        <a:spcBef>
          <a:spcPct val="0"/>
        </a:spcBef>
        <a:spcAft>
          <a:spcPts val="400"/>
        </a:spcAft>
        <a:buSzPct val="70000"/>
        <a:buFont typeface="Marlett" pitchFamily="2" charset="2"/>
        <a:buChar char="i"/>
        <a:defRPr sz="1200">
          <a:solidFill>
            <a:schemeClr val="tx1"/>
          </a:solidFill>
          <a:latin typeface="+mn-lt"/>
        </a:defRPr>
      </a:lvl4pPr>
      <a:lvl5pPr marL="17145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5pPr>
      <a:lvl6pPr marL="21717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6pPr>
      <a:lvl7pPr marL="26289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7pPr>
      <a:lvl8pPr marL="30861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8pPr>
      <a:lvl9pPr marL="35433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8B3F41A-BBB1-4D5B-B4E1-5EA02F485917}" type="datetime1">
              <a:rPr lang="en-US" smtClean="0"/>
              <a:t>9/24/25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1632827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3.xml"/><Relationship Id="rId7" Type="http://schemas.openxmlformats.org/officeDocument/2006/relationships/image" Target="../media/image5.png"/><Relationship Id="rId2" Type="http://schemas.openxmlformats.org/officeDocument/2006/relationships/video" Target="../media/media1.mp4"/><Relationship Id="rId1" Type="http://schemas.microsoft.com/office/2007/relationships/media" Target="../media/media1.mp4"/><Relationship Id="rId6" Type="http://schemas.openxmlformats.org/officeDocument/2006/relationships/image" Target="../media/image3.png"/><Relationship Id="rId5" Type="http://schemas.microsoft.com/office/2007/relationships/hdphoto" Target="../media/hdphoto2.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4.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4.xml"/><Relationship Id="rId5" Type="http://schemas.openxmlformats.org/officeDocument/2006/relationships/image" Target="../media/image2.png"/><Relationship Id="rId4" Type="http://schemas.microsoft.com/office/2007/relationships/hdphoto" Target="../media/hdphoto2.wdp"/></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7.svg"/></Relationships>
</file>

<file path=ppt/slides/_rels/slide6.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7.wmf"/><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34.svg"/><Relationship Id="rId5" Type="http://schemas.openxmlformats.org/officeDocument/2006/relationships/image" Target="../media/image33.png"/><Relationship Id="rId4" Type="http://schemas.openxmlformats.org/officeDocument/2006/relationships/image" Target="../media/image32.svg"/></Relationships>
</file>

<file path=ppt/slides/_rels/slide48.xml.rels><?xml version="1.0" encoding="UTF-8" standalone="yes"?>
<Relationships xmlns="http://schemas.openxmlformats.org/package/2006/relationships"><Relationship Id="rId2" Type="http://schemas.openxmlformats.org/officeDocument/2006/relationships/image" Target="../media/image3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4">
              <a:alphaModFix amt="85000"/>
              <a:lum bright="70000" contrast="-70000"/>
              <a:extLst>
                <a:ext uri="{BEBA8EAE-BF5A-486C-A8C5-ECC9F3942E4B}">
                  <a14:imgProps xmlns:a14="http://schemas.microsoft.com/office/drawing/2010/main">
                    <a14:imgLayer r:embed="rId5">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6">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dirty="0">
                <a:latin typeface="Calibri" panose="020F0502020204030204" pitchFamily="34" charset="0"/>
                <a:cs typeface="Calibri" panose="020F0502020204030204" pitchFamily="34" charset="0"/>
              </a:rPr>
            </a:br>
            <a:r>
              <a:rPr lang="en-US" sz="6100" dirty="0">
                <a:latin typeface="Calibri" panose="020F0502020204030204" pitchFamily="34" charset="0"/>
                <a:cs typeface="Calibri" panose="020F0502020204030204" pitchFamily="34" charset="0"/>
              </a:rPr>
              <a:t>CS411</a:t>
            </a:r>
            <a:r>
              <a:rPr lang="en-US" sz="6100">
                <a:latin typeface="Calibri" panose="020F0502020204030204" pitchFamily="34" charset="0"/>
                <a:cs typeface="Calibri" panose="020F0502020204030204" pitchFamily="34" charset="0"/>
              </a:rPr>
              <a:t>, FALL </a:t>
            </a:r>
            <a:r>
              <a:rPr lang="en-US" sz="6100" dirty="0">
                <a:latin typeface="Calibri" panose="020F0502020204030204" pitchFamily="34" charset="0"/>
                <a:cs typeface="Calibri" panose="020F0502020204030204" pitchFamily="34" charset="0"/>
              </a:rPr>
              <a:t>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Lecture 7: Design Principles I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7"/>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8D3A1EA5-3A5A-E904-971A-35508953B167}"/>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28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28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536647" y="2291220"/>
            <a:ext cx="11202271" cy="4366469"/>
          </a:xfrm>
        </p:spPr>
        <p:txBody>
          <a:bodyPr>
            <a:normAutofit fontScale="70000" lnSpcReduction="20000"/>
          </a:bodyPr>
          <a:lstStyle/>
          <a:p>
            <a:pPr algn="just"/>
            <a:r>
              <a:rPr lang="en-US" sz="3400" dirty="0">
                <a:latin typeface="Times New Roman" panose="02020603050405020304" pitchFamily="18" charset="0"/>
                <a:cs typeface="Times New Roman" panose="02020603050405020304" pitchFamily="18" charset="0"/>
              </a:rPr>
              <a:t>Introduce you to the </a:t>
            </a:r>
            <a:r>
              <a:rPr lang="en-US" sz="3400" b="1" u="sng" dirty="0">
                <a:solidFill>
                  <a:srgbClr val="00B050"/>
                </a:solidFill>
                <a:latin typeface="Times New Roman" panose="02020603050405020304" pitchFamily="18" charset="0"/>
                <a:cs typeface="Times New Roman" panose="02020603050405020304" pitchFamily="18" charset="0"/>
              </a:rPr>
              <a:t>Operations Contract </a:t>
            </a:r>
            <a:r>
              <a:rPr lang="en-US" sz="3400" dirty="0">
                <a:latin typeface="Times New Roman" panose="02020603050405020304" pitchFamily="18" charset="0"/>
                <a:cs typeface="Times New Roman" panose="02020603050405020304" pitchFamily="18" charset="0"/>
              </a:rPr>
              <a:t>for External Operations.</a:t>
            </a:r>
          </a:p>
          <a:p>
            <a:pPr algn="just"/>
            <a:r>
              <a:rPr lang="en-US" sz="3400" dirty="0">
                <a:latin typeface="Times New Roman" panose="02020603050405020304" pitchFamily="18" charset="0"/>
                <a:cs typeface="Times New Roman" panose="02020603050405020304" pitchFamily="18" charset="0"/>
              </a:rPr>
              <a:t>Talk about Software Architectures</a:t>
            </a:r>
          </a:p>
          <a:p>
            <a:pPr marL="0" indent="0" algn="just">
              <a:buNone/>
            </a:pPr>
            <a:endParaRPr lang="en-US" sz="3400" dirty="0">
              <a:latin typeface="Times New Roman" panose="02020603050405020304" pitchFamily="18" charset="0"/>
              <a:cs typeface="Times New Roman" panose="02020603050405020304" pitchFamily="18" charset="0"/>
            </a:endParaRPr>
          </a:p>
          <a:p>
            <a:pPr marL="342900" indent="-342900"/>
            <a:r>
              <a:rPr lang="en-US" altLang="en-US" sz="3600" dirty="0"/>
              <a:t>GRASP Patterns:</a:t>
            </a:r>
          </a:p>
          <a:p>
            <a:pPr marL="608012" lvl="1" indent="-342900"/>
            <a:r>
              <a:rPr lang="en-US" altLang="en-US" dirty="0"/>
              <a:t>Expert</a:t>
            </a:r>
          </a:p>
          <a:p>
            <a:pPr marL="608012" lvl="1" indent="-342900"/>
            <a:r>
              <a:rPr lang="en-US" altLang="en-US" dirty="0"/>
              <a:t>Creator</a:t>
            </a:r>
          </a:p>
          <a:p>
            <a:pPr marL="608012" lvl="1" indent="-342900"/>
            <a:r>
              <a:rPr lang="en-US" altLang="en-US" dirty="0"/>
              <a:t>Controller</a:t>
            </a:r>
          </a:p>
          <a:p>
            <a:pPr marL="608012" lvl="1" indent="-342900"/>
            <a:r>
              <a:rPr lang="en-US" altLang="en-US" dirty="0"/>
              <a:t>Low Coupling/High Cohesion</a:t>
            </a:r>
          </a:p>
          <a:p>
            <a:pPr marL="608012" lvl="1" indent="-342900"/>
            <a:r>
              <a:rPr lang="en-US" altLang="en-US" dirty="0"/>
              <a:t>Polymorphism</a:t>
            </a:r>
          </a:p>
          <a:p>
            <a:pPr marL="608012" lvl="1" indent="-342900"/>
            <a:r>
              <a:rPr lang="en-US" altLang="en-US" dirty="0"/>
              <a:t>Pure Fabrication</a:t>
            </a:r>
          </a:p>
          <a:p>
            <a:pPr marL="608012" lvl="1" indent="-342900"/>
            <a:r>
              <a:rPr lang="en-US" altLang="en-US" dirty="0"/>
              <a:t>Indirection</a:t>
            </a:r>
          </a:p>
          <a:p>
            <a:pPr marL="608012" lvl="1" indent="-342900"/>
            <a:r>
              <a:rPr lang="en-US" altLang="en-US" dirty="0"/>
              <a:t>Don’t Talk to Strangers (Law of Demeter)</a:t>
            </a:r>
          </a:p>
          <a:p>
            <a:pPr lvl="2"/>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2</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 name="Right Brace 5">
            <a:extLst>
              <a:ext uri="{FF2B5EF4-FFF2-40B4-BE49-F238E27FC236}">
                <a16:creationId xmlns:a16="http://schemas.microsoft.com/office/drawing/2014/main" id="{3E4F3252-7D2C-3003-86C3-E3ED47410D51}"/>
              </a:ext>
            </a:extLst>
          </p:cNvPr>
          <p:cNvSpPr/>
          <p:nvPr/>
        </p:nvSpPr>
        <p:spPr>
          <a:xfrm>
            <a:off x="3039761" y="3583459"/>
            <a:ext cx="177571" cy="646331"/>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7D350DB9-71AF-BE1B-D545-849303FE64B5}"/>
              </a:ext>
            </a:extLst>
          </p:cNvPr>
          <p:cNvCxnSpPr/>
          <p:nvPr/>
        </p:nvCxnSpPr>
        <p:spPr>
          <a:xfrm>
            <a:off x="3282779" y="3906624"/>
            <a:ext cx="2673178" cy="0"/>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DC17E876-CBAE-BE0E-4D6D-EB2C1B5F0E89}"/>
              </a:ext>
            </a:extLst>
          </p:cNvPr>
          <p:cNvSpPr txBox="1"/>
          <p:nvPr/>
        </p:nvSpPr>
        <p:spPr>
          <a:xfrm>
            <a:off x="5955957" y="3481129"/>
            <a:ext cx="5130507" cy="646331"/>
          </a:xfrm>
          <a:prstGeom prst="rect">
            <a:avLst/>
          </a:prstGeom>
          <a:noFill/>
        </p:spPr>
        <p:txBody>
          <a:bodyPr wrap="none" rtlCol="0">
            <a:spAutoFit/>
          </a:bodyPr>
          <a:lstStyle/>
          <a:p>
            <a:r>
              <a:rPr lang="en-US" b="1" dirty="0">
                <a:solidFill>
                  <a:srgbClr val="FFC000"/>
                </a:solidFill>
              </a:rPr>
              <a:t>We focus on these two in this lecture, </a:t>
            </a:r>
          </a:p>
          <a:p>
            <a:r>
              <a:rPr lang="en-US" b="1" dirty="0">
                <a:solidFill>
                  <a:srgbClr val="FFC000"/>
                </a:solidFill>
              </a:rPr>
              <a:t>and we will keep the remaining for the next lecture.</a:t>
            </a:r>
          </a:p>
        </p:txBody>
      </p:sp>
    </p:spTree>
    <p:extLst>
      <p:ext uri="{BB962C8B-B14F-4D97-AF65-F5344CB8AC3E}">
        <p14:creationId xmlns:p14="http://schemas.microsoft.com/office/powerpoint/2010/main" val="3328224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8FE0D37-DA93-FD4E-CBD8-E3693F432934}"/>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A2245BB4-2C0D-CCC8-F814-9D6AAA626A2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6050A68A-FDD5-C41B-E011-84F0AF4E72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3">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B49013B4-EB8D-3FA8-8B6B-7D5996D4C9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3">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F6E86153-FAD9-209E-0DE9-077993866C5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3">
              <a:alphaModFix amt="85000"/>
              <a:lum bright="70000" contrast="-70000"/>
              <a:extLst>
                <a:ext uri="{BEBA8EAE-BF5A-486C-A8C5-ECC9F3942E4B}">
                  <a14:imgProps xmlns:a14="http://schemas.microsoft.com/office/drawing/2010/main">
                    <a14:imgLayer r:embed="rId4">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66211203-9BBC-8594-3C46-E870D1C074C5}"/>
              </a:ext>
            </a:extLst>
          </p:cNvPr>
          <p:cNvSpPr>
            <a:spLocks noGrp="1"/>
          </p:cNvSpPr>
          <p:nvPr>
            <p:ph type="title"/>
          </p:nvPr>
        </p:nvSpPr>
        <p:spPr>
          <a:xfrm>
            <a:off x="1066800" y="484632"/>
            <a:ext cx="10058400" cy="1609344"/>
          </a:xfrm>
        </p:spPr>
        <p:txBody>
          <a:bodyPr>
            <a:normAutofit/>
          </a:bodyPr>
          <a:lstStyle/>
          <a:p>
            <a:pPr algn="ctr"/>
            <a:r>
              <a:rPr lang="en-US" dirty="0"/>
              <a:t>GOAL</a:t>
            </a:r>
          </a:p>
        </p:txBody>
      </p:sp>
      <p:sp>
        <p:nvSpPr>
          <p:cNvPr id="32" name="Oval 31">
            <a:extLst>
              <a:ext uri="{FF2B5EF4-FFF2-40B4-BE49-F238E27FC236}">
                <a16:creationId xmlns:a16="http://schemas.microsoft.com/office/drawing/2014/main" id="{B850C079-5870-8BF5-7F2C-A0176E75C2F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5">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0225C39-736A-B44D-9299-6C6F203C10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D1B247D2-92CE-02F8-C188-03EF3335E7B0}"/>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3</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8679B33A-6576-D769-FDB2-8400C4A30058}"/>
              </a:ext>
            </a:extLst>
          </p:cNvPr>
          <p:cNvSpPr/>
          <p:nvPr/>
        </p:nvSpPr>
        <p:spPr>
          <a:xfrm>
            <a:off x="3087623" y="2170167"/>
            <a:ext cx="5625303" cy="20639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B899DB4A-7CA7-4D85-8895-E4443D7813E4}"/>
              </a:ext>
            </a:extLst>
          </p:cNvPr>
          <p:cNvSpPr/>
          <p:nvPr/>
        </p:nvSpPr>
        <p:spPr>
          <a:xfrm>
            <a:off x="3087622" y="4738663"/>
            <a:ext cx="5625303" cy="206393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4E5DBBE-1E6A-3508-1EE5-92171275AD21}"/>
              </a:ext>
            </a:extLst>
          </p:cNvPr>
          <p:cNvSpPr txBox="1"/>
          <p:nvPr/>
        </p:nvSpPr>
        <p:spPr>
          <a:xfrm>
            <a:off x="3383280" y="2390503"/>
            <a:ext cx="4950823" cy="1477328"/>
          </a:xfrm>
          <a:prstGeom prst="rect">
            <a:avLst/>
          </a:prstGeom>
          <a:noFill/>
        </p:spPr>
        <p:txBody>
          <a:bodyPr wrap="square" rtlCol="0">
            <a:spAutoFit/>
          </a:bodyPr>
          <a:lstStyle/>
          <a:p>
            <a:pPr algn="ctr"/>
            <a:r>
              <a:rPr lang="en-US" dirty="0">
                <a:solidFill>
                  <a:schemeClr val="bg1"/>
                </a:solidFill>
              </a:rPr>
              <a:t>Domain Model </a:t>
            </a:r>
          </a:p>
          <a:p>
            <a:pPr algn="ctr"/>
            <a:r>
              <a:rPr lang="en-US" dirty="0">
                <a:solidFill>
                  <a:schemeClr val="bg1"/>
                </a:solidFill>
              </a:rPr>
              <a:t>+ </a:t>
            </a:r>
          </a:p>
          <a:p>
            <a:pPr algn="ctr"/>
            <a:r>
              <a:rPr lang="en-US" dirty="0">
                <a:solidFill>
                  <a:schemeClr val="bg1"/>
                </a:solidFill>
              </a:rPr>
              <a:t>Sequence Diagrams</a:t>
            </a:r>
          </a:p>
          <a:p>
            <a:pPr algn="ctr"/>
            <a:r>
              <a:rPr lang="en-US" dirty="0">
                <a:solidFill>
                  <a:schemeClr val="bg1"/>
                </a:solidFill>
              </a:rPr>
              <a:t>+ </a:t>
            </a:r>
          </a:p>
          <a:p>
            <a:pPr algn="ctr"/>
            <a:r>
              <a:rPr lang="en-US" dirty="0">
                <a:solidFill>
                  <a:schemeClr val="bg1"/>
                </a:solidFill>
              </a:rPr>
              <a:t>Operation Contracts</a:t>
            </a:r>
          </a:p>
        </p:txBody>
      </p:sp>
      <p:sp>
        <p:nvSpPr>
          <p:cNvPr id="13" name="TextBox 12">
            <a:extLst>
              <a:ext uri="{FF2B5EF4-FFF2-40B4-BE49-F238E27FC236}">
                <a16:creationId xmlns:a16="http://schemas.microsoft.com/office/drawing/2014/main" id="{B117F382-5773-A0A5-014C-9CEED5524B39}"/>
              </a:ext>
            </a:extLst>
          </p:cNvPr>
          <p:cNvSpPr txBox="1"/>
          <p:nvPr/>
        </p:nvSpPr>
        <p:spPr>
          <a:xfrm>
            <a:off x="3424861" y="5031964"/>
            <a:ext cx="4950823" cy="923330"/>
          </a:xfrm>
          <a:prstGeom prst="rect">
            <a:avLst/>
          </a:prstGeom>
          <a:noFill/>
        </p:spPr>
        <p:txBody>
          <a:bodyPr wrap="square" rtlCol="0">
            <a:spAutoFit/>
          </a:bodyPr>
          <a:lstStyle/>
          <a:p>
            <a:pPr algn="ctr"/>
            <a:r>
              <a:rPr lang="en-US" dirty="0">
                <a:solidFill>
                  <a:schemeClr val="bg1"/>
                </a:solidFill>
              </a:rPr>
              <a:t>Class Diagram</a:t>
            </a:r>
          </a:p>
          <a:p>
            <a:pPr algn="ctr"/>
            <a:r>
              <a:rPr lang="en-US" dirty="0">
                <a:solidFill>
                  <a:schemeClr val="bg1"/>
                </a:solidFill>
              </a:rPr>
              <a:t>+ </a:t>
            </a:r>
          </a:p>
          <a:p>
            <a:pPr algn="ctr"/>
            <a:r>
              <a:rPr lang="en-US" dirty="0">
                <a:solidFill>
                  <a:schemeClr val="bg1"/>
                </a:solidFill>
              </a:rPr>
              <a:t>Interaction Diagram</a:t>
            </a:r>
          </a:p>
        </p:txBody>
      </p:sp>
      <p:cxnSp>
        <p:nvCxnSpPr>
          <p:cNvPr id="15" name="Straight Arrow Connector 14">
            <a:extLst>
              <a:ext uri="{FF2B5EF4-FFF2-40B4-BE49-F238E27FC236}">
                <a16:creationId xmlns:a16="http://schemas.microsoft.com/office/drawing/2014/main" id="{5687B20E-5952-9706-32B9-F937EA44C668}"/>
              </a:ext>
            </a:extLst>
          </p:cNvPr>
          <p:cNvCxnSpPr>
            <a:stCxn id="5" idx="2"/>
            <a:endCxn id="11" idx="0"/>
          </p:cNvCxnSpPr>
          <p:nvPr/>
        </p:nvCxnSpPr>
        <p:spPr>
          <a:xfrm flipH="1">
            <a:off x="5900273" y="4234097"/>
            <a:ext cx="0" cy="45720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6140354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1ACA2EA0-FFD3-42EC-9406-B595015ED9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Rectangle 8">
            <a:extLst>
              <a:ext uri="{FF2B5EF4-FFF2-40B4-BE49-F238E27FC236}">
                <a16:creationId xmlns:a16="http://schemas.microsoft.com/office/drawing/2014/main" id="{D5288BCE-665C-472A-8C43-664BCFA31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8762" y="1247775"/>
            <a:ext cx="9144000" cy="3007447"/>
          </a:xfrm>
          <a:prstGeom prst="rect">
            <a:avLst/>
          </a:prstGeom>
          <a:solidFill>
            <a:schemeClr val="bg1"/>
          </a:solidFill>
          <a:ln w="12700">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 name="Title 1">
            <a:extLst>
              <a:ext uri="{FF2B5EF4-FFF2-40B4-BE49-F238E27FC236}">
                <a16:creationId xmlns:a16="http://schemas.microsoft.com/office/drawing/2014/main" id="{811DC896-C33D-5842-0BEB-D285A7A720D8}"/>
              </a:ext>
            </a:extLst>
          </p:cNvPr>
          <p:cNvSpPr>
            <a:spLocks noGrp="1"/>
          </p:cNvSpPr>
          <p:nvPr>
            <p:ph type="title"/>
          </p:nvPr>
        </p:nvSpPr>
        <p:spPr>
          <a:xfrm>
            <a:off x="1804988" y="1442172"/>
            <a:ext cx="8582025" cy="2177328"/>
          </a:xfrm>
        </p:spPr>
        <p:txBody>
          <a:bodyPr vert="horz" lIns="91440" tIns="45720" rIns="91440" bIns="45720" rtlCol="0" anchor="ctr">
            <a:normAutofit/>
          </a:bodyPr>
          <a:lstStyle/>
          <a:p>
            <a:pPr algn="ctr"/>
            <a:r>
              <a:rPr lang="en-US" sz="6600" kern="1200">
                <a:solidFill>
                  <a:schemeClr val="tx1"/>
                </a:solidFill>
                <a:latin typeface="+mj-lt"/>
                <a:ea typeface="+mj-ea"/>
                <a:cs typeface="+mj-cs"/>
              </a:rPr>
              <a:t>Operation Contracts</a:t>
            </a:r>
          </a:p>
        </p:txBody>
      </p:sp>
      <p:sp>
        <p:nvSpPr>
          <p:cNvPr id="11" name="Rectangle: Rounded Corners 10">
            <a:extLst>
              <a:ext uri="{FF2B5EF4-FFF2-40B4-BE49-F238E27FC236}">
                <a16:creationId xmlns:a16="http://schemas.microsoft.com/office/drawing/2014/main" id="{46C57131-53A7-4C1A-BEA8-25F06A06AD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87872" y="3912322"/>
            <a:ext cx="7225780"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62143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68015" name="Slide Background">
            <a:extLst>
              <a:ext uri="{FF2B5EF4-FFF2-40B4-BE49-F238E27FC236}">
                <a16:creationId xmlns:a16="http://schemas.microsoft.com/office/drawing/2014/main" id="{7DE220E6-BA55-4F04-B3C4-F4985F3E7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768017" name="tint">
            <a:extLst>
              <a:ext uri="{FF2B5EF4-FFF2-40B4-BE49-F238E27FC236}">
                <a16:creationId xmlns:a16="http://schemas.microsoft.com/office/drawing/2014/main" id="{5AE190BC-D2FD-433E-AB89-0DF68EFD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5644" y="0"/>
            <a:ext cx="1046356" cy="6858000"/>
          </a:xfrm>
          <a:prstGeom prst="rect">
            <a:avLst/>
          </a:prstGeom>
          <a:solidFill>
            <a:schemeClr val="bg2">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p:sp useBgFill="1">
        <p:nvSpPr>
          <p:cNvPr id="768019" name="Rectangle 768018">
            <a:extLst>
              <a:ext uri="{FF2B5EF4-FFF2-40B4-BE49-F238E27FC236}">
                <a16:creationId xmlns:a16="http://schemas.microsoft.com/office/drawing/2014/main" id="{43E8FEA2-54EE-4F84-B5DB-A055A7D805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116444" y="0"/>
            <a:ext cx="6075554" cy="6858000"/>
          </a:xfrm>
          <a:prstGeom prst="rect">
            <a:avLst/>
          </a:prstGeom>
          <a:ln>
            <a:noFill/>
          </a:ln>
          <a:effectLst>
            <a:outerShdw blurRad="508000" dist="190500" dir="5460000" sx="93000" sy="93000" algn="t" rotWithShape="0">
              <a:srgbClr val="000000">
                <a:alpha val="3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8002" name="Rectangle 2"/>
          <p:cNvSpPr>
            <a:spLocks noGrp="1" noChangeArrowheads="1"/>
          </p:cNvSpPr>
          <p:nvPr>
            <p:ph type="title"/>
          </p:nvPr>
        </p:nvSpPr>
        <p:spPr>
          <a:xfrm>
            <a:off x="6816432" y="762001"/>
            <a:ext cx="4554680" cy="1708243"/>
          </a:xfrm>
        </p:spPr>
        <p:txBody>
          <a:bodyPr anchor="ctr">
            <a:normAutofit/>
          </a:bodyPr>
          <a:lstStyle/>
          <a:p>
            <a:r>
              <a:rPr lang="en-US" altLang="en-US" sz="4000"/>
              <a:t>System Operation Contracts</a:t>
            </a:r>
          </a:p>
        </p:txBody>
      </p:sp>
      <p:pic>
        <p:nvPicPr>
          <p:cNvPr id="768007" name="Graphic 768006" descr="Document">
            <a:extLst>
              <a:ext uri="{FF2B5EF4-FFF2-40B4-BE49-F238E27FC236}">
                <a16:creationId xmlns:a16="http://schemas.microsoft.com/office/drawing/2014/main" id="{3AC793E7-E6AB-B749-BCE1-5BE9A7A75D5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61367" y="1158500"/>
            <a:ext cx="4541003" cy="4541003"/>
          </a:xfrm>
          <a:prstGeom prst="rect">
            <a:avLst/>
          </a:prstGeom>
        </p:spPr>
      </p:pic>
      <p:sp>
        <p:nvSpPr>
          <p:cNvPr id="768003" name="Rectangle 3"/>
          <p:cNvSpPr>
            <a:spLocks noGrp="1" noChangeArrowheads="1"/>
          </p:cNvSpPr>
          <p:nvPr>
            <p:ph type="body" idx="1"/>
          </p:nvPr>
        </p:nvSpPr>
        <p:spPr>
          <a:xfrm>
            <a:off x="6240162" y="2470244"/>
            <a:ext cx="5830938" cy="3769835"/>
          </a:xfrm>
        </p:spPr>
        <p:txBody>
          <a:bodyPr anchor="ctr">
            <a:normAutofit/>
          </a:bodyPr>
          <a:lstStyle/>
          <a:p>
            <a:pPr marL="342900" indent="-342900"/>
            <a:r>
              <a:rPr lang="en-US" sz="2700" dirty="0"/>
              <a:t>Documents operations a system must perform.</a:t>
            </a:r>
          </a:p>
          <a:p>
            <a:pPr marL="342900" indent="-342900"/>
            <a:endParaRPr lang="en-US" sz="2700" dirty="0"/>
          </a:p>
          <a:p>
            <a:pPr marL="342900" indent="-342900"/>
            <a:r>
              <a:rPr lang="en-US" sz="2700" dirty="0"/>
              <a:t>For each operation, documents:</a:t>
            </a:r>
          </a:p>
          <a:p>
            <a:pPr marL="742950" lvl="1" indent="-285750"/>
            <a:r>
              <a:rPr lang="en-US" sz="2700" dirty="0"/>
              <a:t>What the operation commits to achieve</a:t>
            </a:r>
          </a:p>
          <a:p>
            <a:pPr marL="742950" lvl="1" indent="-285750"/>
            <a:r>
              <a:rPr lang="en-US" sz="2700" dirty="0"/>
              <a:t>An operation’s pre and post conditions</a:t>
            </a:r>
          </a:p>
        </p:txBody>
      </p:sp>
      <p:sp>
        <p:nvSpPr>
          <p:cNvPr id="4" name="Slide Number Placeholder 3"/>
          <p:cNvSpPr>
            <a:spLocks noGrp="1"/>
          </p:cNvSpPr>
          <p:nvPr>
            <p:ph type="sldNum" sz="quarter" idx="10"/>
          </p:nvPr>
        </p:nvSpPr>
        <p:spPr>
          <a:xfrm>
            <a:off x="8732520" y="6356350"/>
            <a:ext cx="3199383" cy="365125"/>
          </a:xfrm>
        </p:spPr>
        <p:txBody>
          <a:bodyPr>
            <a:normAutofit/>
          </a:bodyPr>
          <a:lstStyle/>
          <a:p>
            <a:pPr>
              <a:spcAft>
                <a:spcPts val="600"/>
              </a:spcAft>
            </a:pPr>
            <a:fld id="{472FF2C2-FBA8-4298-A0A0-FDFEBB59E08A}" type="slidenum">
              <a:rPr lang="de-DE">
                <a:solidFill>
                  <a:schemeClr val="tx1"/>
                </a:solidFill>
              </a:rPr>
              <a:pPr>
                <a:spcAft>
                  <a:spcPts val="600"/>
                </a:spcAft>
              </a:pPr>
              <a:t>5</a:t>
            </a:fld>
            <a:endParaRPr lang="de-DE">
              <a:solidFill>
                <a:schemeClr val="tx1"/>
              </a:solidFil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65960" name="Rectangle 765959">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5962" name="Rectangle 765961">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5964" name="Rectangle 765963">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5966" name="Rectangle 765965">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65954" name="Rectangle 2"/>
          <p:cNvSpPr>
            <a:spLocks noGrp="1" noChangeArrowheads="1"/>
          </p:cNvSpPr>
          <p:nvPr>
            <p:ph type="title"/>
          </p:nvPr>
        </p:nvSpPr>
        <p:spPr>
          <a:xfrm>
            <a:off x="699713" y="248038"/>
            <a:ext cx="7063721" cy="1159200"/>
          </a:xfrm>
        </p:spPr>
        <p:txBody>
          <a:bodyPr vert="horz" lIns="91440" tIns="45720" rIns="91440" bIns="45720" rtlCol="0" anchor="ctr">
            <a:normAutofit/>
          </a:bodyPr>
          <a:lstStyle/>
          <a:p>
            <a:r>
              <a:rPr lang="en-US" altLang="en-US" sz="4000" kern="1200">
                <a:solidFill>
                  <a:srgbClr val="FFFFFF"/>
                </a:solidFill>
                <a:latin typeface="+mj-lt"/>
                <a:ea typeface="+mj-ea"/>
                <a:cs typeface="+mj-cs"/>
              </a:rPr>
              <a:t>System Operation Contracts</a:t>
            </a:r>
          </a:p>
        </p:txBody>
      </p:sp>
      <p:pic>
        <p:nvPicPr>
          <p:cNvPr id="765955" name="Picture 3"/>
          <p:cNvPicPr>
            <a:picLocks noGrp="1" noChangeAspect="1" noChangeArrowheads="1"/>
          </p:cNvPicPr>
          <p:nvPr>
            <p:ph idx="1"/>
          </p:nvPr>
        </p:nvPicPr>
        <p:blipFill>
          <a:blip r:embed="rId3"/>
          <a:stretch>
            <a:fillRect/>
          </a:stretch>
        </p:blipFill>
        <p:spPr>
          <a:xfrm>
            <a:off x="1757167" y="1966293"/>
            <a:ext cx="8677664" cy="4452160"/>
          </a:xfrm>
          <a:prstGeom prst="rect">
            <a:avLst/>
          </a:prstGeom>
          <a:noFill/>
        </p:spPr>
      </p:pic>
      <p:sp>
        <p:nvSpPr>
          <p:cNvPr id="4" name="Slide Number Placeholder 3"/>
          <p:cNvSpPr>
            <a:spLocks noGrp="1"/>
          </p:cNvSpPr>
          <p:nvPr>
            <p:ph type="sldNum" sz="quarter" idx="10"/>
          </p:nvPr>
        </p:nvSpPr>
        <p:spPr>
          <a:xfrm>
            <a:off x="11704319" y="6455664"/>
            <a:ext cx="448056" cy="365125"/>
          </a:xfrm>
        </p:spPr>
        <p:txBody>
          <a:bodyPr vert="horz" lIns="91440" tIns="45720" rIns="91440" bIns="45720" rtlCol="0" anchor="ctr">
            <a:normAutofit/>
          </a:bodyPr>
          <a:lstStyle/>
          <a:p>
            <a:pPr algn="r">
              <a:spcAft>
                <a:spcPts val="600"/>
              </a:spcAft>
            </a:pPr>
            <a:fld id="{10C0E1BF-AC19-4E39-AD54-1E1A62203205}" type="slidenum">
              <a:rPr lang="en-US" sz="1100">
                <a:solidFill>
                  <a:schemeClr val="tx1">
                    <a:lumMod val="50000"/>
                    <a:lumOff val="50000"/>
                  </a:schemeClr>
                </a:solidFill>
              </a:rPr>
              <a:pPr algn="r">
                <a:spcAft>
                  <a:spcPts val="600"/>
                </a:spcAft>
              </a:pPr>
              <a:t>6</a:t>
            </a:fld>
            <a:endParaRPr lang="en-US" sz="1100">
              <a:solidFill>
                <a:schemeClr val="tx1">
                  <a:lumMod val="50000"/>
                  <a:lumOff val="50000"/>
                </a:schemeClr>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70065" name="Rectangle 770064">
            <a:extLst>
              <a:ext uri="{FF2B5EF4-FFF2-40B4-BE49-F238E27FC236}">
                <a16:creationId xmlns:a16="http://schemas.microsoft.com/office/drawing/2014/main" id="{70DFC902-7D23-471A-B557-B6B6917D7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 y="-5705"/>
            <a:ext cx="12191990" cy="1694346"/>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0050" name="Rectangle 2"/>
          <p:cNvSpPr>
            <a:spLocks noGrp="1" noChangeArrowheads="1"/>
          </p:cNvSpPr>
          <p:nvPr>
            <p:ph type="title"/>
          </p:nvPr>
        </p:nvSpPr>
        <p:spPr>
          <a:xfrm>
            <a:off x="1156851" y="637762"/>
            <a:ext cx="9888496" cy="900131"/>
          </a:xfrm>
        </p:spPr>
        <p:txBody>
          <a:bodyPr anchor="t">
            <a:normAutofit/>
          </a:bodyPr>
          <a:lstStyle/>
          <a:p>
            <a:r>
              <a:rPr lang="en-US" altLang="en-US" sz="4000">
                <a:solidFill>
                  <a:schemeClr val="bg1"/>
                </a:solidFill>
              </a:rPr>
              <a:t>System Operation Contracts</a:t>
            </a:r>
          </a:p>
        </p:txBody>
      </p:sp>
      <p:sp>
        <p:nvSpPr>
          <p:cNvPr id="770067" name="Rectangle 770066">
            <a:extLst>
              <a:ext uri="{FF2B5EF4-FFF2-40B4-BE49-F238E27FC236}">
                <a16:creationId xmlns:a16="http://schemas.microsoft.com/office/drawing/2014/main" id="{A55D5633-D557-4DCA-982C-FF36EB7A1C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688641"/>
            <a:ext cx="12191990" cy="516935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0069" name="Rectangle 770068">
            <a:extLst>
              <a:ext uri="{FF2B5EF4-FFF2-40B4-BE49-F238E27FC236}">
                <a16:creationId xmlns:a16="http://schemas.microsoft.com/office/drawing/2014/main" id="{450D3AD2-FA80-415F-A9CE-54D884561C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56851" y="2010758"/>
            <a:ext cx="457190" cy="4571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p:cNvSpPr>
            <a:spLocks noGrp="1"/>
          </p:cNvSpPr>
          <p:nvPr>
            <p:ph type="sldNum" sz="quarter" idx="10"/>
          </p:nvPr>
        </p:nvSpPr>
        <p:spPr>
          <a:xfrm>
            <a:off x="160867" y="3246439"/>
            <a:ext cx="672957" cy="343768"/>
          </a:xfrm>
        </p:spPr>
        <p:txBody>
          <a:bodyPr anchor="ctr">
            <a:normAutofit/>
          </a:bodyPr>
          <a:lstStyle/>
          <a:p>
            <a:pPr algn="ctr">
              <a:spcAft>
                <a:spcPts val="600"/>
              </a:spcAft>
            </a:pPr>
            <a:fld id="{E4612732-A0D0-478A-9235-6FF7B78A0585}" type="slidenum">
              <a:rPr lang="de-DE" sz="1400">
                <a:solidFill>
                  <a:schemeClr val="tx1"/>
                </a:solidFill>
              </a:rPr>
              <a:pPr algn="ctr">
                <a:spcAft>
                  <a:spcPts val="600"/>
                </a:spcAft>
              </a:pPr>
              <a:t>7</a:t>
            </a:fld>
            <a:endParaRPr lang="de-DE" sz="1400">
              <a:solidFill>
                <a:schemeClr val="tx1"/>
              </a:solidFill>
            </a:endParaRPr>
          </a:p>
        </p:txBody>
      </p:sp>
      <p:sp>
        <p:nvSpPr>
          <p:cNvPr id="770051" name="Rectangle 3"/>
          <p:cNvSpPr>
            <a:spLocks noGrp="1" noChangeArrowheads="1"/>
          </p:cNvSpPr>
          <p:nvPr>
            <p:ph type="body" idx="1"/>
          </p:nvPr>
        </p:nvSpPr>
        <p:spPr>
          <a:xfrm>
            <a:off x="1155548" y="2217343"/>
            <a:ext cx="10653275" cy="3959619"/>
          </a:xfrm>
        </p:spPr>
        <p:txBody>
          <a:bodyPr>
            <a:normAutofit lnSpcReduction="10000"/>
          </a:bodyPr>
          <a:lstStyle/>
          <a:p>
            <a:pPr marL="342900" indent="-342900"/>
            <a:r>
              <a:rPr lang="en-US" sz="2400" dirty="0"/>
              <a:t>To create a contract</a:t>
            </a:r>
          </a:p>
          <a:p>
            <a:pPr marL="742950" lvl="1" indent="-285750"/>
            <a:r>
              <a:rPr lang="en-US" dirty="0"/>
              <a:t>Identify operations from System Sequence Diagrams (SSDs)</a:t>
            </a:r>
          </a:p>
          <a:p>
            <a:pPr marL="742950" lvl="1" indent="-285750"/>
            <a:endParaRPr lang="en-US" dirty="0"/>
          </a:p>
          <a:p>
            <a:pPr marL="742950" lvl="1" indent="-285750"/>
            <a:r>
              <a:rPr lang="en-US" dirty="0"/>
              <a:t>For each operation, write:</a:t>
            </a:r>
          </a:p>
          <a:p>
            <a:pPr lvl="2"/>
            <a:r>
              <a:rPr lang="en-US" sz="2400" dirty="0"/>
              <a:t>Responsibilities (purpose of operation)</a:t>
            </a:r>
          </a:p>
          <a:p>
            <a:pPr lvl="2"/>
            <a:endParaRPr lang="en-US" sz="2400" dirty="0"/>
          </a:p>
          <a:p>
            <a:pPr lvl="2"/>
            <a:r>
              <a:rPr lang="en-US" sz="2400" dirty="0"/>
              <a:t>Pre-Conditions (state of the system before execution of the operation)</a:t>
            </a:r>
          </a:p>
          <a:p>
            <a:pPr lvl="2"/>
            <a:endParaRPr lang="en-US" sz="2400" dirty="0"/>
          </a:p>
          <a:p>
            <a:pPr lvl="2"/>
            <a:r>
              <a:rPr lang="en-US" sz="2400" dirty="0"/>
              <a:t>Post-Conditions (state changes to objects in the domain model, e.g., instance creation/deletion; attribute modification, association creation/deletion)</a:t>
            </a:r>
          </a:p>
          <a:p>
            <a:pPr lvl="2"/>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72104" name="Rectangle 772103">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2106" name="Rectangle 772105">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72108" name="Rectangle 772107">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2110" name="Rectangle 772109">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72112" name="Freeform: Shape 772111">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72098" name="Rectangle 2"/>
          <p:cNvSpPr>
            <a:spLocks noGrp="1" noChangeArrowheads="1"/>
          </p:cNvSpPr>
          <p:nvPr>
            <p:ph type="title"/>
          </p:nvPr>
        </p:nvSpPr>
        <p:spPr>
          <a:xfrm>
            <a:off x="660041" y="2767106"/>
            <a:ext cx="2880828" cy="3071906"/>
          </a:xfrm>
        </p:spPr>
        <p:txBody>
          <a:bodyPr vert="horz" lIns="91440" tIns="45720" rIns="91440" bIns="45720" rtlCol="0" anchor="t">
            <a:normAutofit/>
          </a:bodyPr>
          <a:lstStyle/>
          <a:p>
            <a:r>
              <a:rPr lang="en-US" altLang="en-US" sz="4000" kern="1200" dirty="0">
                <a:solidFill>
                  <a:srgbClr val="FFFFFF"/>
                </a:solidFill>
                <a:latin typeface="+mj-lt"/>
                <a:ea typeface="+mj-ea"/>
                <a:cs typeface="+mj-cs"/>
              </a:rPr>
              <a:t>Operation Contract Full Template</a:t>
            </a:r>
          </a:p>
        </p:txBody>
      </p:sp>
      <p:pic>
        <p:nvPicPr>
          <p:cNvPr id="772099" name="Picture 3" descr="contract2"/>
          <p:cNvPicPr>
            <a:picLocks noGrp="1" noChangeAspect="1" noChangeArrowheads="1"/>
          </p:cNvPicPr>
          <p:nvPr>
            <p:ph idx="1"/>
          </p:nvPr>
        </p:nvPicPr>
        <p:blipFill>
          <a:blip r:embed="rId3"/>
          <a:stretch>
            <a:fillRect/>
          </a:stretch>
        </p:blipFill>
        <p:spPr>
          <a:xfrm>
            <a:off x="4038605" y="37211"/>
            <a:ext cx="8113770" cy="6875819"/>
          </a:xfrm>
          <a:prstGeom prst="rect">
            <a:avLst/>
          </a:prstGeom>
          <a:noFill/>
        </p:spPr>
      </p:pic>
      <p:sp>
        <p:nvSpPr>
          <p:cNvPr id="4" name="Slide Number Placeholder 3"/>
          <p:cNvSpPr>
            <a:spLocks noGrp="1"/>
          </p:cNvSpPr>
          <p:nvPr>
            <p:ph type="sldNum" sz="quarter" idx="10"/>
          </p:nvPr>
        </p:nvSpPr>
        <p:spPr>
          <a:xfrm>
            <a:off x="11704319" y="6455664"/>
            <a:ext cx="448056" cy="365125"/>
          </a:xfrm>
        </p:spPr>
        <p:txBody>
          <a:bodyPr vert="horz" lIns="91440" tIns="45720" rIns="91440" bIns="45720" rtlCol="0" anchor="ctr">
            <a:normAutofit/>
          </a:bodyPr>
          <a:lstStyle/>
          <a:p>
            <a:pPr algn="r">
              <a:spcAft>
                <a:spcPts val="600"/>
              </a:spcAft>
            </a:pPr>
            <a:fld id="{250ADCC1-ADA1-436F-8E49-4B03770FD01B}" type="slidenum">
              <a:rPr lang="en-US" sz="1100">
                <a:solidFill>
                  <a:schemeClr val="tx1">
                    <a:lumMod val="50000"/>
                    <a:lumOff val="50000"/>
                  </a:schemeClr>
                </a:solidFill>
              </a:rPr>
              <a:pPr algn="r">
                <a:spcAft>
                  <a:spcPts val="600"/>
                </a:spcAft>
              </a:pPr>
              <a:t>8</a:t>
            </a:fld>
            <a:endParaRPr lang="en-US" sz="1100">
              <a:solidFill>
                <a:schemeClr val="tx1">
                  <a:lumMod val="50000"/>
                  <a:lumOff val="50000"/>
                </a:schemeClr>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2F60C50-4779-B427-7CA0-C70C7036BB84}"/>
              </a:ext>
            </a:extLst>
          </p:cNvPr>
          <p:cNvSpPr>
            <a:spLocks noGrp="1"/>
          </p:cNvSpPr>
          <p:nvPr>
            <p:ph type="title"/>
          </p:nvPr>
        </p:nvSpPr>
        <p:spPr>
          <a:xfrm>
            <a:off x="838200" y="365125"/>
            <a:ext cx="10515600" cy="1325563"/>
          </a:xfrm>
        </p:spPr>
        <p:txBody>
          <a:bodyPr>
            <a:normAutofit/>
          </a:bodyPr>
          <a:lstStyle/>
          <a:p>
            <a:r>
              <a:rPr lang="en-US" sz="5400"/>
              <a:t>Operations Contract</a:t>
            </a:r>
          </a:p>
        </p:txBody>
      </p:sp>
      <p:sp>
        <p:nvSpPr>
          <p:cNvPr id="10"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F81587CB-8994-9ACF-8210-19656A5654DD}"/>
              </a:ext>
            </a:extLst>
          </p:cNvPr>
          <p:cNvSpPr>
            <a:spLocks noGrp="1"/>
          </p:cNvSpPr>
          <p:nvPr>
            <p:ph idx="1"/>
          </p:nvPr>
        </p:nvSpPr>
        <p:spPr>
          <a:xfrm>
            <a:off x="838200" y="1929384"/>
            <a:ext cx="10853928" cy="4251960"/>
          </a:xfrm>
        </p:spPr>
        <p:txBody>
          <a:bodyPr>
            <a:normAutofit fontScale="92500" lnSpcReduction="10000"/>
          </a:bodyPr>
          <a:lstStyle/>
          <a:p>
            <a:pPr algn="just"/>
            <a:r>
              <a:rPr lang="en-US" sz="3000" dirty="0"/>
              <a:t>When we assign the post conditions, we can be inspired by looking into the domain model that we already created, and ask our selves:</a:t>
            </a:r>
          </a:p>
          <a:p>
            <a:pPr algn="just"/>
            <a:endParaRPr lang="en-US" sz="3000" dirty="0"/>
          </a:p>
          <a:p>
            <a:pPr lvl="1" algn="just"/>
            <a:r>
              <a:rPr lang="en-US" sz="2600" dirty="0"/>
              <a:t>Which </a:t>
            </a:r>
            <a:r>
              <a:rPr lang="en-US" sz="2600" b="1" dirty="0">
                <a:solidFill>
                  <a:schemeClr val="accent1"/>
                </a:solidFill>
              </a:rPr>
              <a:t>instances (objects) will be created</a:t>
            </a:r>
            <a:r>
              <a:rPr lang="en-US" sz="2600" b="1" dirty="0"/>
              <a:t> </a:t>
            </a:r>
            <a:r>
              <a:rPr lang="en-US" sz="2600" dirty="0"/>
              <a:t>when the external operation enters the system?</a:t>
            </a:r>
          </a:p>
          <a:p>
            <a:pPr lvl="1" algn="just"/>
            <a:endParaRPr lang="en-US" sz="2600" dirty="0"/>
          </a:p>
          <a:p>
            <a:pPr lvl="1" algn="just"/>
            <a:r>
              <a:rPr lang="en-US" sz="2600" dirty="0"/>
              <a:t>Which </a:t>
            </a:r>
            <a:r>
              <a:rPr lang="en-US" sz="2600" b="1" dirty="0">
                <a:solidFill>
                  <a:schemeClr val="accent1"/>
                </a:solidFill>
              </a:rPr>
              <a:t>Associations will be formed </a:t>
            </a:r>
            <a:r>
              <a:rPr lang="en-US" sz="2600" dirty="0"/>
              <a:t>when the external operation enters the system?</a:t>
            </a:r>
          </a:p>
          <a:p>
            <a:pPr marL="457200" lvl="1" indent="0" algn="just">
              <a:buNone/>
            </a:pPr>
            <a:endParaRPr lang="en-US" sz="2600" dirty="0"/>
          </a:p>
          <a:p>
            <a:pPr lvl="1" algn="just"/>
            <a:r>
              <a:rPr lang="en-US" sz="2600" dirty="0"/>
              <a:t>Which </a:t>
            </a:r>
            <a:r>
              <a:rPr lang="en-US" sz="2600" b="1" dirty="0">
                <a:solidFill>
                  <a:schemeClr val="accent1"/>
                </a:solidFill>
              </a:rPr>
              <a:t>attributes will have their values modified </a:t>
            </a:r>
            <a:r>
              <a:rPr lang="en-US" sz="2600" dirty="0"/>
              <a:t>when the external operation enters the system?</a:t>
            </a:r>
          </a:p>
        </p:txBody>
      </p:sp>
    </p:spTree>
    <p:extLst>
      <p:ext uri="{BB962C8B-B14F-4D97-AF65-F5344CB8AC3E}">
        <p14:creationId xmlns:p14="http://schemas.microsoft.com/office/powerpoint/2010/main" val="397622977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5650" name="Rectangle 2"/>
          <p:cNvSpPr>
            <a:spLocks noGrp="1" noChangeArrowheads="1"/>
          </p:cNvSpPr>
          <p:nvPr>
            <p:ph type="title"/>
          </p:nvPr>
        </p:nvSpPr>
        <p:spPr>
          <a:xfrm>
            <a:off x="334429" y="559837"/>
            <a:ext cx="4564659" cy="1642956"/>
          </a:xfrm>
        </p:spPr>
        <p:txBody>
          <a:bodyPr anchor="b">
            <a:normAutofit/>
          </a:bodyPr>
          <a:lstStyle/>
          <a:p>
            <a:r>
              <a:rPr lang="en-US" altLang="en-US" sz="3600" dirty="0">
                <a:solidFill>
                  <a:schemeClr val="tx2"/>
                </a:solidFill>
              </a:rPr>
              <a:t>Example: Domain Model for Point of Sale (</a:t>
            </a:r>
            <a:r>
              <a:rPr lang="en-US" altLang="en-US" sz="3600" dirty="0" err="1">
                <a:solidFill>
                  <a:schemeClr val="tx2"/>
                </a:solidFill>
              </a:rPr>
              <a:t>PoS</a:t>
            </a:r>
            <a:r>
              <a:rPr lang="en-US" altLang="en-US" sz="3600" dirty="0">
                <a:solidFill>
                  <a:schemeClr val="tx2"/>
                </a:solidFill>
              </a:rPr>
              <a:t> System)</a:t>
            </a:r>
          </a:p>
        </p:txBody>
      </p:sp>
      <p:sp>
        <p:nvSpPr>
          <p:cNvPr id="4" name="Slide Number Placeholder 3"/>
          <p:cNvSpPr>
            <a:spLocks noGrp="1"/>
          </p:cNvSpPr>
          <p:nvPr>
            <p:ph type="sldNum" sz="quarter" idx="10"/>
          </p:nvPr>
        </p:nvSpPr>
        <p:spPr>
          <a:xfrm>
            <a:off x="11445238" y="6356350"/>
            <a:ext cx="54864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CABEAC46-B3E9-42FD-B02C-5AE907EC9AF9}" type="slidenum">
              <a:rPr kumimoji="0" lang="de-DE" sz="1200" b="0" i="0" u="none" strike="noStrike" kern="1200" cap="none" spc="0" normalizeH="0" baseline="0" noProof="0">
                <a:ln>
                  <a:noFill/>
                </a:ln>
                <a:solidFill>
                  <a:srgbClr val="44546A"/>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10</a:t>
            </a:fld>
            <a:endParaRPr kumimoji="0" lang="de-DE" sz="1200" b="0" i="0" u="none" strike="noStrike" kern="1200" cap="none" spc="0" normalizeH="0" baseline="0" noProof="0">
              <a:ln>
                <a:noFill/>
              </a:ln>
              <a:solidFill>
                <a:srgbClr val="44546A"/>
              </a:solidFill>
              <a:effectLst/>
              <a:uLnTx/>
              <a:uFillTx/>
              <a:latin typeface="Calibri" panose="020F0502020204030204"/>
              <a:ea typeface="+mn-ea"/>
              <a:cs typeface="+mn-cs"/>
            </a:endParaRPr>
          </a:p>
        </p:txBody>
      </p:sp>
      <p:grpSp>
        <p:nvGrpSpPr>
          <p:cNvPr id="1028" name="Group 4"/>
          <p:cNvGrpSpPr>
            <a:grpSpLocks noChangeAspect="1"/>
          </p:cNvGrpSpPr>
          <p:nvPr/>
        </p:nvGrpSpPr>
        <p:grpSpPr bwMode="auto">
          <a:xfrm>
            <a:off x="5139176" y="609600"/>
            <a:ext cx="6298079" cy="5638800"/>
            <a:chOff x="863" y="962"/>
            <a:chExt cx="3697" cy="3310"/>
          </a:xfrm>
        </p:grpSpPr>
        <p:sp>
          <p:nvSpPr>
            <p:cNvPr id="1027" name="AutoShape 3"/>
            <p:cNvSpPr>
              <a:spLocks noChangeAspect="1" noChangeArrowheads="1" noTextEdit="1"/>
            </p:cNvSpPr>
            <p:nvPr/>
          </p:nvSpPr>
          <p:spPr bwMode="auto">
            <a:xfrm>
              <a:off x="863" y="962"/>
              <a:ext cx="3697" cy="331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9" name="Rectangle 5"/>
            <p:cNvSpPr>
              <a:spLocks noChangeArrowheads="1"/>
            </p:cNvSpPr>
            <p:nvPr/>
          </p:nvSpPr>
          <p:spPr bwMode="auto">
            <a:xfrm>
              <a:off x="2553"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0" name="Rectangle 6"/>
            <p:cNvSpPr>
              <a:spLocks noChangeArrowheads="1"/>
            </p:cNvSpPr>
            <p:nvPr/>
          </p:nvSpPr>
          <p:spPr bwMode="auto">
            <a:xfrm>
              <a:off x="2706" y="3055"/>
              <a:ext cx="26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register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1" name="Rectangle 7"/>
            <p:cNvSpPr>
              <a:spLocks noChangeArrowheads="1"/>
            </p:cNvSpPr>
            <p:nvPr/>
          </p:nvSpPr>
          <p:spPr bwMode="auto">
            <a:xfrm>
              <a:off x="2553"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2" name="Rectangle 8"/>
            <p:cNvSpPr>
              <a:spLocks noChangeArrowheads="1"/>
            </p:cNvSpPr>
            <p:nvPr/>
          </p:nvSpPr>
          <p:spPr bwMode="auto">
            <a:xfrm>
              <a:off x="3703" y="2268"/>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3" name="Rectangle 9"/>
            <p:cNvSpPr>
              <a:spLocks noChangeArrowheads="1"/>
            </p:cNvSpPr>
            <p:nvPr/>
          </p:nvSpPr>
          <p:spPr bwMode="auto">
            <a:xfrm>
              <a:off x="3930" y="2309"/>
              <a:ext cx="15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Item</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4" name="Rectangle 10"/>
            <p:cNvSpPr>
              <a:spLocks noChangeArrowheads="1"/>
            </p:cNvSpPr>
            <p:nvPr/>
          </p:nvSpPr>
          <p:spPr bwMode="auto">
            <a:xfrm>
              <a:off x="3703" y="2445"/>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5" name="Rectangle 11"/>
            <p:cNvSpPr>
              <a:spLocks noChangeArrowheads="1"/>
            </p:cNvSpPr>
            <p:nvPr/>
          </p:nvSpPr>
          <p:spPr bwMode="auto">
            <a:xfrm>
              <a:off x="2553" y="2222"/>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6" name="Rectangle 12"/>
            <p:cNvSpPr>
              <a:spLocks noChangeArrowheads="1"/>
            </p:cNvSpPr>
            <p:nvPr/>
          </p:nvSpPr>
          <p:spPr bwMode="auto">
            <a:xfrm>
              <a:off x="2720" y="2263"/>
              <a:ext cx="19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Store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7" name="Rectangle 13"/>
            <p:cNvSpPr>
              <a:spLocks noChangeArrowheads="1"/>
            </p:cNvSpPr>
            <p:nvPr/>
          </p:nvSpPr>
          <p:spPr bwMode="auto">
            <a:xfrm>
              <a:off x="2553" y="2399"/>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8" name="Rectangle 14"/>
            <p:cNvSpPr>
              <a:spLocks noChangeArrowheads="1"/>
            </p:cNvSpPr>
            <p:nvPr/>
          </p:nvSpPr>
          <p:spPr bwMode="auto">
            <a:xfrm>
              <a:off x="2599" y="2439"/>
              <a:ext cx="28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address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9" name="Rectangle 15"/>
            <p:cNvSpPr>
              <a:spLocks noChangeArrowheads="1"/>
            </p:cNvSpPr>
            <p:nvPr/>
          </p:nvSpPr>
          <p:spPr bwMode="auto">
            <a:xfrm>
              <a:off x="2599" y="2534"/>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name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0" name="Rectangle 16"/>
            <p:cNvSpPr>
              <a:spLocks noChangeArrowheads="1"/>
            </p:cNvSpPr>
            <p:nvPr/>
          </p:nvSpPr>
          <p:spPr bwMode="auto">
            <a:xfrm>
              <a:off x="1319"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1" name="Rectangle 17"/>
            <p:cNvSpPr>
              <a:spLocks noChangeArrowheads="1"/>
            </p:cNvSpPr>
            <p:nvPr/>
          </p:nvSpPr>
          <p:spPr bwMode="auto">
            <a:xfrm>
              <a:off x="1500" y="3055"/>
              <a:ext cx="16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Sale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2" name="Rectangle 18"/>
            <p:cNvSpPr>
              <a:spLocks noChangeArrowheads="1"/>
            </p:cNvSpPr>
            <p:nvPr/>
          </p:nvSpPr>
          <p:spPr bwMode="auto">
            <a:xfrm>
              <a:off x="1319"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3" name="Rectangle 19"/>
            <p:cNvSpPr>
              <a:spLocks noChangeArrowheads="1"/>
            </p:cNvSpPr>
            <p:nvPr/>
          </p:nvSpPr>
          <p:spPr bwMode="auto">
            <a:xfrm>
              <a:off x="1365" y="3231"/>
              <a:ext cx="15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date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4" name="Rectangle 20"/>
            <p:cNvSpPr>
              <a:spLocks noChangeArrowheads="1"/>
            </p:cNvSpPr>
            <p:nvPr/>
          </p:nvSpPr>
          <p:spPr bwMode="auto">
            <a:xfrm>
              <a:off x="1365" y="3420"/>
              <a:ext cx="15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time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5" name="Rectangle 21"/>
            <p:cNvSpPr>
              <a:spLocks noChangeArrowheads="1"/>
            </p:cNvSpPr>
            <p:nvPr/>
          </p:nvSpPr>
          <p:spPr bwMode="auto">
            <a:xfrm>
              <a:off x="876"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6" name="Rectangle 22"/>
            <p:cNvSpPr>
              <a:spLocks noChangeArrowheads="1"/>
            </p:cNvSpPr>
            <p:nvPr/>
          </p:nvSpPr>
          <p:spPr bwMode="auto">
            <a:xfrm>
              <a:off x="980" y="3950"/>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Payment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7" name="Rectangle 23"/>
            <p:cNvSpPr>
              <a:spLocks noChangeArrowheads="1"/>
            </p:cNvSpPr>
            <p:nvPr/>
          </p:nvSpPr>
          <p:spPr bwMode="auto">
            <a:xfrm>
              <a:off x="876"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8" name="Rectangle 24"/>
            <p:cNvSpPr>
              <a:spLocks noChangeArrowheads="1"/>
            </p:cNvSpPr>
            <p:nvPr/>
          </p:nvSpPr>
          <p:spPr bwMode="auto">
            <a:xfrm>
              <a:off x="922" y="4127"/>
              <a:ext cx="2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amount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9" name="Rectangle 25"/>
            <p:cNvSpPr>
              <a:spLocks noChangeArrowheads="1"/>
            </p:cNvSpPr>
            <p:nvPr/>
          </p:nvSpPr>
          <p:spPr bwMode="auto">
            <a:xfrm>
              <a:off x="1319" y="2134"/>
              <a:ext cx="521"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0" name="Rectangle 26"/>
            <p:cNvSpPr>
              <a:spLocks noChangeArrowheads="1"/>
            </p:cNvSpPr>
            <p:nvPr/>
          </p:nvSpPr>
          <p:spPr bwMode="auto">
            <a:xfrm>
              <a:off x="1480" y="2173"/>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Sales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1" name="Rectangle 27"/>
            <p:cNvSpPr>
              <a:spLocks noChangeArrowheads="1"/>
            </p:cNvSpPr>
            <p:nvPr/>
          </p:nvSpPr>
          <p:spPr bwMode="auto">
            <a:xfrm>
              <a:off x="1426" y="2268"/>
              <a:ext cx="30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LineItem</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2" name="Rectangle 28"/>
            <p:cNvSpPr>
              <a:spLocks noChangeArrowheads="1"/>
            </p:cNvSpPr>
            <p:nvPr/>
          </p:nvSpPr>
          <p:spPr bwMode="auto">
            <a:xfrm>
              <a:off x="1319" y="2401"/>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3" name="Rectangle 29"/>
            <p:cNvSpPr>
              <a:spLocks noChangeArrowheads="1"/>
            </p:cNvSpPr>
            <p:nvPr/>
          </p:nvSpPr>
          <p:spPr bwMode="auto">
            <a:xfrm>
              <a:off x="1365" y="2443"/>
              <a:ext cx="28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quantity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4" name="Rectangle 30"/>
            <p:cNvSpPr>
              <a:spLocks noChangeArrowheads="1"/>
            </p:cNvSpPr>
            <p:nvPr/>
          </p:nvSpPr>
          <p:spPr bwMode="auto">
            <a:xfrm>
              <a:off x="3363" y="3908"/>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5" name="Rectangle 31"/>
            <p:cNvSpPr>
              <a:spLocks noChangeArrowheads="1"/>
            </p:cNvSpPr>
            <p:nvPr/>
          </p:nvSpPr>
          <p:spPr bwMode="auto">
            <a:xfrm>
              <a:off x="3487" y="3950"/>
              <a:ext cx="27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Cashier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6" name="Rectangle 32"/>
            <p:cNvSpPr>
              <a:spLocks noChangeArrowheads="1"/>
            </p:cNvSpPr>
            <p:nvPr/>
          </p:nvSpPr>
          <p:spPr bwMode="auto">
            <a:xfrm>
              <a:off x="3363" y="4086"/>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7" name="Rectangle 33"/>
            <p:cNvSpPr>
              <a:spLocks noChangeArrowheads="1"/>
            </p:cNvSpPr>
            <p:nvPr/>
          </p:nvSpPr>
          <p:spPr bwMode="auto">
            <a:xfrm>
              <a:off x="1774"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8" name="Rectangle 34"/>
            <p:cNvSpPr>
              <a:spLocks noChangeArrowheads="1"/>
            </p:cNvSpPr>
            <p:nvPr/>
          </p:nvSpPr>
          <p:spPr bwMode="auto">
            <a:xfrm>
              <a:off x="1862" y="3950"/>
              <a:ext cx="34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Customer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9" name="Rectangle 35"/>
            <p:cNvSpPr>
              <a:spLocks noChangeArrowheads="1"/>
            </p:cNvSpPr>
            <p:nvPr/>
          </p:nvSpPr>
          <p:spPr bwMode="auto">
            <a:xfrm>
              <a:off x="1774"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0" name="Rectangle 36"/>
            <p:cNvSpPr>
              <a:spLocks noChangeArrowheads="1"/>
            </p:cNvSpPr>
            <p:nvPr/>
          </p:nvSpPr>
          <p:spPr bwMode="auto">
            <a:xfrm>
              <a:off x="3706" y="3107"/>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1" name="Rectangle 37"/>
            <p:cNvSpPr>
              <a:spLocks noChangeArrowheads="1"/>
            </p:cNvSpPr>
            <p:nvPr/>
          </p:nvSpPr>
          <p:spPr bwMode="auto">
            <a:xfrm>
              <a:off x="3811" y="3148"/>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Manager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2" name="Rectangle 38"/>
            <p:cNvSpPr>
              <a:spLocks noChangeArrowheads="1"/>
            </p:cNvSpPr>
            <p:nvPr/>
          </p:nvSpPr>
          <p:spPr bwMode="auto">
            <a:xfrm>
              <a:off x="3706" y="3284"/>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3" name="Rectangle 39"/>
            <p:cNvSpPr>
              <a:spLocks noChangeArrowheads="1"/>
            </p:cNvSpPr>
            <p:nvPr/>
          </p:nvSpPr>
          <p:spPr bwMode="auto">
            <a:xfrm>
              <a:off x="2553" y="1468"/>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4" name="Rectangle 40"/>
            <p:cNvSpPr>
              <a:spLocks noChangeArrowheads="1"/>
            </p:cNvSpPr>
            <p:nvPr/>
          </p:nvSpPr>
          <p:spPr bwMode="auto">
            <a:xfrm>
              <a:off x="2677" y="1507"/>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Product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5" name="Rectangle 41"/>
            <p:cNvSpPr>
              <a:spLocks noChangeArrowheads="1"/>
            </p:cNvSpPr>
            <p:nvPr/>
          </p:nvSpPr>
          <p:spPr bwMode="auto">
            <a:xfrm>
              <a:off x="2679" y="1601"/>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Catalog</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6" name="Rectangle 42"/>
            <p:cNvSpPr>
              <a:spLocks noChangeArrowheads="1"/>
            </p:cNvSpPr>
            <p:nvPr/>
          </p:nvSpPr>
          <p:spPr bwMode="auto">
            <a:xfrm>
              <a:off x="2553" y="173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7" name="Rectangle 43"/>
            <p:cNvSpPr>
              <a:spLocks noChangeArrowheads="1"/>
            </p:cNvSpPr>
            <p:nvPr/>
          </p:nvSpPr>
          <p:spPr bwMode="auto">
            <a:xfrm>
              <a:off x="3700" y="1376"/>
              <a:ext cx="615"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8" name="Rectangle 44"/>
            <p:cNvSpPr>
              <a:spLocks noChangeArrowheads="1"/>
            </p:cNvSpPr>
            <p:nvPr/>
          </p:nvSpPr>
          <p:spPr bwMode="auto">
            <a:xfrm>
              <a:off x="3870" y="1415"/>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Product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9" name="Rectangle 45"/>
            <p:cNvSpPr>
              <a:spLocks noChangeArrowheads="1"/>
            </p:cNvSpPr>
            <p:nvPr/>
          </p:nvSpPr>
          <p:spPr bwMode="auto">
            <a:xfrm>
              <a:off x="3782" y="1509"/>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Specification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0" name="Rectangle 46"/>
            <p:cNvSpPr>
              <a:spLocks noChangeArrowheads="1"/>
            </p:cNvSpPr>
            <p:nvPr/>
          </p:nvSpPr>
          <p:spPr bwMode="auto">
            <a:xfrm>
              <a:off x="3700" y="1643"/>
              <a:ext cx="615"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1" name="Rectangle 47"/>
            <p:cNvSpPr>
              <a:spLocks noChangeArrowheads="1"/>
            </p:cNvSpPr>
            <p:nvPr/>
          </p:nvSpPr>
          <p:spPr bwMode="auto">
            <a:xfrm>
              <a:off x="3746" y="1683"/>
              <a:ext cx="3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description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2" name="Rectangle 48"/>
            <p:cNvSpPr>
              <a:spLocks noChangeArrowheads="1"/>
            </p:cNvSpPr>
            <p:nvPr/>
          </p:nvSpPr>
          <p:spPr bwMode="auto">
            <a:xfrm>
              <a:off x="3746" y="1777"/>
              <a:ext cx="1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price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3" name="Rectangle 49"/>
            <p:cNvSpPr>
              <a:spLocks noChangeArrowheads="1"/>
            </p:cNvSpPr>
            <p:nvPr/>
          </p:nvSpPr>
          <p:spPr bwMode="auto">
            <a:xfrm>
              <a:off x="3746" y="1872"/>
              <a:ext cx="1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UPC</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4" name="Line 50"/>
            <p:cNvSpPr>
              <a:spLocks noChangeShapeType="1"/>
            </p:cNvSpPr>
            <p:nvPr/>
          </p:nvSpPr>
          <p:spPr bwMode="auto">
            <a:xfrm flipH="1">
              <a:off x="3074" y="2445"/>
              <a:ext cx="629"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5" name="Rectangle 51"/>
            <p:cNvSpPr>
              <a:spLocks noChangeArrowheads="1"/>
            </p:cNvSpPr>
            <p:nvPr/>
          </p:nvSpPr>
          <p:spPr bwMode="auto">
            <a:xfrm>
              <a:off x="3268" y="2358"/>
              <a:ext cx="24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Stocks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6" name="Rectangle 52"/>
            <p:cNvSpPr>
              <a:spLocks noChangeArrowheads="1"/>
            </p:cNvSpPr>
            <p:nvPr/>
          </p:nvSpPr>
          <p:spPr bwMode="auto">
            <a:xfrm>
              <a:off x="3576" y="2451"/>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7" name="Line 53"/>
            <p:cNvSpPr>
              <a:spLocks noChangeShapeType="1"/>
            </p:cNvSpPr>
            <p:nvPr/>
          </p:nvSpPr>
          <p:spPr bwMode="auto">
            <a:xfrm flipV="1">
              <a:off x="2814" y="2667"/>
              <a:ext cx="1" cy="347"/>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8" name="Rectangle 54"/>
            <p:cNvSpPr>
              <a:spLocks noChangeArrowheads="1"/>
            </p:cNvSpPr>
            <p:nvPr/>
          </p:nvSpPr>
          <p:spPr bwMode="auto">
            <a:xfrm>
              <a:off x="2925" y="2752"/>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Houses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9" name="Rectangle 55"/>
            <p:cNvSpPr>
              <a:spLocks noChangeArrowheads="1"/>
            </p:cNvSpPr>
            <p:nvPr/>
          </p:nvSpPr>
          <p:spPr bwMode="auto">
            <a:xfrm>
              <a:off x="2881" y="2884"/>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0" name="Rectangle 56"/>
            <p:cNvSpPr>
              <a:spLocks noChangeArrowheads="1"/>
            </p:cNvSpPr>
            <p:nvPr/>
          </p:nvSpPr>
          <p:spPr bwMode="auto">
            <a:xfrm>
              <a:off x="2969" y="2868"/>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284"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1" name="Line 57"/>
            <p:cNvSpPr>
              <a:spLocks noChangeShapeType="1"/>
            </p:cNvSpPr>
            <p:nvPr/>
          </p:nvSpPr>
          <p:spPr bwMode="auto">
            <a:xfrm>
              <a:off x="2814" y="1913"/>
              <a:ext cx="1" cy="309"/>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2" name="Rectangle 58"/>
            <p:cNvSpPr>
              <a:spLocks noChangeArrowheads="1"/>
            </p:cNvSpPr>
            <p:nvPr/>
          </p:nvSpPr>
          <p:spPr bwMode="auto">
            <a:xfrm>
              <a:off x="2914" y="2010"/>
              <a:ext cx="300"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Used-by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3" name="Rectangle 59"/>
            <p:cNvSpPr>
              <a:spLocks noChangeArrowheads="1"/>
            </p:cNvSpPr>
            <p:nvPr/>
          </p:nvSpPr>
          <p:spPr bwMode="auto">
            <a:xfrm>
              <a:off x="2916" y="2095"/>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4" name="Line 60"/>
            <p:cNvSpPr>
              <a:spLocks noChangeShapeType="1"/>
            </p:cNvSpPr>
            <p:nvPr/>
          </p:nvSpPr>
          <p:spPr bwMode="auto">
            <a:xfrm flipH="1">
              <a:off x="3074" y="1690"/>
              <a:ext cx="626"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5" name="Rectangle 61"/>
            <p:cNvSpPr>
              <a:spLocks noChangeArrowheads="1"/>
            </p:cNvSpPr>
            <p:nvPr/>
          </p:nvSpPr>
          <p:spPr bwMode="auto">
            <a:xfrm>
              <a:off x="3231" y="1604"/>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Contains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6" name="Rectangle 62"/>
            <p:cNvSpPr>
              <a:spLocks noChangeArrowheads="1"/>
            </p:cNvSpPr>
            <p:nvPr/>
          </p:nvSpPr>
          <p:spPr bwMode="auto">
            <a:xfrm>
              <a:off x="3548" y="1728"/>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7" name="Rectangle 63"/>
            <p:cNvSpPr>
              <a:spLocks noChangeArrowheads="1"/>
            </p:cNvSpPr>
            <p:nvPr/>
          </p:nvSpPr>
          <p:spPr bwMode="auto">
            <a:xfrm>
              <a:off x="3637" y="1712"/>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284"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8" name="Line 64"/>
            <p:cNvSpPr>
              <a:spLocks noChangeShapeType="1"/>
            </p:cNvSpPr>
            <p:nvPr/>
          </p:nvSpPr>
          <p:spPr bwMode="auto">
            <a:xfrm flipV="1">
              <a:off x="4007" y="2006"/>
              <a:ext cx="1" cy="262"/>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9" name="Rectangle 65"/>
            <p:cNvSpPr>
              <a:spLocks noChangeArrowheads="1"/>
            </p:cNvSpPr>
            <p:nvPr/>
          </p:nvSpPr>
          <p:spPr bwMode="auto">
            <a:xfrm>
              <a:off x="4094" y="2050"/>
              <a:ext cx="35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Describes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0" name="Rectangle 66"/>
            <p:cNvSpPr>
              <a:spLocks noChangeArrowheads="1"/>
            </p:cNvSpPr>
            <p:nvPr/>
          </p:nvSpPr>
          <p:spPr bwMode="auto">
            <a:xfrm>
              <a:off x="4043" y="214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1" name="Line 67"/>
            <p:cNvSpPr>
              <a:spLocks noChangeShapeType="1"/>
            </p:cNvSpPr>
            <p:nvPr/>
          </p:nvSpPr>
          <p:spPr bwMode="auto">
            <a:xfrm flipH="1">
              <a:off x="1840" y="3419"/>
              <a:ext cx="713"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2" name="Rectangle 68"/>
            <p:cNvSpPr>
              <a:spLocks noChangeArrowheads="1"/>
            </p:cNvSpPr>
            <p:nvPr/>
          </p:nvSpPr>
          <p:spPr bwMode="auto">
            <a:xfrm>
              <a:off x="1978" y="3333"/>
              <a:ext cx="44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Captured-on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3" name="Line 69"/>
            <p:cNvSpPr>
              <a:spLocks noChangeShapeType="1"/>
            </p:cNvSpPr>
            <p:nvPr/>
          </p:nvSpPr>
          <p:spPr bwMode="auto">
            <a:xfrm flipV="1">
              <a:off x="1579" y="2579"/>
              <a:ext cx="1" cy="435"/>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4" name="Rectangle 70"/>
            <p:cNvSpPr>
              <a:spLocks noChangeArrowheads="1"/>
            </p:cNvSpPr>
            <p:nvPr/>
          </p:nvSpPr>
          <p:spPr bwMode="auto">
            <a:xfrm>
              <a:off x="1099" y="2756"/>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Contained-in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5" name="Rectangle 71"/>
            <p:cNvSpPr>
              <a:spLocks noChangeArrowheads="1"/>
            </p:cNvSpPr>
            <p:nvPr/>
          </p:nvSpPr>
          <p:spPr bwMode="auto">
            <a:xfrm>
              <a:off x="1646" y="2620"/>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6" name="Rectangle 72"/>
            <p:cNvSpPr>
              <a:spLocks noChangeArrowheads="1"/>
            </p:cNvSpPr>
            <p:nvPr/>
          </p:nvSpPr>
          <p:spPr bwMode="auto">
            <a:xfrm>
              <a:off x="1735" y="2604"/>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284"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7" name="Freeform 73"/>
            <p:cNvSpPr>
              <a:spLocks/>
            </p:cNvSpPr>
            <p:nvPr/>
          </p:nvSpPr>
          <p:spPr bwMode="auto">
            <a:xfrm>
              <a:off x="1686" y="1293"/>
              <a:ext cx="2321" cy="841"/>
            </a:xfrm>
            <a:custGeom>
              <a:avLst/>
              <a:gdLst/>
              <a:ahLst/>
              <a:cxnLst>
                <a:cxn ang="0">
                  <a:pos x="2321" y="83"/>
                </a:cxn>
                <a:cxn ang="0">
                  <a:pos x="2321" y="0"/>
                </a:cxn>
                <a:cxn ang="0">
                  <a:pos x="0" y="0"/>
                </a:cxn>
                <a:cxn ang="0">
                  <a:pos x="0" y="841"/>
                </a:cxn>
              </a:cxnLst>
              <a:rect l="0" t="0" r="r" b="b"/>
              <a:pathLst>
                <a:path w="2321" h="841">
                  <a:moveTo>
                    <a:pt x="2321" y="83"/>
                  </a:moveTo>
                  <a:lnTo>
                    <a:pt x="2321" y="0"/>
                  </a:lnTo>
                  <a:lnTo>
                    <a:pt x="0" y="0"/>
                  </a:lnTo>
                  <a:lnTo>
                    <a:pt x="0" y="841"/>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8" name="Rectangle 74"/>
            <p:cNvSpPr>
              <a:spLocks noChangeArrowheads="1"/>
            </p:cNvSpPr>
            <p:nvPr/>
          </p:nvSpPr>
          <p:spPr bwMode="auto">
            <a:xfrm>
              <a:off x="2615" y="1205"/>
              <a:ext cx="4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Described-by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9" name="Rectangle 75"/>
            <p:cNvSpPr>
              <a:spLocks noChangeArrowheads="1"/>
            </p:cNvSpPr>
            <p:nvPr/>
          </p:nvSpPr>
          <p:spPr bwMode="auto">
            <a:xfrm>
              <a:off x="1735" y="2008"/>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0" name="Freeform 76"/>
            <p:cNvSpPr>
              <a:spLocks/>
            </p:cNvSpPr>
            <p:nvPr/>
          </p:nvSpPr>
          <p:spPr bwMode="auto">
            <a:xfrm>
              <a:off x="1473" y="1071"/>
              <a:ext cx="3016" cy="1374"/>
            </a:xfrm>
            <a:custGeom>
              <a:avLst/>
              <a:gdLst/>
              <a:ahLst/>
              <a:cxnLst>
                <a:cxn ang="0">
                  <a:pos x="0" y="1063"/>
                </a:cxn>
                <a:cxn ang="0">
                  <a:pos x="0" y="0"/>
                </a:cxn>
                <a:cxn ang="0">
                  <a:pos x="3016" y="0"/>
                </a:cxn>
                <a:cxn ang="0">
                  <a:pos x="3016" y="1374"/>
                </a:cxn>
                <a:cxn ang="0">
                  <a:pos x="2839" y="1374"/>
                </a:cxn>
              </a:cxnLst>
              <a:rect l="0" t="0" r="r" b="b"/>
              <a:pathLst>
                <a:path w="3016" h="1374">
                  <a:moveTo>
                    <a:pt x="0" y="1063"/>
                  </a:moveTo>
                  <a:lnTo>
                    <a:pt x="0" y="0"/>
                  </a:lnTo>
                  <a:lnTo>
                    <a:pt x="3016" y="0"/>
                  </a:lnTo>
                  <a:lnTo>
                    <a:pt x="3016" y="1374"/>
                  </a:lnTo>
                  <a:lnTo>
                    <a:pt x="2839" y="137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1" name="Rectangle 77"/>
            <p:cNvSpPr>
              <a:spLocks noChangeArrowheads="1"/>
            </p:cNvSpPr>
            <p:nvPr/>
          </p:nvSpPr>
          <p:spPr bwMode="auto">
            <a:xfrm>
              <a:off x="2702" y="984"/>
              <a:ext cx="5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Records-sale-of</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2" name="Rectangle 78"/>
            <p:cNvSpPr>
              <a:spLocks noChangeArrowheads="1"/>
            </p:cNvSpPr>
            <p:nvPr/>
          </p:nvSpPr>
          <p:spPr bwMode="auto">
            <a:xfrm>
              <a:off x="1330" y="1998"/>
              <a:ext cx="13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0..1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3" name="Line 79"/>
            <p:cNvSpPr>
              <a:spLocks noChangeShapeType="1"/>
            </p:cNvSpPr>
            <p:nvPr/>
          </p:nvSpPr>
          <p:spPr bwMode="auto">
            <a:xfrm flipH="1">
              <a:off x="3074" y="3284"/>
              <a:ext cx="632"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4" name="Rectangle 80"/>
            <p:cNvSpPr>
              <a:spLocks noChangeArrowheads="1"/>
            </p:cNvSpPr>
            <p:nvPr/>
          </p:nvSpPr>
          <p:spPr bwMode="auto">
            <a:xfrm>
              <a:off x="3208" y="3197"/>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Started-by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5" name="Freeform 81"/>
            <p:cNvSpPr>
              <a:spLocks/>
            </p:cNvSpPr>
            <p:nvPr/>
          </p:nvSpPr>
          <p:spPr bwMode="auto">
            <a:xfrm>
              <a:off x="1137" y="3554"/>
              <a:ext cx="336" cy="354"/>
            </a:xfrm>
            <a:custGeom>
              <a:avLst/>
              <a:gdLst/>
              <a:ahLst/>
              <a:cxnLst>
                <a:cxn ang="0">
                  <a:pos x="0" y="354"/>
                </a:cxn>
                <a:cxn ang="0">
                  <a:pos x="0" y="177"/>
                </a:cxn>
                <a:cxn ang="0">
                  <a:pos x="336" y="177"/>
                </a:cxn>
                <a:cxn ang="0">
                  <a:pos x="336" y="0"/>
                </a:cxn>
              </a:cxnLst>
              <a:rect l="0" t="0" r="r" b="b"/>
              <a:pathLst>
                <a:path w="336" h="354">
                  <a:moveTo>
                    <a:pt x="0" y="354"/>
                  </a:moveTo>
                  <a:lnTo>
                    <a:pt x="0" y="177"/>
                  </a:lnTo>
                  <a:lnTo>
                    <a:pt x="336" y="177"/>
                  </a:lnTo>
                  <a:lnTo>
                    <a:pt x="336"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6" name="Rectangle 82"/>
            <p:cNvSpPr>
              <a:spLocks noChangeArrowheads="1"/>
            </p:cNvSpPr>
            <p:nvPr/>
          </p:nvSpPr>
          <p:spPr bwMode="auto">
            <a:xfrm>
              <a:off x="1106" y="3646"/>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Paid-by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7" name="Freeform 83"/>
            <p:cNvSpPr>
              <a:spLocks/>
            </p:cNvSpPr>
            <p:nvPr/>
          </p:nvSpPr>
          <p:spPr bwMode="auto">
            <a:xfrm>
              <a:off x="1686" y="3554"/>
              <a:ext cx="348" cy="354"/>
            </a:xfrm>
            <a:custGeom>
              <a:avLst/>
              <a:gdLst/>
              <a:ahLst/>
              <a:cxnLst>
                <a:cxn ang="0">
                  <a:pos x="348" y="354"/>
                </a:cxn>
                <a:cxn ang="0">
                  <a:pos x="348" y="177"/>
                </a:cxn>
                <a:cxn ang="0">
                  <a:pos x="0" y="177"/>
                </a:cxn>
                <a:cxn ang="0">
                  <a:pos x="0" y="0"/>
                </a:cxn>
              </a:cxnLst>
              <a:rect l="0" t="0" r="r" b="b"/>
              <a:pathLst>
                <a:path w="348" h="354">
                  <a:moveTo>
                    <a:pt x="348" y="354"/>
                  </a:moveTo>
                  <a:lnTo>
                    <a:pt x="348" y="177"/>
                  </a:lnTo>
                  <a:lnTo>
                    <a:pt x="0" y="177"/>
                  </a:lnTo>
                  <a:lnTo>
                    <a:pt x="0"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8" name="Rectangle 84"/>
            <p:cNvSpPr>
              <a:spLocks noChangeArrowheads="1"/>
            </p:cNvSpPr>
            <p:nvPr/>
          </p:nvSpPr>
          <p:spPr bwMode="auto">
            <a:xfrm>
              <a:off x="1794" y="3629"/>
              <a:ext cx="39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Initiated-by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9" name="Freeform 85"/>
            <p:cNvSpPr>
              <a:spLocks/>
            </p:cNvSpPr>
            <p:nvPr/>
          </p:nvSpPr>
          <p:spPr bwMode="auto">
            <a:xfrm>
              <a:off x="1840" y="2556"/>
              <a:ext cx="713" cy="594"/>
            </a:xfrm>
            <a:custGeom>
              <a:avLst/>
              <a:gdLst/>
              <a:ahLst/>
              <a:cxnLst>
                <a:cxn ang="0">
                  <a:pos x="0" y="594"/>
                </a:cxn>
                <a:cxn ang="0">
                  <a:pos x="357" y="594"/>
                </a:cxn>
                <a:cxn ang="0">
                  <a:pos x="357" y="0"/>
                </a:cxn>
                <a:cxn ang="0">
                  <a:pos x="713" y="0"/>
                </a:cxn>
              </a:cxnLst>
              <a:rect l="0" t="0" r="r" b="b"/>
              <a:pathLst>
                <a:path w="713" h="594">
                  <a:moveTo>
                    <a:pt x="0" y="594"/>
                  </a:moveTo>
                  <a:lnTo>
                    <a:pt x="357" y="594"/>
                  </a:lnTo>
                  <a:lnTo>
                    <a:pt x="357" y="0"/>
                  </a:lnTo>
                  <a:lnTo>
                    <a:pt x="713"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0" name="Rectangle 86"/>
            <p:cNvSpPr>
              <a:spLocks noChangeArrowheads="1"/>
            </p:cNvSpPr>
            <p:nvPr/>
          </p:nvSpPr>
          <p:spPr bwMode="auto">
            <a:xfrm>
              <a:off x="2328" y="2706"/>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Logs-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1" name="Rectangle 87"/>
            <p:cNvSpPr>
              <a:spLocks noChangeArrowheads="1"/>
            </p:cNvSpPr>
            <p:nvPr/>
          </p:nvSpPr>
          <p:spPr bwMode="auto">
            <a:xfrm>
              <a:off x="2244" y="2801"/>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completed</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2" name="Rectangle 88"/>
            <p:cNvSpPr>
              <a:spLocks noChangeArrowheads="1"/>
            </p:cNvSpPr>
            <p:nvPr/>
          </p:nvSpPr>
          <p:spPr bwMode="auto">
            <a:xfrm>
              <a:off x="2405" y="28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6</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3" name="Rectangle 89"/>
            <p:cNvSpPr>
              <a:spLocks noChangeArrowheads="1"/>
            </p:cNvSpPr>
            <p:nvPr/>
          </p:nvSpPr>
          <p:spPr bwMode="auto">
            <a:xfrm>
              <a:off x="1868" y="300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4" name="Freeform 90"/>
            <p:cNvSpPr>
              <a:spLocks/>
            </p:cNvSpPr>
            <p:nvPr/>
          </p:nvSpPr>
          <p:spPr bwMode="auto">
            <a:xfrm>
              <a:off x="2814" y="3554"/>
              <a:ext cx="808" cy="354"/>
            </a:xfrm>
            <a:custGeom>
              <a:avLst/>
              <a:gdLst/>
              <a:ahLst/>
              <a:cxnLst>
                <a:cxn ang="0">
                  <a:pos x="0" y="0"/>
                </a:cxn>
                <a:cxn ang="0">
                  <a:pos x="0" y="177"/>
                </a:cxn>
                <a:cxn ang="0">
                  <a:pos x="808" y="177"/>
                </a:cxn>
                <a:cxn ang="0">
                  <a:pos x="808" y="354"/>
                </a:cxn>
              </a:cxnLst>
              <a:rect l="0" t="0" r="r" b="b"/>
              <a:pathLst>
                <a:path w="808" h="354">
                  <a:moveTo>
                    <a:pt x="0" y="0"/>
                  </a:moveTo>
                  <a:lnTo>
                    <a:pt x="0" y="177"/>
                  </a:lnTo>
                  <a:lnTo>
                    <a:pt x="808" y="177"/>
                  </a:lnTo>
                  <a:lnTo>
                    <a:pt x="808" y="35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5" name="Rectangle 91"/>
            <p:cNvSpPr>
              <a:spLocks noChangeArrowheads="1"/>
            </p:cNvSpPr>
            <p:nvPr/>
          </p:nvSpPr>
          <p:spPr bwMode="auto">
            <a:xfrm>
              <a:off x="2876" y="364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3</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6" name="Rectangle 92"/>
            <p:cNvSpPr>
              <a:spLocks noChangeArrowheads="1"/>
            </p:cNvSpPr>
            <p:nvPr/>
          </p:nvSpPr>
          <p:spPr bwMode="auto">
            <a:xfrm>
              <a:off x="2920" y="3645"/>
              <a:ext cx="65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 Records-sales-on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7" name="Rectangle 93"/>
            <p:cNvSpPr>
              <a:spLocks noChangeArrowheads="1"/>
            </p:cNvSpPr>
            <p:nvPr/>
          </p:nvSpPr>
          <p:spPr bwMode="auto">
            <a:xfrm>
              <a:off x="3114" y="169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8" name="Rectangle 94"/>
            <p:cNvSpPr>
              <a:spLocks noChangeArrowheads="1"/>
            </p:cNvSpPr>
            <p:nvPr/>
          </p:nvSpPr>
          <p:spPr bwMode="auto">
            <a:xfrm>
              <a:off x="2449"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9" name="Rectangle 95"/>
            <p:cNvSpPr>
              <a:spLocks noChangeArrowheads="1"/>
            </p:cNvSpPr>
            <p:nvPr/>
          </p:nvSpPr>
          <p:spPr bwMode="auto">
            <a:xfrm>
              <a:off x="2845" y="270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0" name="Rectangle 96"/>
            <p:cNvSpPr>
              <a:spLocks noChangeArrowheads="1"/>
            </p:cNvSpPr>
            <p:nvPr/>
          </p:nvSpPr>
          <p:spPr bwMode="auto">
            <a:xfrm>
              <a:off x="3114"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1" name="Rectangle 97"/>
            <p:cNvSpPr>
              <a:spLocks noChangeArrowheads="1"/>
            </p:cNvSpPr>
            <p:nvPr/>
          </p:nvSpPr>
          <p:spPr bwMode="auto">
            <a:xfrm>
              <a:off x="4049" y="124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2" name="Rectangle 98"/>
            <p:cNvSpPr>
              <a:spLocks noChangeArrowheads="1"/>
            </p:cNvSpPr>
            <p:nvPr/>
          </p:nvSpPr>
          <p:spPr bwMode="auto">
            <a:xfrm>
              <a:off x="4355" y="244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3" name="Rectangle 99"/>
            <p:cNvSpPr>
              <a:spLocks noChangeArrowheads="1"/>
            </p:cNvSpPr>
            <p:nvPr/>
          </p:nvSpPr>
          <p:spPr bwMode="auto">
            <a:xfrm>
              <a:off x="3601" y="328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4" name="Rectangle 100"/>
            <p:cNvSpPr>
              <a:spLocks noChangeArrowheads="1"/>
            </p:cNvSpPr>
            <p:nvPr/>
          </p:nvSpPr>
          <p:spPr bwMode="auto">
            <a:xfrm>
              <a:off x="3114" y="3304"/>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5" name="Rectangle 101"/>
            <p:cNvSpPr>
              <a:spLocks noChangeArrowheads="1"/>
            </p:cNvSpPr>
            <p:nvPr/>
          </p:nvSpPr>
          <p:spPr bwMode="auto">
            <a:xfrm>
              <a:off x="3654"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6" name="Rectangle 102"/>
            <p:cNvSpPr>
              <a:spLocks noChangeArrowheads="1"/>
            </p:cNvSpPr>
            <p:nvPr/>
          </p:nvSpPr>
          <p:spPr bwMode="auto">
            <a:xfrm>
              <a:off x="2739"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7" name="Rectangle 103"/>
            <p:cNvSpPr>
              <a:spLocks noChangeArrowheads="1"/>
            </p:cNvSpPr>
            <p:nvPr/>
          </p:nvSpPr>
          <p:spPr bwMode="auto">
            <a:xfrm>
              <a:off x="2066"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8" name="Rectangle 104"/>
            <p:cNvSpPr>
              <a:spLocks noChangeArrowheads="1"/>
            </p:cNvSpPr>
            <p:nvPr/>
          </p:nvSpPr>
          <p:spPr bwMode="auto">
            <a:xfrm>
              <a:off x="1741" y="355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9" name="Rectangle 105"/>
            <p:cNvSpPr>
              <a:spLocks noChangeArrowheads="1"/>
            </p:cNvSpPr>
            <p:nvPr/>
          </p:nvSpPr>
          <p:spPr bwMode="auto">
            <a:xfrm>
              <a:off x="1061"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0" name="Rectangle 106"/>
            <p:cNvSpPr>
              <a:spLocks noChangeArrowheads="1"/>
            </p:cNvSpPr>
            <p:nvPr/>
          </p:nvSpPr>
          <p:spPr bwMode="auto">
            <a:xfrm>
              <a:off x="1503"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1" name="Rectangle 107"/>
            <p:cNvSpPr>
              <a:spLocks noChangeArrowheads="1"/>
            </p:cNvSpPr>
            <p:nvPr/>
          </p:nvSpPr>
          <p:spPr bwMode="auto">
            <a:xfrm>
              <a:off x="1611" y="288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2" name="Rectangle 108"/>
            <p:cNvSpPr>
              <a:spLocks noChangeArrowheads="1"/>
            </p:cNvSpPr>
            <p:nvPr/>
          </p:nvSpPr>
          <p:spPr bwMode="auto">
            <a:xfrm>
              <a:off x="1873"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3" name="Rectangle 109"/>
            <p:cNvSpPr>
              <a:spLocks noChangeArrowheads="1"/>
            </p:cNvSpPr>
            <p:nvPr/>
          </p:nvSpPr>
          <p:spPr bwMode="auto">
            <a:xfrm>
              <a:off x="2449"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4" name="Rectangle 110"/>
            <p:cNvSpPr>
              <a:spLocks noChangeArrowheads="1"/>
            </p:cNvSpPr>
            <p:nvPr/>
          </p:nvSpPr>
          <p:spPr bwMode="auto">
            <a:xfrm>
              <a:off x="2739" y="191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grpSp>
    </p:spTree>
    <p:extLst>
      <p:ext uri="{BB962C8B-B14F-4D97-AF65-F5344CB8AC3E}">
        <p14:creationId xmlns:p14="http://schemas.microsoft.com/office/powerpoint/2010/main" val="21744953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74152" name="Rectangle 774151">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4154" name="Rectangle 774153">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74156" name="Rectangle 774155">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74158" name="Rectangle 774157">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74160" name="Freeform: Shape 774159">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774146" name="Rectangle 2"/>
          <p:cNvSpPr>
            <a:spLocks noGrp="1" noChangeArrowheads="1"/>
          </p:cNvSpPr>
          <p:nvPr>
            <p:ph type="title"/>
          </p:nvPr>
        </p:nvSpPr>
        <p:spPr>
          <a:xfrm>
            <a:off x="660041" y="2767106"/>
            <a:ext cx="2880828" cy="3071906"/>
          </a:xfrm>
        </p:spPr>
        <p:txBody>
          <a:bodyPr vert="horz" lIns="91440" tIns="45720" rIns="91440" bIns="45720" rtlCol="0" anchor="t">
            <a:normAutofit/>
          </a:bodyPr>
          <a:lstStyle/>
          <a:p>
            <a:r>
              <a:rPr lang="en-US" altLang="en-US" sz="4000" kern="1200" dirty="0">
                <a:solidFill>
                  <a:srgbClr val="FFFFFF"/>
                </a:solidFill>
                <a:latin typeface="+mj-lt"/>
                <a:ea typeface="+mj-ea"/>
                <a:cs typeface="+mj-cs"/>
              </a:rPr>
              <a:t>Example (Operation Contract for </a:t>
            </a:r>
            <a:r>
              <a:rPr lang="en-US" altLang="en-US" sz="4000" i="1" kern="1200" dirty="0" err="1">
                <a:solidFill>
                  <a:srgbClr val="FFFFFF"/>
                </a:solidFill>
                <a:latin typeface="+mj-lt"/>
                <a:ea typeface="+mj-ea"/>
                <a:cs typeface="+mj-cs"/>
              </a:rPr>
              <a:t>enterItem</a:t>
            </a:r>
            <a:r>
              <a:rPr lang="en-US" altLang="en-US" sz="4000" kern="1200" dirty="0">
                <a:solidFill>
                  <a:srgbClr val="FFFFFF"/>
                </a:solidFill>
                <a:latin typeface="+mj-lt"/>
                <a:ea typeface="+mj-ea"/>
                <a:cs typeface="+mj-cs"/>
              </a:rPr>
              <a:t>)</a:t>
            </a:r>
          </a:p>
        </p:txBody>
      </p:sp>
      <p:pic>
        <p:nvPicPr>
          <p:cNvPr id="774147" name="Picture 3" descr="contract"/>
          <p:cNvPicPr>
            <a:picLocks noGrp="1" noChangeAspect="1" noChangeArrowheads="1"/>
          </p:cNvPicPr>
          <p:nvPr>
            <p:ph idx="1"/>
          </p:nvPr>
        </p:nvPicPr>
        <p:blipFill>
          <a:blip r:embed="rId3"/>
          <a:stretch>
            <a:fillRect/>
          </a:stretch>
        </p:blipFill>
        <p:spPr>
          <a:xfrm>
            <a:off x="4502428" y="493540"/>
            <a:ext cx="7225748" cy="5870920"/>
          </a:xfrm>
          <a:prstGeom prst="rect">
            <a:avLst/>
          </a:prstGeom>
          <a:noFill/>
        </p:spPr>
      </p:pic>
      <p:sp>
        <p:nvSpPr>
          <p:cNvPr id="4" name="Slide Number Placeholder 3"/>
          <p:cNvSpPr>
            <a:spLocks noGrp="1"/>
          </p:cNvSpPr>
          <p:nvPr>
            <p:ph type="sldNum" sz="quarter" idx="10"/>
          </p:nvPr>
        </p:nvSpPr>
        <p:spPr>
          <a:xfrm>
            <a:off x="11704319" y="6455664"/>
            <a:ext cx="448056" cy="365125"/>
          </a:xfrm>
        </p:spPr>
        <p:txBody>
          <a:bodyPr vert="horz" lIns="91440" tIns="45720" rIns="91440" bIns="45720" rtlCol="0" anchor="ctr">
            <a:normAutofit/>
          </a:bodyPr>
          <a:lstStyle/>
          <a:p>
            <a:pPr algn="r">
              <a:spcAft>
                <a:spcPts val="600"/>
              </a:spcAft>
            </a:pPr>
            <a:fld id="{B4DA01F8-02BC-447E-BCC7-96AFC80205E3}" type="slidenum">
              <a:rPr lang="en-US" sz="1100">
                <a:solidFill>
                  <a:schemeClr val="tx1">
                    <a:lumMod val="50000"/>
                    <a:lumOff val="50000"/>
                  </a:schemeClr>
                </a:solidFill>
              </a:rPr>
              <a:pPr algn="r">
                <a:spcAft>
                  <a:spcPts val="600"/>
                </a:spcAft>
              </a:pPr>
              <a:t>11</a:t>
            </a:fld>
            <a:endParaRPr lang="en-US" sz="1100">
              <a:solidFill>
                <a:schemeClr val="tx1">
                  <a:lumMod val="50000"/>
                  <a:lumOff val="50000"/>
                </a:schemeClr>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A810875E-4B80-38DF-0444-F274C38B9459}"/>
              </a:ext>
            </a:extLst>
          </p:cNvPr>
          <p:cNvSpPr>
            <a:spLocks noGrp="1"/>
          </p:cNvSpPr>
          <p:nvPr>
            <p:ph type="title"/>
          </p:nvPr>
        </p:nvSpPr>
        <p:spPr>
          <a:xfrm>
            <a:off x="1371599" y="294538"/>
            <a:ext cx="9895951" cy="1033669"/>
          </a:xfrm>
        </p:spPr>
        <p:txBody>
          <a:bodyPr>
            <a:normAutofit/>
          </a:bodyPr>
          <a:lstStyle/>
          <a:p>
            <a:r>
              <a:rPr lang="en-US" sz="4000" dirty="0">
                <a:solidFill>
                  <a:srgbClr val="FFFFFF"/>
                </a:solidFill>
              </a:rPr>
              <a:t>In Practice: When to write operations contracts</a:t>
            </a:r>
          </a:p>
        </p:txBody>
      </p:sp>
      <p:sp>
        <p:nvSpPr>
          <p:cNvPr id="3" name="Content Placeholder 2">
            <a:extLst>
              <a:ext uri="{FF2B5EF4-FFF2-40B4-BE49-F238E27FC236}">
                <a16:creationId xmlns:a16="http://schemas.microsoft.com/office/drawing/2014/main" id="{13A9217F-28F9-F969-62E1-ED24A396ACE7}"/>
              </a:ext>
            </a:extLst>
          </p:cNvPr>
          <p:cNvSpPr>
            <a:spLocks noGrp="1"/>
          </p:cNvSpPr>
          <p:nvPr>
            <p:ph idx="1"/>
          </p:nvPr>
        </p:nvSpPr>
        <p:spPr>
          <a:xfrm>
            <a:off x="229675" y="1789028"/>
            <a:ext cx="11732646" cy="4828970"/>
          </a:xfrm>
        </p:spPr>
        <p:txBody>
          <a:bodyPr anchor="ctr">
            <a:normAutofit/>
          </a:bodyPr>
          <a:lstStyle/>
          <a:p>
            <a:pPr marL="0" marR="0" lvl="0" indent="0" defTabSz="914400" rtl="0" eaLnBrk="0" fontAlgn="base" latinLnBrk="0" hangingPunct="0">
              <a:spcBef>
                <a:spcPct val="0"/>
              </a:spcBef>
              <a:spcAft>
                <a:spcPct val="0"/>
              </a:spcAft>
              <a:buClrTx/>
              <a:buSzTx/>
              <a:buFontTx/>
              <a:buChar char="•"/>
              <a:tabLst/>
            </a:pPr>
            <a:r>
              <a:rPr kumimoji="0" lang="en-US" altLang="en-US" sz="2200" b="1" i="0" u="none" strike="noStrike" cap="none" normalizeH="0" baseline="0" dirty="0">
                <a:ln>
                  <a:noFill/>
                </a:ln>
                <a:solidFill>
                  <a:srgbClr val="00B050"/>
                </a:solidFill>
                <a:effectLst/>
                <a:latin typeface="Arial" panose="020B0604020202020204" pitchFamily="34" charset="0"/>
              </a:rPr>
              <a:t>Complex or Critical Operations</a:t>
            </a:r>
            <a:r>
              <a:rPr kumimoji="0" lang="en-US" altLang="en-US" sz="2200" b="1" i="0" u="none" strike="noStrike" cap="none" normalizeH="0" baseline="0" dirty="0">
                <a:ln>
                  <a:noFill/>
                </a:ln>
                <a:effectLst/>
                <a:latin typeface="Arial" panose="020B0604020202020204" pitchFamily="34" charset="0"/>
              </a:rPr>
              <a:t>:</a:t>
            </a:r>
            <a:r>
              <a:rPr kumimoji="0" lang="en-US" altLang="en-US" sz="2200" b="0" i="0" u="none" strike="noStrike" cap="none" normalizeH="0" baseline="0" dirty="0">
                <a:ln>
                  <a:noFill/>
                </a:ln>
                <a:effectLst/>
                <a:latin typeface="Arial" panose="020B0604020202020204" pitchFamily="34" charset="0"/>
              </a:rPr>
              <a:t> If an operation involves complex logic, significant side effects, or critical business rules, a detailed contract can serve as a guide for implementation and testing.</a:t>
            </a:r>
          </a:p>
          <a:p>
            <a:pPr marL="0" marR="0" lvl="0" indent="0" defTabSz="914400" rtl="0" eaLnBrk="0" fontAlgn="base" latinLnBrk="0" hangingPunct="0">
              <a:spcBef>
                <a:spcPct val="0"/>
              </a:spcBef>
              <a:spcAft>
                <a:spcPct val="0"/>
              </a:spcAft>
              <a:buClrTx/>
              <a:buSzTx/>
              <a:buFontTx/>
              <a:buChar char="•"/>
              <a:tabLst/>
            </a:pPr>
            <a:endParaRPr kumimoji="0" lang="en-US" altLang="en-US" sz="2200" b="0"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ct val="0"/>
              </a:spcAft>
              <a:buClrTx/>
              <a:buSzTx/>
              <a:buFontTx/>
              <a:buChar char="•"/>
              <a:tabLst/>
            </a:pPr>
            <a:endParaRPr kumimoji="0" lang="en-US" altLang="en-US" sz="2200" b="1"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ct val="0"/>
              </a:spcAft>
              <a:buClrTx/>
              <a:buSzTx/>
              <a:buFontTx/>
              <a:buChar char="•"/>
              <a:tabLst/>
            </a:pPr>
            <a:r>
              <a:rPr kumimoji="0" lang="en-US" altLang="en-US" sz="2200" b="1" i="0" u="none" strike="noStrike" cap="none" normalizeH="0" baseline="0" dirty="0">
                <a:ln>
                  <a:noFill/>
                </a:ln>
                <a:solidFill>
                  <a:srgbClr val="C00000"/>
                </a:solidFill>
                <a:effectLst/>
                <a:latin typeface="Arial" panose="020B0604020202020204" pitchFamily="34" charset="0"/>
              </a:rPr>
              <a:t>When It May Not Be Necessary</a:t>
            </a:r>
            <a:r>
              <a:rPr kumimoji="0" lang="en-US" altLang="en-US" sz="2200" b="1" i="0" u="none" strike="noStrike" cap="none" normalizeH="0" baseline="0" dirty="0">
                <a:ln>
                  <a:noFill/>
                </a:ln>
                <a:effectLst/>
                <a:latin typeface="Arial" panose="020B0604020202020204" pitchFamily="34" charset="0"/>
              </a:rPr>
              <a:t>:</a:t>
            </a:r>
          </a:p>
          <a:p>
            <a:pPr marL="0" marR="0" lvl="0" indent="0" defTabSz="914400" rtl="0" eaLnBrk="0" fontAlgn="base" latinLnBrk="0" hangingPunct="0">
              <a:spcBef>
                <a:spcPct val="0"/>
              </a:spcBef>
              <a:spcAft>
                <a:spcPct val="0"/>
              </a:spcAft>
              <a:buClrTx/>
              <a:buSzTx/>
              <a:buFontTx/>
              <a:buChar char="•"/>
              <a:tabLst/>
            </a:pPr>
            <a:endParaRPr kumimoji="0" lang="en-US" altLang="en-US" sz="2200" b="0"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ct val="0"/>
              </a:spcAft>
              <a:buClrTx/>
              <a:buSzTx/>
              <a:buFontTx/>
              <a:buChar char="•"/>
              <a:tabLst/>
            </a:pPr>
            <a:r>
              <a:rPr kumimoji="0" lang="en-US" altLang="en-US" sz="2200" b="1" i="0" u="none" strike="noStrike" cap="none" normalizeH="0" baseline="0" dirty="0">
                <a:ln>
                  <a:noFill/>
                </a:ln>
                <a:solidFill>
                  <a:srgbClr val="C00000"/>
                </a:solidFill>
                <a:effectLst/>
                <a:latin typeface="Arial" panose="020B0604020202020204" pitchFamily="34" charset="0"/>
              </a:rPr>
              <a:t>Trivial or Internal Operations</a:t>
            </a:r>
            <a:r>
              <a:rPr kumimoji="0" lang="en-US" altLang="en-US" sz="2200" b="1" i="0" u="none" strike="noStrike" cap="none" normalizeH="0" baseline="0" dirty="0">
                <a:ln>
                  <a:noFill/>
                </a:ln>
                <a:effectLst/>
                <a:latin typeface="Arial" panose="020B0604020202020204" pitchFamily="34" charset="0"/>
              </a:rPr>
              <a:t>:</a:t>
            </a:r>
            <a:r>
              <a:rPr kumimoji="0" lang="en-US" altLang="en-US" sz="2200" b="0" i="0" u="none" strike="noStrike" cap="none" normalizeH="0" baseline="0" dirty="0">
                <a:ln>
                  <a:noFill/>
                </a:ln>
                <a:effectLst/>
                <a:latin typeface="Arial" panose="020B0604020202020204" pitchFamily="34" charset="0"/>
              </a:rPr>
              <a:t> For simple, self-contained operations (especially those that are internal helpers or that have obvious behavior), a full formal contract might be overkill.</a:t>
            </a:r>
          </a:p>
          <a:p>
            <a:pPr marL="0" marR="0" lvl="0" indent="0" defTabSz="914400" rtl="0" eaLnBrk="0" fontAlgn="base" latinLnBrk="0" hangingPunct="0">
              <a:spcBef>
                <a:spcPct val="0"/>
              </a:spcBef>
              <a:spcAft>
                <a:spcPct val="0"/>
              </a:spcAft>
              <a:buClrTx/>
              <a:buSzTx/>
              <a:buNone/>
              <a:tabLst/>
            </a:pPr>
            <a:endParaRPr kumimoji="0" lang="en-US" altLang="en-US" sz="2200" b="0" i="0" u="none" strike="noStrike" cap="none" normalizeH="0" baseline="0" dirty="0">
              <a:ln>
                <a:noFill/>
              </a:ln>
              <a:effectLst/>
              <a:latin typeface="Arial" panose="020B0604020202020204" pitchFamily="34" charset="0"/>
            </a:endParaRPr>
          </a:p>
          <a:p>
            <a:pPr marL="0" marR="0" lvl="0" indent="0" defTabSz="914400" rtl="0" eaLnBrk="0" fontAlgn="base" latinLnBrk="0" hangingPunct="0">
              <a:spcBef>
                <a:spcPct val="0"/>
              </a:spcBef>
              <a:spcAft>
                <a:spcPct val="0"/>
              </a:spcAft>
              <a:buClrTx/>
              <a:buSzTx/>
              <a:buFontTx/>
              <a:buChar char="•"/>
              <a:tabLst/>
            </a:pPr>
            <a:r>
              <a:rPr kumimoji="0" lang="en-US" altLang="en-US" sz="2200" b="1" i="0" u="none" strike="noStrike" cap="none" normalizeH="0" baseline="0" dirty="0">
                <a:ln>
                  <a:noFill/>
                </a:ln>
                <a:solidFill>
                  <a:srgbClr val="C00000"/>
                </a:solidFill>
                <a:effectLst/>
                <a:latin typeface="Arial" panose="020B0604020202020204" pitchFamily="34" charset="0"/>
              </a:rPr>
              <a:t>Low-Risk Operations</a:t>
            </a:r>
            <a:r>
              <a:rPr kumimoji="0" lang="en-US" altLang="en-US" sz="2200" b="1" i="0" u="none" strike="noStrike" cap="none" normalizeH="0" baseline="0" dirty="0">
                <a:ln>
                  <a:noFill/>
                </a:ln>
                <a:effectLst/>
                <a:latin typeface="Arial" panose="020B0604020202020204" pitchFamily="34" charset="0"/>
              </a:rPr>
              <a:t>:</a:t>
            </a:r>
            <a:r>
              <a:rPr kumimoji="0" lang="en-US" altLang="en-US" sz="2200" b="0" i="0" u="none" strike="noStrike" cap="none" normalizeH="0" baseline="0" dirty="0">
                <a:ln>
                  <a:noFill/>
                </a:ln>
                <a:effectLst/>
                <a:latin typeface="Arial" panose="020B0604020202020204" pitchFamily="34" charset="0"/>
              </a:rPr>
              <a:t> If an operation’s behavior is straightforward and unlikely to cause issues, you might choose to document it more informally or rely on clear code implementation instead of a formal contract.</a:t>
            </a:r>
          </a:p>
          <a:p>
            <a:endParaRPr lang="en-US" sz="1700" dirty="0"/>
          </a:p>
        </p:txBody>
      </p:sp>
    </p:spTree>
    <p:extLst>
      <p:ext uri="{BB962C8B-B14F-4D97-AF65-F5344CB8AC3E}">
        <p14:creationId xmlns:p14="http://schemas.microsoft.com/office/powerpoint/2010/main" val="36040490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43" name="Rectangle 2">
            <a:extLst>
              <a:ext uri="{FF2B5EF4-FFF2-40B4-BE49-F238E27FC236}">
                <a16:creationId xmlns:a16="http://schemas.microsoft.com/office/drawing/2014/main" id="{DFDB1BB9-6BCD-9E1B-05D6-622FC08BC20A}"/>
              </a:ext>
            </a:extLst>
          </p:cNvPr>
          <p:cNvSpPr>
            <a:spLocks noGrp="1" noChangeArrowheads="1"/>
          </p:cNvSpPr>
          <p:nvPr>
            <p:ph type="title"/>
          </p:nvPr>
        </p:nvSpPr>
        <p:spPr>
          <a:xfrm>
            <a:off x="5868557" y="1138036"/>
            <a:ext cx="5444382" cy="1402470"/>
          </a:xfrm>
        </p:spPr>
        <p:txBody>
          <a:bodyPr anchor="t">
            <a:normAutofit/>
          </a:bodyPr>
          <a:lstStyle/>
          <a:p>
            <a:r>
              <a:rPr lang="en-US" altLang="en-US" sz="3200" dirty="0"/>
              <a:t>Software Architecture Styles</a:t>
            </a:r>
          </a:p>
        </p:txBody>
      </p:sp>
      <p:pic>
        <p:nvPicPr>
          <p:cNvPr id="10246" name="Picture 10245" descr="Silhouette of a construction site">
            <a:extLst>
              <a:ext uri="{FF2B5EF4-FFF2-40B4-BE49-F238E27FC236}">
                <a16:creationId xmlns:a16="http://schemas.microsoft.com/office/drawing/2014/main" id="{E4E30EF5-8770-E46E-5FB4-ED85B98ACD61}"/>
              </a:ext>
            </a:extLst>
          </p:cNvPr>
          <p:cNvPicPr>
            <a:picLocks noChangeAspect="1"/>
          </p:cNvPicPr>
          <p:nvPr/>
        </p:nvPicPr>
        <p:blipFill>
          <a:blip r:embed="rId3">
            <a:extLst>
              <a:ext uri="{28A0092B-C50C-407E-A947-70E740481C1C}">
                <a14:useLocalDpi xmlns:a14="http://schemas.microsoft.com/office/drawing/2010/main" val="0"/>
              </a:ext>
            </a:extLst>
          </a:blip>
          <a:srcRect l="24969" r="24969"/>
          <a:stretch/>
        </p:blipFill>
        <p:spPr>
          <a:xfrm>
            <a:off x="-1" y="0"/>
            <a:ext cx="5151179" cy="6857990"/>
          </a:xfrm>
          <a:prstGeom prst="rect">
            <a:avLst/>
          </a:prstGeom>
        </p:spPr>
      </p:pic>
      <p:cxnSp>
        <p:nvCxnSpPr>
          <p:cNvPr id="10250" name="Straight Connector 10249">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10244" name="Rectangle 3">
            <a:extLst>
              <a:ext uri="{FF2B5EF4-FFF2-40B4-BE49-F238E27FC236}">
                <a16:creationId xmlns:a16="http://schemas.microsoft.com/office/drawing/2014/main" id="{B6AC82EC-E5CB-F6DD-1E34-BE2A02807413}"/>
              </a:ext>
            </a:extLst>
          </p:cNvPr>
          <p:cNvSpPr>
            <a:spLocks noGrp="1" noChangeArrowheads="1"/>
          </p:cNvSpPr>
          <p:nvPr>
            <p:ph type="body" idx="1"/>
          </p:nvPr>
        </p:nvSpPr>
        <p:spPr>
          <a:xfrm>
            <a:off x="5591332" y="1813810"/>
            <a:ext cx="6438986" cy="4907665"/>
          </a:xfrm>
        </p:spPr>
        <p:txBody>
          <a:bodyPr>
            <a:normAutofit/>
          </a:bodyPr>
          <a:lstStyle/>
          <a:p>
            <a:pPr marL="342900" indent="-342900"/>
            <a:r>
              <a:rPr lang="en-US" altLang="en-US" sz="3300" dirty="0"/>
              <a:t>Data Centered</a:t>
            </a:r>
          </a:p>
          <a:p>
            <a:pPr marL="342900" indent="-342900"/>
            <a:r>
              <a:rPr lang="en-US" altLang="en-US" sz="3300" dirty="0"/>
              <a:t>Data Flow</a:t>
            </a:r>
          </a:p>
          <a:p>
            <a:pPr marL="342900" indent="-342900"/>
            <a:r>
              <a:rPr lang="en-US" altLang="en-US" sz="3300" dirty="0"/>
              <a:t>Call and Return</a:t>
            </a:r>
          </a:p>
          <a:p>
            <a:pPr marL="342900" indent="-342900"/>
            <a:r>
              <a:rPr lang="en-US" altLang="en-US" sz="3300" b="1" dirty="0"/>
              <a:t>Object Oriented</a:t>
            </a:r>
          </a:p>
          <a:p>
            <a:pPr marL="342900" indent="-342900"/>
            <a:r>
              <a:rPr lang="en-US" altLang="en-US" sz="3300" dirty="0"/>
              <a:t>Layered</a:t>
            </a:r>
          </a:p>
          <a:p>
            <a:pPr marL="342900" indent="-342900"/>
            <a:endParaRPr lang="en-US" altLang="en-US" sz="3300" dirty="0"/>
          </a:p>
          <a:p>
            <a:pPr marL="342900" indent="-342900"/>
            <a:r>
              <a:rPr lang="en-US" altLang="en-US" sz="3300" dirty="0"/>
              <a:t>A system may use a combination of the styles.</a:t>
            </a:r>
          </a:p>
        </p:txBody>
      </p:sp>
      <p:sp>
        <p:nvSpPr>
          <p:cNvPr id="10242" name="Slide Number Placeholder 3">
            <a:extLst>
              <a:ext uri="{FF2B5EF4-FFF2-40B4-BE49-F238E27FC236}">
                <a16:creationId xmlns:a16="http://schemas.microsoft.com/office/drawing/2014/main" id="{7A836BBC-CFD7-D531-1A4D-720A8B6669B1}"/>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CAB30DE9-DFFF-4589-94E0-06D494FAC6D0}" type="slidenum">
              <a:rPr lang="de-DE" altLang="en-US" sz="1900">
                <a:solidFill>
                  <a:schemeClr val="tx1">
                    <a:lumMod val="50000"/>
                    <a:lumOff val="50000"/>
                  </a:schemeClr>
                </a:solidFill>
              </a:rPr>
              <a:pPr>
                <a:lnSpc>
                  <a:spcPct val="90000"/>
                </a:lnSpc>
                <a:spcAft>
                  <a:spcPts val="600"/>
                </a:spcAft>
              </a:pPr>
              <a:t>13</a:t>
            </a:fld>
            <a:endParaRPr lang="de-DE" altLang="en-US" sz="1900">
              <a:solidFill>
                <a:schemeClr val="tx1">
                  <a:lumMod val="50000"/>
                  <a:lumOff val="50000"/>
                </a:schemeClr>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66EA59E-544A-5D6A-B3C2-A923DD21E388}"/>
            </a:ext>
          </a:extLst>
        </p:cNvPr>
        <p:cNvGrpSpPr/>
        <p:nvPr/>
      </p:nvGrpSpPr>
      <p:grpSpPr>
        <a:xfrm>
          <a:off x="0" y="0"/>
          <a:ext cx="0" cy="0"/>
          <a:chOff x="0" y="0"/>
          <a:chExt cx="0" cy="0"/>
        </a:xfrm>
      </p:grpSpPr>
      <p:sp>
        <p:nvSpPr>
          <p:cNvPr id="7171" name="Rectangle 2">
            <a:extLst>
              <a:ext uri="{FF2B5EF4-FFF2-40B4-BE49-F238E27FC236}">
                <a16:creationId xmlns:a16="http://schemas.microsoft.com/office/drawing/2014/main" id="{C843BA94-6C95-F9D5-9BFB-99082B2B5057}"/>
              </a:ext>
            </a:extLst>
          </p:cNvPr>
          <p:cNvSpPr>
            <a:spLocks noGrp="1" noChangeArrowheads="1"/>
          </p:cNvSpPr>
          <p:nvPr>
            <p:ph type="title"/>
          </p:nvPr>
        </p:nvSpPr>
        <p:spPr>
          <a:xfrm>
            <a:off x="751931" y="1177453"/>
            <a:ext cx="3056625" cy="2909296"/>
          </a:xfrm>
        </p:spPr>
        <p:txBody>
          <a:bodyPr anchor="t">
            <a:normAutofit/>
          </a:bodyPr>
          <a:lstStyle/>
          <a:p>
            <a:r>
              <a:rPr lang="en-US" altLang="en-US" sz="3200" dirty="0"/>
              <a:t>Data Centered Architecture</a:t>
            </a:r>
          </a:p>
        </p:txBody>
      </p:sp>
      <p:cxnSp>
        <p:nvCxnSpPr>
          <p:cNvPr id="7177" name="Straight Connector 7176">
            <a:extLst>
              <a:ext uri="{FF2B5EF4-FFF2-40B4-BE49-F238E27FC236}">
                <a16:creationId xmlns:a16="http://schemas.microsoft.com/office/drawing/2014/main" id="{7117FB92-6B81-9EAC-CC9C-B73218EA059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170" name="Slide Number Placeholder 3">
            <a:extLst>
              <a:ext uri="{FF2B5EF4-FFF2-40B4-BE49-F238E27FC236}">
                <a16:creationId xmlns:a16="http://schemas.microsoft.com/office/drawing/2014/main" id="{1D358D3C-1753-26E0-64A8-C7DB2CFD76EF}"/>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7347A960-0C76-4BC4-82DD-63EFCA24FEF7}" type="slidenum">
              <a:rPr lang="de-DE" altLang="en-US" sz="1900"/>
              <a:pPr>
                <a:lnSpc>
                  <a:spcPct val="90000"/>
                </a:lnSpc>
                <a:spcAft>
                  <a:spcPts val="600"/>
                </a:spcAft>
              </a:pPr>
              <a:t>14</a:t>
            </a:fld>
            <a:endParaRPr lang="de-DE" altLang="en-US" sz="1900"/>
          </a:p>
        </p:txBody>
      </p:sp>
      <p:pic>
        <p:nvPicPr>
          <p:cNvPr id="5" name="Picture 4" descr="Diagram of software&#10;&#10;AI-generated content may be incorrect.">
            <a:extLst>
              <a:ext uri="{FF2B5EF4-FFF2-40B4-BE49-F238E27FC236}">
                <a16:creationId xmlns:a16="http://schemas.microsoft.com/office/drawing/2014/main" id="{40131CDA-924B-AFEF-DEAD-F97CE7B149A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8556" y="982467"/>
            <a:ext cx="7772400" cy="4698080"/>
          </a:xfrm>
          <a:prstGeom prst="rect">
            <a:avLst/>
          </a:prstGeom>
        </p:spPr>
      </p:pic>
    </p:spTree>
    <p:extLst>
      <p:ext uri="{BB962C8B-B14F-4D97-AF65-F5344CB8AC3E}">
        <p14:creationId xmlns:p14="http://schemas.microsoft.com/office/powerpoint/2010/main" val="2377361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AED3921-EC25-3223-6B42-6E6E22A5E298}"/>
            </a:ext>
          </a:extLst>
        </p:cNvPr>
        <p:cNvGrpSpPr/>
        <p:nvPr/>
      </p:nvGrpSpPr>
      <p:grpSpPr>
        <a:xfrm>
          <a:off x="0" y="0"/>
          <a:ext cx="0" cy="0"/>
          <a:chOff x="0" y="0"/>
          <a:chExt cx="0" cy="0"/>
        </a:xfrm>
      </p:grpSpPr>
      <p:sp>
        <p:nvSpPr>
          <p:cNvPr id="7171" name="Rectangle 2">
            <a:extLst>
              <a:ext uri="{FF2B5EF4-FFF2-40B4-BE49-F238E27FC236}">
                <a16:creationId xmlns:a16="http://schemas.microsoft.com/office/drawing/2014/main" id="{BAFD4207-4B5C-561A-7DBB-E1C8D5F55AD3}"/>
              </a:ext>
            </a:extLst>
          </p:cNvPr>
          <p:cNvSpPr>
            <a:spLocks noGrp="1" noChangeArrowheads="1"/>
          </p:cNvSpPr>
          <p:nvPr>
            <p:ph type="title"/>
          </p:nvPr>
        </p:nvSpPr>
        <p:spPr>
          <a:xfrm>
            <a:off x="751931" y="1177453"/>
            <a:ext cx="3056625" cy="2909296"/>
          </a:xfrm>
        </p:spPr>
        <p:txBody>
          <a:bodyPr anchor="t">
            <a:normAutofit/>
          </a:bodyPr>
          <a:lstStyle/>
          <a:p>
            <a:r>
              <a:rPr lang="en-US" altLang="en-US" sz="3200" dirty="0"/>
              <a:t>Data Flow Architecture</a:t>
            </a:r>
          </a:p>
        </p:txBody>
      </p:sp>
      <p:cxnSp>
        <p:nvCxnSpPr>
          <p:cNvPr id="7177" name="Straight Connector 7176">
            <a:extLst>
              <a:ext uri="{FF2B5EF4-FFF2-40B4-BE49-F238E27FC236}">
                <a16:creationId xmlns:a16="http://schemas.microsoft.com/office/drawing/2014/main" id="{4F5CB93F-7C6E-6A77-0296-7207F13DB64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170" name="Slide Number Placeholder 3">
            <a:extLst>
              <a:ext uri="{FF2B5EF4-FFF2-40B4-BE49-F238E27FC236}">
                <a16:creationId xmlns:a16="http://schemas.microsoft.com/office/drawing/2014/main" id="{824019F6-58D3-9005-8F15-9EC84DEED7E4}"/>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7347A960-0C76-4BC4-82DD-63EFCA24FEF7}" type="slidenum">
              <a:rPr lang="de-DE" altLang="en-US" sz="1900"/>
              <a:pPr>
                <a:lnSpc>
                  <a:spcPct val="90000"/>
                </a:lnSpc>
                <a:spcAft>
                  <a:spcPts val="600"/>
                </a:spcAft>
              </a:pPr>
              <a:t>15</a:t>
            </a:fld>
            <a:endParaRPr lang="de-DE" altLang="en-US" sz="1900"/>
          </a:p>
        </p:txBody>
      </p:sp>
      <p:pic>
        <p:nvPicPr>
          <p:cNvPr id="3" name="Picture 2" descr="A diagram of a filter&#10;&#10;AI-generated content may be incorrect.">
            <a:extLst>
              <a:ext uri="{FF2B5EF4-FFF2-40B4-BE49-F238E27FC236}">
                <a16:creationId xmlns:a16="http://schemas.microsoft.com/office/drawing/2014/main" id="{5BE05BC2-A3C9-6262-D2D9-55DE4EB034E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08556" y="871146"/>
            <a:ext cx="7772400" cy="3844857"/>
          </a:xfrm>
          <a:prstGeom prst="rect">
            <a:avLst/>
          </a:prstGeom>
        </p:spPr>
      </p:pic>
    </p:spTree>
    <p:extLst>
      <p:ext uri="{BB962C8B-B14F-4D97-AF65-F5344CB8AC3E}">
        <p14:creationId xmlns:p14="http://schemas.microsoft.com/office/powerpoint/2010/main" val="17471710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ECA1921-2DEB-055C-E5C4-97574B6541F2}"/>
            </a:ext>
          </a:extLst>
        </p:cNvPr>
        <p:cNvGrpSpPr/>
        <p:nvPr/>
      </p:nvGrpSpPr>
      <p:grpSpPr>
        <a:xfrm>
          <a:off x="0" y="0"/>
          <a:ext cx="0" cy="0"/>
          <a:chOff x="0" y="0"/>
          <a:chExt cx="0" cy="0"/>
        </a:xfrm>
      </p:grpSpPr>
      <p:sp>
        <p:nvSpPr>
          <p:cNvPr id="7171" name="Rectangle 2">
            <a:extLst>
              <a:ext uri="{FF2B5EF4-FFF2-40B4-BE49-F238E27FC236}">
                <a16:creationId xmlns:a16="http://schemas.microsoft.com/office/drawing/2014/main" id="{1461663D-CAA0-6192-CA34-242F587463E3}"/>
              </a:ext>
            </a:extLst>
          </p:cNvPr>
          <p:cNvSpPr>
            <a:spLocks noGrp="1" noChangeArrowheads="1"/>
          </p:cNvSpPr>
          <p:nvPr>
            <p:ph type="title"/>
          </p:nvPr>
        </p:nvSpPr>
        <p:spPr>
          <a:xfrm>
            <a:off x="751931" y="1177453"/>
            <a:ext cx="3056625" cy="2909296"/>
          </a:xfrm>
        </p:spPr>
        <p:txBody>
          <a:bodyPr anchor="t">
            <a:normAutofit/>
          </a:bodyPr>
          <a:lstStyle/>
          <a:p>
            <a:r>
              <a:rPr lang="en-US" altLang="en-US" sz="3200" dirty="0"/>
              <a:t>Call and Return Architecture</a:t>
            </a:r>
          </a:p>
        </p:txBody>
      </p:sp>
      <p:cxnSp>
        <p:nvCxnSpPr>
          <p:cNvPr id="7177" name="Straight Connector 7176">
            <a:extLst>
              <a:ext uri="{FF2B5EF4-FFF2-40B4-BE49-F238E27FC236}">
                <a16:creationId xmlns:a16="http://schemas.microsoft.com/office/drawing/2014/main" id="{83D8CC7A-75F3-CF8F-F1DD-F5BC559E56A6}"/>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170" name="Slide Number Placeholder 3">
            <a:extLst>
              <a:ext uri="{FF2B5EF4-FFF2-40B4-BE49-F238E27FC236}">
                <a16:creationId xmlns:a16="http://schemas.microsoft.com/office/drawing/2014/main" id="{5E1C6CD7-2C94-1E4F-B003-09659384E3DD}"/>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7347A960-0C76-4BC4-82DD-63EFCA24FEF7}" type="slidenum">
              <a:rPr lang="de-DE" altLang="en-US" sz="1900"/>
              <a:pPr>
                <a:lnSpc>
                  <a:spcPct val="90000"/>
                </a:lnSpc>
                <a:spcAft>
                  <a:spcPts val="600"/>
                </a:spcAft>
              </a:pPr>
              <a:t>16</a:t>
            </a:fld>
            <a:endParaRPr lang="de-DE" altLang="en-US" sz="1900"/>
          </a:p>
        </p:txBody>
      </p:sp>
      <p:pic>
        <p:nvPicPr>
          <p:cNvPr id="4" name="Picture 3" descr="A diagram of a program&#10;&#10;AI-generated content may be incorrect.">
            <a:extLst>
              <a:ext uri="{FF2B5EF4-FFF2-40B4-BE49-F238E27FC236}">
                <a16:creationId xmlns:a16="http://schemas.microsoft.com/office/drawing/2014/main" id="{C2D32797-1DB7-54D0-7FC3-2D7467E0A5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67669" y="871146"/>
            <a:ext cx="8447430" cy="3857600"/>
          </a:xfrm>
          <a:prstGeom prst="rect">
            <a:avLst/>
          </a:prstGeom>
        </p:spPr>
      </p:pic>
    </p:spTree>
    <p:extLst>
      <p:ext uri="{BB962C8B-B14F-4D97-AF65-F5344CB8AC3E}">
        <p14:creationId xmlns:p14="http://schemas.microsoft.com/office/powerpoint/2010/main" val="199802251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3C46B06-1E46-1784-7AED-FC6ABAA31A42}"/>
            </a:ext>
          </a:extLst>
        </p:cNvPr>
        <p:cNvGrpSpPr/>
        <p:nvPr/>
      </p:nvGrpSpPr>
      <p:grpSpPr>
        <a:xfrm>
          <a:off x="0" y="0"/>
          <a:ext cx="0" cy="0"/>
          <a:chOff x="0" y="0"/>
          <a:chExt cx="0" cy="0"/>
        </a:xfrm>
      </p:grpSpPr>
      <p:sp>
        <p:nvSpPr>
          <p:cNvPr id="7171" name="Rectangle 2">
            <a:extLst>
              <a:ext uri="{FF2B5EF4-FFF2-40B4-BE49-F238E27FC236}">
                <a16:creationId xmlns:a16="http://schemas.microsoft.com/office/drawing/2014/main" id="{6AD9FE25-BC1A-0910-B14A-182C2FE2176F}"/>
              </a:ext>
            </a:extLst>
          </p:cNvPr>
          <p:cNvSpPr>
            <a:spLocks noGrp="1" noChangeArrowheads="1"/>
          </p:cNvSpPr>
          <p:nvPr>
            <p:ph type="title"/>
          </p:nvPr>
        </p:nvSpPr>
        <p:spPr>
          <a:xfrm>
            <a:off x="751931" y="1177453"/>
            <a:ext cx="3056625" cy="2909296"/>
          </a:xfrm>
        </p:spPr>
        <p:txBody>
          <a:bodyPr anchor="t">
            <a:normAutofit/>
          </a:bodyPr>
          <a:lstStyle/>
          <a:p>
            <a:r>
              <a:rPr lang="en-US" altLang="en-US" sz="3200" dirty="0"/>
              <a:t>Object Oriented Architecture</a:t>
            </a:r>
          </a:p>
        </p:txBody>
      </p:sp>
      <p:cxnSp>
        <p:nvCxnSpPr>
          <p:cNvPr id="7177" name="Straight Connector 7176">
            <a:extLst>
              <a:ext uri="{FF2B5EF4-FFF2-40B4-BE49-F238E27FC236}">
                <a16:creationId xmlns:a16="http://schemas.microsoft.com/office/drawing/2014/main" id="{B2D16329-438E-98FE-8FAC-11B71ACC7B1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170" name="Slide Number Placeholder 3">
            <a:extLst>
              <a:ext uri="{FF2B5EF4-FFF2-40B4-BE49-F238E27FC236}">
                <a16:creationId xmlns:a16="http://schemas.microsoft.com/office/drawing/2014/main" id="{4CDB9D2F-A882-1216-9E78-451310DEE5D8}"/>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7347A960-0C76-4BC4-82DD-63EFCA24FEF7}" type="slidenum">
              <a:rPr lang="de-DE" altLang="en-US" sz="1900"/>
              <a:pPr>
                <a:lnSpc>
                  <a:spcPct val="90000"/>
                </a:lnSpc>
                <a:spcAft>
                  <a:spcPts val="600"/>
                </a:spcAft>
              </a:pPr>
              <a:t>17</a:t>
            </a:fld>
            <a:endParaRPr lang="de-DE" altLang="en-US" sz="1900"/>
          </a:p>
        </p:txBody>
      </p:sp>
      <p:pic>
        <p:nvPicPr>
          <p:cNvPr id="6" name="Picture 5" descr="A diagram of fruit and food&#10;&#10;AI-generated content may be incorrect.">
            <a:extLst>
              <a:ext uri="{FF2B5EF4-FFF2-40B4-BE49-F238E27FC236}">
                <a16:creationId xmlns:a16="http://schemas.microsoft.com/office/drawing/2014/main" id="{EB818EF6-4BDC-F867-C7F6-1463A1E8FD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19600" y="871145"/>
            <a:ext cx="7602894" cy="4497683"/>
          </a:xfrm>
          <a:prstGeom prst="rect">
            <a:avLst/>
          </a:prstGeom>
        </p:spPr>
      </p:pic>
    </p:spTree>
    <p:extLst>
      <p:ext uri="{BB962C8B-B14F-4D97-AF65-F5344CB8AC3E}">
        <p14:creationId xmlns:p14="http://schemas.microsoft.com/office/powerpoint/2010/main" val="121298642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DCBA50D-A4D1-7FF3-2375-0ECF1264D082}"/>
            </a:ext>
          </a:extLst>
        </p:cNvPr>
        <p:cNvGrpSpPr/>
        <p:nvPr/>
      </p:nvGrpSpPr>
      <p:grpSpPr>
        <a:xfrm>
          <a:off x="0" y="0"/>
          <a:ext cx="0" cy="0"/>
          <a:chOff x="0" y="0"/>
          <a:chExt cx="0" cy="0"/>
        </a:xfrm>
      </p:grpSpPr>
      <p:sp>
        <p:nvSpPr>
          <p:cNvPr id="7171" name="Rectangle 2">
            <a:extLst>
              <a:ext uri="{FF2B5EF4-FFF2-40B4-BE49-F238E27FC236}">
                <a16:creationId xmlns:a16="http://schemas.microsoft.com/office/drawing/2014/main" id="{B19C7E65-BBC7-51E6-1D12-D6CEF5FB5732}"/>
              </a:ext>
            </a:extLst>
          </p:cNvPr>
          <p:cNvSpPr>
            <a:spLocks noGrp="1" noChangeArrowheads="1"/>
          </p:cNvSpPr>
          <p:nvPr>
            <p:ph type="title"/>
          </p:nvPr>
        </p:nvSpPr>
        <p:spPr>
          <a:xfrm>
            <a:off x="751931" y="1177453"/>
            <a:ext cx="3056625" cy="2909296"/>
          </a:xfrm>
        </p:spPr>
        <p:txBody>
          <a:bodyPr anchor="t">
            <a:normAutofit/>
          </a:bodyPr>
          <a:lstStyle/>
          <a:p>
            <a:r>
              <a:rPr lang="en-US" altLang="en-US" sz="3200" dirty="0"/>
              <a:t>Layered Architecture</a:t>
            </a:r>
          </a:p>
        </p:txBody>
      </p:sp>
      <p:cxnSp>
        <p:nvCxnSpPr>
          <p:cNvPr id="7177" name="Straight Connector 7176">
            <a:extLst>
              <a:ext uri="{FF2B5EF4-FFF2-40B4-BE49-F238E27FC236}">
                <a16:creationId xmlns:a16="http://schemas.microsoft.com/office/drawing/2014/main" id="{D1637536-21EA-6D77-4588-6CB6655C000B}"/>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170" name="Slide Number Placeholder 3">
            <a:extLst>
              <a:ext uri="{FF2B5EF4-FFF2-40B4-BE49-F238E27FC236}">
                <a16:creationId xmlns:a16="http://schemas.microsoft.com/office/drawing/2014/main" id="{CB314849-558E-F6EF-9695-86CFCBDAF842}"/>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7347A960-0C76-4BC4-82DD-63EFCA24FEF7}" type="slidenum">
              <a:rPr lang="de-DE" altLang="en-US" sz="1900"/>
              <a:pPr>
                <a:lnSpc>
                  <a:spcPct val="90000"/>
                </a:lnSpc>
                <a:spcAft>
                  <a:spcPts val="600"/>
                </a:spcAft>
              </a:pPr>
              <a:t>18</a:t>
            </a:fld>
            <a:endParaRPr lang="de-DE" altLang="en-US" sz="1900"/>
          </a:p>
        </p:txBody>
      </p:sp>
      <p:pic>
        <p:nvPicPr>
          <p:cNvPr id="3" name="Picture 2" descr="A diagram of components in a layer&#10;&#10;AI-generated content may be incorrect.">
            <a:extLst>
              <a:ext uri="{FF2B5EF4-FFF2-40B4-BE49-F238E27FC236}">
                <a16:creationId xmlns:a16="http://schemas.microsoft.com/office/drawing/2014/main" id="{39DF2A4F-7C5A-4E9B-3E7A-10BDF0176C9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54460" y="871146"/>
            <a:ext cx="8123734" cy="5202040"/>
          </a:xfrm>
          <a:prstGeom prst="rect">
            <a:avLst/>
          </a:prstGeom>
        </p:spPr>
      </p:pic>
    </p:spTree>
    <p:extLst>
      <p:ext uri="{BB962C8B-B14F-4D97-AF65-F5344CB8AC3E}">
        <p14:creationId xmlns:p14="http://schemas.microsoft.com/office/powerpoint/2010/main" val="19537634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1ACA2EA0-FFD3-42EC-9406-B595015ED9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9" name="Rectangle 8">
            <a:extLst>
              <a:ext uri="{FF2B5EF4-FFF2-40B4-BE49-F238E27FC236}">
                <a16:creationId xmlns:a16="http://schemas.microsoft.com/office/drawing/2014/main" id="{D5288BCE-665C-472A-8C43-664BCFA31E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8762" y="1247775"/>
            <a:ext cx="9144000" cy="3007447"/>
          </a:xfrm>
          <a:prstGeom prst="rect">
            <a:avLst/>
          </a:prstGeom>
          <a:solidFill>
            <a:schemeClr val="bg1"/>
          </a:solidFill>
          <a:ln w="12700">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 name="Title 1">
            <a:extLst>
              <a:ext uri="{FF2B5EF4-FFF2-40B4-BE49-F238E27FC236}">
                <a16:creationId xmlns:a16="http://schemas.microsoft.com/office/drawing/2014/main" id="{64630A69-460A-2A66-4CEC-D0055DCEE71E}"/>
              </a:ext>
            </a:extLst>
          </p:cNvPr>
          <p:cNvSpPr>
            <a:spLocks noGrp="1"/>
          </p:cNvSpPr>
          <p:nvPr>
            <p:ph type="title"/>
          </p:nvPr>
        </p:nvSpPr>
        <p:spPr>
          <a:xfrm>
            <a:off x="1804988" y="1442172"/>
            <a:ext cx="8582025" cy="2177328"/>
          </a:xfrm>
        </p:spPr>
        <p:txBody>
          <a:bodyPr vert="horz" lIns="91440" tIns="45720" rIns="91440" bIns="45720" rtlCol="0" anchor="ctr">
            <a:normAutofit/>
          </a:bodyPr>
          <a:lstStyle/>
          <a:p>
            <a:pPr algn="ctr"/>
            <a:r>
              <a:rPr lang="en-US" sz="6600" kern="1200" dirty="0">
                <a:solidFill>
                  <a:schemeClr val="tx1"/>
                </a:solidFill>
                <a:latin typeface="+mj-lt"/>
                <a:ea typeface="+mj-ea"/>
                <a:cs typeface="+mj-cs"/>
              </a:rPr>
              <a:t>GRASP PATTERNS for </a:t>
            </a:r>
            <a:br>
              <a:rPr lang="en-US" sz="6600" kern="1200" dirty="0">
                <a:solidFill>
                  <a:schemeClr val="tx1"/>
                </a:solidFill>
                <a:latin typeface="+mj-lt"/>
                <a:ea typeface="+mj-ea"/>
                <a:cs typeface="+mj-cs"/>
              </a:rPr>
            </a:br>
            <a:r>
              <a:rPr lang="en-US" sz="6600" kern="1200" dirty="0">
                <a:solidFill>
                  <a:schemeClr val="tx1"/>
                </a:solidFill>
                <a:latin typeface="+mj-lt"/>
                <a:ea typeface="+mj-ea"/>
                <a:cs typeface="+mj-cs"/>
              </a:rPr>
              <a:t>OO Design</a:t>
            </a:r>
          </a:p>
        </p:txBody>
      </p:sp>
      <p:sp>
        <p:nvSpPr>
          <p:cNvPr id="11" name="Rectangle: Rounded Corners 10">
            <a:extLst>
              <a:ext uri="{FF2B5EF4-FFF2-40B4-BE49-F238E27FC236}">
                <a16:creationId xmlns:a16="http://schemas.microsoft.com/office/drawing/2014/main" id="{46C57131-53A7-4C1A-BEA8-25F06A06AD2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487872" y="3912322"/>
            <a:ext cx="7225780" cy="685800"/>
          </a:xfrm>
          <a:prstGeom prst="roundRect">
            <a:avLst>
              <a:gd name="adj" fmla="val 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0202200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7" name="Rectangle 2">
            <a:extLst>
              <a:ext uri="{FF2B5EF4-FFF2-40B4-BE49-F238E27FC236}">
                <a16:creationId xmlns:a16="http://schemas.microsoft.com/office/drawing/2014/main" id="{8A7DBF89-F056-E6DE-0BF5-0E6B429A196F}"/>
              </a:ext>
            </a:extLst>
          </p:cNvPr>
          <p:cNvSpPr>
            <a:spLocks noGrp="1" noChangeArrowheads="1"/>
          </p:cNvSpPr>
          <p:nvPr>
            <p:ph type="title"/>
          </p:nvPr>
        </p:nvSpPr>
        <p:spPr>
          <a:xfrm>
            <a:off x="5868556" y="1138036"/>
            <a:ext cx="6063613" cy="1402470"/>
          </a:xfrm>
        </p:spPr>
        <p:txBody>
          <a:bodyPr anchor="t">
            <a:normAutofit/>
          </a:bodyPr>
          <a:lstStyle/>
          <a:p>
            <a:r>
              <a:rPr lang="en-US" altLang="en-US" sz="3000" dirty="0"/>
              <a:t>GRASP: </a:t>
            </a:r>
            <a:br>
              <a:rPr lang="en-US" altLang="en-US" sz="3000" dirty="0"/>
            </a:br>
            <a:r>
              <a:rPr lang="en-US" altLang="en-US" sz="3000" dirty="0"/>
              <a:t>Patterns of General Principles in Assigning Responsibilities</a:t>
            </a:r>
          </a:p>
        </p:txBody>
      </p:sp>
      <p:pic>
        <p:nvPicPr>
          <p:cNvPr id="6150" name="Picture 6149" descr="Colourful sticky notes">
            <a:extLst>
              <a:ext uri="{FF2B5EF4-FFF2-40B4-BE49-F238E27FC236}">
                <a16:creationId xmlns:a16="http://schemas.microsoft.com/office/drawing/2014/main" id="{6666C4CD-E8CA-EE5E-BF06-03F65BD37522}"/>
              </a:ext>
            </a:extLst>
          </p:cNvPr>
          <p:cNvPicPr>
            <a:picLocks noChangeAspect="1"/>
          </p:cNvPicPr>
          <p:nvPr/>
        </p:nvPicPr>
        <p:blipFill rotWithShape="1">
          <a:blip r:embed="rId3"/>
          <a:srcRect l="33429" r="16433" b="-1"/>
          <a:stretch/>
        </p:blipFill>
        <p:spPr>
          <a:xfrm>
            <a:off x="-1" y="10"/>
            <a:ext cx="5151179" cy="6857990"/>
          </a:xfrm>
          <a:prstGeom prst="rect">
            <a:avLst/>
          </a:prstGeom>
        </p:spPr>
      </p:pic>
      <p:cxnSp>
        <p:nvCxnSpPr>
          <p:cNvPr id="6154" name="Straight Connector 6153">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148" name="Rectangle 3">
            <a:extLst>
              <a:ext uri="{FF2B5EF4-FFF2-40B4-BE49-F238E27FC236}">
                <a16:creationId xmlns:a16="http://schemas.microsoft.com/office/drawing/2014/main" id="{DEFB6635-F001-0825-1A31-81DC16DF1C81}"/>
              </a:ext>
            </a:extLst>
          </p:cNvPr>
          <p:cNvSpPr>
            <a:spLocks noGrp="1" noChangeArrowheads="1"/>
          </p:cNvSpPr>
          <p:nvPr>
            <p:ph type="body" idx="1"/>
          </p:nvPr>
        </p:nvSpPr>
        <p:spPr>
          <a:xfrm>
            <a:off x="5448878" y="2521891"/>
            <a:ext cx="6323443" cy="4078934"/>
          </a:xfrm>
        </p:spPr>
        <p:txBody>
          <a:bodyPr>
            <a:noAutofit/>
          </a:bodyPr>
          <a:lstStyle/>
          <a:p>
            <a:pPr lvl="2">
              <a:buNone/>
            </a:pPr>
            <a:r>
              <a:rPr lang="en-US" altLang="en-US" sz="2400" dirty="0">
                <a:solidFill>
                  <a:srgbClr val="FF0000"/>
                </a:solidFill>
              </a:rPr>
              <a:t>G</a:t>
            </a:r>
            <a:r>
              <a:rPr lang="en-US" altLang="en-US" sz="2400" dirty="0"/>
              <a:t>eneral </a:t>
            </a:r>
          </a:p>
          <a:p>
            <a:pPr lvl="2">
              <a:buNone/>
            </a:pPr>
            <a:r>
              <a:rPr lang="en-US" altLang="en-US" sz="2400" dirty="0">
                <a:solidFill>
                  <a:srgbClr val="FF0000"/>
                </a:solidFill>
              </a:rPr>
              <a:t>R</a:t>
            </a:r>
            <a:r>
              <a:rPr lang="en-US" altLang="en-US" sz="2400" dirty="0"/>
              <a:t>esponsibility </a:t>
            </a:r>
          </a:p>
          <a:p>
            <a:pPr lvl="2">
              <a:buNone/>
            </a:pPr>
            <a:r>
              <a:rPr lang="en-US" altLang="en-US" sz="2400" dirty="0">
                <a:solidFill>
                  <a:srgbClr val="FF0000"/>
                </a:solidFill>
              </a:rPr>
              <a:t>A</a:t>
            </a:r>
            <a:r>
              <a:rPr lang="en-US" altLang="en-US" sz="2400" dirty="0"/>
              <a:t>ssignment </a:t>
            </a:r>
          </a:p>
          <a:p>
            <a:pPr lvl="2">
              <a:buNone/>
            </a:pPr>
            <a:r>
              <a:rPr lang="en-US" altLang="en-US" sz="2400" dirty="0">
                <a:solidFill>
                  <a:srgbClr val="FF0000"/>
                </a:solidFill>
              </a:rPr>
              <a:t>S</a:t>
            </a:r>
            <a:r>
              <a:rPr lang="en-US" altLang="en-US" sz="2400" dirty="0"/>
              <a:t>oftware </a:t>
            </a:r>
          </a:p>
          <a:p>
            <a:pPr lvl="2">
              <a:buNone/>
            </a:pPr>
            <a:r>
              <a:rPr lang="en-US" altLang="en-US" sz="2400" dirty="0">
                <a:solidFill>
                  <a:srgbClr val="FF0000"/>
                </a:solidFill>
              </a:rPr>
              <a:t>P</a:t>
            </a:r>
            <a:r>
              <a:rPr lang="en-US" altLang="en-US" sz="2400" dirty="0"/>
              <a:t>atterns. </a:t>
            </a:r>
          </a:p>
          <a:p>
            <a:pPr lvl="2">
              <a:buNone/>
            </a:pPr>
            <a:endParaRPr lang="en-US" altLang="en-US" sz="2400" dirty="0"/>
          </a:p>
          <a:p>
            <a:pPr marL="342900" indent="-342900"/>
            <a:r>
              <a:rPr lang="en-US" altLang="en-US" sz="2400" dirty="0"/>
              <a:t>Provide guidance for assigning responsibilities to classes and, to limited extent, determining classes that will be in a design.</a:t>
            </a:r>
          </a:p>
        </p:txBody>
      </p:sp>
      <p:sp>
        <p:nvSpPr>
          <p:cNvPr id="6146" name="Slide Number Placeholder 3">
            <a:extLst>
              <a:ext uri="{FF2B5EF4-FFF2-40B4-BE49-F238E27FC236}">
                <a16:creationId xmlns:a16="http://schemas.microsoft.com/office/drawing/2014/main" id="{B1964C82-603C-D45A-D079-0BED903FAD38}"/>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F8BF4A2B-B024-44C8-ADC2-028369787A2B}" type="slidenum">
              <a:rPr lang="de-DE" altLang="en-US" sz="1900">
                <a:solidFill>
                  <a:schemeClr val="tx1">
                    <a:lumMod val="50000"/>
                    <a:lumOff val="50000"/>
                  </a:schemeClr>
                </a:solidFill>
              </a:rPr>
              <a:pPr>
                <a:lnSpc>
                  <a:spcPct val="90000"/>
                </a:lnSpc>
                <a:spcAft>
                  <a:spcPts val="600"/>
                </a:spcAft>
              </a:pPr>
              <a:t>20</a:t>
            </a:fld>
            <a:endParaRPr lang="de-DE" altLang="en-US" sz="1900">
              <a:solidFill>
                <a:schemeClr val="tx1">
                  <a:lumMod val="50000"/>
                  <a:lumOff val="50000"/>
                </a:schemeClr>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171" name="Rectangle 2">
            <a:extLst>
              <a:ext uri="{FF2B5EF4-FFF2-40B4-BE49-F238E27FC236}">
                <a16:creationId xmlns:a16="http://schemas.microsoft.com/office/drawing/2014/main" id="{57A11078-B0C1-C39F-4315-CE5FBD1540F7}"/>
              </a:ext>
            </a:extLst>
          </p:cNvPr>
          <p:cNvSpPr>
            <a:spLocks noGrp="1" noChangeArrowheads="1"/>
          </p:cNvSpPr>
          <p:nvPr>
            <p:ph type="title"/>
          </p:nvPr>
        </p:nvSpPr>
        <p:spPr>
          <a:xfrm>
            <a:off x="751931" y="1177453"/>
            <a:ext cx="3056625" cy="2909296"/>
          </a:xfrm>
        </p:spPr>
        <p:txBody>
          <a:bodyPr anchor="t">
            <a:normAutofit/>
          </a:bodyPr>
          <a:lstStyle/>
          <a:p>
            <a:r>
              <a:rPr lang="en-US" altLang="en-US" sz="3200"/>
              <a:t>A Responsibility</a:t>
            </a:r>
          </a:p>
        </p:txBody>
      </p:sp>
      <p:cxnSp>
        <p:nvCxnSpPr>
          <p:cNvPr id="7177" name="Straight Connector 7176">
            <a:extLst>
              <a:ext uri="{FF2B5EF4-FFF2-40B4-BE49-F238E27FC236}">
                <a16:creationId xmlns:a16="http://schemas.microsoft.com/office/drawing/2014/main" id="{00CD8E7C-C23B-A3B9-B18A-838AED877A4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172" name="Rectangle 3">
            <a:extLst>
              <a:ext uri="{FF2B5EF4-FFF2-40B4-BE49-F238E27FC236}">
                <a16:creationId xmlns:a16="http://schemas.microsoft.com/office/drawing/2014/main" id="{E01D47C0-7687-30CC-6054-278248B645DF}"/>
              </a:ext>
            </a:extLst>
          </p:cNvPr>
          <p:cNvSpPr>
            <a:spLocks noGrp="1" noChangeArrowheads="1"/>
          </p:cNvSpPr>
          <p:nvPr>
            <p:ph type="body" idx="1"/>
          </p:nvPr>
        </p:nvSpPr>
        <p:spPr>
          <a:xfrm>
            <a:off x="3818627" y="753376"/>
            <a:ext cx="8113544" cy="5434637"/>
          </a:xfrm>
        </p:spPr>
        <p:txBody>
          <a:bodyPr>
            <a:normAutofit/>
          </a:bodyPr>
          <a:lstStyle/>
          <a:p>
            <a:pPr marL="342900" indent="-342900" algn="just">
              <a:buNone/>
            </a:pPr>
            <a:r>
              <a:rPr lang="en-US" altLang="en-US" dirty="0"/>
              <a:t>“A contract or obligation of a type or class”</a:t>
            </a:r>
          </a:p>
          <a:p>
            <a:pPr marL="342900" indent="-342900" algn="just">
              <a:buNone/>
            </a:pPr>
            <a:r>
              <a:rPr lang="en-US" altLang="en-US" dirty="0"/>
              <a:t>UML User Guide</a:t>
            </a:r>
          </a:p>
          <a:p>
            <a:pPr marL="342900" indent="-342900" algn="just"/>
            <a:r>
              <a:rPr lang="en-US" altLang="en-US" dirty="0"/>
              <a:t>Responsibilities can be one of two basic types:</a:t>
            </a:r>
          </a:p>
          <a:p>
            <a:pPr marL="742950" lvl="1" indent="-285750" algn="just"/>
            <a:r>
              <a:rPr lang="en-US" altLang="en-US" sz="2800" u="sng" dirty="0"/>
              <a:t>Doing</a:t>
            </a:r>
          </a:p>
          <a:p>
            <a:pPr lvl="2" algn="just"/>
            <a:r>
              <a:rPr lang="en-US" altLang="en-US" sz="2800" dirty="0"/>
              <a:t>A </a:t>
            </a:r>
            <a:r>
              <a:rPr lang="en-US" altLang="en-US" sz="2800" i="1" dirty="0"/>
              <a:t>Sale</a:t>
            </a:r>
            <a:r>
              <a:rPr lang="en-US" altLang="en-US" sz="2800" dirty="0"/>
              <a:t> is responsible for printing itself</a:t>
            </a:r>
          </a:p>
          <a:p>
            <a:pPr marL="742950" lvl="1" indent="-285750" algn="just"/>
            <a:r>
              <a:rPr lang="en-US" altLang="en-US" sz="2800" u="sng" dirty="0"/>
              <a:t>Knowing</a:t>
            </a:r>
          </a:p>
          <a:p>
            <a:pPr lvl="2" algn="just"/>
            <a:r>
              <a:rPr lang="en-US" altLang="en-US" sz="2800" dirty="0"/>
              <a:t>A </a:t>
            </a:r>
            <a:r>
              <a:rPr lang="en-US" altLang="en-US" sz="2800" i="1" dirty="0"/>
              <a:t>Sale</a:t>
            </a:r>
            <a:r>
              <a:rPr lang="en-US" altLang="en-US" sz="2800" dirty="0"/>
              <a:t> is responsible for recording its date</a:t>
            </a:r>
          </a:p>
          <a:p>
            <a:pPr marL="914400" lvl="2" indent="0" algn="just">
              <a:buNone/>
            </a:pPr>
            <a:endParaRPr lang="en-US" altLang="en-US" sz="2800" dirty="0"/>
          </a:p>
          <a:p>
            <a:pPr marL="342900" indent="-342900" algn="just"/>
            <a:r>
              <a:rPr lang="en-US" altLang="en-US" dirty="0"/>
              <a:t>Responsibilities are not methods…the responsibility to provide access to relational databases is more than a single method…more than a single class!</a:t>
            </a:r>
          </a:p>
        </p:txBody>
      </p:sp>
      <p:sp>
        <p:nvSpPr>
          <p:cNvPr id="7170" name="Slide Number Placeholder 3">
            <a:extLst>
              <a:ext uri="{FF2B5EF4-FFF2-40B4-BE49-F238E27FC236}">
                <a16:creationId xmlns:a16="http://schemas.microsoft.com/office/drawing/2014/main" id="{426A902D-E7D8-2214-86F5-440714B05F5B}"/>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7347A960-0C76-4BC4-82DD-63EFCA24FEF7}" type="slidenum">
              <a:rPr lang="de-DE" altLang="en-US" sz="1900"/>
              <a:pPr>
                <a:lnSpc>
                  <a:spcPct val="90000"/>
                </a:lnSpc>
                <a:spcAft>
                  <a:spcPts val="600"/>
                </a:spcAft>
              </a:pPr>
              <a:t>21</a:t>
            </a:fld>
            <a:endParaRPr lang="de-DE" altLang="en-US" sz="19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5" name="Rectangle 2">
            <a:extLst>
              <a:ext uri="{FF2B5EF4-FFF2-40B4-BE49-F238E27FC236}">
                <a16:creationId xmlns:a16="http://schemas.microsoft.com/office/drawing/2014/main" id="{03F4AF62-2F45-36DA-9EE4-4688FAB45C94}"/>
              </a:ext>
            </a:extLst>
          </p:cNvPr>
          <p:cNvSpPr>
            <a:spLocks noGrp="1" noChangeArrowheads="1"/>
          </p:cNvSpPr>
          <p:nvPr>
            <p:ph type="title"/>
          </p:nvPr>
        </p:nvSpPr>
        <p:spPr>
          <a:xfrm>
            <a:off x="5868557" y="1138036"/>
            <a:ext cx="5444382" cy="1402470"/>
          </a:xfrm>
        </p:spPr>
        <p:txBody>
          <a:bodyPr anchor="t">
            <a:normAutofit/>
          </a:bodyPr>
          <a:lstStyle/>
          <a:p>
            <a:r>
              <a:rPr lang="en-US" altLang="en-US" sz="3200"/>
              <a:t>“Doing” responsibilities</a:t>
            </a:r>
          </a:p>
        </p:txBody>
      </p:sp>
      <p:pic>
        <p:nvPicPr>
          <p:cNvPr id="8198" name="Picture 8197" descr="Checkmate in a chess game">
            <a:extLst>
              <a:ext uri="{FF2B5EF4-FFF2-40B4-BE49-F238E27FC236}">
                <a16:creationId xmlns:a16="http://schemas.microsoft.com/office/drawing/2014/main" id="{6414E1D1-2ABA-9525-7C09-EDA1A75819DF}"/>
              </a:ext>
            </a:extLst>
          </p:cNvPr>
          <p:cNvPicPr>
            <a:picLocks noChangeAspect="1"/>
          </p:cNvPicPr>
          <p:nvPr/>
        </p:nvPicPr>
        <p:blipFill rotWithShape="1">
          <a:blip r:embed="rId2"/>
          <a:srcRect l="20295" r="22808" b="2"/>
          <a:stretch/>
        </p:blipFill>
        <p:spPr>
          <a:xfrm>
            <a:off x="-1" y="10"/>
            <a:ext cx="5151179" cy="6857990"/>
          </a:xfrm>
          <a:prstGeom prst="rect">
            <a:avLst/>
          </a:prstGeom>
        </p:spPr>
      </p:pic>
      <p:cxnSp>
        <p:nvCxnSpPr>
          <p:cNvPr id="8202" name="Straight Connector 8201">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8196" name="Rectangle 3">
            <a:extLst>
              <a:ext uri="{FF2B5EF4-FFF2-40B4-BE49-F238E27FC236}">
                <a16:creationId xmlns:a16="http://schemas.microsoft.com/office/drawing/2014/main" id="{CAC45EA0-D1BE-4380-A645-64666512B8CE}"/>
              </a:ext>
            </a:extLst>
          </p:cNvPr>
          <p:cNvSpPr>
            <a:spLocks noGrp="1" noChangeArrowheads="1"/>
          </p:cNvSpPr>
          <p:nvPr>
            <p:ph type="body" idx="1"/>
          </p:nvPr>
        </p:nvSpPr>
        <p:spPr>
          <a:xfrm>
            <a:off x="5546361" y="1903752"/>
            <a:ext cx="6460760" cy="4238632"/>
          </a:xfrm>
        </p:spPr>
        <p:txBody>
          <a:bodyPr>
            <a:normAutofit/>
          </a:bodyPr>
          <a:lstStyle/>
          <a:p>
            <a:pPr marL="342900" indent="-342900"/>
            <a:r>
              <a:rPr lang="en-US" altLang="en-US" sz="3200" dirty="0"/>
              <a:t>An object:</a:t>
            </a:r>
          </a:p>
          <a:p>
            <a:pPr marL="0" indent="0">
              <a:buNone/>
            </a:pPr>
            <a:endParaRPr lang="en-US" altLang="en-US" sz="3200" dirty="0"/>
          </a:p>
          <a:p>
            <a:pPr marL="742950" lvl="1" indent="-285750"/>
            <a:r>
              <a:rPr lang="en-US" altLang="en-US" sz="3200" dirty="0"/>
              <a:t>Doing something to itself</a:t>
            </a:r>
          </a:p>
          <a:p>
            <a:pPr marL="742950" lvl="1" indent="-285750"/>
            <a:r>
              <a:rPr lang="en-US" altLang="en-US" sz="3200" dirty="0"/>
              <a:t>Initiating action in other objects</a:t>
            </a:r>
          </a:p>
          <a:p>
            <a:pPr marL="742950" lvl="1" indent="-285750"/>
            <a:r>
              <a:rPr lang="en-US" altLang="en-US" sz="3200" dirty="0"/>
              <a:t>Controlling and coordinating activities in other objects</a:t>
            </a:r>
          </a:p>
        </p:txBody>
      </p:sp>
      <p:sp>
        <p:nvSpPr>
          <p:cNvPr id="8194" name="Slide Number Placeholder 3">
            <a:extLst>
              <a:ext uri="{FF2B5EF4-FFF2-40B4-BE49-F238E27FC236}">
                <a16:creationId xmlns:a16="http://schemas.microsoft.com/office/drawing/2014/main" id="{4A55BB5E-CE1C-175E-D665-640EB0E1C8C7}"/>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A96892A9-3E57-44E4-83F5-7FFAD1D70D7B}" type="slidenum">
              <a:rPr lang="de-DE" altLang="en-US" sz="1900">
                <a:solidFill>
                  <a:schemeClr val="tx1">
                    <a:lumMod val="50000"/>
                    <a:lumOff val="50000"/>
                  </a:schemeClr>
                </a:solidFill>
              </a:rPr>
              <a:pPr>
                <a:lnSpc>
                  <a:spcPct val="90000"/>
                </a:lnSpc>
                <a:spcAft>
                  <a:spcPts val="600"/>
                </a:spcAft>
              </a:pPr>
              <a:t>22</a:t>
            </a:fld>
            <a:endParaRPr lang="de-DE" altLang="en-US" sz="1900">
              <a:solidFill>
                <a:schemeClr val="tx1">
                  <a:lumMod val="50000"/>
                  <a:lumOff val="50000"/>
                </a:schemeClr>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219" name="Rectangle 2">
            <a:extLst>
              <a:ext uri="{FF2B5EF4-FFF2-40B4-BE49-F238E27FC236}">
                <a16:creationId xmlns:a16="http://schemas.microsoft.com/office/drawing/2014/main" id="{08014F44-2323-03E4-F9C1-A2A2B7F210D1}"/>
              </a:ext>
            </a:extLst>
          </p:cNvPr>
          <p:cNvSpPr>
            <a:spLocks noGrp="1" noChangeArrowheads="1"/>
          </p:cNvSpPr>
          <p:nvPr>
            <p:ph type="title"/>
          </p:nvPr>
        </p:nvSpPr>
        <p:spPr>
          <a:xfrm>
            <a:off x="5868557" y="1138036"/>
            <a:ext cx="5444382" cy="1402470"/>
          </a:xfrm>
        </p:spPr>
        <p:txBody>
          <a:bodyPr anchor="t">
            <a:normAutofit/>
          </a:bodyPr>
          <a:lstStyle/>
          <a:p>
            <a:r>
              <a:rPr lang="en-US" altLang="en-US" sz="3200"/>
              <a:t>“Knowing” responsibilities</a:t>
            </a:r>
          </a:p>
        </p:txBody>
      </p:sp>
      <p:pic>
        <p:nvPicPr>
          <p:cNvPr id="9222" name="Picture 9221" descr="Many question marks on black background">
            <a:extLst>
              <a:ext uri="{FF2B5EF4-FFF2-40B4-BE49-F238E27FC236}">
                <a16:creationId xmlns:a16="http://schemas.microsoft.com/office/drawing/2014/main" id="{CC1DF211-2B93-8B78-8550-3B9C556418B5}"/>
              </a:ext>
            </a:extLst>
          </p:cNvPr>
          <p:cNvPicPr>
            <a:picLocks noChangeAspect="1"/>
          </p:cNvPicPr>
          <p:nvPr/>
        </p:nvPicPr>
        <p:blipFill rotWithShape="1">
          <a:blip r:embed="rId3"/>
          <a:srcRect l="54181" r="2" b="2"/>
          <a:stretch/>
        </p:blipFill>
        <p:spPr>
          <a:xfrm>
            <a:off x="-1" y="10"/>
            <a:ext cx="5151179" cy="6857990"/>
          </a:xfrm>
          <a:prstGeom prst="rect">
            <a:avLst/>
          </a:prstGeom>
        </p:spPr>
      </p:pic>
      <p:cxnSp>
        <p:nvCxnSpPr>
          <p:cNvPr id="9226" name="Straight Connector 9225">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9220" name="Rectangle 3">
            <a:extLst>
              <a:ext uri="{FF2B5EF4-FFF2-40B4-BE49-F238E27FC236}">
                <a16:creationId xmlns:a16="http://schemas.microsoft.com/office/drawing/2014/main" id="{B72B3D76-EB21-9654-31B4-9DDA356CA807}"/>
              </a:ext>
            </a:extLst>
          </p:cNvPr>
          <p:cNvSpPr>
            <a:spLocks noGrp="1" noChangeArrowheads="1"/>
          </p:cNvSpPr>
          <p:nvPr>
            <p:ph type="body" idx="1"/>
          </p:nvPr>
        </p:nvSpPr>
        <p:spPr>
          <a:xfrm>
            <a:off x="5151178" y="2053652"/>
            <a:ext cx="6870933" cy="4088731"/>
          </a:xfrm>
        </p:spPr>
        <p:txBody>
          <a:bodyPr>
            <a:normAutofit/>
          </a:bodyPr>
          <a:lstStyle/>
          <a:p>
            <a:pPr marL="342900" indent="-342900"/>
            <a:r>
              <a:rPr lang="en-US" altLang="en-US" sz="3300" dirty="0"/>
              <a:t>An object:</a:t>
            </a:r>
          </a:p>
          <a:p>
            <a:pPr marL="742950" lvl="1" indent="-285750"/>
            <a:r>
              <a:rPr lang="en-US" altLang="en-US" sz="3300" dirty="0"/>
              <a:t>Knowing about private encapsulated data</a:t>
            </a:r>
          </a:p>
          <a:p>
            <a:pPr marL="457200" lvl="1" indent="0">
              <a:buNone/>
            </a:pPr>
            <a:endParaRPr lang="en-US" altLang="en-US" sz="3300" dirty="0"/>
          </a:p>
          <a:p>
            <a:pPr marL="742950" lvl="1" indent="-285750"/>
            <a:r>
              <a:rPr lang="en-US" altLang="en-US" sz="3300" dirty="0"/>
              <a:t>Knowing about related objects</a:t>
            </a:r>
          </a:p>
          <a:p>
            <a:pPr marL="457200" lvl="1" indent="0">
              <a:buNone/>
            </a:pPr>
            <a:endParaRPr lang="en-US" altLang="en-US" sz="3300" dirty="0"/>
          </a:p>
          <a:p>
            <a:pPr marL="742950" lvl="1" indent="-285750"/>
            <a:r>
              <a:rPr lang="en-US" altLang="en-US" sz="3300" dirty="0"/>
              <a:t>Knowing about things it can derive or calculate.</a:t>
            </a:r>
          </a:p>
        </p:txBody>
      </p:sp>
      <p:sp>
        <p:nvSpPr>
          <p:cNvPr id="9218" name="Slide Number Placeholder 3">
            <a:extLst>
              <a:ext uri="{FF2B5EF4-FFF2-40B4-BE49-F238E27FC236}">
                <a16:creationId xmlns:a16="http://schemas.microsoft.com/office/drawing/2014/main" id="{18729194-779A-0E42-C125-8C139B807DEE}"/>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8B33D0B5-6C05-415D-A8AE-18BE48A14413}" type="slidenum">
              <a:rPr lang="de-DE" altLang="en-US" sz="1900">
                <a:solidFill>
                  <a:schemeClr val="tx1">
                    <a:lumMod val="50000"/>
                    <a:lumOff val="50000"/>
                  </a:schemeClr>
                </a:solidFill>
              </a:rPr>
              <a:pPr>
                <a:lnSpc>
                  <a:spcPct val="90000"/>
                </a:lnSpc>
                <a:spcAft>
                  <a:spcPts val="600"/>
                </a:spcAft>
              </a:pPr>
              <a:t>23</a:t>
            </a:fld>
            <a:endParaRPr lang="de-DE" altLang="en-US" sz="1900">
              <a:solidFill>
                <a:schemeClr val="tx1">
                  <a:lumMod val="50000"/>
                  <a:lumOff val="50000"/>
                </a:schemeClr>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29B7D52-7B23-A96C-1DF7-394BEE88C901}"/>
            </a:ext>
          </a:extLst>
        </p:cNvPr>
        <p:cNvGrpSpPr/>
        <p:nvPr/>
      </p:nvGrpSpPr>
      <p:grpSpPr>
        <a:xfrm>
          <a:off x="0" y="0"/>
          <a:ext cx="0" cy="0"/>
          <a:chOff x="0" y="0"/>
          <a:chExt cx="0" cy="0"/>
        </a:xfrm>
      </p:grpSpPr>
      <p:sp>
        <p:nvSpPr>
          <p:cNvPr id="10243" name="Rectangle 2">
            <a:extLst>
              <a:ext uri="{FF2B5EF4-FFF2-40B4-BE49-F238E27FC236}">
                <a16:creationId xmlns:a16="http://schemas.microsoft.com/office/drawing/2014/main" id="{9BE1A7B2-AA96-D25D-01FC-A911B14A18A4}"/>
              </a:ext>
            </a:extLst>
          </p:cNvPr>
          <p:cNvSpPr>
            <a:spLocks noGrp="1" noChangeArrowheads="1"/>
          </p:cNvSpPr>
          <p:nvPr>
            <p:ph type="title"/>
          </p:nvPr>
        </p:nvSpPr>
        <p:spPr>
          <a:xfrm>
            <a:off x="5868557" y="1138036"/>
            <a:ext cx="5444382" cy="1402470"/>
          </a:xfrm>
        </p:spPr>
        <p:txBody>
          <a:bodyPr anchor="t">
            <a:normAutofit/>
          </a:bodyPr>
          <a:lstStyle/>
          <a:p>
            <a:r>
              <a:rPr lang="en-US" altLang="en-US" sz="3200"/>
              <a:t>GRASP Patterns</a:t>
            </a:r>
          </a:p>
        </p:txBody>
      </p:sp>
      <p:pic>
        <p:nvPicPr>
          <p:cNvPr id="10246" name="Picture 10245" descr="Large skydiving group mid-air">
            <a:extLst>
              <a:ext uri="{FF2B5EF4-FFF2-40B4-BE49-F238E27FC236}">
                <a16:creationId xmlns:a16="http://schemas.microsoft.com/office/drawing/2014/main" id="{AAEF1EB7-8882-8F43-BCC3-D684DC4695E7}"/>
              </a:ext>
            </a:extLst>
          </p:cNvPr>
          <p:cNvPicPr>
            <a:picLocks noChangeAspect="1"/>
          </p:cNvPicPr>
          <p:nvPr/>
        </p:nvPicPr>
        <p:blipFill rotWithShape="1">
          <a:blip r:embed="rId3"/>
          <a:srcRect l="25609" r="24441"/>
          <a:stretch/>
        </p:blipFill>
        <p:spPr>
          <a:xfrm>
            <a:off x="-1" y="10"/>
            <a:ext cx="5151179" cy="6857990"/>
          </a:xfrm>
          <a:prstGeom prst="rect">
            <a:avLst/>
          </a:prstGeom>
        </p:spPr>
      </p:pic>
      <p:cxnSp>
        <p:nvCxnSpPr>
          <p:cNvPr id="10250" name="Straight Connector 10249">
            <a:extLst>
              <a:ext uri="{FF2B5EF4-FFF2-40B4-BE49-F238E27FC236}">
                <a16:creationId xmlns:a16="http://schemas.microsoft.com/office/drawing/2014/main" id="{DA161EE0-FEA8-1001-1574-CB692DFB4D7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10244" name="Rectangle 3">
            <a:extLst>
              <a:ext uri="{FF2B5EF4-FFF2-40B4-BE49-F238E27FC236}">
                <a16:creationId xmlns:a16="http://schemas.microsoft.com/office/drawing/2014/main" id="{28EE9ABD-6387-E751-DA78-567F1A0379D4}"/>
              </a:ext>
            </a:extLst>
          </p:cNvPr>
          <p:cNvSpPr>
            <a:spLocks noGrp="1" noChangeArrowheads="1"/>
          </p:cNvSpPr>
          <p:nvPr>
            <p:ph type="body" idx="1"/>
          </p:nvPr>
        </p:nvSpPr>
        <p:spPr>
          <a:xfrm>
            <a:off x="5591332" y="1813810"/>
            <a:ext cx="6438986" cy="4907665"/>
          </a:xfrm>
        </p:spPr>
        <p:txBody>
          <a:bodyPr>
            <a:normAutofit lnSpcReduction="10000"/>
          </a:bodyPr>
          <a:lstStyle/>
          <a:p>
            <a:pPr marL="342900" indent="-342900"/>
            <a:r>
              <a:rPr lang="en-US" altLang="en-US" sz="3300" dirty="0"/>
              <a:t>Expert</a:t>
            </a:r>
          </a:p>
          <a:p>
            <a:pPr marL="342900" indent="-342900"/>
            <a:r>
              <a:rPr lang="en-US" altLang="en-US" sz="3300" dirty="0"/>
              <a:t>Creator</a:t>
            </a:r>
          </a:p>
          <a:p>
            <a:pPr marL="342900" indent="-342900"/>
            <a:r>
              <a:rPr lang="en-US" altLang="en-US" sz="3300" dirty="0"/>
              <a:t>Low Coupling/High Cohesion</a:t>
            </a:r>
          </a:p>
          <a:p>
            <a:pPr marL="342900" indent="-342900"/>
            <a:r>
              <a:rPr lang="en-US" altLang="en-US" sz="3300" dirty="0"/>
              <a:t>Controller</a:t>
            </a:r>
          </a:p>
          <a:p>
            <a:pPr marL="342900" indent="-342900"/>
            <a:r>
              <a:rPr lang="en-US" altLang="en-US" sz="3300" dirty="0"/>
              <a:t>Polymorphism</a:t>
            </a:r>
          </a:p>
          <a:p>
            <a:pPr marL="342900" indent="-342900"/>
            <a:r>
              <a:rPr lang="en-US" altLang="en-US" sz="3300" dirty="0"/>
              <a:t>Pure Fabrication</a:t>
            </a:r>
          </a:p>
          <a:p>
            <a:pPr marL="342900" indent="-342900"/>
            <a:r>
              <a:rPr lang="en-US" altLang="en-US" sz="3300" dirty="0"/>
              <a:t>Indirection</a:t>
            </a:r>
          </a:p>
          <a:p>
            <a:pPr marL="342900" indent="-342900"/>
            <a:r>
              <a:rPr lang="en-US" altLang="en-US" sz="3300" dirty="0"/>
              <a:t>Don’t Talk to Strangers (Law of Demeter)</a:t>
            </a:r>
          </a:p>
          <a:p>
            <a:pPr marL="342900" indent="-342900"/>
            <a:endParaRPr lang="en-US" altLang="en-US" sz="2000" dirty="0"/>
          </a:p>
        </p:txBody>
      </p:sp>
      <p:sp>
        <p:nvSpPr>
          <p:cNvPr id="10242" name="Slide Number Placeholder 3">
            <a:extLst>
              <a:ext uri="{FF2B5EF4-FFF2-40B4-BE49-F238E27FC236}">
                <a16:creationId xmlns:a16="http://schemas.microsoft.com/office/drawing/2014/main" id="{7A79BE94-7F98-4786-2D27-72DF08FD2B62}"/>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CAB30DE9-DFFF-4589-94E0-06D494FAC6D0}" type="slidenum">
              <a:rPr lang="de-DE" altLang="en-US" sz="1900">
                <a:solidFill>
                  <a:schemeClr val="tx1">
                    <a:lumMod val="50000"/>
                    <a:lumOff val="50000"/>
                  </a:schemeClr>
                </a:solidFill>
              </a:rPr>
              <a:pPr>
                <a:lnSpc>
                  <a:spcPct val="90000"/>
                </a:lnSpc>
                <a:spcAft>
                  <a:spcPts val="600"/>
                </a:spcAft>
              </a:pPr>
              <a:t>24</a:t>
            </a:fld>
            <a:endParaRPr lang="de-DE" altLang="en-US" sz="1900">
              <a:solidFill>
                <a:schemeClr val="tx1">
                  <a:lumMod val="50000"/>
                  <a:lumOff val="50000"/>
                </a:schemeClr>
              </a:solidFill>
            </a:endParaRPr>
          </a:p>
        </p:txBody>
      </p:sp>
    </p:spTree>
    <p:extLst>
      <p:ext uri="{BB962C8B-B14F-4D97-AF65-F5344CB8AC3E}">
        <p14:creationId xmlns:p14="http://schemas.microsoft.com/office/powerpoint/2010/main" val="14295622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275" name="Rectangle 11274">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277" name="Rectangle 11276">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66" name="Title 1">
            <a:extLst>
              <a:ext uri="{FF2B5EF4-FFF2-40B4-BE49-F238E27FC236}">
                <a16:creationId xmlns:a16="http://schemas.microsoft.com/office/drawing/2014/main" id="{34CE99F5-DCCF-658E-2E76-6640434CE836}"/>
              </a:ext>
            </a:extLst>
          </p:cNvPr>
          <p:cNvSpPr>
            <a:spLocks noGrp="1"/>
          </p:cNvSpPr>
          <p:nvPr>
            <p:ph type="title"/>
          </p:nvPr>
        </p:nvSpPr>
        <p:spPr>
          <a:xfrm>
            <a:off x="1115568" y="548640"/>
            <a:ext cx="10168128" cy="1179576"/>
          </a:xfrm>
        </p:spPr>
        <p:txBody>
          <a:bodyPr>
            <a:normAutofit/>
          </a:bodyPr>
          <a:lstStyle/>
          <a:p>
            <a:r>
              <a:rPr lang="en-US" altLang="en-US" sz="4000" dirty="0"/>
              <a:t>Grasp Patterns Summary</a:t>
            </a:r>
          </a:p>
        </p:txBody>
      </p:sp>
      <p:sp>
        <p:nvSpPr>
          <p:cNvPr id="11279" name="Rectangle 11278">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1268" name="Slide Number Placeholder 3">
            <a:extLst>
              <a:ext uri="{FF2B5EF4-FFF2-40B4-BE49-F238E27FC236}">
                <a16:creationId xmlns:a16="http://schemas.microsoft.com/office/drawing/2014/main" id="{FDD81628-C696-1862-709C-198343093498}"/>
              </a:ext>
            </a:extLst>
          </p:cNvPr>
          <p:cNvSpPr>
            <a:spLocks noGrp="1"/>
          </p:cNvSpPr>
          <p:nvPr>
            <p:ph type="sldNum" sz="quarter" idx="10"/>
          </p:nvPr>
        </p:nvSpPr>
        <p:spPr>
          <a:xfrm>
            <a:off x="8540496"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993D3883-ADE9-408C-8722-B3FA2DD00400}" type="slidenum">
              <a:rPr lang="de-DE" altLang="en-US" sz="1900">
                <a:solidFill>
                  <a:schemeClr val="tx1">
                    <a:lumMod val="50000"/>
                    <a:lumOff val="50000"/>
                  </a:schemeClr>
                </a:solidFill>
              </a:rPr>
              <a:pPr>
                <a:lnSpc>
                  <a:spcPct val="90000"/>
                </a:lnSpc>
                <a:spcAft>
                  <a:spcPts val="600"/>
                </a:spcAft>
              </a:pPr>
              <a:t>25</a:t>
            </a:fld>
            <a:endParaRPr lang="de-DE" altLang="en-US" sz="1900">
              <a:solidFill>
                <a:schemeClr val="tx1">
                  <a:lumMod val="50000"/>
                  <a:lumOff val="50000"/>
                </a:schemeClr>
              </a:solidFill>
            </a:endParaRPr>
          </a:p>
        </p:txBody>
      </p:sp>
      <p:graphicFrame>
        <p:nvGraphicFramePr>
          <p:cNvPr id="4" name="Content Placeholder 3">
            <a:extLst>
              <a:ext uri="{FF2B5EF4-FFF2-40B4-BE49-F238E27FC236}">
                <a16:creationId xmlns:a16="http://schemas.microsoft.com/office/drawing/2014/main" id="{899EE5FB-135B-9D22-3AF3-259959BD4BE5}"/>
              </a:ext>
            </a:extLst>
          </p:cNvPr>
          <p:cNvGraphicFramePr>
            <a:graphicFrameLocks noGrp="1"/>
          </p:cNvGraphicFramePr>
          <p:nvPr>
            <p:ph idx="1"/>
            <p:extLst>
              <p:ext uri="{D42A27DB-BD31-4B8C-83A1-F6EECF244321}">
                <p14:modId xmlns:p14="http://schemas.microsoft.com/office/powerpoint/2010/main" val="2953308137"/>
              </p:ext>
            </p:extLst>
          </p:nvPr>
        </p:nvGraphicFramePr>
        <p:xfrm>
          <a:off x="466344" y="1619783"/>
          <a:ext cx="10729830" cy="5238217"/>
        </p:xfrm>
        <a:graphic>
          <a:graphicData uri="http://schemas.openxmlformats.org/drawingml/2006/table">
            <a:tbl>
              <a:tblPr/>
              <a:tblGrid>
                <a:gridCol w="2194561">
                  <a:extLst>
                    <a:ext uri="{9D8B030D-6E8A-4147-A177-3AD203B41FA5}">
                      <a16:colId xmlns:a16="http://schemas.microsoft.com/office/drawing/2014/main" val="30408811"/>
                    </a:ext>
                  </a:extLst>
                </a:gridCol>
                <a:gridCol w="3657600">
                  <a:extLst>
                    <a:ext uri="{9D8B030D-6E8A-4147-A177-3AD203B41FA5}">
                      <a16:colId xmlns:a16="http://schemas.microsoft.com/office/drawing/2014/main" val="2543357398"/>
                    </a:ext>
                  </a:extLst>
                </a:gridCol>
                <a:gridCol w="4877669">
                  <a:extLst>
                    <a:ext uri="{9D8B030D-6E8A-4147-A177-3AD203B41FA5}">
                      <a16:colId xmlns:a16="http://schemas.microsoft.com/office/drawing/2014/main" val="4143394177"/>
                    </a:ext>
                  </a:extLst>
                </a:gridCol>
              </a:tblGrid>
              <a:tr h="311730">
                <a:tc>
                  <a:txBody>
                    <a:bodyPr/>
                    <a:lstStyle/>
                    <a:p>
                      <a:pPr>
                        <a:buNone/>
                      </a:pPr>
                      <a:r>
                        <a:rPr lang="en-US" sz="1600" b="1"/>
                        <a:t>Pattern</a:t>
                      </a:r>
                      <a:endParaRPr lang="en-US" sz="1600"/>
                    </a:p>
                  </a:txBody>
                  <a:tcPr marL="39921" marR="39921" marT="19960" marB="19960" anchor="ctr">
                    <a:lnL>
                      <a:noFill/>
                    </a:lnL>
                    <a:lnR>
                      <a:noFill/>
                    </a:lnR>
                    <a:lnT>
                      <a:noFill/>
                    </a:lnT>
                    <a:lnB>
                      <a:noFill/>
                    </a:lnB>
                    <a:noFill/>
                  </a:tcPr>
                </a:tc>
                <a:tc>
                  <a:txBody>
                    <a:bodyPr/>
                    <a:lstStyle/>
                    <a:p>
                      <a:pPr>
                        <a:buNone/>
                      </a:pPr>
                      <a:r>
                        <a:rPr lang="en-US" sz="1600" b="1"/>
                        <a:t>Problem It Solves</a:t>
                      </a:r>
                      <a:endParaRPr lang="en-US" sz="1600"/>
                    </a:p>
                  </a:txBody>
                  <a:tcPr marL="39921" marR="39921" marT="19960" marB="19960" anchor="ctr">
                    <a:lnL>
                      <a:noFill/>
                    </a:lnL>
                    <a:lnR>
                      <a:noFill/>
                    </a:lnR>
                    <a:lnT>
                      <a:noFill/>
                    </a:lnT>
                    <a:lnB>
                      <a:noFill/>
                    </a:lnB>
                    <a:noFill/>
                  </a:tcPr>
                </a:tc>
                <a:tc>
                  <a:txBody>
                    <a:bodyPr/>
                    <a:lstStyle/>
                    <a:p>
                      <a:pPr>
                        <a:buNone/>
                      </a:pPr>
                      <a:r>
                        <a:rPr lang="en-US" sz="1600" b="1"/>
                        <a:t>Solution (Responsibility Assignment)</a:t>
                      </a:r>
                      <a:endParaRPr lang="en-US" sz="1600"/>
                    </a:p>
                  </a:txBody>
                  <a:tcPr marL="39921" marR="39921" marT="19960" marB="19960" anchor="ctr">
                    <a:lnL>
                      <a:noFill/>
                    </a:lnL>
                    <a:lnR>
                      <a:noFill/>
                    </a:lnR>
                    <a:lnT>
                      <a:noFill/>
                    </a:lnT>
                    <a:lnB>
                      <a:noFill/>
                    </a:lnB>
                    <a:noFill/>
                  </a:tcPr>
                </a:tc>
                <a:extLst>
                  <a:ext uri="{0D108BD9-81ED-4DB2-BD59-A6C34878D82A}">
                    <a16:rowId xmlns:a16="http://schemas.microsoft.com/office/drawing/2014/main" val="2103047628"/>
                  </a:ext>
                </a:extLst>
              </a:tr>
              <a:tr h="445667">
                <a:tc>
                  <a:txBody>
                    <a:bodyPr/>
                    <a:lstStyle/>
                    <a:p>
                      <a:pPr>
                        <a:buNone/>
                      </a:pPr>
                      <a:r>
                        <a:rPr lang="en-US" sz="1600" b="1"/>
                        <a:t>Information Expert</a:t>
                      </a:r>
                      <a:endParaRPr lang="en-US" sz="1600"/>
                    </a:p>
                  </a:txBody>
                  <a:tcPr marL="39921" marR="39921" marT="19960" marB="19960" anchor="ctr">
                    <a:lnL>
                      <a:noFill/>
                    </a:lnL>
                    <a:lnR>
                      <a:noFill/>
                    </a:lnR>
                    <a:lnT>
                      <a:noFill/>
                    </a:lnT>
                    <a:lnB>
                      <a:noFill/>
                    </a:lnB>
                    <a:noFill/>
                  </a:tcPr>
                </a:tc>
                <a:tc>
                  <a:txBody>
                    <a:bodyPr/>
                    <a:lstStyle/>
                    <a:p>
                      <a:pPr>
                        <a:buNone/>
                      </a:pPr>
                      <a:r>
                        <a:rPr lang="en-US" sz="1600"/>
                        <a:t>Who should be responsible for a behavior?</a:t>
                      </a:r>
                    </a:p>
                  </a:txBody>
                  <a:tcPr marL="39921" marR="39921" marT="19960" marB="19960" anchor="ctr">
                    <a:lnL>
                      <a:noFill/>
                    </a:lnL>
                    <a:lnR>
                      <a:noFill/>
                    </a:lnR>
                    <a:lnT>
                      <a:noFill/>
                    </a:lnT>
                    <a:lnB>
                      <a:noFill/>
                    </a:lnB>
                    <a:noFill/>
                  </a:tcPr>
                </a:tc>
                <a:tc>
                  <a:txBody>
                    <a:bodyPr/>
                    <a:lstStyle/>
                    <a:p>
                      <a:pPr>
                        <a:buNone/>
                      </a:pPr>
                      <a:r>
                        <a:rPr lang="en-US" sz="1600"/>
                        <a:t>Assign to the class that has the necessary information.</a:t>
                      </a:r>
                    </a:p>
                  </a:txBody>
                  <a:tcPr marL="39921" marR="39921" marT="19960" marB="19960" anchor="ctr">
                    <a:lnL>
                      <a:noFill/>
                    </a:lnL>
                    <a:lnR>
                      <a:noFill/>
                    </a:lnR>
                    <a:lnT>
                      <a:noFill/>
                    </a:lnT>
                    <a:lnB>
                      <a:noFill/>
                    </a:lnB>
                    <a:noFill/>
                  </a:tcPr>
                </a:tc>
                <a:extLst>
                  <a:ext uri="{0D108BD9-81ED-4DB2-BD59-A6C34878D82A}">
                    <a16:rowId xmlns:a16="http://schemas.microsoft.com/office/drawing/2014/main" val="3748683408"/>
                  </a:ext>
                </a:extLst>
              </a:tr>
              <a:tr h="579604">
                <a:tc>
                  <a:txBody>
                    <a:bodyPr/>
                    <a:lstStyle/>
                    <a:p>
                      <a:pPr>
                        <a:buNone/>
                      </a:pPr>
                      <a:r>
                        <a:rPr lang="en-US" sz="1600" b="1"/>
                        <a:t>Creator</a:t>
                      </a:r>
                      <a:endParaRPr lang="en-US" sz="1600"/>
                    </a:p>
                  </a:txBody>
                  <a:tcPr marL="39921" marR="39921" marT="19960" marB="19960" anchor="ctr">
                    <a:lnL>
                      <a:noFill/>
                    </a:lnL>
                    <a:lnR>
                      <a:noFill/>
                    </a:lnR>
                    <a:lnT>
                      <a:noFill/>
                    </a:lnT>
                    <a:lnB>
                      <a:noFill/>
                    </a:lnB>
                    <a:noFill/>
                  </a:tcPr>
                </a:tc>
                <a:tc>
                  <a:txBody>
                    <a:bodyPr/>
                    <a:lstStyle/>
                    <a:p>
                      <a:pPr>
                        <a:buNone/>
                      </a:pPr>
                      <a:r>
                        <a:rPr lang="en-US" sz="1600"/>
                        <a:t>Who should create a new object?</a:t>
                      </a:r>
                    </a:p>
                  </a:txBody>
                  <a:tcPr marL="39921" marR="39921" marT="19960" marB="19960" anchor="ctr">
                    <a:lnL>
                      <a:noFill/>
                    </a:lnL>
                    <a:lnR>
                      <a:noFill/>
                    </a:lnR>
                    <a:lnT>
                      <a:noFill/>
                    </a:lnT>
                    <a:lnB>
                      <a:noFill/>
                    </a:lnB>
                    <a:noFill/>
                  </a:tcPr>
                </a:tc>
                <a:tc>
                  <a:txBody>
                    <a:bodyPr/>
                    <a:lstStyle/>
                    <a:p>
                      <a:pPr>
                        <a:buNone/>
                      </a:pPr>
                      <a:r>
                        <a:rPr lang="en-US" sz="1600"/>
                        <a:t>Assign creation to a class that aggregates, closely uses, records, or has init. data.</a:t>
                      </a:r>
                    </a:p>
                  </a:txBody>
                  <a:tcPr marL="39921" marR="39921" marT="19960" marB="19960" anchor="ctr">
                    <a:lnL>
                      <a:noFill/>
                    </a:lnL>
                    <a:lnR>
                      <a:noFill/>
                    </a:lnR>
                    <a:lnT>
                      <a:noFill/>
                    </a:lnT>
                    <a:lnB>
                      <a:noFill/>
                    </a:lnB>
                    <a:noFill/>
                  </a:tcPr>
                </a:tc>
                <a:extLst>
                  <a:ext uri="{0D108BD9-81ED-4DB2-BD59-A6C34878D82A}">
                    <a16:rowId xmlns:a16="http://schemas.microsoft.com/office/drawing/2014/main" val="2024329949"/>
                  </a:ext>
                </a:extLst>
              </a:tr>
              <a:tr h="445667">
                <a:tc>
                  <a:txBody>
                    <a:bodyPr/>
                    <a:lstStyle/>
                    <a:p>
                      <a:pPr>
                        <a:buNone/>
                      </a:pPr>
                      <a:r>
                        <a:rPr lang="en-US" sz="1600" b="1" dirty="0"/>
                        <a:t>Controller</a:t>
                      </a:r>
                      <a:endParaRPr lang="en-US" sz="1600" dirty="0"/>
                    </a:p>
                  </a:txBody>
                  <a:tcPr marL="39921" marR="39921" marT="19960" marB="19960" anchor="ctr">
                    <a:lnL>
                      <a:noFill/>
                    </a:lnL>
                    <a:lnR>
                      <a:noFill/>
                    </a:lnR>
                    <a:lnT>
                      <a:noFill/>
                    </a:lnT>
                    <a:lnB>
                      <a:noFill/>
                    </a:lnB>
                    <a:noFill/>
                  </a:tcPr>
                </a:tc>
                <a:tc>
                  <a:txBody>
                    <a:bodyPr/>
                    <a:lstStyle/>
                    <a:p>
                      <a:pPr>
                        <a:buNone/>
                      </a:pPr>
                      <a:r>
                        <a:rPr lang="en-US" sz="1600" dirty="0"/>
                        <a:t>Who handles a system event (use case input)?</a:t>
                      </a:r>
                    </a:p>
                  </a:txBody>
                  <a:tcPr marL="39921" marR="39921" marT="19960" marB="19960" anchor="ctr">
                    <a:lnL>
                      <a:noFill/>
                    </a:lnL>
                    <a:lnR>
                      <a:noFill/>
                    </a:lnR>
                    <a:lnT>
                      <a:noFill/>
                    </a:lnT>
                    <a:lnB>
                      <a:noFill/>
                    </a:lnB>
                    <a:noFill/>
                  </a:tcPr>
                </a:tc>
                <a:tc>
                  <a:txBody>
                    <a:bodyPr/>
                    <a:lstStyle/>
                    <a:p>
                      <a:pPr>
                        <a:buNone/>
                      </a:pPr>
                      <a:r>
                        <a:rPr lang="en-US" sz="1600"/>
                        <a:t>Assign to a controller class representing the system or a use case.</a:t>
                      </a:r>
                    </a:p>
                  </a:txBody>
                  <a:tcPr marL="39921" marR="39921" marT="19960" marB="19960" anchor="ctr">
                    <a:lnL>
                      <a:noFill/>
                    </a:lnL>
                    <a:lnR>
                      <a:noFill/>
                    </a:lnR>
                    <a:lnT>
                      <a:noFill/>
                    </a:lnT>
                    <a:lnB>
                      <a:noFill/>
                    </a:lnB>
                    <a:noFill/>
                  </a:tcPr>
                </a:tc>
                <a:extLst>
                  <a:ext uri="{0D108BD9-81ED-4DB2-BD59-A6C34878D82A}">
                    <a16:rowId xmlns:a16="http://schemas.microsoft.com/office/drawing/2014/main" val="3337434726"/>
                  </a:ext>
                </a:extLst>
              </a:tr>
              <a:tr h="579604">
                <a:tc>
                  <a:txBody>
                    <a:bodyPr/>
                    <a:lstStyle/>
                    <a:p>
                      <a:pPr>
                        <a:buNone/>
                      </a:pPr>
                      <a:r>
                        <a:rPr lang="en-US" sz="1600" b="1"/>
                        <a:t>Low Coupling</a:t>
                      </a:r>
                      <a:endParaRPr lang="en-US" sz="1600"/>
                    </a:p>
                  </a:txBody>
                  <a:tcPr marL="39921" marR="39921" marT="19960" marB="19960" anchor="ctr">
                    <a:lnL>
                      <a:noFill/>
                    </a:lnL>
                    <a:lnR>
                      <a:noFill/>
                    </a:lnR>
                    <a:lnT>
                      <a:noFill/>
                    </a:lnT>
                    <a:lnB>
                      <a:noFill/>
                    </a:lnB>
                    <a:noFill/>
                  </a:tcPr>
                </a:tc>
                <a:tc>
                  <a:txBody>
                    <a:bodyPr/>
                    <a:lstStyle/>
                    <a:p>
                      <a:pPr>
                        <a:buNone/>
                      </a:pPr>
                      <a:r>
                        <a:rPr lang="en-US" sz="1600"/>
                        <a:t>How to reduce dependency between classes?</a:t>
                      </a:r>
                    </a:p>
                  </a:txBody>
                  <a:tcPr marL="39921" marR="39921" marT="19960" marB="19960" anchor="ctr">
                    <a:lnL>
                      <a:noFill/>
                    </a:lnL>
                    <a:lnR>
                      <a:noFill/>
                    </a:lnR>
                    <a:lnT>
                      <a:noFill/>
                    </a:lnT>
                    <a:lnB>
                      <a:noFill/>
                    </a:lnB>
                    <a:noFill/>
                  </a:tcPr>
                </a:tc>
                <a:tc>
                  <a:txBody>
                    <a:bodyPr/>
                    <a:lstStyle/>
                    <a:p>
                      <a:pPr>
                        <a:buNone/>
                      </a:pPr>
                      <a:r>
                        <a:rPr lang="en-US" sz="1600" dirty="0"/>
                        <a:t>Assign responsibilities to keep dependencies minimal.</a:t>
                      </a:r>
                    </a:p>
                  </a:txBody>
                  <a:tcPr marL="39921" marR="39921" marT="19960" marB="19960" anchor="ctr">
                    <a:lnL>
                      <a:noFill/>
                    </a:lnL>
                    <a:lnR>
                      <a:noFill/>
                    </a:lnR>
                    <a:lnT>
                      <a:noFill/>
                    </a:lnT>
                    <a:lnB>
                      <a:noFill/>
                    </a:lnB>
                    <a:noFill/>
                  </a:tcPr>
                </a:tc>
                <a:extLst>
                  <a:ext uri="{0D108BD9-81ED-4DB2-BD59-A6C34878D82A}">
                    <a16:rowId xmlns:a16="http://schemas.microsoft.com/office/drawing/2014/main" val="2847709642"/>
                  </a:ext>
                </a:extLst>
              </a:tr>
              <a:tr h="579604">
                <a:tc>
                  <a:txBody>
                    <a:bodyPr/>
                    <a:lstStyle/>
                    <a:p>
                      <a:pPr>
                        <a:buNone/>
                      </a:pPr>
                      <a:r>
                        <a:rPr lang="en-US" sz="1600" b="1"/>
                        <a:t>High Cohesion</a:t>
                      </a:r>
                      <a:endParaRPr lang="en-US" sz="1600"/>
                    </a:p>
                  </a:txBody>
                  <a:tcPr marL="39921" marR="39921" marT="19960" marB="19960" anchor="ctr">
                    <a:lnL>
                      <a:noFill/>
                    </a:lnL>
                    <a:lnR>
                      <a:noFill/>
                    </a:lnR>
                    <a:lnT>
                      <a:noFill/>
                    </a:lnT>
                    <a:lnB>
                      <a:noFill/>
                    </a:lnB>
                    <a:noFill/>
                  </a:tcPr>
                </a:tc>
                <a:tc>
                  <a:txBody>
                    <a:bodyPr/>
                    <a:lstStyle/>
                    <a:p>
                      <a:pPr>
                        <a:buNone/>
                      </a:pPr>
                      <a:r>
                        <a:rPr lang="en-US" sz="1600"/>
                        <a:t>How to keep classes focused and manageable?</a:t>
                      </a:r>
                    </a:p>
                  </a:txBody>
                  <a:tcPr marL="39921" marR="39921" marT="19960" marB="19960" anchor="ctr">
                    <a:lnL>
                      <a:noFill/>
                    </a:lnL>
                    <a:lnR>
                      <a:noFill/>
                    </a:lnR>
                    <a:lnT>
                      <a:noFill/>
                    </a:lnT>
                    <a:lnB>
                      <a:noFill/>
                    </a:lnB>
                    <a:noFill/>
                  </a:tcPr>
                </a:tc>
                <a:tc>
                  <a:txBody>
                    <a:bodyPr/>
                    <a:lstStyle/>
                    <a:p>
                      <a:pPr>
                        <a:buNone/>
                      </a:pPr>
                      <a:r>
                        <a:rPr lang="en-US" sz="1600"/>
                        <a:t>Assign related responsibilities together; avoid unrelated ones in the same class.</a:t>
                      </a:r>
                    </a:p>
                  </a:txBody>
                  <a:tcPr marL="39921" marR="39921" marT="19960" marB="19960" anchor="ctr">
                    <a:lnL>
                      <a:noFill/>
                    </a:lnL>
                    <a:lnR>
                      <a:noFill/>
                    </a:lnR>
                    <a:lnT>
                      <a:noFill/>
                    </a:lnT>
                    <a:lnB>
                      <a:noFill/>
                    </a:lnB>
                    <a:noFill/>
                  </a:tcPr>
                </a:tc>
                <a:extLst>
                  <a:ext uri="{0D108BD9-81ED-4DB2-BD59-A6C34878D82A}">
                    <a16:rowId xmlns:a16="http://schemas.microsoft.com/office/drawing/2014/main" val="104854710"/>
                  </a:ext>
                </a:extLst>
              </a:tr>
              <a:tr h="579604">
                <a:tc>
                  <a:txBody>
                    <a:bodyPr/>
                    <a:lstStyle/>
                    <a:p>
                      <a:pPr>
                        <a:buNone/>
                      </a:pPr>
                      <a:r>
                        <a:rPr lang="en-US" sz="1600" b="1"/>
                        <a:t>Polymorphism</a:t>
                      </a:r>
                      <a:endParaRPr lang="en-US" sz="1600"/>
                    </a:p>
                  </a:txBody>
                  <a:tcPr marL="39921" marR="39921" marT="19960" marB="19960" anchor="ctr">
                    <a:lnL>
                      <a:noFill/>
                    </a:lnL>
                    <a:lnR>
                      <a:noFill/>
                    </a:lnR>
                    <a:lnT>
                      <a:noFill/>
                    </a:lnT>
                    <a:lnB>
                      <a:noFill/>
                    </a:lnB>
                    <a:noFill/>
                  </a:tcPr>
                </a:tc>
                <a:tc>
                  <a:txBody>
                    <a:bodyPr/>
                    <a:lstStyle/>
                    <a:p>
                      <a:pPr>
                        <a:buNone/>
                      </a:pPr>
                      <a:r>
                        <a:rPr lang="en-US" sz="1600"/>
                        <a:t>How to handle behavior that varies by type?</a:t>
                      </a:r>
                    </a:p>
                  </a:txBody>
                  <a:tcPr marL="39921" marR="39921" marT="19960" marB="19960" anchor="ctr">
                    <a:lnL>
                      <a:noFill/>
                    </a:lnL>
                    <a:lnR>
                      <a:noFill/>
                    </a:lnR>
                    <a:lnT>
                      <a:noFill/>
                    </a:lnT>
                    <a:lnB>
                      <a:noFill/>
                    </a:lnB>
                    <a:noFill/>
                  </a:tcPr>
                </a:tc>
                <a:tc>
                  <a:txBody>
                    <a:bodyPr/>
                    <a:lstStyle/>
                    <a:p>
                      <a:pPr>
                        <a:buNone/>
                      </a:pPr>
                      <a:r>
                        <a:rPr lang="en-US" sz="1600" dirty="0"/>
                        <a:t>Assign responsibility for variant behavior to the type that varies, using polymorphism.</a:t>
                      </a:r>
                    </a:p>
                  </a:txBody>
                  <a:tcPr marL="39921" marR="39921" marT="19960" marB="19960" anchor="ctr">
                    <a:lnL>
                      <a:noFill/>
                    </a:lnL>
                    <a:lnR>
                      <a:noFill/>
                    </a:lnR>
                    <a:lnT>
                      <a:noFill/>
                    </a:lnT>
                    <a:lnB>
                      <a:noFill/>
                    </a:lnB>
                    <a:noFill/>
                  </a:tcPr>
                </a:tc>
                <a:extLst>
                  <a:ext uri="{0D108BD9-81ED-4DB2-BD59-A6C34878D82A}">
                    <a16:rowId xmlns:a16="http://schemas.microsoft.com/office/drawing/2014/main" val="3999962945"/>
                  </a:ext>
                </a:extLst>
              </a:tr>
              <a:tr h="445667">
                <a:tc>
                  <a:txBody>
                    <a:bodyPr/>
                    <a:lstStyle/>
                    <a:p>
                      <a:pPr>
                        <a:buNone/>
                      </a:pPr>
                      <a:r>
                        <a:rPr lang="en-US" sz="1600" b="1"/>
                        <a:t>Pure Fabrication</a:t>
                      </a:r>
                      <a:endParaRPr lang="en-US" sz="1600"/>
                    </a:p>
                  </a:txBody>
                  <a:tcPr marL="39921" marR="39921" marT="19960" marB="19960" anchor="ctr">
                    <a:lnL>
                      <a:noFill/>
                    </a:lnL>
                    <a:lnR>
                      <a:noFill/>
                    </a:lnR>
                    <a:lnT>
                      <a:noFill/>
                    </a:lnT>
                    <a:lnB>
                      <a:noFill/>
                    </a:lnB>
                    <a:noFill/>
                  </a:tcPr>
                </a:tc>
                <a:tc>
                  <a:txBody>
                    <a:bodyPr/>
                    <a:lstStyle/>
                    <a:p>
                      <a:pPr>
                        <a:buNone/>
                      </a:pPr>
                      <a:r>
                        <a:rPr lang="en-US" sz="1600"/>
                        <a:t>What if assigning to a real class hurts cohesion/coupling?</a:t>
                      </a:r>
                    </a:p>
                  </a:txBody>
                  <a:tcPr marL="39921" marR="39921" marT="19960" marB="19960" anchor="ctr">
                    <a:lnL>
                      <a:noFill/>
                    </a:lnL>
                    <a:lnR>
                      <a:noFill/>
                    </a:lnR>
                    <a:lnT>
                      <a:noFill/>
                    </a:lnT>
                    <a:lnB>
                      <a:noFill/>
                    </a:lnB>
                    <a:noFill/>
                  </a:tcPr>
                </a:tc>
                <a:tc>
                  <a:txBody>
                    <a:bodyPr/>
                    <a:lstStyle/>
                    <a:p>
                      <a:pPr>
                        <a:buNone/>
                      </a:pPr>
                      <a:r>
                        <a:rPr lang="en-US" sz="1600" dirty="0"/>
                        <a:t>Create a made-up class to take the responsibility.</a:t>
                      </a:r>
                    </a:p>
                  </a:txBody>
                  <a:tcPr marL="39921" marR="39921" marT="19960" marB="19960" anchor="ctr">
                    <a:lnL>
                      <a:noFill/>
                    </a:lnL>
                    <a:lnR>
                      <a:noFill/>
                    </a:lnR>
                    <a:lnT>
                      <a:noFill/>
                    </a:lnT>
                    <a:lnB>
                      <a:noFill/>
                    </a:lnB>
                    <a:noFill/>
                  </a:tcPr>
                </a:tc>
                <a:extLst>
                  <a:ext uri="{0D108BD9-81ED-4DB2-BD59-A6C34878D82A}">
                    <a16:rowId xmlns:a16="http://schemas.microsoft.com/office/drawing/2014/main" val="1546108656"/>
                  </a:ext>
                </a:extLst>
              </a:tr>
              <a:tr h="445667">
                <a:tc>
                  <a:txBody>
                    <a:bodyPr/>
                    <a:lstStyle/>
                    <a:p>
                      <a:pPr>
                        <a:buNone/>
                      </a:pPr>
                      <a:r>
                        <a:rPr lang="en-US" sz="1600" b="1"/>
                        <a:t>Indirection</a:t>
                      </a:r>
                      <a:endParaRPr lang="en-US" sz="1600"/>
                    </a:p>
                  </a:txBody>
                  <a:tcPr marL="39921" marR="39921" marT="19960" marB="19960" anchor="ctr">
                    <a:lnL>
                      <a:noFill/>
                    </a:lnL>
                    <a:lnR>
                      <a:noFill/>
                    </a:lnR>
                    <a:lnT>
                      <a:noFill/>
                    </a:lnT>
                    <a:lnB>
                      <a:noFill/>
                    </a:lnB>
                    <a:noFill/>
                  </a:tcPr>
                </a:tc>
                <a:tc>
                  <a:txBody>
                    <a:bodyPr/>
                    <a:lstStyle/>
                    <a:p>
                      <a:pPr>
                        <a:buNone/>
                      </a:pPr>
                      <a:r>
                        <a:rPr lang="en-US" sz="1600"/>
                        <a:t>How to avoid direct coupling between two elements?</a:t>
                      </a:r>
                    </a:p>
                  </a:txBody>
                  <a:tcPr marL="39921" marR="39921" marT="19960" marB="19960" anchor="ctr">
                    <a:lnL>
                      <a:noFill/>
                    </a:lnL>
                    <a:lnR>
                      <a:noFill/>
                    </a:lnR>
                    <a:lnT>
                      <a:noFill/>
                    </a:lnT>
                    <a:lnB>
                      <a:noFill/>
                    </a:lnB>
                    <a:noFill/>
                  </a:tcPr>
                </a:tc>
                <a:tc>
                  <a:txBody>
                    <a:bodyPr/>
                    <a:lstStyle/>
                    <a:p>
                      <a:pPr>
                        <a:buNone/>
                      </a:pPr>
                      <a:r>
                        <a:rPr lang="en-US" sz="1600"/>
                        <a:t>Assign responsibility to a mediator class that decouples them.</a:t>
                      </a:r>
                    </a:p>
                  </a:txBody>
                  <a:tcPr marL="39921" marR="39921" marT="19960" marB="19960" anchor="ctr">
                    <a:lnL>
                      <a:noFill/>
                    </a:lnL>
                    <a:lnR>
                      <a:noFill/>
                    </a:lnR>
                    <a:lnT>
                      <a:noFill/>
                    </a:lnT>
                    <a:lnB>
                      <a:noFill/>
                    </a:lnB>
                    <a:noFill/>
                  </a:tcPr>
                </a:tc>
                <a:extLst>
                  <a:ext uri="{0D108BD9-81ED-4DB2-BD59-A6C34878D82A}">
                    <a16:rowId xmlns:a16="http://schemas.microsoft.com/office/drawing/2014/main" val="3459744011"/>
                  </a:ext>
                </a:extLst>
              </a:tr>
              <a:tr h="579604">
                <a:tc>
                  <a:txBody>
                    <a:bodyPr/>
                    <a:lstStyle/>
                    <a:p>
                      <a:pPr>
                        <a:buNone/>
                      </a:pPr>
                      <a:r>
                        <a:rPr lang="en-US" sz="1600" b="1" dirty="0"/>
                        <a:t>Law of Demeter</a:t>
                      </a:r>
                      <a:endParaRPr lang="en-US" sz="1600" dirty="0"/>
                    </a:p>
                  </a:txBody>
                  <a:tcPr marL="39921" marR="39921" marT="19960" marB="19960" anchor="ctr">
                    <a:lnL>
                      <a:noFill/>
                    </a:lnL>
                    <a:lnR>
                      <a:noFill/>
                    </a:lnR>
                    <a:lnT>
                      <a:noFill/>
                    </a:lnT>
                    <a:lnB>
                      <a:noFill/>
                    </a:lnB>
                    <a:noFill/>
                  </a:tcPr>
                </a:tc>
                <a:tc>
                  <a:txBody>
                    <a:bodyPr/>
                    <a:lstStyle/>
                    <a:p>
                      <a:pPr>
                        <a:buNone/>
                      </a:pPr>
                      <a:r>
                        <a:rPr lang="en-US" sz="1600" dirty="0"/>
                        <a:t>How to prevent “train-wreck” chains of calls and fragile coupling</a:t>
                      </a:r>
                    </a:p>
                  </a:txBody>
                  <a:tcPr marL="39921" marR="39921" marT="19960" marB="19960" anchor="ctr">
                    <a:lnL>
                      <a:noFill/>
                    </a:lnL>
                    <a:lnR>
                      <a:noFill/>
                    </a:lnR>
                    <a:lnT>
                      <a:noFill/>
                    </a:lnT>
                    <a:lnB>
                      <a:noFill/>
                    </a:lnB>
                    <a:noFill/>
                  </a:tcPr>
                </a:tc>
                <a:tc>
                  <a:txBody>
                    <a:bodyPr/>
                    <a:lstStyle/>
                    <a:p>
                      <a:pPr>
                        <a:buNone/>
                      </a:pPr>
                      <a:r>
                        <a:rPr lang="en-US" sz="1600" dirty="0"/>
                        <a:t>A method should only talk to its immediate collaborators (self, fields, parameters, new objects).</a:t>
                      </a:r>
                    </a:p>
                  </a:txBody>
                  <a:tcPr anchor="ctr">
                    <a:lnL>
                      <a:noFill/>
                    </a:lnL>
                    <a:lnR>
                      <a:noFill/>
                    </a:lnR>
                    <a:lnT>
                      <a:noFill/>
                    </a:lnT>
                    <a:lnB>
                      <a:noFill/>
                    </a:lnB>
                    <a:noFill/>
                  </a:tcPr>
                </a:tc>
                <a:extLst>
                  <a:ext uri="{0D108BD9-81ED-4DB2-BD59-A6C34878D82A}">
                    <a16:rowId xmlns:a16="http://schemas.microsoft.com/office/drawing/2014/main" val="185456922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E68EFBE-DFC8-7153-3F8D-25FA70D20BAD}"/>
            </a:ext>
          </a:extLst>
        </p:cNvPr>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1BB73ED4-77FE-31AB-85ED-4856DACE25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275" name="Rectangle 11274">
            <a:extLst>
              <a:ext uri="{FF2B5EF4-FFF2-40B4-BE49-F238E27FC236}">
                <a16:creationId xmlns:a16="http://schemas.microsoft.com/office/drawing/2014/main" id="{5B57045A-B0B0-518F-5A2D-5AD9E3707A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1277" name="Rectangle 11276">
            <a:extLst>
              <a:ext uri="{FF2B5EF4-FFF2-40B4-BE49-F238E27FC236}">
                <a16:creationId xmlns:a16="http://schemas.microsoft.com/office/drawing/2014/main" id="{A1AAAAA0-7EE7-E555-74F6-F48274BA7A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266" name="Title 1">
            <a:extLst>
              <a:ext uri="{FF2B5EF4-FFF2-40B4-BE49-F238E27FC236}">
                <a16:creationId xmlns:a16="http://schemas.microsoft.com/office/drawing/2014/main" id="{00AA9F30-CD4E-4BDE-7866-DA8B8D029ADC}"/>
              </a:ext>
            </a:extLst>
          </p:cNvPr>
          <p:cNvSpPr>
            <a:spLocks noGrp="1"/>
          </p:cNvSpPr>
          <p:nvPr>
            <p:ph type="title"/>
          </p:nvPr>
        </p:nvSpPr>
        <p:spPr>
          <a:xfrm>
            <a:off x="1115568" y="548640"/>
            <a:ext cx="10168128" cy="1179576"/>
          </a:xfrm>
        </p:spPr>
        <p:txBody>
          <a:bodyPr>
            <a:normAutofit/>
          </a:bodyPr>
          <a:lstStyle/>
          <a:p>
            <a:r>
              <a:rPr lang="en-US" altLang="en-US" sz="4000"/>
              <a:t>What is a Pattern?</a:t>
            </a:r>
          </a:p>
        </p:txBody>
      </p:sp>
      <p:sp>
        <p:nvSpPr>
          <p:cNvPr id="11279" name="Rectangle 11278">
            <a:extLst>
              <a:ext uri="{FF2B5EF4-FFF2-40B4-BE49-F238E27FC236}">
                <a16:creationId xmlns:a16="http://schemas.microsoft.com/office/drawing/2014/main" id="{FA427440-5501-BFB2-D4D5-76EC12CD93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1267" name="Content Placeholder 2">
            <a:extLst>
              <a:ext uri="{FF2B5EF4-FFF2-40B4-BE49-F238E27FC236}">
                <a16:creationId xmlns:a16="http://schemas.microsoft.com/office/drawing/2014/main" id="{0C72D0B7-5255-7F89-BF71-4BE6825B78E5}"/>
              </a:ext>
            </a:extLst>
          </p:cNvPr>
          <p:cNvSpPr>
            <a:spLocks noGrp="1"/>
          </p:cNvSpPr>
          <p:nvPr>
            <p:ph idx="1"/>
          </p:nvPr>
        </p:nvSpPr>
        <p:spPr>
          <a:xfrm>
            <a:off x="1115568" y="2481943"/>
            <a:ext cx="10168128" cy="3695020"/>
          </a:xfrm>
        </p:spPr>
        <p:txBody>
          <a:bodyPr>
            <a:normAutofit/>
          </a:bodyPr>
          <a:lstStyle/>
          <a:p>
            <a:r>
              <a:rPr lang="en-US" altLang="en-US" sz="3200" dirty="0"/>
              <a:t>General principles and solutions to guide developers in the creation of software</a:t>
            </a:r>
          </a:p>
          <a:p>
            <a:r>
              <a:rPr lang="en-US" altLang="en-US" sz="3200" dirty="0"/>
              <a:t>The pattern is named and documented in a structured format describing the problem and solution</a:t>
            </a:r>
          </a:p>
          <a:p>
            <a:r>
              <a:rPr lang="en-US" altLang="en-US" sz="3200" dirty="0"/>
              <a:t>The pattern can be applied to a new context</a:t>
            </a:r>
          </a:p>
          <a:p>
            <a:r>
              <a:rPr lang="en-US" altLang="en-US" sz="3200" dirty="0"/>
              <a:t>Contains advice on how to apply it in a novel situation, discusses trade-offs, implementations, and variations.</a:t>
            </a:r>
          </a:p>
        </p:txBody>
      </p:sp>
      <p:sp>
        <p:nvSpPr>
          <p:cNvPr id="11268" name="Slide Number Placeholder 3">
            <a:extLst>
              <a:ext uri="{FF2B5EF4-FFF2-40B4-BE49-F238E27FC236}">
                <a16:creationId xmlns:a16="http://schemas.microsoft.com/office/drawing/2014/main" id="{C8580CD6-53A8-5E45-BCC3-C66CA12A7991}"/>
              </a:ext>
            </a:extLst>
          </p:cNvPr>
          <p:cNvSpPr>
            <a:spLocks noGrp="1"/>
          </p:cNvSpPr>
          <p:nvPr>
            <p:ph type="sldNum" sz="quarter" idx="10"/>
          </p:nvPr>
        </p:nvSpPr>
        <p:spPr>
          <a:xfrm>
            <a:off x="8540496"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993D3883-ADE9-408C-8722-B3FA2DD00400}" type="slidenum">
              <a:rPr lang="de-DE" altLang="en-US" sz="1900">
                <a:solidFill>
                  <a:schemeClr val="tx1">
                    <a:lumMod val="50000"/>
                    <a:lumOff val="50000"/>
                  </a:schemeClr>
                </a:solidFill>
              </a:rPr>
              <a:pPr>
                <a:lnSpc>
                  <a:spcPct val="90000"/>
                </a:lnSpc>
                <a:spcAft>
                  <a:spcPts val="600"/>
                </a:spcAft>
              </a:pPr>
              <a:t>26</a:t>
            </a:fld>
            <a:endParaRPr lang="de-DE" altLang="en-US" sz="1900">
              <a:solidFill>
                <a:schemeClr val="tx1">
                  <a:lumMod val="50000"/>
                  <a:lumOff val="50000"/>
                </a:schemeClr>
              </a:solidFill>
            </a:endParaRPr>
          </a:p>
        </p:txBody>
      </p:sp>
    </p:spTree>
    <p:extLst>
      <p:ext uri="{BB962C8B-B14F-4D97-AF65-F5344CB8AC3E}">
        <p14:creationId xmlns:p14="http://schemas.microsoft.com/office/powerpoint/2010/main" val="2968713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751229-0244-4FBB-BED1-407467F4C95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239F60-CD6F-B061-6EB7-ECD43D3A892A}"/>
              </a:ext>
            </a:extLst>
          </p:cNvPr>
          <p:cNvSpPr>
            <a:spLocks noGrp="1"/>
          </p:cNvSpPr>
          <p:nvPr>
            <p:ph type="title"/>
          </p:nvPr>
        </p:nvSpPr>
        <p:spPr>
          <a:xfrm>
            <a:off x="2197101" y="735283"/>
            <a:ext cx="4978399" cy="3165045"/>
          </a:xfrm>
        </p:spPr>
        <p:txBody>
          <a:bodyPr vert="horz" lIns="91440" tIns="45720" rIns="91440" bIns="45720" rtlCol="0" anchor="b">
            <a:normAutofit/>
          </a:bodyPr>
          <a:lstStyle/>
          <a:p>
            <a:r>
              <a:rPr lang="en-US" sz="5200" kern="1200">
                <a:solidFill>
                  <a:schemeClr val="tx1"/>
                </a:solidFill>
                <a:latin typeface="+mj-lt"/>
                <a:ea typeface="+mj-ea"/>
                <a:cs typeface="+mj-cs"/>
              </a:rPr>
              <a:t>EXPERT PATTERN</a:t>
            </a:r>
          </a:p>
        </p:txBody>
      </p:sp>
      <p:pic>
        <p:nvPicPr>
          <p:cNvPr id="6" name="Graphic 5" descr="Head with Gears">
            <a:extLst>
              <a:ext uri="{FF2B5EF4-FFF2-40B4-BE49-F238E27FC236}">
                <a16:creationId xmlns:a16="http://schemas.microsoft.com/office/drawing/2014/main" id="{7C7984A8-A191-B628-B429-17D392D94483}"/>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17549" y="2776619"/>
            <a:ext cx="1289051" cy="1289051"/>
          </a:xfrm>
          <a:prstGeom prst="rect">
            <a:avLst/>
          </a:prstGeom>
        </p:spPr>
      </p:pic>
      <p:pic>
        <p:nvPicPr>
          <p:cNvPr id="8" name="Graphic 7" descr="Head with Gears">
            <a:extLst>
              <a:ext uri="{FF2B5EF4-FFF2-40B4-BE49-F238E27FC236}">
                <a16:creationId xmlns:a16="http://schemas.microsoft.com/office/drawing/2014/main" id="{9666EE60-793A-4E69-9BD0-6FBCC1566D02}"/>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mt="15000"/>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07815" y="716407"/>
            <a:ext cx="5411343" cy="5411343"/>
          </a:xfrm>
          <a:prstGeom prst="rect">
            <a:avLst/>
          </a:prstGeom>
        </p:spPr>
      </p:pic>
    </p:spTree>
    <p:extLst>
      <p:ext uri="{BB962C8B-B14F-4D97-AF65-F5344CB8AC3E}">
        <p14:creationId xmlns:p14="http://schemas.microsoft.com/office/powerpoint/2010/main" val="4830678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297" name="Rectangle 12296">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299" name="Rectangle 12298">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301" name="Rectangle 12300">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291" name="Rectangle 2">
            <a:extLst>
              <a:ext uri="{FF2B5EF4-FFF2-40B4-BE49-F238E27FC236}">
                <a16:creationId xmlns:a16="http://schemas.microsoft.com/office/drawing/2014/main" id="{AE844E94-1890-BB71-CFB0-06A13E1DF98D}"/>
              </a:ext>
            </a:extLst>
          </p:cNvPr>
          <p:cNvSpPr>
            <a:spLocks noGrp="1" noChangeArrowheads="1"/>
          </p:cNvSpPr>
          <p:nvPr>
            <p:ph type="title"/>
          </p:nvPr>
        </p:nvSpPr>
        <p:spPr>
          <a:xfrm>
            <a:off x="1115568" y="548640"/>
            <a:ext cx="10168128" cy="1179576"/>
          </a:xfrm>
        </p:spPr>
        <p:txBody>
          <a:bodyPr>
            <a:normAutofit/>
          </a:bodyPr>
          <a:lstStyle/>
          <a:p>
            <a:r>
              <a:rPr lang="en-US" altLang="en-US" sz="4000"/>
              <a:t>Expert…</a:t>
            </a:r>
          </a:p>
        </p:txBody>
      </p:sp>
      <p:sp>
        <p:nvSpPr>
          <p:cNvPr id="12303" name="Rectangle 12302">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2292" name="Rectangle 3">
            <a:extLst>
              <a:ext uri="{FF2B5EF4-FFF2-40B4-BE49-F238E27FC236}">
                <a16:creationId xmlns:a16="http://schemas.microsoft.com/office/drawing/2014/main" id="{50632358-8218-119E-8D62-9720ADD37688}"/>
              </a:ext>
            </a:extLst>
          </p:cNvPr>
          <p:cNvSpPr>
            <a:spLocks noGrp="1" noChangeArrowheads="1"/>
          </p:cNvSpPr>
          <p:nvPr>
            <p:ph type="body" idx="1"/>
          </p:nvPr>
        </p:nvSpPr>
        <p:spPr>
          <a:xfrm>
            <a:off x="359764" y="2481943"/>
            <a:ext cx="11362844" cy="3695020"/>
          </a:xfrm>
        </p:spPr>
        <p:txBody>
          <a:bodyPr>
            <a:normAutofit/>
          </a:bodyPr>
          <a:lstStyle/>
          <a:p>
            <a:pPr marL="342900" indent="-342900"/>
            <a:r>
              <a:rPr lang="en-US" altLang="en-US" sz="4000" dirty="0"/>
              <a:t>Intent: </a:t>
            </a:r>
          </a:p>
          <a:p>
            <a:pPr marL="742950" lvl="1" indent="-285750"/>
            <a:r>
              <a:rPr lang="en-US" altLang="en-US" sz="4000" dirty="0"/>
              <a:t>Assign a responsibility to the information expert – the class that has the information necessary to fulfill the responsibility.</a:t>
            </a:r>
          </a:p>
          <a:p>
            <a:pPr marL="742950" lvl="1" indent="-285750"/>
            <a:endParaRPr lang="en-US" altLang="en-US" sz="4000" dirty="0"/>
          </a:p>
          <a:p>
            <a:pPr marL="742950" lvl="1" indent="-285750"/>
            <a:r>
              <a:rPr lang="en-US" altLang="en-US" sz="4000" dirty="0"/>
              <a:t>“That which has the information, does the work.”</a:t>
            </a:r>
          </a:p>
        </p:txBody>
      </p:sp>
      <p:sp>
        <p:nvSpPr>
          <p:cNvPr id="12290" name="Slide Number Placeholder 3">
            <a:extLst>
              <a:ext uri="{FF2B5EF4-FFF2-40B4-BE49-F238E27FC236}">
                <a16:creationId xmlns:a16="http://schemas.microsoft.com/office/drawing/2014/main" id="{A27356FC-1135-1C3C-61EE-5F1CCF5B32F0}"/>
              </a:ext>
            </a:extLst>
          </p:cNvPr>
          <p:cNvSpPr>
            <a:spLocks noGrp="1"/>
          </p:cNvSpPr>
          <p:nvPr>
            <p:ph type="sldNum" sz="quarter" idx="10"/>
          </p:nvPr>
        </p:nvSpPr>
        <p:spPr>
          <a:xfrm>
            <a:off x="8540496"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B2921D57-23B3-4A84-AAE1-0908D49FE313}" type="slidenum">
              <a:rPr lang="de-DE" altLang="en-US" sz="1900">
                <a:solidFill>
                  <a:schemeClr val="tx1">
                    <a:lumMod val="50000"/>
                    <a:lumOff val="50000"/>
                  </a:schemeClr>
                </a:solidFill>
              </a:rPr>
              <a:pPr>
                <a:lnSpc>
                  <a:spcPct val="90000"/>
                </a:lnSpc>
                <a:spcAft>
                  <a:spcPts val="600"/>
                </a:spcAft>
              </a:pPr>
              <a:t>28</a:t>
            </a:fld>
            <a:endParaRPr lang="de-DE" altLang="en-US" sz="1900">
              <a:solidFill>
                <a:schemeClr val="tx1">
                  <a:lumMod val="50000"/>
                  <a:lumOff val="50000"/>
                </a:schemeClr>
              </a:solidFil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321" name="Rectangle 13320">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3323" name="Rectangle 13322">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325" name="Rectangle 13324">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315" name="Rectangle 2">
            <a:extLst>
              <a:ext uri="{FF2B5EF4-FFF2-40B4-BE49-F238E27FC236}">
                <a16:creationId xmlns:a16="http://schemas.microsoft.com/office/drawing/2014/main" id="{238278B3-6EFA-48AB-71BC-285C7B3E99C1}"/>
              </a:ext>
            </a:extLst>
          </p:cNvPr>
          <p:cNvSpPr>
            <a:spLocks noGrp="1" noChangeArrowheads="1"/>
          </p:cNvSpPr>
          <p:nvPr>
            <p:ph type="title"/>
          </p:nvPr>
        </p:nvSpPr>
        <p:spPr>
          <a:xfrm>
            <a:off x="1115568" y="548640"/>
            <a:ext cx="10168128" cy="1179576"/>
          </a:xfrm>
        </p:spPr>
        <p:txBody>
          <a:bodyPr>
            <a:normAutofit/>
          </a:bodyPr>
          <a:lstStyle/>
          <a:p>
            <a:r>
              <a:rPr lang="en-US" altLang="en-US" sz="4000"/>
              <a:t>…Expert</a:t>
            </a:r>
          </a:p>
        </p:txBody>
      </p:sp>
      <p:sp>
        <p:nvSpPr>
          <p:cNvPr id="13327" name="Rectangle 13326">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316" name="Rectangle 3">
            <a:extLst>
              <a:ext uri="{FF2B5EF4-FFF2-40B4-BE49-F238E27FC236}">
                <a16:creationId xmlns:a16="http://schemas.microsoft.com/office/drawing/2014/main" id="{EECC3FC0-58C9-EC3D-DE3A-302C2121A857}"/>
              </a:ext>
            </a:extLst>
          </p:cNvPr>
          <p:cNvSpPr>
            <a:spLocks noGrp="1" noChangeArrowheads="1"/>
          </p:cNvSpPr>
          <p:nvPr>
            <p:ph type="body" idx="1"/>
          </p:nvPr>
        </p:nvSpPr>
        <p:spPr>
          <a:xfrm>
            <a:off x="626849" y="2276856"/>
            <a:ext cx="11365281" cy="3900107"/>
          </a:xfrm>
        </p:spPr>
        <p:txBody>
          <a:bodyPr>
            <a:noAutofit/>
          </a:bodyPr>
          <a:lstStyle/>
          <a:p>
            <a:pPr marL="342900" indent="-342900"/>
            <a:r>
              <a:rPr lang="en-US" altLang="en-US" b="1" u="sng" dirty="0"/>
              <a:t>Problem:</a:t>
            </a:r>
          </a:p>
          <a:p>
            <a:pPr marL="742950" lvl="1" indent="-285750"/>
            <a:r>
              <a:rPr lang="en-US" altLang="en-US" sz="2800" dirty="0"/>
              <a:t>What is most basic, general principle of responsibility assignment?</a:t>
            </a:r>
          </a:p>
          <a:p>
            <a:pPr marL="742950" lvl="1" indent="-285750"/>
            <a:r>
              <a:rPr lang="en-US" altLang="en-US" sz="2800" dirty="0"/>
              <a:t>A class model may define hundreds of software classes, and an application may require thousands of responsibilities to be fulfilled.</a:t>
            </a:r>
          </a:p>
          <a:p>
            <a:pPr marL="742950" lvl="1" indent="-285750"/>
            <a:r>
              <a:rPr lang="en-US" altLang="en-US" sz="2800" dirty="0"/>
              <a:t>During OOD we make decisions about the assignment of responsibilities.</a:t>
            </a:r>
          </a:p>
          <a:p>
            <a:pPr marL="742950" lvl="1" indent="-285750"/>
            <a:r>
              <a:rPr lang="en-US" altLang="en-US" sz="2800" dirty="0"/>
              <a:t>Done well, systems tend to be easier to understand, maintain, and extend.</a:t>
            </a:r>
          </a:p>
        </p:txBody>
      </p:sp>
      <p:sp>
        <p:nvSpPr>
          <p:cNvPr id="13314" name="Slide Number Placeholder 3">
            <a:extLst>
              <a:ext uri="{FF2B5EF4-FFF2-40B4-BE49-F238E27FC236}">
                <a16:creationId xmlns:a16="http://schemas.microsoft.com/office/drawing/2014/main" id="{926EBB7F-AF6B-32F0-6FC5-37B432CB69F1}"/>
              </a:ext>
            </a:extLst>
          </p:cNvPr>
          <p:cNvSpPr>
            <a:spLocks noGrp="1"/>
          </p:cNvSpPr>
          <p:nvPr>
            <p:ph type="sldNum" sz="quarter" idx="10"/>
          </p:nvPr>
        </p:nvSpPr>
        <p:spPr>
          <a:xfrm>
            <a:off x="8540496"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86BDFB58-AD85-4217-9612-BB6188AE28E9}" type="slidenum">
              <a:rPr lang="de-DE" altLang="en-US" sz="1900">
                <a:solidFill>
                  <a:schemeClr val="tx1">
                    <a:lumMod val="50000"/>
                    <a:lumOff val="50000"/>
                  </a:schemeClr>
                </a:solidFill>
              </a:rPr>
              <a:pPr>
                <a:lnSpc>
                  <a:spcPct val="90000"/>
                </a:lnSpc>
                <a:spcAft>
                  <a:spcPts val="600"/>
                </a:spcAft>
              </a:pPr>
              <a:t>29</a:t>
            </a:fld>
            <a:endParaRPr lang="de-DE" altLang="en-US" sz="1900">
              <a:solidFill>
                <a:schemeClr val="tx1">
                  <a:lumMod val="50000"/>
                  <a:lumOff val="50000"/>
                </a:schemeClr>
              </a:solidFil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795650" name="Rectangle 2"/>
          <p:cNvSpPr>
            <a:spLocks noGrp="1" noChangeArrowheads="1"/>
          </p:cNvSpPr>
          <p:nvPr>
            <p:ph type="title"/>
          </p:nvPr>
        </p:nvSpPr>
        <p:spPr>
          <a:xfrm>
            <a:off x="910119" y="572569"/>
            <a:ext cx="3380527" cy="1642956"/>
          </a:xfrm>
        </p:spPr>
        <p:txBody>
          <a:bodyPr anchor="b">
            <a:normAutofit/>
          </a:bodyPr>
          <a:lstStyle/>
          <a:p>
            <a:r>
              <a:rPr lang="en-US" altLang="en-US" sz="3600" dirty="0">
                <a:solidFill>
                  <a:schemeClr val="tx2"/>
                </a:solidFill>
              </a:rPr>
              <a:t>Example: Class Diagram</a:t>
            </a:r>
          </a:p>
        </p:txBody>
      </p:sp>
      <p:sp>
        <p:nvSpPr>
          <p:cNvPr id="4" name="Slide Number Placeholder 3"/>
          <p:cNvSpPr>
            <a:spLocks noGrp="1"/>
          </p:cNvSpPr>
          <p:nvPr>
            <p:ph type="sldNum" sz="quarter" idx="10"/>
          </p:nvPr>
        </p:nvSpPr>
        <p:spPr>
          <a:xfrm>
            <a:off x="11445238" y="6356350"/>
            <a:ext cx="54864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CABEAC46-B3E9-42FD-B02C-5AE907EC9AF9}" type="slidenum">
              <a:rPr kumimoji="0" lang="de-DE" sz="1200" b="0" i="0" u="none" strike="noStrike" kern="1200" cap="none" spc="0" normalizeH="0" baseline="0" noProof="0">
                <a:ln>
                  <a:noFill/>
                </a:ln>
                <a:solidFill>
                  <a:srgbClr val="44546A"/>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30</a:t>
            </a:fld>
            <a:endParaRPr kumimoji="0" lang="de-DE" sz="1200" b="0" i="0" u="none" strike="noStrike" kern="1200" cap="none" spc="0" normalizeH="0" baseline="0" noProof="0">
              <a:ln>
                <a:noFill/>
              </a:ln>
              <a:solidFill>
                <a:srgbClr val="44546A"/>
              </a:solidFill>
              <a:effectLst/>
              <a:uLnTx/>
              <a:uFillTx/>
              <a:latin typeface="Calibri" panose="020F0502020204030204"/>
              <a:ea typeface="+mn-ea"/>
              <a:cs typeface="+mn-cs"/>
            </a:endParaRPr>
          </a:p>
        </p:txBody>
      </p:sp>
      <p:grpSp>
        <p:nvGrpSpPr>
          <p:cNvPr id="1028" name="Group 4"/>
          <p:cNvGrpSpPr>
            <a:grpSpLocks noChangeAspect="1"/>
          </p:cNvGrpSpPr>
          <p:nvPr/>
        </p:nvGrpSpPr>
        <p:grpSpPr bwMode="auto">
          <a:xfrm>
            <a:off x="5139176" y="609600"/>
            <a:ext cx="6298079" cy="5638800"/>
            <a:chOff x="863" y="962"/>
            <a:chExt cx="3697" cy="3310"/>
          </a:xfrm>
        </p:grpSpPr>
        <p:sp>
          <p:nvSpPr>
            <p:cNvPr id="1027" name="AutoShape 3"/>
            <p:cNvSpPr>
              <a:spLocks noChangeAspect="1" noChangeArrowheads="1" noTextEdit="1"/>
            </p:cNvSpPr>
            <p:nvPr/>
          </p:nvSpPr>
          <p:spPr bwMode="auto">
            <a:xfrm>
              <a:off x="863" y="962"/>
              <a:ext cx="3697" cy="331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9" name="Rectangle 5"/>
            <p:cNvSpPr>
              <a:spLocks noChangeArrowheads="1"/>
            </p:cNvSpPr>
            <p:nvPr/>
          </p:nvSpPr>
          <p:spPr bwMode="auto">
            <a:xfrm>
              <a:off x="2553"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0" name="Rectangle 6"/>
            <p:cNvSpPr>
              <a:spLocks noChangeArrowheads="1"/>
            </p:cNvSpPr>
            <p:nvPr/>
          </p:nvSpPr>
          <p:spPr bwMode="auto">
            <a:xfrm>
              <a:off x="2706" y="3055"/>
              <a:ext cx="26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register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1" name="Rectangle 7"/>
            <p:cNvSpPr>
              <a:spLocks noChangeArrowheads="1"/>
            </p:cNvSpPr>
            <p:nvPr/>
          </p:nvSpPr>
          <p:spPr bwMode="auto">
            <a:xfrm>
              <a:off x="2553"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2" name="Rectangle 8"/>
            <p:cNvSpPr>
              <a:spLocks noChangeArrowheads="1"/>
            </p:cNvSpPr>
            <p:nvPr/>
          </p:nvSpPr>
          <p:spPr bwMode="auto">
            <a:xfrm>
              <a:off x="3703" y="2268"/>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3" name="Rectangle 9"/>
            <p:cNvSpPr>
              <a:spLocks noChangeArrowheads="1"/>
            </p:cNvSpPr>
            <p:nvPr/>
          </p:nvSpPr>
          <p:spPr bwMode="auto">
            <a:xfrm>
              <a:off x="3930" y="2309"/>
              <a:ext cx="15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Item</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4" name="Rectangle 10"/>
            <p:cNvSpPr>
              <a:spLocks noChangeArrowheads="1"/>
            </p:cNvSpPr>
            <p:nvPr/>
          </p:nvSpPr>
          <p:spPr bwMode="auto">
            <a:xfrm>
              <a:off x="3703" y="2445"/>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5" name="Rectangle 11"/>
            <p:cNvSpPr>
              <a:spLocks noChangeArrowheads="1"/>
            </p:cNvSpPr>
            <p:nvPr/>
          </p:nvSpPr>
          <p:spPr bwMode="auto">
            <a:xfrm>
              <a:off x="2553" y="2222"/>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6" name="Rectangle 12"/>
            <p:cNvSpPr>
              <a:spLocks noChangeArrowheads="1"/>
            </p:cNvSpPr>
            <p:nvPr/>
          </p:nvSpPr>
          <p:spPr bwMode="auto">
            <a:xfrm>
              <a:off x="2720" y="2263"/>
              <a:ext cx="19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Store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7" name="Rectangle 13"/>
            <p:cNvSpPr>
              <a:spLocks noChangeArrowheads="1"/>
            </p:cNvSpPr>
            <p:nvPr/>
          </p:nvSpPr>
          <p:spPr bwMode="auto">
            <a:xfrm>
              <a:off x="2553" y="2399"/>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8" name="Rectangle 14"/>
            <p:cNvSpPr>
              <a:spLocks noChangeArrowheads="1"/>
            </p:cNvSpPr>
            <p:nvPr/>
          </p:nvSpPr>
          <p:spPr bwMode="auto">
            <a:xfrm>
              <a:off x="2599" y="2439"/>
              <a:ext cx="28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address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9" name="Rectangle 15"/>
            <p:cNvSpPr>
              <a:spLocks noChangeArrowheads="1"/>
            </p:cNvSpPr>
            <p:nvPr/>
          </p:nvSpPr>
          <p:spPr bwMode="auto">
            <a:xfrm>
              <a:off x="2599" y="2534"/>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name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0" name="Rectangle 16"/>
            <p:cNvSpPr>
              <a:spLocks noChangeArrowheads="1"/>
            </p:cNvSpPr>
            <p:nvPr/>
          </p:nvSpPr>
          <p:spPr bwMode="auto">
            <a:xfrm>
              <a:off x="1319"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1" name="Rectangle 17"/>
            <p:cNvSpPr>
              <a:spLocks noChangeArrowheads="1"/>
            </p:cNvSpPr>
            <p:nvPr/>
          </p:nvSpPr>
          <p:spPr bwMode="auto">
            <a:xfrm>
              <a:off x="1500" y="3055"/>
              <a:ext cx="16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Sale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2" name="Rectangle 18"/>
            <p:cNvSpPr>
              <a:spLocks noChangeArrowheads="1"/>
            </p:cNvSpPr>
            <p:nvPr/>
          </p:nvSpPr>
          <p:spPr bwMode="auto">
            <a:xfrm>
              <a:off x="1319"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3" name="Rectangle 19"/>
            <p:cNvSpPr>
              <a:spLocks noChangeArrowheads="1"/>
            </p:cNvSpPr>
            <p:nvPr/>
          </p:nvSpPr>
          <p:spPr bwMode="auto">
            <a:xfrm>
              <a:off x="1365" y="3231"/>
              <a:ext cx="15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date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4" name="Rectangle 20"/>
            <p:cNvSpPr>
              <a:spLocks noChangeArrowheads="1"/>
            </p:cNvSpPr>
            <p:nvPr/>
          </p:nvSpPr>
          <p:spPr bwMode="auto">
            <a:xfrm>
              <a:off x="1365" y="3420"/>
              <a:ext cx="15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time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5" name="Rectangle 21"/>
            <p:cNvSpPr>
              <a:spLocks noChangeArrowheads="1"/>
            </p:cNvSpPr>
            <p:nvPr/>
          </p:nvSpPr>
          <p:spPr bwMode="auto">
            <a:xfrm>
              <a:off x="876"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6" name="Rectangle 22"/>
            <p:cNvSpPr>
              <a:spLocks noChangeArrowheads="1"/>
            </p:cNvSpPr>
            <p:nvPr/>
          </p:nvSpPr>
          <p:spPr bwMode="auto">
            <a:xfrm>
              <a:off x="980" y="3950"/>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Payment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7" name="Rectangle 23"/>
            <p:cNvSpPr>
              <a:spLocks noChangeArrowheads="1"/>
            </p:cNvSpPr>
            <p:nvPr/>
          </p:nvSpPr>
          <p:spPr bwMode="auto">
            <a:xfrm>
              <a:off x="876"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8" name="Rectangle 24"/>
            <p:cNvSpPr>
              <a:spLocks noChangeArrowheads="1"/>
            </p:cNvSpPr>
            <p:nvPr/>
          </p:nvSpPr>
          <p:spPr bwMode="auto">
            <a:xfrm>
              <a:off x="922" y="4127"/>
              <a:ext cx="2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amount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9" name="Rectangle 25"/>
            <p:cNvSpPr>
              <a:spLocks noChangeArrowheads="1"/>
            </p:cNvSpPr>
            <p:nvPr/>
          </p:nvSpPr>
          <p:spPr bwMode="auto">
            <a:xfrm>
              <a:off x="1319" y="2134"/>
              <a:ext cx="521"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0" name="Rectangle 26"/>
            <p:cNvSpPr>
              <a:spLocks noChangeArrowheads="1"/>
            </p:cNvSpPr>
            <p:nvPr/>
          </p:nvSpPr>
          <p:spPr bwMode="auto">
            <a:xfrm>
              <a:off x="1480" y="2173"/>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Sales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1" name="Rectangle 27"/>
            <p:cNvSpPr>
              <a:spLocks noChangeArrowheads="1"/>
            </p:cNvSpPr>
            <p:nvPr/>
          </p:nvSpPr>
          <p:spPr bwMode="auto">
            <a:xfrm>
              <a:off x="1426" y="2268"/>
              <a:ext cx="30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LineItem</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2" name="Rectangle 28"/>
            <p:cNvSpPr>
              <a:spLocks noChangeArrowheads="1"/>
            </p:cNvSpPr>
            <p:nvPr/>
          </p:nvSpPr>
          <p:spPr bwMode="auto">
            <a:xfrm>
              <a:off x="1319" y="2401"/>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3" name="Rectangle 29"/>
            <p:cNvSpPr>
              <a:spLocks noChangeArrowheads="1"/>
            </p:cNvSpPr>
            <p:nvPr/>
          </p:nvSpPr>
          <p:spPr bwMode="auto">
            <a:xfrm>
              <a:off x="1365" y="2443"/>
              <a:ext cx="28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quantity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4" name="Rectangle 30"/>
            <p:cNvSpPr>
              <a:spLocks noChangeArrowheads="1"/>
            </p:cNvSpPr>
            <p:nvPr/>
          </p:nvSpPr>
          <p:spPr bwMode="auto">
            <a:xfrm>
              <a:off x="3363" y="3908"/>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5" name="Rectangle 31"/>
            <p:cNvSpPr>
              <a:spLocks noChangeArrowheads="1"/>
            </p:cNvSpPr>
            <p:nvPr/>
          </p:nvSpPr>
          <p:spPr bwMode="auto">
            <a:xfrm>
              <a:off x="3487" y="3950"/>
              <a:ext cx="27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Cashier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6" name="Rectangle 32"/>
            <p:cNvSpPr>
              <a:spLocks noChangeArrowheads="1"/>
            </p:cNvSpPr>
            <p:nvPr/>
          </p:nvSpPr>
          <p:spPr bwMode="auto">
            <a:xfrm>
              <a:off x="3363" y="4086"/>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7" name="Rectangle 33"/>
            <p:cNvSpPr>
              <a:spLocks noChangeArrowheads="1"/>
            </p:cNvSpPr>
            <p:nvPr/>
          </p:nvSpPr>
          <p:spPr bwMode="auto">
            <a:xfrm>
              <a:off x="1774"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8" name="Rectangle 34"/>
            <p:cNvSpPr>
              <a:spLocks noChangeArrowheads="1"/>
            </p:cNvSpPr>
            <p:nvPr/>
          </p:nvSpPr>
          <p:spPr bwMode="auto">
            <a:xfrm>
              <a:off x="1862" y="3950"/>
              <a:ext cx="34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Customer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9" name="Rectangle 35"/>
            <p:cNvSpPr>
              <a:spLocks noChangeArrowheads="1"/>
            </p:cNvSpPr>
            <p:nvPr/>
          </p:nvSpPr>
          <p:spPr bwMode="auto">
            <a:xfrm>
              <a:off x="1774"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0" name="Rectangle 36"/>
            <p:cNvSpPr>
              <a:spLocks noChangeArrowheads="1"/>
            </p:cNvSpPr>
            <p:nvPr/>
          </p:nvSpPr>
          <p:spPr bwMode="auto">
            <a:xfrm>
              <a:off x="3706" y="3107"/>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1" name="Rectangle 37"/>
            <p:cNvSpPr>
              <a:spLocks noChangeArrowheads="1"/>
            </p:cNvSpPr>
            <p:nvPr/>
          </p:nvSpPr>
          <p:spPr bwMode="auto">
            <a:xfrm>
              <a:off x="3811" y="3148"/>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Manager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2" name="Rectangle 38"/>
            <p:cNvSpPr>
              <a:spLocks noChangeArrowheads="1"/>
            </p:cNvSpPr>
            <p:nvPr/>
          </p:nvSpPr>
          <p:spPr bwMode="auto">
            <a:xfrm>
              <a:off x="3706" y="3284"/>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3" name="Rectangle 39"/>
            <p:cNvSpPr>
              <a:spLocks noChangeArrowheads="1"/>
            </p:cNvSpPr>
            <p:nvPr/>
          </p:nvSpPr>
          <p:spPr bwMode="auto">
            <a:xfrm>
              <a:off x="2553" y="1468"/>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4" name="Rectangle 40"/>
            <p:cNvSpPr>
              <a:spLocks noChangeArrowheads="1"/>
            </p:cNvSpPr>
            <p:nvPr/>
          </p:nvSpPr>
          <p:spPr bwMode="auto">
            <a:xfrm>
              <a:off x="2677" y="1507"/>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Product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5" name="Rectangle 41"/>
            <p:cNvSpPr>
              <a:spLocks noChangeArrowheads="1"/>
            </p:cNvSpPr>
            <p:nvPr/>
          </p:nvSpPr>
          <p:spPr bwMode="auto">
            <a:xfrm>
              <a:off x="2679" y="1601"/>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Catalog</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6" name="Rectangle 42"/>
            <p:cNvSpPr>
              <a:spLocks noChangeArrowheads="1"/>
            </p:cNvSpPr>
            <p:nvPr/>
          </p:nvSpPr>
          <p:spPr bwMode="auto">
            <a:xfrm>
              <a:off x="2553" y="173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7" name="Rectangle 43"/>
            <p:cNvSpPr>
              <a:spLocks noChangeArrowheads="1"/>
            </p:cNvSpPr>
            <p:nvPr/>
          </p:nvSpPr>
          <p:spPr bwMode="auto">
            <a:xfrm>
              <a:off x="3700" y="1376"/>
              <a:ext cx="615"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8" name="Rectangle 44"/>
            <p:cNvSpPr>
              <a:spLocks noChangeArrowheads="1"/>
            </p:cNvSpPr>
            <p:nvPr/>
          </p:nvSpPr>
          <p:spPr bwMode="auto">
            <a:xfrm>
              <a:off x="3870" y="1415"/>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Product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9" name="Rectangle 45"/>
            <p:cNvSpPr>
              <a:spLocks noChangeArrowheads="1"/>
            </p:cNvSpPr>
            <p:nvPr/>
          </p:nvSpPr>
          <p:spPr bwMode="auto">
            <a:xfrm>
              <a:off x="3782" y="1509"/>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Specification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0" name="Rectangle 46"/>
            <p:cNvSpPr>
              <a:spLocks noChangeArrowheads="1"/>
            </p:cNvSpPr>
            <p:nvPr/>
          </p:nvSpPr>
          <p:spPr bwMode="auto">
            <a:xfrm>
              <a:off x="3700" y="1643"/>
              <a:ext cx="615"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1" name="Rectangle 47"/>
            <p:cNvSpPr>
              <a:spLocks noChangeArrowheads="1"/>
            </p:cNvSpPr>
            <p:nvPr/>
          </p:nvSpPr>
          <p:spPr bwMode="auto">
            <a:xfrm>
              <a:off x="3746" y="1683"/>
              <a:ext cx="3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description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2" name="Rectangle 48"/>
            <p:cNvSpPr>
              <a:spLocks noChangeArrowheads="1"/>
            </p:cNvSpPr>
            <p:nvPr/>
          </p:nvSpPr>
          <p:spPr bwMode="auto">
            <a:xfrm>
              <a:off x="3746" y="1777"/>
              <a:ext cx="1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price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3" name="Rectangle 49"/>
            <p:cNvSpPr>
              <a:spLocks noChangeArrowheads="1"/>
            </p:cNvSpPr>
            <p:nvPr/>
          </p:nvSpPr>
          <p:spPr bwMode="auto">
            <a:xfrm>
              <a:off x="3746" y="1872"/>
              <a:ext cx="1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UPC</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4" name="Line 50"/>
            <p:cNvSpPr>
              <a:spLocks noChangeShapeType="1"/>
            </p:cNvSpPr>
            <p:nvPr/>
          </p:nvSpPr>
          <p:spPr bwMode="auto">
            <a:xfrm flipH="1">
              <a:off x="3074" y="2445"/>
              <a:ext cx="629"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5" name="Rectangle 51"/>
            <p:cNvSpPr>
              <a:spLocks noChangeArrowheads="1"/>
            </p:cNvSpPr>
            <p:nvPr/>
          </p:nvSpPr>
          <p:spPr bwMode="auto">
            <a:xfrm>
              <a:off x="3268" y="2358"/>
              <a:ext cx="24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Stocks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6" name="Rectangle 52"/>
            <p:cNvSpPr>
              <a:spLocks noChangeArrowheads="1"/>
            </p:cNvSpPr>
            <p:nvPr/>
          </p:nvSpPr>
          <p:spPr bwMode="auto">
            <a:xfrm>
              <a:off x="3576" y="2451"/>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7" name="Line 53"/>
            <p:cNvSpPr>
              <a:spLocks noChangeShapeType="1"/>
            </p:cNvSpPr>
            <p:nvPr/>
          </p:nvSpPr>
          <p:spPr bwMode="auto">
            <a:xfrm flipV="1">
              <a:off x="2814" y="2667"/>
              <a:ext cx="1" cy="347"/>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8" name="Rectangle 54"/>
            <p:cNvSpPr>
              <a:spLocks noChangeArrowheads="1"/>
            </p:cNvSpPr>
            <p:nvPr/>
          </p:nvSpPr>
          <p:spPr bwMode="auto">
            <a:xfrm>
              <a:off x="2925" y="2752"/>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Houses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9" name="Rectangle 55"/>
            <p:cNvSpPr>
              <a:spLocks noChangeArrowheads="1"/>
            </p:cNvSpPr>
            <p:nvPr/>
          </p:nvSpPr>
          <p:spPr bwMode="auto">
            <a:xfrm>
              <a:off x="2881" y="2884"/>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0" name="Rectangle 56"/>
            <p:cNvSpPr>
              <a:spLocks noChangeArrowheads="1"/>
            </p:cNvSpPr>
            <p:nvPr/>
          </p:nvSpPr>
          <p:spPr bwMode="auto">
            <a:xfrm>
              <a:off x="2969" y="2868"/>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284"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1" name="Line 57"/>
            <p:cNvSpPr>
              <a:spLocks noChangeShapeType="1"/>
            </p:cNvSpPr>
            <p:nvPr/>
          </p:nvSpPr>
          <p:spPr bwMode="auto">
            <a:xfrm>
              <a:off x="2814" y="1913"/>
              <a:ext cx="1" cy="309"/>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2" name="Rectangle 58"/>
            <p:cNvSpPr>
              <a:spLocks noChangeArrowheads="1"/>
            </p:cNvSpPr>
            <p:nvPr/>
          </p:nvSpPr>
          <p:spPr bwMode="auto">
            <a:xfrm>
              <a:off x="2914" y="2010"/>
              <a:ext cx="300"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Used-by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3" name="Rectangle 59"/>
            <p:cNvSpPr>
              <a:spLocks noChangeArrowheads="1"/>
            </p:cNvSpPr>
            <p:nvPr/>
          </p:nvSpPr>
          <p:spPr bwMode="auto">
            <a:xfrm>
              <a:off x="2916" y="2095"/>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4" name="Line 60"/>
            <p:cNvSpPr>
              <a:spLocks noChangeShapeType="1"/>
            </p:cNvSpPr>
            <p:nvPr/>
          </p:nvSpPr>
          <p:spPr bwMode="auto">
            <a:xfrm flipH="1">
              <a:off x="3074" y="1690"/>
              <a:ext cx="626"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5" name="Rectangle 61"/>
            <p:cNvSpPr>
              <a:spLocks noChangeArrowheads="1"/>
            </p:cNvSpPr>
            <p:nvPr/>
          </p:nvSpPr>
          <p:spPr bwMode="auto">
            <a:xfrm>
              <a:off x="3231" y="1604"/>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Contains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6" name="Rectangle 62"/>
            <p:cNvSpPr>
              <a:spLocks noChangeArrowheads="1"/>
            </p:cNvSpPr>
            <p:nvPr/>
          </p:nvSpPr>
          <p:spPr bwMode="auto">
            <a:xfrm>
              <a:off x="3548" y="1728"/>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7" name="Rectangle 63"/>
            <p:cNvSpPr>
              <a:spLocks noChangeArrowheads="1"/>
            </p:cNvSpPr>
            <p:nvPr/>
          </p:nvSpPr>
          <p:spPr bwMode="auto">
            <a:xfrm>
              <a:off x="3637" y="1712"/>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284"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8" name="Line 64"/>
            <p:cNvSpPr>
              <a:spLocks noChangeShapeType="1"/>
            </p:cNvSpPr>
            <p:nvPr/>
          </p:nvSpPr>
          <p:spPr bwMode="auto">
            <a:xfrm flipV="1">
              <a:off x="4007" y="2006"/>
              <a:ext cx="1" cy="262"/>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9" name="Rectangle 65"/>
            <p:cNvSpPr>
              <a:spLocks noChangeArrowheads="1"/>
            </p:cNvSpPr>
            <p:nvPr/>
          </p:nvSpPr>
          <p:spPr bwMode="auto">
            <a:xfrm>
              <a:off x="4094" y="2050"/>
              <a:ext cx="35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Describes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0" name="Rectangle 66"/>
            <p:cNvSpPr>
              <a:spLocks noChangeArrowheads="1"/>
            </p:cNvSpPr>
            <p:nvPr/>
          </p:nvSpPr>
          <p:spPr bwMode="auto">
            <a:xfrm>
              <a:off x="4043" y="214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1" name="Line 67"/>
            <p:cNvSpPr>
              <a:spLocks noChangeShapeType="1"/>
            </p:cNvSpPr>
            <p:nvPr/>
          </p:nvSpPr>
          <p:spPr bwMode="auto">
            <a:xfrm flipH="1">
              <a:off x="1840" y="3419"/>
              <a:ext cx="713"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2" name="Rectangle 68"/>
            <p:cNvSpPr>
              <a:spLocks noChangeArrowheads="1"/>
            </p:cNvSpPr>
            <p:nvPr/>
          </p:nvSpPr>
          <p:spPr bwMode="auto">
            <a:xfrm>
              <a:off x="1978" y="3333"/>
              <a:ext cx="44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Captured-on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3" name="Line 69"/>
            <p:cNvSpPr>
              <a:spLocks noChangeShapeType="1"/>
            </p:cNvSpPr>
            <p:nvPr/>
          </p:nvSpPr>
          <p:spPr bwMode="auto">
            <a:xfrm flipV="1">
              <a:off x="1579" y="2579"/>
              <a:ext cx="1" cy="435"/>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4" name="Rectangle 70"/>
            <p:cNvSpPr>
              <a:spLocks noChangeArrowheads="1"/>
            </p:cNvSpPr>
            <p:nvPr/>
          </p:nvSpPr>
          <p:spPr bwMode="auto">
            <a:xfrm>
              <a:off x="1099" y="2756"/>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Contained-in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5" name="Rectangle 71"/>
            <p:cNvSpPr>
              <a:spLocks noChangeArrowheads="1"/>
            </p:cNvSpPr>
            <p:nvPr/>
          </p:nvSpPr>
          <p:spPr bwMode="auto">
            <a:xfrm>
              <a:off x="1646" y="2620"/>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6" name="Rectangle 72"/>
            <p:cNvSpPr>
              <a:spLocks noChangeArrowheads="1"/>
            </p:cNvSpPr>
            <p:nvPr/>
          </p:nvSpPr>
          <p:spPr bwMode="auto">
            <a:xfrm>
              <a:off x="1735" y="2604"/>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284"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7" name="Freeform 73"/>
            <p:cNvSpPr>
              <a:spLocks/>
            </p:cNvSpPr>
            <p:nvPr/>
          </p:nvSpPr>
          <p:spPr bwMode="auto">
            <a:xfrm>
              <a:off x="1686" y="1293"/>
              <a:ext cx="2321" cy="841"/>
            </a:xfrm>
            <a:custGeom>
              <a:avLst/>
              <a:gdLst/>
              <a:ahLst/>
              <a:cxnLst>
                <a:cxn ang="0">
                  <a:pos x="2321" y="83"/>
                </a:cxn>
                <a:cxn ang="0">
                  <a:pos x="2321" y="0"/>
                </a:cxn>
                <a:cxn ang="0">
                  <a:pos x="0" y="0"/>
                </a:cxn>
                <a:cxn ang="0">
                  <a:pos x="0" y="841"/>
                </a:cxn>
              </a:cxnLst>
              <a:rect l="0" t="0" r="r" b="b"/>
              <a:pathLst>
                <a:path w="2321" h="841">
                  <a:moveTo>
                    <a:pt x="2321" y="83"/>
                  </a:moveTo>
                  <a:lnTo>
                    <a:pt x="2321" y="0"/>
                  </a:lnTo>
                  <a:lnTo>
                    <a:pt x="0" y="0"/>
                  </a:lnTo>
                  <a:lnTo>
                    <a:pt x="0" y="841"/>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8" name="Rectangle 74"/>
            <p:cNvSpPr>
              <a:spLocks noChangeArrowheads="1"/>
            </p:cNvSpPr>
            <p:nvPr/>
          </p:nvSpPr>
          <p:spPr bwMode="auto">
            <a:xfrm>
              <a:off x="2615" y="1205"/>
              <a:ext cx="4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Described-by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9" name="Rectangle 75"/>
            <p:cNvSpPr>
              <a:spLocks noChangeArrowheads="1"/>
            </p:cNvSpPr>
            <p:nvPr/>
          </p:nvSpPr>
          <p:spPr bwMode="auto">
            <a:xfrm>
              <a:off x="1735" y="2008"/>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0" name="Freeform 76"/>
            <p:cNvSpPr>
              <a:spLocks/>
            </p:cNvSpPr>
            <p:nvPr/>
          </p:nvSpPr>
          <p:spPr bwMode="auto">
            <a:xfrm>
              <a:off x="1473" y="1071"/>
              <a:ext cx="3016" cy="1374"/>
            </a:xfrm>
            <a:custGeom>
              <a:avLst/>
              <a:gdLst/>
              <a:ahLst/>
              <a:cxnLst>
                <a:cxn ang="0">
                  <a:pos x="0" y="1063"/>
                </a:cxn>
                <a:cxn ang="0">
                  <a:pos x="0" y="0"/>
                </a:cxn>
                <a:cxn ang="0">
                  <a:pos x="3016" y="0"/>
                </a:cxn>
                <a:cxn ang="0">
                  <a:pos x="3016" y="1374"/>
                </a:cxn>
                <a:cxn ang="0">
                  <a:pos x="2839" y="1374"/>
                </a:cxn>
              </a:cxnLst>
              <a:rect l="0" t="0" r="r" b="b"/>
              <a:pathLst>
                <a:path w="3016" h="1374">
                  <a:moveTo>
                    <a:pt x="0" y="1063"/>
                  </a:moveTo>
                  <a:lnTo>
                    <a:pt x="0" y="0"/>
                  </a:lnTo>
                  <a:lnTo>
                    <a:pt x="3016" y="0"/>
                  </a:lnTo>
                  <a:lnTo>
                    <a:pt x="3016" y="1374"/>
                  </a:lnTo>
                  <a:lnTo>
                    <a:pt x="2839" y="137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1" name="Rectangle 77"/>
            <p:cNvSpPr>
              <a:spLocks noChangeArrowheads="1"/>
            </p:cNvSpPr>
            <p:nvPr/>
          </p:nvSpPr>
          <p:spPr bwMode="auto">
            <a:xfrm>
              <a:off x="2702" y="984"/>
              <a:ext cx="5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Records-sale-of</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2" name="Rectangle 78"/>
            <p:cNvSpPr>
              <a:spLocks noChangeArrowheads="1"/>
            </p:cNvSpPr>
            <p:nvPr/>
          </p:nvSpPr>
          <p:spPr bwMode="auto">
            <a:xfrm>
              <a:off x="1330" y="1998"/>
              <a:ext cx="13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0..1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3" name="Line 79"/>
            <p:cNvSpPr>
              <a:spLocks noChangeShapeType="1"/>
            </p:cNvSpPr>
            <p:nvPr/>
          </p:nvSpPr>
          <p:spPr bwMode="auto">
            <a:xfrm flipH="1">
              <a:off x="3074" y="3284"/>
              <a:ext cx="632"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4" name="Rectangle 80"/>
            <p:cNvSpPr>
              <a:spLocks noChangeArrowheads="1"/>
            </p:cNvSpPr>
            <p:nvPr/>
          </p:nvSpPr>
          <p:spPr bwMode="auto">
            <a:xfrm>
              <a:off x="3208" y="3197"/>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Started-by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5" name="Freeform 81"/>
            <p:cNvSpPr>
              <a:spLocks/>
            </p:cNvSpPr>
            <p:nvPr/>
          </p:nvSpPr>
          <p:spPr bwMode="auto">
            <a:xfrm>
              <a:off x="1137" y="3554"/>
              <a:ext cx="336" cy="354"/>
            </a:xfrm>
            <a:custGeom>
              <a:avLst/>
              <a:gdLst/>
              <a:ahLst/>
              <a:cxnLst>
                <a:cxn ang="0">
                  <a:pos x="0" y="354"/>
                </a:cxn>
                <a:cxn ang="0">
                  <a:pos x="0" y="177"/>
                </a:cxn>
                <a:cxn ang="0">
                  <a:pos x="336" y="177"/>
                </a:cxn>
                <a:cxn ang="0">
                  <a:pos x="336" y="0"/>
                </a:cxn>
              </a:cxnLst>
              <a:rect l="0" t="0" r="r" b="b"/>
              <a:pathLst>
                <a:path w="336" h="354">
                  <a:moveTo>
                    <a:pt x="0" y="354"/>
                  </a:moveTo>
                  <a:lnTo>
                    <a:pt x="0" y="177"/>
                  </a:lnTo>
                  <a:lnTo>
                    <a:pt x="336" y="177"/>
                  </a:lnTo>
                  <a:lnTo>
                    <a:pt x="336"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6" name="Rectangle 82"/>
            <p:cNvSpPr>
              <a:spLocks noChangeArrowheads="1"/>
            </p:cNvSpPr>
            <p:nvPr/>
          </p:nvSpPr>
          <p:spPr bwMode="auto">
            <a:xfrm>
              <a:off x="1106" y="3646"/>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Paid-by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7" name="Freeform 83"/>
            <p:cNvSpPr>
              <a:spLocks/>
            </p:cNvSpPr>
            <p:nvPr/>
          </p:nvSpPr>
          <p:spPr bwMode="auto">
            <a:xfrm>
              <a:off x="1686" y="3554"/>
              <a:ext cx="348" cy="354"/>
            </a:xfrm>
            <a:custGeom>
              <a:avLst/>
              <a:gdLst/>
              <a:ahLst/>
              <a:cxnLst>
                <a:cxn ang="0">
                  <a:pos x="348" y="354"/>
                </a:cxn>
                <a:cxn ang="0">
                  <a:pos x="348" y="177"/>
                </a:cxn>
                <a:cxn ang="0">
                  <a:pos x="0" y="177"/>
                </a:cxn>
                <a:cxn ang="0">
                  <a:pos x="0" y="0"/>
                </a:cxn>
              </a:cxnLst>
              <a:rect l="0" t="0" r="r" b="b"/>
              <a:pathLst>
                <a:path w="348" h="354">
                  <a:moveTo>
                    <a:pt x="348" y="354"/>
                  </a:moveTo>
                  <a:lnTo>
                    <a:pt x="348" y="177"/>
                  </a:lnTo>
                  <a:lnTo>
                    <a:pt x="0" y="177"/>
                  </a:lnTo>
                  <a:lnTo>
                    <a:pt x="0"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8" name="Rectangle 84"/>
            <p:cNvSpPr>
              <a:spLocks noChangeArrowheads="1"/>
            </p:cNvSpPr>
            <p:nvPr/>
          </p:nvSpPr>
          <p:spPr bwMode="auto">
            <a:xfrm>
              <a:off x="1794" y="3629"/>
              <a:ext cx="39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Initiated-by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9" name="Freeform 85"/>
            <p:cNvSpPr>
              <a:spLocks/>
            </p:cNvSpPr>
            <p:nvPr/>
          </p:nvSpPr>
          <p:spPr bwMode="auto">
            <a:xfrm>
              <a:off x="1840" y="2556"/>
              <a:ext cx="713" cy="594"/>
            </a:xfrm>
            <a:custGeom>
              <a:avLst/>
              <a:gdLst/>
              <a:ahLst/>
              <a:cxnLst>
                <a:cxn ang="0">
                  <a:pos x="0" y="594"/>
                </a:cxn>
                <a:cxn ang="0">
                  <a:pos x="357" y="594"/>
                </a:cxn>
                <a:cxn ang="0">
                  <a:pos x="357" y="0"/>
                </a:cxn>
                <a:cxn ang="0">
                  <a:pos x="713" y="0"/>
                </a:cxn>
              </a:cxnLst>
              <a:rect l="0" t="0" r="r" b="b"/>
              <a:pathLst>
                <a:path w="713" h="594">
                  <a:moveTo>
                    <a:pt x="0" y="594"/>
                  </a:moveTo>
                  <a:lnTo>
                    <a:pt x="357" y="594"/>
                  </a:lnTo>
                  <a:lnTo>
                    <a:pt x="357" y="0"/>
                  </a:lnTo>
                  <a:lnTo>
                    <a:pt x="713"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0" name="Rectangle 86"/>
            <p:cNvSpPr>
              <a:spLocks noChangeArrowheads="1"/>
            </p:cNvSpPr>
            <p:nvPr/>
          </p:nvSpPr>
          <p:spPr bwMode="auto">
            <a:xfrm>
              <a:off x="2328" y="2706"/>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Logs-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1" name="Rectangle 87"/>
            <p:cNvSpPr>
              <a:spLocks noChangeArrowheads="1"/>
            </p:cNvSpPr>
            <p:nvPr/>
          </p:nvSpPr>
          <p:spPr bwMode="auto">
            <a:xfrm>
              <a:off x="2244" y="2801"/>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completed</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3" name="Rectangle 89"/>
            <p:cNvSpPr>
              <a:spLocks noChangeArrowheads="1"/>
            </p:cNvSpPr>
            <p:nvPr/>
          </p:nvSpPr>
          <p:spPr bwMode="auto">
            <a:xfrm>
              <a:off x="1868" y="300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4" name="Freeform 90"/>
            <p:cNvSpPr>
              <a:spLocks/>
            </p:cNvSpPr>
            <p:nvPr/>
          </p:nvSpPr>
          <p:spPr bwMode="auto">
            <a:xfrm>
              <a:off x="2814" y="3554"/>
              <a:ext cx="808" cy="354"/>
            </a:xfrm>
            <a:custGeom>
              <a:avLst/>
              <a:gdLst/>
              <a:ahLst/>
              <a:cxnLst>
                <a:cxn ang="0">
                  <a:pos x="0" y="0"/>
                </a:cxn>
                <a:cxn ang="0">
                  <a:pos x="0" y="177"/>
                </a:cxn>
                <a:cxn ang="0">
                  <a:pos x="808" y="177"/>
                </a:cxn>
                <a:cxn ang="0">
                  <a:pos x="808" y="354"/>
                </a:cxn>
              </a:cxnLst>
              <a:rect l="0" t="0" r="r" b="b"/>
              <a:pathLst>
                <a:path w="808" h="354">
                  <a:moveTo>
                    <a:pt x="0" y="0"/>
                  </a:moveTo>
                  <a:lnTo>
                    <a:pt x="0" y="177"/>
                  </a:lnTo>
                  <a:lnTo>
                    <a:pt x="808" y="177"/>
                  </a:lnTo>
                  <a:lnTo>
                    <a:pt x="808" y="35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5" name="Rectangle 91"/>
            <p:cNvSpPr>
              <a:spLocks noChangeArrowheads="1"/>
            </p:cNvSpPr>
            <p:nvPr/>
          </p:nvSpPr>
          <p:spPr bwMode="auto">
            <a:xfrm>
              <a:off x="2876" y="364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3</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6" name="Rectangle 92"/>
            <p:cNvSpPr>
              <a:spLocks noChangeArrowheads="1"/>
            </p:cNvSpPr>
            <p:nvPr/>
          </p:nvSpPr>
          <p:spPr bwMode="auto">
            <a:xfrm>
              <a:off x="2920" y="3645"/>
              <a:ext cx="65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 Records-sales-on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7" name="Rectangle 93"/>
            <p:cNvSpPr>
              <a:spLocks noChangeArrowheads="1"/>
            </p:cNvSpPr>
            <p:nvPr/>
          </p:nvSpPr>
          <p:spPr bwMode="auto">
            <a:xfrm>
              <a:off x="3114" y="169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8" name="Rectangle 94"/>
            <p:cNvSpPr>
              <a:spLocks noChangeArrowheads="1"/>
            </p:cNvSpPr>
            <p:nvPr/>
          </p:nvSpPr>
          <p:spPr bwMode="auto">
            <a:xfrm>
              <a:off x="2449"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9" name="Rectangle 95"/>
            <p:cNvSpPr>
              <a:spLocks noChangeArrowheads="1"/>
            </p:cNvSpPr>
            <p:nvPr/>
          </p:nvSpPr>
          <p:spPr bwMode="auto">
            <a:xfrm>
              <a:off x="2845" y="270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0" name="Rectangle 96"/>
            <p:cNvSpPr>
              <a:spLocks noChangeArrowheads="1"/>
            </p:cNvSpPr>
            <p:nvPr/>
          </p:nvSpPr>
          <p:spPr bwMode="auto">
            <a:xfrm>
              <a:off x="3114"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1" name="Rectangle 97"/>
            <p:cNvSpPr>
              <a:spLocks noChangeArrowheads="1"/>
            </p:cNvSpPr>
            <p:nvPr/>
          </p:nvSpPr>
          <p:spPr bwMode="auto">
            <a:xfrm>
              <a:off x="4049" y="124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2" name="Rectangle 98"/>
            <p:cNvSpPr>
              <a:spLocks noChangeArrowheads="1"/>
            </p:cNvSpPr>
            <p:nvPr/>
          </p:nvSpPr>
          <p:spPr bwMode="auto">
            <a:xfrm>
              <a:off x="4355" y="244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3" name="Rectangle 99"/>
            <p:cNvSpPr>
              <a:spLocks noChangeArrowheads="1"/>
            </p:cNvSpPr>
            <p:nvPr/>
          </p:nvSpPr>
          <p:spPr bwMode="auto">
            <a:xfrm>
              <a:off x="3601" y="328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4" name="Rectangle 100"/>
            <p:cNvSpPr>
              <a:spLocks noChangeArrowheads="1"/>
            </p:cNvSpPr>
            <p:nvPr/>
          </p:nvSpPr>
          <p:spPr bwMode="auto">
            <a:xfrm>
              <a:off x="3114" y="3304"/>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5" name="Rectangle 101"/>
            <p:cNvSpPr>
              <a:spLocks noChangeArrowheads="1"/>
            </p:cNvSpPr>
            <p:nvPr/>
          </p:nvSpPr>
          <p:spPr bwMode="auto">
            <a:xfrm>
              <a:off x="3654"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6" name="Rectangle 102"/>
            <p:cNvSpPr>
              <a:spLocks noChangeArrowheads="1"/>
            </p:cNvSpPr>
            <p:nvPr/>
          </p:nvSpPr>
          <p:spPr bwMode="auto">
            <a:xfrm>
              <a:off x="2739"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7" name="Rectangle 103"/>
            <p:cNvSpPr>
              <a:spLocks noChangeArrowheads="1"/>
            </p:cNvSpPr>
            <p:nvPr/>
          </p:nvSpPr>
          <p:spPr bwMode="auto">
            <a:xfrm>
              <a:off x="2066"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8" name="Rectangle 104"/>
            <p:cNvSpPr>
              <a:spLocks noChangeArrowheads="1"/>
            </p:cNvSpPr>
            <p:nvPr/>
          </p:nvSpPr>
          <p:spPr bwMode="auto">
            <a:xfrm>
              <a:off x="1741" y="355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9" name="Rectangle 105"/>
            <p:cNvSpPr>
              <a:spLocks noChangeArrowheads="1"/>
            </p:cNvSpPr>
            <p:nvPr/>
          </p:nvSpPr>
          <p:spPr bwMode="auto">
            <a:xfrm>
              <a:off x="1061"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0" name="Rectangle 106"/>
            <p:cNvSpPr>
              <a:spLocks noChangeArrowheads="1"/>
            </p:cNvSpPr>
            <p:nvPr/>
          </p:nvSpPr>
          <p:spPr bwMode="auto">
            <a:xfrm>
              <a:off x="1503"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1" name="Rectangle 107"/>
            <p:cNvSpPr>
              <a:spLocks noChangeArrowheads="1"/>
            </p:cNvSpPr>
            <p:nvPr/>
          </p:nvSpPr>
          <p:spPr bwMode="auto">
            <a:xfrm>
              <a:off x="1611" y="288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2" name="Rectangle 108"/>
            <p:cNvSpPr>
              <a:spLocks noChangeArrowheads="1"/>
            </p:cNvSpPr>
            <p:nvPr/>
          </p:nvSpPr>
          <p:spPr bwMode="auto">
            <a:xfrm>
              <a:off x="1873"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3" name="Rectangle 109"/>
            <p:cNvSpPr>
              <a:spLocks noChangeArrowheads="1"/>
            </p:cNvSpPr>
            <p:nvPr/>
          </p:nvSpPr>
          <p:spPr bwMode="auto">
            <a:xfrm>
              <a:off x="2449"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4" name="Rectangle 110"/>
            <p:cNvSpPr>
              <a:spLocks noChangeArrowheads="1"/>
            </p:cNvSpPr>
            <p:nvPr/>
          </p:nvSpPr>
          <p:spPr bwMode="auto">
            <a:xfrm>
              <a:off x="2739" y="191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grpSp>
    </p:spTree>
    <p:extLst>
      <p:ext uri="{BB962C8B-B14F-4D97-AF65-F5344CB8AC3E}">
        <p14:creationId xmlns:p14="http://schemas.microsoft.com/office/powerpoint/2010/main" val="20194667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Slide Number Placeholder 3">
            <a:extLst>
              <a:ext uri="{FF2B5EF4-FFF2-40B4-BE49-F238E27FC236}">
                <a16:creationId xmlns:a16="http://schemas.microsoft.com/office/drawing/2014/main" id="{478DCEA1-8D81-2A8C-2F6C-07447452B100}"/>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6AE0216F-BA1E-4A45-8E9D-B4D25FCE8E65}" type="slidenum">
              <a:rPr lang="de-DE" altLang="en-US" sz="1000" smtClean="0"/>
              <a:pPr/>
              <a:t>31</a:t>
            </a:fld>
            <a:endParaRPr lang="de-DE" altLang="en-US" sz="1000"/>
          </a:p>
        </p:txBody>
      </p:sp>
      <p:sp>
        <p:nvSpPr>
          <p:cNvPr id="14339" name="Rectangle 2">
            <a:extLst>
              <a:ext uri="{FF2B5EF4-FFF2-40B4-BE49-F238E27FC236}">
                <a16:creationId xmlns:a16="http://schemas.microsoft.com/office/drawing/2014/main" id="{A14BA18C-DFA9-AA1E-9F65-960C29EED2FB}"/>
              </a:ext>
            </a:extLst>
          </p:cNvPr>
          <p:cNvSpPr>
            <a:spLocks noGrp="1" noChangeArrowheads="1"/>
          </p:cNvSpPr>
          <p:nvPr>
            <p:ph type="title"/>
          </p:nvPr>
        </p:nvSpPr>
        <p:spPr/>
        <p:txBody>
          <a:bodyPr/>
          <a:lstStyle/>
          <a:p>
            <a:r>
              <a:rPr lang="en-US" altLang="en-US"/>
              <a:t>Expert – example…</a:t>
            </a:r>
          </a:p>
        </p:txBody>
      </p:sp>
      <p:sp>
        <p:nvSpPr>
          <p:cNvPr id="14340" name="Rectangle 3">
            <a:extLst>
              <a:ext uri="{FF2B5EF4-FFF2-40B4-BE49-F238E27FC236}">
                <a16:creationId xmlns:a16="http://schemas.microsoft.com/office/drawing/2014/main" id="{0414C0A9-AF55-9768-E1D4-53168E542791}"/>
              </a:ext>
            </a:extLst>
          </p:cNvPr>
          <p:cNvSpPr>
            <a:spLocks noGrp="1" noChangeArrowheads="1"/>
          </p:cNvSpPr>
          <p:nvPr>
            <p:ph type="body" idx="1"/>
          </p:nvPr>
        </p:nvSpPr>
        <p:spPr/>
        <p:txBody>
          <a:bodyPr/>
          <a:lstStyle/>
          <a:p>
            <a:pPr marL="342900" indent="-342900"/>
            <a:r>
              <a:rPr lang="en-US" altLang="en-US" dirty="0"/>
              <a:t>In a point-of-sale terminal application, some class needs to know the grand total of a sale.</a:t>
            </a:r>
          </a:p>
          <a:p>
            <a:pPr marL="342900" indent="-342900"/>
            <a:r>
              <a:rPr lang="en-US" altLang="en-US" dirty="0"/>
              <a:t>By </a:t>
            </a:r>
            <a:r>
              <a:rPr lang="en-US" altLang="en-US" u="sng" dirty="0">
                <a:solidFill>
                  <a:srgbClr val="FF0000"/>
                </a:solidFill>
              </a:rPr>
              <a:t>Expert</a:t>
            </a:r>
            <a:r>
              <a:rPr lang="en-US" altLang="en-US" dirty="0"/>
              <a:t>, the class that has the information needed to determine total should have that responsibility.</a:t>
            </a:r>
          </a:p>
        </p:txBody>
      </p:sp>
      <p:pic>
        <p:nvPicPr>
          <p:cNvPr id="14341" name="Picture 4">
            <a:extLst>
              <a:ext uri="{FF2B5EF4-FFF2-40B4-BE49-F238E27FC236}">
                <a16:creationId xmlns:a16="http://schemas.microsoft.com/office/drawing/2014/main" id="{F4070EC4-DB32-F3B0-DB7E-0FFF24006C3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43401" y="3733800"/>
            <a:ext cx="3190875" cy="2343150"/>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type="none" w="sm" len="sm"/>
                <a:tailEnd type="none" w="sm" len="sm"/>
              </a14:hiddenLine>
            </a:ext>
          </a:extLst>
        </p:spPr>
      </p:pic>
      <p:sp>
        <p:nvSpPr>
          <p:cNvPr id="14342" name="TextBox 5">
            <a:extLst>
              <a:ext uri="{FF2B5EF4-FFF2-40B4-BE49-F238E27FC236}">
                <a16:creationId xmlns:a16="http://schemas.microsoft.com/office/drawing/2014/main" id="{6A5B683C-8073-5FD0-FB90-061F41883EB8}"/>
              </a:ext>
            </a:extLst>
          </p:cNvPr>
          <p:cNvSpPr txBox="1">
            <a:spLocks noChangeArrowheads="1"/>
          </p:cNvSpPr>
          <p:nvPr/>
        </p:nvSpPr>
        <p:spPr bwMode="auto">
          <a:xfrm>
            <a:off x="6302375" y="5121276"/>
            <a:ext cx="2423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80808"/>
                </a:solidFill>
              </a:rPr>
              <a:t>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Slide Number Placeholder 3">
            <a:extLst>
              <a:ext uri="{FF2B5EF4-FFF2-40B4-BE49-F238E27FC236}">
                <a16:creationId xmlns:a16="http://schemas.microsoft.com/office/drawing/2014/main" id="{95C609D9-56A8-860B-3221-910941DA0C6C}"/>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CD403FA8-0814-462B-9830-EA67C99E27C6}" type="slidenum">
              <a:rPr lang="de-DE" altLang="en-US" sz="1000"/>
              <a:pPr/>
              <a:t>32</a:t>
            </a:fld>
            <a:endParaRPr lang="de-DE" altLang="en-US" sz="1000"/>
          </a:p>
        </p:txBody>
      </p:sp>
      <p:sp>
        <p:nvSpPr>
          <p:cNvPr id="15363" name="Rectangle 2">
            <a:extLst>
              <a:ext uri="{FF2B5EF4-FFF2-40B4-BE49-F238E27FC236}">
                <a16:creationId xmlns:a16="http://schemas.microsoft.com/office/drawing/2014/main" id="{47F36878-38A2-66EC-5676-A382542CA359}"/>
              </a:ext>
            </a:extLst>
          </p:cNvPr>
          <p:cNvSpPr>
            <a:spLocks noGrp="1" noChangeArrowheads="1"/>
          </p:cNvSpPr>
          <p:nvPr>
            <p:ph type="title"/>
          </p:nvPr>
        </p:nvSpPr>
        <p:spPr/>
        <p:txBody>
          <a:bodyPr/>
          <a:lstStyle/>
          <a:p>
            <a:r>
              <a:rPr lang="en-US" altLang="en-US"/>
              <a:t>…Expert – example…</a:t>
            </a:r>
          </a:p>
        </p:txBody>
      </p:sp>
      <p:sp>
        <p:nvSpPr>
          <p:cNvPr id="15364" name="Rectangle 3">
            <a:extLst>
              <a:ext uri="{FF2B5EF4-FFF2-40B4-BE49-F238E27FC236}">
                <a16:creationId xmlns:a16="http://schemas.microsoft.com/office/drawing/2014/main" id="{32D56D33-AAC8-0291-EFD7-3A3CFABDAEBD}"/>
              </a:ext>
            </a:extLst>
          </p:cNvPr>
          <p:cNvSpPr>
            <a:spLocks noGrp="1" noChangeArrowheads="1"/>
          </p:cNvSpPr>
          <p:nvPr>
            <p:ph type="body" idx="1"/>
          </p:nvPr>
        </p:nvSpPr>
        <p:spPr/>
        <p:txBody>
          <a:bodyPr/>
          <a:lstStyle/>
          <a:p>
            <a:pPr marL="342900" indent="-342900"/>
            <a:r>
              <a:rPr lang="en-US" altLang="en-US"/>
              <a:t>What info is needed?</a:t>
            </a:r>
          </a:p>
          <a:p>
            <a:pPr marL="742950" lvl="1" indent="-285750"/>
            <a:r>
              <a:rPr lang="en-US" altLang="en-US" sz="2800"/>
              <a:t>Needs to know about all </a:t>
            </a:r>
            <a:r>
              <a:rPr lang="en-US" altLang="en-US" sz="2800" i="1"/>
              <a:t>SaleLineItem</a:t>
            </a:r>
            <a:r>
              <a:rPr lang="en-US" altLang="en-US" sz="2800"/>
              <a:t> instances and the sum of their subtotals.</a:t>
            </a:r>
          </a:p>
          <a:p>
            <a:pPr marL="742950" lvl="1" indent="-285750"/>
            <a:r>
              <a:rPr lang="en-US" altLang="en-US" sz="2800"/>
              <a:t>Only </a:t>
            </a:r>
            <a:r>
              <a:rPr lang="en-US" altLang="en-US" sz="2800" i="1"/>
              <a:t>Sale</a:t>
            </a:r>
            <a:r>
              <a:rPr lang="en-US" altLang="en-US" sz="2800"/>
              <a:t> knows this, so has responsibility.</a:t>
            </a:r>
          </a:p>
        </p:txBody>
      </p:sp>
      <p:pic>
        <p:nvPicPr>
          <p:cNvPr id="15365" name="Picture 4">
            <a:extLst>
              <a:ext uri="{FF2B5EF4-FFF2-40B4-BE49-F238E27FC236}">
                <a16:creationId xmlns:a16="http://schemas.microsoft.com/office/drawing/2014/main" id="{59772E86-AAE3-B592-25DA-2E0EC83EAA9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76601" y="4114801"/>
            <a:ext cx="5356225" cy="1065213"/>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type="none" w="sm" len="sm"/>
                <a:tailEnd type="none" w="sm" len="sm"/>
              </a14:hiddenLine>
            </a:ext>
          </a:extLst>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Slide Number Placeholder 3">
            <a:extLst>
              <a:ext uri="{FF2B5EF4-FFF2-40B4-BE49-F238E27FC236}">
                <a16:creationId xmlns:a16="http://schemas.microsoft.com/office/drawing/2014/main" id="{4BDBB44B-2806-535B-50FF-544290A2114D}"/>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1E4FA40F-6AA1-4187-8275-7AC78DEC4D2B}" type="slidenum">
              <a:rPr lang="de-DE" altLang="en-US" sz="1000"/>
              <a:pPr/>
              <a:t>33</a:t>
            </a:fld>
            <a:endParaRPr lang="de-DE" altLang="en-US" sz="1000"/>
          </a:p>
        </p:txBody>
      </p:sp>
      <p:sp>
        <p:nvSpPr>
          <p:cNvPr id="16387" name="Rectangle 2">
            <a:extLst>
              <a:ext uri="{FF2B5EF4-FFF2-40B4-BE49-F238E27FC236}">
                <a16:creationId xmlns:a16="http://schemas.microsoft.com/office/drawing/2014/main" id="{AFA642B2-DFA9-5BA9-A346-93731F59FCFD}"/>
              </a:ext>
            </a:extLst>
          </p:cNvPr>
          <p:cNvSpPr>
            <a:spLocks noGrp="1" noChangeArrowheads="1"/>
          </p:cNvSpPr>
          <p:nvPr>
            <p:ph type="title"/>
          </p:nvPr>
        </p:nvSpPr>
        <p:spPr/>
        <p:txBody>
          <a:bodyPr/>
          <a:lstStyle/>
          <a:p>
            <a:r>
              <a:rPr lang="en-US" altLang="en-US"/>
              <a:t>…Expert – example…</a:t>
            </a:r>
          </a:p>
        </p:txBody>
      </p:sp>
      <p:sp>
        <p:nvSpPr>
          <p:cNvPr id="16388" name="Rectangle 3">
            <a:extLst>
              <a:ext uri="{FF2B5EF4-FFF2-40B4-BE49-F238E27FC236}">
                <a16:creationId xmlns:a16="http://schemas.microsoft.com/office/drawing/2014/main" id="{ABC1A99A-D8FE-18A4-C562-831FCB7035F0}"/>
              </a:ext>
            </a:extLst>
          </p:cNvPr>
          <p:cNvSpPr>
            <a:spLocks noGrp="1" noChangeArrowheads="1"/>
          </p:cNvSpPr>
          <p:nvPr>
            <p:ph type="body" idx="1"/>
          </p:nvPr>
        </p:nvSpPr>
        <p:spPr>
          <a:xfrm>
            <a:off x="383822" y="1905000"/>
            <a:ext cx="11401778" cy="4114800"/>
          </a:xfrm>
        </p:spPr>
        <p:txBody>
          <a:bodyPr/>
          <a:lstStyle/>
          <a:p>
            <a:pPr marL="342900" indent="-342900"/>
            <a:r>
              <a:rPr lang="en-US" altLang="en-US" dirty="0"/>
              <a:t>But what is responsible for subtotal?</a:t>
            </a:r>
          </a:p>
          <a:p>
            <a:pPr marL="342900" indent="-342900"/>
            <a:r>
              <a:rPr lang="en-US" altLang="en-US" dirty="0"/>
              <a:t>Need </a:t>
            </a:r>
            <a:r>
              <a:rPr lang="en-US" altLang="en-US" i="1" dirty="0" err="1"/>
              <a:t>SalesLineItem.quantity</a:t>
            </a:r>
            <a:r>
              <a:rPr lang="en-US" altLang="en-US" dirty="0"/>
              <a:t> and </a:t>
            </a:r>
            <a:r>
              <a:rPr lang="en-US" altLang="en-US" i="1" dirty="0" err="1"/>
              <a:t>ProductSpecification.price</a:t>
            </a:r>
            <a:r>
              <a:rPr lang="en-US" altLang="en-US" i="1" dirty="0"/>
              <a:t>, </a:t>
            </a:r>
            <a:r>
              <a:rPr lang="en-US" altLang="en-US" dirty="0"/>
              <a:t>so </a:t>
            </a:r>
            <a:r>
              <a:rPr lang="en-US" altLang="en-US" i="1" dirty="0" err="1"/>
              <a:t>SalesLineItem</a:t>
            </a:r>
            <a:r>
              <a:rPr lang="en-US" altLang="en-US" dirty="0"/>
              <a:t> is responsible.</a:t>
            </a:r>
          </a:p>
        </p:txBody>
      </p:sp>
      <p:grpSp>
        <p:nvGrpSpPr>
          <p:cNvPr id="16389" name="Group 7">
            <a:extLst>
              <a:ext uri="{FF2B5EF4-FFF2-40B4-BE49-F238E27FC236}">
                <a16:creationId xmlns:a16="http://schemas.microsoft.com/office/drawing/2014/main" id="{247EE9B9-5AF9-20D8-B093-6C2B8AAA5D50}"/>
              </a:ext>
            </a:extLst>
          </p:cNvPr>
          <p:cNvGrpSpPr>
            <a:grpSpLocks noChangeAspect="1"/>
          </p:cNvGrpSpPr>
          <p:nvPr/>
        </p:nvGrpSpPr>
        <p:grpSpPr bwMode="auto">
          <a:xfrm>
            <a:off x="3457575" y="3351213"/>
            <a:ext cx="5437188" cy="2603500"/>
            <a:chOff x="1261" y="1967"/>
            <a:chExt cx="3425" cy="1640"/>
          </a:xfrm>
        </p:grpSpPr>
        <p:sp>
          <p:nvSpPr>
            <p:cNvPr id="16390" name="AutoShape 6">
              <a:extLst>
                <a:ext uri="{FF2B5EF4-FFF2-40B4-BE49-F238E27FC236}">
                  <a16:creationId xmlns:a16="http://schemas.microsoft.com/office/drawing/2014/main" id="{F33670D9-E55D-AFC4-027C-BC794AF2E7A7}"/>
                </a:ext>
              </a:extLst>
            </p:cNvPr>
            <p:cNvSpPr>
              <a:spLocks noChangeAspect="1" noChangeArrowheads="1" noTextEdit="1"/>
            </p:cNvSpPr>
            <p:nvPr/>
          </p:nvSpPr>
          <p:spPr bwMode="auto">
            <a:xfrm>
              <a:off x="1289" y="1967"/>
              <a:ext cx="3397" cy="138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16391" name="Rectangle 8">
              <a:extLst>
                <a:ext uri="{FF2B5EF4-FFF2-40B4-BE49-F238E27FC236}">
                  <a16:creationId xmlns:a16="http://schemas.microsoft.com/office/drawing/2014/main" id="{7F00D9E4-5D7E-8BDF-C3A3-A29E47241C92}"/>
                </a:ext>
              </a:extLst>
            </p:cNvPr>
            <p:cNvSpPr>
              <a:spLocks noChangeArrowheads="1"/>
            </p:cNvSpPr>
            <p:nvPr/>
          </p:nvSpPr>
          <p:spPr bwMode="auto">
            <a:xfrm>
              <a:off x="3979" y="2256"/>
              <a:ext cx="657" cy="179"/>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6392" name="Rectangle 9">
              <a:extLst>
                <a:ext uri="{FF2B5EF4-FFF2-40B4-BE49-F238E27FC236}">
                  <a16:creationId xmlns:a16="http://schemas.microsoft.com/office/drawing/2014/main" id="{42E6348B-C3AC-C702-9B05-286B49DB19BF}"/>
                </a:ext>
              </a:extLst>
            </p:cNvPr>
            <p:cNvSpPr>
              <a:spLocks noChangeArrowheads="1"/>
            </p:cNvSpPr>
            <p:nvPr/>
          </p:nvSpPr>
          <p:spPr bwMode="auto">
            <a:xfrm>
              <a:off x="4225" y="2286"/>
              <a:ext cx="161"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Sale</a:t>
              </a:r>
              <a:endParaRPr lang="en-US" altLang="en-US"/>
            </a:p>
          </p:txBody>
        </p:sp>
        <p:sp>
          <p:nvSpPr>
            <p:cNvPr id="16393" name="Rectangle 10">
              <a:extLst>
                <a:ext uri="{FF2B5EF4-FFF2-40B4-BE49-F238E27FC236}">
                  <a16:creationId xmlns:a16="http://schemas.microsoft.com/office/drawing/2014/main" id="{80022044-D7F2-121D-C5FF-987034C24C9F}"/>
                </a:ext>
              </a:extLst>
            </p:cNvPr>
            <p:cNvSpPr>
              <a:spLocks noChangeArrowheads="1"/>
            </p:cNvSpPr>
            <p:nvPr/>
          </p:nvSpPr>
          <p:spPr bwMode="auto">
            <a:xfrm>
              <a:off x="3979" y="2435"/>
              <a:ext cx="657" cy="269"/>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6394" name="Rectangle 11">
              <a:extLst>
                <a:ext uri="{FF2B5EF4-FFF2-40B4-BE49-F238E27FC236}">
                  <a16:creationId xmlns:a16="http://schemas.microsoft.com/office/drawing/2014/main" id="{14B1DFF9-CDA7-586C-8AE3-498F5D4A7DF7}"/>
                </a:ext>
              </a:extLst>
            </p:cNvPr>
            <p:cNvSpPr>
              <a:spLocks noChangeArrowheads="1"/>
            </p:cNvSpPr>
            <p:nvPr/>
          </p:nvSpPr>
          <p:spPr bwMode="auto">
            <a:xfrm>
              <a:off x="4023" y="2465"/>
              <a:ext cx="156"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date</a:t>
              </a:r>
              <a:endParaRPr lang="en-US" altLang="en-US"/>
            </a:p>
          </p:txBody>
        </p:sp>
        <p:sp>
          <p:nvSpPr>
            <p:cNvPr id="16395" name="Rectangle 12">
              <a:extLst>
                <a:ext uri="{FF2B5EF4-FFF2-40B4-BE49-F238E27FC236}">
                  <a16:creationId xmlns:a16="http://schemas.microsoft.com/office/drawing/2014/main" id="{3B7FB3BC-C7AB-2C72-D925-B3D5883E5745}"/>
                </a:ext>
              </a:extLst>
            </p:cNvPr>
            <p:cNvSpPr>
              <a:spLocks noChangeArrowheads="1"/>
            </p:cNvSpPr>
            <p:nvPr/>
          </p:nvSpPr>
          <p:spPr bwMode="auto">
            <a:xfrm>
              <a:off x="4023" y="2555"/>
              <a:ext cx="152"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time</a:t>
              </a:r>
              <a:endParaRPr lang="en-US" altLang="en-US"/>
            </a:p>
          </p:txBody>
        </p:sp>
        <p:sp>
          <p:nvSpPr>
            <p:cNvPr id="16396" name="Rectangle 13">
              <a:extLst>
                <a:ext uri="{FF2B5EF4-FFF2-40B4-BE49-F238E27FC236}">
                  <a16:creationId xmlns:a16="http://schemas.microsoft.com/office/drawing/2014/main" id="{7B0C0D4D-BD21-0C35-837B-E0F3ED0D390E}"/>
                </a:ext>
              </a:extLst>
            </p:cNvPr>
            <p:cNvSpPr>
              <a:spLocks noChangeArrowheads="1"/>
            </p:cNvSpPr>
            <p:nvPr/>
          </p:nvSpPr>
          <p:spPr bwMode="auto">
            <a:xfrm>
              <a:off x="3979" y="2704"/>
              <a:ext cx="657" cy="179"/>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6397" name="Rectangle 14">
              <a:extLst>
                <a:ext uri="{FF2B5EF4-FFF2-40B4-BE49-F238E27FC236}">
                  <a16:creationId xmlns:a16="http://schemas.microsoft.com/office/drawing/2014/main" id="{44921FE5-5974-C70D-DEFA-305C38FFB53B}"/>
                </a:ext>
              </a:extLst>
            </p:cNvPr>
            <p:cNvSpPr>
              <a:spLocks noChangeArrowheads="1"/>
            </p:cNvSpPr>
            <p:nvPr/>
          </p:nvSpPr>
          <p:spPr bwMode="auto">
            <a:xfrm>
              <a:off x="4023" y="2734"/>
              <a:ext cx="206"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total()</a:t>
              </a:r>
              <a:endParaRPr lang="en-US" altLang="en-US"/>
            </a:p>
          </p:txBody>
        </p:sp>
        <p:sp>
          <p:nvSpPr>
            <p:cNvPr id="16398" name="Rectangle 15">
              <a:extLst>
                <a:ext uri="{FF2B5EF4-FFF2-40B4-BE49-F238E27FC236}">
                  <a16:creationId xmlns:a16="http://schemas.microsoft.com/office/drawing/2014/main" id="{96A45E49-4D0C-54CA-DEF3-AB72C37E5677}"/>
                </a:ext>
              </a:extLst>
            </p:cNvPr>
            <p:cNvSpPr>
              <a:spLocks noChangeArrowheads="1"/>
            </p:cNvSpPr>
            <p:nvPr/>
          </p:nvSpPr>
          <p:spPr bwMode="auto">
            <a:xfrm>
              <a:off x="2127" y="2256"/>
              <a:ext cx="717"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6399" name="Line 16">
              <a:extLst>
                <a:ext uri="{FF2B5EF4-FFF2-40B4-BE49-F238E27FC236}">
                  <a16:creationId xmlns:a16="http://schemas.microsoft.com/office/drawing/2014/main" id="{7C7A3477-E6E4-1976-2CD1-148AE033677D}"/>
                </a:ext>
              </a:extLst>
            </p:cNvPr>
            <p:cNvSpPr>
              <a:spLocks noChangeShapeType="1"/>
            </p:cNvSpPr>
            <p:nvPr/>
          </p:nvSpPr>
          <p:spPr bwMode="auto">
            <a:xfrm>
              <a:off x="2396" y="2398"/>
              <a:ext cx="179"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400" name="Rectangle 17">
              <a:extLst>
                <a:ext uri="{FF2B5EF4-FFF2-40B4-BE49-F238E27FC236}">
                  <a16:creationId xmlns:a16="http://schemas.microsoft.com/office/drawing/2014/main" id="{4B872DA6-FD59-60DD-874B-01E6D619EF88}"/>
                </a:ext>
              </a:extLst>
            </p:cNvPr>
            <p:cNvSpPr>
              <a:spLocks noChangeArrowheads="1"/>
            </p:cNvSpPr>
            <p:nvPr/>
          </p:nvSpPr>
          <p:spPr bwMode="auto">
            <a:xfrm>
              <a:off x="2396" y="2281"/>
              <a:ext cx="246"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:Sale</a:t>
              </a:r>
              <a:endParaRPr lang="en-US" altLang="en-US" dirty="0"/>
            </a:p>
          </p:txBody>
        </p:sp>
        <p:sp>
          <p:nvSpPr>
            <p:cNvPr id="16401" name="Line 18">
              <a:extLst>
                <a:ext uri="{FF2B5EF4-FFF2-40B4-BE49-F238E27FC236}">
                  <a16:creationId xmlns:a16="http://schemas.microsoft.com/office/drawing/2014/main" id="{59598BB3-C5CE-EC19-65A6-E42C6B94FA69}"/>
                </a:ext>
              </a:extLst>
            </p:cNvPr>
            <p:cNvSpPr>
              <a:spLocks noChangeShapeType="1"/>
            </p:cNvSpPr>
            <p:nvPr/>
          </p:nvSpPr>
          <p:spPr bwMode="auto">
            <a:xfrm>
              <a:off x="1261" y="2368"/>
              <a:ext cx="866"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402" name="Rectangle 19">
              <a:extLst>
                <a:ext uri="{FF2B5EF4-FFF2-40B4-BE49-F238E27FC236}">
                  <a16:creationId xmlns:a16="http://schemas.microsoft.com/office/drawing/2014/main" id="{2A6505C0-2C1D-E326-9A76-C1BAB405AD15}"/>
                </a:ext>
              </a:extLst>
            </p:cNvPr>
            <p:cNvSpPr>
              <a:spLocks noChangeArrowheads="1"/>
            </p:cNvSpPr>
            <p:nvPr/>
          </p:nvSpPr>
          <p:spPr bwMode="auto">
            <a:xfrm>
              <a:off x="1529" y="2110"/>
              <a:ext cx="411"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t := total()</a:t>
              </a:r>
              <a:endParaRPr lang="en-US" altLang="en-US" dirty="0"/>
            </a:p>
          </p:txBody>
        </p:sp>
        <p:sp>
          <p:nvSpPr>
            <p:cNvPr id="16403" name="Rectangle 20">
              <a:extLst>
                <a:ext uri="{FF2B5EF4-FFF2-40B4-BE49-F238E27FC236}">
                  <a16:creationId xmlns:a16="http://schemas.microsoft.com/office/drawing/2014/main" id="{3762DBDA-F167-5453-18EB-7CE39CF6FE68}"/>
                </a:ext>
              </a:extLst>
            </p:cNvPr>
            <p:cNvSpPr>
              <a:spLocks noChangeArrowheads="1"/>
            </p:cNvSpPr>
            <p:nvPr/>
          </p:nvSpPr>
          <p:spPr bwMode="auto">
            <a:xfrm>
              <a:off x="3154" y="2769"/>
              <a:ext cx="716" cy="223"/>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6404" name="Line 21">
              <a:extLst>
                <a:ext uri="{FF2B5EF4-FFF2-40B4-BE49-F238E27FC236}">
                  <a16:creationId xmlns:a16="http://schemas.microsoft.com/office/drawing/2014/main" id="{2B842106-43C6-808D-3774-23D89F9AC94F}"/>
                </a:ext>
              </a:extLst>
            </p:cNvPr>
            <p:cNvSpPr>
              <a:spLocks noChangeShapeType="1"/>
            </p:cNvSpPr>
            <p:nvPr/>
          </p:nvSpPr>
          <p:spPr bwMode="auto">
            <a:xfrm>
              <a:off x="3180" y="3047"/>
              <a:ext cx="492"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405" name="Rectangle 22">
              <a:extLst>
                <a:ext uri="{FF2B5EF4-FFF2-40B4-BE49-F238E27FC236}">
                  <a16:creationId xmlns:a16="http://schemas.microsoft.com/office/drawing/2014/main" id="{CB68B00C-9253-0C7E-8056-A9881AB3FF39}"/>
                </a:ext>
              </a:extLst>
            </p:cNvPr>
            <p:cNvSpPr>
              <a:spLocks noChangeArrowheads="1"/>
            </p:cNvSpPr>
            <p:nvPr/>
          </p:nvSpPr>
          <p:spPr bwMode="auto">
            <a:xfrm>
              <a:off x="3180" y="2958"/>
              <a:ext cx="0" cy="19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6406" name="Rectangle 26">
              <a:extLst>
                <a:ext uri="{FF2B5EF4-FFF2-40B4-BE49-F238E27FC236}">
                  <a16:creationId xmlns:a16="http://schemas.microsoft.com/office/drawing/2014/main" id="{778F1F73-AF67-F7AA-E80A-E1C58A91CC1D}"/>
                </a:ext>
              </a:extLst>
            </p:cNvPr>
            <p:cNvSpPr>
              <a:spLocks noChangeArrowheads="1"/>
            </p:cNvSpPr>
            <p:nvPr/>
          </p:nvSpPr>
          <p:spPr bwMode="auto">
            <a:xfrm>
              <a:off x="3979" y="3062"/>
              <a:ext cx="657" cy="179"/>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6407" name="Rectangle 27">
              <a:extLst>
                <a:ext uri="{FF2B5EF4-FFF2-40B4-BE49-F238E27FC236}">
                  <a16:creationId xmlns:a16="http://schemas.microsoft.com/office/drawing/2014/main" id="{33C6FE32-7589-79D9-4D73-846389D015F6}"/>
                </a:ext>
              </a:extLst>
            </p:cNvPr>
            <p:cNvSpPr>
              <a:spLocks noChangeArrowheads="1"/>
            </p:cNvSpPr>
            <p:nvPr/>
          </p:nvSpPr>
          <p:spPr bwMode="auto">
            <a:xfrm>
              <a:off x="4061" y="3092"/>
              <a:ext cx="509"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SalesLineItem</a:t>
              </a:r>
              <a:endParaRPr lang="en-US" altLang="en-US"/>
            </a:p>
          </p:txBody>
        </p:sp>
        <p:sp>
          <p:nvSpPr>
            <p:cNvPr id="16408" name="Rectangle 28">
              <a:extLst>
                <a:ext uri="{FF2B5EF4-FFF2-40B4-BE49-F238E27FC236}">
                  <a16:creationId xmlns:a16="http://schemas.microsoft.com/office/drawing/2014/main" id="{59EEC7D0-C8F0-9484-A86C-2A927E650F43}"/>
                </a:ext>
              </a:extLst>
            </p:cNvPr>
            <p:cNvSpPr>
              <a:spLocks noChangeArrowheads="1"/>
            </p:cNvSpPr>
            <p:nvPr/>
          </p:nvSpPr>
          <p:spPr bwMode="auto">
            <a:xfrm>
              <a:off x="3979" y="3241"/>
              <a:ext cx="657" cy="180"/>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6409" name="Rectangle 29">
              <a:extLst>
                <a:ext uri="{FF2B5EF4-FFF2-40B4-BE49-F238E27FC236}">
                  <a16:creationId xmlns:a16="http://schemas.microsoft.com/office/drawing/2014/main" id="{A641BDC9-96A8-A452-5728-1B37A56F47DC}"/>
                </a:ext>
              </a:extLst>
            </p:cNvPr>
            <p:cNvSpPr>
              <a:spLocks noChangeArrowheads="1"/>
            </p:cNvSpPr>
            <p:nvPr/>
          </p:nvSpPr>
          <p:spPr bwMode="auto">
            <a:xfrm>
              <a:off x="4023" y="3271"/>
              <a:ext cx="281"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quantity</a:t>
              </a:r>
              <a:endParaRPr lang="en-US" altLang="en-US"/>
            </a:p>
          </p:txBody>
        </p:sp>
        <p:sp>
          <p:nvSpPr>
            <p:cNvPr id="16410" name="Rectangle 30">
              <a:extLst>
                <a:ext uri="{FF2B5EF4-FFF2-40B4-BE49-F238E27FC236}">
                  <a16:creationId xmlns:a16="http://schemas.microsoft.com/office/drawing/2014/main" id="{123AF2A8-F1F2-B0D0-E04B-DDFEE83ECE8A}"/>
                </a:ext>
              </a:extLst>
            </p:cNvPr>
            <p:cNvSpPr>
              <a:spLocks noChangeArrowheads="1"/>
            </p:cNvSpPr>
            <p:nvPr/>
          </p:nvSpPr>
          <p:spPr bwMode="auto">
            <a:xfrm>
              <a:off x="3979" y="3421"/>
              <a:ext cx="657" cy="179"/>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6411" name="Rectangle 31">
              <a:extLst>
                <a:ext uri="{FF2B5EF4-FFF2-40B4-BE49-F238E27FC236}">
                  <a16:creationId xmlns:a16="http://schemas.microsoft.com/office/drawing/2014/main" id="{86E0E1FF-DE9D-3F32-DB1C-7B3855753F92}"/>
                </a:ext>
              </a:extLst>
            </p:cNvPr>
            <p:cNvSpPr>
              <a:spLocks noChangeArrowheads="1"/>
            </p:cNvSpPr>
            <p:nvPr/>
          </p:nvSpPr>
          <p:spPr bwMode="auto">
            <a:xfrm>
              <a:off x="4023" y="3450"/>
              <a:ext cx="335"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subtotal()</a:t>
              </a:r>
              <a:endParaRPr lang="en-US" altLang="en-US"/>
            </a:p>
          </p:txBody>
        </p:sp>
        <p:sp>
          <p:nvSpPr>
            <p:cNvPr id="16412" name="Line 34">
              <a:extLst>
                <a:ext uri="{FF2B5EF4-FFF2-40B4-BE49-F238E27FC236}">
                  <a16:creationId xmlns:a16="http://schemas.microsoft.com/office/drawing/2014/main" id="{4EDEA0C6-7A21-426E-A833-DB68F381FBE3}"/>
                </a:ext>
              </a:extLst>
            </p:cNvPr>
            <p:cNvSpPr>
              <a:spLocks noChangeShapeType="1"/>
            </p:cNvSpPr>
            <p:nvPr/>
          </p:nvSpPr>
          <p:spPr bwMode="auto">
            <a:xfrm>
              <a:off x="3292" y="3510"/>
              <a:ext cx="604" cy="1"/>
            </a:xfrm>
            <a:prstGeom prst="line">
              <a:avLst/>
            </a:prstGeom>
            <a:noFill/>
            <a:ln w="7">
              <a:solidFill>
                <a:srgbClr val="000000"/>
              </a:solidFill>
              <a:prstDash val="sysDot"/>
              <a:round/>
              <a:headEnd/>
              <a:tailEnd/>
            </a:ln>
            <a:extLst>
              <a:ext uri="{909E8E84-426E-40DD-AFC4-6F175D3DCCD1}">
                <a14:hiddenFill xmlns:a14="http://schemas.microsoft.com/office/drawing/2010/main">
                  <a:noFill/>
                </a14:hiddenFill>
              </a:ext>
            </a:extLst>
          </p:spPr>
          <p:txBody>
            <a:bodyPr/>
            <a:lstStyle/>
            <a:p>
              <a:endParaRPr lang="en-US"/>
            </a:p>
          </p:txBody>
        </p:sp>
        <p:sp>
          <p:nvSpPr>
            <p:cNvPr id="16413" name="Freeform 35">
              <a:extLst>
                <a:ext uri="{FF2B5EF4-FFF2-40B4-BE49-F238E27FC236}">
                  <a16:creationId xmlns:a16="http://schemas.microsoft.com/office/drawing/2014/main" id="{6F67D659-A531-E2B9-DE11-E400BB144D00}"/>
                </a:ext>
              </a:extLst>
            </p:cNvPr>
            <p:cNvSpPr>
              <a:spLocks/>
            </p:cNvSpPr>
            <p:nvPr/>
          </p:nvSpPr>
          <p:spPr bwMode="auto">
            <a:xfrm>
              <a:off x="3896" y="3488"/>
              <a:ext cx="45" cy="44"/>
            </a:xfrm>
            <a:custGeom>
              <a:avLst/>
              <a:gdLst>
                <a:gd name="T0" fmla="*/ 0 w 45"/>
                <a:gd name="T1" fmla="*/ 22 h 44"/>
                <a:gd name="T2" fmla="*/ 0 w 45"/>
                <a:gd name="T3" fmla="*/ 30 h 44"/>
                <a:gd name="T4" fmla="*/ 8 w 45"/>
                <a:gd name="T5" fmla="*/ 30 h 44"/>
                <a:gd name="T6" fmla="*/ 8 w 45"/>
                <a:gd name="T7" fmla="*/ 37 h 44"/>
                <a:gd name="T8" fmla="*/ 15 w 45"/>
                <a:gd name="T9" fmla="*/ 37 h 44"/>
                <a:gd name="T10" fmla="*/ 23 w 45"/>
                <a:gd name="T11" fmla="*/ 44 h 44"/>
                <a:gd name="T12" fmla="*/ 23 w 45"/>
                <a:gd name="T13" fmla="*/ 44 h 44"/>
                <a:gd name="T14" fmla="*/ 30 w 45"/>
                <a:gd name="T15" fmla="*/ 37 h 44"/>
                <a:gd name="T16" fmla="*/ 38 w 45"/>
                <a:gd name="T17" fmla="*/ 37 h 44"/>
                <a:gd name="T18" fmla="*/ 38 w 45"/>
                <a:gd name="T19" fmla="*/ 30 h 44"/>
                <a:gd name="T20" fmla="*/ 45 w 45"/>
                <a:gd name="T21" fmla="*/ 30 h 44"/>
                <a:gd name="T22" fmla="*/ 45 w 45"/>
                <a:gd name="T23" fmla="*/ 22 h 44"/>
                <a:gd name="T24" fmla="*/ 45 w 45"/>
                <a:gd name="T25" fmla="*/ 15 h 44"/>
                <a:gd name="T26" fmla="*/ 38 w 45"/>
                <a:gd name="T27" fmla="*/ 7 h 44"/>
                <a:gd name="T28" fmla="*/ 38 w 45"/>
                <a:gd name="T29" fmla="*/ 7 h 44"/>
                <a:gd name="T30" fmla="*/ 30 w 45"/>
                <a:gd name="T31" fmla="*/ 0 h 44"/>
                <a:gd name="T32" fmla="*/ 23 w 45"/>
                <a:gd name="T33" fmla="*/ 0 h 44"/>
                <a:gd name="T34" fmla="*/ 23 w 45"/>
                <a:gd name="T35" fmla="*/ 0 h 44"/>
                <a:gd name="T36" fmla="*/ 15 w 45"/>
                <a:gd name="T37" fmla="*/ 0 h 44"/>
                <a:gd name="T38" fmla="*/ 8 w 45"/>
                <a:gd name="T39" fmla="*/ 7 h 44"/>
                <a:gd name="T40" fmla="*/ 8 w 45"/>
                <a:gd name="T41" fmla="*/ 7 h 44"/>
                <a:gd name="T42" fmla="*/ 0 w 45"/>
                <a:gd name="T43" fmla="*/ 15 h 44"/>
                <a:gd name="T44" fmla="*/ 0 w 45"/>
                <a:gd name="T45" fmla="*/ 22 h 44"/>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w 45"/>
                <a:gd name="T70" fmla="*/ 0 h 44"/>
                <a:gd name="T71" fmla="*/ 45 w 45"/>
                <a:gd name="T72" fmla="*/ 44 h 44"/>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T69" t="T70" r="T71" b="T72"/>
              <a:pathLst>
                <a:path w="45" h="44">
                  <a:moveTo>
                    <a:pt x="0" y="22"/>
                  </a:moveTo>
                  <a:lnTo>
                    <a:pt x="0" y="30"/>
                  </a:lnTo>
                  <a:lnTo>
                    <a:pt x="8" y="30"/>
                  </a:lnTo>
                  <a:lnTo>
                    <a:pt x="8" y="37"/>
                  </a:lnTo>
                  <a:lnTo>
                    <a:pt x="15" y="37"/>
                  </a:lnTo>
                  <a:lnTo>
                    <a:pt x="23" y="44"/>
                  </a:lnTo>
                  <a:lnTo>
                    <a:pt x="30" y="37"/>
                  </a:lnTo>
                  <a:lnTo>
                    <a:pt x="38" y="37"/>
                  </a:lnTo>
                  <a:lnTo>
                    <a:pt x="38" y="30"/>
                  </a:lnTo>
                  <a:lnTo>
                    <a:pt x="45" y="30"/>
                  </a:lnTo>
                  <a:lnTo>
                    <a:pt x="45" y="22"/>
                  </a:lnTo>
                  <a:lnTo>
                    <a:pt x="45" y="15"/>
                  </a:lnTo>
                  <a:lnTo>
                    <a:pt x="38" y="7"/>
                  </a:lnTo>
                  <a:lnTo>
                    <a:pt x="30" y="0"/>
                  </a:lnTo>
                  <a:lnTo>
                    <a:pt x="23" y="0"/>
                  </a:lnTo>
                  <a:lnTo>
                    <a:pt x="15" y="0"/>
                  </a:lnTo>
                  <a:lnTo>
                    <a:pt x="8" y="7"/>
                  </a:lnTo>
                  <a:lnTo>
                    <a:pt x="0" y="15"/>
                  </a:lnTo>
                  <a:lnTo>
                    <a:pt x="0" y="22"/>
                  </a:lnTo>
                </a:path>
              </a:pathLst>
            </a:custGeom>
            <a:noFill/>
            <a:ln w="7">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6414" name="Rectangle 36">
              <a:extLst>
                <a:ext uri="{FF2B5EF4-FFF2-40B4-BE49-F238E27FC236}">
                  <a16:creationId xmlns:a16="http://schemas.microsoft.com/office/drawing/2014/main" id="{989818FA-A456-1307-C48F-817CE117DC92}"/>
                </a:ext>
              </a:extLst>
            </p:cNvPr>
            <p:cNvSpPr>
              <a:spLocks noChangeArrowheads="1"/>
            </p:cNvSpPr>
            <p:nvPr/>
          </p:nvSpPr>
          <p:spPr bwMode="auto">
            <a:xfrm>
              <a:off x="2665" y="3406"/>
              <a:ext cx="806" cy="201"/>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6415" name="Rectangle 37">
              <a:extLst>
                <a:ext uri="{FF2B5EF4-FFF2-40B4-BE49-F238E27FC236}">
                  <a16:creationId xmlns:a16="http://schemas.microsoft.com/office/drawing/2014/main" id="{738F732D-B175-7D2B-8D6B-9525B8F7E0D4}"/>
                </a:ext>
              </a:extLst>
            </p:cNvPr>
            <p:cNvSpPr>
              <a:spLocks noChangeArrowheads="1"/>
            </p:cNvSpPr>
            <p:nvPr/>
          </p:nvSpPr>
          <p:spPr bwMode="auto">
            <a:xfrm>
              <a:off x="2702" y="3436"/>
              <a:ext cx="451"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New method</a:t>
              </a:r>
              <a:endParaRPr lang="en-US" altLang="en-US"/>
            </a:p>
          </p:txBody>
        </p:sp>
        <p:sp>
          <p:nvSpPr>
            <p:cNvPr id="16416" name="Freeform 38">
              <a:extLst>
                <a:ext uri="{FF2B5EF4-FFF2-40B4-BE49-F238E27FC236}">
                  <a16:creationId xmlns:a16="http://schemas.microsoft.com/office/drawing/2014/main" id="{C2E7812C-1DB1-CE4B-9635-3B8F27EDC712}"/>
                </a:ext>
              </a:extLst>
            </p:cNvPr>
            <p:cNvSpPr>
              <a:spLocks/>
            </p:cNvSpPr>
            <p:nvPr/>
          </p:nvSpPr>
          <p:spPr bwMode="auto">
            <a:xfrm>
              <a:off x="3396" y="3406"/>
              <a:ext cx="75" cy="52"/>
            </a:xfrm>
            <a:custGeom>
              <a:avLst/>
              <a:gdLst>
                <a:gd name="T0" fmla="*/ 0 w 75"/>
                <a:gd name="T1" fmla="*/ 0 h 52"/>
                <a:gd name="T2" fmla="*/ 75 w 75"/>
                <a:gd name="T3" fmla="*/ 52 h 52"/>
                <a:gd name="T4" fmla="*/ 75 w 75"/>
                <a:gd name="T5" fmla="*/ 0 h 52"/>
                <a:gd name="T6" fmla="*/ 0 w 75"/>
                <a:gd name="T7" fmla="*/ 0 h 52"/>
                <a:gd name="T8" fmla="*/ 0 60000 65536"/>
                <a:gd name="T9" fmla="*/ 0 60000 65536"/>
                <a:gd name="T10" fmla="*/ 0 60000 65536"/>
                <a:gd name="T11" fmla="*/ 0 60000 65536"/>
                <a:gd name="T12" fmla="*/ 0 w 75"/>
                <a:gd name="T13" fmla="*/ 0 h 52"/>
                <a:gd name="T14" fmla="*/ 75 w 75"/>
                <a:gd name="T15" fmla="*/ 52 h 52"/>
              </a:gdLst>
              <a:ahLst/>
              <a:cxnLst>
                <a:cxn ang="T8">
                  <a:pos x="T0" y="T1"/>
                </a:cxn>
                <a:cxn ang="T9">
                  <a:pos x="T2" y="T3"/>
                </a:cxn>
                <a:cxn ang="T10">
                  <a:pos x="T4" y="T5"/>
                </a:cxn>
                <a:cxn ang="T11">
                  <a:pos x="T6" y="T7"/>
                </a:cxn>
              </a:cxnLst>
              <a:rect l="T12" t="T13" r="T14" b="T15"/>
              <a:pathLst>
                <a:path w="75" h="52">
                  <a:moveTo>
                    <a:pt x="0" y="0"/>
                  </a:moveTo>
                  <a:lnTo>
                    <a:pt x="75" y="52"/>
                  </a:lnTo>
                  <a:lnTo>
                    <a:pt x="75" y="0"/>
                  </a:lnTo>
                  <a:lnTo>
                    <a:pt x="0" y="0"/>
                  </a:lnTo>
                  <a:close/>
                </a:path>
              </a:pathLst>
            </a:custGeom>
            <a:solidFill>
              <a:srgbClr val="FFFFFF"/>
            </a:solidFill>
            <a:ln w="7">
              <a:solidFill>
                <a:srgbClr val="FFFFFF"/>
              </a:solidFill>
              <a:round/>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6417" name="Freeform 39">
              <a:extLst>
                <a:ext uri="{FF2B5EF4-FFF2-40B4-BE49-F238E27FC236}">
                  <a16:creationId xmlns:a16="http://schemas.microsoft.com/office/drawing/2014/main" id="{F9DCC4C5-C26A-32D5-9426-F5F96E4161F8}"/>
                </a:ext>
              </a:extLst>
            </p:cNvPr>
            <p:cNvSpPr>
              <a:spLocks/>
            </p:cNvSpPr>
            <p:nvPr/>
          </p:nvSpPr>
          <p:spPr bwMode="auto">
            <a:xfrm>
              <a:off x="3396" y="3406"/>
              <a:ext cx="75" cy="52"/>
            </a:xfrm>
            <a:custGeom>
              <a:avLst/>
              <a:gdLst>
                <a:gd name="T0" fmla="*/ 75 w 75"/>
                <a:gd name="T1" fmla="*/ 52 h 52"/>
                <a:gd name="T2" fmla="*/ 0 w 75"/>
                <a:gd name="T3" fmla="*/ 0 h 52"/>
                <a:gd name="T4" fmla="*/ 0 w 75"/>
                <a:gd name="T5" fmla="*/ 52 h 52"/>
                <a:gd name="T6" fmla="*/ 75 w 75"/>
                <a:gd name="T7" fmla="*/ 52 h 52"/>
                <a:gd name="T8" fmla="*/ 0 60000 65536"/>
                <a:gd name="T9" fmla="*/ 0 60000 65536"/>
                <a:gd name="T10" fmla="*/ 0 60000 65536"/>
                <a:gd name="T11" fmla="*/ 0 60000 65536"/>
                <a:gd name="T12" fmla="*/ 0 w 75"/>
                <a:gd name="T13" fmla="*/ 0 h 52"/>
                <a:gd name="T14" fmla="*/ 75 w 75"/>
                <a:gd name="T15" fmla="*/ 52 h 52"/>
              </a:gdLst>
              <a:ahLst/>
              <a:cxnLst>
                <a:cxn ang="T8">
                  <a:pos x="T0" y="T1"/>
                </a:cxn>
                <a:cxn ang="T9">
                  <a:pos x="T2" y="T3"/>
                </a:cxn>
                <a:cxn ang="T10">
                  <a:pos x="T4" y="T5"/>
                </a:cxn>
                <a:cxn ang="T11">
                  <a:pos x="T6" y="T7"/>
                </a:cxn>
              </a:cxnLst>
              <a:rect l="T12" t="T13" r="T14" b="T15"/>
              <a:pathLst>
                <a:path w="75" h="52">
                  <a:moveTo>
                    <a:pt x="75" y="52"/>
                  </a:moveTo>
                  <a:lnTo>
                    <a:pt x="0" y="0"/>
                  </a:lnTo>
                  <a:lnTo>
                    <a:pt x="0" y="52"/>
                  </a:lnTo>
                  <a:lnTo>
                    <a:pt x="75" y="52"/>
                  </a:lnTo>
                  <a:close/>
                </a:path>
              </a:pathLst>
            </a:custGeom>
            <a:solidFill>
              <a:srgbClr val="000000"/>
            </a:solidFill>
            <a:ln w="7">
              <a:solidFill>
                <a:srgbClr val="000000"/>
              </a:solidFill>
              <a:round/>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6418" name="Line 40">
              <a:extLst>
                <a:ext uri="{FF2B5EF4-FFF2-40B4-BE49-F238E27FC236}">
                  <a16:creationId xmlns:a16="http://schemas.microsoft.com/office/drawing/2014/main" id="{5E8AEF4B-CA4D-C6D7-962B-557EEB261351}"/>
                </a:ext>
              </a:extLst>
            </p:cNvPr>
            <p:cNvSpPr>
              <a:spLocks noChangeShapeType="1"/>
            </p:cNvSpPr>
            <p:nvPr/>
          </p:nvSpPr>
          <p:spPr bwMode="auto">
            <a:xfrm>
              <a:off x="1716" y="2302"/>
              <a:ext cx="277" cy="0"/>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419" name="Freeform 41">
              <a:extLst>
                <a:ext uri="{FF2B5EF4-FFF2-40B4-BE49-F238E27FC236}">
                  <a16:creationId xmlns:a16="http://schemas.microsoft.com/office/drawing/2014/main" id="{C9C26D2F-A16B-7099-52BA-799517A1714B}"/>
                </a:ext>
              </a:extLst>
            </p:cNvPr>
            <p:cNvSpPr>
              <a:spLocks/>
            </p:cNvSpPr>
            <p:nvPr/>
          </p:nvSpPr>
          <p:spPr bwMode="auto">
            <a:xfrm>
              <a:off x="1985" y="2279"/>
              <a:ext cx="52" cy="37"/>
            </a:xfrm>
            <a:custGeom>
              <a:avLst/>
              <a:gdLst>
                <a:gd name="T0" fmla="*/ 0 w 52"/>
                <a:gd name="T1" fmla="*/ 37 h 37"/>
                <a:gd name="T2" fmla="*/ 52 w 52"/>
                <a:gd name="T3" fmla="*/ 22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22"/>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6420" name="Rectangle 44">
              <a:extLst>
                <a:ext uri="{FF2B5EF4-FFF2-40B4-BE49-F238E27FC236}">
                  <a16:creationId xmlns:a16="http://schemas.microsoft.com/office/drawing/2014/main" id="{A6D32730-0DF3-FF09-1093-3407C9B16485}"/>
                </a:ext>
              </a:extLst>
            </p:cNvPr>
            <p:cNvSpPr>
              <a:spLocks noChangeArrowheads="1"/>
            </p:cNvSpPr>
            <p:nvPr/>
          </p:nvSpPr>
          <p:spPr bwMode="auto">
            <a:xfrm>
              <a:off x="3095" y="2829"/>
              <a:ext cx="717"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6421" name="Rectangle 46">
              <a:extLst>
                <a:ext uri="{FF2B5EF4-FFF2-40B4-BE49-F238E27FC236}">
                  <a16:creationId xmlns:a16="http://schemas.microsoft.com/office/drawing/2014/main" id="{F689B082-BDAB-7BDA-925D-C7F6119482BC}"/>
                </a:ext>
              </a:extLst>
            </p:cNvPr>
            <p:cNvSpPr>
              <a:spLocks noChangeArrowheads="1"/>
            </p:cNvSpPr>
            <p:nvPr/>
          </p:nvSpPr>
          <p:spPr bwMode="auto">
            <a:xfrm>
              <a:off x="3120" y="2867"/>
              <a:ext cx="65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:SalesLineItem</a:t>
              </a:r>
              <a:endParaRPr lang="en-US" altLang="en-US"/>
            </a:p>
          </p:txBody>
        </p:sp>
        <p:sp>
          <p:nvSpPr>
            <p:cNvPr id="16422" name="Freeform 47">
              <a:extLst>
                <a:ext uri="{FF2B5EF4-FFF2-40B4-BE49-F238E27FC236}">
                  <a16:creationId xmlns:a16="http://schemas.microsoft.com/office/drawing/2014/main" id="{A8A8AC45-C6FB-BAE0-0384-8BF7BCE59AA6}"/>
                </a:ext>
              </a:extLst>
            </p:cNvPr>
            <p:cNvSpPr>
              <a:spLocks/>
            </p:cNvSpPr>
            <p:nvPr/>
          </p:nvSpPr>
          <p:spPr bwMode="auto">
            <a:xfrm>
              <a:off x="2844" y="2368"/>
              <a:ext cx="582" cy="538"/>
            </a:xfrm>
            <a:custGeom>
              <a:avLst/>
              <a:gdLst>
                <a:gd name="T0" fmla="*/ 0 w 582"/>
                <a:gd name="T1" fmla="*/ 0 h 538"/>
                <a:gd name="T2" fmla="*/ 582 w 582"/>
                <a:gd name="T3" fmla="*/ 0 h 538"/>
                <a:gd name="T4" fmla="*/ 582 w 582"/>
                <a:gd name="T5" fmla="*/ 538 h 538"/>
                <a:gd name="T6" fmla="*/ 0 60000 65536"/>
                <a:gd name="T7" fmla="*/ 0 60000 65536"/>
                <a:gd name="T8" fmla="*/ 0 60000 65536"/>
                <a:gd name="T9" fmla="*/ 0 w 582"/>
                <a:gd name="T10" fmla="*/ 0 h 538"/>
                <a:gd name="T11" fmla="*/ 582 w 582"/>
                <a:gd name="T12" fmla="*/ 538 h 538"/>
              </a:gdLst>
              <a:ahLst/>
              <a:cxnLst>
                <a:cxn ang="T6">
                  <a:pos x="T0" y="T1"/>
                </a:cxn>
                <a:cxn ang="T7">
                  <a:pos x="T2" y="T3"/>
                </a:cxn>
                <a:cxn ang="T8">
                  <a:pos x="T4" y="T5"/>
                </a:cxn>
              </a:cxnLst>
              <a:rect l="T9" t="T10" r="T11" b="T12"/>
              <a:pathLst>
                <a:path w="582" h="538">
                  <a:moveTo>
                    <a:pt x="0" y="0"/>
                  </a:moveTo>
                  <a:lnTo>
                    <a:pt x="582" y="0"/>
                  </a:lnTo>
                  <a:lnTo>
                    <a:pt x="582" y="538"/>
                  </a:lnTo>
                </a:path>
              </a:pathLst>
            </a:custGeom>
            <a:noFill/>
            <a:ln w="7">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6423" name="Rectangle 48">
              <a:extLst>
                <a:ext uri="{FF2B5EF4-FFF2-40B4-BE49-F238E27FC236}">
                  <a16:creationId xmlns:a16="http://schemas.microsoft.com/office/drawing/2014/main" id="{90094380-E7A9-2321-10F3-7A5CF2BA1464}"/>
                </a:ext>
              </a:extLst>
            </p:cNvPr>
            <p:cNvSpPr>
              <a:spLocks noChangeArrowheads="1"/>
            </p:cNvSpPr>
            <p:nvPr/>
          </p:nvSpPr>
          <p:spPr bwMode="auto">
            <a:xfrm>
              <a:off x="2959" y="2160"/>
              <a:ext cx="940"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 sli := subtotal()</a:t>
              </a:r>
              <a:endParaRPr lang="en-US" altLang="en-US"/>
            </a:p>
          </p:txBody>
        </p:sp>
        <p:sp>
          <p:nvSpPr>
            <p:cNvPr id="16424" name="Line 49">
              <a:extLst>
                <a:ext uri="{FF2B5EF4-FFF2-40B4-BE49-F238E27FC236}">
                  <a16:creationId xmlns:a16="http://schemas.microsoft.com/office/drawing/2014/main" id="{B63EABF3-CCEA-FF5C-9337-A4B2979BDC85}"/>
                </a:ext>
              </a:extLst>
            </p:cNvPr>
            <p:cNvSpPr>
              <a:spLocks noChangeShapeType="1"/>
            </p:cNvSpPr>
            <p:nvPr/>
          </p:nvSpPr>
          <p:spPr bwMode="auto">
            <a:xfrm>
              <a:off x="3516" y="2435"/>
              <a:ext cx="1" cy="90"/>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425" name="Freeform 50">
              <a:extLst>
                <a:ext uri="{FF2B5EF4-FFF2-40B4-BE49-F238E27FC236}">
                  <a16:creationId xmlns:a16="http://schemas.microsoft.com/office/drawing/2014/main" id="{8A6CB915-59A0-1C3D-4622-2E9AEFB1EE79}"/>
                </a:ext>
              </a:extLst>
            </p:cNvPr>
            <p:cNvSpPr>
              <a:spLocks/>
            </p:cNvSpPr>
            <p:nvPr/>
          </p:nvSpPr>
          <p:spPr bwMode="auto">
            <a:xfrm>
              <a:off x="3501" y="2518"/>
              <a:ext cx="30" cy="52"/>
            </a:xfrm>
            <a:custGeom>
              <a:avLst/>
              <a:gdLst>
                <a:gd name="T0" fmla="*/ 30 w 30"/>
                <a:gd name="T1" fmla="*/ 0 h 52"/>
                <a:gd name="T2" fmla="*/ 15 w 30"/>
                <a:gd name="T3" fmla="*/ 52 h 52"/>
                <a:gd name="T4" fmla="*/ 0 w 30"/>
                <a:gd name="T5" fmla="*/ 0 h 52"/>
                <a:gd name="T6" fmla="*/ 30 w 30"/>
                <a:gd name="T7" fmla="*/ 0 h 52"/>
                <a:gd name="T8" fmla="*/ 0 60000 65536"/>
                <a:gd name="T9" fmla="*/ 0 60000 65536"/>
                <a:gd name="T10" fmla="*/ 0 60000 65536"/>
                <a:gd name="T11" fmla="*/ 0 60000 65536"/>
                <a:gd name="T12" fmla="*/ 0 w 30"/>
                <a:gd name="T13" fmla="*/ 0 h 52"/>
                <a:gd name="T14" fmla="*/ 30 w 30"/>
                <a:gd name="T15" fmla="*/ 52 h 52"/>
              </a:gdLst>
              <a:ahLst/>
              <a:cxnLst>
                <a:cxn ang="T8">
                  <a:pos x="T0" y="T1"/>
                </a:cxn>
                <a:cxn ang="T9">
                  <a:pos x="T2" y="T3"/>
                </a:cxn>
                <a:cxn ang="T10">
                  <a:pos x="T4" y="T5"/>
                </a:cxn>
                <a:cxn ang="T11">
                  <a:pos x="T6" y="T7"/>
                </a:cxn>
              </a:cxnLst>
              <a:rect l="T12" t="T13" r="T14" b="T15"/>
              <a:pathLst>
                <a:path w="30" h="52">
                  <a:moveTo>
                    <a:pt x="30" y="0"/>
                  </a:moveTo>
                  <a:lnTo>
                    <a:pt x="15" y="52"/>
                  </a:lnTo>
                  <a:lnTo>
                    <a:pt x="0" y="0"/>
                  </a:lnTo>
                  <a:lnTo>
                    <a:pt x="3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gr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Slide Number Placeholder 3">
            <a:extLst>
              <a:ext uri="{FF2B5EF4-FFF2-40B4-BE49-F238E27FC236}">
                <a16:creationId xmlns:a16="http://schemas.microsoft.com/office/drawing/2014/main" id="{1159257E-882D-F25A-0CBB-B88E86CF50A6}"/>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3E114932-3753-4444-9351-E3FF2C00837B}" type="slidenum">
              <a:rPr lang="de-DE" altLang="en-US" sz="1000"/>
              <a:pPr/>
              <a:t>34</a:t>
            </a:fld>
            <a:endParaRPr lang="de-DE" altLang="en-US" sz="1000"/>
          </a:p>
        </p:txBody>
      </p:sp>
      <p:sp>
        <p:nvSpPr>
          <p:cNvPr id="17411" name="Rectangle 2">
            <a:extLst>
              <a:ext uri="{FF2B5EF4-FFF2-40B4-BE49-F238E27FC236}">
                <a16:creationId xmlns:a16="http://schemas.microsoft.com/office/drawing/2014/main" id="{4C3BAF8C-1E82-0870-4E42-615946D476D1}"/>
              </a:ext>
            </a:extLst>
          </p:cNvPr>
          <p:cNvSpPr>
            <a:spLocks noGrp="1" noChangeArrowheads="1"/>
          </p:cNvSpPr>
          <p:nvPr>
            <p:ph type="title"/>
          </p:nvPr>
        </p:nvSpPr>
        <p:spPr/>
        <p:txBody>
          <a:bodyPr/>
          <a:lstStyle/>
          <a:p>
            <a:r>
              <a:rPr lang="en-US" altLang="en-US"/>
              <a:t>…Expert – example…</a:t>
            </a:r>
          </a:p>
        </p:txBody>
      </p:sp>
      <p:sp>
        <p:nvSpPr>
          <p:cNvPr id="17412" name="Rectangle 3">
            <a:extLst>
              <a:ext uri="{FF2B5EF4-FFF2-40B4-BE49-F238E27FC236}">
                <a16:creationId xmlns:a16="http://schemas.microsoft.com/office/drawing/2014/main" id="{6070EFF7-F0DA-815C-1413-0165914C0420}"/>
              </a:ext>
            </a:extLst>
          </p:cNvPr>
          <p:cNvSpPr>
            <a:spLocks noGrp="1" noChangeArrowheads="1"/>
          </p:cNvSpPr>
          <p:nvPr>
            <p:ph type="body" idx="1"/>
          </p:nvPr>
        </p:nvSpPr>
        <p:spPr/>
        <p:txBody>
          <a:bodyPr/>
          <a:lstStyle/>
          <a:p>
            <a:pPr marL="342900" indent="-342900"/>
            <a:r>
              <a:rPr lang="en-US" altLang="en-US" sz="3600" dirty="0"/>
              <a:t>And finally,</a:t>
            </a:r>
          </a:p>
        </p:txBody>
      </p:sp>
      <p:grpSp>
        <p:nvGrpSpPr>
          <p:cNvPr id="17413" name="Group 7">
            <a:extLst>
              <a:ext uri="{FF2B5EF4-FFF2-40B4-BE49-F238E27FC236}">
                <a16:creationId xmlns:a16="http://schemas.microsoft.com/office/drawing/2014/main" id="{8245C110-129A-6B5C-0A59-90C27974CAEB}"/>
              </a:ext>
            </a:extLst>
          </p:cNvPr>
          <p:cNvGrpSpPr>
            <a:grpSpLocks noChangeAspect="1"/>
          </p:cNvGrpSpPr>
          <p:nvPr/>
        </p:nvGrpSpPr>
        <p:grpSpPr bwMode="auto">
          <a:xfrm>
            <a:off x="3505200" y="2489201"/>
            <a:ext cx="5392738" cy="3725863"/>
            <a:chOff x="1248" y="1568"/>
            <a:chExt cx="3397" cy="2347"/>
          </a:xfrm>
        </p:grpSpPr>
        <p:sp>
          <p:nvSpPr>
            <p:cNvPr id="17414" name="AutoShape 6">
              <a:extLst>
                <a:ext uri="{FF2B5EF4-FFF2-40B4-BE49-F238E27FC236}">
                  <a16:creationId xmlns:a16="http://schemas.microsoft.com/office/drawing/2014/main" id="{5D0E61C0-401F-A851-5E52-554DD67F156A}"/>
                </a:ext>
              </a:extLst>
            </p:cNvPr>
            <p:cNvSpPr>
              <a:spLocks noChangeAspect="1" noChangeArrowheads="1" noTextEdit="1"/>
            </p:cNvSpPr>
            <p:nvPr/>
          </p:nvSpPr>
          <p:spPr bwMode="auto">
            <a:xfrm>
              <a:off x="1248" y="1632"/>
              <a:ext cx="3397" cy="228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17415" name="Rectangle 8">
              <a:extLst>
                <a:ext uri="{FF2B5EF4-FFF2-40B4-BE49-F238E27FC236}">
                  <a16:creationId xmlns:a16="http://schemas.microsoft.com/office/drawing/2014/main" id="{D0BE0A7B-5534-B698-6593-C17C5508098A}"/>
                </a:ext>
              </a:extLst>
            </p:cNvPr>
            <p:cNvSpPr>
              <a:spLocks noChangeArrowheads="1"/>
            </p:cNvSpPr>
            <p:nvPr/>
          </p:nvSpPr>
          <p:spPr bwMode="auto">
            <a:xfrm>
              <a:off x="3981" y="1654"/>
              <a:ext cx="657" cy="179"/>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16" name="Rectangle 9">
              <a:extLst>
                <a:ext uri="{FF2B5EF4-FFF2-40B4-BE49-F238E27FC236}">
                  <a16:creationId xmlns:a16="http://schemas.microsoft.com/office/drawing/2014/main" id="{EF357669-9344-7AD4-13DC-4DE680244D37}"/>
                </a:ext>
              </a:extLst>
            </p:cNvPr>
            <p:cNvSpPr>
              <a:spLocks noChangeArrowheads="1"/>
            </p:cNvSpPr>
            <p:nvPr/>
          </p:nvSpPr>
          <p:spPr bwMode="auto">
            <a:xfrm>
              <a:off x="4227" y="1684"/>
              <a:ext cx="161"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Sale</a:t>
              </a:r>
              <a:endParaRPr lang="en-US" altLang="en-US"/>
            </a:p>
          </p:txBody>
        </p:sp>
        <p:sp>
          <p:nvSpPr>
            <p:cNvPr id="17417" name="Rectangle 10">
              <a:extLst>
                <a:ext uri="{FF2B5EF4-FFF2-40B4-BE49-F238E27FC236}">
                  <a16:creationId xmlns:a16="http://schemas.microsoft.com/office/drawing/2014/main" id="{4A317E40-0ED1-7231-3A0E-7E9B2B54CC28}"/>
                </a:ext>
              </a:extLst>
            </p:cNvPr>
            <p:cNvSpPr>
              <a:spLocks noChangeArrowheads="1"/>
            </p:cNvSpPr>
            <p:nvPr/>
          </p:nvSpPr>
          <p:spPr bwMode="auto">
            <a:xfrm>
              <a:off x="3981" y="1833"/>
              <a:ext cx="657" cy="269"/>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18" name="Rectangle 11">
              <a:extLst>
                <a:ext uri="{FF2B5EF4-FFF2-40B4-BE49-F238E27FC236}">
                  <a16:creationId xmlns:a16="http://schemas.microsoft.com/office/drawing/2014/main" id="{D57DF825-C024-F7E5-ED8F-498186814A6C}"/>
                </a:ext>
              </a:extLst>
            </p:cNvPr>
            <p:cNvSpPr>
              <a:spLocks noChangeArrowheads="1"/>
            </p:cNvSpPr>
            <p:nvPr/>
          </p:nvSpPr>
          <p:spPr bwMode="auto">
            <a:xfrm>
              <a:off x="4025" y="1863"/>
              <a:ext cx="156"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date</a:t>
              </a:r>
              <a:endParaRPr lang="en-US" altLang="en-US"/>
            </a:p>
          </p:txBody>
        </p:sp>
        <p:sp>
          <p:nvSpPr>
            <p:cNvPr id="17419" name="Rectangle 12">
              <a:extLst>
                <a:ext uri="{FF2B5EF4-FFF2-40B4-BE49-F238E27FC236}">
                  <a16:creationId xmlns:a16="http://schemas.microsoft.com/office/drawing/2014/main" id="{272C9649-0C6A-4C2C-2280-531B449DC281}"/>
                </a:ext>
              </a:extLst>
            </p:cNvPr>
            <p:cNvSpPr>
              <a:spLocks noChangeArrowheads="1"/>
            </p:cNvSpPr>
            <p:nvPr/>
          </p:nvSpPr>
          <p:spPr bwMode="auto">
            <a:xfrm>
              <a:off x="4025" y="1953"/>
              <a:ext cx="152"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time</a:t>
              </a:r>
              <a:endParaRPr lang="en-US" altLang="en-US"/>
            </a:p>
          </p:txBody>
        </p:sp>
        <p:sp>
          <p:nvSpPr>
            <p:cNvPr id="17420" name="Rectangle 13">
              <a:extLst>
                <a:ext uri="{FF2B5EF4-FFF2-40B4-BE49-F238E27FC236}">
                  <a16:creationId xmlns:a16="http://schemas.microsoft.com/office/drawing/2014/main" id="{EC32726C-A4E9-8BA1-AB50-EF34E28DE8FE}"/>
                </a:ext>
              </a:extLst>
            </p:cNvPr>
            <p:cNvSpPr>
              <a:spLocks noChangeArrowheads="1"/>
            </p:cNvSpPr>
            <p:nvPr/>
          </p:nvSpPr>
          <p:spPr bwMode="auto">
            <a:xfrm>
              <a:off x="3981" y="2102"/>
              <a:ext cx="657" cy="179"/>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21" name="Rectangle 14">
              <a:extLst>
                <a:ext uri="{FF2B5EF4-FFF2-40B4-BE49-F238E27FC236}">
                  <a16:creationId xmlns:a16="http://schemas.microsoft.com/office/drawing/2014/main" id="{A0A654ED-CB0D-B095-740F-387C9CCBD851}"/>
                </a:ext>
              </a:extLst>
            </p:cNvPr>
            <p:cNvSpPr>
              <a:spLocks noChangeArrowheads="1"/>
            </p:cNvSpPr>
            <p:nvPr/>
          </p:nvSpPr>
          <p:spPr bwMode="auto">
            <a:xfrm>
              <a:off x="4025" y="2132"/>
              <a:ext cx="206"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total()</a:t>
              </a:r>
              <a:endParaRPr lang="en-US" altLang="en-US"/>
            </a:p>
          </p:txBody>
        </p:sp>
        <p:sp>
          <p:nvSpPr>
            <p:cNvPr id="17422" name="Rectangle 15">
              <a:extLst>
                <a:ext uri="{FF2B5EF4-FFF2-40B4-BE49-F238E27FC236}">
                  <a16:creationId xmlns:a16="http://schemas.microsoft.com/office/drawing/2014/main" id="{6395F48A-8E14-8479-6B26-21B437978840}"/>
                </a:ext>
              </a:extLst>
            </p:cNvPr>
            <p:cNvSpPr>
              <a:spLocks noChangeArrowheads="1"/>
            </p:cNvSpPr>
            <p:nvPr/>
          </p:nvSpPr>
          <p:spPr bwMode="auto">
            <a:xfrm>
              <a:off x="2107" y="1647"/>
              <a:ext cx="717"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23" name="Line 16">
              <a:extLst>
                <a:ext uri="{FF2B5EF4-FFF2-40B4-BE49-F238E27FC236}">
                  <a16:creationId xmlns:a16="http://schemas.microsoft.com/office/drawing/2014/main" id="{77F40178-F065-43F8-32C3-968E989B49B4}"/>
                </a:ext>
              </a:extLst>
            </p:cNvPr>
            <p:cNvSpPr>
              <a:spLocks noChangeShapeType="1"/>
            </p:cNvSpPr>
            <p:nvPr/>
          </p:nvSpPr>
          <p:spPr bwMode="auto">
            <a:xfrm>
              <a:off x="2398" y="1796"/>
              <a:ext cx="179"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424" name="Rectangle 17">
              <a:extLst>
                <a:ext uri="{FF2B5EF4-FFF2-40B4-BE49-F238E27FC236}">
                  <a16:creationId xmlns:a16="http://schemas.microsoft.com/office/drawing/2014/main" id="{6CDA2F5F-F70C-9B40-3152-82EAE33BCE75}"/>
                </a:ext>
              </a:extLst>
            </p:cNvPr>
            <p:cNvSpPr>
              <a:spLocks noChangeArrowheads="1"/>
            </p:cNvSpPr>
            <p:nvPr/>
          </p:nvSpPr>
          <p:spPr bwMode="auto">
            <a:xfrm>
              <a:off x="2398" y="1649"/>
              <a:ext cx="18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:Sale</a:t>
              </a:r>
              <a:endParaRPr lang="en-US" altLang="en-US"/>
            </a:p>
          </p:txBody>
        </p:sp>
        <p:sp>
          <p:nvSpPr>
            <p:cNvPr id="17425" name="Line 18">
              <a:extLst>
                <a:ext uri="{FF2B5EF4-FFF2-40B4-BE49-F238E27FC236}">
                  <a16:creationId xmlns:a16="http://schemas.microsoft.com/office/drawing/2014/main" id="{5E0F3051-F8C8-015A-85A7-4B2A6E303BE5}"/>
                </a:ext>
              </a:extLst>
            </p:cNvPr>
            <p:cNvSpPr>
              <a:spLocks noChangeShapeType="1"/>
            </p:cNvSpPr>
            <p:nvPr/>
          </p:nvSpPr>
          <p:spPr bwMode="auto">
            <a:xfrm>
              <a:off x="1263" y="1766"/>
              <a:ext cx="866"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426" name="Rectangle 19">
              <a:extLst>
                <a:ext uri="{FF2B5EF4-FFF2-40B4-BE49-F238E27FC236}">
                  <a16:creationId xmlns:a16="http://schemas.microsoft.com/office/drawing/2014/main" id="{C23524E4-2E94-B029-3B82-5BDC84E5548C}"/>
                </a:ext>
              </a:extLst>
            </p:cNvPr>
            <p:cNvSpPr>
              <a:spLocks noChangeArrowheads="1"/>
            </p:cNvSpPr>
            <p:nvPr/>
          </p:nvSpPr>
          <p:spPr bwMode="auto">
            <a:xfrm>
              <a:off x="1517" y="1568"/>
              <a:ext cx="411"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t := total()</a:t>
              </a:r>
              <a:endParaRPr lang="en-US" altLang="en-US"/>
            </a:p>
          </p:txBody>
        </p:sp>
        <p:sp>
          <p:nvSpPr>
            <p:cNvPr id="17427" name="Rectangle 20">
              <a:extLst>
                <a:ext uri="{FF2B5EF4-FFF2-40B4-BE49-F238E27FC236}">
                  <a16:creationId xmlns:a16="http://schemas.microsoft.com/office/drawing/2014/main" id="{4182656F-FF3A-C1AA-C372-D375905897F1}"/>
                </a:ext>
              </a:extLst>
            </p:cNvPr>
            <p:cNvSpPr>
              <a:spLocks noChangeArrowheads="1"/>
            </p:cNvSpPr>
            <p:nvPr/>
          </p:nvSpPr>
          <p:spPr bwMode="auto">
            <a:xfrm>
              <a:off x="2129" y="2371"/>
              <a:ext cx="717" cy="223"/>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28" name="Line 21">
              <a:extLst>
                <a:ext uri="{FF2B5EF4-FFF2-40B4-BE49-F238E27FC236}">
                  <a16:creationId xmlns:a16="http://schemas.microsoft.com/office/drawing/2014/main" id="{0038544D-7D25-0EA9-F197-133557FB2CCD}"/>
                </a:ext>
              </a:extLst>
            </p:cNvPr>
            <p:cNvSpPr>
              <a:spLocks noChangeShapeType="1"/>
            </p:cNvSpPr>
            <p:nvPr/>
          </p:nvSpPr>
          <p:spPr bwMode="auto">
            <a:xfrm>
              <a:off x="2189" y="2512"/>
              <a:ext cx="5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429" name="Rectangle 23">
              <a:extLst>
                <a:ext uri="{FF2B5EF4-FFF2-40B4-BE49-F238E27FC236}">
                  <a16:creationId xmlns:a16="http://schemas.microsoft.com/office/drawing/2014/main" id="{3E1BC6A9-9DB0-14C7-2621-AFB5A392A203}"/>
                </a:ext>
              </a:extLst>
            </p:cNvPr>
            <p:cNvSpPr>
              <a:spLocks noChangeArrowheads="1"/>
            </p:cNvSpPr>
            <p:nvPr/>
          </p:nvSpPr>
          <p:spPr bwMode="auto">
            <a:xfrm>
              <a:off x="3981" y="2460"/>
              <a:ext cx="657" cy="179"/>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30" name="Rectangle 24">
              <a:extLst>
                <a:ext uri="{FF2B5EF4-FFF2-40B4-BE49-F238E27FC236}">
                  <a16:creationId xmlns:a16="http://schemas.microsoft.com/office/drawing/2014/main" id="{2D48B841-930A-F242-002B-E2771DB52F75}"/>
                </a:ext>
              </a:extLst>
            </p:cNvPr>
            <p:cNvSpPr>
              <a:spLocks noChangeArrowheads="1"/>
            </p:cNvSpPr>
            <p:nvPr/>
          </p:nvSpPr>
          <p:spPr bwMode="auto">
            <a:xfrm>
              <a:off x="4063" y="2490"/>
              <a:ext cx="509"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SalesLineItem</a:t>
              </a:r>
              <a:endParaRPr lang="en-US" altLang="en-US"/>
            </a:p>
          </p:txBody>
        </p:sp>
        <p:sp>
          <p:nvSpPr>
            <p:cNvPr id="17431" name="Rectangle 25">
              <a:extLst>
                <a:ext uri="{FF2B5EF4-FFF2-40B4-BE49-F238E27FC236}">
                  <a16:creationId xmlns:a16="http://schemas.microsoft.com/office/drawing/2014/main" id="{051298C5-4DF4-D189-9EA8-18C441326D41}"/>
                </a:ext>
              </a:extLst>
            </p:cNvPr>
            <p:cNvSpPr>
              <a:spLocks noChangeArrowheads="1"/>
            </p:cNvSpPr>
            <p:nvPr/>
          </p:nvSpPr>
          <p:spPr bwMode="auto">
            <a:xfrm>
              <a:off x="3981" y="2639"/>
              <a:ext cx="657" cy="179"/>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32" name="Rectangle 26">
              <a:extLst>
                <a:ext uri="{FF2B5EF4-FFF2-40B4-BE49-F238E27FC236}">
                  <a16:creationId xmlns:a16="http://schemas.microsoft.com/office/drawing/2014/main" id="{E0DA5501-5754-0DA6-A1BB-9AA4FA00916E}"/>
                </a:ext>
              </a:extLst>
            </p:cNvPr>
            <p:cNvSpPr>
              <a:spLocks noChangeArrowheads="1"/>
            </p:cNvSpPr>
            <p:nvPr/>
          </p:nvSpPr>
          <p:spPr bwMode="auto">
            <a:xfrm>
              <a:off x="4025" y="2669"/>
              <a:ext cx="281"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quantity</a:t>
              </a:r>
              <a:endParaRPr lang="en-US" altLang="en-US"/>
            </a:p>
          </p:txBody>
        </p:sp>
        <p:sp>
          <p:nvSpPr>
            <p:cNvPr id="17433" name="Rectangle 27">
              <a:extLst>
                <a:ext uri="{FF2B5EF4-FFF2-40B4-BE49-F238E27FC236}">
                  <a16:creationId xmlns:a16="http://schemas.microsoft.com/office/drawing/2014/main" id="{7E537155-0AA9-3232-16B9-D15E226D7A6B}"/>
                </a:ext>
              </a:extLst>
            </p:cNvPr>
            <p:cNvSpPr>
              <a:spLocks noChangeArrowheads="1"/>
            </p:cNvSpPr>
            <p:nvPr/>
          </p:nvSpPr>
          <p:spPr bwMode="auto">
            <a:xfrm>
              <a:off x="3981" y="2818"/>
              <a:ext cx="657" cy="179"/>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34" name="Rectangle 28">
              <a:extLst>
                <a:ext uri="{FF2B5EF4-FFF2-40B4-BE49-F238E27FC236}">
                  <a16:creationId xmlns:a16="http://schemas.microsoft.com/office/drawing/2014/main" id="{BF9C5BA9-230B-441A-292C-AB6AC829D03C}"/>
                </a:ext>
              </a:extLst>
            </p:cNvPr>
            <p:cNvSpPr>
              <a:spLocks noChangeArrowheads="1"/>
            </p:cNvSpPr>
            <p:nvPr/>
          </p:nvSpPr>
          <p:spPr bwMode="auto">
            <a:xfrm>
              <a:off x="4025" y="2848"/>
              <a:ext cx="335"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subtotal()</a:t>
              </a:r>
              <a:endParaRPr lang="en-US" altLang="en-US"/>
            </a:p>
          </p:txBody>
        </p:sp>
        <p:sp>
          <p:nvSpPr>
            <p:cNvPr id="17435" name="Line 29">
              <a:extLst>
                <a:ext uri="{FF2B5EF4-FFF2-40B4-BE49-F238E27FC236}">
                  <a16:creationId xmlns:a16="http://schemas.microsoft.com/office/drawing/2014/main" id="{877701CA-7B97-B456-C496-00904CFE21F1}"/>
                </a:ext>
              </a:extLst>
            </p:cNvPr>
            <p:cNvSpPr>
              <a:spLocks noChangeShapeType="1"/>
            </p:cNvSpPr>
            <p:nvPr/>
          </p:nvSpPr>
          <p:spPr bwMode="auto">
            <a:xfrm>
              <a:off x="2487" y="1878"/>
              <a:ext cx="1" cy="493"/>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436" name="Rectangle 30">
              <a:extLst>
                <a:ext uri="{FF2B5EF4-FFF2-40B4-BE49-F238E27FC236}">
                  <a16:creationId xmlns:a16="http://schemas.microsoft.com/office/drawing/2014/main" id="{6C29C0D4-48F7-6563-396A-B198CBE2E824}"/>
                </a:ext>
              </a:extLst>
            </p:cNvPr>
            <p:cNvSpPr>
              <a:spLocks noChangeArrowheads="1"/>
            </p:cNvSpPr>
            <p:nvPr/>
          </p:nvSpPr>
          <p:spPr bwMode="auto">
            <a:xfrm>
              <a:off x="1569" y="2050"/>
              <a:ext cx="632"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 st := subtotal()</a:t>
              </a:r>
              <a:endParaRPr lang="en-US" altLang="en-US"/>
            </a:p>
          </p:txBody>
        </p:sp>
        <p:sp>
          <p:nvSpPr>
            <p:cNvPr id="17437" name="Rectangle 31">
              <a:extLst>
                <a:ext uri="{FF2B5EF4-FFF2-40B4-BE49-F238E27FC236}">
                  <a16:creationId xmlns:a16="http://schemas.microsoft.com/office/drawing/2014/main" id="{166A12E1-7A3F-0030-BB4D-7B9F234086AB}"/>
                </a:ext>
              </a:extLst>
            </p:cNvPr>
            <p:cNvSpPr>
              <a:spLocks noChangeArrowheads="1"/>
            </p:cNvSpPr>
            <p:nvPr/>
          </p:nvSpPr>
          <p:spPr bwMode="auto">
            <a:xfrm>
              <a:off x="2129" y="3087"/>
              <a:ext cx="717"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38" name="Line 32">
              <a:extLst>
                <a:ext uri="{FF2B5EF4-FFF2-40B4-BE49-F238E27FC236}">
                  <a16:creationId xmlns:a16="http://schemas.microsoft.com/office/drawing/2014/main" id="{386CDBC7-B284-DAE4-F127-3B1514E59949}"/>
                </a:ext>
              </a:extLst>
            </p:cNvPr>
            <p:cNvSpPr>
              <a:spLocks noChangeShapeType="1"/>
            </p:cNvSpPr>
            <p:nvPr/>
          </p:nvSpPr>
          <p:spPr bwMode="auto">
            <a:xfrm>
              <a:off x="2338" y="3184"/>
              <a:ext cx="299"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439" name="Line 33">
              <a:extLst>
                <a:ext uri="{FF2B5EF4-FFF2-40B4-BE49-F238E27FC236}">
                  <a16:creationId xmlns:a16="http://schemas.microsoft.com/office/drawing/2014/main" id="{3860AEDE-97E3-0B15-55EE-3A0D4393AB1D}"/>
                </a:ext>
              </a:extLst>
            </p:cNvPr>
            <p:cNvSpPr>
              <a:spLocks noChangeShapeType="1"/>
            </p:cNvSpPr>
            <p:nvPr/>
          </p:nvSpPr>
          <p:spPr bwMode="auto">
            <a:xfrm>
              <a:off x="2256" y="3273"/>
              <a:ext cx="463"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440" name="Rectangle 34">
              <a:extLst>
                <a:ext uri="{FF2B5EF4-FFF2-40B4-BE49-F238E27FC236}">
                  <a16:creationId xmlns:a16="http://schemas.microsoft.com/office/drawing/2014/main" id="{81CB121F-7BE7-3EAE-DFA9-768BFB571811}"/>
                </a:ext>
              </a:extLst>
            </p:cNvPr>
            <p:cNvSpPr>
              <a:spLocks noChangeArrowheads="1"/>
            </p:cNvSpPr>
            <p:nvPr/>
          </p:nvSpPr>
          <p:spPr bwMode="auto">
            <a:xfrm>
              <a:off x="2338" y="3079"/>
              <a:ext cx="299"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:Product</a:t>
              </a:r>
              <a:endParaRPr lang="en-US" altLang="en-US" dirty="0"/>
            </a:p>
          </p:txBody>
        </p:sp>
        <p:sp>
          <p:nvSpPr>
            <p:cNvPr id="17441" name="Rectangle 35">
              <a:extLst>
                <a:ext uri="{FF2B5EF4-FFF2-40B4-BE49-F238E27FC236}">
                  <a16:creationId xmlns:a16="http://schemas.microsoft.com/office/drawing/2014/main" id="{DE9EAD0E-DE32-A580-F5BE-745CDF0BF451}"/>
                </a:ext>
              </a:extLst>
            </p:cNvPr>
            <p:cNvSpPr>
              <a:spLocks noChangeArrowheads="1"/>
            </p:cNvSpPr>
            <p:nvPr/>
          </p:nvSpPr>
          <p:spPr bwMode="auto">
            <a:xfrm>
              <a:off x="2256" y="3176"/>
              <a:ext cx="455"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Specification</a:t>
              </a:r>
              <a:endParaRPr lang="en-US" altLang="en-US" dirty="0"/>
            </a:p>
          </p:txBody>
        </p:sp>
        <p:sp>
          <p:nvSpPr>
            <p:cNvPr id="17442" name="Line 36">
              <a:extLst>
                <a:ext uri="{FF2B5EF4-FFF2-40B4-BE49-F238E27FC236}">
                  <a16:creationId xmlns:a16="http://schemas.microsoft.com/office/drawing/2014/main" id="{85BCF8BB-7584-3CEA-B70D-260688E94445}"/>
                </a:ext>
              </a:extLst>
            </p:cNvPr>
            <p:cNvSpPr>
              <a:spLocks noChangeShapeType="1"/>
            </p:cNvSpPr>
            <p:nvPr/>
          </p:nvSpPr>
          <p:spPr bwMode="auto">
            <a:xfrm>
              <a:off x="2487" y="2594"/>
              <a:ext cx="1" cy="493"/>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443" name="Rectangle 37">
              <a:extLst>
                <a:ext uri="{FF2B5EF4-FFF2-40B4-BE49-F238E27FC236}">
                  <a16:creationId xmlns:a16="http://schemas.microsoft.com/office/drawing/2014/main" id="{B926C23C-2739-97AE-CD49-F7F958685A12}"/>
                </a:ext>
              </a:extLst>
            </p:cNvPr>
            <p:cNvSpPr>
              <a:spLocks noChangeArrowheads="1"/>
            </p:cNvSpPr>
            <p:nvPr/>
          </p:nvSpPr>
          <p:spPr bwMode="auto">
            <a:xfrm>
              <a:off x="1621" y="2766"/>
              <a:ext cx="54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1.1: p := price()</a:t>
              </a:r>
              <a:endParaRPr lang="en-US" altLang="en-US"/>
            </a:p>
          </p:txBody>
        </p:sp>
        <p:sp>
          <p:nvSpPr>
            <p:cNvPr id="17444" name="Rectangle 38">
              <a:extLst>
                <a:ext uri="{FF2B5EF4-FFF2-40B4-BE49-F238E27FC236}">
                  <a16:creationId xmlns:a16="http://schemas.microsoft.com/office/drawing/2014/main" id="{88F8AB31-3B4F-4F82-8532-4E61CC3022CD}"/>
                </a:ext>
              </a:extLst>
            </p:cNvPr>
            <p:cNvSpPr>
              <a:spLocks noChangeArrowheads="1"/>
            </p:cNvSpPr>
            <p:nvPr/>
          </p:nvSpPr>
          <p:spPr bwMode="auto">
            <a:xfrm>
              <a:off x="3981" y="3087"/>
              <a:ext cx="657" cy="268"/>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45" name="Rectangle 39">
              <a:extLst>
                <a:ext uri="{FF2B5EF4-FFF2-40B4-BE49-F238E27FC236}">
                  <a16:creationId xmlns:a16="http://schemas.microsoft.com/office/drawing/2014/main" id="{75325C7D-D770-7D17-8C25-0DAB9128C889}"/>
                </a:ext>
              </a:extLst>
            </p:cNvPr>
            <p:cNvSpPr>
              <a:spLocks noChangeArrowheads="1"/>
            </p:cNvSpPr>
            <p:nvPr/>
          </p:nvSpPr>
          <p:spPr bwMode="auto">
            <a:xfrm>
              <a:off x="4167" y="3109"/>
              <a:ext cx="27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Product</a:t>
              </a:r>
              <a:endParaRPr lang="en-US" altLang="en-US"/>
            </a:p>
          </p:txBody>
        </p:sp>
        <p:sp>
          <p:nvSpPr>
            <p:cNvPr id="17446" name="Rectangle 40">
              <a:extLst>
                <a:ext uri="{FF2B5EF4-FFF2-40B4-BE49-F238E27FC236}">
                  <a16:creationId xmlns:a16="http://schemas.microsoft.com/office/drawing/2014/main" id="{65E91518-58C2-B06B-A828-1696A9A6C2A6}"/>
                </a:ext>
              </a:extLst>
            </p:cNvPr>
            <p:cNvSpPr>
              <a:spLocks noChangeArrowheads="1"/>
            </p:cNvSpPr>
            <p:nvPr/>
          </p:nvSpPr>
          <p:spPr bwMode="auto">
            <a:xfrm>
              <a:off x="4078" y="3206"/>
              <a:ext cx="455"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Specification</a:t>
              </a:r>
              <a:endParaRPr lang="en-US" altLang="en-US"/>
            </a:p>
          </p:txBody>
        </p:sp>
        <p:sp>
          <p:nvSpPr>
            <p:cNvPr id="17447" name="Rectangle 41">
              <a:extLst>
                <a:ext uri="{FF2B5EF4-FFF2-40B4-BE49-F238E27FC236}">
                  <a16:creationId xmlns:a16="http://schemas.microsoft.com/office/drawing/2014/main" id="{E4A9E946-C37C-47DB-15E8-F4AC69C2A0E5}"/>
                </a:ext>
              </a:extLst>
            </p:cNvPr>
            <p:cNvSpPr>
              <a:spLocks noChangeArrowheads="1"/>
            </p:cNvSpPr>
            <p:nvPr/>
          </p:nvSpPr>
          <p:spPr bwMode="auto">
            <a:xfrm>
              <a:off x="3981" y="3355"/>
              <a:ext cx="657" cy="366"/>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48" name="Rectangle 42">
              <a:extLst>
                <a:ext uri="{FF2B5EF4-FFF2-40B4-BE49-F238E27FC236}">
                  <a16:creationId xmlns:a16="http://schemas.microsoft.com/office/drawing/2014/main" id="{BD07FC35-697D-2A94-EEC5-85CE83BFE179}"/>
                </a:ext>
              </a:extLst>
            </p:cNvPr>
            <p:cNvSpPr>
              <a:spLocks noChangeArrowheads="1"/>
            </p:cNvSpPr>
            <p:nvPr/>
          </p:nvSpPr>
          <p:spPr bwMode="auto">
            <a:xfrm>
              <a:off x="4025" y="3385"/>
              <a:ext cx="389"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description</a:t>
              </a:r>
              <a:endParaRPr lang="en-US" altLang="en-US"/>
            </a:p>
          </p:txBody>
        </p:sp>
        <p:sp>
          <p:nvSpPr>
            <p:cNvPr id="17449" name="Rectangle 43">
              <a:extLst>
                <a:ext uri="{FF2B5EF4-FFF2-40B4-BE49-F238E27FC236}">
                  <a16:creationId xmlns:a16="http://schemas.microsoft.com/office/drawing/2014/main" id="{7C7F499B-01FA-CF51-4146-87ACC835CD20}"/>
                </a:ext>
              </a:extLst>
            </p:cNvPr>
            <p:cNvSpPr>
              <a:spLocks noChangeArrowheads="1"/>
            </p:cNvSpPr>
            <p:nvPr/>
          </p:nvSpPr>
          <p:spPr bwMode="auto">
            <a:xfrm>
              <a:off x="4025" y="3482"/>
              <a:ext cx="175"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price</a:t>
              </a:r>
              <a:endParaRPr lang="en-US" altLang="en-US"/>
            </a:p>
          </p:txBody>
        </p:sp>
        <p:sp>
          <p:nvSpPr>
            <p:cNvPr id="17450" name="Rectangle 44">
              <a:extLst>
                <a:ext uri="{FF2B5EF4-FFF2-40B4-BE49-F238E27FC236}">
                  <a16:creationId xmlns:a16="http://schemas.microsoft.com/office/drawing/2014/main" id="{72AD0450-633C-2B6C-DD40-BF68EE9BF783}"/>
                </a:ext>
              </a:extLst>
            </p:cNvPr>
            <p:cNvSpPr>
              <a:spLocks noChangeArrowheads="1"/>
            </p:cNvSpPr>
            <p:nvPr/>
          </p:nvSpPr>
          <p:spPr bwMode="auto">
            <a:xfrm>
              <a:off x="4025" y="3572"/>
              <a:ext cx="171"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UPC</a:t>
              </a:r>
              <a:endParaRPr lang="en-US" altLang="en-US"/>
            </a:p>
          </p:txBody>
        </p:sp>
        <p:sp>
          <p:nvSpPr>
            <p:cNvPr id="17451" name="Rectangle 45">
              <a:extLst>
                <a:ext uri="{FF2B5EF4-FFF2-40B4-BE49-F238E27FC236}">
                  <a16:creationId xmlns:a16="http://schemas.microsoft.com/office/drawing/2014/main" id="{589F98B1-3313-9ED5-5946-622AAB1FFB30}"/>
                </a:ext>
              </a:extLst>
            </p:cNvPr>
            <p:cNvSpPr>
              <a:spLocks noChangeArrowheads="1"/>
            </p:cNvSpPr>
            <p:nvPr/>
          </p:nvSpPr>
          <p:spPr bwMode="auto">
            <a:xfrm>
              <a:off x="3981" y="3721"/>
              <a:ext cx="657" cy="179"/>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52" name="Rectangle 46">
              <a:extLst>
                <a:ext uri="{FF2B5EF4-FFF2-40B4-BE49-F238E27FC236}">
                  <a16:creationId xmlns:a16="http://schemas.microsoft.com/office/drawing/2014/main" id="{02F04B73-78CD-BAFC-FA84-5CC2404D4296}"/>
                </a:ext>
              </a:extLst>
            </p:cNvPr>
            <p:cNvSpPr>
              <a:spLocks noChangeArrowheads="1"/>
            </p:cNvSpPr>
            <p:nvPr/>
          </p:nvSpPr>
          <p:spPr bwMode="auto">
            <a:xfrm>
              <a:off x="4025" y="3751"/>
              <a:ext cx="229"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price()</a:t>
              </a:r>
              <a:endParaRPr lang="en-US" altLang="en-US"/>
            </a:p>
          </p:txBody>
        </p:sp>
        <p:sp>
          <p:nvSpPr>
            <p:cNvPr id="17453" name="Line 47">
              <a:extLst>
                <a:ext uri="{FF2B5EF4-FFF2-40B4-BE49-F238E27FC236}">
                  <a16:creationId xmlns:a16="http://schemas.microsoft.com/office/drawing/2014/main" id="{03DA1B9E-8088-1DB3-0F9E-4C7790EE4A14}"/>
                </a:ext>
              </a:extLst>
            </p:cNvPr>
            <p:cNvSpPr>
              <a:spLocks noChangeShapeType="1"/>
            </p:cNvSpPr>
            <p:nvPr/>
          </p:nvSpPr>
          <p:spPr bwMode="auto">
            <a:xfrm>
              <a:off x="3294" y="3803"/>
              <a:ext cx="604" cy="1"/>
            </a:xfrm>
            <a:prstGeom prst="line">
              <a:avLst/>
            </a:prstGeom>
            <a:noFill/>
            <a:ln w="7">
              <a:solidFill>
                <a:srgbClr val="000000"/>
              </a:solidFill>
              <a:prstDash val="sysDot"/>
              <a:round/>
              <a:headEnd/>
              <a:tailEnd/>
            </a:ln>
            <a:extLst>
              <a:ext uri="{909E8E84-426E-40DD-AFC4-6F175D3DCCD1}">
                <a14:hiddenFill xmlns:a14="http://schemas.microsoft.com/office/drawing/2010/main">
                  <a:noFill/>
                </a14:hiddenFill>
              </a:ext>
            </a:extLst>
          </p:spPr>
          <p:txBody>
            <a:bodyPr/>
            <a:lstStyle/>
            <a:p>
              <a:endParaRPr lang="en-US"/>
            </a:p>
          </p:txBody>
        </p:sp>
        <p:sp>
          <p:nvSpPr>
            <p:cNvPr id="17454" name="Freeform 48">
              <a:extLst>
                <a:ext uri="{FF2B5EF4-FFF2-40B4-BE49-F238E27FC236}">
                  <a16:creationId xmlns:a16="http://schemas.microsoft.com/office/drawing/2014/main" id="{96225AFE-FC2A-0033-8458-C40016A00149}"/>
                </a:ext>
              </a:extLst>
            </p:cNvPr>
            <p:cNvSpPr>
              <a:spLocks/>
            </p:cNvSpPr>
            <p:nvPr/>
          </p:nvSpPr>
          <p:spPr bwMode="auto">
            <a:xfrm>
              <a:off x="3898" y="3781"/>
              <a:ext cx="45" cy="44"/>
            </a:xfrm>
            <a:custGeom>
              <a:avLst/>
              <a:gdLst>
                <a:gd name="T0" fmla="*/ 0 w 45"/>
                <a:gd name="T1" fmla="*/ 22 h 44"/>
                <a:gd name="T2" fmla="*/ 0 w 45"/>
                <a:gd name="T3" fmla="*/ 30 h 44"/>
                <a:gd name="T4" fmla="*/ 8 w 45"/>
                <a:gd name="T5" fmla="*/ 30 h 44"/>
                <a:gd name="T6" fmla="*/ 8 w 45"/>
                <a:gd name="T7" fmla="*/ 37 h 44"/>
                <a:gd name="T8" fmla="*/ 15 w 45"/>
                <a:gd name="T9" fmla="*/ 37 h 44"/>
                <a:gd name="T10" fmla="*/ 23 w 45"/>
                <a:gd name="T11" fmla="*/ 44 h 44"/>
                <a:gd name="T12" fmla="*/ 23 w 45"/>
                <a:gd name="T13" fmla="*/ 44 h 44"/>
                <a:gd name="T14" fmla="*/ 30 w 45"/>
                <a:gd name="T15" fmla="*/ 37 h 44"/>
                <a:gd name="T16" fmla="*/ 38 w 45"/>
                <a:gd name="T17" fmla="*/ 37 h 44"/>
                <a:gd name="T18" fmla="*/ 38 w 45"/>
                <a:gd name="T19" fmla="*/ 30 h 44"/>
                <a:gd name="T20" fmla="*/ 45 w 45"/>
                <a:gd name="T21" fmla="*/ 30 h 44"/>
                <a:gd name="T22" fmla="*/ 45 w 45"/>
                <a:gd name="T23" fmla="*/ 22 h 44"/>
                <a:gd name="T24" fmla="*/ 45 w 45"/>
                <a:gd name="T25" fmla="*/ 15 h 44"/>
                <a:gd name="T26" fmla="*/ 38 w 45"/>
                <a:gd name="T27" fmla="*/ 7 h 44"/>
                <a:gd name="T28" fmla="*/ 38 w 45"/>
                <a:gd name="T29" fmla="*/ 7 h 44"/>
                <a:gd name="T30" fmla="*/ 30 w 45"/>
                <a:gd name="T31" fmla="*/ 0 h 44"/>
                <a:gd name="T32" fmla="*/ 23 w 45"/>
                <a:gd name="T33" fmla="*/ 0 h 44"/>
                <a:gd name="T34" fmla="*/ 23 w 45"/>
                <a:gd name="T35" fmla="*/ 0 h 44"/>
                <a:gd name="T36" fmla="*/ 15 w 45"/>
                <a:gd name="T37" fmla="*/ 0 h 44"/>
                <a:gd name="T38" fmla="*/ 8 w 45"/>
                <a:gd name="T39" fmla="*/ 7 h 44"/>
                <a:gd name="T40" fmla="*/ 8 w 45"/>
                <a:gd name="T41" fmla="*/ 7 h 44"/>
                <a:gd name="T42" fmla="*/ 0 w 45"/>
                <a:gd name="T43" fmla="*/ 15 h 44"/>
                <a:gd name="T44" fmla="*/ 0 w 45"/>
                <a:gd name="T45" fmla="*/ 22 h 44"/>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w 45"/>
                <a:gd name="T70" fmla="*/ 0 h 44"/>
                <a:gd name="T71" fmla="*/ 45 w 45"/>
                <a:gd name="T72" fmla="*/ 44 h 44"/>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T69" t="T70" r="T71" b="T72"/>
              <a:pathLst>
                <a:path w="45" h="44">
                  <a:moveTo>
                    <a:pt x="0" y="22"/>
                  </a:moveTo>
                  <a:lnTo>
                    <a:pt x="0" y="30"/>
                  </a:lnTo>
                  <a:lnTo>
                    <a:pt x="8" y="30"/>
                  </a:lnTo>
                  <a:lnTo>
                    <a:pt x="8" y="37"/>
                  </a:lnTo>
                  <a:lnTo>
                    <a:pt x="15" y="37"/>
                  </a:lnTo>
                  <a:lnTo>
                    <a:pt x="23" y="44"/>
                  </a:lnTo>
                  <a:lnTo>
                    <a:pt x="30" y="37"/>
                  </a:lnTo>
                  <a:lnTo>
                    <a:pt x="38" y="37"/>
                  </a:lnTo>
                  <a:lnTo>
                    <a:pt x="38" y="30"/>
                  </a:lnTo>
                  <a:lnTo>
                    <a:pt x="45" y="30"/>
                  </a:lnTo>
                  <a:lnTo>
                    <a:pt x="45" y="22"/>
                  </a:lnTo>
                  <a:lnTo>
                    <a:pt x="45" y="15"/>
                  </a:lnTo>
                  <a:lnTo>
                    <a:pt x="38" y="7"/>
                  </a:lnTo>
                  <a:lnTo>
                    <a:pt x="30" y="0"/>
                  </a:lnTo>
                  <a:lnTo>
                    <a:pt x="23" y="0"/>
                  </a:lnTo>
                  <a:lnTo>
                    <a:pt x="15" y="0"/>
                  </a:lnTo>
                  <a:lnTo>
                    <a:pt x="8" y="7"/>
                  </a:lnTo>
                  <a:lnTo>
                    <a:pt x="0" y="15"/>
                  </a:lnTo>
                  <a:lnTo>
                    <a:pt x="0" y="22"/>
                  </a:lnTo>
                </a:path>
              </a:pathLst>
            </a:custGeom>
            <a:noFill/>
            <a:ln w="7">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55" name="Rectangle 49">
              <a:extLst>
                <a:ext uri="{FF2B5EF4-FFF2-40B4-BE49-F238E27FC236}">
                  <a16:creationId xmlns:a16="http://schemas.microsoft.com/office/drawing/2014/main" id="{EAD2F088-8728-BC2A-9324-3DEDCDC5097C}"/>
                </a:ext>
              </a:extLst>
            </p:cNvPr>
            <p:cNvSpPr>
              <a:spLocks noChangeArrowheads="1"/>
            </p:cNvSpPr>
            <p:nvPr/>
          </p:nvSpPr>
          <p:spPr bwMode="auto">
            <a:xfrm>
              <a:off x="2667" y="3699"/>
              <a:ext cx="806" cy="201"/>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56" name="Rectangle 50">
              <a:extLst>
                <a:ext uri="{FF2B5EF4-FFF2-40B4-BE49-F238E27FC236}">
                  <a16:creationId xmlns:a16="http://schemas.microsoft.com/office/drawing/2014/main" id="{3D97A5A1-8187-C299-011F-94F9F66DEC15}"/>
                </a:ext>
              </a:extLst>
            </p:cNvPr>
            <p:cNvSpPr>
              <a:spLocks noChangeArrowheads="1"/>
            </p:cNvSpPr>
            <p:nvPr/>
          </p:nvSpPr>
          <p:spPr bwMode="auto">
            <a:xfrm>
              <a:off x="2704" y="3729"/>
              <a:ext cx="451"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New method</a:t>
              </a:r>
              <a:endParaRPr lang="en-US" altLang="en-US"/>
            </a:p>
          </p:txBody>
        </p:sp>
        <p:sp>
          <p:nvSpPr>
            <p:cNvPr id="17457" name="Freeform 51">
              <a:extLst>
                <a:ext uri="{FF2B5EF4-FFF2-40B4-BE49-F238E27FC236}">
                  <a16:creationId xmlns:a16="http://schemas.microsoft.com/office/drawing/2014/main" id="{F0F60980-56F5-8C07-8F92-3EB2DA6A35D2}"/>
                </a:ext>
              </a:extLst>
            </p:cNvPr>
            <p:cNvSpPr>
              <a:spLocks/>
            </p:cNvSpPr>
            <p:nvPr/>
          </p:nvSpPr>
          <p:spPr bwMode="auto">
            <a:xfrm>
              <a:off x="3398" y="3699"/>
              <a:ext cx="75" cy="52"/>
            </a:xfrm>
            <a:custGeom>
              <a:avLst/>
              <a:gdLst>
                <a:gd name="T0" fmla="*/ 0 w 75"/>
                <a:gd name="T1" fmla="*/ 0 h 52"/>
                <a:gd name="T2" fmla="*/ 75 w 75"/>
                <a:gd name="T3" fmla="*/ 52 h 52"/>
                <a:gd name="T4" fmla="*/ 75 w 75"/>
                <a:gd name="T5" fmla="*/ 0 h 52"/>
                <a:gd name="T6" fmla="*/ 0 w 75"/>
                <a:gd name="T7" fmla="*/ 0 h 52"/>
                <a:gd name="T8" fmla="*/ 0 60000 65536"/>
                <a:gd name="T9" fmla="*/ 0 60000 65536"/>
                <a:gd name="T10" fmla="*/ 0 60000 65536"/>
                <a:gd name="T11" fmla="*/ 0 60000 65536"/>
                <a:gd name="T12" fmla="*/ 0 w 75"/>
                <a:gd name="T13" fmla="*/ 0 h 52"/>
                <a:gd name="T14" fmla="*/ 75 w 75"/>
                <a:gd name="T15" fmla="*/ 52 h 52"/>
              </a:gdLst>
              <a:ahLst/>
              <a:cxnLst>
                <a:cxn ang="T8">
                  <a:pos x="T0" y="T1"/>
                </a:cxn>
                <a:cxn ang="T9">
                  <a:pos x="T2" y="T3"/>
                </a:cxn>
                <a:cxn ang="T10">
                  <a:pos x="T4" y="T5"/>
                </a:cxn>
                <a:cxn ang="T11">
                  <a:pos x="T6" y="T7"/>
                </a:cxn>
              </a:cxnLst>
              <a:rect l="T12" t="T13" r="T14" b="T15"/>
              <a:pathLst>
                <a:path w="75" h="52">
                  <a:moveTo>
                    <a:pt x="0" y="0"/>
                  </a:moveTo>
                  <a:lnTo>
                    <a:pt x="75" y="52"/>
                  </a:lnTo>
                  <a:lnTo>
                    <a:pt x="75" y="0"/>
                  </a:lnTo>
                  <a:lnTo>
                    <a:pt x="0" y="0"/>
                  </a:lnTo>
                  <a:close/>
                </a:path>
              </a:pathLst>
            </a:custGeom>
            <a:solidFill>
              <a:srgbClr val="FFFFFF"/>
            </a:solidFill>
            <a:ln w="7">
              <a:solidFill>
                <a:srgbClr val="FFFFFF"/>
              </a:solidFill>
              <a:round/>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58" name="Freeform 52">
              <a:extLst>
                <a:ext uri="{FF2B5EF4-FFF2-40B4-BE49-F238E27FC236}">
                  <a16:creationId xmlns:a16="http://schemas.microsoft.com/office/drawing/2014/main" id="{E8F6F7BC-41E3-369B-B9B8-EA3CB4BC7021}"/>
                </a:ext>
              </a:extLst>
            </p:cNvPr>
            <p:cNvSpPr>
              <a:spLocks/>
            </p:cNvSpPr>
            <p:nvPr/>
          </p:nvSpPr>
          <p:spPr bwMode="auto">
            <a:xfrm>
              <a:off x="3398" y="3699"/>
              <a:ext cx="75" cy="52"/>
            </a:xfrm>
            <a:custGeom>
              <a:avLst/>
              <a:gdLst>
                <a:gd name="T0" fmla="*/ 75 w 75"/>
                <a:gd name="T1" fmla="*/ 52 h 52"/>
                <a:gd name="T2" fmla="*/ 0 w 75"/>
                <a:gd name="T3" fmla="*/ 0 h 52"/>
                <a:gd name="T4" fmla="*/ 0 w 75"/>
                <a:gd name="T5" fmla="*/ 52 h 52"/>
                <a:gd name="T6" fmla="*/ 75 w 75"/>
                <a:gd name="T7" fmla="*/ 52 h 52"/>
                <a:gd name="T8" fmla="*/ 0 60000 65536"/>
                <a:gd name="T9" fmla="*/ 0 60000 65536"/>
                <a:gd name="T10" fmla="*/ 0 60000 65536"/>
                <a:gd name="T11" fmla="*/ 0 60000 65536"/>
                <a:gd name="T12" fmla="*/ 0 w 75"/>
                <a:gd name="T13" fmla="*/ 0 h 52"/>
                <a:gd name="T14" fmla="*/ 75 w 75"/>
                <a:gd name="T15" fmla="*/ 52 h 52"/>
              </a:gdLst>
              <a:ahLst/>
              <a:cxnLst>
                <a:cxn ang="T8">
                  <a:pos x="T0" y="T1"/>
                </a:cxn>
                <a:cxn ang="T9">
                  <a:pos x="T2" y="T3"/>
                </a:cxn>
                <a:cxn ang="T10">
                  <a:pos x="T4" y="T5"/>
                </a:cxn>
                <a:cxn ang="T11">
                  <a:pos x="T6" y="T7"/>
                </a:cxn>
              </a:cxnLst>
              <a:rect l="T12" t="T13" r="T14" b="T15"/>
              <a:pathLst>
                <a:path w="75" h="52">
                  <a:moveTo>
                    <a:pt x="75" y="52"/>
                  </a:moveTo>
                  <a:lnTo>
                    <a:pt x="0" y="0"/>
                  </a:lnTo>
                  <a:lnTo>
                    <a:pt x="0" y="52"/>
                  </a:lnTo>
                  <a:lnTo>
                    <a:pt x="75" y="52"/>
                  </a:lnTo>
                  <a:close/>
                </a:path>
              </a:pathLst>
            </a:custGeom>
            <a:solidFill>
              <a:srgbClr val="000000"/>
            </a:solidFill>
            <a:ln w="7">
              <a:solidFill>
                <a:srgbClr val="000000"/>
              </a:solidFill>
              <a:round/>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59" name="Line 53">
              <a:extLst>
                <a:ext uri="{FF2B5EF4-FFF2-40B4-BE49-F238E27FC236}">
                  <a16:creationId xmlns:a16="http://schemas.microsoft.com/office/drawing/2014/main" id="{11351966-5E40-4B88-A8E1-ADF2A67FA04A}"/>
                </a:ext>
              </a:extLst>
            </p:cNvPr>
            <p:cNvSpPr>
              <a:spLocks noChangeShapeType="1"/>
            </p:cNvSpPr>
            <p:nvPr/>
          </p:nvSpPr>
          <p:spPr bwMode="auto">
            <a:xfrm>
              <a:off x="2256" y="2006"/>
              <a:ext cx="1" cy="89"/>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7460" name="Freeform 54">
              <a:extLst>
                <a:ext uri="{FF2B5EF4-FFF2-40B4-BE49-F238E27FC236}">
                  <a16:creationId xmlns:a16="http://schemas.microsoft.com/office/drawing/2014/main" id="{62E89518-756D-19BA-2C97-E0343FBC031A}"/>
                </a:ext>
              </a:extLst>
            </p:cNvPr>
            <p:cNvSpPr>
              <a:spLocks/>
            </p:cNvSpPr>
            <p:nvPr/>
          </p:nvSpPr>
          <p:spPr bwMode="auto">
            <a:xfrm>
              <a:off x="2248" y="2095"/>
              <a:ext cx="30" cy="52"/>
            </a:xfrm>
            <a:custGeom>
              <a:avLst/>
              <a:gdLst>
                <a:gd name="T0" fmla="*/ 0 w 30"/>
                <a:gd name="T1" fmla="*/ 0 h 52"/>
                <a:gd name="T2" fmla="*/ 15 w 30"/>
                <a:gd name="T3" fmla="*/ 52 h 52"/>
                <a:gd name="T4" fmla="*/ 30 w 30"/>
                <a:gd name="T5" fmla="*/ 0 h 52"/>
                <a:gd name="T6" fmla="*/ 0 w 30"/>
                <a:gd name="T7" fmla="*/ 0 h 52"/>
                <a:gd name="T8" fmla="*/ 0 60000 65536"/>
                <a:gd name="T9" fmla="*/ 0 60000 65536"/>
                <a:gd name="T10" fmla="*/ 0 60000 65536"/>
                <a:gd name="T11" fmla="*/ 0 60000 65536"/>
                <a:gd name="T12" fmla="*/ 0 w 30"/>
                <a:gd name="T13" fmla="*/ 0 h 52"/>
                <a:gd name="T14" fmla="*/ 30 w 30"/>
                <a:gd name="T15" fmla="*/ 52 h 52"/>
              </a:gdLst>
              <a:ahLst/>
              <a:cxnLst>
                <a:cxn ang="T8">
                  <a:pos x="T0" y="T1"/>
                </a:cxn>
                <a:cxn ang="T9">
                  <a:pos x="T2" y="T3"/>
                </a:cxn>
                <a:cxn ang="T10">
                  <a:pos x="T4" y="T5"/>
                </a:cxn>
                <a:cxn ang="T11">
                  <a:pos x="T6" y="T7"/>
                </a:cxn>
              </a:cxnLst>
              <a:rect l="T12" t="T13" r="T14" b="T15"/>
              <a:pathLst>
                <a:path w="30" h="52">
                  <a:moveTo>
                    <a:pt x="0" y="0"/>
                  </a:moveTo>
                  <a:lnTo>
                    <a:pt x="15" y="52"/>
                  </a:lnTo>
                  <a:lnTo>
                    <a:pt x="30"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61" name="Line 55">
              <a:extLst>
                <a:ext uri="{FF2B5EF4-FFF2-40B4-BE49-F238E27FC236}">
                  <a16:creationId xmlns:a16="http://schemas.microsoft.com/office/drawing/2014/main" id="{49EFDD45-4B29-0D86-D043-6DC47F8E1F62}"/>
                </a:ext>
              </a:extLst>
            </p:cNvPr>
            <p:cNvSpPr>
              <a:spLocks noChangeShapeType="1"/>
            </p:cNvSpPr>
            <p:nvPr/>
          </p:nvSpPr>
          <p:spPr bwMode="auto">
            <a:xfrm>
              <a:off x="2249" y="2760"/>
              <a:ext cx="1" cy="89"/>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462" name="Freeform 56">
              <a:extLst>
                <a:ext uri="{FF2B5EF4-FFF2-40B4-BE49-F238E27FC236}">
                  <a16:creationId xmlns:a16="http://schemas.microsoft.com/office/drawing/2014/main" id="{6C497719-4E70-976A-A442-016EC3CAA851}"/>
                </a:ext>
              </a:extLst>
            </p:cNvPr>
            <p:cNvSpPr>
              <a:spLocks/>
            </p:cNvSpPr>
            <p:nvPr/>
          </p:nvSpPr>
          <p:spPr bwMode="auto">
            <a:xfrm>
              <a:off x="2248" y="2856"/>
              <a:ext cx="30" cy="52"/>
            </a:xfrm>
            <a:custGeom>
              <a:avLst/>
              <a:gdLst>
                <a:gd name="T0" fmla="*/ 0 w 30"/>
                <a:gd name="T1" fmla="*/ 0 h 52"/>
                <a:gd name="T2" fmla="*/ 15 w 30"/>
                <a:gd name="T3" fmla="*/ 52 h 52"/>
                <a:gd name="T4" fmla="*/ 30 w 30"/>
                <a:gd name="T5" fmla="*/ 0 h 52"/>
                <a:gd name="T6" fmla="*/ 0 w 30"/>
                <a:gd name="T7" fmla="*/ 0 h 52"/>
                <a:gd name="T8" fmla="*/ 0 60000 65536"/>
                <a:gd name="T9" fmla="*/ 0 60000 65536"/>
                <a:gd name="T10" fmla="*/ 0 60000 65536"/>
                <a:gd name="T11" fmla="*/ 0 60000 65536"/>
                <a:gd name="T12" fmla="*/ 0 w 30"/>
                <a:gd name="T13" fmla="*/ 0 h 52"/>
                <a:gd name="T14" fmla="*/ 30 w 30"/>
                <a:gd name="T15" fmla="*/ 52 h 52"/>
              </a:gdLst>
              <a:ahLst/>
              <a:cxnLst>
                <a:cxn ang="T8">
                  <a:pos x="T0" y="T1"/>
                </a:cxn>
                <a:cxn ang="T9">
                  <a:pos x="T2" y="T3"/>
                </a:cxn>
                <a:cxn ang="T10">
                  <a:pos x="T4" y="T5"/>
                </a:cxn>
                <a:cxn ang="T11">
                  <a:pos x="T6" y="T7"/>
                </a:cxn>
              </a:cxnLst>
              <a:rect l="T12" t="T13" r="T14" b="T15"/>
              <a:pathLst>
                <a:path w="30" h="52">
                  <a:moveTo>
                    <a:pt x="0" y="0"/>
                  </a:moveTo>
                  <a:lnTo>
                    <a:pt x="15" y="52"/>
                  </a:lnTo>
                  <a:lnTo>
                    <a:pt x="30"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63" name="Line 57">
              <a:extLst>
                <a:ext uri="{FF2B5EF4-FFF2-40B4-BE49-F238E27FC236}">
                  <a16:creationId xmlns:a16="http://schemas.microsoft.com/office/drawing/2014/main" id="{AE90076E-D509-55DF-AA65-BDDAD662E8F6}"/>
                </a:ext>
              </a:extLst>
            </p:cNvPr>
            <p:cNvSpPr>
              <a:spLocks noChangeShapeType="1"/>
            </p:cNvSpPr>
            <p:nvPr/>
          </p:nvSpPr>
          <p:spPr bwMode="auto">
            <a:xfrm>
              <a:off x="1905" y="1699"/>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464" name="Freeform 58">
              <a:extLst>
                <a:ext uri="{FF2B5EF4-FFF2-40B4-BE49-F238E27FC236}">
                  <a16:creationId xmlns:a16="http://schemas.microsoft.com/office/drawing/2014/main" id="{1BFA2DDD-BFDA-AC6D-FA16-3D1CB0A99AAA}"/>
                </a:ext>
              </a:extLst>
            </p:cNvPr>
            <p:cNvSpPr>
              <a:spLocks/>
            </p:cNvSpPr>
            <p:nvPr/>
          </p:nvSpPr>
          <p:spPr bwMode="auto">
            <a:xfrm>
              <a:off x="1987" y="1677"/>
              <a:ext cx="52" cy="37"/>
            </a:xfrm>
            <a:custGeom>
              <a:avLst/>
              <a:gdLst>
                <a:gd name="T0" fmla="*/ 0 w 52"/>
                <a:gd name="T1" fmla="*/ 37 h 37"/>
                <a:gd name="T2" fmla="*/ 52 w 52"/>
                <a:gd name="T3" fmla="*/ 22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22"/>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65" name="Rectangle 59">
              <a:extLst>
                <a:ext uri="{FF2B5EF4-FFF2-40B4-BE49-F238E27FC236}">
                  <a16:creationId xmlns:a16="http://schemas.microsoft.com/office/drawing/2014/main" id="{A83B8A54-82A1-A4EF-C41A-4F9660599754}"/>
                </a:ext>
              </a:extLst>
            </p:cNvPr>
            <p:cNvSpPr>
              <a:spLocks noChangeArrowheads="1"/>
            </p:cNvSpPr>
            <p:nvPr/>
          </p:nvSpPr>
          <p:spPr bwMode="auto">
            <a:xfrm>
              <a:off x="2199" y="2318"/>
              <a:ext cx="716"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17466" name="Rectangle 22">
              <a:extLst>
                <a:ext uri="{FF2B5EF4-FFF2-40B4-BE49-F238E27FC236}">
                  <a16:creationId xmlns:a16="http://schemas.microsoft.com/office/drawing/2014/main" id="{D3F4B50E-403E-B513-2893-9727AE8B991E}"/>
                </a:ext>
              </a:extLst>
            </p:cNvPr>
            <p:cNvSpPr>
              <a:spLocks noChangeArrowheads="1"/>
            </p:cNvSpPr>
            <p:nvPr/>
          </p:nvSpPr>
          <p:spPr bwMode="auto">
            <a:xfrm>
              <a:off x="2196" y="2358"/>
              <a:ext cx="754"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:SalesLineItem</a:t>
              </a:r>
              <a:endParaRPr lang="en-US" altLang="en-US"/>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41" name="Rectangle 18440">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35" name="Rectangle 2">
            <a:extLst>
              <a:ext uri="{FF2B5EF4-FFF2-40B4-BE49-F238E27FC236}">
                <a16:creationId xmlns:a16="http://schemas.microsoft.com/office/drawing/2014/main" id="{6FCFBC2A-9B70-0D2D-74E3-DAEF7195BA09}"/>
              </a:ext>
            </a:extLst>
          </p:cNvPr>
          <p:cNvSpPr>
            <a:spLocks noGrp="1" noChangeArrowheads="1"/>
          </p:cNvSpPr>
          <p:nvPr>
            <p:ph type="title"/>
          </p:nvPr>
        </p:nvSpPr>
        <p:spPr>
          <a:xfrm>
            <a:off x="-833311" y="962167"/>
            <a:ext cx="3103808" cy="4421876"/>
          </a:xfrm>
        </p:spPr>
        <p:txBody>
          <a:bodyPr anchor="t">
            <a:normAutofit/>
          </a:bodyPr>
          <a:lstStyle/>
          <a:p>
            <a:pPr algn="r"/>
            <a:r>
              <a:rPr lang="en-US" altLang="en-US" sz="4000" dirty="0"/>
              <a:t>Expert</a:t>
            </a:r>
          </a:p>
        </p:txBody>
      </p:sp>
      <p:sp>
        <p:nvSpPr>
          <p:cNvPr id="18436" name="Rectangle 3">
            <a:extLst>
              <a:ext uri="{FF2B5EF4-FFF2-40B4-BE49-F238E27FC236}">
                <a16:creationId xmlns:a16="http://schemas.microsoft.com/office/drawing/2014/main" id="{1AE1AF24-53AD-7608-7C8E-28DBD706FE9D}"/>
              </a:ext>
            </a:extLst>
          </p:cNvPr>
          <p:cNvSpPr>
            <a:spLocks noGrp="1" noChangeArrowheads="1"/>
          </p:cNvSpPr>
          <p:nvPr>
            <p:ph type="body" idx="1"/>
          </p:nvPr>
        </p:nvSpPr>
        <p:spPr>
          <a:xfrm>
            <a:off x="2517423" y="962167"/>
            <a:ext cx="9186898" cy="4743174"/>
          </a:xfrm>
        </p:spPr>
        <p:txBody>
          <a:bodyPr anchor="t">
            <a:normAutofit/>
          </a:bodyPr>
          <a:lstStyle/>
          <a:p>
            <a:pPr marL="342900" indent="-342900"/>
            <a:r>
              <a:rPr lang="en-US" altLang="en-US" sz="4400" dirty="0"/>
              <a:t>Consequences:</a:t>
            </a:r>
          </a:p>
          <a:p>
            <a:pPr marL="742950" lvl="1" indent="-285750"/>
            <a:r>
              <a:rPr lang="en-US" altLang="en-US" sz="4400" dirty="0"/>
              <a:t>Encapsulation is maintained so supports low coupling.</a:t>
            </a:r>
          </a:p>
          <a:p>
            <a:pPr marL="457200" lvl="1" indent="0">
              <a:buNone/>
            </a:pPr>
            <a:endParaRPr lang="en-US" altLang="en-US" sz="4400" dirty="0"/>
          </a:p>
          <a:p>
            <a:pPr marL="742950" lvl="1" indent="-285750"/>
            <a:r>
              <a:rPr lang="en-US" altLang="en-US" sz="4400" dirty="0"/>
              <a:t>Behavior distributed encouraging cohesive “lightweight” classes.</a:t>
            </a:r>
          </a:p>
        </p:txBody>
      </p:sp>
      <p:sp>
        <p:nvSpPr>
          <p:cNvPr id="18443" name="Rectangle 18442">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100000">
                <a:schemeClr val="accent1">
                  <a:lumMod val="50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45" name="Rectangle 18444">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76000"/>
                </a:srgbClr>
              </a:gs>
              <a:gs pos="100000">
                <a:schemeClr val="accent1"/>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34" name="Slide Number Placeholder 3">
            <a:extLst>
              <a:ext uri="{FF2B5EF4-FFF2-40B4-BE49-F238E27FC236}">
                <a16:creationId xmlns:a16="http://schemas.microsoft.com/office/drawing/2014/main" id="{B89A4A4D-A11B-C31B-E099-97FBD31842C5}"/>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E91C04B2-6F89-4F86-A245-AE7C41E3D657}" type="slidenum">
              <a:rPr lang="de-DE" altLang="en-US" sz="1100">
                <a:solidFill>
                  <a:srgbClr val="FFFFFF"/>
                </a:solidFill>
              </a:rPr>
              <a:pPr>
                <a:spcAft>
                  <a:spcPts val="600"/>
                </a:spcAft>
              </a:pPr>
              <a:t>35</a:t>
            </a:fld>
            <a:endParaRPr lang="de-DE" altLang="en-US" sz="1100">
              <a:solidFill>
                <a:srgbClr val="FFFFFF"/>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4751229-0244-4FBB-BED1-407467F4C95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A2C3B82-89AF-8E76-84EC-34D268A6CB52}"/>
              </a:ext>
            </a:extLst>
          </p:cNvPr>
          <p:cNvSpPr>
            <a:spLocks noGrp="1"/>
          </p:cNvSpPr>
          <p:nvPr>
            <p:ph type="title"/>
          </p:nvPr>
        </p:nvSpPr>
        <p:spPr>
          <a:xfrm>
            <a:off x="2197101" y="735283"/>
            <a:ext cx="4978399" cy="3165045"/>
          </a:xfrm>
        </p:spPr>
        <p:txBody>
          <a:bodyPr vert="horz" lIns="91440" tIns="45720" rIns="91440" bIns="45720" rtlCol="0" anchor="b">
            <a:normAutofit/>
          </a:bodyPr>
          <a:lstStyle/>
          <a:p>
            <a:r>
              <a:rPr lang="en-US" sz="5200" kern="1200">
                <a:solidFill>
                  <a:schemeClr val="tx1"/>
                </a:solidFill>
                <a:latin typeface="+mj-lt"/>
                <a:ea typeface="+mj-ea"/>
                <a:cs typeface="+mj-cs"/>
              </a:rPr>
              <a:t>CREATOR PATTERN</a:t>
            </a:r>
          </a:p>
        </p:txBody>
      </p:sp>
      <p:pic>
        <p:nvPicPr>
          <p:cNvPr id="6" name="Graphic 5" descr="User">
            <a:extLst>
              <a:ext uri="{FF2B5EF4-FFF2-40B4-BE49-F238E27FC236}">
                <a16:creationId xmlns:a16="http://schemas.microsoft.com/office/drawing/2014/main" id="{111FC5B4-9F53-4BBD-1FC9-9D6A490C49C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17549" y="2776619"/>
            <a:ext cx="1289051" cy="1289051"/>
          </a:xfrm>
          <a:prstGeom prst="rect">
            <a:avLst/>
          </a:prstGeom>
        </p:spPr>
      </p:pic>
      <p:pic>
        <p:nvPicPr>
          <p:cNvPr id="8" name="Graphic 7" descr="User">
            <a:extLst>
              <a:ext uri="{FF2B5EF4-FFF2-40B4-BE49-F238E27FC236}">
                <a16:creationId xmlns:a16="http://schemas.microsoft.com/office/drawing/2014/main" id="{40DAC403-3F3D-4881-9B96-BDD4583C6E4D}"/>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2">
            <a:alphaModFix amt="15000"/>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607815" y="716407"/>
            <a:ext cx="5411343" cy="5411343"/>
          </a:xfrm>
          <a:prstGeom prst="rect">
            <a:avLst/>
          </a:prstGeom>
        </p:spPr>
      </p:pic>
    </p:spTree>
    <p:extLst>
      <p:ext uri="{BB962C8B-B14F-4D97-AF65-F5344CB8AC3E}">
        <p14:creationId xmlns:p14="http://schemas.microsoft.com/office/powerpoint/2010/main" val="2427223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500"/>
                                  </p:stCondLst>
                                  <p:iterate>
                                    <p:tmPct val="10000"/>
                                  </p:iterate>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par>
                                <p:cTn id="8" presetID="10" presetClass="entr" presetSubtype="0" fill="hold" nodeType="withEffect">
                                  <p:stCondLst>
                                    <p:cond delay="500"/>
                                  </p:stCondLst>
                                  <p:iterate>
                                    <p:tmPct val="10000"/>
                                  </p:iterate>
                                  <p:childTnLst>
                                    <p:set>
                                      <p:cBhvr>
                                        <p:cTn id="9" dur="1" fill="hold">
                                          <p:stCondLst>
                                            <p:cond delay="0"/>
                                          </p:stCondLst>
                                        </p:cTn>
                                        <p:tgtEl>
                                          <p:spTgt spid="6"/>
                                        </p:tgtEl>
                                        <p:attrNameLst>
                                          <p:attrName>style.visibility</p:attrName>
                                        </p:attrNameLst>
                                      </p:cBhvr>
                                      <p:to>
                                        <p:strVal val="visible"/>
                                      </p:to>
                                    </p:set>
                                    <p:animEffect transition="in" filter="fade">
                                      <p:cBhvr>
                                        <p:cTn id="10" dur="700"/>
                                        <p:tgtEl>
                                          <p:spTgt spid="6"/>
                                        </p:tgtEl>
                                      </p:cBhvr>
                                    </p:animEffect>
                                  </p:childTnLst>
                                </p:cTn>
                              </p:par>
                              <p:par>
                                <p:cTn id="11" presetID="10" presetClass="entr" presetSubtype="0" fill="hold" grpId="0" nodeType="withEffect">
                                  <p:stCondLst>
                                    <p:cond delay="1000"/>
                                  </p:stCondLst>
                                  <p:iterate>
                                    <p:tmPct val="10000"/>
                                  </p:iterate>
                                  <p:childTnLst>
                                    <p:set>
                                      <p:cBhvr>
                                        <p:cTn id="12" dur="1" fill="hold">
                                          <p:stCondLst>
                                            <p:cond delay="0"/>
                                          </p:stCondLst>
                                        </p:cTn>
                                        <p:tgtEl>
                                          <p:spTgt spid="2"/>
                                        </p:tgtEl>
                                        <p:attrNameLst>
                                          <p:attrName>style.visibility</p:attrName>
                                        </p:attrNameLst>
                                      </p:cBhvr>
                                      <p:to>
                                        <p:strVal val="visible"/>
                                      </p:to>
                                    </p:set>
                                    <p:animEffect transition="in" filter="fade">
                                      <p:cBhvr>
                                        <p:cTn id="13"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65" name="Rectangle 19464">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59" name="Rectangle 2">
            <a:extLst>
              <a:ext uri="{FF2B5EF4-FFF2-40B4-BE49-F238E27FC236}">
                <a16:creationId xmlns:a16="http://schemas.microsoft.com/office/drawing/2014/main" id="{7F3E1011-BEBD-4442-ABE1-D68DA16D78F8}"/>
              </a:ext>
            </a:extLst>
          </p:cNvPr>
          <p:cNvSpPr>
            <a:spLocks noGrp="1" noChangeArrowheads="1"/>
          </p:cNvSpPr>
          <p:nvPr>
            <p:ph type="title"/>
          </p:nvPr>
        </p:nvSpPr>
        <p:spPr>
          <a:xfrm>
            <a:off x="-148901" y="623499"/>
            <a:ext cx="3103808" cy="4421876"/>
          </a:xfrm>
        </p:spPr>
        <p:txBody>
          <a:bodyPr anchor="t">
            <a:normAutofit/>
          </a:bodyPr>
          <a:lstStyle/>
          <a:p>
            <a:pPr algn="r"/>
            <a:r>
              <a:rPr lang="en-US" altLang="en-US" sz="4000" dirty="0"/>
              <a:t>Creator</a:t>
            </a:r>
          </a:p>
        </p:txBody>
      </p:sp>
      <p:sp>
        <p:nvSpPr>
          <p:cNvPr id="19460" name="Rectangle 3">
            <a:extLst>
              <a:ext uri="{FF2B5EF4-FFF2-40B4-BE49-F238E27FC236}">
                <a16:creationId xmlns:a16="http://schemas.microsoft.com/office/drawing/2014/main" id="{5357EF53-1B78-C239-ED3F-9567BD522A21}"/>
              </a:ext>
            </a:extLst>
          </p:cNvPr>
          <p:cNvSpPr>
            <a:spLocks noGrp="1" noChangeArrowheads="1"/>
          </p:cNvSpPr>
          <p:nvPr>
            <p:ph type="body" idx="1"/>
          </p:nvPr>
        </p:nvSpPr>
        <p:spPr>
          <a:xfrm>
            <a:off x="3103808" y="453651"/>
            <a:ext cx="8749525" cy="5493497"/>
          </a:xfrm>
        </p:spPr>
        <p:txBody>
          <a:bodyPr anchor="t">
            <a:normAutofit fontScale="92500" lnSpcReduction="10000"/>
          </a:bodyPr>
          <a:lstStyle/>
          <a:p>
            <a:pPr marL="342900" indent="-342900"/>
            <a:r>
              <a:rPr lang="en-US" altLang="en-US" sz="3600" dirty="0"/>
              <a:t>Intent:</a:t>
            </a:r>
          </a:p>
          <a:p>
            <a:pPr marL="742950" lvl="1" indent="-285750"/>
            <a:r>
              <a:rPr lang="en-US" altLang="en-US" sz="3600" dirty="0"/>
              <a:t>Assign class B the responsibility to create instance of class A if one of the following is true:</a:t>
            </a:r>
          </a:p>
          <a:p>
            <a:pPr marL="457200" lvl="1" indent="0">
              <a:buNone/>
            </a:pPr>
            <a:endParaRPr lang="en-US" altLang="en-US" sz="3600" dirty="0"/>
          </a:p>
          <a:p>
            <a:pPr lvl="2"/>
            <a:r>
              <a:rPr lang="en-US" altLang="en-US" sz="3600" dirty="0"/>
              <a:t>B contains or aggregates A</a:t>
            </a:r>
          </a:p>
          <a:p>
            <a:pPr lvl="2"/>
            <a:r>
              <a:rPr lang="en-US" altLang="en-US" sz="3600" dirty="0"/>
              <a:t>B closely uses A</a:t>
            </a:r>
          </a:p>
          <a:p>
            <a:pPr lvl="2"/>
            <a:r>
              <a:rPr lang="en-US" altLang="en-US" sz="3600" dirty="0"/>
              <a:t>B has the initializing data for A</a:t>
            </a:r>
          </a:p>
          <a:p>
            <a:pPr marL="914400" lvl="2" indent="0">
              <a:buNone/>
            </a:pPr>
            <a:endParaRPr lang="en-US" altLang="en-US" sz="3600" dirty="0"/>
          </a:p>
          <a:p>
            <a:pPr marL="742950" lvl="1" indent="-285750"/>
            <a:r>
              <a:rPr lang="en-US" altLang="en-US" sz="3600" dirty="0"/>
              <a:t>If more than one option applies, prefer class B which contains or aggregates A.</a:t>
            </a:r>
          </a:p>
          <a:p>
            <a:pPr marL="742950" lvl="1" indent="-285750"/>
            <a:endParaRPr lang="en-US" altLang="en-US" sz="2000" dirty="0"/>
          </a:p>
        </p:txBody>
      </p:sp>
      <p:sp>
        <p:nvSpPr>
          <p:cNvPr id="19467" name="Rectangle 19466">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100000">
                <a:schemeClr val="accent1">
                  <a:lumMod val="50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9" name="Rectangle 19468">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76000"/>
                </a:srgbClr>
              </a:gs>
              <a:gs pos="100000">
                <a:schemeClr val="accent1"/>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58" name="Slide Number Placeholder 3">
            <a:extLst>
              <a:ext uri="{FF2B5EF4-FFF2-40B4-BE49-F238E27FC236}">
                <a16:creationId xmlns:a16="http://schemas.microsoft.com/office/drawing/2014/main" id="{492062DB-A8AB-F1AF-FC8E-A31988C66DE2}"/>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CE567A71-C5AC-4BD1-873B-44CDC17D41BD}" type="slidenum">
              <a:rPr lang="de-DE" altLang="en-US" sz="1100">
                <a:solidFill>
                  <a:srgbClr val="FFFFFF"/>
                </a:solidFill>
              </a:rPr>
              <a:pPr>
                <a:spcAft>
                  <a:spcPts val="600"/>
                </a:spcAft>
              </a:pPr>
              <a:t>37</a:t>
            </a:fld>
            <a:endParaRPr lang="de-DE" altLang="en-US" sz="1100">
              <a:solidFill>
                <a:srgbClr val="FFFFFF"/>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489" name="Rectangle 20488">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83" name="Rectangle 2">
            <a:extLst>
              <a:ext uri="{FF2B5EF4-FFF2-40B4-BE49-F238E27FC236}">
                <a16:creationId xmlns:a16="http://schemas.microsoft.com/office/drawing/2014/main" id="{9DA90C79-B22D-10D8-99C8-E6765C54EBA1}"/>
              </a:ext>
            </a:extLst>
          </p:cNvPr>
          <p:cNvSpPr>
            <a:spLocks noGrp="1" noChangeArrowheads="1"/>
          </p:cNvSpPr>
          <p:nvPr>
            <p:ph type="title"/>
          </p:nvPr>
        </p:nvSpPr>
        <p:spPr>
          <a:xfrm>
            <a:off x="656823" y="962166"/>
            <a:ext cx="3103808" cy="4421876"/>
          </a:xfrm>
        </p:spPr>
        <p:txBody>
          <a:bodyPr anchor="t">
            <a:normAutofit/>
          </a:bodyPr>
          <a:lstStyle/>
          <a:p>
            <a:pPr algn="r"/>
            <a:r>
              <a:rPr lang="en-US" altLang="en-US" sz="4000"/>
              <a:t>…Creator</a:t>
            </a:r>
          </a:p>
        </p:txBody>
      </p:sp>
      <p:sp>
        <p:nvSpPr>
          <p:cNvPr id="20484" name="Rectangle 3">
            <a:extLst>
              <a:ext uri="{FF2B5EF4-FFF2-40B4-BE49-F238E27FC236}">
                <a16:creationId xmlns:a16="http://schemas.microsoft.com/office/drawing/2014/main" id="{E3D17D1E-25E3-7A0C-F904-2530F5352445}"/>
              </a:ext>
            </a:extLst>
          </p:cNvPr>
          <p:cNvSpPr>
            <a:spLocks noGrp="1" noChangeArrowheads="1"/>
          </p:cNvSpPr>
          <p:nvPr>
            <p:ph type="body" idx="1"/>
          </p:nvPr>
        </p:nvSpPr>
        <p:spPr>
          <a:xfrm>
            <a:off x="4088929" y="962167"/>
            <a:ext cx="7978893" cy="4743174"/>
          </a:xfrm>
        </p:spPr>
        <p:txBody>
          <a:bodyPr anchor="t">
            <a:normAutofit/>
          </a:bodyPr>
          <a:lstStyle/>
          <a:p>
            <a:pPr marL="342900" indent="-342900"/>
            <a:r>
              <a:rPr lang="en-US" altLang="en-US" sz="4800" dirty="0"/>
              <a:t>Problem:</a:t>
            </a:r>
          </a:p>
          <a:p>
            <a:pPr marL="742950" lvl="1" indent="-285750"/>
            <a:r>
              <a:rPr lang="en-US" altLang="en-US" sz="4800" dirty="0"/>
              <a:t>Who should be responsible for creating new instances of some class?</a:t>
            </a:r>
          </a:p>
        </p:txBody>
      </p:sp>
      <p:sp>
        <p:nvSpPr>
          <p:cNvPr id="20491" name="Rectangle 20490">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100000">
                <a:schemeClr val="accent1">
                  <a:lumMod val="50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93" name="Rectangle 20492">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76000"/>
                </a:srgbClr>
              </a:gs>
              <a:gs pos="100000">
                <a:schemeClr val="accent1"/>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482" name="Slide Number Placeholder 3">
            <a:extLst>
              <a:ext uri="{FF2B5EF4-FFF2-40B4-BE49-F238E27FC236}">
                <a16:creationId xmlns:a16="http://schemas.microsoft.com/office/drawing/2014/main" id="{6520C081-FA06-D291-C1CB-04AE5A68DF57}"/>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D4734E9D-F198-47B8-B3AE-7CE62F9A7289}" type="slidenum">
              <a:rPr lang="de-DE" altLang="en-US" sz="1100">
                <a:solidFill>
                  <a:srgbClr val="FFFFFF"/>
                </a:solidFill>
              </a:rPr>
              <a:pPr>
                <a:spcAft>
                  <a:spcPts val="600"/>
                </a:spcAft>
              </a:pPr>
              <a:t>38</a:t>
            </a:fld>
            <a:endParaRPr lang="de-DE" altLang="en-US" sz="1100">
              <a:solidFill>
                <a:srgbClr val="FFFFFF"/>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5650" name="Rectangle 2"/>
          <p:cNvSpPr>
            <a:spLocks noGrp="1" noChangeArrowheads="1"/>
          </p:cNvSpPr>
          <p:nvPr>
            <p:ph type="title"/>
          </p:nvPr>
        </p:nvSpPr>
        <p:spPr>
          <a:xfrm>
            <a:off x="910119" y="572569"/>
            <a:ext cx="3380527" cy="1642956"/>
          </a:xfrm>
        </p:spPr>
        <p:txBody>
          <a:bodyPr anchor="b">
            <a:normAutofit/>
          </a:bodyPr>
          <a:lstStyle/>
          <a:p>
            <a:r>
              <a:rPr lang="en-US" altLang="en-US" sz="3600" dirty="0">
                <a:solidFill>
                  <a:schemeClr val="tx2"/>
                </a:solidFill>
              </a:rPr>
              <a:t>Example: Domain Model Diagram</a:t>
            </a:r>
          </a:p>
        </p:txBody>
      </p:sp>
      <p:sp>
        <p:nvSpPr>
          <p:cNvPr id="4" name="Slide Number Placeholder 3"/>
          <p:cNvSpPr>
            <a:spLocks noGrp="1"/>
          </p:cNvSpPr>
          <p:nvPr>
            <p:ph type="sldNum" sz="quarter" idx="10"/>
          </p:nvPr>
        </p:nvSpPr>
        <p:spPr>
          <a:xfrm>
            <a:off x="11445238" y="6356350"/>
            <a:ext cx="548640" cy="365125"/>
          </a:xfrm>
        </p:spPr>
        <p:txBody>
          <a:bodyPr>
            <a:normAutofit/>
          </a:bodyPr>
          <a:lstStyle/>
          <a:p>
            <a:pPr marL="0" marR="0" lvl="0" indent="0" algn="l" defTabSz="914400" rtl="0" eaLnBrk="1" fontAlgn="auto" latinLnBrk="0" hangingPunct="1">
              <a:lnSpc>
                <a:spcPct val="100000"/>
              </a:lnSpc>
              <a:spcBef>
                <a:spcPts val="0"/>
              </a:spcBef>
              <a:spcAft>
                <a:spcPts val="600"/>
              </a:spcAft>
              <a:buClrTx/>
              <a:buSzTx/>
              <a:buFontTx/>
              <a:buNone/>
              <a:tabLst/>
              <a:defRPr/>
            </a:pPr>
            <a:fld id="{CABEAC46-B3E9-42FD-B02C-5AE907EC9AF9}" type="slidenum">
              <a:rPr kumimoji="0" lang="de-DE" sz="1200" b="0" i="0" u="none" strike="noStrike" kern="1200" cap="none" spc="0" normalizeH="0" baseline="0" noProof="0">
                <a:ln>
                  <a:noFill/>
                </a:ln>
                <a:solidFill>
                  <a:srgbClr val="44546A"/>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39</a:t>
            </a:fld>
            <a:endParaRPr kumimoji="0" lang="de-DE" sz="1200" b="0" i="0" u="none" strike="noStrike" kern="1200" cap="none" spc="0" normalizeH="0" baseline="0" noProof="0">
              <a:ln>
                <a:noFill/>
              </a:ln>
              <a:solidFill>
                <a:srgbClr val="44546A"/>
              </a:solidFill>
              <a:effectLst/>
              <a:uLnTx/>
              <a:uFillTx/>
              <a:latin typeface="Calibri" panose="020F0502020204030204"/>
              <a:ea typeface="+mn-ea"/>
              <a:cs typeface="+mn-cs"/>
            </a:endParaRPr>
          </a:p>
        </p:txBody>
      </p:sp>
      <p:grpSp>
        <p:nvGrpSpPr>
          <p:cNvPr id="1028" name="Group 4"/>
          <p:cNvGrpSpPr>
            <a:grpSpLocks noChangeAspect="1"/>
          </p:cNvGrpSpPr>
          <p:nvPr/>
        </p:nvGrpSpPr>
        <p:grpSpPr bwMode="auto">
          <a:xfrm>
            <a:off x="5139176" y="609600"/>
            <a:ext cx="6298079" cy="5638800"/>
            <a:chOff x="863" y="962"/>
            <a:chExt cx="3697" cy="3310"/>
          </a:xfrm>
        </p:grpSpPr>
        <p:sp>
          <p:nvSpPr>
            <p:cNvPr id="1027" name="AutoShape 3"/>
            <p:cNvSpPr>
              <a:spLocks noChangeAspect="1" noChangeArrowheads="1" noTextEdit="1"/>
            </p:cNvSpPr>
            <p:nvPr/>
          </p:nvSpPr>
          <p:spPr bwMode="auto">
            <a:xfrm>
              <a:off x="863" y="962"/>
              <a:ext cx="3697" cy="331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29" name="Rectangle 5"/>
            <p:cNvSpPr>
              <a:spLocks noChangeArrowheads="1"/>
            </p:cNvSpPr>
            <p:nvPr/>
          </p:nvSpPr>
          <p:spPr bwMode="auto">
            <a:xfrm>
              <a:off x="2553"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0" name="Rectangle 6"/>
            <p:cNvSpPr>
              <a:spLocks noChangeArrowheads="1"/>
            </p:cNvSpPr>
            <p:nvPr/>
          </p:nvSpPr>
          <p:spPr bwMode="auto">
            <a:xfrm>
              <a:off x="2706" y="3055"/>
              <a:ext cx="26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register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1" name="Rectangle 7"/>
            <p:cNvSpPr>
              <a:spLocks noChangeArrowheads="1"/>
            </p:cNvSpPr>
            <p:nvPr/>
          </p:nvSpPr>
          <p:spPr bwMode="auto">
            <a:xfrm>
              <a:off x="2553"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2" name="Rectangle 8"/>
            <p:cNvSpPr>
              <a:spLocks noChangeArrowheads="1"/>
            </p:cNvSpPr>
            <p:nvPr/>
          </p:nvSpPr>
          <p:spPr bwMode="auto">
            <a:xfrm>
              <a:off x="3703" y="2268"/>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3" name="Rectangle 9"/>
            <p:cNvSpPr>
              <a:spLocks noChangeArrowheads="1"/>
            </p:cNvSpPr>
            <p:nvPr/>
          </p:nvSpPr>
          <p:spPr bwMode="auto">
            <a:xfrm>
              <a:off x="3930" y="2309"/>
              <a:ext cx="15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Item</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4" name="Rectangle 10"/>
            <p:cNvSpPr>
              <a:spLocks noChangeArrowheads="1"/>
            </p:cNvSpPr>
            <p:nvPr/>
          </p:nvSpPr>
          <p:spPr bwMode="auto">
            <a:xfrm>
              <a:off x="3703" y="2445"/>
              <a:ext cx="609"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5" name="Rectangle 11"/>
            <p:cNvSpPr>
              <a:spLocks noChangeArrowheads="1"/>
            </p:cNvSpPr>
            <p:nvPr/>
          </p:nvSpPr>
          <p:spPr bwMode="auto">
            <a:xfrm>
              <a:off x="2553" y="2222"/>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6" name="Rectangle 12"/>
            <p:cNvSpPr>
              <a:spLocks noChangeArrowheads="1"/>
            </p:cNvSpPr>
            <p:nvPr/>
          </p:nvSpPr>
          <p:spPr bwMode="auto">
            <a:xfrm>
              <a:off x="2720" y="2263"/>
              <a:ext cx="19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Store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7" name="Rectangle 13"/>
            <p:cNvSpPr>
              <a:spLocks noChangeArrowheads="1"/>
            </p:cNvSpPr>
            <p:nvPr/>
          </p:nvSpPr>
          <p:spPr bwMode="auto">
            <a:xfrm>
              <a:off x="2553" y="2399"/>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38" name="Rectangle 14"/>
            <p:cNvSpPr>
              <a:spLocks noChangeArrowheads="1"/>
            </p:cNvSpPr>
            <p:nvPr/>
          </p:nvSpPr>
          <p:spPr bwMode="auto">
            <a:xfrm>
              <a:off x="2599" y="2439"/>
              <a:ext cx="28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address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39" name="Rectangle 15"/>
            <p:cNvSpPr>
              <a:spLocks noChangeArrowheads="1"/>
            </p:cNvSpPr>
            <p:nvPr/>
          </p:nvSpPr>
          <p:spPr bwMode="auto">
            <a:xfrm>
              <a:off x="2599" y="2534"/>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name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0" name="Rectangle 16"/>
            <p:cNvSpPr>
              <a:spLocks noChangeArrowheads="1"/>
            </p:cNvSpPr>
            <p:nvPr/>
          </p:nvSpPr>
          <p:spPr bwMode="auto">
            <a:xfrm>
              <a:off x="1319" y="3014"/>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1" name="Rectangle 17"/>
            <p:cNvSpPr>
              <a:spLocks noChangeArrowheads="1"/>
            </p:cNvSpPr>
            <p:nvPr/>
          </p:nvSpPr>
          <p:spPr bwMode="auto">
            <a:xfrm>
              <a:off x="1500" y="3055"/>
              <a:ext cx="16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Sale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2" name="Rectangle 18"/>
            <p:cNvSpPr>
              <a:spLocks noChangeArrowheads="1"/>
            </p:cNvSpPr>
            <p:nvPr/>
          </p:nvSpPr>
          <p:spPr bwMode="auto">
            <a:xfrm>
              <a:off x="1319" y="3191"/>
              <a:ext cx="521"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3" name="Rectangle 19"/>
            <p:cNvSpPr>
              <a:spLocks noChangeArrowheads="1"/>
            </p:cNvSpPr>
            <p:nvPr/>
          </p:nvSpPr>
          <p:spPr bwMode="auto">
            <a:xfrm>
              <a:off x="1365" y="3231"/>
              <a:ext cx="15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date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4" name="Rectangle 20"/>
            <p:cNvSpPr>
              <a:spLocks noChangeArrowheads="1"/>
            </p:cNvSpPr>
            <p:nvPr/>
          </p:nvSpPr>
          <p:spPr bwMode="auto">
            <a:xfrm>
              <a:off x="1365" y="3420"/>
              <a:ext cx="152"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time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5" name="Rectangle 21"/>
            <p:cNvSpPr>
              <a:spLocks noChangeArrowheads="1"/>
            </p:cNvSpPr>
            <p:nvPr/>
          </p:nvSpPr>
          <p:spPr bwMode="auto">
            <a:xfrm>
              <a:off x="876"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6" name="Rectangle 22"/>
            <p:cNvSpPr>
              <a:spLocks noChangeArrowheads="1"/>
            </p:cNvSpPr>
            <p:nvPr/>
          </p:nvSpPr>
          <p:spPr bwMode="auto">
            <a:xfrm>
              <a:off x="980" y="3950"/>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Payment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7" name="Rectangle 23"/>
            <p:cNvSpPr>
              <a:spLocks noChangeArrowheads="1"/>
            </p:cNvSpPr>
            <p:nvPr/>
          </p:nvSpPr>
          <p:spPr bwMode="auto">
            <a:xfrm>
              <a:off x="876"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48" name="Rectangle 24"/>
            <p:cNvSpPr>
              <a:spLocks noChangeArrowheads="1"/>
            </p:cNvSpPr>
            <p:nvPr/>
          </p:nvSpPr>
          <p:spPr bwMode="auto">
            <a:xfrm>
              <a:off x="922" y="4127"/>
              <a:ext cx="2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amount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49" name="Rectangle 25"/>
            <p:cNvSpPr>
              <a:spLocks noChangeArrowheads="1"/>
            </p:cNvSpPr>
            <p:nvPr/>
          </p:nvSpPr>
          <p:spPr bwMode="auto">
            <a:xfrm>
              <a:off x="1319" y="2134"/>
              <a:ext cx="521"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0" name="Rectangle 26"/>
            <p:cNvSpPr>
              <a:spLocks noChangeArrowheads="1"/>
            </p:cNvSpPr>
            <p:nvPr/>
          </p:nvSpPr>
          <p:spPr bwMode="auto">
            <a:xfrm>
              <a:off x="1480" y="2173"/>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Sales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1" name="Rectangle 27"/>
            <p:cNvSpPr>
              <a:spLocks noChangeArrowheads="1"/>
            </p:cNvSpPr>
            <p:nvPr/>
          </p:nvSpPr>
          <p:spPr bwMode="auto">
            <a:xfrm>
              <a:off x="1426" y="2268"/>
              <a:ext cx="30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LineItem</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2" name="Rectangle 28"/>
            <p:cNvSpPr>
              <a:spLocks noChangeArrowheads="1"/>
            </p:cNvSpPr>
            <p:nvPr/>
          </p:nvSpPr>
          <p:spPr bwMode="auto">
            <a:xfrm>
              <a:off x="1319" y="2401"/>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3" name="Rectangle 29"/>
            <p:cNvSpPr>
              <a:spLocks noChangeArrowheads="1"/>
            </p:cNvSpPr>
            <p:nvPr/>
          </p:nvSpPr>
          <p:spPr bwMode="auto">
            <a:xfrm>
              <a:off x="1365" y="2443"/>
              <a:ext cx="28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quantity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4" name="Rectangle 30"/>
            <p:cNvSpPr>
              <a:spLocks noChangeArrowheads="1"/>
            </p:cNvSpPr>
            <p:nvPr/>
          </p:nvSpPr>
          <p:spPr bwMode="auto">
            <a:xfrm>
              <a:off x="3363" y="3908"/>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5" name="Rectangle 31"/>
            <p:cNvSpPr>
              <a:spLocks noChangeArrowheads="1"/>
            </p:cNvSpPr>
            <p:nvPr/>
          </p:nvSpPr>
          <p:spPr bwMode="auto">
            <a:xfrm>
              <a:off x="3487" y="3950"/>
              <a:ext cx="27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Cashier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6" name="Rectangle 32"/>
            <p:cNvSpPr>
              <a:spLocks noChangeArrowheads="1"/>
            </p:cNvSpPr>
            <p:nvPr/>
          </p:nvSpPr>
          <p:spPr bwMode="auto">
            <a:xfrm>
              <a:off x="3363" y="4086"/>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7" name="Rectangle 33"/>
            <p:cNvSpPr>
              <a:spLocks noChangeArrowheads="1"/>
            </p:cNvSpPr>
            <p:nvPr/>
          </p:nvSpPr>
          <p:spPr bwMode="auto">
            <a:xfrm>
              <a:off x="1774" y="3908"/>
              <a:ext cx="521"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58" name="Rectangle 34"/>
            <p:cNvSpPr>
              <a:spLocks noChangeArrowheads="1"/>
            </p:cNvSpPr>
            <p:nvPr/>
          </p:nvSpPr>
          <p:spPr bwMode="auto">
            <a:xfrm>
              <a:off x="1862" y="3950"/>
              <a:ext cx="34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Customer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59" name="Rectangle 35"/>
            <p:cNvSpPr>
              <a:spLocks noChangeArrowheads="1"/>
            </p:cNvSpPr>
            <p:nvPr/>
          </p:nvSpPr>
          <p:spPr bwMode="auto">
            <a:xfrm>
              <a:off x="1774" y="408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0" name="Rectangle 36"/>
            <p:cNvSpPr>
              <a:spLocks noChangeArrowheads="1"/>
            </p:cNvSpPr>
            <p:nvPr/>
          </p:nvSpPr>
          <p:spPr bwMode="auto">
            <a:xfrm>
              <a:off x="3706" y="3107"/>
              <a:ext cx="520"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1" name="Rectangle 37"/>
            <p:cNvSpPr>
              <a:spLocks noChangeArrowheads="1"/>
            </p:cNvSpPr>
            <p:nvPr/>
          </p:nvSpPr>
          <p:spPr bwMode="auto">
            <a:xfrm>
              <a:off x="3811" y="3148"/>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Manager</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2" name="Rectangle 38"/>
            <p:cNvSpPr>
              <a:spLocks noChangeArrowheads="1"/>
            </p:cNvSpPr>
            <p:nvPr/>
          </p:nvSpPr>
          <p:spPr bwMode="auto">
            <a:xfrm>
              <a:off x="3706" y="3284"/>
              <a:ext cx="520" cy="17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3" name="Rectangle 39"/>
            <p:cNvSpPr>
              <a:spLocks noChangeArrowheads="1"/>
            </p:cNvSpPr>
            <p:nvPr/>
          </p:nvSpPr>
          <p:spPr bwMode="auto">
            <a:xfrm>
              <a:off x="2553" y="1468"/>
              <a:ext cx="521" cy="268"/>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4" name="Rectangle 40"/>
            <p:cNvSpPr>
              <a:spLocks noChangeArrowheads="1"/>
            </p:cNvSpPr>
            <p:nvPr/>
          </p:nvSpPr>
          <p:spPr bwMode="auto">
            <a:xfrm>
              <a:off x="2677" y="1507"/>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Product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5" name="Rectangle 41"/>
            <p:cNvSpPr>
              <a:spLocks noChangeArrowheads="1"/>
            </p:cNvSpPr>
            <p:nvPr/>
          </p:nvSpPr>
          <p:spPr bwMode="auto">
            <a:xfrm>
              <a:off x="2679" y="1601"/>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Catalog</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6" name="Rectangle 42"/>
            <p:cNvSpPr>
              <a:spLocks noChangeArrowheads="1"/>
            </p:cNvSpPr>
            <p:nvPr/>
          </p:nvSpPr>
          <p:spPr bwMode="auto">
            <a:xfrm>
              <a:off x="2553" y="1736"/>
              <a:ext cx="521" cy="17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7" name="Rectangle 43"/>
            <p:cNvSpPr>
              <a:spLocks noChangeArrowheads="1"/>
            </p:cNvSpPr>
            <p:nvPr/>
          </p:nvSpPr>
          <p:spPr bwMode="auto">
            <a:xfrm>
              <a:off x="3700" y="1376"/>
              <a:ext cx="615" cy="267"/>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68" name="Rectangle 44"/>
            <p:cNvSpPr>
              <a:spLocks noChangeArrowheads="1"/>
            </p:cNvSpPr>
            <p:nvPr/>
          </p:nvSpPr>
          <p:spPr bwMode="auto">
            <a:xfrm>
              <a:off x="3870" y="1415"/>
              <a:ext cx="27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Product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69" name="Rectangle 45"/>
            <p:cNvSpPr>
              <a:spLocks noChangeArrowheads="1"/>
            </p:cNvSpPr>
            <p:nvPr/>
          </p:nvSpPr>
          <p:spPr bwMode="auto">
            <a:xfrm>
              <a:off x="3782" y="1509"/>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Specification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0" name="Rectangle 46"/>
            <p:cNvSpPr>
              <a:spLocks noChangeArrowheads="1"/>
            </p:cNvSpPr>
            <p:nvPr/>
          </p:nvSpPr>
          <p:spPr bwMode="auto">
            <a:xfrm>
              <a:off x="3700" y="1643"/>
              <a:ext cx="615" cy="363"/>
            </a:xfrm>
            <a:prstGeom prst="rect">
              <a:avLst/>
            </a:prstGeom>
            <a:solidFill>
              <a:srgbClr val="FFFFFF"/>
            </a:solidFill>
            <a:ln w="2">
              <a:solidFill>
                <a:srgbClr val="336699"/>
              </a:solidFill>
              <a:prstDash val="solid"/>
              <a:miter lim="800000"/>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1" name="Rectangle 47"/>
            <p:cNvSpPr>
              <a:spLocks noChangeArrowheads="1"/>
            </p:cNvSpPr>
            <p:nvPr/>
          </p:nvSpPr>
          <p:spPr bwMode="auto">
            <a:xfrm>
              <a:off x="3746" y="1683"/>
              <a:ext cx="3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description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2" name="Rectangle 48"/>
            <p:cNvSpPr>
              <a:spLocks noChangeArrowheads="1"/>
            </p:cNvSpPr>
            <p:nvPr/>
          </p:nvSpPr>
          <p:spPr bwMode="auto">
            <a:xfrm>
              <a:off x="3746" y="1777"/>
              <a:ext cx="1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price</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3" name="Rectangle 49"/>
            <p:cNvSpPr>
              <a:spLocks noChangeArrowheads="1"/>
            </p:cNvSpPr>
            <p:nvPr/>
          </p:nvSpPr>
          <p:spPr bwMode="auto">
            <a:xfrm>
              <a:off x="3746" y="1872"/>
              <a:ext cx="1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UPC</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4" name="Line 50"/>
            <p:cNvSpPr>
              <a:spLocks noChangeShapeType="1"/>
            </p:cNvSpPr>
            <p:nvPr/>
          </p:nvSpPr>
          <p:spPr bwMode="auto">
            <a:xfrm flipH="1">
              <a:off x="3074" y="2445"/>
              <a:ext cx="629"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5" name="Rectangle 51"/>
            <p:cNvSpPr>
              <a:spLocks noChangeArrowheads="1"/>
            </p:cNvSpPr>
            <p:nvPr/>
          </p:nvSpPr>
          <p:spPr bwMode="auto">
            <a:xfrm>
              <a:off x="3268" y="2358"/>
              <a:ext cx="24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Stocks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6" name="Rectangle 52"/>
            <p:cNvSpPr>
              <a:spLocks noChangeArrowheads="1"/>
            </p:cNvSpPr>
            <p:nvPr/>
          </p:nvSpPr>
          <p:spPr bwMode="auto">
            <a:xfrm>
              <a:off x="3576" y="2451"/>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7" name="Line 53"/>
            <p:cNvSpPr>
              <a:spLocks noChangeShapeType="1"/>
            </p:cNvSpPr>
            <p:nvPr/>
          </p:nvSpPr>
          <p:spPr bwMode="auto">
            <a:xfrm flipV="1">
              <a:off x="2814" y="2667"/>
              <a:ext cx="1" cy="347"/>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78" name="Rectangle 54"/>
            <p:cNvSpPr>
              <a:spLocks noChangeArrowheads="1"/>
            </p:cNvSpPr>
            <p:nvPr/>
          </p:nvSpPr>
          <p:spPr bwMode="auto">
            <a:xfrm>
              <a:off x="2925" y="2752"/>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Houses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79" name="Rectangle 55"/>
            <p:cNvSpPr>
              <a:spLocks noChangeArrowheads="1"/>
            </p:cNvSpPr>
            <p:nvPr/>
          </p:nvSpPr>
          <p:spPr bwMode="auto">
            <a:xfrm>
              <a:off x="2881" y="2884"/>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0" name="Rectangle 56"/>
            <p:cNvSpPr>
              <a:spLocks noChangeArrowheads="1"/>
            </p:cNvSpPr>
            <p:nvPr/>
          </p:nvSpPr>
          <p:spPr bwMode="auto">
            <a:xfrm>
              <a:off x="2969" y="2868"/>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284"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1" name="Line 57"/>
            <p:cNvSpPr>
              <a:spLocks noChangeShapeType="1"/>
            </p:cNvSpPr>
            <p:nvPr/>
          </p:nvSpPr>
          <p:spPr bwMode="auto">
            <a:xfrm>
              <a:off x="2814" y="1913"/>
              <a:ext cx="1" cy="309"/>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2" name="Rectangle 58"/>
            <p:cNvSpPr>
              <a:spLocks noChangeArrowheads="1"/>
            </p:cNvSpPr>
            <p:nvPr/>
          </p:nvSpPr>
          <p:spPr bwMode="auto">
            <a:xfrm>
              <a:off x="2914" y="2010"/>
              <a:ext cx="300"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Used-by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3" name="Rectangle 59"/>
            <p:cNvSpPr>
              <a:spLocks noChangeArrowheads="1"/>
            </p:cNvSpPr>
            <p:nvPr/>
          </p:nvSpPr>
          <p:spPr bwMode="auto">
            <a:xfrm>
              <a:off x="2916" y="2095"/>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4" name="Line 60"/>
            <p:cNvSpPr>
              <a:spLocks noChangeShapeType="1"/>
            </p:cNvSpPr>
            <p:nvPr/>
          </p:nvSpPr>
          <p:spPr bwMode="auto">
            <a:xfrm flipH="1">
              <a:off x="3074" y="1690"/>
              <a:ext cx="626"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5" name="Rectangle 61"/>
            <p:cNvSpPr>
              <a:spLocks noChangeArrowheads="1"/>
            </p:cNvSpPr>
            <p:nvPr/>
          </p:nvSpPr>
          <p:spPr bwMode="auto">
            <a:xfrm>
              <a:off x="3231" y="1604"/>
              <a:ext cx="317"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Contains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6" name="Rectangle 62"/>
            <p:cNvSpPr>
              <a:spLocks noChangeArrowheads="1"/>
            </p:cNvSpPr>
            <p:nvPr/>
          </p:nvSpPr>
          <p:spPr bwMode="auto">
            <a:xfrm>
              <a:off x="3548" y="1728"/>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7" name="Rectangle 63"/>
            <p:cNvSpPr>
              <a:spLocks noChangeArrowheads="1"/>
            </p:cNvSpPr>
            <p:nvPr/>
          </p:nvSpPr>
          <p:spPr bwMode="auto">
            <a:xfrm>
              <a:off x="3637" y="1712"/>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284"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88" name="Line 64"/>
            <p:cNvSpPr>
              <a:spLocks noChangeShapeType="1"/>
            </p:cNvSpPr>
            <p:nvPr/>
          </p:nvSpPr>
          <p:spPr bwMode="auto">
            <a:xfrm flipV="1">
              <a:off x="4007" y="2006"/>
              <a:ext cx="1" cy="262"/>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89" name="Rectangle 65"/>
            <p:cNvSpPr>
              <a:spLocks noChangeArrowheads="1"/>
            </p:cNvSpPr>
            <p:nvPr/>
          </p:nvSpPr>
          <p:spPr bwMode="auto">
            <a:xfrm>
              <a:off x="4094" y="2050"/>
              <a:ext cx="35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Describes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0" name="Rectangle 66"/>
            <p:cNvSpPr>
              <a:spLocks noChangeArrowheads="1"/>
            </p:cNvSpPr>
            <p:nvPr/>
          </p:nvSpPr>
          <p:spPr bwMode="auto">
            <a:xfrm>
              <a:off x="4043" y="214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1" name="Line 67"/>
            <p:cNvSpPr>
              <a:spLocks noChangeShapeType="1"/>
            </p:cNvSpPr>
            <p:nvPr/>
          </p:nvSpPr>
          <p:spPr bwMode="auto">
            <a:xfrm flipH="1">
              <a:off x="1840" y="3419"/>
              <a:ext cx="713"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2" name="Rectangle 68"/>
            <p:cNvSpPr>
              <a:spLocks noChangeArrowheads="1"/>
            </p:cNvSpPr>
            <p:nvPr/>
          </p:nvSpPr>
          <p:spPr bwMode="auto">
            <a:xfrm>
              <a:off x="1978" y="3333"/>
              <a:ext cx="446"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Captured-on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3" name="Line 69"/>
            <p:cNvSpPr>
              <a:spLocks noChangeShapeType="1"/>
            </p:cNvSpPr>
            <p:nvPr/>
          </p:nvSpPr>
          <p:spPr bwMode="auto">
            <a:xfrm flipV="1">
              <a:off x="1579" y="2579"/>
              <a:ext cx="1" cy="435"/>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4" name="Rectangle 70"/>
            <p:cNvSpPr>
              <a:spLocks noChangeArrowheads="1"/>
            </p:cNvSpPr>
            <p:nvPr/>
          </p:nvSpPr>
          <p:spPr bwMode="auto">
            <a:xfrm>
              <a:off x="1099" y="2756"/>
              <a:ext cx="45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Contained-in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5" name="Rectangle 71"/>
            <p:cNvSpPr>
              <a:spLocks noChangeArrowheads="1"/>
            </p:cNvSpPr>
            <p:nvPr/>
          </p:nvSpPr>
          <p:spPr bwMode="auto">
            <a:xfrm>
              <a:off x="1646" y="2620"/>
              <a:ext cx="89"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6" name="Rectangle 72"/>
            <p:cNvSpPr>
              <a:spLocks noChangeArrowheads="1"/>
            </p:cNvSpPr>
            <p:nvPr/>
          </p:nvSpPr>
          <p:spPr bwMode="auto">
            <a:xfrm>
              <a:off x="1735" y="2604"/>
              <a:ext cx="37" cy="116"/>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284"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7" name="Freeform 73"/>
            <p:cNvSpPr>
              <a:spLocks/>
            </p:cNvSpPr>
            <p:nvPr/>
          </p:nvSpPr>
          <p:spPr bwMode="auto">
            <a:xfrm>
              <a:off x="1686" y="1293"/>
              <a:ext cx="2321" cy="841"/>
            </a:xfrm>
            <a:custGeom>
              <a:avLst/>
              <a:gdLst/>
              <a:ahLst/>
              <a:cxnLst>
                <a:cxn ang="0">
                  <a:pos x="2321" y="83"/>
                </a:cxn>
                <a:cxn ang="0">
                  <a:pos x="2321" y="0"/>
                </a:cxn>
                <a:cxn ang="0">
                  <a:pos x="0" y="0"/>
                </a:cxn>
                <a:cxn ang="0">
                  <a:pos x="0" y="841"/>
                </a:cxn>
              </a:cxnLst>
              <a:rect l="0" t="0" r="r" b="b"/>
              <a:pathLst>
                <a:path w="2321" h="841">
                  <a:moveTo>
                    <a:pt x="2321" y="83"/>
                  </a:moveTo>
                  <a:lnTo>
                    <a:pt x="2321" y="0"/>
                  </a:lnTo>
                  <a:lnTo>
                    <a:pt x="0" y="0"/>
                  </a:lnTo>
                  <a:lnTo>
                    <a:pt x="0" y="841"/>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98" name="Rectangle 74"/>
            <p:cNvSpPr>
              <a:spLocks noChangeArrowheads="1"/>
            </p:cNvSpPr>
            <p:nvPr/>
          </p:nvSpPr>
          <p:spPr bwMode="auto">
            <a:xfrm>
              <a:off x="2615" y="1205"/>
              <a:ext cx="475"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Described-by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099" name="Rectangle 75"/>
            <p:cNvSpPr>
              <a:spLocks noChangeArrowheads="1"/>
            </p:cNvSpPr>
            <p:nvPr/>
          </p:nvSpPr>
          <p:spPr bwMode="auto">
            <a:xfrm>
              <a:off x="1735" y="2008"/>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0" name="Freeform 76"/>
            <p:cNvSpPr>
              <a:spLocks/>
            </p:cNvSpPr>
            <p:nvPr/>
          </p:nvSpPr>
          <p:spPr bwMode="auto">
            <a:xfrm>
              <a:off x="1473" y="1071"/>
              <a:ext cx="3016" cy="1374"/>
            </a:xfrm>
            <a:custGeom>
              <a:avLst/>
              <a:gdLst/>
              <a:ahLst/>
              <a:cxnLst>
                <a:cxn ang="0">
                  <a:pos x="0" y="1063"/>
                </a:cxn>
                <a:cxn ang="0">
                  <a:pos x="0" y="0"/>
                </a:cxn>
                <a:cxn ang="0">
                  <a:pos x="3016" y="0"/>
                </a:cxn>
                <a:cxn ang="0">
                  <a:pos x="3016" y="1374"/>
                </a:cxn>
                <a:cxn ang="0">
                  <a:pos x="2839" y="1374"/>
                </a:cxn>
              </a:cxnLst>
              <a:rect l="0" t="0" r="r" b="b"/>
              <a:pathLst>
                <a:path w="3016" h="1374">
                  <a:moveTo>
                    <a:pt x="0" y="1063"/>
                  </a:moveTo>
                  <a:lnTo>
                    <a:pt x="0" y="0"/>
                  </a:lnTo>
                  <a:lnTo>
                    <a:pt x="3016" y="0"/>
                  </a:lnTo>
                  <a:lnTo>
                    <a:pt x="3016" y="1374"/>
                  </a:lnTo>
                  <a:lnTo>
                    <a:pt x="2839" y="137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1" name="Rectangle 77"/>
            <p:cNvSpPr>
              <a:spLocks noChangeArrowheads="1"/>
            </p:cNvSpPr>
            <p:nvPr/>
          </p:nvSpPr>
          <p:spPr bwMode="auto">
            <a:xfrm>
              <a:off x="2702" y="984"/>
              <a:ext cx="568"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Records-sale-of</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2" name="Rectangle 78"/>
            <p:cNvSpPr>
              <a:spLocks noChangeArrowheads="1"/>
            </p:cNvSpPr>
            <p:nvPr/>
          </p:nvSpPr>
          <p:spPr bwMode="auto">
            <a:xfrm>
              <a:off x="1330" y="1998"/>
              <a:ext cx="13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0..1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3" name="Line 79"/>
            <p:cNvSpPr>
              <a:spLocks noChangeShapeType="1"/>
            </p:cNvSpPr>
            <p:nvPr/>
          </p:nvSpPr>
          <p:spPr bwMode="auto">
            <a:xfrm flipH="1">
              <a:off x="3074" y="3284"/>
              <a:ext cx="632" cy="1"/>
            </a:xfrm>
            <a:prstGeom prst="line">
              <a:avLst/>
            </a:pr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4" name="Rectangle 80"/>
            <p:cNvSpPr>
              <a:spLocks noChangeArrowheads="1"/>
            </p:cNvSpPr>
            <p:nvPr/>
          </p:nvSpPr>
          <p:spPr bwMode="auto">
            <a:xfrm>
              <a:off x="3208" y="3197"/>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Started-by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5" name="Freeform 81"/>
            <p:cNvSpPr>
              <a:spLocks/>
            </p:cNvSpPr>
            <p:nvPr/>
          </p:nvSpPr>
          <p:spPr bwMode="auto">
            <a:xfrm>
              <a:off x="1137" y="3554"/>
              <a:ext cx="336" cy="354"/>
            </a:xfrm>
            <a:custGeom>
              <a:avLst/>
              <a:gdLst/>
              <a:ahLst/>
              <a:cxnLst>
                <a:cxn ang="0">
                  <a:pos x="0" y="354"/>
                </a:cxn>
                <a:cxn ang="0">
                  <a:pos x="0" y="177"/>
                </a:cxn>
                <a:cxn ang="0">
                  <a:pos x="336" y="177"/>
                </a:cxn>
                <a:cxn ang="0">
                  <a:pos x="336" y="0"/>
                </a:cxn>
              </a:cxnLst>
              <a:rect l="0" t="0" r="r" b="b"/>
              <a:pathLst>
                <a:path w="336" h="354">
                  <a:moveTo>
                    <a:pt x="0" y="354"/>
                  </a:moveTo>
                  <a:lnTo>
                    <a:pt x="0" y="177"/>
                  </a:lnTo>
                  <a:lnTo>
                    <a:pt x="336" y="177"/>
                  </a:lnTo>
                  <a:lnTo>
                    <a:pt x="336"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6" name="Rectangle 82"/>
            <p:cNvSpPr>
              <a:spLocks noChangeArrowheads="1"/>
            </p:cNvSpPr>
            <p:nvPr/>
          </p:nvSpPr>
          <p:spPr bwMode="auto">
            <a:xfrm>
              <a:off x="1106" y="3646"/>
              <a:ext cx="27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Paid-by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7" name="Freeform 83"/>
            <p:cNvSpPr>
              <a:spLocks/>
            </p:cNvSpPr>
            <p:nvPr/>
          </p:nvSpPr>
          <p:spPr bwMode="auto">
            <a:xfrm>
              <a:off x="1686" y="3554"/>
              <a:ext cx="348" cy="354"/>
            </a:xfrm>
            <a:custGeom>
              <a:avLst/>
              <a:gdLst/>
              <a:ahLst/>
              <a:cxnLst>
                <a:cxn ang="0">
                  <a:pos x="348" y="354"/>
                </a:cxn>
                <a:cxn ang="0">
                  <a:pos x="348" y="177"/>
                </a:cxn>
                <a:cxn ang="0">
                  <a:pos x="0" y="177"/>
                </a:cxn>
                <a:cxn ang="0">
                  <a:pos x="0" y="0"/>
                </a:cxn>
              </a:cxnLst>
              <a:rect l="0" t="0" r="r" b="b"/>
              <a:pathLst>
                <a:path w="348" h="354">
                  <a:moveTo>
                    <a:pt x="348" y="354"/>
                  </a:moveTo>
                  <a:lnTo>
                    <a:pt x="348" y="177"/>
                  </a:lnTo>
                  <a:lnTo>
                    <a:pt x="0" y="177"/>
                  </a:lnTo>
                  <a:lnTo>
                    <a:pt x="0"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08" name="Rectangle 84"/>
            <p:cNvSpPr>
              <a:spLocks noChangeArrowheads="1"/>
            </p:cNvSpPr>
            <p:nvPr/>
          </p:nvSpPr>
          <p:spPr bwMode="auto">
            <a:xfrm>
              <a:off x="1794" y="3629"/>
              <a:ext cx="39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Initiated-by</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09" name="Freeform 85"/>
            <p:cNvSpPr>
              <a:spLocks/>
            </p:cNvSpPr>
            <p:nvPr/>
          </p:nvSpPr>
          <p:spPr bwMode="auto">
            <a:xfrm>
              <a:off x="1840" y="2556"/>
              <a:ext cx="713" cy="594"/>
            </a:xfrm>
            <a:custGeom>
              <a:avLst/>
              <a:gdLst/>
              <a:ahLst/>
              <a:cxnLst>
                <a:cxn ang="0">
                  <a:pos x="0" y="594"/>
                </a:cxn>
                <a:cxn ang="0">
                  <a:pos x="357" y="594"/>
                </a:cxn>
                <a:cxn ang="0">
                  <a:pos x="357" y="0"/>
                </a:cxn>
                <a:cxn ang="0">
                  <a:pos x="713" y="0"/>
                </a:cxn>
              </a:cxnLst>
              <a:rect l="0" t="0" r="r" b="b"/>
              <a:pathLst>
                <a:path w="713" h="594">
                  <a:moveTo>
                    <a:pt x="0" y="594"/>
                  </a:moveTo>
                  <a:lnTo>
                    <a:pt x="357" y="594"/>
                  </a:lnTo>
                  <a:lnTo>
                    <a:pt x="357" y="0"/>
                  </a:lnTo>
                  <a:lnTo>
                    <a:pt x="713" y="0"/>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0" name="Rectangle 86"/>
            <p:cNvSpPr>
              <a:spLocks noChangeArrowheads="1"/>
            </p:cNvSpPr>
            <p:nvPr/>
          </p:nvSpPr>
          <p:spPr bwMode="auto">
            <a:xfrm>
              <a:off x="2328" y="2706"/>
              <a:ext cx="20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Logs-</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1" name="Rectangle 87"/>
            <p:cNvSpPr>
              <a:spLocks noChangeArrowheads="1"/>
            </p:cNvSpPr>
            <p:nvPr/>
          </p:nvSpPr>
          <p:spPr bwMode="auto">
            <a:xfrm>
              <a:off x="2244" y="2801"/>
              <a:ext cx="371"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completed</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2" name="Rectangle 88"/>
            <p:cNvSpPr>
              <a:spLocks noChangeArrowheads="1"/>
            </p:cNvSpPr>
            <p:nvPr/>
          </p:nvSpPr>
          <p:spPr bwMode="auto">
            <a:xfrm>
              <a:off x="2405" y="28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6</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3" name="Rectangle 89"/>
            <p:cNvSpPr>
              <a:spLocks noChangeArrowheads="1"/>
            </p:cNvSpPr>
            <p:nvPr/>
          </p:nvSpPr>
          <p:spPr bwMode="auto">
            <a:xfrm>
              <a:off x="1868" y="3000"/>
              <a:ext cx="54" cy="165"/>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819" b="0" i="0" u="none" strike="noStrike" kern="1200" cap="none" spc="0" normalizeH="0" baseline="0" noProof="0">
                  <a:ln>
                    <a:noFill/>
                  </a:ln>
                  <a:solidFill>
                    <a:srgbClr val="336699"/>
                  </a:solidFill>
                  <a:effectLst/>
                  <a:uLnTx/>
                  <a:uFillTx/>
                  <a:latin typeface="Arial" pitchFamily="34" charset="0"/>
                  <a:ea typeface="+mn-ea"/>
                  <a:cs typeface="+mn-cs"/>
                </a:rPr>
                <a:t>*</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4" name="Freeform 90"/>
            <p:cNvSpPr>
              <a:spLocks/>
            </p:cNvSpPr>
            <p:nvPr/>
          </p:nvSpPr>
          <p:spPr bwMode="auto">
            <a:xfrm>
              <a:off x="2814" y="3554"/>
              <a:ext cx="808" cy="354"/>
            </a:xfrm>
            <a:custGeom>
              <a:avLst/>
              <a:gdLst/>
              <a:ahLst/>
              <a:cxnLst>
                <a:cxn ang="0">
                  <a:pos x="0" y="0"/>
                </a:cxn>
                <a:cxn ang="0">
                  <a:pos x="0" y="177"/>
                </a:cxn>
                <a:cxn ang="0">
                  <a:pos x="808" y="177"/>
                </a:cxn>
                <a:cxn ang="0">
                  <a:pos x="808" y="354"/>
                </a:cxn>
              </a:cxnLst>
              <a:rect l="0" t="0" r="r" b="b"/>
              <a:pathLst>
                <a:path w="808" h="354">
                  <a:moveTo>
                    <a:pt x="0" y="0"/>
                  </a:moveTo>
                  <a:lnTo>
                    <a:pt x="0" y="177"/>
                  </a:lnTo>
                  <a:lnTo>
                    <a:pt x="808" y="177"/>
                  </a:lnTo>
                  <a:lnTo>
                    <a:pt x="808" y="354"/>
                  </a:lnTo>
                </a:path>
              </a:pathLst>
            </a:custGeom>
            <a:noFill/>
            <a:ln w="2">
              <a:solidFill>
                <a:srgbClr val="336699"/>
              </a:solidFill>
              <a:prstDash val="solid"/>
              <a:round/>
              <a:headEnd/>
              <a:tailEnd/>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115" name="Rectangle 91"/>
            <p:cNvSpPr>
              <a:spLocks noChangeArrowheads="1"/>
            </p:cNvSpPr>
            <p:nvPr/>
          </p:nvSpPr>
          <p:spPr bwMode="auto">
            <a:xfrm>
              <a:off x="2876" y="364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3</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6" name="Rectangle 92"/>
            <p:cNvSpPr>
              <a:spLocks noChangeArrowheads="1"/>
            </p:cNvSpPr>
            <p:nvPr/>
          </p:nvSpPr>
          <p:spPr bwMode="auto">
            <a:xfrm>
              <a:off x="2920" y="3645"/>
              <a:ext cx="653"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 Records-sales-on</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7" name="Rectangle 93"/>
            <p:cNvSpPr>
              <a:spLocks noChangeArrowheads="1"/>
            </p:cNvSpPr>
            <p:nvPr/>
          </p:nvSpPr>
          <p:spPr bwMode="auto">
            <a:xfrm>
              <a:off x="3114" y="169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8" name="Rectangle 94"/>
            <p:cNvSpPr>
              <a:spLocks noChangeArrowheads="1"/>
            </p:cNvSpPr>
            <p:nvPr/>
          </p:nvSpPr>
          <p:spPr bwMode="auto">
            <a:xfrm>
              <a:off x="2449"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19" name="Rectangle 95"/>
            <p:cNvSpPr>
              <a:spLocks noChangeArrowheads="1"/>
            </p:cNvSpPr>
            <p:nvPr/>
          </p:nvSpPr>
          <p:spPr bwMode="auto">
            <a:xfrm>
              <a:off x="2845" y="270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0" name="Rectangle 96"/>
            <p:cNvSpPr>
              <a:spLocks noChangeArrowheads="1"/>
            </p:cNvSpPr>
            <p:nvPr/>
          </p:nvSpPr>
          <p:spPr bwMode="auto">
            <a:xfrm>
              <a:off x="3114" y="2453"/>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1" name="Rectangle 97"/>
            <p:cNvSpPr>
              <a:spLocks noChangeArrowheads="1"/>
            </p:cNvSpPr>
            <p:nvPr/>
          </p:nvSpPr>
          <p:spPr bwMode="auto">
            <a:xfrm>
              <a:off x="4049" y="124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2" name="Rectangle 98"/>
            <p:cNvSpPr>
              <a:spLocks noChangeArrowheads="1"/>
            </p:cNvSpPr>
            <p:nvPr/>
          </p:nvSpPr>
          <p:spPr bwMode="auto">
            <a:xfrm>
              <a:off x="4355" y="244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3" name="Rectangle 99"/>
            <p:cNvSpPr>
              <a:spLocks noChangeArrowheads="1"/>
            </p:cNvSpPr>
            <p:nvPr/>
          </p:nvSpPr>
          <p:spPr bwMode="auto">
            <a:xfrm>
              <a:off x="3601" y="328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4" name="Rectangle 100"/>
            <p:cNvSpPr>
              <a:spLocks noChangeArrowheads="1"/>
            </p:cNvSpPr>
            <p:nvPr/>
          </p:nvSpPr>
          <p:spPr bwMode="auto">
            <a:xfrm>
              <a:off x="3114" y="3304"/>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5" name="Rectangle 101"/>
            <p:cNvSpPr>
              <a:spLocks noChangeArrowheads="1"/>
            </p:cNvSpPr>
            <p:nvPr/>
          </p:nvSpPr>
          <p:spPr bwMode="auto">
            <a:xfrm>
              <a:off x="3654"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6" name="Rectangle 102"/>
            <p:cNvSpPr>
              <a:spLocks noChangeArrowheads="1"/>
            </p:cNvSpPr>
            <p:nvPr/>
          </p:nvSpPr>
          <p:spPr bwMode="auto">
            <a:xfrm>
              <a:off x="2739"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7" name="Rectangle 103"/>
            <p:cNvSpPr>
              <a:spLocks noChangeArrowheads="1"/>
            </p:cNvSpPr>
            <p:nvPr/>
          </p:nvSpPr>
          <p:spPr bwMode="auto">
            <a:xfrm>
              <a:off x="2066"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8" name="Rectangle 104"/>
            <p:cNvSpPr>
              <a:spLocks noChangeArrowheads="1"/>
            </p:cNvSpPr>
            <p:nvPr/>
          </p:nvSpPr>
          <p:spPr bwMode="auto">
            <a:xfrm>
              <a:off x="1741" y="355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29" name="Rectangle 105"/>
            <p:cNvSpPr>
              <a:spLocks noChangeArrowheads="1"/>
            </p:cNvSpPr>
            <p:nvPr/>
          </p:nvSpPr>
          <p:spPr bwMode="auto">
            <a:xfrm>
              <a:off x="1061" y="3772"/>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0" name="Rectangle 106"/>
            <p:cNvSpPr>
              <a:spLocks noChangeArrowheads="1"/>
            </p:cNvSpPr>
            <p:nvPr/>
          </p:nvSpPr>
          <p:spPr bwMode="auto">
            <a:xfrm>
              <a:off x="1503" y="3595"/>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1" name="Rectangle 107"/>
            <p:cNvSpPr>
              <a:spLocks noChangeArrowheads="1"/>
            </p:cNvSpPr>
            <p:nvPr/>
          </p:nvSpPr>
          <p:spPr bwMode="auto">
            <a:xfrm>
              <a:off x="1611" y="2886"/>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2" name="Rectangle 108"/>
            <p:cNvSpPr>
              <a:spLocks noChangeArrowheads="1"/>
            </p:cNvSpPr>
            <p:nvPr/>
          </p:nvSpPr>
          <p:spPr bwMode="auto">
            <a:xfrm>
              <a:off x="1873"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3" name="Rectangle 109"/>
            <p:cNvSpPr>
              <a:spLocks noChangeArrowheads="1"/>
            </p:cNvSpPr>
            <p:nvPr/>
          </p:nvSpPr>
          <p:spPr bwMode="auto">
            <a:xfrm>
              <a:off x="2449" y="3439"/>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sp>
          <p:nvSpPr>
            <p:cNvPr id="1134" name="Rectangle 110"/>
            <p:cNvSpPr>
              <a:spLocks noChangeArrowheads="1"/>
            </p:cNvSpPr>
            <p:nvPr/>
          </p:nvSpPr>
          <p:spPr bwMode="auto">
            <a:xfrm>
              <a:off x="2739" y="1911"/>
              <a:ext cx="44" cy="97"/>
            </a:xfrm>
            <a:prstGeom prst="rect">
              <a:avLst/>
            </a:prstGeom>
            <a:noFill/>
            <a:ln w="9525">
              <a:noFill/>
              <a:miter lim="800000"/>
              <a:headEnd/>
              <a:tailEnd/>
            </a:ln>
          </p:spPr>
          <p:txBody>
            <a:bodyPr vert="horz" wrap="none" lIns="0" tIns="0" rIns="0" bIns="0" numCol="1" anchor="t" anchorCtr="0" compatLnSpc="1">
              <a:prstTxWarp prst="textNoShape">
                <a:avLst/>
              </a:prstTxWarp>
              <a:spAutoFit/>
            </a:bodyPr>
            <a:lstStyle/>
            <a:p>
              <a:pPr marL="0" marR="0" lvl="0" indent="0" algn="l" defTabSz="978408" rtl="0" eaLnBrk="1" fontAlgn="base" latinLnBrk="0" hangingPunct="1">
                <a:lnSpc>
                  <a:spcPct val="100000"/>
                </a:lnSpc>
                <a:spcBef>
                  <a:spcPct val="0"/>
                </a:spcBef>
                <a:spcAft>
                  <a:spcPts val="600"/>
                </a:spcAft>
                <a:buClrTx/>
                <a:buSzTx/>
                <a:buFontTx/>
                <a:buNone/>
                <a:tabLst/>
                <a:defRPr/>
              </a:pPr>
              <a:r>
                <a:rPr kumimoji="0" lang="en-US" sz="1070" b="0" i="0" u="none" strike="noStrike" kern="1200" cap="none" spc="0" normalizeH="0" baseline="0" noProof="0">
                  <a:ln>
                    <a:noFill/>
                  </a:ln>
                  <a:solidFill>
                    <a:srgbClr val="336699"/>
                  </a:solidFill>
                  <a:effectLst/>
                  <a:uLnTx/>
                  <a:uFillTx/>
                  <a:latin typeface="Arial" pitchFamily="34" charset="0"/>
                  <a:ea typeface="+mn-ea"/>
                  <a:cs typeface="+mn-cs"/>
                </a:rPr>
                <a:t>1</a:t>
              </a:r>
              <a:endParaRPr kumimoji="0" lang="en-US" sz="1800" b="0" i="0" u="none" strike="noStrike" kern="1200" cap="none" spc="0" normalizeH="0" baseline="0" noProof="0">
                <a:ln>
                  <a:noFill/>
                </a:ln>
                <a:solidFill>
                  <a:prstClr val="black"/>
                </a:solidFill>
                <a:effectLst/>
                <a:uLnTx/>
                <a:uFillTx/>
                <a:latin typeface="Arial" pitchFamily="34" charset="0"/>
                <a:ea typeface="+mn-ea"/>
                <a:cs typeface="+mn-cs"/>
              </a:endParaRPr>
            </a:p>
          </p:txBody>
        </p:sp>
      </p:grpSp>
    </p:spTree>
    <p:extLst>
      <p:ext uri="{BB962C8B-B14F-4D97-AF65-F5344CB8AC3E}">
        <p14:creationId xmlns:p14="http://schemas.microsoft.com/office/powerpoint/2010/main" val="408136391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Slide Number Placeholder 3">
            <a:extLst>
              <a:ext uri="{FF2B5EF4-FFF2-40B4-BE49-F238E27FC236}">
                <a16:creationId xmlns:a16="http://schemas.microsoft.com/office/drawing/2014/main" id="{26F46021-69DB-CE3C-0239-945ECAC37535}"/>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4ADA63F-1B95-4938-A2AB-C9138BE0353B}" type="slidenum">
              <a:rPr lang="de-DE" altLang="en-US" sz="1000"/>
              <a:pPr/>
              <a:t>40</a:t>
            </a:fld>
            <a:endParaRPr lang="de-DE" altLang="en-US" sz="1000"/>
          </a:p>
        </p:txBody>
      </p:sp>
      <p:sp>
        <p:nvSpPr>
          <p:cNvPr id="21507" name="Rectangle 2">
            <a:extLst>
              <a:ext uri="{FF2B5EF4-FFF2-40B4-BE49-F238E27FC236}">
                <a16:creationId xmlns:a16="http://schemas.microsoft.com/office/drawing/2014/main" id="{A4ED4DE4-6922-4200-219E-B0E8D51858E6}"/>
              </a:ext>
            </a:extLst>
          </p:cNvPr>
          <p:cNvSpPr>
            <a:spLocks noGrp="1" noChangeArrowheads="1"/>
          </p:cNvSpPr>
          <p:nvPr>
            <p:ph type="title"/>
          </p:nvPr>
        </p:nvSpPr>
        <p:spPr/>
        <p:txBody>
          <a:bodyPr/>
          <a:lstStyle/>
          <a:p>
            <a:r>
              <a:rPr lang="en-US" altLang="en-US"/>
              <a:t>Creator – Example… </a:t>
            </a:r>
          </a:p>
        </p:txBody>
      </p:sp>
      <p:sp>
        <p:nvSpPr>
          <p:cNvPr id="21508" name="Rectangle 3">
            <a:extLst>
              <a:ext uri="{FF2B5EF4-FFF2-40B4-BE49-F238E27FC236}">
                <a16:creationId xmlns:a16="http://schemas.microsoft.com/office/drawing/2014/main" id="{277A1943-E614-115A-3FBA-7CAB68E3653A}"/>
              </a:ext>
            </a:extLst>
          </p:cNvPr>
          <p:cNvSpPr>
            <a:spLocks noGrp="1" noChangeArrowheads="1"/>
          </p:cNvSpPr>
          <p:nvPr>
            <p:ph type="body" idx="1"/>
          </p:nvPr>
        </p:nvSpPr>
        <p:spPr/>
        <p:txBody>
          <a:bodyPr/>
          <a:lstStyle/>
          <a:p>
            <a:pPr marL="342900" indent="-342900"/>
            <a:r>
              <a:rPr lang="en-US" altLang="en-US" dirty="0"/>
              <a:t>In POS app, who should create </a:t>
            </a:r>
            <a:r>
              <a:rPr lang="en-US" altLang="en-US" i="1" dirty="0" err="1"/>
              <a:t>SalesLineItem</a:t>
            </a:r>
            <a:r>
              <a:rPr lang="en-US" altLang="en-US" dirty="0"/>
              <a:t> instance.</a:t>
            </a:r>
          </a:p>
          <a:p>
            <a:pPr marL="342900" indent="-342900"/>
            <a:r>
              <a:rPr lang="en-US" altLang="en-US" dirty="0"/>
              <a:t>By </a:t>
            </a:r>
            <a:r>
              <a:rPr lang="en-US" altLang="en-US" u="sng" dirty="0">
                <a:solidFill>
                  <a:srgbClr val="FF0000"/>
                </a:solidFill>
              </a:rPr>
              <a:t>Creator</a:t>
            </a:r>
            <a:r>
              <a:rPr lang="en-US" altLang="en-US" dirty="0"/>
              <a:t>, look for class that aggregates, contains, etc.</a:t>
            </a:r>
          </a:p>
        </p:txBody>
      </p:sp>
      <p:pic>
        <p:nvPicPr>
          <p:cNvPr id="21509" name="Picture 4">
            <a:extLst>
              <a:ext uri="{FF2B5EF4-FFF2-40B4-BE49-F238E27FC236}">
                <a16:creationId xmlns:a16="http://schemas.microsoft.com/office/drawing/2014/main" id="{4AB4B2E5-297A-295C-02C9-2DE1E4A793C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343401" y="3733800"/>
            <a:ext cx="3190875" cy="2343150"/>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type="none" w="sm" len="sm"/>
                <a:tailEnd type="none" w="sm" len="sm"/>
              </a14:hiddenLine>
            </a:ext>
          </a:extLst>
        </p:spPr>
      </p:pic>
      <p:sp>
        <p:nvSpPr>
          <p:cNvPr id="21510" name="TextBox 5">
            <a:extLst>
              <a:ext uri="{FF2B5EF4-FFF2-40B4-BE49-F238E27FC236}">
                <a16:creationId xmlns:a16="http://schemas.microsoft.com/office/drawing/2014/main" id="{602A46C8-0C2A-6669-7D04-BE7D479BDDA9}"/>
              </a:ext>
            </a:extLst>
          </p:cNvPr>
          <p:cNvSpPr txBox="1">
            <a:spLocks noChangeArrowheads="1"/>
          </p:cNvSpPr>
          <p:nvPr/>
        </p:nvSpPr>
        <p:spPr bwMode="auto">
          <a:xfrm>
            <a:off x="6335713" y="5143501"/>
            <a:ext cx="2423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80808"/>
                </a:solidFill>
              </a:rPr>
              <a:t>1</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Slide Number Placeholder 3">
            <a:extLst>
              <a:ext uri="{FF2B5EF4-FFF2-40B4-BE49-F238E27FC236}">
                <a16:creationId xmlns:a16="http://schemas.microsoft.com/office/drawing/2014/main" id="{8CA12AA3-011C-28E6-70FE-E3E56650F6C3}"/>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FA8F3D11-C2A9-4000-8954-9B2673F127D5}" type="slidenum">
              <a:rPr lang="de-DE" altLang="en-US" sz="1000"/>
              <a:pPr/>
              <a:t>41</a:t>
            </a:fld>
            <a:endParaRPr lang="de-DE" altLang="en-US" sz="1000"/>
          </a:p>
        </p:txBody>
      </p:sp>
      <p:sp>
        <p:nvSpPr>
          <p:cNvPr id="22531" name="Rectangle 2">
            <a:extLst>
              <a:ext uri="{FF2B5EF4-FFF2-40B4-BE49-F238E27FC236}">
                <a16:creationId xmlns:a16="http://schemas.microsoft.com/office/drawing/2014/main" id="{2E2149C6-D668-8387-976A-3D8B387F48A8}"/>
              </a:ext>
            </a:extLst>
          </p:cNvPr>
          <p:cNvSpPr>
            <a:spLocks noGrp="1" noChangeArrowheads="1"/>
          </p:cNvSpPr>
          <p:nvPr>
            <p:ph type="title"/>
          </p:nvPr>
        </p:nvSpPr>
        <p:spPr/>
        <p:txBody>
          <a:bodyPr/>
          <a:lstStyle/>
          <a:p>
            <a:r>
              <a:rPr lang="en-US" altLang="en-US"/>
              <a:t>…Creator – Example…</a:t>
            </a:r>
          </a:p>
        </p:txBody>
      </p:sp>
      <p:sp>
        <p:nvSpPr>
          <p:cNvPr id="22532" name="Rectangle 3">
            <a:extLst>
              <a:ext uri="{FF2B5EF4-FFF2-40B4-BE49-F238E27FC236}">
                <a16:creationId xmlns:a16="http://schemas.microsoft.com/office/drawing/2014/main" id="{8101FB72-3646-9E8A-469B-D870D9E845B6}"/>
              </a:ext>
            </a:extLst>
          </p:cNvPr>
          <p:cNvSpPr>
            <a:spLocks noGrp="1" noChangeArrowheads="1"/>
          </p:cNvSpPr>
          <p:nvPr>
            <p:ph type="body" idx="1"/>
          </p:nvPr>
        </p:nvSpPr>
        <p:spPr/>
        <p:txBody>
          <a:bodyPr/>
          <a:lstStyle/>
          <a:p>
            <a:pPr marL="342900" indent="-342900"/>
            <a:r>
              <a:rPr lang="en-US" altLang="en-US" sz="3600" i="1" dirty="0"/>
              <a:t>Sale</a:t>
            </a:r>
            <a:r>
              <a:rPr lang="en-US" altLang="en-US" sz="3600" dirty="0"/>
              <a:t> aggregates many </a:t>
            </a:r>
            <a:r>
              <a:rPr lang="en-US" altLang="en-US" sz="3600" i="1" dirty="0" err="1"/>
              <a:t>SalesLineItem</a:t>
            </a:r>
            <a:r>
              <a:rPr lang="en-US" altLang="en-US" sz="3600" dirty="0"/>
              <a:t> objects so </a:t>
            </a:r>
            <a:r>
              <a:rPr lang="en-US" altLang="en-US" sz="3600" i="1" dirty="0"/>
              <a:t>Sale</a:t>
            </a:r>
            <a:r>
              <a:rPr lang="en-US" altLang="en-US" sz="3600" dirty="0"/>
              <a:t> is candidate</a:t>
            </a:r>
          </a:p>
        </p:txBody>
      </p:sp>
      <p:pic>
        <p:nvPicPr>
          <p:cNvPr id="22533" name="Picture 4">
            <a:extLst>
              <a:ext uri="{FF2B5EF4-FFF2-40B4-BE49-F238E27FC236}">
                <a16:creationId xmlns:a16="http://schemas.microsoft.com/office/drawing/2014/main" id="{3CAB8253-7EAF-EF2F-8DAE-009ADB120D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05201" y="3505200"/>
            <a:ext cx="5521325" cy="1574800"/>
          </a:xfrm>
          <a:prstGeom prst="rect">
            <a:avLst/>
          </a:prstGeom>
          <a:solidFill>
            <a:schemeClr val="bg1"/>
          </a:solidFill>
          <a:ln>
            <a:noFill/>
          </a:ln>
          <a:extLst>
            <a:ext uri="{91240B29-F687-4F45-9708-019B960494DF}">
              <a14:hiddenLine xmlns:a14="http://schemas.microsoft.com/office/drawing/2010/main" w="9525">
                <a:solidFill>
                  <a:srgbClr val="000000"/>
                </a:solidFill>
                <a:miter lim="800000"/>
                <a:headEnd/>
                <a:tailEnd/>
              </a14:hiddenLine>
            </a:ext>
          </a:extLst>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561" name="Rectangle 23560">
            <a:extLst>
              <a:ext uri="{FF2B5EF4-FFF2-40B4-BE49-F238E27FC236}">
                <a16:creationId xmlns:a16="http://schemas.microsoft.com/office/drawing/2014/main" id="{979E27D9-03C7-44E2-9FF8-15D0C8506A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55" name="Rectangle 2">
            <a:extLst>
              <a:ext uri="{FF2B5EF4-FFF2-40B4-BE49-F238E27FC236}">
                <a16:creationId xmlns:a16="http://schemas.microsoft.com/office/drawing/2014/main" id="{9C33E26A-2956-BD09-B3C9-0B740A231BD5}"/>
              </a:ext>
            </a:extLst>
          </p:cNvPr>
          <p:cNvSpPr>
            <a:spLocks noGrp="1" noChangeArrowheads="1"/>
          </p:cNvSpPr>
          <p:nvPr>
            <p:ph type="title"/>
          </p:nvPr>
        </p:nvSpPr>
        <p:spPr>
          <a:xfrm>
            <a:off x="-306946" y="989462"/>
            <a:ext cx="3103808" cy="4421876"/>
          </a:xfrm>
        </p:spPr>
        <p:txBody>
          <a:bodyPr anchor="t">
            <a:normAutofit/>
          </a:bodyPr>
          <a:lstStyle/>
          <a:p>
            <a:pPr algn="r"/>
            <a:r>
              <a:rPr lang="en-US" altLang="en-US" sz="4000" dirty="0"/>
              <a:t>Creator</a:t>
            </a:r>
          </a:p>
        </p:txBody>
      </p:sp>
      <p:sp>
        <p:nvSpPr>
          <p:cNvPr id="23556" name="Rectangle 3">
            <a:extLst>
              <a:ext uri="{FF2B5EF4-FFF2-40B4-BE49-F238E27FC236}">
                <a16:creationId xmlns:a16="http://schemas.microsoft.com/office/drawing/2014/main" id="{3A3E79A1-F1F6-1F20-235D-05C4607183AD}"/>
              </a:ext>
            </a:extLst>
          </p:cNvPr>
          <p:cNvSpPr>
            <a:spLocks noGrp="1" noChangeArrowheads="1"/>
          </p:cNvSpPr>
          <p:nvPr>
            <p:ph type="body" idx="1"/>
          </p:nvPr>
        </p:nvSpPr>
        <p:spPr>
          <a:xfrm>
            <a:off x="3264840" y="828813"/>
            <a:ext cx="7967604" cy="4743174"/>
          </a:xfrm>
        </p:spPr>
        <p:txBody>
          <a:bodyPr anchor="t">
            <a:normAutofit/>
          </a:bodyPr>
          <a:lstStyle/>
          <a:p>
            <a:pPr marL="342900" indent="-342900"/>
            <a:r>
              <a:rPr lang="en-US" altLang="en-US" sz="4000" dirty="0"/>
              <a:t>Consequences</a:t>
            </a:r>
          </a:p>
          <a:p>
            <a:pPr marL="0" indent="0">
              <a:buNone/>
            </a:pPr>
            <a:endParaRPr lang="en-US" altLang="en-US" sz="4000" dirty="0"/>
          </a:p>
          <a:p>
            <a:pPr marL="742950" lvl="1" indent="-285750" algn="just"/>
            <a:r>
              <a:rPr lang="en-US" altLang="en-US" sz="4000" dirty="0"/>
              <a:t>Coupling is usually not increased because created class is likely already visible to creator class, due to the existing associations that motivated the choice.</a:t>
            </a:r>
          </a:p>
        </p:txBody>
      </p:sp>
      <p:sp>
        <p:nvSpPr>
          <p:cNvPr id="23563" name="Rectangle 23562">
            <a:extLst>
              <a:ext uri="{FF2B5EF4-FFF2-40B4-BE49-F238E27FC236}">
                <a16:creationId xmlns:a16="http://schemas.microsoft.com/office/drawing/2014/main" id="{EEBF1590-3B36-48EE-A89D-3B6F3CB25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100000">
                <a:schemeClr val="accent1">
                  <a:lumMod val="50000"/>
                </a:schemeClr>
              </a:gs>
            </a:gsLst>
            <a:lin ang="6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65" name="Rectangle 23564">
            <a:extLst>
              <a:ext uri="{FF2B5EF4-FFF2-40B4-BE49-F238E27FC236}">
                <a16:creationId xmlns:a16="http://schemas.microsoft.com/office/drawing/2014/main" id="{AC8F6C8C-AB5A-4548-942D-E3FD40ACBC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038600" y="6400799"/>
            <a:ext cx="8153398" cy="456772"/>
          </a:xfrm>
          <a:prstGeom prst="rect">
            <a:avLst/>
          </a:prstGeom>
          <a:gradFill>
            <a:gsLst>
              <a:gs pos="0">
                <a:srgbClr val="000000">
                  <a:alpha val="76000"/>
                </a:srgbClr>
              </a:gs>
              <a:gs pos="100000">
                <a:schemeClr val="accent1"/>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54" name="Slide Number Placeholder 3">
            <a:extLst>
              <a:ext uri="{FF2B5EF4-FFF2-40B4-BE49-F238E27FC236}">
                <a16:creationId xmlns:a16="http://schemas.microsoft.com/office/drawing/2014/main" id="{2B9BA762-94AA-6E26-29BC-2AED14177CFE}"/>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DD73768B-A12D-4D92-B462-5B83982062EC}" type="slidenum">
              <a:rPr lang="de-DE" altLang="en-US" sz="1100">
                <a:solidFill>
                  <a:srgbClr val="FFFFFF"/>
                </a:solidFill>
              </a:rPr>
              <a:pPr>
                <a:spcAft>
                  <a:spcPts val="600"/>
                </a:spcAft>
              </a:pPr>
              <a:t>42</a:t>
            </a:fld>
            <a:endParaRPr lang="de-DE" altLang="en-US" sz="1100">
              <a:solidFill>
                <a:srgbClr val="FFFFFF"/>
              </a:solidFil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Shape 11">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Isosceles Triangle 19">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descr="A diagram of a monopoly scheme&#10;&#10;Description automatically generated">
            <a:extLst>
              <a:ext uri="{FF2B5EF4-FFF2-40B4-BE49-F238E27FC236}">
                <a16:creationId xmlns:a16="http://schemas.microsoft.com/office/drawing/2014/main" id="{3C25CAEE-D5E8-FAE3-A42A-7C95151C1425}"/>
              </a:ext>
            </a:extLst>
          </p:cNvPr>
          <p:cNvPicPr>
            <a:picLocks noGrp="1" noChangeAspect="1"/>
          </p:cNvPicPr>
          <p:nvPr>
            <p:ph idx="1"/>
          </p:nvPr>
        </p:nvPicPr>
        <p:blipFill>
          <a:blip r:embed="rId2"/>
          <a:stretch>
            <a:fillRect/>
          </a:stretch>
        </p:blipFill>
        <p:spPr>
          <a:xfrm>
            <a:off x="3624748" y="998876"/>
            <a:ext cx="7958663" cy="5571065"/>
          </a:xfrm>
          <a:prstGeom prst="rect">
            <a:avLst/>
          </a:prstGeom>
          <a:ln>
            <a:noFill/>
          </a:ln>
        </p:spPr>
      </p:pic>
      <p:sp>
        <p:nvSpPr>
          <p:cNvPr id="22" name="Isosceles Triangle 21">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1B66AA1E-3E0B-4B71-0D62-0E6BD5AB6167}"/>
              </a:ext>
            </a:extLst>
          </p:cNvPr>
          <p:cNvSpPr txBox="1"/>
          <p:nvPr/>
        </p:nvSpPr>
        <p:spPr>
          <a:xfrm>
            <a:off x="289553" y="3566584"/>
            <a:ext cx="3058886" cy="1754326"/>
          </a:xfrm>
          <a:prstGeom prst="rect">
            <a:avLst/>
          </a:prstGeom>
          <a:noFill/>
        </p:spPr>
        <p:txBody>
          <a:bodyPr wrap="square">
            <a:spAutoFit/>
          </a:bodyPr>
          <a:lstStyle/>
          <a:p>
            <a:pPr marL="285750" indent="-285750" algn="just">
              <a:buFont typeface="Arial" panose="020B0604020202020204" pitchFamily="34" charset="0"/>
              <a:buChar char="•"/>
            </a:pPr>
            <a:r>
              <a:rPr lang="en-US" dirty="0"/>
              <a:t>Who should get a square given a unique ID?</a:t>
            </a:r>
          </a:p>
          <a:p>
            <a:pPr marL="285750" indent="-285750" algn="just">
              <a:buFont typeface="Arial" panose="020B0604020202020204" pitchFamily="34" charset="0"/>
              <a:buChar char="•"/>
            </a:pPr>
            <a:endParaRPr lang="en-US" dirty="0"/>
          </a:p>
          <a:p>
            <a:pPr marL="285750" indent="-285750" algn="just">
              <a:buFont typeface="Arial" panose="020B0604020202020204" pitchFamily="34" charset="0"/>
              <a:buChar char="•"/>
            </a:pPr>
            <a:r>
              <a:rPr lang="en-US" dirty="0"/>
              <a:t>When you start a game, who creates the squares for the board?</a:t>
            </a:r>
          </a:p>
        </p:txBody>
      </p:sp>
      <p:cxnSp>
        <p:nvCxnSpPr>
          <p:cNvPr id="4" name="Straight Connector 3">
            <a:extLst>
              <a:ext uri="{FF2B5EF4-FFF2-40B4-BE49-F238E27FC236}">
                <a16:creationId xmlns:a16="http://schemas.microsoft.com/office/drawing/2014/main" id="{A8BE0F49-E328-A754-72E9-240E261434DA}"/>
              </a:ext>
            </a:extLst>
          </p:cNvPr>
          <p:cNvCxnSpPr/>
          <p:nvPr/>
        </p:nvCxnSpPr>
        <p:spPr>
          <a:xfrm>
            <a:off x="7604080" y="3832167"/>
            <a:ext cx="0" cy="1197033"/>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29F39492-DCAB-2564-27D7-62BB6CF3986E}"/>
              </a:ext>
            </a:extLst>
          </p:cNvPr>
          <p:cNvSpPr txBox="1"/>
          <p:nvPr/>
        </p:nvSpPr>
        <p:spPr>
          <a:xfrm>
            <a:off x="7739149" y="3873731"/>
            <a:ext cx="237195" cy="369332"/>
          </a:xfrm>
          <a:prstGeom prst="rect">
            <a:avLst/>
          </a:prstGeom>
          <a:noFill/>
        </p:spPr>
        <p:txBody>
          <a:bodyPr wrap="square" rtlCol="0">
            <a:spAutoFit/>
          </a:bodyPr>
          <a:lstStyle/>
          <a:p>
            <a:r>
              <a:rPr lang="en-US" dirty="0"/>
              <a:t>1</a:t>
            </a:r>
          </a:p>
        </p:txBody>
      </p:sp>
      <p:sp>
        <p:nvSpPr>
          <p:cNvPr id="8" name="TextBox 7">
            <a:extLst>
              <a:ext uri="{FF2B5EF4-FFF2-40B4-BE49-F238E27FC236}">
                <a16:creationId xmlns:a16="http://schemas.microsoft.com/office/drawing/2014/main" id="{37BBC469-A052-BC3C-D4E4-EC4F8F0EBC32}"/>
              </a:ext>
            </a:extLst>
          </p:cNvPr>
          <p:cNvSpPr txBox="1"/>
          <p:nvPr/>
        </p:nvSpPr>
        <p:spPr>
          <a:xfrm>
            <a:off x="7739148" y="4659868"/>
            <a:ext cx="237195" cy="369332"/>
          </a:xfrm>
          <a:prstGeom prst="rect">
            <a:avLst/>
          </a:prstGeom>
          <a:noFill/>
        </p:spPr>
        <p:txBody>
          <a:bodyPr wrap="square" rtlCol="0">
            <a:spAutoFit/>
          </a:bodyPr>
          <a:lstStyle/>
          <a:p>
            <a:r>
              <a:rPr lang="en-US" dirty="0"/>
              <a:t>8</a:t>
            </a:r>
          </a:p>
        </p:txBody>
      </p:sp>
      <p:sp>
        <p:nvSpPr>
          <p:cNvPr id="9" name="TextBox 8">
            <a:extLst>
              <a:ext uri="{FF2B5EF4-FFF2-40B4-BE49-F238E27FC236}">
                <a16:creationId xmlns:a16="http://schemas.microsoft.com/office/drawing/2014/main" id="{391B0411-A2EE-5063-6B93-5838282AB70E}"/>
              </a:ext>
            </a:extLst>
          </p:cNvPr>
          <p:cNvSpPr txBox="1"/>
          <p:nvPr/>
        </p:nvSpPr>
        <p:spPr>
          <a:xfrm>
            <a:off x="7140003" y="4259081"/>
            <a:ext cx="599145" cy="369332"/>
          </a:xfrm>
          <a:prstGeom prst="rect">
            <a:avLst/>
          </a:prstGeom>
          <a:noFill/>
        </p:spPr>
        <p:txBody>
          <a:bodyPr wrap="square" rtlCol="0">
            <a:spAutoFit/>
          </a:bodyPr>
          <a:lstStyle/>
          <a:p>
            <a:r>
              <a:rPr lang="en-US" dirty="0"/>
              <a:t>Has</a:t>
            </a:r>
          </a:p>
        </p:txBody>
      </p:sp>
    </p:spTree>
    <p:extLst>
      <p:ext uri="{BB962C8B-B14F-4D97-AF65-F5344CB8AC3E}">
        <p14:creationId xmlns:p14="http://schemas.microsoft.com/office/powerpoint/2010/main" val="325801970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5" name="Rectangle 26">
            <a:extLst>
              <a:ext uri="{FF2B5EF4-FFF2-40B4-BE49-F238E27FC236}">
                <a16:creationId xmlns:a16="http://schemas.microsoft.com/office/drawing/2014/main" id="{A9F529C3-C941-49FD-8C67-82F134F64BD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50000"/>
              <a:lumOff val="50000"/>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Rectangle 28">
            <a:extLst>
              <a:ext uri="{FF2B5EF4-FFF2-40B4-BE49-F238E27FC236}">
                <a16:creationId xmlns:a16="http://schemas.microsoft.com/office/drawing/2014/main" id="{20586029-32A0-47E5-9AEC-AE3ABA6B9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77012" y="480060"/>
            <a:ext cx="11237976" cy="5897880"/>
          </a:xfrm>
          <a:prstGeom prst="rect">
            <a:avLst/>
          </a:prstGeom>
          <a:solidFill>
            <a:srgbClr val="FFFFFF"/>
          </a:solidFill>
          <a:ln w="9525">
            <a:noFill/>
          </a:ln>
          <a:effectLst>
            <a:outerShdw blurRad="63500" dist="17780" dir="5400000" algn="t" rotWithShape="0">
              <a:prstClr val="black">
                <a:alpha val="4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E804DCA8-1C4F-CF16-0EEB-4ED5D6A3AA50}"/>
              </a:ext>
            </a:extLst>
          </p:cNvPr>
          <p:cNvPicPr>
            <a:picLocks noChangeAspect="1"/>
          </p:cNvPicPr>
          <p:nvPr/>
        </p:nvPicPr>
        <p:blipFill>
          <a:blip r:embed="rId2"/>
          <a:stretch>
            <a:fillRect/>
          </a:stretch>
        </p:blipFill>
        <p:spPr>
          <a:xfrm>
            <a:off x="643467" y="2727449"/>
            <a:ext cx="5294716" cy="1403099"/>
          </a:xfrm>
          <a:prstGeom prst="rect">
            <a:avLst/>
          </a:prstGeom>
        </p:spPr>
      </p:pic>
      <p:cxnSp>
        <p:nvCxnSpPr>
          <p:cNvPr id="37" name="Straight Connector 30">
            <a:extLst>
              <a:ext uri="{FF2B5EF4-FFF2-40B4-BE49-F238E27FC236}">
                <a16:creationId xmlns:a16="http://schemas.microsoft.com/office/drawing/2014/main" id="{8C730EAB-A532-4295-A302-FB4B90DB9F5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079958" y="1143000"/>
            <a:ext cx="0" cy="4572000"/>
          </a:xfrm>
          <a:prstGeom prst="line">
            <a:avLst/>
          </a:prstGeom>
          <a:ln>
            <a:solidFill>
              <a:srgbClr val="4E4E4E"/>
            </a:solidFill>
          </a:ln>
        </p:spPr>
        <p:style>
          <a:lnRef idx="1">
            <a:schemeClr val="accent1"/>
          </a:lnRef>
          <a:fillRef idx="0">
            <a:schemeClr val="accent1"/>
          </a:fillRef>
          <a:effectRef idx="0">
            <a:schemeClr val="accent1"/>
          </a:effectRef>
          <a:fontRef idx="minor">
            <a:schemeClr val="tx1"/>
          </a:fontRef>
        </p:style>
      </p:cxnSp>
      <p:pic>
        <p:nvPicPr>
          <p:cNvPr id="7" name="Picture 6">
            <a:extLst>
              <a:ext uri="{FF2B5EF4-FFF2-40B4-BE49-F238E27FC236}">
                <a16:creationId xmlns:a16="http://schemas.microsoft.com/office/drawing/2014/main" id="{B53A4A79-D6A6-DD9E-F2E1-C55B639BBB3E}"/>
              </a:ext>
            </a:extLst>
          </p:cNvPr>
          <p:cNvPicPr>
            <a:picLocks noChangeAspect="1"/>
          </p:cNvPicPr>
          <p:nvPr/>
        </p:nvPicPr>
        <p:blipFill>
          <a:blip r:embed="rId3"/>
          <a:stretch>
            <a:fillRect/>
          </a:stretch>
        </p:blipFill>
        <p:spPr>
          <a:xfrm>
            <a:off x="6253817" y="2284018"/>
            <a:ext cx="5294715" cy="2289963"/>
          </a:xfrm>
          <a:prstGeom prst="rect">
            <a:avLst/>
          </a:prstGeom>
        </p:spPr>
      </p:pic>
    </p:spTree>
    <p:extLst>
      <p:ext uri="{BB962C8B-B14F-4D97-AF65-F5344CB8AC3E}">
        <p14:creationId xmlns:p14="http://schemas.microsoft.com/office/powerpoint/2010/main" val="290028839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Slide Number Placeholder 3">
            <a:extLst>
              <a:ext uri="{FF2B5EF4-FFF2-40B4-BE49-F238E27FC236}">
                <a16:creationId xmlns:a16="http://schemas.microsoft.com/office/drawing/2014/main" id="{93982151-7A53-DB27-2695-5CDA3B118934}"/>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620615A4-CB6F-4DA7-90B3-EE349BCCBFC9}" type="slidenum">
              <a:rPr lang="de-DE" altLang="en-US" sz="1000"/>
              <a:pPr/>
              <a:t>45</a:t>
            </a:fld>
            <a:endParaRPr lang="de-DE" altLang="en-US" sz="1000"/>
          </a:p>
        </p:txBody>
      </p:sp>
      <p:sp>
        <p:nvSpPr>
          <p:cNvPr id="57347" name="Rectangle 2">
            <a:extLst>
              <a:ext uri="{FF2B5EF4-FFF2-40B4-BE49-F238E27FC236}">
                <a16:creationId xmlns:a16="http://schemas.microsoft.com/office/drawing/2014/main" id="{7FE699A3-9B3A-A1F5-81A7-39197121F8C3}"/>
              </a:ext>
            </a:extLst>
          </p:cNvPr>
          <p:cNvSpPr>
            <a:spLocks noGrp="1" noChangeArrowheads="1"/>
          </p:cNvSpPr>
          <p:nvPr>
            <p:ph type="title"/>
          </p:nvPr>
        </p:nvSpPr>
        <p:spPr>
          <a:noFill/>
        </p:spPr>
        <p:txBody>
          <a:bodyPr vert="horz" lIns="92075" tIns="46038" rIns="92075" bIns="46038" rtlCol="0" anchor="ctr">
            <a:normAutofit/>
          </a:bodyPr>
          <a:lstStyle/>
          <a:p>
            <a:r>
              <a:rPr lang="en-US" altLang="en-US" sz="5400"/>
              <a:t>References</a:t>
            </a:r>
          </a:p>
        </p:txBody>
      </p:sp>
      <p:sp>
        <p:nvSpPr>
          <p:cNvPr id="57348" name="Rectangle 3">
            <a:extLst>
              <a:ext uri="{FF2B5EF4-FFF2-40B4-BE49-F238E27FC236}">
                <a16:creationId xmlns:a16="http://schemas.microsoft.com/office/drawing/2014/main" id="{6076B404-E338-B43F-1FEB-BAEDAE050DAE}"/>
              </a:ext>
            </a:extLst>
          </p:cNvPr>
          <p:cNvSpPr>
            <a:spLocks noGrp="1" noChangeArrowheads="1"/>
          </p:cNvSpPr>
          <p:nvPr>
            <p:ph type="body" idx="1"/>
          </p:nvPr>
        </p:nvSpPr>
        <p:spPr>
          <a:noFill/>
        </p:spPr>
        <p:txBody>
          <a:bodyPr vert="horz" lIns="92075" tIns="46038" rIns="92075" bIns="46038" rtlCol="0">
            <a:normAutofit/>
          </a:bodyPr>
          <a:lstStyle/>
          <a:p>
            <a:pPr marL="342900" indent="-342900"/>
            <a:r>
              <a:rPr lang="en-US" altLang="en-US"/>
              <a:t>Larman, C. </a:t>
            </a:r>
            <a:r>
              <a:rPr lang="en-US" altLang="en-US" i="1"/>
              <a:t>Applying UML and Patterns: An Introduction to Object-Oriented Analysis and Design and Iterative Development</a:t>
            </a:r>
            <a:r>
              <a:rPr lang="en-US" altLang="en-US"/>
              <a:t>, Third Edition, Upper Saddle River, NJ: Prentice Hall PTR, 2005.</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2F7745-D5FD-30B4-A7E7-1921829939A2}"/>
            </a:ext>
          </a:extLst>
        </p:cNvPr>
        <p:cNvGrpSpPr/>
        <p:nvPr/>
      </p:nvGrpSpPr>
      <p:grpSpPr>
        <a:xfrm>
          <a:off x="0" y="0"/>
          <a:ext cx="0" cy="0"/>
          <a:chOff x="0" y="0"/>
          <a:chExt cx="0" cy="0"/>
        </a:xfrm>
      </p:grpSpPr>
      <p:sp>
        <p:nvSpPr>
          <p:cNvPr id="57346" name="Slide Number Placeholder 3">
            <a:extLst>
              <a:ext uri="{FF2B5EF4-FFF2-40B4-BE49-F238E27FC236}">
                <a16:creationId xmlns:a16="http://schemas.microsoft.com/office/drawing/2014/main" id="{284484C5-D677-6F77-27BB-8F19AC6D2016}"/>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620615A4-CB6F-4DA7-90B3-EE349BCCBFC9}" type="slidenum">
              <a:rPr lang="de-DE" altLang="en-US" sz="1000"/>
              <a:pPr/>
              <a:t>46</a:t>
            </a:fld>
            <a:endParaRPr lang="de-DE" altLang="en-US" sz="1000"/>
          </a:p>
        </p:txBody>
      </p:sp>
      <p:sp>
        <p:nvSpPr>
          <p:cNvPr id="57347" name="Rectangle 2">
            <a:extLst>
              <a:ext uri="{FF2B5EF4-FFF2-40B4-BE49-F238E27FC236}">
                <a16:creationId xmlns:a16="http://schemas.microsoft.com/office/drawing/2014/main" id="{1ECE808A-2903-E7E9-B9CC-5404B0420D63}"/>
              </a:ext>
            </a:extLst>
          </p:cNvPr>
          <p:cNvSpPr>
            <a:spLocks noGrp="1" noChangeArrowheads="1"/>
          </p:cNvSpPr>
          <p:nvPr>
            <p:ph type="title"/>
          </p:nvPr>
        </p:nvSpPr>
        <p:spPr>
          <a:noFill/>
        </p:spPr>
        <p:txBody>
          <a:bodyPr vert="horz" lIns="92075" tIns="46038" rIns="92075" bIns="46038" rtlCol="0" anchor="ctr">
            <a:normAutofit/>
          </a:bodyPr>
          <a:lstStyle/>
          <a:p>
            <a:r>
              <a:rPr lang="en-US" altLang="en-US" sz="5400" dirty="0"/>
              <a:t>Poll</a:t>
            </a:r>
          </a:p>
        </p:txBody>
      </p:sp>
      <p:sp>
        <p:nvSpPr>
          <p:cNvPr id="57348" name="Rectangle 3">
            <a:extLst>
              <a:ext uri="{FF2B5EF4-FFF2-40B4-BE49-F238E27FC236}">
                <a16:creationId xmlns:a16="http://schemas.microsoft.com/office/drawing/2014/main" id="{2115A630-70F6-18BD-89D1-37ABBBD7B41C}"/>
              </a:ext>
            </a:extLst>
          </p:cNvPr>
          <p:cNvSpPr>
            <a:spLocks noGrp="1" noChangeArrowheads="1"/>
          </p:cNvSpPr>
          <p:nvPr>
            <p:ph type="body" idx="1"/>
          </p:nvPr>
        </p:nvSpPr>
        <p:spPr>
          <a:noFill/>
        </p:spPr>
        <p:txBody>
          <a:bodyPr vert="horz" lIns="92075" tIns="46038" rIns="92075" bIns="46038" rtlCol="0">
            <a:normAutofit/>
          </a:bodyPr>
          <a:lstStyle/>
          <a:p>
            <a:pPr marL="342900" indent="-342900"/>
            <a:endParaRPr lang="en-US" altLang="en-US" dirty="0"/>
          </a:p>
        </p:txBody>
      </p:sp>
    </p:spTree>
    <p:extLst>
      <p:ext uri="{BB962C8B-B14F-4D97-AF65-F5344CB8AC3E}">
        <p14:creationId xmlns:p14="http://schemas.microsoft.com/office/powerpoint/2010/main" val="70853646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8"/>
            <a:ext cx="10881360" cy="4050792"/>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8, 9, 10, 11, 12, 13</a:t>
            </a:r>
          </a:p>
          <a:p>
            <a:pPr marL="0" lvl="1" indent="0">
              <a:spcBef>
                <a:spcPts val="1200"/>
              </a:spcBef>
              <a:buNone/>
            </a:pPr>
            <a:r>
              <a:rPr lang="en-US" sz="3100" dirty="0"/>
              <a:t>         </a:t>
            </a:r>
            <a:r>
              <a:rPr lang="en-US" sz="3100" b="1" dirty="0"/>
              <a:t>Assignments &amp; Project Tasks:</a:t>
            </a:r>
          </a:p>
          <a:p>
            <a:pPr lvl="2"/>
            <a:r>
              <a:rPr lang="en-US" sz="3100" dirty="0"/>
              <a:t>Project Deliverable 2 is open (Due next Wednesday). This is a </a:t>
            </a:r>
            <a:r>
              <a:rPr lang="en-US" sz="3100" u="sng" dirty="0"/>
              <a:t>Group Submission</a:t>
            </a:r>
            <a:r>
              <a:rPr lang="en-US" sz="3100" dirty="0"/>
              <a:t>.</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47</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743277" y="4095062"/>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1279"/>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1077091832"/>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002 My SCR template">
  <a:themeElements>
    <a:clrScheme name="">
      <a:dk1>
        <a:srgbClr val="336699"/>
      </a:dk1>
      <a:lt1>
        <a:srgbClr val="FFFFFF"/>
      </a:lt1>
      <a:dk2>
        <a:srgbClr val="999999"/>
      </a:dk2>
      <a:lt2>
        <a:srgbClr val="990000"/>
      </a:lt2>
      <a:accent1>
        <a:srgbClr val="FFCC00"/>
      </a:accent1>
      <a:accent2>
        <a:srgbClr val="FF9900"/>
      </a:accent2>
      <a:accent3>
        <a:srgbClr val="FFFFFF"/>
      </a:accent3>
      <a:accent4>
        <a:srgbClr val="2A5682"/>
      </a:accent4>
      <a:accent5>
        <a:srgbClr val="FFE2AA"/>
      </a:accent5>
      <a:accent6>
        <a:srgbClr val="E78A00"/>
      </a:accent6>
      <a:hlink>
        <a:srgbClr val="99CC66"/>
      </a:hlink>
      <a:folHlink>
        <a:srgbClr val="336699"/>
      </a:folHlink>
    </a:clrScheme>
    <a:fontScheme name="2002 My SCR template">
      <a:majorFont>
        <a:latin typeface="Arial Narrow"/>
        <a:ea typeface=""/>
        <a:cs typeface=""/>
      </a:majorFont>
      <a:minorFont>
        <a:latin typeface="Arial Narrow"/>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lnDef>
  </a:objectDefaults>
  <a:extraClrSchemeLst>
    <a:extraClrScheme>
      <a:clrScheme name="2002 My SCR template 1">
        <a:dk1>
          <a:srgbClr val="002B5D"/>
        </a:dk1>
        <a:lt1>
          <a:srgbClr val="FFFFFF"/>
        </a:lt1>
        <a:dk2>
          <a:srgbClr val="FF9B06"/>
        </a:dk2>
        <a:lt2>
          <a:srgbClr val="641014"/>
        </a:lt2>
        <a:accent1>
          <a:srgbClr val="ACCF00"/>
        </a:accent1>
        <a:accent2>
          <a:srgbClr val="C8DB57"/>
        </a:accent2>
        <a:accent3>
          <a:srgbClr val="FFFFFF"/>
        </a:accent3>
        <a:accent4>
          <a:srgbClr val="00234E"/>
        </a:accent4>
        <a:accent5>
          <a:srgbClr val="D2E4AA"/>
        </a:accent5>
        <a:accent6>
          <a:srgbClr val="B5C64E"/>
        </a:accent6>
        <a:hlink>
          <a:srgbClr val="D8DE91"/>
        </a:hlink>
        <a:folHlink>
          <a:srgbClr val="E4E8B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2408</TotalTime>
  <Words>2738</Words>
  <Application>Microsoft Macintosh PowerPoint</Application>
  <PresentationFormat>Widescreen</PresentationFormat>
  <Paragraphs>611</Paragraphs>
  <Slides>48</Slides>
  <Notes>35</Notes>
  <HiddenSlides>0</HiddenSlides>
  <MMClips>1</MMClips>
  <ScaleCrop>false</ScaleCrop>
  <HeadingPairs>
    <vt:vector size="6" baseType="variant">
      <vt:variant>
        <vt:lpstr>Fonts Used</vt:lpstr>
      </vt:variant>
      <vt:variant>
        <vt:i4>10</vt:i4>
      </vt:variant>
      <vt:variant>
        <vt:lpstr>Theme</vt:lpstr>
      </vt:variant>
      <vt:variant>
        <vt:i4>3</vt:i4>
      </vt:variant>
      <vt:variant>
        <vt:lpstr>Slide Titles</vt:lpstr>
      </vt:variant>
      <vt:variant>
        <vt:i4>48</vt:i4>
      </vt:variant>
    </vt:vector>
  </HeadingPairs>
  <TitlesOfParts>
    <vt:vector size="61" baseType="lpstr">
      <vt:lpstr>Arial</vt:lpstr>
      <vt:lpstr>Arial Narrow</vt:lpstr>
      <vt:lpstr>Calibri</vt:lpstr>
      <vt:lpstr>Calibri Light</vt:lpstr>
      <vt:lpstr>Helvetica</vt:lpstr>
      <vt:lpstr>Marlett</vt:lpstr>
      <vt:lpstr>Rockwell Extra Bold</vt:lpstr>
      <vt:lpstr>SIEMENS-Firmenmarke</vt:lpstr>
      <vt:lpstr>Times New Roman</vt:lpstr>
      <vt:lpstr>Wingdings</vt:lpstr>
      <vt:lpstr>Office Theme</vt:lpstr>
      <vt:lpstr>2002 My SCR template</vt:lpstr>
      <vt:lpstr>Wood Type</vt:lpstr>
      <vt:lpstr>Software Engineering CS411, FALL 2025 </vt:lpstr>
      <vt:lpstr>Lesson plan</vt:lpstr>
      <vt:lpstr>GOAL</vt:lpstr>
      <vt:lpstr>Operation Contracts</vt:lpstr>
      <vt:lpstr>System Operation Contracts</vt:lpstr>
      <vt:lpstr>System Operation Contracts</vt:lpstr>
      <vt:lpstr>System Operation Contracts</vt:lpstr>
      <vt:lpstr>Operation Contract Full Template</vt:lpstr>
      <vt:lpstr>Operations Contract</vt:lpstr>
      <vt:lpstr>Example: Domain Model for Point of Sale (PoS System)</vt:lpstr>
      <vt:lpstr>Example (Operation Contract for enterItem)</vt:lpstr>
      <vt:lpstr>In Practice: When to write operations contracts</vt:lpstr>
      <vt:lpstr>Software Architecture Styles</vt:lpstr>
      <vt:lpstr>Data Centered Architecture</vt:lpstr>
      <vt:lpstr>Data Flow Architecture</vt:lpstr>
      <vt:lpstr>Call and Return Architecture</vt:lpstr>
      <vt:lpstr>Object Oriented Architecture</vt:lpstr>
      <vt:lpstr>Layered Architecture</vt:lpstr>
      <vt:lpstr>GRASP PATTERNS for  OO Design</vt:lpstr>
      <vt:lpstr>GRASP:  Patterns of General Principles in Assigning Responsibilities</vt:lpstr>
      <vt:lpstr>A Responsibility</vt:lpstr>
      <vt:lpstr>“Doing” responsibilities</vt:lpstr>
      <vt:lpstr>“Knowing” responsibilities</vt:lpstr>
      <vt:lpstr>GRASP Patterns</vt:lpstr>
      <vt:lpstr>Grasp Patterns Summary</vt:lpstr>
      <vt:lpstr>What is a Pattern?</vt:lpstr>
      <vt:lpstr>EXPERT PATTERN</vt:lpstr>
      <vt:lpstr>Expert…</vt:lpstr>
      <vt:lpstr>…Expert</vt:lpstr>
      <vt:lpstr>Example: Class Diagram</vt:lpstr>
      <vt:lpstr>Expert – example…</vt:lpstr>
      <vt:lpstr>…Expert – example…</vt:lpstr>
      <vt:lpstr>…Expert – example…</vt:lpstr>
      <vt:lpstr>…Expert – example…</vt:lpstr>
      <vt:lpstr>Expert</vt:lpstr>
      <vt:lpstr>CREATOR PATTERN</vt:lpstr>
      <vt:lpstr>Creator</vt:lpstr>
      <vt:lpstr>…Creator</vt:lpstr>
      <vt:lpstr>Example: Domain Model Diagram</vt:lpstr>
      <vt:lpstr>Creator – Example… </vt:lpstr>
      <vt:lpstr>…Creator – Example…</vt:lpstr>
      <vt:lpstr>Creator</vt:lpstr>
      <vt:lpstr>PowerPoint Presentation</vt:lpstr>
      <vt:lpstr>PowerPoint Presentation</vt:lpstr>
      <vt:lpstr>References</vt:lpstr>
      <vt:lpstr>Poll</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Kontothanassis, Leonidas</cp:lastModifiedBy>
  <cp:revision>76</cp:revision>
  <dcterms:created xsi:type="dcterms:W3CDTF">2022-09-05T18:50:47Z</dcterms:created>
  <dcterms:modified xsi:type="dcterms:W3CDTF">2025-09-24T17:27:10Z</dcterms:modified>
</cp:coreProperties>
</file>