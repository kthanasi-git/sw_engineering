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Lst>
  <p:notesMasterIdLst>
    <p:notesMasterId r:id="rId49"/>
  </p:notesMasterIdLst>
  <p:sldIdLst>
    <p:sldId id="339" r:id="rId4"/>
    <p:sldId id="771" r:id="rId5"/>
    <p:sldId id="547" r:id="rId6"/>
    <p:sldId id="442" r:id="rId7"/>
    <p:sldId id="443" r:id="rId8"/>
    <p:sldId id="444" r:id="rId9"/>
    <p:sldId id="781" r:id="rId10"/>
    <p:sldId id="782" r:id="rId11"/>
    <p:sldId id="783" r:id="rId12"/>
    <p:sldId id="445" r:id="rId13"/>
    <p:sldId id="548" r:id="rId14"/>
    <p:sldId id="446" r:id="rId15"/>
    <p:sldId id="531" r:id="rId16"/>
    <p:sldId id="462" r:id="rId17"/>
    <p:sldId id="549" r:id="rId18"/>
    <p:sldId id="449" r:id="rId19"/>
    <p:sldId id="450" r:id="rId20"/>
    <p:sldId id="451" r:id="rId21"/>
    <p:sldId id="452" r:id="rId22"/>
    <p:sldId id="453" r:id="rId23"/>
    <p:sldId id="776" r:id="rId24"/>
    <p:sldId id="785" r:id="rId25"/>
    <p:sldId id="786" r:id="rId26"/>
    <p:sldId id="784" r:id="rId27"/>
    <p:sldId id="777" r:id="rId28"/>
    <p:sldId id="778" r:id="rId29"/>
    <p:sldId id="779" r:id="rId30"/>
    <p:sldId id="780" r:id="rId31"/>
    <p:sldId id="789" r:id="rId32"/>
    <p:sldId id="796" r:id="rId33"/>
    <p:sldId id="583" r:id="rId34"/>
    <p:sldId id="790" r:id="rId35"/>
    <p:sldId id="532" r:id="rId36"/>
    <p:sldId id="556" r:id="rId37"/>
    <p:sldId id="584" r:id="rId38"/>
    <p:sldId id="557" r:id="rId39"/>
    <p:sldId id="795" r:id="rId40"/>
    <p:sldId id="791" r:id="rId41"/>
    <p:sldId id="558" r:id="rId42"/>
    <p:sldId id="560" r:id="rId43"/>
    <p:sldId id="792" r:id="rId44"/>
    <p:sldId id="793" r:id="rId45"/>
    <p:sldId id="794" r:id="rId46"/>
    <p:sldId id="775" r:id="rId47"/>
    <p:sldId id="47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76" autoAdjust="0"/>
    <p:restoredTop sz="72603" autoAdjust="0"/>
  </p:normalViewPr>
  <p:slideViewPr>
    <p:cSldViewPr snapToGrid="0">
      <p:cViewPr>
        <p:scale>
          <a:sx n="140" d="100"/>
          <a:sy n="140" d="100"/>
        </p:scale>
        <p:origin x="264" y="-1328"/>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E95168-8CAE-4285-B73E-A9B8D173BC88}"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C74636A4-53F0-4C93-9493-9BA13D5ED385}">
      <dgm:prSet/>
      <dgm:spPr/>
      <dgm:t>
        <a:bodyPr/>
        <a:lstStyle/>
        <a:p>
          <a:r>
            <a:rPr lang="en-US"/>
            <a:t>Consequences:</a:t>
          </a:r>
        </a:p>
      </dgm:t>
    </dgm:pt>
    <dgm:pt modelId="{F25FE1BE-069C-4B2A-9310-EF4CC61C4DC1}" type="parTrans" cxnId="{700EC204-7973-4429-8489-606A9695497E}">
      <dgm:prSet/>
      <dgm:spPr/>
      <dgm:t>
        <a:bodyPr/>
        <a:lstStyle/>
        <a:p>
          <a:endParaRPr lang="en-US"/>
        </a:p>
      </dgm:t>
    </dgm:pt>
    <dgm:pt modelId="{4F43D579-4139-4924-B5C5-CC3A0066114B}" type="sibTrans" cxnId="{700EC204-7973-4429-8489-606A9695497E}">
      <dgm:prSet/>
      <dgm:spPr/>
      <dgm:t>
        <a:bodyPr/>
        <a:lstStyle/>
        <a:p>
          <a:endParaRPr lang="en-US"/>
        </a:p>
      </dgm:t>
    </dgm:pt>
    <dgm:pt modelId="{B8D2F6E1-81B0-4F6D-8047-5E6A6BA47B64}">
      <dgm:prSet/>
      <dgm:spPr/>
      <dgm:t>
        <a:bodyPr/>
        <a:lstStyle/>
        <a:p>
          <a:r>
            <a:rPr lang="en-US"/>
            <a:t>Low coupling</a:t>
          </a:r>
        </a:p>
      </dgm:t>
    </dgm:pt>
    <dgm:pt modelId="{204BE72A-2EA7-4D43-95EB-2F09D7829732}" type="parTrans" cxnId="{5AD4F0D3-1226-4B04-8524-8DF376C49F58}">
      <dgm:prSet/>
      <dgm:spPr/>
      <dgm:t>
        <a:bodyPr/>
        <a:lstStyle/>
        <a:p>
          <a:endParaRPr lang="en-US"/>
        </a:p>
      </dgm:t>
    </dgm:pt>
    <dgm:pt modelId="{9148FEEA-C028-4B38-886C-7604DCBC63F1}" type="sibTrans" cxnId="{5AD4F0D3-1226-4B04-8524-8DF376C49F58}">
      <dgm:prSet/>
      <dgm:spPr/>
      <dgm:t>
        <a:bodyPr/>
        <a:lstStyle/>
        <a:p>
          <a:endParaRPr lang="en-US"/>
        </a:p>
      </dgm:t>
    </dgm:pt>
    <dgm:pt modelId="{56A58932-90DB-40FC-8C44-DEFC8BBA0F42}">
      <dgm:prSet/>
      <dgm:spPr/>
      <dgm:t>
        <a:bodyPr/>
        <a:lstStyle/>
        <a:p>
          <a:r>
            <a:rPr lang="en-US"/>
            <a:t>High cohesion</a:t>
          </a:r>
        </a:p>
      </dgm:t>
    </dgm:pt>
    <dgm:pt modelId="{C966DF7A-EEBC-445D-B0EF-6E226308F7FE}" type="parTrans" cxnId="{C9747967-0859-41AD-9125-B191D1B5A66F}">
      <dgm:prSet/>
      <dgm:spPr/>
      <dgm:t>
        <a:bodyPr/>
        <a:lstStyle/>
        <a:p>
          <a:endParaRPr lang="en-US"/>
        </a:p>
      </dgm:t>
    </dgm:pt>
    <dgm:pt modelId="{693003BC-CD8D-47E9-99E4-BB1E3C724956}" type="sibTrans" cxnId="{C9747967-0859-41AD-9125-B191D1B5A66F}">
      <dgm:prSet/>
      <dgm:spPr/>
      <dgm:t>
        <a:bodyPr/>
        <a:lstStyle/>
        <a:p>
          <a:endParaRPr lang="en-US"/>
        </a:p>
      </dgm:t>
    </dgm:pt>
    <dgm:pt modelId="{03375472-6C13-4300-AFD6-3A42EB85D096}" type="pres">
      <dgm:prSet presAssocID="{B1E95168-8CAE-4285-B73E-A9B8D173BC88}" presName="linear" presStyleCnt="0">
        <dgm:presLayoutVars>
          <dgm:dir/>
          <dgm:animLvl val="lvl"/>
          <dgm:resizeHandles val="exact"/>
        </dgm:presLayoutVars>
      </dgm:prSet>
      <dgm:spPr/>
    </dgm:pt>
    <dgm:pt modelId="{744C39C4-820E-407F-B7F6-78FC26F3875C}" type="pres">
      <dgm:prSet presAssocID="{C74636A4-53F0-4C93-9493-9BA13D5ED385}" presName="parentLin" presStyleCnt="0"/>
      <dgm:spPr/>
    </dgm:pt>
    <dgm:pt modelId="{CF6E4DBD-61F7-4F90-B0AB-2634F9459FE1}" type="pres">
      <dgm:prSet presAssocID="{C74636A4-53F0-4C93-9493-9BA13D5ED385}" presName="parentLeftMargin" presStyleLbl="node1" presStyleIdx="0" presStyleCnt="1"/>
      <dgm:spPr/>
    </dgm:pt>
    <dgm:pt modelId="{5D6D30F2-1DD3-4EA0-8BAC-A85478A8AC9A}" type="pres">
      <dgm:prSet presAssocID="{C74636A4-53F0-4C93-9493-9BA13D5ED385}" presName="parentText" presStyleLbl="node1" presStyleIdx="0" presStyleCnt="1">
        <dgm:presLayoutVars>
          <dgm:chMax val="0"/>
          <dgm:bulletEnabled val="1"/>
        </dgm:presLayoutVars>
      </dgm:prSet>
      <dgm:spPr/>
    </dgm:pt>
    <dgm:pt modelId="{C0546B5D-E9E2-457F-9EE7-2581500E2278}" type="pres">
      <dgm:prSet presAssocID="{C74636A4-53F0-4C93-9493-9BA13D5ED385}" presName="negativeSpace" presStyleCnt="0"/>
      <dgm:spPr/>
    </dgm:pt>
    <dgm:pt modelId="{56EEB29F-2E1B-4F86-9A9D-DEAA54AC3D69}" type="pres">
      <dgm:prSet presAssocID="{C74636A4-53F0-4C93-9493-9BA13D5ED385}" presName="childText" presStyleLbl="conFgAcc1" presStyleIdx="0" presStyleCnt="1">
        <dgm:presLayoutVars>
          <dgm:bulletEnabled val="1"/>
        </dgm:presLayoutVars>
      </dgm:prSet>
      <dgm:spPr/>
    </dgm:pt>
  </dgm:ptLst>
  <dgm:cxnLst>
    <dgm:cxn modelId="{700EC204-7973-4429-8489-606A9695497E}" srcId="{B1E95168-8CAE-4285-B73E-A9B8D173BC88}" destId="{C74636A4-53F0-4C93-9493-9BA13D5ED385}" srcOrd="0" destOrd="0" parTransId="{F25FE1BE-069C-4B2A-9310-EF4CC61C4DC1}" sibTransId="{4F43D579-4139-4924-B5C5-CC3A0066114B}"/>
    <dgm:cxn modelId="{6CAB9930-7A92-40A6-BBF8-D3E147212B53}" type="presOf" srcId="{C74636A4-53F0-4C93-9493-9BA13D5ED385}" destId="{CF6E4DBD-61F7-4F90-B0AB-2634F9459FE1}" srcOrd="0" destOrd="0" presId="urn:microsoft.com/office/officeart/2005/8/layout/list1"/>
    <dgm:cxn modelId="{C9747967-0859-41AD-9125-B191D1B5A66F}" srcId="{C74636A4-53F0-4C93-9493-9BA13D5ED385}" destId="{56A58932-90DB-40FC-8C44-DEFC8BBA0F42}" srcOrd="1" destOrd="0" parTransId="{C966DF7A-EEBC-445D-B0EF-6E226308F7FE}" sibTransId="{693003BC-CD8D-47E9-99E4-BB1E3C724956}"/>
    <dgm:cxn modelId="{D8150468-3E68-4AF2-9E81-7572B27F0313}" type="presOf" srcId="{B1E95168-8CAE-4285-B73E-A9B8D173BC88}" destId="{03375472-6C13-4300-AFD6-3A42EB85D096}" srcOrd="0" destOrd="0" presId="urn:microsoft.com/office/officeart/2005/8/layout/list1"/>
    <dgm:cxn modelId="{A823616E-9A9F-4374-AE4E-0F7EA2D74550}" type="presOf" srcId="{B8D2F6E1-81B0-4F6D-8047-5E6A6BA47B64}" destId="{56EEB29F-2E1B-4F86-9A9D-DEAA54AC3D69}" srcOrd="0" destOrd="0" presId="urn:microsoft.com/office/officeart/2005/8/layout/list1"/>
    <dgm:cxn modelId="{5AD4F0D3-1226-4B04-8524-8DF376C49F58}" srcId="{C74636A4-53F0-4C93-9493-9BA13D5ED385}" destId="{B8D2F6E1-81B0-4F6D-8047-5E6A6BA47B64}" srcOrd="0" destOrd="0" parTransId="{204BE72A-2EA7-4D43-95EB-2F09D7829732}" sibTransId="{9148FEEA-C028-4B38-886C-7604DCBC63F1}"/>
    <dgm:cxn modelId="{4D5C2CD6-7712-42E9-8221-CA682E90EFA4}" type="presOf" srcId="{C74636A4-53F0-4C93-9493-9BA13D5ED385}" destId="{5D6D30F2-1DD3-4EA0-8BAC-A85478A8AC9A}" srcOrd="1" destOrd="0" presId="urn:microsoft.com/office/officeart/2005/8/layout/list1"/>
    <dgm:cxn modelId="{C23CCDE0-B0C6-4F12-882C-16E07CDB2D28}" type="presOf" srcId="{56A58932-90DB-40FC-8C44-DEFC8BBA0F42}" destId="{56EEB29F-2E1B-4F86-9A9D-DEAA54AC3D69}" srcOrd="0" destOrd="1" presId="urn:microsoft.com/office/officeart/2005/8/layout/list1"/>
    <dgm:cxn modelId="{E35AED5A-7053-4CA6-8560-21DF8DBED764}" type="presParOf" srcId="{03375472-6C13-4300-AFD6-3A42EB85D096}" destId="{744C39C4-820E-407F-B7F6-78FC26F3875C}" srcOrd="0" destOrd="0" presId="urn:microsoft.com/office/officeart/2005/8/layout/list1"/>
    <dgm:cxn modelId="{D6BB3677-4527-40D6-BAA8-9EAFB9BE8BB1}" type="presParOf" srcId="{744C39C4-820E-407F-B7F6-78FC26F3875C}" destId="{CF6E4DBD-61F7-4F90-B0AB-2634F9459FE1}" srcOrd="0" destOrd="0" presId="urn:microsoft.com/office/officeart/2005/8/layout/list1"/>
    <dgm:cxn modelId="{2EB3EC6D-6DD3-48B5-BD8E-37D3BD88C17C}" type="presParOf" srcId="{744C39C4-820E-407F-B7F6-78FC26F3875C}" destId="{5D6D30F2-1DD3-4EA0-8BAC-A85478A8AC9A}" srcOrd="1" destOrd="0" presId="urn:microsoft.com/office/officeart/2005/8/layout/list1"/>
    <dgm:cxn modelId="{2E42057E-8FA6-4D2C-9FFA-C8EBDBD9BCE7}" type="presParOf" srcId="{03375472-6C13-4300-AFD6-3A42EB85D096}" destId="{C0546B5D-E9E2-457F-9EE7-2581500E2278}" srcOrd="1" destOrd="0" presId="urn:microsoft.com/office/officeart/2005/8/layout/list1"/>
    <dgm:cxn modelId="{1A317157-E11A-491F-8C1F-EDCB4A58173D}" type="presParOf" srcId="{03375472-6C13-4300-AFD6-3A42EB85D096}" destId="{56EEB29F-2E1B-4F86-9A9D-DEAA54AC3D69}"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EC52FD-E790-4362-B6F3-8D86F4BB598E}" type="doc">
      <dgm:prSet loTypeId="urn:microsoft.com/office/officeart/2005/8/layout/list1" loCatId="list" qsTypeId="urn:microsoft.com/office/officeart/2005/8/quickstyle/simple1" qsCatId="simple" csTypeId="urn:microsoft.com/office/officeart/2005/8/colors/accent5_2" csCatId="accent5"/>
      <dgm:spPr/>
      <dgm:t>
        <a:bodyPr/>
        <a:lstStyle/>
        <a:p>
          <a:endParaRPr lang="en-US"/>
        </a:p>
      </dgm:t>
    </dgm:pt>
    <dgm:pt modelId="{F28EC42A-0861-4F4A-91A5-C95A41931EA9}">
      <dgm:prSet/>
      <dgm:spPr/>
      <dgm:t>
        <a:bodyPr/>
        <a:lstStyle/>
        <a:p>
          <a:r>
            <a:rPr lang="en-US"/>
            <a:t>Intent:</a:t>
          </a:r>
        </a:p>
      </dgm:t>
    </dgm:pt>
    <dgm:pt modelId="{B986ADD6-A995-4A5B-9D73-E770533119EB}" type="parTrans" cxnId="{FCC0A7EA-D79C-4064-A353-FB330DF43472}">
      <dgm:prSet/>
      <dgm:spPr/>
      <dgm:t>
        <a:bodyPr/>
        <a:lstStyle/>
        <a:p>
          <a:endParaRPr lang="en-US"/>
        </a:p>
      </dgm:t>
    </dgm:pt>
    <dgm:pt modelId="{D01F8DCB-DDBD-4343-AD96-873D362EE401}" type="sibTrans" cxnId="{FCC0A7EA-D79C-4064-A353-FB330DF43472}">
      <dgm:prSet/>
      <dgm:spPr/>
      <dgm:t>
        <a:bodyPr/>
        <a:lstStyle/>
        <a:p>
          <a:endParaRPr lang="en-US"/>
        </a:p>
      </dgm:t>
    </dgm:pt>
    <dgm:pt modelId="{C0F89FF4-66C7-4040-AD0E-B3E08DACB177}">
      <dgm:prSet/>
      <dgm:spPr/>
      <dgm:t>
        <a:bodyPr/>
        <a:lstStyle/>
        <a:p>
          <a:r>
            <a:rPr lang="en-US"/>
            <a:t>Assign the responsibility to an intermediate object to mediate between other components or services so that they are not directly coupled.</a:t>
          </a:r>
        </a:p>
      </dgm:t>
    </dgm:pt>
    <dgm:pt modelId="{59325270-F401-4E84-98D3-2E6E0DADBC1D}" type="parTrans" cxnId="{E8CA52C2-0664-425E-85B9-84250C73EDBB}">
      <dgm:prSet/>
      <dgm:spPr/>
      <dgm:t>
        <a:bodyPr/>
        <a:lstStyle/>
        <a:p>
          <a:endParaRPr lang="en-US"/>
        </a:p>
      </dgm:t>
    </dgm:pt>
    <dgm:pt modelId="{3CA24072-8F12-42F2-B3C4-7FBC73695904}" type="sibTrans" cxnId="{E8CA52C2-0664-425E-85B9-84250C73EDBB}">
      <dgm:prSet/>
      <dgm:spPr/>
      <dgm:t>
        <a:bodyPr/>
        <a:lstStyle/>
        <a:p>
          <a:endParaRPr lang="en-US"/>
        </a:p>
      </dgm:t>
    </dgm:pt>
    <dgm:pt modelId="{F4D1304F-1B87-4A74-8BC5-8120D3D4CD57}">
      <dgm:prSet/>
      <dgm:spPr/>
      <dgm:t>
        <a:bodyPr/>
        <a:lstStyle/>
        <a:p>
          <a:r>
            <a:rPr lang="en-US"/>
            <a:t>Problem:</a:t>
          </a:r>
        </a:p>
      </dgm:t>
    </dgm:pt>
    <dgm:pt modelId="{CF4A9C42-7155-4E23-BDFA-0DAD7D5ACF73}" type="parTrans" cxnId="{6E5B383B-36EF-468A-A3DC-6CCCC5DCCE63}">
      <dgm:prSet/>
      <dgm:spPr/>
      <dgm:t>
        <a:bodyPr/>
        <a:lstStyle/>
        <a:p>
          <a:endParaRPr lang="en-US"/>
        </a:p>
      </dgm:t>
    </dgm:pt>
    <dgm:pt modelId="{EC23D71C-96EF-4F99-8F18-714830034C2B}" type="sibTrans" cxnId="{6E5B383B-36EF-468A-A3DC-6CCCC5DCCE63}">
      <dgm:prSet/>
      <dgm:spPr/>
      <dgm:t>
        <a:bodyPr/>
        <a:lstStyle/>
        <a:p>
          <a:endParaRPr lang="en-US"/>
        </a:p>
      </dgm:t>
    </dgm:pt>
    <dgm:pt modelId="{229D9E35-35D9-46BC-AA81-E144C8B58B64}">
      <dgm:prSet/>
      <dgm:spPr/>
      <dgm:t>
        <a:bodyPr/>
        <a:lstStyle/>
        <a:p>
          <a:r>
            <a:rPr lang="en-US"/>
            <a:t>How to de-couple object so that low coupling is supported and reuse potential remains high.</a:t>
          </a:r>
        </a:p>
      </dgm:t>
    </dgm:pt>
    <dgm:pt modelId="{CB56C151-75D1-4537-99F3-C79A952568D2}" type="parTrans" cxnId="{3FA36158-8A5C-4852-BB6C-77EE69EA6C2E}">
      <dgm:prSet/>
      <dgm:spPr/>
      <dgm:t>
        <a:bodyPr/>
        <a:lstStyle/>
        <a:p>
          <a:endParaRPr lang="en-US"/>
        </a:p>
      </dgm:t>
    </dgm:pt>
    <dgm:pt modelId="{EFD95D54-57C4-419A-8DC9-249E176424A8}" type="sibTrans" cxnId="{3FA36158-8A5C-4852-BB6C-77EE69EA6C2E}">
      <dgm:prSet/>
      <dgm:spPr/>
      <dgm:t>
        <a:bodyPr/>
        <a:lstStyle/>
        <a:p>
          <a:endParaRPr lang="en-US"/>
        </a:p>
      </dgm:t>
    </dgm:pt>
    <dgm:pt modelId="{CB2D5CA6-4723-430C-BB23-B6872B3E4B62}" type="pres">
      <dgm:prSet presAssocID="{41EC52FD-E790-4362-B6F3-8D86F4BB598E}" presName="linear" presStyleCnt="0">
        <dgm:presLayoutVars>
          <dgm:dir/>
          <dgm:animLvl val="lvl"/>
          <dgm:resizeHandles val="exact"/>
        </dgm:presLayoutVars>
      </dgm:prSet>
      <dgm:spPr/>
    </dgm:pt>
    <dgm:pt modelId="{22DB4F84-6BDB-4EB0-BC09-08E844A62587}" type="pres">
      <dgm:prSet presAssocID="{F28EC42A-0861-4F4A-91A5-C95A41931EA9}" presName="parentLin" presStyleCnt="0"/>
      <dgm:spPr/>
    </dgm:pt>
    <dgm:pt modelId="{21436E0D-6C6A-467A-8C58-9222969867C3}" type="pres">
      <dgm:prSet presAssocID="{F28EC42A-0861-4F4A-91A5-C95A41931EA9}" presName="parentLeftMargin" presStyleLbl="node1" presStyleIdx="0" presStyleCnt="2"/>
      <dgm:spPr/>
    </dgm:pt>
    <dgm:pt modelId="{CC6D9346-1E75-410A-A46D-60F35BA4931B}" type="pres">
      <dgm:prSet presAssocID="{F28EC42A-0861-4F4A-91A5-C95A41931EA9}" presName="parentText" presStyleLbl="node1" presStyleIdx="0" presStyleCnt="2">
        <dgm:presLayoutVars>
          <dgm:chMax val="0"/>
          <dgm:bulletEnabled val="1"/>
        </dgm:presLayoutVars>
      </dgm:prSet>
      <dgm:spPr/>
    </dgm:pt>
    <dgm:pt modelId="{D2FB0DD5-F20A-419A-B853-2359C5CF81CC}" type="pres">
      <dgm:prSet presAssocID="{F28EC42A-0861-4F4A-91A5-C95A41931EA9}" presName="negativeSpace" presStyleCnt="0"/>
      <dgm:spPr/>
    </dgm:pt>
    <dgm:pt modelId="{22A801D8-F62A-4B6B-AD49-D63977196804}" type="pres">
      <dgm:prSet presAssocID="{F28EC42A-0861-4F4A-91A5-C95A41931EA9}" presName="childText" presStyleLbl="conFgAcc1" presStyleIdx="0" presStyleCnt="2">
        <dgm:presLayoutVars>
          <dgm:bulletEnabled val="1"/>
        </dgm:presLayoutVars>
      </dgm:prSet>
      <dgm:spPr/>
    </dgm:pt>
    <dgm:pt modelId="{73E696D4-B34D-4EF8-85B5-C216712F79F5}" type="pres">
      <dgm:prSet presAssocID="{D01F8DCB-DDBD-4343-AD96-873D362EE401}" presName="spaceBetweenRectangles" presStyleCnt="0"/>
      <dgm:spPr/>
    </dgm:pt>
    <dgm:pt modelId="{BB3C6487-100B-4415-B402-2BA624109BCA}" type="pres">
      <dgm:prSet presAssocID="{F4D1304F-1B87-4A74-8BC5-8120D3D4CD57}" presName="parentLin" presStyleCnt="0"/>
      <dgm:spPr/>
    </dgm:pt>
    <dgm:pt modelId="{E1771047-292B-4FC7-9B6D-0790615D6587}" type="pres">
      <dgm:prSet presAssocID="{F4D1304F-1B87-4A74-8BC5-8120D3D4CD57}" presName="parentLeftMargin" presStyleLbl="node1" presStyleIdx="0" presStyleCnt="2"/>
      <dgm:spPr/>
    </dgm:pt>
    <dgm:pt modelId="{CC4A4FFB-141C-4514-A4B1-48E477E44B55}" type="pres">
      <dgm:prSet presAssocID="{F4D1304F-1B87-4A74-8BC5-8120D3D4CD57}" presName="parentText" presStyleLbl="node1" presStyleIdx="1" presStyleCnt="2">
        <dgm:presLayoutVars>
          <dgm:chMax val="0"/>
          <dgm:bulletEnabled val="1"/>
        </dgm:presLayoutVars>
      </dgm:prSet>
      <dgm:spPr/>
    </dgm:pt>
    <dgm:pt modelId="{8B14838E-A265-4B4F-BDA1-067166FAB4B8}" type="pres">
      <dgm:prSet presAssocID="{F4D1304F-1B87-4A74-8BC5-8120D3D4CD57}" presName="negativeSpace" presStyleCnt="0"/>
      <dgm:spPr/>
    </dgm:pt>
    <dgm:pt modelId="{49A673E2-B109-4D01-8E4E-F109D93EE4E5}" type="pres">
      <dgm:prSet presAssocID="{F4D1304F-1B87-4A74-8BC5-8120D3D4CD57}" presName="childText" presStyleLbl="conFgAcc1" presStyleIdx="1" presStyleCnt="2">
        <dgm:presLayoutVars>
          <dgm:bulletEnabled val="1"/>
        </dgm:presLayoutVars>
      </dgm:prSet>
      <dgm:spPr/>
    </dgm:pt>
  </dgm:ptLst>
  <dgm:cxnLst>
    <dgm:cxn modelId="{7DCAB109-30EC-43B5-8F8A-D055F5FBE938}" type="presOf" srcId="{F4D1304F-1B87-4A74-8BC5-8120D3D4CD57}" destId="{E1771047-292B-4FC7-9B6D-0790615D6587}" srcOrd="0" destOrd="0" presId="urn:microsoft.com/office/officeart/2005/8/layout/list1"/>
    <dgm:cxn modelId="{6E5B383B-36EF-468A-A3DC-6CCCC5DCCE63}" srcId="{41EC52FD-E790-4362-B6F3-8D86F4BB598E}" destId="{F4D1304F-1B87-4A74-8BC5-8120D3D4CD57}" srcOrd="1" destOrd="0" parTransId="{CF4A9C42-7155-4E23-BDFA-0DAD7D5ACF73}" sibTransId="{EC23D71C-96EF-4F99-8F18-714830034C2B}"/>
    <dgm:cxn modelId="{3FA36158-8A5C-4852-BB6C-77EE69EA6C2E}" srcId="{F4D1304F-1B87-4A74-8BC5-8120D3D4CD57}" destId="{229D9E35-35D9-46BC-AA81-E144C8B58B64}" srcOrd="0" destOrd="0" parTransId="{CB56C151-75D1-4537-99F3-C79A952568D2}" sibTransId="{EFD95D54-57C4-419A-8DC9-249E176424A8}"/>
    <dgm:cxn modelId="{331ECA7A-1E3F-4B8A-85C8-951A89A61301}" type="presOf" srcId="{41EC52FD-E790-4362-B6F3-8D86F4BB598E}" destId="{CB2D5CA6-4723-430C-BB23-B6872B3E4B62}" srcOrd="0" destOrd="0" presId="urn:microsoft.com/office/officeart/2005/8/layout/list1"/>
    <dgm:cxn modelId="{7F16C083-CBA6-4F2D-AEDA-2BDCDC067854}" type="presOf" srcId="{229D9E35-35D9-46BC-AA81-E144C8B58B64}" destId="{49A673E2-B109-4D01-8E4E-F109D93EE4E5}" srcOrd="0" destOrd="0" presId="urn:microsoft.com/office/officeart/2005/8/layout/list1"/>
    <dgm:cxn modelId="{AC498689-4C38-493B-94BC-A3F12BAAF539}" type="presOf" srcId="{C0F89FF4-66C7-4040-AD0E-B3E08DACB177}" destId="{22A801D8-F62A-4B6B-AD49-D63977196804}" srcOrd="0" destOrd="0" presId="urn:microsoft.com/office/officeart/2005/8/layout/list1"/>
    <dgm:cxn modelId="{17542EA2-C041-4D63-8B5B-7A30D4EF3EDF}" type="presOf" srcId="{F4D1304F-1B87-4A74-8BC5-8120D3D4CD57}" destId="{CC4A4FFB-141C-4514-A4B1-48E477E44B55}" srcOrd="1" destOrd="0" presId="urn:microsoft.com/office/officeart/2005/8/layout/list1"/>
    <dgm:cxn modelId="{D7B1E3AE-E86B-4EBA-A67F-C364616E9D16}" type="presOf" srcId="{F28EC42A-0861-4F4A-91A5-C95A41931EA9}" destId="{CC6D9346-1E75-410A-A46D-60F35BA4931B}" srcOrd="1" destOrd="0" presId="urn:microsoft.com/office/officeart/2005/8/layout/list1"/>
    <dgm:cxn modelId="{E8CA52C2-0664-425E-85B9-84250C73EDBB}" srcId="{F28EC42A-0861-4F4A-91A5-C95A41931EA9}" destId="{C0F89FF4-66C7-4040-AD0E-B3E08DACB177}" srcOrd="0" destOrd="0" parTransId="{59325270-F401-4E84-98D3-2E6E0DADBC1D}" sibTransId="{3CA24072-8F12-42F2-B3C4-7FBC73695904}"/>
    <dgm:cxn modelId="{FDD326CA-FC5F-48D6-BC91-05576B9C699E}" type="presOf" srcId="{F28EC42A-0861-4F4A-91A5-C95A41931EA9}" destId="{21436E0D-6C6A-467A-8C58-9222969867C3}" srcOrd="0" destOrd="0" presId="urn:microsoft.com/office/officeart/2005/8/layout/list1"/>
    <dgm:cxn modelId="{FCC0A7EA-D79C-4064-A353-FB330DF43472}" srcId="{41EC52FD-E790-4362-B6F3-8D86F4BB598E}" destId="{F28EC42A-0861-4F4A-91A5-C95A41931EA9}" srcOrd="0" destOrd="0" parTransId="{B986ADD6-A995-4A5B-9D73-E770533119EB}" sibTransId="{D01F8DCB-DDBD-4343-AD96-873D362EE401}"/>
    <dgm:cxn modelId="{E661E11C-A30E-4F47-B9CF-C97C41844C72}" type="presParOf" srcId="{CB2D5CA6-4723-430C-BB23-B6872B3E4B62}" destId="{22DB4F84-6BDB-4EB0-BC09-08E844A62587}" srcOrd="0" destOrd="0" presId="urn:microsoft.com/office/officeart/2005/8/layout/list1"/>
    <dgm:cxn modelId="{0FAD3AB0-CCF2-42E0-8931-17CD7FC89E46}" type="presParOf" srcId="{22DB4F84-6BDB-4EB0-BC09-08E844A62587}" destId="{21436E0D-6C6A-467A-8C58-9222969867C3}" srcOrd="0" destOrd="0" presId="urn:microsoft.com/office/officeart/2005/8/layout/list1"/>
    <dgm:cxn modelId="{9E97CCFD-6F55-45E5-BED6-18C98F88BC3F}" type="presParOf" srcId="{22DB4F84-6BDB-4EB0-BC09-08E844A62587}" destId="{CC6D9346-1E75-410A-A46D-60F35BA4931B}" srcOrd="1" destOrd="0" presId="urn:microsoft.com/office/officeart/2005/8/layout/list1"/>
    <dgm:cxn modelId="{2DD320CA-A6F5-46D4-98B2-1D0E36DD9FE8}" type="presParOf" srcId="{CB2D5CA6-4723-430C-BB23-B6872B3E4B62}" destId="{D2FB0DD5-F20A-419A-B853-2359C5CF81CC}" srcOrd="1" destOrd="0" presId="urn:microsoft.com/office/officeart/2005/8/layout/list1"/>
    <dgm:cxn modelId="{782D8F01-4F08-4E48-B341-DA0EE01F10B4}" type="presParOf" srcId="{CB2D5CA6-4723-430C-BB23-B6872B3E4B62}" destId="{22A801D8-F62A-4B6B-AD49-D63977196804}" srcOrd="2" destOrd="0" presId="urn:microsoft.com/office/officeart/2005/8/layout/list1"/>
    <dgm:cxn modelId="{C5935AC6-4B55-48AC-B85E-BC25CFA222AB}" type="presParOf" srcId="{CB2D5CA6-4723-430C-BB23-B6872B3E4B62}" destId="{73E696D4-B34D-4EF8-85B5-C216712F79F5}" srcOrd="3" destOrd="0" presId="urn:microsoft.com/office/officeart/2005/8/layout/list1"/>
    <dgm:cxn modelId="{9EE107B3-18B3-495D-BC80-624211A0A122}" type="presParOf" srcId="{CB2D5CA6-4723-430C-BB23-B6872B3E4B62}" destId="{BB3C6487-100B-4415-B402-2BA624109BCA}" srcOrd="4" destOrd="0" presId="urn:microsoft.com/office/officeart/2005/8/layout/list1"/>
    <dgm:cxn modelId="{066BB887-B176-40A8-B9D8-2DA6C35AB995}" type="presParOf" srcId="{BB3C6487-100B-4415-B402-2BA624109BCA}" destId="{E1771047-292B-4FC7-9B6D-0790615D6587}" srcOrd="0" destOrd="0" presId="urn:microsoft.com/office/officeart/2005/8/layout/list1"/>
    <dgm:cxn modelId="{D294465F-8B15-4039-8054-CC1A3BAA4C5C}" type="presParOf" srcId="{BB3C6487-100B-4415-B402-2BA624109BCA}" destId="{CC4A4FFB-141C-4514-A4B1-48E477E44B55}" srcOrd="1" destOrd="0" presId="urn:microsoft.com/office/officeart/2005/8/layout/list1"/>
    <dgm:cxn modelId="{3AD1FD41-CF98-4361-905A-FDF794BCE053}" type="presParOf" srcId="{CB2D5CA6-4723-430C-BB23-B6872B3E4B62}" destId="{8B14838E-A265-4B4F-BDA1-067166FAB4B8}" srcOrd="5" destOrd="0" presId="urn:microsoft.com/office/officeart/2005/8/layout/list1"/>
    <dgm:cxn modelId="{C2AEB596-344F-454B-AAE2-13276A15FF6C}" type="presParOf" srcId="{CB2D5CA6-4723-430C-BB23-B6872B3E4B62}" destId="{49A673E2-B109-4D01-8E4E-F109D93EE4E5}"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CE0B75-3254-4C74-BB35-9E80A03F7FF5}"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F33C957-FC02-4F3A-B93D-EB85CB8A0A7E}">
      <dgm:prSet/>
      <dgm:spPr/>
      <dgm:t>
        <a:bodyPr/>
        <a:lstStyle/>
        <a:p>
          <a:r>
            <a:rPr lang="en-US" dirty="0"/>
            <a:t>During our discussions on GRASP patterns, we explained the concepts using ”Interaction Diagrams”. </a:t>
          </a:r>
        </a:p>
      </dgm:t>
    </dgm:pt>
    <dgm:pt modelId="{625A8301-1F71-4462-9E68-A746BF61DF9E}" type="parTrans" cxnId="{F6558595-B105-43DA-8582-95FAF30394E7}">
      <dgm:prSet/>
      <dgm:spPr/>
      <dgm:t>
        <a:bodyPr/>
        <a:lstStyle/>
        <a:p>
          <a:endParaRPr lang="en-US"/>
        </a:p>
      </dgm:t>
    </dgm:pt>
    <dgm:pt modelId="{9A0F8854-B1FE-4D5B-8F7C-337FEFBA6F90}" type="sibTrans" cxnId="{F6558595-B105-43DA-8582-95FAF30394E7}">
      <dgm:prSet/>
      <dgm:spPr/>
      <dgm:t>
        <a:bodyPr/>
        <a:lstStyle/>
        <a:p>
          <a:endParaRPr lang="en-US"/>
        </a:p>
      </dgm:t>
    </dgm:pt>
    <dgm:pt modelId="{3AFF01EC-4330-47F1-95D4-C47B017F654A}">
      <dgm:prSet/>
      <dgm:spPr/>
      <dgm:t>
        <a:bodyPr/>
        <a:lstStyle/>
        <a:p>
          <a:r>
            <a:rPr lang="en-US"/>
            <a:t>These are your 4</a:t>
          </a:r>
          <a:r>
            <a:rPr lang="en-US" baseline="30000"/>
            <a:t>th</a:t>
          </a:r>
          <a:r>
            <a:rPr lang="en-US"/>
            <a:t> type of UML diagrams you need to be familiar with in this course.</a:t>
          </a:r>
        </a:p>
      </dgm:t>
    </dgm:pt>
    <dgm:pt modelId="{42270BD3-AC61-4613-B48E-6DA5633CE33D}" type="parTrans" cxnId="{60EBB11F-47BE-466B-BDEE-4F9BE36086C6}">
      <dgm:prSet/>
      <dgm:spPr/>
      <dgm:t>
        <a:bodyPr/>
        <a:lstStyle/>
        <a:p>
          <a:endParaRPr lang="en-US"/>
        </a:p>
      </dgm:t>
    </dgm:pt>
    <dgm:pt modelId="{0B78C9A2-BAAD-4C7F-B221-4DFA9B81C1BB}" type="sibTrans" cxnId="{60EBB11F-47BE-466B-BDEE-4F9BE36086C6}">
      <dgm:prSet/>
      <dgm:spPr/>
      <dgm:t>
        <a:bodyPr/>
        <a:lstStyle/>
        <a:p>
          <a:endParaRPr lang="en-US"/>
        </a:p>
      </dgm:t>
    </dgm:pt>
    <dgm:pt modelId="{EE459064-3859-4C0F-8435-70A7DB754A27}" type="pres">
      <dgm:prSet presAssocID="{F6CE0B75-3254-4C74-BB35-9E80A03F7FF5}" presName="hierChild1" presStyleCnt="0">
        <dgm:presLayoutVars>
          <dgm:chPref val="1"/>
          <dgm:dir/>
          <dgm:animOne val="branch"/>
          <dgm:animLvl val="lvl"/>
          <dgm:resizeHandles/>
        </dgm:presLayoutVars>
      </dgm:prSet>
      <dgm:spPr/>
    </dgm:pt>
    <dgm:pt modelId="{87336A48-ED42-40BC-A643-F2E502B5E773}" type="pres">
      <dgm:prSet presAssocID="{2F33C957-FC02-4F3A-B93D-EB85CB8A0A7E}" presName="hierRoot1" presStyleCnt="0"/>
      <dgm:spPr/>
    </dgm:pt>
    <dgm:pt modelId="{F00CDE92-8E65-4E42-9E7C-EB8F4067EC5C}" type="pres">
      <dgm:prSet presAssocID="{2F33C957-FC02-4F3A-B93D-EB85CB8A0A7E}" presName="composite" presStyleCnt="0"/>
      <dgm:spPr/>
    </dgm:pt>
    <dgm:pt modelId="{67367D42-08D9-49A1-846A-F0880F88900D}" type="pres">
      <dgm:prSet presAssocID="{2F33C957-FC02-4F3A-B93D-EB85CB8A0A7E}" presName="background" presStyleLbl="node0" presStyleIdx="0" presStyleCnt="2"/>
      <dgm:spPr/>
    </dgm:pt>
    <dgm:pt modelId="{F2DE6F09-0F30-4CE3-B459-F39520F42A7D}" type="pres">
      <dgm:prSet presAssocID="{2F33C957-FC02-4F3A-B93D-EB85CB8A0A7E}" presName="text" presStyleLbl="fgAcc0" presStyleIdx="0" presStyleCnt="2">
        <dgm:presLayoutVars>
          <dgm:chPref val="3"/>
        </dgm:presLayoutVars>
      </dgm:prSet>
      <dgm:spPr/>
    </dgm:pt>
    <dgm:pt modelId="{0F91018A-B732-40F5-9D58-72002475418C}" type="pres">
      <dgm:prSet presAssocID="{2F33C957-FC02-4F3A-B93D-EB85CB8A0A7E}" presName="hierChild2" presStyleCnt="0"/>
      <dgm:spPr/>
    </dgm:pt>
    <dgm:pt modelId="{BE521982-C0A6-4710-B7F8-A85F00303968}" type="pres">
      <dgm:prSet presAssocID="{3AFF01EC-4330-47F1-95D4-C47B017F654A}" presName="hierRoot1" presStyleCnt="0"/>
      <dgm:spPr/>
    </dgm:pt>
    <dgm:pt modelId="{1165838B-063A-402A-9D5F-D9D087877F36}" type="pres">
      <dgm:prSet presAssocID="{3AFF01EC-4330-47F1-95D4-C47B017F654A}" presName="composite" presStyleCnt="0"/>
      <dgm:spPr/>
    </dgm:pt>
    <dgm:pt modelId="{6457F5AF-1918-44C5-8A16-56BD4C01E18B}" type="pres">
      <dgm:prSet presAssocID="{3AFF01EC-4330-47F1-95D4-C47B017F654A}" presName="background" presStyleLbl="node0" presStyleIdx="1" presStyleCnt="2"/>
      <dgm:spPr/>
    </dgm:pt>
    <dgm:pt modelId="{E5BCBF23-1DD8-4758-8C10-F464CE376855}" type="pres">
      <dgm:prSet presAssocID="{3AFF01EC-4330-47F1-95D4-C47B017F654A}" presName="text" presStyleLbl="fgAcc0" presStyleIdx="1" presStyleCnt="2">
        <dgm:presLayoutVars>
          <dgm:chPref val="3"/>
        </dgm:presLayoutVars>
      </dgm:prSet>
      <dgm:spPr/>
    </dgm:pt>
    <dgm:pt modelId="{F17B73BD-5C72-4CF5-9720-A81134EE4461}" type="pres">
      <dgm:prSet presAssocID="{3AFF01EC-4330-47F1-95D4-C47B017F654A}" presName="hierChild2" presStyleCnt="0"/>
      <dgm:spPr/>
    </dgm:pt>
  </dgm:ptLst>
  <dgm:cxnLst>
    <dgm:cxn modelId="{60EBB11F-47BE-466B-BDEE-4F9BE36086C6}" srcId="{F6CE0B75-3254-4C74-BB35-9E80A03F7FF5}" destId="{3AFF01EC-4330-47F1-95D4-C47B017F654A}" srcOrd="1" destOrd="0" parTransId="{42270BD3-AC61-4613-B48E-6DA5633CE33D}" sibTransId="{0B78C9A2-BAAD-4C7F-B221-4DFA9B81C1BB}"/>
    <dgm:cxn modelId="{EBC04941-F4E1-4F65-947D-DDBCEDA6F5DE}" type="presOf" srcId="{F6CE0B75-3254-4C74-BB35-9E80A03F7FF5}" destId="{EE459064-3859-4C0F-8435-70A7DB754A27}" srcOrd="0" destOrd="0" presId="urn:microsoft.com/office/officeart/2005/8/layout/hierarchy1"/>
    <dgm:cxn modelId="{66234D5A-6E37-4141-B5C8-CF7707D445DA}" type="presOf" srcId="{3AFF01EC-4330-47F1-95D4-C47B017F654A}" destId="{E5BCBF23-1DD8-4758-8C10-F464CE376855}" srcOrd="0" destOrd="0" presId="urn:microsoft.com/office/officeart/2005/8/layout/hierarchy1"/>
    <dgm:cxn modelId="{1186EC91-A8DB-4E05-92DA-CCFF72D4B329}" type="presOf" srcId="{2F33C957-FC02-4F3A-B93D-EB85CB8A0A7E}" destId="{F2DE6F09-0F30-4CE3-B459-F39520F42A7D}" srcOrd="0" destOrd="0" presId="urn:microsoft.com/office/officeart/2005/8/layout/hierarchy1"/>
    <dgm:cxn modelId="{F6558595-B105-43DA-8582-95FAF30394E7}" srcId="{F6CE0B75-3254-4C74-BB35-9E80A03F7FF5}" destId="{2F33C957-FC02-4F3A-B93D-EB85CB8A0A7E}" srcOrd="0" destOrd="0" parTransId="{625A8301-1F71-4462-9E68-A746BF61DF9E}" sibTransId="{9A0F8854-B1FE-4D5B-8F7C-337FEFBA6F90}"/>
    <dgm:cxn modelId="{D0DB5E28-B3B6-4DD4-89B4-C8B3FEAC410E}" type="presParOf" srcId="{EE459064-3859-4C0F-8435-70A7DB754A27}" destId="{87336A48-ED42-40BC-A643-F2E502B5E773}" srcOrd="0" destOrd="0" presId="urn:microsoft.com/office/officeart/2005/8/layout/hierarchy1"/>
    <dgm:cxn modelId="{C1A76D46-00C4-4916-A67E-B56D3ECD6F48}" type="presParOf" srcId="{87336A48-ED42-40BC-A643-F2E502B5E773}" destId="{F00CDE92-8E65-4E42-9E7C-EB8F4067EC5C}" srcOrd="0" destOrd="0" presId="urn:microsoft.com/office/officeart/2005/8/layout/hierarchy1"/>
    <dgm:cxn modelId="{2DB5036B-52D7-4B53-A993-738776F09F5A}" type="presParOf" srcId="{F00CDE92-8E65-4E42-9E7C-EB8F4067EC5C}" destId="{67367D42-08D9-49A1-846A-F0880F88900D}" srcOrd="0" destOrd="0" presId="urn:microsoft.com/office/officeart/2005/8/layout/hierarchy1"/>
    <dgm:cxn modelId="{09CEC7B7-D49C-4B39-A763-CEC5527ECECE}" type="presParOf" srcId="{F00CDE92-8E65-4E42-9E7C-EB8F4067EC5C}" destId="{F2DE6F09-0F30-4CE3-B459-F39520F42A7D}" srcOrd="1" destOrd="0" presId="urn:microsoft.com/office/officeart/2005/8/layout/hierarchy1"/>
    <dgm:cxn modelId="{D666208E-76D7-4E56-80F3-7532FBCD30E9}" type="presParOf" srcId="{87336A48-ED42-40BC-A643-F2E502B5E773}" destId="{0F91018A-B732-40F5-9D58-72002475418C}" srcOrd="1" destOrd="0" presId="urn:microsoft.com/office/officeart/2005/8/layout/hierarchy1"/>
    <dgm:cxn modelId="{801EF208-73ED-460B-BFB6-C7433ED1E012}" type="presParOf" srcId="{EE459064-3859-4C0F-8435-70A7DB754A27}" destId="{BE521982-C0A6-4710-B7F8-A85F00303968}" srcOrd="1" destOrd="0" presId="urn:microsoft.com/office/officeart/2005/8/layout/hierarchy1"/>
    <dgm:cxn modelId="{F67F7EF6-DA04-4241-BC8C-66FD8C5A20A4}" type="presParOf" srcId="{BE521982-C0A6-4710-B7F8-A85F00303968}" destId="{1165838B-063A-402A-9D5F-D9D087877F36}" srcOrd="0" destOrd="0" presId="urn:microsoft.com/office/officeart/2005/8/layout/hierarchy1"/>
    <dgm:cxn modelId="{BD9B2200-60FA-41AE-92AB-23A8C670EA9E}" type="presParOf" srcId="{1165838B-063A-402A-9D5F-D9D087877F36}" destId="{6457F5AF-1918-44C5-8A16-56BD4C01E18B}" srcOrd="0" destOrd="0" presId="urn:microsoft.com/office/officeart/2005/8/layout/hierarchy1"/>
    <dgm:cxn modelId="{C0EDBE57-A227-414C-ABF9-7F4FE8D4E307}" type="presParOf" srcId="{1165838B-063A-402A-9D5F-D9D087877F36}" destId="{E5BCBF23-1DD8-4758-8C10-F464CE376855}" srcOrd="1" destOrd="0" presId="urn:microsoft.com/office/officeart/2005/8/layout/hierarchy1"/>
    <dgm:cxn modelId="{A5A9A46B-B42B-4522-90FA-349571C7F7C4}" type="presParOf" srcId="{BE521982-C0A6-4710-B7F8-A85F00303968}" destId="{F17B73BD-5C72-4CF5-9720-A81134EE446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EEB29F-2E1B-4F86-9A9D-DEAA54AC3D69}">
      <dsp:nvSpPr>
        <dsp:cNvPr id="0" name=""/>
        <dsp:cNvSpPr/>
      </dsp:nvSpPr>
      <dsp:spPr>
        <a:xfrm>
          <a:off x="0" y="856225"/>
          <a:ext cx="10927829" cy="3321674"/>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1187196" rIns="848121" bIns="405384" numCol="1" spcCol="1270" anchor="t" anchorCtr="0">
          <a:noAutofit/>
        </a:bodyPr>
        <a:lstStyle/>
        <a:p>
          <a:pPr marL="285750" lvl="1" indent="-285750" algn="l" defTabSz="2533650">
            <a:lnSpc>
              <a:spcPct val="90000"/>
            </a:lnSpc>
            <a:spcBef>
              <a:spcPct val="0"/>
            </a:spcBef>
            <a:spcAft>
              <a:spcPct val="15000"/>
            </a:spcAft>
            <a:buChar char="•"/>
          </a:pPr>
          <a:r>
            <a:rPr lang="en-US" sz="5700" kern="1200"/>
            <a:t>Low coupling</a:t>
          </a:r>
        </a:p>
        <a:p>
          <a:pPr marL="285750" lvl="1" indent="-285750" algn="l" defTabSz="2533650">
            <a:lnSpc>
              <a:spcPct val="90000"/>
            </a:lnSpc>
            <a:spcBef>
              <a:spcPct val="0"/>
            </a:spcBef>
            <a:spcAft>
              <a:spcPct val="15000"/>
            </a:spcAft>
            <a:buChar char="•"/>
          </a:pPr>
          <a:r>
            <a:rPr lang="en-US" sz="5700" kern="1200"/>
            <a:t>High cohesion</a:t>
          </a:r>
        </a:p>
      </dsp:txBody>
      <dsp:txXfrm>
        <a:off x="0" y="856225"/>
        <a:ext cx="10927829" cy="3321674"/>
      </dsp:txXfrm>
    </dsp:sp>
    <dsp:sp modelId="{5D6D30F2-1DD3-4EA0-8BAC-A85478A8AC9A}">
      <dsp:nvSpPr>
        <dsp:cNvPr id="0" name=""/>
        <dsp:cNvSpPr/>
      </dsp:nvSpPr>
      <dsp:spPr>
        <a:xfrm>
          <a:off x="546391" y="14905"/>
          <a:ext cx="7649480" cy="16826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2533650">
            <a:lnSpc>
              <a:spcPct val="90000"/>
            </a:lnSpc>
            <a:spcBef>
              <a:spcPct val="0"/>
            </a:spcBef>
            <a:spcAft>
              <a:spcPct val="35000"/>
            </a:spcAft>
            <a:buNone/>
          </a:pPr>
          <a:r>
            <a:rPr lang="en-US" sz="5700" kern="1200"/>
            <a:t>Consequences:</a:t>
          </a:r>
        </a:p>
      </dsp:txBody>
      <dsp:txXfrm>
        <a:off x="628531" y="97045"/>
        <a:ext cx="7485200" cy="1518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801D8-F62A-4B6B-AD49-D63977196804}">
      <dsp:nvSpPr>
        <dsp:cNvPr id="0" name=""/>
        <dsp:cNvSpPr/>
      </dsp:nvSpPr>
      <dsp:spPr>
        <a:xfrm>
          <a:off x="0" y="434214"/>
          <a:ext cx="10927829" cy="1771875"/>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520700" rIns="848121"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Assign the responsibility to an intermediate object to mediate between other components or services so that they are not directly coupled.</a:t>
          </a:r>
        </a:p>
      </dsp:txBody>
      <dsp:txXfrm>
        <a:off x="0" y="434214"/>
        <a:ext cx="10927829" cy="1771875"/>
      </dsp:txXfrm>
    </dsp:sp>
    <dsp:sp modelId="{CC6D9346-1E75-410A-A46D-60F35BA4931B}">
      <dsp:nvSpPr>
        <dsp:cNvPr id="0" name=""/>
        <dsp:cNvSpPr/>
      </dsp:nvSpPr>
      <dsp:spPr>
        <a:xfrm>
          <a:off x="546391" y="65214"/>
          <a:ext cx="7649480" cy="7380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1111250">
            <a:lnSpc>
              <a:spcPct val="90000"/>
            </a:lnSpc>
            <a:spcBef>
              <a:spcPct val="0"/>
            </a:spcBef>
            <a:spcAft>
              <a:spcPct val="35000"/>
            </a:spcAft>
            <a:buNone/>
          </a:pPr>
          <a:r>
            <a:rPr lang="en-US" sz="2500" kern="1200"/>
            <a:t>Intent:</a:t>
          </a:r>
        </a:p>
      </dsp:txBody>
      <dsp:txXfrm>
        <a:off x="582417" y="101240"/>
        <a:ext cx="7577428" cy="665948"/>
      </dsp:txXfrm>
    </dsp:sp>
    <dsp:sp modelId="{49A673E2-B109-4D01-8E4E-F109D93EE4E5}">
      <dsp:nvSpPr>
        <dsp:cNvPr id="0" name=""/>
        <dsp:cNvSpPr/>
      </dsp:nvSpPr>
      <dsp:spPr>
        <a:xfrm>
          <a:off x="0" y="2710089"/>
          <a:ext cx="10927829" cy="14175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520700" rIns="848121"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How to de-couple object so that low coupling is supported and reuse potential remains high.</a:t>
          </a:r>
        </a:p>
      </dsp:txBody>
      <dsp:txXfrm>
        <a:off x="0" y="2710089"/>
        <a:ext cx="10927829" cy="1417500"/>
      </dsp:txXfrm>
    </dsp:sp>
    <dsp:sp modelId="{CC4A4FFB-141C-4514-A4B1-48E477E44B55}">
      <dsp:nvSpPr>
        <dsp:cNvPr id="0" name=""/>
        <dsp:cNvSpPr/>
      </dsp:nvSpPr>
      <dsp:spPr>
        <a:xfrm>
          <a:off x="546391" y="2341089"/>
          <a:ext cx="7649480" cy="7380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1111250">
            <a:lnSpc>
              <a:spcPct val="90000"/>
            </a:lnSpc>
            <a:spcBef>
              <a:spcPct val="0"/>
            </a:spcBef>
            <a:spcAft>
              <a:spcPct val="35000"/>
            </a:spcAft>
            <a:buNone/>
          </a:pPr>
          <a:r>
            <a:rPr lang="en-US" sz="2500" kern="1200"/>
            <a:t>Problem:</a:t>
          </a:r>
        </a:p>
      </dsp:txBody>
      <dsp:txXfrm>
        <a:off x="582417" y="2377115"/>
        <a:ext cx="7577428"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367D42-08D9-49A1-846A-F0880F88900D}">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DE6F09-0F30-4CE3-B459-F39520F42A7D}">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During our discussions on GRASP patterns, we explained the concepts using ”Interaction Diagrams”. </a:t>
          </a:r>
        </a:p>
      </dsp:txBody>
      <dsp:txXfrm>
        <a:off x="696297" y="538547"/>
        <a:ext cx="4171627" cy="2590157"/>
      </dsp:txXfrm>
    </dsp:sp>
    <dsp:sp modelId="{6457F5AF-1918-44C5-8A16-56BD4C01E18B}">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BCBF23-1DD8-4758-8C10-F464CE376855}">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These are your 4</a:t>
          </a:r>
          <a:r>
            <a:rPr lang="en-US" sz="3200" kern="1200" baseline="30000"/>
            <a:t>th</a:t>
          </a:r>
          <a:r>
            <a:rPr lang="en-US" sz="3200" kern="1200"/>
            <a:t> type of UML diagrams you need to be familiar with in this course.</a:t>
          </a:r>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48847-F91B-4B1D-AD73-BB1B8880DDE5}" type="datetimeFigureOut">
              <a:rPr lang="en-US" smtClean="0"/>
              <a:t>10/1/25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B0D67-D7BD-4ABE-8D65-14A981A516CF}" type="slidenum">
              <a:rPr lang="en-US" smtClean="0"/>
              <a:t>‹#›</a:t>
            </a:fld>
            <a:endParaRPr lang="en-US"/>
          </a:p>
        </p:txBody>
      </p:sp>
    </p:spTree>
    <p:extLst>
      <p:ext uri="{BB962C8B-B14F-4D97-AF65-F5344CB8AC3E}">
        <p14:creationId xmlns:p14="http://schemas.microsoft.com/office/powerpoint/2010/main" val="123546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701683E5-6B68-FC32-D6CA-C5B47A40B14A}"/>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E960F88E-A314-4A84-0AB8-7B40D556C91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What object should have the responsibility, when you do not want to violate high cohesion and low coupling or other goals but solutions offered by other patterns are not appropriate?</a:t>
            </a:r>
          </a:p>
        </p:txBody>
      </p:sp>
      <p:sp>
        <p:nvSpPr>
          <p:cNvPr id="93188" name="Slide Number Placeholder 3">
            <a:extLst>
              <a:ext uri="{FF2B5EF4-FFF2-40B4-BE49-F238E27FC236}">
                <a16:creationId xmlns:a16="http://schemas.microsoft.com/office/drawing/2014/main" id="{B009CE48-ABB6-E8C7-C234-618F4D0562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F32A7A97-445D-4ABF-9A0E-3E450CF61980}" type="slidenum">
              <a:rPr lang="en-US" altLang="en-US" sz="1000">
                <a:solidFill>
                  <a:schemeClr val="tx1"/>
                </a:solidFill>
                <a:latin typeface="Times New Roman" panose="02020603050405020304" pitchFamily="18" charset="0"/>
              </a:rPr>
              <a:pPr/>
              <a:t>5</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95346D32-C67C-0214-F548-052EEFFDB40C}"/>
              </a:ext>
            </a:extLst>
          </p:cNvPr>
          <p:cNvSpPr>
            <a:spLocks noGrp="1" noRot="1" noChangeAspect="1" noTextEdit="1"/>
          </p:cNvSpPr>
          <p:nvPr>
            <p:ph type="sldImg"/>
          </p:nvPr>
        </p:nvSpPr>
        <p:spPr>
          <a:ln/>
        </p:spPr>
      </p:sp>
      <p:sp>
        <p:nvSpPr>
          <p:cNvPr id="94211" name="Notes Placeholder 2">
            <a:extLst>
              <a:ext uri="{FF2B5EF4-FFF2-40B4-BE49-F238E27FC236}">
                <a16:creationId xmlns:a16="http://schemas.microsoft.com/office/drawing/2014/main" id="{3044D771-7BAB-8B93-B3A9-F32D3408FB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Coupling – dependencies</a:t>
            </a:r>
          </a:p>
          <a:p>
            <a:endParaRPr lang="en-US" altLang="en-US"/>
          </a:p>
        </p:txBody>
      </p:sp>
      <p:sp>
        <p:nvSpPr>
          <p:cNvPr id="94212" name="Slide Number Placeholder 3">
            <a:extLst>
              <a:ext uri="{FF2B5EF4-FFF2-40B4-BE49-F238E27FC236}">
                <a16:creationId xmlns:a16="http://schemas.microsoft.com/office/drawing/2014/main" id="{E1F1AC4E-DE89-D74E-69EE-B0A02F367F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58E5F2D2-59E9-490E-884B-3D0124C8517C}" type="slidenum">
              <a:rPr lang="en-US" altLang="en-US" sz="1000">
                <a:solidFill>
                  <a:schemeClr val="tx1"/>
                </a:solidFill>
                <a:latin typeface="Times New Roman" panose="02020603050405020304" pitchFamily="18" charset="0"/>
              </a:rPr>
              <a:pPr/>
              <a:t>12</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7144B291-19F8-E87E-5849-C86638FD7902}"/>
              </a:ext>
            </a:extLst>
          </p:cNvPr>
          <p:cNvSpPr>
            <a:spLocks noGrp="1" noRot="1" noChangeAspect="1" noTextEdit="1"/>
          </p:cNvSpPr>
          <p:nvPr>
            <p:ph type="sldImg"/>
          </p:nvPr>
        </p:nvSpPr>
        <p:spPr>
          <a:ln/>
        </p:spPr>
      </p:sp>
      <p:sp>
        <p:nvSpPr>
          <p:cNvPr id="95235" name="Notes Placeholder 2">
            <a:extLst>
              <a:ext uri="{FF2B5EF4-FFF2-40B4-BE49-F238E27FC236}">
                <a16:creationId xmlns:a16="http://schemas.microsoft.com/office/drawing/2014/main" id="{CC6DE1D3-65A8-8502-8979-8BDB12D8A0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Initially  Low-level API – dial, receive, send</a:t>
            </a:r>
          </a:p>
          <a:p>
            <a:endParaRPr lang="en-US" altLang="en-US"/>
          </a:p>
          <a:p>
            <a:r>
              <a:rPr lang="en-US" altLang="en-US"/>
              <a:t>Creditauthorization service responsible for talking to modem – not good</a:t>
            </a:r>
          </a:p>
          <a:p>
            <a:endParaRPr lang="en-US" altLang="en-US"/>
          </a:p>
          <a:p>
            <a:r>
              <a:rPr lang="en-US" altLang="en-US"/>
              <a:t>Instead – add a modem class that presents the interface to the domain class</a:t>
            </a:r>
          </a:p>
          <a:p>
            <a:endParaRPr lang="en-US" altLang="en-US"/>
          </a:p>
          <a:p>
            <a:endParaRPr lang="en-US" altLang="en-US"/>
          </a:p>
          <a:p>
            <a:endParaRPr lang="en-US" altLang="en-US"/>
          </a:p>
          <a:p>
            <a:endParaRPr lang="en-US" altLang="en-US"/>
          </a:p>
        </p:txBody>
      </p:sp>
      <p:sp>
        <p:nvSpPr>
          <p:cNvPr id="95236" name="Slide Number Placeholder 3">
            <a:extLst>
              <a:ext uri="{FF2B5EF4-FFF2-40B4-BE49-F238E27FC236}">
                <a16:creationId xmlns:a16="http://schemas.microsoft.com/office/drawing/2014/main" id="{41BD138F-8FC0-0C80-0C61-E25127BA1F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591E548-DC23-4830-87EF-A57A85465F99}" type="slidenum">
              <a:rPr lang="en-US" altLang="en-US" sz="1000">
                <a:solidFill>
                  <a:schemeClr val="tx1"/>
                </a:solidFill>
                <a:latin typeface="Times New Roman" panose="02020603050405020304" pitchFamily="18" charset="0"/>
              </a:rPr>
              <a:pPr/>
              <a:t>13</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7FAF6EC6-FD9B-67DA-397D-2CBFD64203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2B211375-FFA4-4213-A7DE-65FD1FA56AD6}" type="slidenum">
              <a:rPr lang="en-GB" altLang="en-US" sz="1000">
                <a:solidFill>
                  <a:schemeClr val="tx1"/>
                </a:solidFill>
                <a:latin typeface="Times New Roman" panose="02020603050405020304" pitchFamily="18" charset="0"/>
              </a:rPr>
              <a:pPr/>
              <a:t>14</a:t>
            </a:fld>
            <a:endParaRPr lang="en-GB" altLang="en-US" sz="1000">
              <a:solidFill>
                <a:schemeClr val="tx1"/>
              </a:solidFill>
              <a:latin typeface="Times New Roman" panose="02020603050405020304" pitchFamily="18" charset="0"/>
            </a:endParaRPr>
          </a:p>
        </p:txBody>
      </p:sp>
      <p:sp>
        <p:nvSpPr>
          <p:cNvPr id="96259" name="Rectangle 2">
            <a:extLst>
              <a:ext uri="{FF2B5EF4-FFF2-40B4-BE49-F238E27FC236}">
                <a16:creationId xmlns:a16="http://schemas.microsoft.com/office/drawing/2014/main" id="{15B51E7B-6E17-DAB2-6C62-9822B3CE88AB}"/>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CDDAEF74-0512-C847-7A8B-BD67A3EFFA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Assume that :</a:t>
            </a:r>
          </a:p>
          <a:p>
            <a:pPr>
              <a:buFontTx/>
              <a:buChar char="-"/>
            </a:pPr>
            <a:r>
              <a:rPr lang="en-GB" altLang="en-US"/>
              <a:t>A point-of-sale terminal application needs to manipulate a modem in order to transmit credit payment request</a:t>
            </a:r>
          </a:p>
          <a:p>
            <a:pPr>
              <a:buFontTx/>
              <a:buChar char="-"/>
            </a:pPr>
            <a:r>
              <a:rPr lang="en-GB" altLang="en-US"/>
              <a:t>The operating system provides a low-level function call API for doing so.</a:t>
            </a:r>
          </a:p>
          <a:p>
            <a:pPr>
              <a:buFontTx/>
              <a:buChar char="-"/>
            </a:pPr>
            <a:r>
              <a:rPr lang="en-GB" altLang="en-US"/>
              <a:t>A class called CreditAuthorizationService is responsible for talking to the modem</a:t>
            </a:r>
          </a:p>
          <a:p>
            <a:r>
              <a:rPr lang="en-GB" altLang="en-US"/>
              <a:t>If CreditAuthorizationService invokes the low –level API function calls directly, it is highly coupled to the API of the particular operating system. If the class needs to be ported to another operating system, then it will requiure modification.</a:t>
            </a:r>
          </a:p>
          <a:p>
            <a:r>
              <a:rPr lang="en-GB" altLang="en-US"/>
              <a:t>Add an intermediate Modem class between the CreditAuthorizationService and the modem API. It is responsible for translating abstract modem requests to the API and creating an Indirection between the CreditAuthorizationService and the modem.</a:t>
            </a:r>
          </a:p>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8912C745-18F0-C989-6F17-FC6F763A6452}"/>
              </a:ext>
            </a:extLst>
          </p:cNvPr>
          <p:cNvSpPr>
            <a:spLocks noGrp="1" noRot="1" noChangeAspect="1" noTextEdit="1"/>
          </p:cNvSpPr>
          <p:nvPr>
            <p:ph type="sldImg"/>
          </p:nvPr>
        </p:nvSpPr>
        <p:spPr>
          <a:ln/>
        </p:spPr>
      </p:sp>
      <p:sp>
        <p:nvSpPr>
          <p:cNvPr id="97283" name="Notes Placeholder 2">
            <a:extLst>
              <a:ext uri="{FF2B5EF4-FFF2-40B4-BE49-F238E27FC236}">
                <a16:creationId xmlns:a16="http://schemas.microsoft.com/office/drawing/2014/main" id="{757DE828-685D-03C2-8442-A3398248F5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Avoid creating design that traverse long object structure paths and send messages to distant, indirect objects</a:t>
            </a:r>
          </a:p>
          <a:p>
            <a:endParaRPr lang="en-US" altLang="en-US"/>
          </a:p>
          <a:p>
            <a:endParaRPr lang="en-US" altLang="en-US"/>
          </a:p>
          <a:p>
            <a:endParaRPr lang="en-US" altLang="en-US"/>
          </a:p>
        </p:txBody>
      </p:sp>
      <p:sp>
        <p:nvSpPr>
          <p:cNvPr id="97284" name="Slide Number Placeholder 3">
            <a:extLst>
              <a:ext uri="{FF2B5EF4-FFF2-40B4-BE49-F238E27FC236}">
                <a16:creationId xmlns:a16="http://schemas.microsoft.com/office/drawing/2014/main" id="{A741B21B-2449-908F-E472-CBCBC639C7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0FF352FD-7115-48B1-BCA1-1B768FA8F4D6}" type="slidenum">
              <a:rPr lang="en-US" altLang="en-US" sz="1000">
                <a:solidFill>
                  <a:schemeClr val="tx1"/>
                </a:solidFill>
                <a:latin typeface="Times New Roman" panose="02020603050405020304" pitchFamily="18" charset="0"/>
              </a:rPr>
              <a:pPr/>
              <a:t>16</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446071B4-788D-C2DC-A2D8-46CCA15801CE}"/>
              </a:ext>
            </a:extLst>
          </p:cNvPr>
          <p:cNvSpPr>
            <a:spLocks noGrp="1" noRot="1" noChangeAspect="1" noTextEdit="1"/>
          </p:cNvSpPr>
          <p:nvPr>
            <p:ph type="sldImg"/>
          </p:nvPr>
        </p:nvSpPr>
        <p:spPr>
          <a:ln/>
        </p:spPr>
      </p:sp>
      <p:sp>
        <p:nvSpPr>
          <p:cNvPr id="98307" name="Notes Placeholder 2">
            <a:extLst>
              <a:ext uri="{FF2B5EF4-FFF2-40B4-BE49-F238E27FC236}">
                <a16:creationId xmlns:a16="http://schemas.microsoft.com/office/drawing/2014/main" id="{1A189B50-57C9-7B68-E53B-6D822FD337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a:t>Problem:</a:t>
            </a:r>
          </a:p>
          <a:p>
            <a:pPr>
              <a:lnSpc>
                <a:spcPct val="90000"/>
              </a:lnSpc>
            </a:pPr>
            <a:r>
              <a:rPr lang="en-US" altLang="en-US"/>
              <a:t>	To avoid knowing about the structure of indirect objects?</a:t>
            </a:r>
          </a:p>
          <a:p>
            <a:pPr>
              <a:lnSpc>
                <a:spcPct val="90000"/>
              </a:lnSpc>
            </a:pPr>
            <a:r>
              <a:rPr lang="en-US" altLang="en-US"/>
              <a:t>Solution:</a:t>
            </a:r>
            <a:r>
              <a:rPr lang="en-GB" altLang="en-US"/>
              <a:t>	</a:t>
            </a:r>
            <a:endParaRPr lang="en-US" altLang="en-US"/>
          </a:p>
          <a:p>
            <a:pPr>
              <a:lnSpc>
                <a:spcPct val="90000"/>
              </a:lnSpc>
            </a:pPr>
            <a:r>
              <a:rPr lang="en-US" altLang="en-US"/>
              <a:t>	</a:t>
            </a:r>
            <a:r>
              <a:rPr lang="en-GB" altLang="en-US"/>
              <a:t>If two classes have no other reason to be directly aware of each other or otherwise coupled, then the two classes should not directly interact</a:t>
            </a:r>
            <a:endParaRPr lang="en-US" altLang="en-US"/>
          </a:p>
        </p:txBody>
      </p:sp>
      <p:sp>
        <p:nvSpPr>
          <p:cNvPr id="98308" name="Slide Number Placeholder 3">
            <a:extLst>
              <a:ext uri="{FF2B5EF4-FFF2-40B4-BE49-F238E27FC236}">
                <a16:creationId xmlns:a16="http://schemas.microsoft.com/office/drawing/2014/main" id="{37DF706B-39AC-64A2-9653-96DFA6EA1C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6E205B53-88D1-4285-96FE-88D7BFCA0313}" type="slidenum">
              <a:rPr lang="en-US" altLang="en-US" sz="1000">
                <a:solidFill>
                  <a:schemeClr val="tx1"/>
                </a:solidFill>
                <a:latin typeface="Times New Roman" panose="02020603050405020304" pitchFamily="18" charset="0"/>
              </a:rPr>
              <a:pPr/>
              <a:t>17</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B8DC77FE-5AB2-6DFF-4C0A-49D794B6605D}"/>
              </a:ext>
            </a:extLst>
          </p:cNvPr>
          <p:cNvSpPr>
            <a:spLocks noGrp="1" noRot="1" noChangeAspect="1" noTextEdit="1"/>
          </p:cNvSpPr>
          <p:nvPr>
            <p:ph type="sldImg"/>
          </p:nvPr>
        </p:nvSpPr>
        <p:spPr>
          <a:ln/>
        </p:spPr>
      </p:sp>
      <p:sp>
        <p:nvSpPr>
          <p:cNvPr id="99331" name="Notes Placeholder 2">
            <a:extLst>
              <a:ext uri="{FF2B5EF4-FFF2-40B4-BE49-F238E27FC236}">
                <a16:creationId xmlns:a16="http://schemas.microsoft.com/office/drawing/2014/main" id="{3CFF4D97-6133-A16E-6A66-07B662DE37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In a point-of-sale application, assume that a Post instance has an attribute referring to a sale, which has an attribute referring to a payment.</a:t>
            </a:r>
          </a:p>
          <a:p>
            <a:r>
              <a:rPr lang="en-GB" altLang="en-US"/>
              <a:t>Also,</a:t>
            </a:r>
          </a:p>
          <a:p>
            <a:pPr>
              <a:buFontTx/>
              <a:buChar char="•"/>
            </a:pPr>
            <a:r>
              <a:rPr lang="en-GB" altLang="en-US"/>
              <a:t>Post instances support the paymentAmount operation, which returns the current amount tendered for the payment.</a:t>
            </a:r>
          </a:p>
          <a:p>
            <a:pPr>
              <a:buFontTx/>
              <a:buChar char="•"/>
            </a:pPr>
            <a:r>
              <a:rPr lang="en-GB" altLang="en-US"/>
              <a:t>Sale instances support the payment operation, which returns the Payment instance associated with the sale.</a:t>
            </a:r>
          </a:p>
          <a:p>
            <a:endParaRPr lang="en-US" altLang="en-US"/>
          </a:p>
        </p:txBody>
      </p:sp>
      <p:sp>
        <p:nvSpPr>
          <p:cNvPr id="99332" name="Slide Number Placeholder 3">
            <a:extLst>
              <a:ext uri="{FF2B5EF4-FFF2-40B4-BE49-F238E27FC236}">
                <a16:creationId xmlns:a16="http://schemas.microsoft.com/office/drawing/2014/main" id="{543EFC9D-ED09-6A79-82CE-27FB6F26BB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27DC349E-BB46-433B-AB6C-4BFC49F91A1F}" type="slidenum">
              <a:rPr lang="en-US" altLang="en-US" sz="1000">
                <a:solidFill>
                  <a:schemeClr val="tx1"/>
                </a:solidFill>
                <a:latin typeface="Times New Roman" panose="02020603050405020304" pitchFamily="18" charset="0"/>
              </a:rPr>
              <a:pPr/>
              <a:t>18</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31ADA4DF-D27B-E31C-56B5-E33835E46FE4}"/>
              </a:ext>
            </a:extLst>
          </p:cNvPr>
          <p:cNvSpPr>
            <a:spLocks noGrp="1" noRot="1" noChangeAspect="1" noTextEdit="1"/>
          </p:cNvSpPr>
          <p:nvPr>
            <p:ph type="sldImg"/>
          </p:nvPr>
        </p:nvSpPr>
        <p:spPr>
          <a:ln/>
        </p:spPr>
      </p:sp>
      <p:sp>
        <p:nvSpPr>
          <p:cNvPr id="100355" name="Notes Placeholder 2">
            <a:extLst>
              <a:ext uri="{FF2B5EF4-FFF2-40B4-BE49-F238E27FC236}">
                <a16:creationId xmlns:a16="http://schemas.microsoft.com/office/drawing/2014/main" id="{313232EA-E7A3-9E83-B973-33C4A90F87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solution is a violation of this law because the POST instances is sending a message to an indirect object --- the Payment is not one of the five candidates ‘familiars’.</a:t>
            </a:r>
          </a:p>
          <a:p>
            <a:endParaRPr lang="en-US" altLang="en-US"/>
          </a:p>
        </p:txBody>
      </p:sp>
      <p:sp>
        <p:nvSpPr>
          <p:cNvPr id="100356" name="Slide Number Placeholder 3">
            <a:extLst>
              <a:ext uri="{FF2B5EF4-FFF2-40B4-BE49-F238E27FC236}">
                <a16:creationId xmlns:a16="http://schemas.microsoft.com/office/drawing/2014/main" id="{8CC3E395-018C-5422-F7D1-4FD64F1774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761DCECE-5DB3-453A-B575-9F6509978705}" type="slidenum">
              <a:rPr lang="en-US" altLang="en-US" sz="1000">
                <a:solidFill>
                  <a:schemeClr val="tx1"/>
                </a:solidFill>
                <a:latin typeface="Times New Roman" panose="02020603050405020304" pitchFamily="18" charset="0"/>
              </a:rPr>
              <a:pPr/>
              <a:t>19</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2F970EDA-F762-9629-AE26-E2AA4AB6415D}"/>
              </a:ext>
            </a:extLst>
          </p:cNvPr>
          <p:cNvSpPr>
            <a:spLocks noGrp="1" noRot="1" noChangeAspect="1" noTextEdit="1"/>
          </p:cNvSpPr>
          <p:nvPr>
            <p:ph type="sldImg"/>
          </p:nvPr>
        </p:nvSpPr>
        <p:spPr>
          <a:ln/>
        </p:spPr>
      </p:sp>
      <p:sp>
        <p:nvSpPr>
          <p:cNvPr id="101379" name="Notes Placeholder 2">
            <a:extLst>
              <a:ext uri="{FF2B5EF4-FFF2-40B4-BE49-F238E27FC236}">
                <a16:creationId xmlns:a16="http://schemas.microsoft.com/office/drawing/2014/main" id="{94DBB808-82F9-C495-5025-57D083D456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solution as the pattern suggests, is to add the responsibilityto the direct object – the sale in this case – to return the payment amount to the POST. This is known as promoting the interface, which is the general solution to support this principle. Therefore , a paymentAmount operation is added to sale so that the POST does not have to talk to a stranger.</a:t>
            </a:r>
          </a:p>
          <a:p>
            <a:endParaRPr lang="en-US" altLang="en-US"/>
          </a:p>
        </p:txBody>
      </p:sp>
      <p:sp>
        <p:nvSpPr>
          <p:cNvPr id="101380" name="Slide Number Placeholder 3">
            <a:extLst>
              <a:ext uri="{FF2B5EF4-FFF2-40B4-BE49-F238E27FC236}">
                <a16:creationId xmlns:a16="http://schemas.microsoft.com/office/drawing/2014/main" id="{17685AAD-4355-DBF1-5444-96296614E5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097E1EA3-9FCD-4B5F-A8C1-5D88AB5135E9}" type="slidenum">
              <a:rPr lang="en-US" altLang="en-US" sz="1000">
                <a:solidFill>
                  <a:schemeClr val="tx1"/>
                </a:solidFill>
                <a:latin typeface="Times New Roman" panose="02020603050405020304" pitchFamily="18" charset="0"/>
              </a:rPr>
              <a:pPr/>
              <a:t>20</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25</a:t>
            </a:fld>
            <a:endParaRPr lang="en-US"/>
          </a:p>
        </p:txBody>
      </p:sp>
    </p:spTree>
    <p:extLst>
      <p:ext uri="{BB962C8B-B14F-4D97-AF65-F5344CB8AC3E}">
        <p14:creationId xmlns:p14="http://schemas.microsoft.com/office/powerpoint/2010/main" val="2938295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482EEC-E663-438C-B41C-52AE046FACA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6978" name="Rectangle 2"/>
          <p:cNvSpPr>
            <a:spLocks noGrp="1" noRot="1" noChangeAspect="1" noChangeArrowheads="1" noTextEdit="1"/>
          </p:cNvSpPr>
          <p:nvPr>
            <p:ph type="sldImg"/>
          </p:nvPr>
        </p:nvSpPr>
        <p:spPr>
          <a:xfrm>
            <a:off x="406400" y="696913"/>
            <a:ext cx="6188075" cy="3481387"/>
          </a:xfrm>
          <a:ln/>
        </p:spPr>
      </p:sp>
      <p:sp>
        <p:nvSpPr>
          <p:cNvPr id="766979" name="Rectangle 3"/>
          <p:cNvSpPr>
            <a:spLocks noGrp="1" noChangeArrowheads="1"/>
          </p:cNvSpPr>
          <p:nvPr>
            <p:ph type="body" idx="1"/>
          </p:nvPr>
        </p:nvSpPr>
        <p:spPr>
          <a:xfrm>
            <a:off x="933558" y="4409758"/>
            <a:ext cx="5130586" cy="4177665"/>
          </a:xfrm>
        </p:spPr>
        <p:txBody>
          <a:bodyPr/>
          <a:lstStyle/>
          <a:p>
            <a:pPr defTabSz="915772"/>
            <a:r>
              <a:rPr lang="en-US" altLang="en-US" dirty="0"/>
              <a:t>Operation contractions use a pre and post condition</a:t>
            </a:r>
            <a:r>
              <a:rPr lang="en-US" altLang="en-US" baseline="0" dirty="0"/>
              <a:t> form to describe detailed changes to objects in a domain model</a:t>
            </a:r>
          </a:p>
          <a:p>
            <a:pPr defTabSz="915772"/>
            <a:endParaRPr lang="en-US" altLang="en-US" baseline="0" dirty="0"/>
          </a:p>
          <a:p>
            <a:pPr defTabSz="915772"/>
            <a:r>
              <a:rPr lang="en-US" altLang="en-US" baseline="0" dirty="0"/>
              <a:t>To create a contract – identify the system operations from the system sequence diagram</a:t>
            </a:r>
            <a:endParaRPr lang="en-US" altLang="en-US" dirty="0"/>
          </a:p>
        </p:txBody>
      </p:sp>
    </p:spTree>
    <p:extLst>
      <p:ext uri="{BB962C8B-B14F-4D97-AF65-F5344CB8AC3E}">
        <p14:creationId xmlns:p14="http://schemas.microsoft.com/office/powerpoint/2010/main" val="1653141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Example</a:t>
            </a:r>
            <a:r>
              <a:rPr lang="en-US" baseline="0" dirty="0"/>
              <a:t> of a sequence diagram</a:t>
            </a:r>
          </a:p>
          <a:p>
            <a:endParaRPr lang="en-US" baseline="0" dirty="0"/>
          </a:p>
          <a:p>
            <a:r>
              <a:rPr lang="en-US" sz="1100" kern="1200" dirty="0">
                <a:solidFill>
                  <a:schemeClr val="tx1"/>
                </a:solidFill>
                <a:latin typeface="UniversS 55 Roman" pitchFamily="2" charset="0"/>
                <a:ea typeface="+mn-ea"/>
                <a:cs typeface="+mn-cs"/>
              </a:rPr>
              <a:t>what are the differences between a SSD and a sequence diagram? </a:t>
            </a:r>
          </a:p>
          <a:p>
            <a:r>
              <a:rPr lang="en-US" sz="1100" kern="1200" dirty="0">
                <a:solidFill>
                  <a:schemeClr val="tx1"/>
                </a:solidFill>
                <a:latin typeface="UniversS 55 Roman" pitchFamily="2" charset="0"/>
                <a:ea typeface="+mn-ea"/>
                <a:cs typeface="+mn-cs"/>
              </a:rPr>
              <a:t>An SSD is just a sequence diagram with one primary actor and an object called ":System". That is the only difference. </a:t>
            </a:r>
          </a:p>
          <a:p>
            <a:r>
              <a:rPr lang="en-US" sz="1100" kern="1200" dirty="0">
                <a:solidFill>
                  <a:schemeClr val="tx1"/>
                </a:solidFill>
                <a:latin typeface="UniversS 55 Roman" pitchFamily="2" charset="0"/>
                <a:ea typeface="+mn-ea"/>
                <a:cs typeface="+mn-cs"/>
              </a:rPr>
              <a:t>If the object is called ":System" and it is the only object.... then the diagram is a SSD. Else it is not. </a:t>
            </a:r>
          </a:p>
          <a:p>
            <a:r>
              <a:rPr lang="en-US" sz="1100" kern="1200" dirty="0">
                <a:solidFill>
                  <a:schemeClr val="tx1"/>
                </a:solidFill>
                <a:latin typeface="UniversS 55 Roman" pitchFamily="2" charset="0"/>
                <a:ea typeface="+mn-ea"/>
                <a:cs typeface="+mn-cs"/>
              </a:rPr>
              <a:t>Semantics: SSDs show the sequence of events between an actor and the whole system. A sequence diagram should show the objects in side the system do something. </a:t>
            </a:r>
          </a:p>
          <a:p>
            <a:endParaRPr lang="en-US" sz="1100" kern="1200" dirty="0">
              <a:solidFill>
                <a:schemeClr val="tx1"/>
              </a:solidFill>
              <a:latin typeface="UniversS 55 Roman" pitchFamily="2" charset="0"/>
              <a:ea typeface="+mn-ea"/>
              <a:cs typeface="+mn-cs"/>
            </a:endParaRPr>
          </a:p>
          <a:p>
            <a:r>
              <a:rPr lang="en-US" sz="1100" kern="1200" dirty="0">
                <a:solidFill>
                  <a:schemeClr val="tx1"/>
                </a:solidFill>
                <a:latin typeface="UniversS 55 Roman" pitchFamily="2" charset="0"/>
                <a:ea typeface="+mn-ea"/>
                <a:cs typeface="+mn-cs"/>
              </a:rPr>
              <a:t>Object lifeline</a:t>
            </a:r>
          </a:p>
          <a:p>
            <a:r>
              <a:rPr lang="en-US" sz="1100" kern="1200" dirty="0">
                <a:solidFill>
                  <a:schemeClr val="tx1"/>
                </a:solidFill>
                <a:latin typeface="UniversS 55 Roman" pitchFamily="2" charset="0"/>
                <a:ea typeface="+mn-ea"/>
                <a:cs typeface="+mn-cs"/>
              </a:rPr>
              <a:t>Sometimes objects are placed</a:t>
            </a:r>
            <a:r>
              <a:rPr lang="en-US" sz="1100" kern="1200" baseline="0" dirty="0">
                <a:solidFill>
                  <a:schemeClr val="tx1"/>
                </a:solidFill>
                <a:latin typeface="UniversS 55 Roman" pitchFamily="2" charset="0"/>
                <a:ea typeface="+mn-ea"/>
                <a:cs typeface="+mn-cs"/>
              </a:rPr>
              <a:t> </a:t>
            </a:r>
            <a:r>
              <a:rPr lang="en-US" sz="1100" kern="1200" dirty="0">
                <a:solidFill>
                  <a:schemeClr val="tx1"/>
                </a:solidFill>
                <a:latin typeface="UniversS 55 Roman" pitchFamily="2" charset="0"/>
                <a:ea typeface="+mn-ea"/>
                <a:cs typeface="+mn-cs"/>
              </a:rPr>
              <a:t>lower to show their creation height.</a:t>
            </a:r>
          </a:p>
          <a:p>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672FC-9574-4AE4-89B8-0111A97AD77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D954BD-C11F-4B84-93FB-D9AF7D3720E0}"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5170" name="Rectangle 2"/>
          <p:cNvSpPr>
            <a:spLocks noGrp="1" noRot="1" noChangeAspect="1" noChangeArrowheads="1" noTextEdit="1"/>
          </p:cNvSpPr>
          <p:nvPr>
            <p:ph type="sldImg"/>
          </p:nvPr>
        </p:nvSpPr>
        <p:spPr>
          <a:xfrm>
            <a:off x="406400" y="696913"/>
            <a:ext cx="6188075" cy="3481387"/>
          </a:xfrm>
          <a:ln/>
        </p:spPr>
      </p:sp>
      <p:sp>
        <p:nvSpPr>
          <p:cNvPr id="775171"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extLst>
      <p:ext uri="{BB962C8B-B14F-4D97-AF65-F5344CB8AC3E}">
        <p14:creationId xmlns:p14="http://schemas.microsoft.com/office/powerpoint/2010/main" val="2702338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36</a:t>
            </a:fld>
            <a:endParaRPr lang="en-US"/>
          </a:p>
        </p:txBody>
      </p:sp>
    </p:spTree>
    <p:extLst>
      <p:ext uri="{BB962C8B-B14F-4D97-AF65-F5344CB8AC3E}">
        <p14:creationId xmlns:p14="http://schemas.microsoft.com/office/powerpoint/2010/main" val="1366822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37</a:t>
            </a:fld>
            <a:endParaRPr lang="en-US"/>
          </a:p>
        </p:txBody>
      </p:sp>
    </p:spTree>
    <p:extLst>
      <p:ext uri="{BB962C8B-B14F-4D97-AF65-F5344CB8AC3E}">
        <p14:creationId xmlns:p14="http://schemas.microsoft.com/office/powerpoint/2010/main" val="33309471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kern="1200" baseline="0" dirty="0">
                <a:solidFill>
                  <a:schemeClr val="tx1"/>
                </a:solidFill>
                <a:latin typeface="UniversS 55 Roman" pitchFamily="2" charset="0"/>
                <a:ea typeface="+mn-ea"/>
                <a:cs typeface="+mn-cs"/>
              </a:rPr>
              <a:t>Reference (or pointer)</a:t>
            </a:r>
          </a:p>
          <a:p>
            <a:endParaRPr lang="en-US" sz="1100" kern="1200" baseline="0" dirty="0">
              <a:solidFill>
                <a:schemeClr val="tx1"/>
              </a:solidFill>
              <a:latin typeface="UniversS 55 Roman" pitchFamily="2" charset="0"/>
              <a:ea typeface="+mn-ea"/>
              <a:cs typeface="+mn-cs"/>
            </a:endParaRPr>
          </a:p>
          <a:p>
            <a:r>
              <a:rPr lang="en-US" sz="1100" kern="1200" baseline="0" dirty="0">
                <a:solidFill>
                  <a:schemeClr val="tx1"/>
                </a:solidFill>
                <a:latin typeface="UniversS 55 Roman" pitchFamily="2" charset="0"/>
                <a:ea typeface="+mn-ea"/>
                <a:cs typeface="+mn-cs"/>
              </a:rPr>
              <a:t>•</a:t>
            </a:r>
            <a:r>
              <a:rPr lang="en-US" sz="1100" b="1" kern="1200" baseline="0" dirty="0">
                <a:solidFill>
                  <a:schemeClr val="tx1"/>
                </a:solidFill>
                <a:latin typeface="UniversS 55 Roman" pitchFamily="2" charset="0"/>
                <a:ea typeface="+mn-ea"/>
                <a:cs typeface="+mn-cs"/>
              </a:rPr>
              <a:t>Communication Diagrams show relationship between objects</a:t>
            </a:r>
          </a:p>
          <a:p>
            <a:endParaRPr lang="en-US" sz="1100" kern="1200" baseline="0" dirty="0">
              <a:solidFill>
                <a:schemeClr val="tx1"/>
              </a:solidFill>
              <a:latin typeface="UniversS 55 Roman" pitchFamily="2" charset="0"/>
              <a:ea typeface="+mn-ea"/>
              <a:cs typeface="+mn-cs"/>
            </a:endParaRPr>
          </a:p>
          <a:p>
            <a:r>
              <a:rPr lang="en-US" sz="1100" kern="1200" baseline="0" dirty="0">
                <a:solidFill>
                  <a:schemeClr val="tx1"/>
                </a:solidFill>
                <a:latin typeface="UniversS 55 Roman" pitchFamily="2" charset="0"/>
                <a:ea typeface="+mn-ea"/>
                <a:cs typeface="+mn-cs"/>
              </a:rPr>
              <a:t>•</a:t>
            </a:r>
            <a:r>
              <a:rPr lang="en-US" sz="1100" b="1" kern="1200" baseline="0" dirty="0">
                <a:solidFill>
                  <a:schemeClr val="tx1"/>
                </a:solidFill>
                <a:latin typeface="UniversS 55 Roman" pitchFamily="2" charset="0"/>
                <a:ea typeface="+mn-ea"/>
                <a:cs typeface="+mn-cs"/>
              </a:rPr>
              <a:t>Sequence Diagrams focus on the time in which events occur</a:t>
            </a:r>
          </a:p>
          <a:p>
            <a:endParaRPr lang="en-US" dirty="0"/>
          </a:p>
          <a:p>
            <a:r>
              <a:rPr lang="en-US" dirty="0"/>
              <a:t>Visibility – see or have a reference to another object.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672FC-9574-4AE4-89B8-0111A97AD77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kern="1200" dirty="0">
                <a:solidFill>
                  <a:schemeClr val="tx1"/>
                </a:solidFill>
                <a:latin typeface="UniversS 55 Roman" pitchFamily="2" charset="0"/>
                <a:ea typeface="+mn-ea"/>
                <a:cs typeface="+mn-cs"/>
              </a:rPr>
              <a:t>Take note of the Java class definition for POST, a POST instance may have attribute visibility to </a:t>
            </a:r>
            <a:r>
              <a:rPr lang="en-US" sz="1100" kern="1200" dirty="0" err="1">
                <a:solidFill>
                  <a:schemeClr val="tx1"/>
                </a:solidFill>
                <a:latin typeface="UniversS 55 Roman" pitchFamily="2" charset="0"/>
                <a:ea typeface="+mn-ea"/>
                <a:cs typeface="+mn-cs"/>
              </a:rPr>
              <a:t>ProductCatalog</a:t>
            </a:r>
            <a:r>
              <a:rPr lang="en-US" sz="1100" kern="1200" dirty="0">
                <a:solidFill>
                  <a:schemeClr val="tx1"/>
                </a:solidFill>
                <a:latin typeface="UniversS 55 Roman" pitchFamily="2" charset="0"/>
                <a:ea typeface="+mn-ea"/>
                <a:cs typeface="+mn-cs"/>
              </a:rPr>
              <a:t>, since it is an attribute of the POST class.  This visibility is needed because in the </a:t>
            </a:r>
            <a:r>
              <a:rPr lang="en-US" sz="1100" kern="1200" dirty="0" err="1">
                <a:solidFill>
                  <a:schemeClr val="tx1"/>
                </a:solidFill>
                <a:latin typeface="UniversS 55 Roman" pitchFamily="2" charset="0"/>
                <a:ea typeface="+mn-ea"/>
                <a:cs typeface="+mn-cs"/>
              </a:rPr>
              <a:t>enterItem</a:t>
            </a:r>
            <a:r>
              <a:rPr lang="en-US" sz="1100" kern="1200" dirty="0">
                <a:solidFill>
                  <a:schemeClr val="tx1"/>
                </a:solidFill>
                <a:latin typeface="UniversS 55 Roman" pitchFamily="2" charset="0"/>
                <a:ea typeface="+mn-ea"/>
                <a:cs typeface="+mn-cs"/>
              </a:rPr>
              <a:t> method shown a POST instance needs to send the specification message to a </a:t>
            </a:r>
            <a:r>
              <a:rPr lang="en-US" sz="1100" kern="1200" dirty="0" err="1">
                <a:solidFill>
                  <a:schemeClr val="tx1"/>
                </a:solidFill>
                <a:latin typeface="UniversS 55 Roman" pitchFamily="2" charset="0"/>
                <a:ea typeface="+mn-ea"/>
                <a:cs typeface="+mn-cs"/>
              </a:rPr>
              <a:t>ProductCatalog</a:t>
            </a: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672FC-9574-4AE4-89B8-0111A97AD77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8781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5111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0510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27232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9934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662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318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9034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8352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3644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9055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F33F08-D016-6ED5-B138-B93CDD4D75FC}"/>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a:defRPr/>
            </a:pPr>
            <a:endParaRPr lang="en-US" sz="1800"/>
          </a:p>
        </p:txBody>
      </p:sp>
      <p:sp>
        <p:nvSpPr>
          <p:cNvPr id="3" name="Text Box 5">
            <a:extLst>
              <a:ext uri="{FF2B5EF4-FFF2-40B4-BE49-F238E27FC236}">
                <a16:creationId xmlns:a16="http://schemas.microsoft.com/office/drawing/2014/main" id="{95271A30-4721-8D61-C73E-A7C7F17BC2AE}"/>
              </a:ext>
            </a:extLst>
          </p:cNvPr>
          <p:cNvSpPr txBox="1">
            <a:spLocks noChangeArrowheads="1"/>
          </p:cNvSpPr>
          <p:nvPr/>
        </p:nvSpPr>
        <p:spPr bwMode="auto">
          <a:xfrm>
            <a:off x="491067" y="104775"/>
            <a:ext cx="11700933" cy="600164"/>
          </a:xfrm>
          <a:prstGeom prst="rect">
            <a:avLst/>
          </a:prstGeom>
          <a:noFill/>
          <a:ln w="9525">
            <a:noFill/>
            <a:miter lim="800000"/>
            <a:headEnd/>
            <a:tailEnd/>
          </a:ln>
          <a:effectLst/>
        </p:spPr>
        <p:txBody>
          <a:bodyPr lIns="0" tIns="91440">
            <a:spAutoFit/>
          </a:bodyPr>
          <a:lstStyle/>
          <a:p>
            <a:pPr>
              <a:spcBef>
                <a:spcPct val="50000"/>
              </a:spcBef>
              <a:defRPr/>
            </a:pPr>
            <a:r>
              <a:rPr lang="en-US" sz="3000">
                <a:solidFill>
                  <a:schemeClr val="bg1"/>
                </a:solidFill>
                <a:latin typeface="SIEMENS-Firmenmarke" pitchFamily="2" charset="0"/>
              </a:rPr>
              <a:t>SWENG 537: Software Systems Design</a:t>
            </a:r>
            <a:endParaRPr lang="en-US" sz="2800">
              <a:solidFill>
                <a:schemeClr val="bg1"/>
              </a:solidFill>
              <a:latin typeface="SIEMENS-Firmenmarke" pitchFamily="2" charset="0"/>
            </a:endParaRPr>
          </a:p>
        </p:txBody>
      </p:sp>
      <p:sp>
        <p:nvSpPr>
          <p:cNvPr id="4" name="Text Box 6">
            <a:extLst>
              <a:ext uri="{FF2B5EF4-FFF2-40B4-BE49-F238E27FC236}">
                <a16:creationId xmlns:a16="http://schemas.microsoft.com/office/drawing/2014/main" id="{AA06E916-F9EF-BB91-1539-3B53D89551F4}"/>
              </a:ext>
            </a:extLst>
          </p:cNvPr>
          <p:cNvSpPr txBox="1">
            <a:spLocks noChangeArrowheads="1"/>
          </p:cNvSpPr>
          <p:nvPr/>
        </p:nvSpPr>
        <p:spPr bwMode="auto">
          <a:xfrm>
            <a:off x="8026400" y="6523039"/>
            <a:ext cx="3759200" cy="323165"/>
          </a:xfrm>
          <a:prstGeom prst="rect">
            <a:avLst/>
          </a:prstGeom>
          <a:noFill/>
          <a:ln w="9525">
            <a:noFill/>
            <a:miter lim="800000"/>
            <a:headEnd/>
            <a:tailEnd/>
          </a:ln>
          <a:effectLst/>
        </p:spPr>
        <p:txBody>
          <a:bodyPr lIns="0" tIns="0">
            <a:spAutoFit/>
          </a:bodyPr>
          <a:lstStyle/>
          <a:p>
            <a:pPr algn="r">
              <a:lnSpc>
                <a:spcPct val="90000"/>
              </a:lnSpc>
              <a:defRPr/>
            </a:pPr>
            <a:r>
              <a:rPr lang="de-DE" sz="1000">
                <a:solidFill>
                  <a:srgbClr val="336699"/>
                </a:solidFill>
              </a:rPr>
              <a:t>© Engineering Division, Penn State Great Valley</a:t>
            </a:r>
          </a:p>
          <a:p>
            <a:pPr algn="r">
              <a:lnSpc>
                <a:spcPct val="90000"/>
              </a:lnSpc>
              <a:defRPr/>
            </a:pPr>
            <a:r>
              <a:rPr lang="de-DE" sz="1000">
                <a:solidFill>
                  <a:srgbClr val="336699"/>
                </a:solidFill>
              </a:rPr>
              <a:t>Last Updated: </a:t>
            </a:r>
            <a:fld id="{76AEC2A7-4FC1-486E-9F5F-8DDAB7DDBC36}" type="datetime4">
              <a:rPr lang="en-US" sz="1000">
                <a:solidFill>
                  <a:srgbClr val="336699"/>
                </a:solidFill>
              </a:rPr>
              <a:pPr algn="r">
                <a:lnSpc>
                  <a:spcPct val="90000"/>
                </a:lnSpc>
                <a:defRPr/>
              </a:pPr>
              <a:t>October 1, 2025</a:t>
            </a:fld>
            <a:endParaRPr lang="de-DE" sz="1600">
              <a:latin typeface="Arial" charset="0"/>
            </a:endParaRPr>
          </a:p>
        </p:txBody>
      </p:sp>
      <p:sp>
        <p:nvSpPr>
          <p:cNvPr id="5" name="Text Box 8">
            <a:extLst>
              <a:ext uri="{FF2B5EF4-FFF2-40B4-BE49-F238E27FC236}">
                <a16:creationId xmlns:a16="http://schemas.microsoft.com/office/drawing/2014/main" id="{798A1968-A2F0-D475-33DA-03D232BC2817}"/>
              </a:ext>
            </a:extLst>
          </p:cNvPr>
          <p:cNvSpPr txBox="1">
            <a:spLocks noChangeArrowheads="1"/>
          </p:cNvSpPr>
          <p:nvPr/>
        </p:nvSpPr>
        <p:spPr bwMode="auto">
          <a:xfrm rot="16200000">
            <a:off x="-2931054" y="3578697"/>
            <a:ext cx="6321425"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p>
        </p:txBody>
      </p:sp>
      <p:sp>
        <p:nvSpPr>
          <p:cNvPr id="119810" name="Rectangle 2"/>
          <p:cNvSpPr>
            <a:spLocks noGrp="1" noChangeArrowheads="1"/>
          </p:cNvSpPr>
          <p:nvPr>
            <p:ph type="ctrTitle" sz="quarter"/>
          </p:nvPr>
        </p:nvSpPr>
        <p:spPr>
          <a:xfrm>
            <a:off x="2235200" y="1219200"/>
            <a:ext cx="9144000" cy="1447800"/>
          </a:xfrm>
        </p:spPr>
        <p:txBody>
          <a:bodyPr rIns="0" anchor="b"/>
          <a:lstStyle>
            <a:lvl1pPr>
              <a:defRPr sz="3400">
                <a:solidFill>
                  <a:srgbClr val="990000"/>
                </a:solidFill>
              </a:defRPr>
            </a:lvl1pPr>
          </a:lstStyle>
          <a:p>
            <a:r>
              <a:rPr lang="de-DE"/>
              <a:t>headline arial narrow bold</a:t>
            </a:r>
            <a:br>
              <a:rPr lang="de-DE"/>
            </a:br>
            <a:r>
              <a:rPr lang="de-DE"/>
              <a:t>44 pt, 0 pt leading</a:t>
            </a:r>
          </a:p>
        </p:txBody>
      </p:sp>
      <p:sp>
        <p:nvSpPr>
          <p:cNvPr id="119811" name="Rectangle 3"/>
          <p:cNvSpPr>
            <a:spLocks noGrp="1" noChangeArrowheads="1"/>
          </p:cNvSpPr>
          <p:nvPr>
            <p:ph type="subTitle" sz="quarter" idx="1"/>
          </p:nvPr>
        </p:nvSpPr>
        <p:spPr>
          <a:xfrm>
            <a:off x="2224617" y="3614738"/>
            <a:ext cx="9144000" cy="1752600"/>
          </a:xfrm>
        </p:spPr>
        <p:txBody>
          <a:bodyPr rIns="0"/>
          <a:lstStyle>
            <a:lvl1pPr marL="0" indent="0" algn="ctr">
              <a:buFont typeface="Wingdings" pitchFamily="2" charset="2"/>
              <a:buNone/>
              <a:defRPr sz="2400" b="1"/>
            </a:lvl1pPr>
          </a:lstStyle>
          <a:p>
            <a:r>
              <a:rPr lang="de-DE"/>
              <a:t>arial narrow 24 pt. bold</a:t>
            </a:r>
          </a:p>
        </p:txBody>
      </p:sp>
    </p:spTree>
    <p:extLst>
      <p:ext uri="{BB962C8B-B14F-4D97-AF65-F5344CB8AC3E}">
        <p14:creationId xmlns:p14="http://schemas.microsoft.com/office/powerpoint/2010/main" val="810008466"/>
      </p:ext>
    </p:extLst>
  </p:cSld>
  <p:clrMapOvr>
    <a:masterClrMapping/>
  </p:clrMapOvr>
  <p:transition>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DFE61C6-DBA0-BD74-142E-68756D37EF39}"/>
              </a:ext>
            </a:extLst>
          </p:cNvPr>
          <p:cNvSpPr>
            <a:spLocks noGrp="1" noChangeArrowheads="1"/>
          </p:cNvSpPr>
          <p:nvPr>
            <p:ph type="sldNum" sz="quarter" idx="10"/>
          </p:nvPr>
        </p:nvSpPr>
        <p:spPr>
          <a:ln/>
        </p:spPr>
        <p:txBody>
          <a:bodyPr/>
          <a:lstStyle>
            <a:lvl1pPr>
              <a:defRPr/>
            </a:lvl1pPr>
          </a:lstStyle>
          <a:p>
            <a:fld id="{DC03EE66-85A7-42E5-BCB9-2884DF035A82}" type="slidenum">
              <a:rPr lang="de-DE" altLang="en-US"/>
              <a:pPr/>
              <a:t>‹#›</a:t>
            </a:fld>
            <a:endParaRPr lang="de-DE" altLang="en-US"/>
          </a:p>
        </p:txBody>
      </p:sp>
    </p:spTree>
    <p:extLst>
      <p:ext uri="{BB962C8B-B14F-4D97-AF65-F5344CB8AC3E}">
        <p14:creationId xmlns:p14="http://schemas.microsoft.com/office/powerpoint/2010/main" val="3145244014"/>
      </p:ext>
    </p:extLst>
  </p:cSld>
  <p:clrMapOvr>
    <a:masterClrMapping/>
  </p:clrMapOvr>
  <p:transition>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a:extLst>
              <a:ext uri="{FF2B5EF4-FFF2-40B4-BE49-F238E27FC236}">
                <a16:creationId xmlns:a16="http://schemas.microsoft.com/office/drawing/2014/main" id="{4CE2F57C-A21D-B485-AF29-40E5F8945C1E}"/>
              </a:ext>
            </a:extLst>
          </p:cNvPr>
          <p:cNvSpPr>
            <a:spLocks noGrp="1" noChangeArrowheads="1"/>
          </p:cNvSpPr>
          <p:nvPr>
            <p:ph type="sldNum" sz="quarter" idx="10"/>
          </p:nvPr>
        </p:nvSpPr>
        <p:spPr>
          <a:ln/>
        </p:spPr>
        <p:txBody>
          <a:bodyPr/>
          <a:lstStyle>
            <a:lvl1pPr>
              <a:defRPr/>
            </a:lvl1pPr>
          </a:lstStyle>
          <a:p>
            <a:fld id="{0EBD54E7-5F7C-4CC0-81D1-A19AC002651B}" type="slidenum">
              <a:rPr lang="de-DE" altLang="en-US"/>
              <a:pPr/>
              <a:t>‹#›</a:t>
            </a:fld>
            <a:endParaRPr lang="de-DE" altLang="en-US"/>
          </a:p>
        </p:txBody>
      </p:sp>
    </p:spTree>
    <p:extLst>
      <p:ext uri="{BB962C8B-B14F-4D97-AF65-F5344CB8AC3E}">
        <p14:creationId xmlns:p14="http://schemas.microsoft.com/office/powerpoint/2010/main" val="2091857135"/>
      </p:ext>
    </p:extLst>
  </p:cSld>
  <p:clrMapOvr>
    <a:masterClrMapping/>
  </p:clrMapOvr>
  <p:transition>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21317" y="1828800"/>
            <a:ext cx="51286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1828800"/>
            <a:ext cx="5130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a:extLst>
              <a:ext uri="{FF2B5EF4-FFF2-40B4-BE49-F238E27FC236}">
                <a16:creationId xmlns:a16="http://schemas.microsoft.com/office/drawing/2014/main" id="{57448D6C-E875-AD2A-4D9C-79719B8B3030}"/>
              </a:ext>
            </a:extLst>
          </p:cNvPr>
          <p:cNvSpPr>
            <a:spLocks noGrp="1" noChangeArrowheads="1"/>
          </p:cNvSpPr>
          <p:nvPr>
            <p:ph type="sldNum" sz="quarter" idx="10"/>
          </p:nvPr>
        </p:nvSpPr>
        <p:spPr>
          <a:ln/>
        </p:spPr>
        <p:txBody>
          <a:bodyPr/>
          <a:lstStyle>
            <a:lvl1pPr>
              <a:defRPr/>
            </a:lvl1pPr>
          </a:lstStyle>
          <a:p>
            <a:fld id="{4FEE65DB-B2AB-495D-9299-B5DFCFA28388}" type="slidenum">
              <a:rPr lang="de-DE" altLang="en-US"/>
              <a:pPr/>
              <a:t>‹#›</a:t>
            </a:fld>
            <a:endParaRPr lang="de-DE" altLang="en-US"/>
          </a:p>
        </p:txBody>
      </p:sp>
    </p:spTree>
    <p:extLst>
      <p:ext uri="{BB962C8B-B14F-4D97-AF65-F5344CB8AC3E}">
        <p14:creationId xmlns:p14="http://schemas.microsoft.com/office/powerpoint/2010/main" val="1941692148"/>
      </p:ext>
    </p:extLst>
  </p:cSld>
  <p:clrMapOvr>
    <a:masterClrMapping/>
  </p:clrMapOvr>
  <p:transition>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a:extLst>
              <a:ext uri="{FF2B5EF4-FFF2-40B4-BE49-F238E27FC236}">
                <a16:creationId xmlns:a16="http://schemas.microsoft.com/office/drawing/2014/main" id="{486ED3EF-C3EA-8B5D-4B16-559D86A4E0CE}"/>
              </a:ext>
            </a:extLst>
          </p:cNvPr>
          <p:cNvSpPr>
            <a:spLocks noGrp="1" noChangeArrowheads="1"/>
          </p:cNvSpPr>
          <p:nvPr>
            <p:ph type="sldNum" sz="quarter" idx="10"/>
          </p:nvPr>
        </p:nvSpPr>
        <p:spPr>
          <a:ln/>
        </p:spPr>
        <p:txBody>
          <a:bodyPr/>
          <a:lstStyle>
            <a:lvl1pPr>
              <a:defRPr/>
            </a:lvl1pPr>
          </a:lstStyle>
          <a:p>
            <a:fld id="{30F98CF5-9AE7-4786-B13E-797328401BF6}" type="slidenum">
              <a:rPr lang="de-DE" altLang="en-US"/>
              <a:pPr/>
              <a:t>‹#›</a:t>
            </a:fld>
            <a:endParaRPr lang="de-DE" altLang="en-US"/>
          </a:p>
        </p:txBody>
      </p:sp>
    </p:spTree>
    <p:extLst>
      <p:ext uri="{BB962C8B-B14F-4D97-AF65-F5344CB8AC3E}">
        <p14:creationId xmlns:p14="http://schemas.microsoft.com/office/powerpoint/2010/main" val="1396810015"/>
      </p:ext>
    </p:extLst>
  </p:cSld>
  <p:clrMapOvr>
    <a:masterClrMapping/>
  </p:clrMapOvr>
  <p:transition>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a:extLst>
              <a:ext uri="{FF2B5EF4-FFF2-40B4-BE49-F238E27FC236}">
                <a16:creationId xmlns:a16="http://schemas.microsoft.com/office/drawing/2014/main" id="{E36A3930-6349-12FB-5192-86424ADD8930}"/>
              </a:ext>
            </a:extLst>
          </p:cNvPr>
          <p:cNvSpPr>
            <a:spLocks noGrp="1" noChangeArrowheads="1"/>
          </p:cNvSpPr>
          <p:nvPr>
            <p:ph type="sldNum" sz="quarter" idx="10"/>
          </p:nvPr>
        </p:nvSpPr>
        <p:spPr>
          <a:ln/>
        </p:spPr>
        <p:txBody>
          <a:bodyPr/>
          <a:lstStyle>
            <a:lvl1pPr>
              <a:defRPr/>
            </a:lvl1pPr>
          </a:lstStyle>
          <a:p>
            <a:fld id="{F527568B-A8F3-4468-9EF1-2B509F023149}" type="slidenum">
              <a:rPr lang="de-DE" altLang="en-US"/>
              <a:pPr/>
              <a:t>‹#›</a:t>
            </a:fld>
            <a:endParaRPr lang="de-DE" altLang="en-US"/>
          </a:p>
        </p:txBody>
      </p:sp>
    </p:spTree>
    <p:extLst>
      <p:ext uri="{BB962C8B-B14F-4D97-AF65-F5344CB8AC3E}">
        <p14:creationId xmlns:p14="http://schemas.microsoft.com/office/powerpoint/2010/main" val="3683681138"/>
      </p:ext>
    </p:extLst>
  </p:cSld>
  <p:clrMapOvr>
    <a:masterClrMapping/>
  </p:clrMapOvr>
  <p:transition>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B441927B-3258-E4C3-CE6C-550F37628F2D}"/>
              </a:ext>
            </a:extLst>
          </p:cNvPr>
          <p:cNvSpPr>
            <a:spLocks noGrp="1" noChangeArrowheads="1"/>
          </p:cNvSpPr>
          <p:nvPr>
            <p:ph type="sldNum" sz="quarter" idx="10"/>
          </p:nvPr>
        </p:nvSpPr>
        <p:spPr>
          <a:ln/>
        </p:spPr>
        <p:txBody>
          <a:bodyPr/>
          <a:lstStyle>
            <a:lvl1pPr>
              <a:defRPr/>
            </a:lvl1pPr>
          </a:lstStyle>
          <a:p>
            <a:fld id="{D8037515-ABFA-425C-A5BB-467EEDC3C6CD}" type="slidenum">
              <a:rPr lang="de-DE" altLang="en-US"/>
              <a:pPr/>
              <a:t>‹#›</a:t>
            </a:fld>
            <a:endParaRPr lang="de-DE" altLang="en-US"/>
          </a:p>
        </p:txBody>
      </p:sp>
    </p:spTree>
    <p:extLst>
      <p:ext uri="{BB962C8B-B14F-4D97-AF65-F5344CB8AC3E}">
        <p14:creationId xmlns:p14="http://schemas.microsoft.com/office/powerpoint/2010/main" val="2214041240"/>
      </p:ext>
    </p:extLst>
  </p:cSld>
  <p:clrMapOvr>
    <a:masterClrMapping/>
  </p:clrMapOvr>
  <p:transition>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7CAC1458-2254-43E1-BBC2-13C3021A8411}"/>
              </a:ext>
            </a:extLst>
          </p:cNvPr>
          <p:cNvSpPr>
            <a:spLocks noGrp="1" noChangeArrowheads="1"/>
          </p:cNvSpPr>
          <p:nvPr>
            <p:ph type="sldNum" sz="quarter" idx="10"/>
          </p:nvPr>
        </p:nvSpPr>
        <p:spPr>
          <a:ln/>
        </p:spPr>
        <p:txBody>
          <a:bodyPr/>
          <a:lstStyle>
            <a:lvl1pPr>
              <a:defRPr/>
            </a:lvl1pPr>
          </a:lstStyle>
          <a:p>
            <a:fld id="{8918E807-297E-4F87-ACBA-A9BDCFAB9B75}" type="slidenum">
              <a:rPr lang="de-DE" altLang="en-US"/>
              <a:pPr/>
              <a:t>‹#›</a:t>
            </a:fld>
            <a:endParaRPr lang="de-DE" altLang="en-US"/>
          </a:p>
        </p:txBody>
      </p:sp>
    </p:spTree>
    <p:extLst>
      <p:ext uri="{BB962C8B-B14F-4D97-AF65-F5344CB8AC3E}">
        <p14:creationId xmlns:p14="http://schemas.microsoft.com/office/powerpoint/2010/main" val="2042409524"/>
      </p:ext>
    </p:extLst>
  </p:cSld>
  <p:clrMapOvr>
    <a:masterClrMapping/>
  </p:clrMapOvr>
  <p:transition>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280C4D00-106C-6C34-336C-9AD363A1511B}"/>
              </a:ext>
            </a:extLst>
          </p:cNvPr>
          <p:cNvSpPr>
            <a:spLocks noGrp="1" noChangeArrowheads="1"/>
          </p:cNvSpPr>
          <p:nvPr>
            <p:ph type="sldNum" sz="quarter" idx="10"/>
          </p:nvPr>
        </p:nvSpPr>
        <p:spPr>
          <a:ln/>
        </p:spPr>
        <p:txBody>
          <a:bodyPr/>
          <a:lstStyle>
            <a:lvl1pPr>
              <a:defRPr/>
            </a:lvl1pPr>
          </a:lstStyle>
          <a:p>
            <a:fld id="{A953752E-C382-4970-A515-C6C47B2256A5}" type="slidenum">
              <a:rPr lang="de-DE" altLang="en-US"/>
              <a:pPr/>
              <a:t>‹#›</a:t>
            </a:fld>
            <a:endParaRPr lang="de-DE" altLang="en-US"/>
          </a:p>
        </p:txBody>
      </p:sp>
    </p:spTree>
    <p:extLst>
      <p:ext uri="{BB962C8B-B14F-4D97-AF65-F5344CB8AC3E}">
        <p14:creationId xmlns:p14="http://schemas.microsoft.com/office/powerpoint/2010/main" val="1993135771"/>
      </p:ext>
    </p:extLst>
  </p:cSld>
  <p:clrMapOvr>
    <a:masterClrMapping/>
  </p:clrMapOvr>
  <p:transition>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1BDCA160-64B8-B2DF-0A57-8B117EE1005F}"/>
              </a:ext>
            </a:extLst>
          </p:cNvPr>
          <p:cNvSpPr>
            <a:spLocks noGrp="1" noChangeArrowheads="1"/>
          </p:cNvSpPr>
          <p:nvPr>
            <p:ph type="sldNum" sz="quarter" idx="10"/>
          </p:nvPr>
        </p:nvSpPr>
        <p:spPr>
          <a:ln/>
        </p:spPr>
        <p:txBody>
          <a:bodyPr/>
          <a:lstStyle>
            <a:lvl1pPr>
              <a:defRPr/>
            </a:lvl1pPr>
          </a:lstStyle>
          <a:p>
            <a:fld id="{51BFFDC5-0B19-42D5-A7FB-FFDBB9E974CB}" type="slidenum">
              <a:rPr lang="de-DE" altLang="en-US"/>
              <a:pPr/>
              <a:t>‹#›</a:t>
            </a:fld>
            <a:endParaRPr lang="de-DE" altLang="en-US"/>
          </a:p>
        </p:txBody>
      </p:sp>
    </p:spTree>
    <p:extLst>
      <p:ext uri="{BB962C8B-B14F-4D97-AF65-F5344CB8AC3E}">
        <p14:creationId xmlns:p14="http://schemas.microsoft.com/office/powerpoint/2010/main" val="2094030374"/>
      </p:ext>
    </p:extLst>
  </p:cSld>
  <p:clrMapOvr>
    <a:masterClrMapping/>
  </p:clrMapOvr>
  <p:transition>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9917" y="609600"/>
            <a:ext cx="2614083"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21317" y="609600"/>
            <a:ext cx="76454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6C9261F-98D6-FBD5-D721-5C0B664941D1}"/>
              </a:ext>
            </a:extLst>
          </p:cNvPr>
          <p:cNvSpPr>
            <a:spLocks noGrp="1" noChangeArrowheads="1"/>
          </p:cNvSpPr>
          <p:nvPr>
            <p:ph type="sldNum" sz="quarter" idx="10"/>
          </p:nvPr>
        </p:nvSpPr>
        <p:spPr>
          <a:ln/>
        </p:spPr>
        <p:txBody>
          <a:bodyPr/>
          <a:lstStyle>
            <a:lvl1pPr>
              <a:defRPr/>
            </a:lvl1pPr>
          </a:lstStyle>
          <a:p>
            <a:fld id="{0386F535-B57D-425A-BFA5-AA4AC0F0DE9D}" type="slidenum">
              <a:rPr lang="de-DE" altLang="en-US"/>
              <a:pPr/>
              <a:t>‹#›</a:t>
            </a:fld>
            <a:endParaRPr lang="de-DE" altLang="en-US"/>
          </a:p>
        </p:txBody>
      </p:sp>
    </p:spTree>
    <p:extLst>
      <p:ext uri="{BB962C8B-B14F-4D97-AF65-F5344CB8AC3E}">
        <p14:creationId xmlns:p14="http://schemas.microsoft.com/office/powerpoint/2010/main" val="4117519442"/>
      </p:ext>
    </p:extLst>
  </p:cSld>
  <p:clrMapOvr>
    <a:masterClrMapping/>
  </p:clrMapOvr>
  <p:transition>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F02EF089-A624-4AB7-8B7F-2212E43B5F77}" type="datetime1">
              <a:rPr lang="en-US" smtClean="0"/>
              <a:t>10/1/25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61783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BFBC5EE-8023-48A0-B577-A5117191FDD2}" type="datetime1">
              <a:rPr lang="en-US" smtClean="0"/>
              <a:t>10/1/25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17370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8A247A89-8FD0-4D3F-AE44-186FA5A357B4}" type="datetime1">
              <a:rPr lang="en-US" smtClean="0"/>
              <a:t>10/1/25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03576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76F02-BBAE-414F-9EC4-5B5F51B31BDB}" type="datetime1">
              <a:rPr lang="en-US" smtClean="0"/>
              <a:t>10/1/25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753293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F49CE-F4FE-45C3-BBAB-CFE946522D3B}" type="datetime1">
              <a:rPr lang="en-US" smtClean="0"/>
              <a:t>10/1/25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577221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3221F2F-1A99-4762-A6E9-3172ACF4978C}" type="datetime1">
              <a:rPr lang="en-US" smtClean="0"/>
              <a:t>10/1/25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52459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A1192-0569-4FE3-B36A-F319D4D12EA7}" type="datetime1">
              <a:rPr lang="en-US" smtClean="0"/>
              <a:t>10/1/25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818578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DC0433F-3AC1-46DB-A8F6-3397C409090D}" type="datetime1">
              <a:rPr lang="en-US" smtClean="0"/>
              <a:t>10/1/25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554817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BF6D33-D9B1-481D-971E-4AEB549657B4}" type="datetime1">
              <a:rPr lang="en-US" smtClean="0"/>
              <a:t>10/1/25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741074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30853F-751A-4ADE-AEBA-5696F2A13B50}" type="datetime1">
              <a:rPr lang="en-US" smtClean="0"/>
              <a:t>10/1/25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498794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279F3-C829-4592-BA39-957487C9EDF2}" type="datetime1">
              <a:rPr lang="en-US" smtClean="0"/>
              <a:t>10/1/25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681565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30771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microsoft.com/office/2007/relationships/hdphoto" Target="../media/hdphoto1.wdp"/><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1529516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18F1ECE1-9929-DE64-5632-72540D1E07E9}"/>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defTabSz="762000">
              <a:defRPr/>
            </a:pPr>
            <a:endParaRPr lang="en-US" sz="1600">
              <a:solidFill>
                <a:schemeClr val="bg1"/>
              </a:solidFill>
            </a:endParaRPr>
          </a:p>
        </p:txBody>
      </p:sp>
      <p:sp>
        <p:nvSpPr>
          <p:cNvPr id="118787" name="Text Box 3">
            <a:extLst>
              <a:ext uri="{FF2B5EF4-FFF2-40B4-BE49-F238E27FC236}">
                <a16:creationId xmlns:a16="http://schemas.microsoft.com/office/drawing/2014/main" id="{76FAA039-BCD5-DF52-3464-54E83919E58D}"/>
              </a:ext>
            </a:extLst>
          </p:cNvPr>
          <p:cNvSpPr txBox="1">
            <a:spLocks noChangeArrowheads="1"/>
          </p:cNvSpPr>
          <p:nvPr/>
        </p:nvSpPr>
        <p:spPr bwMode="auto">
          <a:xfrm>
            <a:off x="789518" y="95250"/>
            <a:ext cx="10674349" cy="446276"/>
          </a:xfrm>
          <a:prstGeom prst="rect">
            <a:avLst/>
          </a:prstGeom>
          <a:noFill/>
          <a:ln w="9525">
            <a:noFill/>
            <a:miter lim="800000"/>
            <a:headEnd/>
            <a:tailEnd/>
          </a:ln>
          <a:effectLst/>
        </p:spPr>
        <p:txBody>
          <a:bodyPr lIns="0" tIns="0">
            <a:spAutoFit/>
          </a:bodyPr>
          <a:lstStyle/>
          <a:p>
            <a:pPr>
              <a:spcBef>
                <a:spcPct val="50000"/>
              </a:spcBef>
              <a:defRPr/>
            </a:pPr>
            <a:r>
              <a:rPr lang="en-US" sz="2600">
                <a:solidFill>
                  <a:schemeClr val="bg1"/>
                </a:solidFill>
                <a:latin typeface="SIEMENS-Firmenmarke" pitchFamily="2" charset="0"/>
              </a:rPr>
              <a:t>SWENG 537: Software Systems Design</a:t>
            </a:r>
            <a:endParaRPr lang="en-US" sz="2400">
              <a:solidFill>
                <a:schemeClr val="bg1"/>
              </a:solidFill>
              <a:latin typeface="SIEMENS-Firmenmarke" pitchFamily="2" charset="0"/>
            </a:endParaRPr>
          </a:p>
        </p:txBody>
      </p:sp>
      <p:sp>
        <p:nvSpPr>
          <p:cNvPr id="2052" name="Rectangle 4">
            <a:extLst>
              <a:ext uri="{FF2B5EF4-FFF2-40B4-BE49-F238E27FC236}">
                <a16:creationId xmlns:a16="http://schemas.microsoft.com/office/drawing/2014/main" id="{EEE92D2C-33B8-70ED-16BA-3A755D5F5C30}"/>
              </a:ext>
            </a:extLst>
          </p:cNvPr>
          <p:cNvSpPr>
            <a:spLocks noGrp="1" noChangeArrowheads="1"/>
          </p:cNvSpPr>
          <p:nvPr>
            <p:ph type="title"/>
          </p:nvPr>
        </p:nvSpPr>
        <p:spPr bwMode="auto">
          <a:xfrm>
            <a:off x="1221317" y="609600"/>
            <a:ext cx="104626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p>
            <a:pPr lvl="0"/>
            <a:r>
              <a:rPr lang="de-DE" altLang="en-US"/>
              <a:t>Click to edit mater Title style</a:t>
            </a:r>
          </a:p>
        </p:txBody>
      </p:sp>
      <p:sp>
        <p:nvSpPr>
          <p:cNvPr id="2053" name="Rectangle 5">
            <a:extLst>
              <a:ext uri="{FF2B5EF4-FFF2-40B4-BE49-F238E27FC236}">
                <a16:creationId xmlns:a16="http://schemas.microsoft.com/office/drawing/2014/main" id="{136EAA36-8F01-3A0D-8422-3765DC01E178}"/>
              </a:ext>
            </a:extLst>
          </p:cNvPr>
          <p:cNvSpPr>
            <a:spLocks noGrp="1" noChangeArrowheads="1"/>
          </p:cNvSpPr>
          <p:nvPr>
            <p:ph type="body" idx="1"/>
          </p:nvPr>
        </p:nvSpPr>
        <p:spPr bwMode="auto">
          <a:xfrm>
            <a:off x="1221317" y="1828800"/>
            <a:ext cx="104626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p>
            <a:pPr lvl="0"/>
            <a:r>
              <a:rPr lang="de-DE" altLang="en-US"/>
              <a:t>Click to edit Master text styles</a:t>
            </a:r>
          </a:p>
          <a:p>
            <a:pPr lvl="1"/>
            <a:r>
              <a:rPr lang="de-DE" altLang="en-US"/>
              <a:t>Second level</a:t>
            </a:r>
          </a:p>
          <a:p>
            <a:pPr lvl="2"/>
            <a:r>
              <a:rPr lang="de-DE" altLang="en-US"/>
              <a:t>Third level</a:t>
            </a:r>
          </a:p>
          <a:p>
            <a:pPr lvl="3"/>
            <a:r>
              <a:rPr lang="de-DE" altLang="en-US"/>
              <a:t>Fourth level</a:t>
            </a:r>
          </a:p>
          <a:p>
            <a:pPr lvl="4"/>
            <a:r>
              <a:rPr lang="de-DE" altLang="en-US"/>
              <a:t>Fifth level</a:t>
            </a:r>
          </a:p>
        </p:txBody>
      </p:sp>
      <p:sp>
        <p:nvSpPr>
          <p:cNvPr id="118803" name="Rectangle 19">
            <a:extLst>
              <a:ext uri="{FF2B5EF4-FFF2-40B4-BE49-F238E27FC236}">
                <a16:creationId xmlns:a16="http://schemas.microsoft.com/office/drawing/2014/main" id="{CCC05AEF-4FC5-7CA8-848A-24CEB999B89A}"/>
              </a:ext>
            </a:extLst>
          </p:cNvPr>
          <p:cNvSpPr>
            <a:spLocks noGrp="1" noChangeArrowheads="1"/>
          </p:cNvSpPr>
          <p:nvPr>
            <p:ph type="sldNum" sz="quarter" idx="4"/>
          </p:nvPr>
        </p:nvSpPr>
        <p:spPr bwMode="auto">
          <a:xfrm>
            <a:off x="9213851" y="6400800"/>
            <a:ext cx="2470149" cy="304800"/>
          </a:xfrm>
          <a:prstGeom prst="rect">
            <a:avLst/>
          </a:prstGeom>
          <a:noFill/>
          <a:ln w="9525">
            <a:noFill/>
            <a:miter lim="800000"/>
            <a:headEnd/>
            <a:tailEnd/>
          </a:ln>
          <a:effectLst/>
        </p:spPr>
        <p:txBody>
          <a:bodyPr vert="horz" wrap="square" lIns="0" tIns="0" rIns="91440" bIns="45720" numCol="1" anchor="t" anchorCtr="0" compatLnSpc="1">
            <a:prstTxWarp prst="textNoShape">
              <a:avLst/>
            </a:prstTxWarp>
          </a:bodyPr>
          <a:lstStyle>
            <a:lvl1pPr algn="r">
              <a:lnSpc>
                <a:spcPct val="110000"/>
              </a:lnSpc>
              <a:defRPr sz="1000"/>
            </a:lvl1pPr>
          </a:lstStyle>
          <a:p>
            <a:fld id="{E0656729-D543-4138-8524-6AD43830E923}" type="slidenum">
              <a:rPr lang="de-DE" altLang="en-US"/>
              <a:pPr/>
              <a:t>‹#›</a:t>
            </a:fld>
            <a:endParaRPr lang="de-DE" altLang="en-US"/>
          </a:p>
        </p:txBody>
      </p:sp>
      <p:sp>
        <p:nvSpPr>
          <p:cNvPr id="118804" name="Text Box 20">
            <a:extLst>
              <a:ext uri="{FF2B5EF4-FFF2-40B4-BE49-F238E27FC236}">
                <a16:creationId xmlns:a16="http://schemas.microsoft.com/office/drawing/2014/main" id="{DFA5C3A8-C016-4867-F5D6-A2ACFA93DCCB}"/>
              </a:ext>
            </a:extLst>
          </p:cNvPr>
          <p:cNvSpPr txBox="1">
            <a:spLocks noChangeArrowheads="1"/>
          </p:cNvSpPr>
          <p:nvPr userDrawn="1"/>
        </p:nvSpPr>
        <p:spPr bwMode="auto">
          <a:xfrm rot="16200000">
            <a:off x="-2930790" y="3582666"/>
            <a:ext cx="6329363"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r>
              <a:rPr lang="en-US" sz="1200" b="1">
                <a:solidFill>
                  <a:schemeClr val="bg1"/>
                </a:solidFill>
                <a:latin typeface="Arial" charset="0"/>
                <a:cs typeface="Arial" charset="0"/>
              </a:rPr>
              <a:t>© ENGINEERING DIVISION, </a:t>
            </a:r>
            <a:r>
              <a:rPr lang="de-DE" sz="1200" b="1">
                <a:solidFill>
                  <a:schemeClr val="bg1"/>
                </a:solidFill>
                <a:latin typeface="Arial" charset="0"/>
              </a:rPr>
              <a:t>PENN STATE UNIVERSITY</a:t>
            </a:r>
          </a:p>
        </p:txBody>
      </p:sp>
    </p:spTree>
    <p:extLst>
      <p:ext uri="{BB962C8B-B14F-4D97-AF65-F5344CB8AC3E}">
        <p14:creationId xmlns:p14="http://schemas.microsoft.com/office/powerpoint/2010/main" val="33745619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strips dir="rd"/>
  </p:transition>
  <p:hf hdr="0" ftr="0" dt="0"/>
  <p:txStyles>
    <p:titleStyle>
      <a:lvl1pPr algn="ctr" rtl="0" eaLnBrk="0" fontAlgn="base" hangingPunct="0">
        <a:spcBef>
          <a:spcPct val="0"/>
        </a:spcBef>
        <a:spcAft>
          <a:spcPct val="0"/>
        </a:spcAft>
        <a:defRPr sz="2400" b="1">
          <a:solidFill>
            <a:srgbClr val="666666"/>
          </a:solidFill>
          <a:latin typeface="+mj-lt"/>
          <a:ea typeface="+mj-ea"/>
          <a:cs typeface="+mj-cs"/>
        </a:defRPr>
      </a:lvl1pPr>
      <a:lvl2pPr algn="ctr" rtl="0" eaLnBrk="0" fontAlgn="base" hangingPunct="0">
        <a:spcBef>
          <a:spcPct val="0"/>
        </a:spcBef>
        <a:spcAft>
          <a:spcPct val="0"/>
        </a:spcAft>
        <a:defRPr sz="2400" b="1">
          <a:solidFill>
            <a:srgbClr val="666666"/>
          </a:solidFill>
          <a:latin typeface="Arial Narrow" pitchFamily="34" charset="0"/>
        </a:defRPr>
      </a:lvl2pPr>
      <a:lvl3pPr algn="ctr" rtl="0" eaLnBrk="0" fontAlgn="base" hangingPunct="0">
        <a:spcBef>
          <a:spcPct val="0"/>
        </a:spcBef>
        <a:spcAft>
          <a:spcPct val="0"/>
        </a:spcAft>
        <a:defRPr sz="2400" b="1">
          <a:solidFill>
            <a:srgbClr val="666666"/>
          </a:solidFill>
          <a:latin typeface="Arial Narrow" pitchFamily="34" charset="0"/>
        </a:defRPr>
      </a:lvl3pPr>
      <a:lvl4pPr algn="ctr" rtl="0" eaLnBrk="0" fontAlgn="base" hangingPunct="0">
        <a:spcBef>
          <a:spcPct val="0"/>
        </a:spcBef>
        <a:spcAft>
          <a:spcPct val="0"/>
        </a:spcAft>
        <a:defRPr sz="2400" b="1">
          <a:solidFill>
            <a:srgbClr val="666666"/>
          </a:solidFill>
          <a:latin typeface="Arial Narrow" pitchFamily="34" charset="0"/>
        </a:defRPr>
      </a:lvl4pPr>
      <a:lvl5pPr algn="ctr" rtl="0" eaLnBrk="0" fontAlgn="base" hangingPunct="0">
        <a:spcBef>
          <a:spcPct val="0"/>
        </a:spcBef>
        <a:spcAft>
          <a:spcPct val="0"/>
        </a:spcAft>
        <a:defRPr sz="2400" b="1">
          <a:solidFill>
            <a:srgbClr val="666666"/>
          </a:solidFill>
          <a:latin typeface="Arial Narrow" pitchFamily="34" charset="0"/>
        </a:defRPr>
      </a:lvl5pPr>
      <a:lvl6pPr marL="457200" algn="ctr" rtl="0" eaLnBrk="0" fontAlgn="base" hangingPunct="0">
        <a:spcBef>
          <a:spcPct val="0"/>
        </a:spcBef>
        <a:spcAft>
          <a:spcPct val="0"/>
        </a:spcAft>
        <a:defRPr sz="2400" b="1">
          <a:solidFill>
            <a:srgbClr val="666666"/>
          </a:solidFill>
          <a:latin typeface="Arial Narrow" pitchFamily="34" charset="0"/>
        </a:defRPr>
      </a:lvl6pPr>
      <a:lvl7pPr marL="914400" algn="ctr" rtl="0" eaLnBrk="0" fontAlgn="base" hangingPunct="0">
        <a:spcBef>
          <a:spcPct val="0"/>
        </a:spcBef>
        <a:spcAft>
          <a:spcPct val="0"/>
        </a:spcAft>
        <a:defRPr sz="2400" b="1">
          <a:solidFill>
            <a:srgbClr val="666666"/>
          </a:solidFill>
          <a:latin typeface="Arial Narrow" pitchFamily="34" charset="0"/>
        </a:defRPr>
      </a:lvl7pPr>
      <a:lvl8pPr marL="1371600" algn="ctr" rtl="0" eaLnBrk="0" fontAlgn="base" hangingPunct="0">
        <a:spcBef>
          <a:spcPct val="0"/>
        </a:spcBef>
        <a:spcAft>
          <a:spcPct val="0"/>
        </a:spcAft>
        <a:defRPr sz="2400" b="1">
          <a:solidFill>
            <a:srgbClr val="666666"/>
          </a:solidFill>
          <a:latin typeface="Arial Narrow" pitchFamily="34" charset="0"/>
        </a:defRPr>
      </a:lvl8pPr>
      <a:lvl9pPr marL="1828800" algn="ctr" rtl="0" eaLnBrk="0" fontAlgn="base" hangingPunct="0">
        <a:spcBef>
          <a:spcPct val="0"/>
        </a:spcBef>
        <a:spcAft>
          <a:spcPct val="0"/>
        </a:spcAft>
        <a:defRPr sz="2400" b="1">
          <a:solidFill>
            <a:srgbClr val="666666"/>
          </a:solidFill>
          <a:latin typeface="Arial Narrow" pitchFamily="34" charset="0"/>
        </a:defRPr>
      </a:lvl9pPr>
    </p:titleStyle>
    <p:bodyStyle>
      <a:lvl1pPr marL="190500" indent="-190500" algn="l" rtl="0" eaLnBrk="0" fontAlgn="base" hangingPunct="0">
        <a:spcBef>
          <a:spcPct val="15000"/>
        </a:spcBef>
        <a:spcAft>
          <a:spcPct val="0"/>
        </a:spcAft>
        <a:buSzPct val="70000"/>
        <a:buFont typeface="Wingdings" panose="05000000000000000000" pitchFamily="2" charset="2"/>
        <a:buChar char="q"/>
        <a:defRPr>
          <a:solidFill>
            <a:schemeClr val="tx1"/>
          </a:solidFill>
          <a:latin typeface="+mn-lt"/>
          <a:ea typeface="+mn-ea"/>
          <a:cs typeface="+mn-cs"/>
        </a:defRPr>
      </a:lvl1pPr>
      <a:lvl2pPr marL="571500" indent="-190500" algn="l" rtl="0" eaLnBrk="0" fontAlgn="base" hangingPunct="0">
        <a:spcBef>
          <a:spcPct val="0"/>
        </a:spcBef>
        <a:spcAft>
          <a:spcPts val="400"/>
        </a:spcAft>
        <a:buSzPct val="70000"/>
        <a:buFont typeface="Marlett" pitchFamily="2" charset="2"/>
        <a:buChar char="i"/>
        <a:defRPr sz="1600">
          <a:solidFill>
            <a:schemeClr val="tx1"/>
          </a:solidFill>
          <a:latin typeface="+mn-lt"/>
        </a:defRPr>
      </a:lvl2pPr>
      <a:lvl3pPr marL="952500" indent="-190500" algn="l" rtl="0" eaLnBrk="0" fontAlgn="base" hangingPunct="0">
        <a:lnSpc>
          <a:spcPct val="110000"/>
        </a:lnSpc>
        <a:spcBef>
          <a:spcPct val="0"/>
        </a:spcBef>
        <a:spcAft>
          <a:spcPts val="400"/>
        </a:spcAft>
        <a:buSzPct val="70000"/>
        <a:buFont typeface="Marlett" pitchFamily="2" charset="2"/>
        <a:buChar char="i"/>
        <a:defRPr sz="1400">
          <a:solidFill>
            <a:schemeClr val="tx1"/>
          </a:solidFill>
          <a:latin typeface="+mn-lt"/>
        </a:defRPr>
      </a:lvl3pPr>
      <a:lvl4pPr marL="1333500" indent="-190500" algn="l" rtl="0" eaLnBrk="0" fontAlgn="base" hangingPunct="0">
        <a:lnSpc>
          <a:spcPct val="150000"/>
        </a:lnSpc>
        <a:spcBef>
          <a:spcPct val="0"/>
        </a:spcBef>
        <a:spcAft>
          <a:spcPts val="400"/>
        </a:spcAft>
        <a:buSzPct val="70000"/>
        <a:buFont typeface="Marlett" pitchFamily="2" charset="2"/>
        <a:buChar char="i"/>
        <a:defRPr sz="1200">
          <a:solidFill>
            <a:schemeClr val="tx1"/>
          </a:solidFill>
          <a:latin typeface="+mn-lt"/>
        </a:defRPr>
      </a:lvl4pPr>
      <a:lvl5pPr marL="17145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5pPr>
      <a:lvl6pPr marL="21717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6pPr>
      <a:lvl7pPr marL="26289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7pPr>
      <a:lvl8pPr marL="30861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8pPr>
      <a:lvl9pPr marL="35433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8B3F41A-BBB1-4D5B-B4E1-5EA02F485917}" type="datetime1">
              <a:rPr lang="en-US" smtClean="0"/>
              <a:t>10/1/25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632827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ml.wikipedia.org/wiki/%E0%B4%A4%E0%B4%A8%E0%B4%A8_%E0%B4%AC%E0%B4%B2%E0%B4%82"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a:latin typeface="Calibri" panose="020F0502020204030204" pitchFamily="34" charset="0"/>
                <a:cs typeface="Calibri" panose="020F0502020204030204" pitchFamily="34" charset="0"/>
              </a:rPr>
            </a:br>
            <a:r>
              <a:rPr lang="en-US" sz="6100">
                <a:latin typeface="Calibri" panose="020F0502020204030204" pitchFamily="34" charset="0"/>
                <a:cs typeface="Calibri" panose="020F0502020204030204" pitchFamily="34" charset="0"/>
              </a:rPr>
              <a:t>CS411, FALL 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Lectures 9: Design Principles III by </a:t>
            </a:r>
            <a:r>
              <a:rPr lang="en-US" dirty="0">
                <a:solidFill>
                  <a:srgbClr val="000000"/>
                </a:solidFill>
              </a:rPr>
              <a:t>Dr.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8D3A1EA5-3A5A-E904-971A-35508953B16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28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28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a:xfrm>
            <a:off x="1069848" y="484632"/>
            <a:ext cx="10058400" cy="1609344"/>
          </a:xfrm>
        </p:spPr>
        <p:txBody>
          <a:bodyPr>
            <a:normAutofit/>
          </a:bodyPr>
          <a:lstStyle/>
          <a:p>
            <a:r>
              <a:rPr lang="en-US" dirty="0"/>
              <a:t>Lesson plan</a:t>
            </a: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a:xfrm>
            <a:off x="536647" y="2291220"/>
            <a:ext cx="11202271" cy="4366469"/>
          </a:xfrm>
        </p:spPr>
        <p:txBody>
          <a:bodyPr>
            <a:normAutofit fontScale="62500" lnSpcReduction="20000"/>
          </a:bodyPr>
          <a:lstStyle/>
          <a:p>
            <a:pPr marL="0" indent="0" algn="just">
              <a:buNone/>
            </a:pPr>
            <a:endParaRPr lang="en-US" sz="3400" dirty="0">
              <a:latin typeface="Times New Roman" panose="02020603050405020304" pitchFamily="18" charset="0"/>
              <a:cs typeface="Times New Roman" panose="02020603050405020304" pitchFamily="18" charset="0"/>
            </a:endParaRPr>
          </a:p>
          <a:p>
            <a:pPr marL="342900" indent="-342900"/>
            <a:r>
              <a:rPr lang="en-US" altLang="en-US" sz="3600" dirty="0"/>
              <a:t>GRASP Patterns:</a:t>
            </a:r>
          </a:p>
          <a:p>
            <a:pPr marL="608012" lvl="1" indent="-342900"/>
            <a:r>
              <a:rPr lang="en-US" altLang="en-US" dirty="0"/>
              <a:t>Expert</a:t>
            </a:r>
          </a:p>
          <a:p>
            <a:pPr marL="608012" lvl="1" indent="-342900"/>
            <a:r>
              <a:rPr lang="en-US" altLang="en-US" dirty="0"/>
              <a:t>Creator</a:t>
            </a:r>
          </a:p>
          <a:p>
            <a:pPr marL="608012" lvl="1" indent="-342900"/>
            <a:r>
              <a:rPr lang="en-US" altLang="en-US" dirty="0"/>
              <a:t>Controller</a:t>
            </a:r>
          </a:p>
          <a:p>
            <a:pPr marL="608012" lvl="1" indent="-342900"/>
            <a:r>
              <a:rPr lang="en-US" altLang="en-US" dirty="0"/>
              <a:t>Low Coupling/High Cohesion</a:t>
            </a:r>
          </a:p>
          <a:p>
            <a:pPr marL="608012" lvl="1" indent="-342900"/>
            <a:r>
              <a:rPr lang="en-US" altLang="en-US" dirty="0"/>
              <a:t>Polymorphism</a:t>
            </a:r>
          </a:p>
          <a:p>
            <a:pPr marL="608012" lvl="1" indent="-342900"/>
            <a:r>
              <a:rPr lang="en-US" altLang="en-US" dirty="0"/>
              <a:t>Pure Fabrication</a:t>
            </a:r>
          </a:p>
          <a:p>
            <a:pPr marL="608012" lvl="1" indent="-342900"/>
            <a:r>
              <a:rPr lang="en-US" altLang="en-US" dirty="0"/>
              <a:t>Indirection</a:t>
            </a:r>
          </a:p>
          <a:p>
            <a:pPr marL="608012" lvl="1" indent="-342900"/>
            <a:r>
              <a:rPr lang="en-US" altLang="en-US" dirty="0"/>
              <a:t>Don’t Talk to Strangers (Law of Demeter)</a:t>
            </a:r>
          </a:p>
          <a:p>
            <a:pPr lvl="2"/>
            <a:endParaRPr lang="en-US" dirty="0"/>
          </a:p>
          <a:p>
            <a:r>
              <a:rPr lang="en-US" dirty="0"/>
              <a:t>UI/UX Design</a:t>
            </a:r>
          </a:p>
          <a:p>
            <a:r>
              <a:rPr lang="en-US" dirty="0"/>
              <a:t>Interaction Diagrams</a:t>
            </a:r>
          </a:p>
          <a:p>
            <a:endParaRPr lang="en-US" dirty="0"/>
          </a:p>
          <a:p>
            <a:pPr lvl="1"/>
            <a:endParaRPr lang="en-US" dirty="0"/>
          </a:p>
          <a:p>
            <a:endParaRPr lang="en-US" dirty="0"/>
          </a:p>
          <a:p>
            <a:endParaRPr lang="en-US" dirty="0"/>
          </a:p>
          <a:p>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a:xfrm>
            <a:off x="11311128" y="6272784"/>
            <a:ext cx="64008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ight Brace 5">
            <a:extLst>
              <a:ext uri="{FF2B5EF4-FFF2-40B4-BE49-F238E27FC236}">
                <a16:creationId xmlns:a16="http://schemas.microsoft.com/office/drawing/2014/main" id="{3E4F3252-7D2C-3003-86C3-E3ED47410D51}"/>
              </a:ext>
            </a:extLst>
          </p:cNvPr>
          <p:cNvSpPr/>
          <p:nvPr/>
        </p:nvSpPr>
        <p:spPr>
          <a:xfrm>
            <a:off x="5528966" y="4219778"/>
            <a:ext cx="457199" cy="117080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7D350DB9-71AF-BE1B-D545-849303FE64B5}"/>
              </a:ext>
            </a:extLst>
          </p:cNvPr>
          <p:cNvCxnSpPr/>
          <p:nvPr/>
        </p:nvCxnSpPr>
        <p:spPr>
          <a:xfrm>
            <a:off x="6096000" y="4794302"/>
            <a:ext cx="2673178"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C17E876-CBAE-BE0E-4D6D-EB2C1B5F0E89}"/>
              </a:ext>
            </a:extLst>
          </p:cNvPr>
          <p:cNvSpPr txBox="1"/>
          <p:nvPr/>
        </p:nvSpPr>
        <p:spPr>
          <a:xfrm>
            <a:off x="6096000" y="4062030"/>
            <a:ext cx="3093385" cy="646331"/>
          </a:xfrm>
          <a:prstGeom prst="rect">
            <a:avLst/>
          </a:prstGeom>
          <a:noFill/>
        </p:spPr>
        <p:txBody>
          <a:bodyPr wrap="square" rtlCol="0">
            <a:spAutoFit/>
          </a:bodyPr>
          <a:lstStyle/>
          <a:p>
            <a:r>
              <a:rPr lang="en-US" b="1" dirty="0">
                <a:solidFill>
                  <a:srgbClr val="FFC000"/>
                </a:solidFill>
              </a:rPr>
              <a:t>we will focus on the remaining patterns in this lecture</a:t>
            </a:r>
          </a:p>
        </p:txBody>
      </p:sp>
    </p:spTree>
    <p:extLst>
      <p:ext uri="{BB962C8B-B14F-4D97-AF65-F5344CB8AC3E}">
        <p14:creationId xmlns:p14="http://schemas.microsoft.com/office/powerpoint/2010/main" val="332822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9F5C9A5-CAD7-D1A1-3F15-4FBB4CA415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8979" b="2477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54C655-070D-BD75-7EF4-004A47EA99FB}"/>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PURE FABRICAION</a:t>
            </a:r>
          </a:p>
        </p:txBody>
      </p:sp>
      <p:cxnSp>
        <p:nvCxnSpPr>
          <p:cNvPr id="1033" name="Straight Connector 103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035" name="Straight Connector 103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6352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8601" name="Rectangle 87860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603" name="Rectangle 87860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605" name="Rectangle 87860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607" name="Rectangle 87860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035" name="Rectangle 2">
            <a:extLst>
              <a:ext uri="{FF2B5EF4-FFF2-40B4-BE49-F238E27FC236}">
                <a16:creationId xmlns:a16="http://schemas.microsoft.com/office/drawing/2014/main" id="{C67C8F8C-2BBE-94F2-8880-6E084BABB74A}"/>
              </a:ext>
            </a:extLst>
          </p:cNvPr>
          <p:cNvSpPr>
            <a:spLocks noGrp="1" noChangeArrowheads="1"/>
          </p:cNvSpPr>
          <p:nvPr>
            <p:ph type="title"/>
          </p:nvPr>
        </p:nvSpPr>
        <p:spPr>
          <a:xfrm>
            <a:off x="1371597" y="348865"/>
            <a:ext cx="10044023" cy="877729"/>
          </a:xfrm>
        </p:spPr>
        <p:txBody>
          <a:bodyPr anchor="ctr">
            <a:normAutofit/>
          </a:bodyPr>
          <a:lstStyle/>
          <a:p>
            <a:r>
              <a:rPr lang="en-US" altLang="en-US" sz="4000">
                <a:solidFill>
                  <a:srgbClr val="FFFFFF"/>
                </a:solidFill>
              </a:rPr>
              <a:t>Pure Fabrication…</a:t>
            </a:r>
          </a:p>
        </p:txBody>
      </p:sp>
      <p:sp>
        <p:nvSpPr>
          <p:cNvPr id="44034" name="Slide Number Placeholder 3">
            <a:extLst>
              <a:ext uri="{FF2B5EF4-FFF2-40B4-BE49-F238E27FC236}">
                <a16:creationId xmlns:a16="http://schemas.microsoft.com/office/drawing/2014/main" id="{048C7569-4CAE-9244-B64E-F123A632752C}"/>
              </a:ext>
            </a:extLst>
          </p:cNvPr>
          <p:cNvSpPr>
            <a:spLocks noGrp="1"/>
          </p:cNvSpPr>
          <p:nvPr>
            <p:ph type="sldNum" sz="quarter" idx="10"/>
          </p:nvPr>
        </p:nvSpPr>
        <p:spPr>
          <a:xfrm>
            <a:off x="10910556" y="6389189"/>
            <a:ext cx="2349276" cy="3126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defTabSz="777240">
              <a:spcAft>
                <a:spcPts val="600"/>
              </a:spcAft>
            </a:pPr>
            <a:fld id="{CEC4C1E7-3C55-4442-9448-F1A862D34C80}" type="slidenum">
              <a:rPr lang="de-DE" altLang="en-US" sz="850" kern="1200">
                <a:solidFill>
                  <a:srgbClr val="002B5D"/>
                </a:solidFill>
                <a:latin typeface="Arial Narrow" panose="020B0606020202030204" pitchFamily="34" charset="0"/>
                <a:ea typeface="+mn-ea"/>
                <a:cs typeface="+mn-cs"/>
              </a:rPr>
              <a:pPr defTabSz="777240">
                <a:spcAft>
                  <a:spcPts val="600"/>
                </a:spcAft>
              </a:pPr>
              <a:t>4</a:t>
            </a:fld>
            <a:endParaRPr lang="de-DE" altLang="en-US" sz="1000" dirty="0"/>
          </a:p>
        </p:txBody>
      </p:sp>
      <p:sp>
        <p:nvSpPr>
          <p:cNvPr id="44036" name="Rectangle 3">
            <a:extLst>
              <a:ext uri="{FF2B5EF4-FFF2-40B4-BE49-F238E27FC236}">
                <a16:creationId xmlns:a16="http://schemas.microsoft.com/office/drawing/2014/main" id="{6AD24254-E29B-6D10-9BD4-F8FD01802370}"/>
              </a:ext>
            </a:extLst>
          </p:cNvPr>
          <p:cNvSpPr>
            <a:spLocks noGrp="1" noChangeArrowheads="1"/>
          </p:cNvSpPr>
          <p:nvPr>
            <p:ph type="body" idx="1"/>
          </p:nvPr>
        </p:nvSpPr>
        <p:spPr>
          <a:xfrm>
            <a:off x="400050" y="2112579"/>
            <a:ext cx="11544299" cy="3726485"/>
          </a:xfrm>
        </p:spPr>
        <p:txBody>
          <a:bodyPr/>
          <a:lstStyle/>
          <a:p>
            <a:pPr marL="291465" indent="-291465" defTabSz="777240">
              <a:spcBef>
                <a:spcPts val="850"/>
              </a:spcBef>
            </a:pPr>
            <a:r>
              <a:rPr lang="en-US" altLang="en-US" sz="3060" kern="1200" dirty="0">
                <a:solidFill>
                  <a:schemeClr val="tx1"/>
                </a:solidFill>
                <a:latin typeface="+mn-lt"/>
                <a:ea typeface="+mn-ea"/>
                <a:cs typeface="+mn-cs"/>
              </a:rPr>
              <a:t>Intent:</a:t>
            </a:r>
          </a:p>
          <a:p>
            <a:pPr marL="291465" indent="-291465" defTabSz="777240">
              <a:spcBef>
                <a:spcPts val="850"/>
              </a:spcBef>
            </a:pPr>
            <a:endParaRPr lang="en-US" altLang="en-US" sz="3060" kern="1200" dirty="0">
              <a:solidFill>
                <a:schemeClr val="tx1"/>
              </a:solidFill>
              <a:latin typeface="+mn-lt"/>
              <a:ea typeface="+mn-ea"/>
              <a:cs typeface="+mn-cs"/>
            </a:endParaRPr>
          </a:p>
          <a:p>
            <a:pPr marL="631508" lvl="1" indent="-242888" defTabSz="777240">
              <a:spcBef>
                <a:spcPts val="425"/>
              </a:spcBef>
            </a:pPr>
            <a:r>
              <a:rPr lang="en-US" altLang="en-US" sz="2720" kern="1200" dirty="0">
                <a:solidFill>
                  <a:schemeClr val="tx1"/>
                </a:solidFill>
                <a:latin typeface="+mn-lt"/>
                <a:ea typeface="+mn-ea"/>
                <a:cs typeface="+mn-cs"/>
              </a:rPr>
              <a:t>Assign a highly cohesive set of responsibilities to an artificial class that does not represent anything in the problem domain – something made up, in order to support high cohesion, low coupling, and reuse.</a:t>
            </a:r>
          </a:p>
          <a:p>
            <a:pPr marL="388620" lvl="1" indent="0" defTabSz="777240">
              <a:spcBef>
                <a:spcPts val="425"/>
              </a:spcBef>
              <a:buNone/>
            </a:pPr>
            <a:endParaRPr lang="en-US" altLang="en-US" sz="2720" kern="1200" dirty="0">
              <a:solidFill>
                <a:schemeClr val="tx1"/>
              </a:solidFill>
              <a:latin typeface="+mn-lt"/>
              <a:ea typeface="+mn-ea"/>
              <a:cs typeface="+mn-cs"/>
            </a:endParaRPr>
          </a:p>
          <a:p>
            <a:pPr marL="631508" lvl="1" indent="-242888" defTabSz="777240">
              <a:spcBef>
                <a:spcPts val="425"/>
              </a:spcBef>
            </a:pPr>
            <a:r>
              <a:rPr lang="en-US" altLang="en-US" sz="2720" kern="1200" dirty="0">
                <a:solidFill>
                  <a:schemeClr val="tx1"/>
                </a:solidFill>
                <a:latin typeface="+mn-lt"/>
                <a:ea typeface="+mn-ea"/>
                <a:cs typeface="+mn-cs"/>
              </a:rPr>
              <a:t>Only do when desperate.</a:t>
            </a:r>
            <a:endParaRPr lang="en-US" altLang="en-US" sz="3200" dirty="0"/>
          </a:p>
        </p:txBody>
      </p:sp>
      <p:sp>
        <p:nvSpPr>
          <p:cNvPr id="878596" name="Rectangle 4">
            <a:extLst>
              <a:ext uri="{FF2B5EF4-FFF2-40B4-BE49-F238E27FC236}">
                <a16:creationId xmlns:a16="http://schemas.microsoft.com/office/drawing/2014/main" id="{B52D95B7-A011-8FA2-DDD9-DE08C5A3E53A}"/>
              </a:ext>
            </a:extLst>
          </p:cNvPr>
          <p:cNvSpPr>
            <a:spLocks noChangeArrowheads="1"/>
          </p:cNvSpPr>
          <p:nvPr/>
        </p:nvSpPr>
        <p:spPr bwMode="auto">
          <a:xfrm>
            <a:off x="5259620" y="5378181"/>
            <a:ext cx="4215898" cy="42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defRPr sz="2000">
                <a:solidFill>
                  <a:srgbClr val="002B5D"/>
                </a:solidFill>
                <a:latin typeface="Arial Narrow" panose="020B0606020202030204" pitchFamily="34" charset="0"/>
              </a:defRPr>
            </a:lvl1pPr>
            <a:lvl2pPr>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388620" lvl="1" defTabSz="777240">
              <a:lnSpc>
                <a:spcPct val="90000"/>
              </a:lnSpc>
              <a:spcBef>
                <a:spcPct val="20000"/>
              </a:spcBef>
              <a:buClr>
                <a:schemeClr val="tx1"/>
              </a:buClr>
              <a:buSzPct val="60000"/>
            </a:pPr>
            <a:r>
              <a:rPr lang="en-US" altLang="en-US" sz="2380" kern="1200" dirty="0">
                <a:solidFill>
                  <a:srgbClr val="FF0000"/>
                </a:solidFill>
                <a:latin typeface="Comic Sans MS" panose="030F0702030302020204" pitchFamily="66" charset="0"/>
                <a:ea typeface="+mn-ea"/>
                <a:cs typeface="+mn-cs"/>
              </a:rPr>
              <a:t>(we are often desperate!)</a:t>
            </a:r>
            <a:endParaRPr lang="en-US" altLang="en-US" sz="2800" dirty="0">
              <a:solidFill>
                <a:srgbClr val="FF0000"/>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78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59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72" name="Rectangle 4506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073" name="Rectangle 4506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5074" name="Rectangle 4506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059" name="Rectangle 2">
            <a:extLst>
              <a:ext uri="{FF2B5EF4-FFF2-40B4-BE49-F238E27FC236}">
                <a16:creationId xmlns:a16="http://schemas.microsoft.com/office/drawing/2014/main" id="{29348D48-4D0A-18FA-6D58-3768BA600260}"/>
              </a:ext>
            </a:extLst>
          </p:cNvPr>
          <p:cNvSpPr>
            <a:spLocks noGrp="1" noChangeArrowheads="1"/>
          </p:cNvSpPr>
          <p:nvPr>
            <p:ph type="title"/>
          </p:nvPr>
        </p:nvSpPr>
        <p:spPr>
          <a:xfrm>
            <a:off x="1115568" y="548640"/>
            <a:ext cx="10168128" cy="1179576"/>
          </a:xfrm>
        </p:spPr>
        <p:txBody>
          <a:bodyPr>
            <a:normAutofit/>
          </a:bodyPr>
          <a:lstStyle/>
          <a:p>
            <a:r>
              <a:rPr lang="en-US" altLang="en-US" sz="4000"/>
              <a:t>…Pure Fabrication</a:t>
            </a:r>
          </a:p>
        </p:txBody>
      </p:sp>
      <p:sp>
        <p:nvSpPr>
          <p:cNvPr id="45071" name="Rectangle 4507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060" name="Rectangle 3">
            <a:extLst>
              <a:ext uri="{FF2B5EF4-FFF2-40B4-BE49-F238E27FC236}">
                <a16:creationId xmlns:a16="http://schemas.microsoft.com/office/drawing/2014/main" id="{162B7D03-86B6-B0AC-54E3-B5B54F0A5E62}"/>
              </a:ext>
            </a:extLst>
          </p:cNvPr>
          <p:cNvSpPr>
            <a:spLocks noGrp="1" noChangeArrowheads="1"/>
          </p:cNvSpPr>
          <p:nvPr>
            <p:ph type="body" idx="1"/>
          </p:nvPr>
        </p:nvSpPr>
        <p:spPr>
          <a:xfrm>
            <a:off x="0" y="2481943"/>
            <a:ext cx="12008224" cy="3695020"/>
          </a:xfrm>
        </p:spPr>
        <p:txBody>
          <a:bodyPr>
            <a:noAutofit/>
          </a:bodyPr>
          <a:lstStyle/>
          <a:p>
            <a:pPr marL="342900" indent="-342900"/>
            <a:r>
              <a:rPr lang="en-US" altLang="en-US" sz="4000" dirty="0"/>
              <a:t>Problem:</a:t>
            </a:r>
          </a:p>
          <a:p>
            <a:pPr marL="742950" lvl="1" indent="-285750" algn="just"/>
            <a:r>
              <a:rPr lang="en-US" altLang="en-US" sz="4000" dirty="0"/>
              <a:t>OO is characterized by implementing as software classes representations of real-world concepts.</a:t>
            </a:r>
          </a:p>
          <a:p>
            <a:pPr marL="742950" lvl="1" indent="-285750" algn="just"/>
            <a:endParaRPr lang="en-US" altLang="en-US" sz="4000" dirty="0"/>
          </a:p>
          <a:p>
            <a:pPr marL="742950" lvl="1" indent="-285750"/>
            <a:r>
              <a:rPr lang="en-US" altLang="en-US" sz="4000" dirty="0"/>
              <a:t>What if assigning responsibilities to domain classes results in poor cohesion or tight coupling?</a:t>
            </a:r>
          </a:p>
        </p:txBody>
      </p:sp>
      <p:sp>
        <p:nvSpPr>
          <p:cNvPr id="45058" name="Slide Number Placeholder 3">
            <a:extLst>
              <a:ext uri="{FF2B5EF4-FFF2-40B4-BE49-F238E27FC236}">
                <a16:creationId xmlns:a16="http://schemas.microsoft.com/office/drawing/2014/main" id="{57121039-7B98-C69B-8F64-B1C15E199ACF}"/>
              </a:ext>
            </a:extLst>
          </p:cNvPr>
          <p:cNvSpPr>
            <a:spLocks noGrp="1"/>
          </p:cNvSpPr>
          <p:nvPr>
            <p:ph type="sldNum" sz="quarter" idx="10"/>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BC84BBF4-0E7A-410C-BD5E-5DB17C246E44}" type="slidenum">
              <a:rPr lang="de-DE" altLang="en-US" sz="1900">
                <a:solidFill>
                  <a:schemeClr val="tx1">
                    <a:lumMod val="50000"/>
                    <a:lumOff val="50000"/>
                  </a:schemeClr>
                </a:solidFill>
              </a:rPr>
              <a:pPr>
                <a:lnSpc>
                  <a:spcPct val="90000"/>
                </a:lnSpc>
                <a:spcAft>
                  <a:spcPts val="600"/>
                </a:spcAft>
              </a:pPr>
              <a:t>5</a:t>
            </a:fld>
            <a:endParaRPr lang="de-DE" altLang="en-US" sz="190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3">
            <a:extLst>
              <a:ext uri="{FF2B5EF4-FFF2-40B4-BE49-F238E27FC236}">
                <a16:creationId xmlns:a16="http://schemas.microsoft.com/office/drawing/2014/main" id="{FE5CD101-7798-7CD7-68B7-3FA01BBD5A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E41F012-7E5F-4B69-8D3B-0ECD6AC8B8AF}" type="slidenum">
              <a:rPr lang="de-DE" altLang="en-US" sz="1000"/>
              <a:pPr/>
              <a:t>6</a:t>
            </a:fld>
            <a:endParaRPr lang="de-DE" altLang="en-US" sz="1000"/>
          </a:p>
        </p:txBody>
      </p:sp>
      <p:sp>
        <p:nvSpPr>
          <p:cNvPr id="1028" name="Rectangle 2">
            <a:extLst>
              <a:ext uri="{FF2B5EF4-FFF2-40B4-BE49-F238E27FC236}">
                <a16:creationId xmlns:a16="http://schemas.microsoft.com/office/drawing/2014/main" id="{BEFB7EFD-ACD0-84FF-08F3-4D2388034761}"/>
              </a:ext>
            </a:extLst>
          </p:cNvPr>
          <p:cNvSpPr>
            <a:spLocks noGrp="1" noChangeArrowheads="1"/>
          </p:cNvSpPr>
          <p:nvPr>
            <p:ph type="title"/>
          </p:nvPr>
        </p:nvSpPr>
        <p:spPr/>
        <p:txBody>
          <a:bodyPr/>
          <a:lstStyle/>
          <a:p>
            <a:r>
              <a:rPr lang="en-US" altLang="en-US" dirty="0"/>
              <a:t>Pure Fabrication – Example…</a:t>
            </a:r>
          </a:p>
        </p:txBody>
      </p:sp>
      <p:sp>
        <p:nvSpPr>
          <p:cNvPr id="1029" name="Rectangle 3">
            <a:extLst>
              <a:ext uri="{FF2B5EF4-FFF2-40B4-BE49-F238E27FC236}">
                <a16:creationId xmlns:a16="http://schemas.microsoft.com/office/drawing/2014/main" id="{3B8D5A76-CDC5-13ED-086E-0B72461EFD49}"/>
              </a:ext>
            </a:extLst>
          </p:cNvPr>
          <p:cNvSpPr>
            <a:spLocks noGrp="1" noChangeArrowheads="1"/>
          </p:cNvSpPr>
          <p:nvPr>
            <p:ph type="body" idx="1"/>
          </p:nvPr>
        </p:nvSpPr>
        <p:spPr>
          <a:xfrm>
            <a:off x="671513" y="1690688"/>
            <a:ext cx="10682287" cy="3795712"/>
          </a:xfrm>
        </p:spPr>
        <p:txBody>
          <a:bodyPr>
            <a:normAutofit/>
          </a:bodyPr>
          <a:lstStyle/>
          <a:p>
            <a:pPr marL="342900" indent="-342900">
              <a:lnSpc>
                <a:spcPct val="80000"/>
              </a:lnSpc>
            </a:pPr>
            <a:r>
              <a:rPr lang="en-US" altLang="en-US" sz="2400" i="1" dirty="0"/>
              <a:t>Sale</a:t>
            </a:r>
            <a:r>
              <a:rPr lang="en-US" altLang="en-US" sz="2400" dirty="0"/>
              <a:t> instances are to be stored in a database. By </a:t>
            </a:r>
            <a:r>
              <a:rPr lang="en-US" altLang="en-US" sz="2400" dirty="0">
                <a:solidFill>
                  <a:srgbClr val="FF0000"/>
                </a:solidFill>
              </a:rPr>
              <a:t>Expert</a:t>
            </a:r>
            <a:r>
              <a:rPr lang="en-US" altLang="en-US" sz="2400" dirty="0"/>
              <a:t>, </a:t>
            </a:r>
            <a:r>
              <a:rPr lang="en-US" altLang="en-US" sz="2400" i="1" dirty="0"/>
              <a:t>Sale</a:t>
            </a:r>
            <a:r>
              <a:rPr lang="en-US" altLang="en-US" sz="2400" dirty="0"/>
              <a:t> should have responsibility.</a:t>
            </a:r>
          </a:p>
          <a:p>
            <a:pPr marL="342900" indent="-342900">
              <a:lnSpc>
                <a:spcPct val="80000"/>
              </a:lnSpc>
            </a:pPr>
            <a:r>
              <a:rPr lang="en-US" altLang="en-US" sz="2400" dirty="0"/>
              <a:t>But:</a:t>
            </a:r>
          </a:p>
          <a:p>
            <a:pPr marL="742950" lvl="1" indent="-285750">
              <a:lnSpc>
                <a:spcPct val="80000"/>
              </a:lnSpc>
            </a:pPr>
            <a:r>
              <a:rPr lang="en-US" altLang="en-US" sz="2000" dirty="0"/>
              <a:t>Task requires large number of supporting database ops; none related to the concept of a </a:t>
            </a:r>
            <a:r>
              <a:rPr lang="en-US" altLang="en-US" sz="2000" i="1" dirty="0"/>
              <a:t>Sale</a:t>
            </a:r>
            <a:r>
              <a:rPr lang="en-US" altLang="en-US" sz="2000" dirty="0"/>
              <a:t> (incohesive)</a:t>
            </a:r>
          </a:p>
          <a:p>
            <a:pPr marL="742950" lvl="1" indent="-285750">
              <a:lnSpc>
                <a:spcPct val="80000"/>
              </a:lnSpc>
            </a:pPr>
            <a:r>
              <a:rPr lang="en-US" altLang="en-US" sz="2000" i="1" dirty="0"/>
              <a:t>Sale</a:t>
            </a:r>
            <a:r>
              <a:rPr lang="en-US" altLang="en-US" sz="2000" dirty="0"/>
              <a:t> class has to be coupled to database interface, so coupling increases - and not even to another domain object!</a:t>
            </a:r>
          </a:p>
          <a:p>
            <a:pPr marL="742950" lvl="1" indent="-285750">
              <a:lnSpc>
                <a:spcPct val="80000"/>
              </a:lnSpc>
            </a:pPr>
            <a:r>
              <a:rPr lang="en-US" altLang="en-US" sz="2000" dirty="0"/>
              <a:t>Saving objects in database is general task for which many classes need support. Placing responsibility in </a:t>
            </a:r>
            <a:r>
              <a:rPr lang="en-US" altLang="en-US" sz="2000" i="1" dirty="0"/>
              <a:t>Sale</a:t>
            </a:r>
            <a:r>
              <a:rPr lang="en-US" altLang="en-US" sz="2000" dirty="0"/>
              <a:t> implies poor reuse or lots of duplication in other classes.</a:t>
            </a:r>
          </a:p>
          <a:p>
            <a:pPr marL="342900" indent="-342900">
              <a:lnSpc>
                <a:spcPct val="80000"/>
              </a:lnSpc>
            </a:pPr>
            <a:r>
              <a:rPr lang="en-US" altLang="en-US" sz="2400" dirty="0"/>
              <a:t>Solution: create a class solely responsible for saving objects in some persistent storage</a:t>
            </a:r>
          </a:p>
        </p:txBody>
      </p:sp>
      <p:graphicFrame>
        <p:nvGraphicFramePr>
          <p:cNvPr id="1026" name="Object 4">
            <a:extLst>
              <a:ext uri="{FF2B5EF4-FFF2-40B4-BE49-F238E27FC236}">
                <a16:creationId xmlns:a16="http://schemas.microsoft.com/office/drawing/2014/main" id="{F0477535-9501-C5F6-8CA3-9CFE15AE7BD2}"/>
              </a:ext>
            </a:extLst>
          </p:cNvPr>
          <p:cNvGraphicFramePr>
            <a:graphicFrameLocks noChangeAspect="1"/>
          </p:cNvGraphicFramePr>
          <p:nvPr>
            <p:extLst>
              <p:ext uri="{D42A27DB-BD31-4B8C-83A1-F6EECF244321}">
                <p14:modId xmlns:p14="http://schemas.microsoft.com/office/powerpoint/2010/main" val="1019694757"/>
              </p:ext>
            </p:extLst>
          </p:nvPr>
        </p:nvGraphicFramePr>
        <p:xfrm>
          <a:off x="4791075" y="5602287"/>
          <a:ext cx="1676400" cy="936625"/>
        </p:xfrm>
        <a:graphic>
          <a:graphicData uri="http://schemas.openxmlformats.org/presentationml/2006/ole">
            <mc:AlternateContent xmlns:mc="http://schemas.openxmlformats.org/markup-compatibility/2006">
              <mc:Choice xmlns:v="urn:schemas-microsoft-com:vml" Requires="v">
                <p:oleObj name="VISIO" r:id="rId2" imgW="1292040" imgH="720360" progId="Visio.Drawing.6">
                  <p:embed/>
                </p:oleObj>
              </mc:Choice>
              <mc:Fallback>
                <p:oleObj name="VISIO" r:id="rId2" imgW="1292040" imgH="720360" progId="Visio.Drawing.6">
                  <p:embed/>
                  <p:pic>
                    <p:nvPicPr>
                      <p:cNvPr id="1026" name="Object 4">
                        <a:extLst>
                          <a:ext uri="{FF2B5EF4-FFF2-40B4-BE49-F238E27FC236}">
                            <a16:creationId xmlns:a16="http://schemas.microsoft.com/office/drawing/2014/main" id="{F0477535-9501-C5F6-8CA3-9CFE15AE7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1075" y="5602287"/>
                        <a:ext cx="1676400" cy="936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30E53-397C-72D2-7F76-F8929446529B}"/>
            </a:ext>
          </a:extLst>
        </p:cNvPr>
        <p:cNvGrpSpPr/>
        <p:nvPr/>
      </p:nvGrpSpPr>
      <p:grpSpPr>
        <a:xfrm>
          <a:off x="0" y="0"/>
          <a:ext cx="0" cy="0"/>
          <a:chOff x="0" y="0"/>
          <a:chExt cx="0" cy="0"/>
        </a:xfrm>
      </p:grpSpPr>
      <p:sp>
        <p:nvSpPr>
          <p:cNvPr id="1027" name="Slide Number Placeholder 3">
            <a:extLst>
              <a:ext uri="{FF2B5EF4-FFF2-40B4-BE49-F238E27FC236}">
                <a16:creationId xmlns:a16="http://schemas.microsoft.com/office/drawing/2014/main" id="{1B42206D-7CAA-4051-BDE2-FE573B765E0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E41F012-7E5F-4B69-8D3B-0ECD6AC8B8AF}" type="slidenum">
              <a:rPr lang="de-DE" altLang="en-US" sz="1000"/>
              <a:pPr/>
              <a:t>7</a:t>
            </a:fld>
            <a:endParaRPr lang="de-DE" altLang="en-US" sz="1000"/>
          </a:p>
        </p:txBody>
      </p:sp>
      <p:sp>
        <p:nvSpPr>
          <p:cNvPr id="1028" name="Rectangle 2">
            <a:extLst>
              <a:ext uri="{FF2B5EF4-FFF2-40B4-BE49-F238E27FC236}">
                <a16:creationId xmlns:a16="http://schemas.microsoft.com/office/drawing/2014/main" id="{966A9C8B-8EFF-2C87-DDF8-087BFB8EAE54}"/>
              </a:ext>
            </a:extLst>
          </p:cNvPr>
          <p:cNvSpPr>
            <a:spLocks noGrp="1" noChangeArrowheads="1"/>
          </p:cNvSpPr>
          <p:nvPr>
            <p:ph type="title"/>
          </p:nvPr>
        </p:nvSpPr>
        <p:spPr/>
        <p:txBody>
          <a:bodyPr/>
          <a:lstStyle/>
          <a:p>
            <a:r>
              <a:rPr lang="en-US" altLang="en-US" dirty="0"/>
              <a:t>Pure Fabrication – Example…</a:t>
            </a:r>
          </a:p>
        </p:txBody>
      </p:sp>
      <p:sp>
        <p:nvSpPr>
          <p:cNvPr id="1029" name="Rectangle 3">
            <a:extLst>
              <a:ext uri="{FF2B5EF4-FFF2-40B4-BE49-F238E27FC236}">
                <a16:creationId xmlns:a16="http://schemas.microsoft.com/office/drawing/2014/main" id="{30B55929-C7C5-A793-8040-0D2842B9E687}"/>
              </a:ext>
            </a:extLst>
          </p:cNvPr>
          <p:cNvSpPr>
            <a:spLocks noGrp="1" noChangeArrowheads="1"/>
          </p:cNvSpPr>
          <p:nvPr>
            <p:ph type="body" idx="1"/>
          </p:nvPr>
        </p:nvSpPr>
        <p:spPr>
          <a:xfrm>
            <a:off x="671513" y="1690688"/>
            <a:ext cx="10682287" cy="4450468"/>
          </a:xfrm>
        </p:spPr>
        <p:txBody>
          <a:bodyPr>
            <a:normAutofit fontScale="47500" lnSpcReduction="20000"/>
          </a:bodyPr>
          <a:lstStyle/>
          <a:p>
            <a:pPr marL="0" indent="0">
              <a:buNone/>
            </a:pPr>
            <a:r>
              <a:rPr lang="en-US" sz="3400" dirty="0"/>
              <a:t>class Sale:</a:t>
            </a:r>
            <a:br>
              <a:rPr lang="en-US" sz="3400" dirty="0"/>
            </a:br>
            <a:r>
              <a:rPr lang="en-US" sz="3400" dirty="0"/>
              <a:t>    def __</a:t>
            </a:r>
            <a:r>
              <a:rPr lang="en-US" sz="3400" dirty="0" err="1"/>
              <a:t>init</a:t>
            </a:r>
            <a:r>
              <a:rPr lang="en-US" sz="3400" dirty="0"/>
              <a:t>__(self, </a:t>
            </a:r>
            <a:r>
              <a:rPr lang="en-US" sz="3400" dirty="0" err="1"/>
              <a:t>item_name</a:t>
            </a:r>
            <a:r>
              <a:rPr lang="en-US" sz="3400" dirty="0"/>
              <a:t>: str, price: float):</a:t>
            </a:r>
            <a:br>
              <a:rPr lang="en-US" sz="3400" dirty="0"/>
            </a:br>
            <a:r>
              <a:rPr lang="en-US" sz="3400" dirty="0"/>
              <a:t>        self._</a:t>
            </a:r>
            <a:r>
              <a:rPr lang="en-US" sz="3400" dirty="0" err="1"/>
              <a:t>item_name</a:t>
            </a:r>
            <a:r>
              <a:rPr lang="en-US" sz="3400" dirty="0"/>
              <a:t> = </a:t>
            </a:r>
            <a:r>
              <a:rPr lang="en-US" sz="3400" dirty="0" err="1"/>
              <a:t>item_name</a:t>
            </a:r>
            <a:br>
              <a:rPr lang="en-US" sz="3400" dirty="0"/>
            </a:br>
            <a:r>
              <a:rPr lang="en-US" sz="3400" dirty="0"/>
              <a:t>        </a:t>
            </a:r>
            <a:r>
              <a:rPr lang="en-US" sz="3400" dirty="0" err="1"/>
              <a:t>self._price</a:t>
            </a:r>
            <a:r>
              <a:rPr lang="en-US" sz="3400" dirty="0"/>
              <a:t> = price</a:t>
            </a:r>
            <a:br>
              <a:rPr lang="en-US" sz="3400" dirty="0"/>
            </a:br>
            <a:br>
              <a:rPr lang="en-US" sz="3400" dirty="0"/>
            </a:br>
            <a:r>
              <a:rPr lang="en-US" sz="3400" dirty="0"/>
              <a:t>    def </a:t>
            </a:r>
            <a:r>
              <a:rPr lang="en-US" sz="3400" dirty="0" err="1"/>
              <a:t>get_item_name</a:t>
            </a:r>
            <a:r>
              <a:rPr lang="en-US" sz="3400" dirty="0"/>
              <a:t>(self) -&gt; str:</a:t>
            </a:r>
            <a:br>
              <a:rPr lang="en-US" sz="3400" dirty="0"/>
            </a:br>
            <a:r>
              <a:rPr lang="en-US" sz="3400" dirty="0"/>
              <a:t>        return self._</a:t>
            </a:r>
            <a:r>
              <a:rPr lang="en-US" sz="3400" dirty="0" err="1"/>
              <a:t>item_name</a:t>
            </a:r>
            <a:br>
              <a:rPr lang="en-US" sz="3400" dirty="0"/>
            </a:br>
            <a:br>
              <a:rPr lang="en-US" sz="3400" dirty="0"/>
            </a:br>
            <a:r>
              <a:rPr lang="en-US" sz="3400" dirty="0"/>
              <a:t>    def </a:t>
            </a:r>
            <a:r>
              <a:rPr lang="en-US" sz="3400" dirty="0" err="1"/>
              <a:t>get_price</a:t>
            </a:r>
            <a:r>
              <a:rPr lang="en-US" sz="3400" dirty="0"/>
              <a:t>(self) -&gt; float:</a:t>
            </a:r>
            <a:br>
              <a:rPr lang="en-US" sz="3400" dirty="0"/>
            </a:br>
            <a:r>
              <a:rPr lang="en-US" sz="3400" dirty="0"/>
              <a:t>        return </a:t>
            </a:r>
            <a:r>
              <a:rPr lang="en-US" sz="3400" dirty="0" err="1"/>
              <a:t>self._price</a:t>
            </a:r>
            <a:endParaRPr lang="en-US" sz="3400" dirty="0"/>
          </a:p>
          <a:p>
            <a:pPr marL="0" indent="0">
              <a:buNone/>
            </a:pPr>
            <a:r>
              <a:rPr lang="en-US" sz="3400" dirty="0"/>
              <a:t># "Pure Fabrication" class responsible for storing Sale objects</a:t>
            </a:r>
            <a:br>
              <a:rPr lang="en-US" sz="3400" dirty="0"/>
            </a:br>
            <a:r>
              <a:rPr lang="en-US" sz="3400" dirty="0"/>
              <a:t>class </a:t>
            </a:r>
            <a:r>
              <a:rPr lang="en-US" sz="3400" dirty="0" err="1"/>
              <a:t>SaleStorage</a:t>
            </a:r>
            <a:r>
              <a:rPr lang="en-US" sz="3400" dirty="0"/>
              <a:t>:</a:t>
            </a:r>
            <a:br>
              <a:rPr lang="en-US" sz="3400" dirty="0"/>
            </a:br>
            <a:r>
              <a:rPr lang="en-US" sz="3400" dirty="0"/>
              <a:t>    @</a:t>
            </a:r>
            <a:r>
              <a:rPr lang="en-US" sz="3400" dirty="0" err="1"/>
              <a:t>staticmethod</a:t>
            </a:r>
            <a:br>
              <a:rPr lang="en-US" sz="3400" dirty="0"/>
            </a:br>
            <a:r>
              <a:rPr lang="en-US" sz="3400" dirty="0"/>
              <a:t>    def </a:t>
            </a:r>
            <a:r>
              <a:rPr lang="en-US" sz="3400" dirty="0" err="1"/>
              <a:t>save_sale</a:t>
            </a:r>
            <a:r>
              <a:rPr lang="en-US" sz="3400" dirty="0"/>
              <a:t>(sale: Sale):</a:t>
            </a:r>
            <a:br>
              <a:rPr lang="en-US" sz="3400" dirty="0"/>
            </a:br>
            <a:r>
              <a:rPr lang="en-US" sz="3400" dirty="0"/>
              <a:t>        # For demonstration, we'll just print out the sale details.</a:t>
            </a:r>
            <a:br>
              <a:rPr lang="en-US" sz="3400" dirty="0"/>
            </a:br>
            <a:r>
              <a:rPr lang="en-US" sz="3400" dirty="0"/>
              <a:t>        # In a real application, this might connect to a database or write to a file.</a:t>
            </a:r>
            <a:br>
              <a:rPr lang="en-US" sz="3400" dirty="0"/>
            </a:br>
            <a:r>
              <a:rPr lang="en-US" sz="3400" dirty="0"/>
              <a:t>        print(</a:t>
            </a:r>
            <a:r>
              <a:rPr lang="en-US" sz="3400" dirty="0" err="1"/>
              <a:t>f"Saving</a:t>
            </a:r>
            <a:r>
              <a:rPr lang="en-US" sz="3400" dirty="0"/>
              <a:t> sale for item: {</a:t>
            </a:r>
            <a:r>
              <a:rPr lang="en-US" sz="3400" dirty="0" err="1"/>
              <a:t>sale.get_item_name</a:t>
            </a:r>
            <a:r>
              <a:rPr lang="en-US" sz="3400" dirty="0"/>
              <a:t>()} with price: ${</a:t>
            </a:r>
            <a:r>
              <a:rPr lang="en-US" sz="3400" dirty="0" err="1"/>
              <a:t>sale.get_price</a:t>
            </a:r>
            <a:r>
              <a:rPr lang="en-US" sz="3400" dirty="0"/>
              <a:t>():.2f}")</a:t>
            </a:r>
            <a:br>
              <a:rPr lang="en-US" sz="3400" dirty="0"/>
            </a:br>
            <a:br>
              <a:rPr lang="en-US" sz="3400" dirty="0"/>
            </a:br>
            <a:r>
              <a:rPr lang="en-US" sz="3400" dirty="0"/>
              <a:t>if __name__ == "__main__":</a:t>
            </a:r>
            <a:br>
              <a:rPr lang="en-US" sz="3400" dirty="0"/>
            </a:br>
            <a:r>
              <a:rPr lang="en-US" sz="3400" dirty="0"/>
              <a:t>    # Create a Sale object</a:t>
            </a:r>
            <a:br>
              <a:rPr lang="en-US" sz="3400" dirty="0"/>
            </a:br>
            <a:r>
              <a:rPr lang="en-US" sz="3400" dirty="0"/>
              <a:t>    </a:t>
            </a:r>
            <a:r>
              <a:rPr lang="en-US" sz="3400" dirty="0" err="1"/>
              <a:t>my_sale</a:t>
            </a:r>
            <a:r>
              <a:rPr lang="en-US" sz="3400" dirty="0"/>
              <a:t> = Sale("Laptop", 999.99)</a:t>
            </a:r>
            <a:br>
              <a:rPr lang="en-US" sz="3400" dirty="0"/>
            </a:br>
            <a:r>
              <a:rPr lang="en-US" sz="3400" dirty="0"/>
              <a:t>    # Use the fabricated </a:t>
            </a:r>
            <a:r>
              <a:rPr lang="en-US" sz="3400" dirty="0" err="1"/>
              <a:t>SaleStorage</a:t>
            </a:r>
            <a:r>
              <a:rPr lang="en-US" sz="3400" dirty="0"/>
              <a:t> class to save the Sale</a:t>
            </a:r>
            <a:br>
              <a:rPr lang="en-US" sz="3400" dirty="0"/>
            </a:br>
            <a:r>
              <a:rPr lang="en-US" sz="3400" dirty="0"/>
              <a:t>    </a:t>
            </a:r>
            <a:r>
              <a:rPr lang="en-US" sz="3400" dirty="0" err="1"/>
              <a:t>SaleStorage.save_sale</a:t>
            </a:r>
            <a:r>
              <a:rPr lang="en-US" sz="3400" dirty="0"/>
              <a:t>(</a:t>
            </a:r>
            <a:r>
              <a:rPr lang="en-US" sz="3400" dirty="0" err="1"/>
              <a:t>my_sale</a:t>
            </a:r>
            <a:r>
              <a:rPr lang="en-US" sz="3400" dirty="0"/>
              <a:t>)</a:t>
            </a:r>
          </a:p>
          <a:p>
            <a:pPr marL="0" indent="0">
              <a:lnSpc>
                <a:spcPct val="80000"/>
              </a:lnSpc>
              <a:buNone/>
            </a:pPr>
            <a:endParaRPr lang="en-US" altLang="en-US" sz="2400" dirty="0"/>
          </a:p>
        </p:txBody>
      </p:sp>
    </p:spTree>
    <p:extLst>
      <p:ext uri="{BB962C8B-B14F-4D97-AF65-F5344CB8AC3E}">
        <p14:creationId xmlns:p14="http://schemas.microsoft.com/office/powerpoint/2010/main" val="2614841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7E627-E463-3E58-A6D6-D1E3A0426BF1}"/>
              </a:ext>
            </a:extLst>
          </p:cNvPr>
          <p:cNvSpPr>
            <a:spLocks noGrp="1"/>
          </p:cNvSpPr>
          <p:nvPr>
            <p:ph type="title"/>
          </p:nvPr>
        </p:nvSpPr>
        <p:spPr/>
        <p:txBody>
          <a:bodyPr/>
          <a:lstStyle/>
          <a:p>
            <a:r>
              <a:rPr lang="en-US" dirty="0"/>
              <a:t>Inheritance Digression</a:t>
            </a:r>
          </a:p>
        </p:txBody>
      </p:sp>
      <p:sp>
        <p:nvSpPr>
          <p:cNvPr id="3" name="Content Placeholder 2">
            <a:extLst>
              <a:ext uri="{FF2B5EF4-FFF2-40B4-BE49-F238E27FC236}">
                <a16:creationId xmlns:a16="http://schemas.microsoft.com/office/drawing/2014/main" id="{461522F5-E78D-614A-5081-EA14B0839CEA}"/>
              </a:ext>
            </a:extLst>
          </p:cNvPr>
          <p:cNvSpPr>
            <a:spLocks noGrp="1"/>
          </p:cNvSpPr>
          <p:nvPr>
            <p:ph idx="1"/>
          </p:nvPr>
        </p:nvSpPr>
        <p:spPr/>
        <p:txBody>
          <a:bodyPr/>
          <a:lstStyle/>
          <a:p>
            <a:r>
              <a:rPr lang="en-US" dirty="0"/>
              <a:t>Python has 3 types of methods in classes</a:t>
            </a:r>
          </a:p>
          <a:p>
            <a:pPr lvl="1"/>
            <a:r>
              <a:rPr lang="en-US" dirty="0"/>
              <a:t>@</a:t>
            </a:r>
            <a:r>
              <a:rPr lang="en-US" dirty="0" err="1"/>
              <a:t>staticmethod</a:t>
            </a:r>
            <a:r>
              <a:rPr lang="en-US" dirty="0"/>
              <a:t>: No self parameter, can not modify any class attributes</a:t>
            </a:r>
          </a:p>
          <a:p>
            <a:pPr lvl="2"/>
            <a:r>
              <a:rPr lang="en-US" dirty="0"/>
              <a:t>Like a global function but inside class namespace</a:t>
            </a:r>
          </a:p>
          <a:p>
            <a:pPr lvl="1"/>
            <a:r>
              <a:rPr lang="en-US" dirty="0"/>
              <a:t>@</a:t>
            </a:r>
            <a:r>
              <a:rPr lang="en-US" dirty="0" err="1"/>
              <a:t>classmethod</a:t>
            </a:r>
            <a:r>
              <a:rPr lang="en-US" dirty="0"/>
              <a:t>: No self parameter, but a </a:t>
            </a:r>
            <a:r>
              <a:rPr lang="en-US" dirty="0" err="1"/>
              <a:t>cls</a:t>
            </a:r>
            <a:r>
              <a:rPr lang="en-US" dirty="0"/>
              <a:t> (class) parameter.  Can modify class attributes</a:t>
            </a:r>
          </a:p>
          <a:p>
            <a:pPr lvl="2"/>
            <a:r>
              <a:rPr lang="en-US" dirty="0"/>
              <a:t>Class attributes are common across all instances.  </a:t>
            </a:r>
          </a:p>
          <a:p>
            <a:pPr lvl="2"/>
            <a:r>
              <a:rPr lang="en-US" dirty="0"/>
              <a:t>In subclasses the </a:t>
            </a:r>
            <a:r>
              <a:rPr lang="en-US" dirty="0" err="1"/>
              <a:t>cls</a:t>
            </a:r>
            <a:r>
              <a:rPr lang="en-US" dirty="0"/>
              <a:t> argument reflects the subclass</a:t>
            </a:r>
          </a:p>
          <a:p>
            <a:pPr lvl="1"/>
            <a:r>
              <a:rPr lang="en-US" dirty="0"/>
              <a:t>Regular functions that accept self as a parameter.</a:t>
            </a:r>
          </a:p>
          <a:p>
            <a:pPr lvl="2"/>
            <a:r>
              <a:rPr lang="en-US" dirty="0"/>
              <a:t>These are the common ones</a:t>
            </a:r>
          </a:p>
          <a:p>
            <a:pPr lvl="1"/>
            <a:r>
              <a:rPr lang="en-US" dirty="0"/>
              <a:t>Regular functions that don’t accept self as a parameter</a:t>
            </a:r>
          </a:p>
          <a:p>
            <a:pPr lvl="2"/>
            <a:r>
              <a:rPr lang="en-US" dirty="0"/>
              <a:t>Don’t do this, it’s a recipe for obscure and difficult to debug errors</a:t>
            </a:r>
          </a:p>
        </p:txBody>
      </p:sp>
      <p:pic>
        <p:nvPicPr>
          <p:cNvPr id="5" name="Graphic 4" descr="High voltage with solid fill">
            <a:extLst>
              <a:ext uri="{FF2B5EF4-FFF2-40B4-BE49-F238E27FC236}">
                <a16:creationId xmlns:a16="http://schemas.microsoft.com/office/drawing/2014/main" id="{4EFAC663-5587-F1F8-C2DD-52C382355A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08830" y="5136293"/>
            <a:ext cx="691661" cy="691661"/>
          </a:xfrm>
          <a:prstGeom prst="rect">
            <a:avLst/>
          </a:prstGeom>
        </p:spPr>
      </p:pic>
    </p:spTree>
    <p:extLst>
      <p:ext uri="{BB962C8B-B14F-4D97-AF65-F5344CB8AC3E}">
        <p14:creationId xmlns:p14="http://schemas.microsoft.com/office/powerpoint/2010/main" val="2398032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F9746-2E26-CD52-DD9A-FBE4DD0D4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4046A-A2C9-B0CB-A3D8-0C28D1E52C49}"/>
              </a:ext>
            </a:extLst>
          </p:cNvPr>
          <p:cNvSpPr>
            <a:spLocks noGrp="1"/>
          </p:cNvSpPr>
          <p:nvPr>
            <p:ph type="title"/>
          </p:nvPr>
        </p:nvSpPr>
        <p:spPr/>
        <p:txBody>
          <a:bodyPr/>
          <a:lstStyle/>
          <a:p>
            <a:r>
              <a:rPr lang="en-US" dirty="0"/>
              <a:t>Inheritance Digression</a:t>
            </a:r>
          </a:p>
        </p:txBody>
      </p:sp>
      <p:sp>
        <p:nvSpPr>
          <p:cNvPr id="3" name="Content Placeholder 2">
            <a:extLst>
              <a:ext uri="{FF2B5EF4-FFF2-40B4-BE49-F238E27FC236}">
                <a16:creationId xmlns:a16="http://schemas.microsoft.com/office/drawing/2014/main" id="{518921CE-D64C-FF22-180C-E08DB50059AE}"/>
              </a:ext>
            </a:extLst>
          </p:cNvPr>
          <p:cNvSpPr>
            <a:spLocks noGrp="1"/>
          </p:cNvSpPr>
          <p:nvPr>
            <p:ph idx="1"/>
          </p:nvPr>
        </p:nvSpPr>
        <p:spPr/>
        <p:txBody>
          <a:bodyPr/>
          <a:lstStyle/>
          <a:p>
            <a:r>
              <a:rPr lang="en-US" dirty="0"/>
              <a:t>Java has 3 types of methods in classes</a:t>
            </a:r>
          </a:p>
          <a:p>
            <a:pPr lvl="1"/>
            <a:r>
              <a:rPr lang="en-US" dirty="0"/>
              <a:t>static: No self parameter, but can modify any static class attributes</a:t>
            </a:r>
          </a:p>
          <a:p>
            <a:pPr lvl="2"/>
            <a:r>
              <a:rPr lang="en-US" dirty="0"/>
              <a:t>Subclassing hides the method, does not override it</a:t>
            </a:r>
          </a:p>
          <a:p>
            <a:pPr lvl="1"/>
            <a:r>
              <a:rPr lang="en-US" dirty="0"/>
              <a:t>Regular functions that accept self as a parameter.</a:t>
            </a:r>
          </a:p>
          <a:p>
            <a:pPr lvl="2"/>
            <a:r>
              <a:rPr lang="en-US" dirty="0"/>
              <a:t>These are the common ones.  Self `this` parameter implied.  Not possible to omit.</a:t>
            </a:r>
          </a:p>
          <a:p>
            <a:pPr lvl="2"/>
            <a:r>
              <a:rPr lang="en-US" dirty="0"/>
              <a:t>They can modify class attributes</a:t>
            </a:r>
          </a:p>
          <a:p>
            <a:pPr lvl="2"/>
            <a:r>
              <a:rPr lang="en-US" dirty="0"/>
              <a:t>Subclassing overrides the method, does not hide it</a:t>
            </a:r>
          </a:p>
          <a:p>
            <a:pPr lvl="1"/>
            <a:r>
              <a:rPr lang="en-US" dirty="0"/>
              <a:t>Override: Method called depends on actual object type (a child assigned to a parent variable will call the child method)</a:t>
            </a:r>
          </a:p>
          <a:p>
            <a:pPr lvl="1"/>
            <a:r>
              <a:rPr lang="en-US" dirty="0"/>
              <a:t>Hide: Method called depends on variable type (a child assigned to a parent variable will call the parent method).</a:t>
            </a:r>
          </a:p>
        </p:txBody>
      </p:sp>
    </p:spTree>
    <p:extLst>
      <p:ext uri="{BB962C8B-B14F-4D97-AF65-F5344CB8AC3E}">
        <p14:creationId xmlns:p14="http://schemas.microsoft.com/office/powerpoint/2010/main" val="489880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090" name="Rectangle 4608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92" name="Rectangle 4609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94" name="Rectangle 4609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96" name="Rectangle 4609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083" name="Rectangle 2">
            <a:extLst>
              <a:ext uri="{FF2B5EF4-FFF2-40B4-BE49-F238E27FC236}">
                <a16:creationId xmlns:a16="http://schemas.microsoft.com/office/drawing/2014/main" id="{336A79F9-E427-0E5E-D802-F8A6F024849C}"/>
              </a:ext>
            </a:extLst>
          </p:cNvPr>
          <p:cNvSpPr>
            <a:spLocks noGrp="1" noChangeArrowheads="1"/>
          </p:cNvSpPr>
          <p:nvPr>
            <p:ph type="title"/>
          </p:nvPr>
        </p:nvSpPr>
        <p:spPr>
          <a:xfrm>
            <a:off x="1371597" y="348865"/>
            <a:ext cx="10044023" cy="877729"/>
          </a:xfrm>
        </p:spPr>
        <p:txBody>
          <a:bodyPr anchor="ctr">
            <a:normAutofit/>
          </a:bodyPr>
          <a:lstStyle/>
          <a:p>
            <a:r>
              <a:rPr lang="en-US" altLang="en-US" sz="4000">
                <a:solidFill>
                  <a:srgbClr val="FFFFFF"/>
                </a:solidFill>
              </a:rPr>
              <a:t>Pure Fabrication</a:t>
            </a:r>
          </a:p>
        </p:txBody>
      </p:sp>
      <p:sp>
        <p:nvSpPr>
          <p:cNvPr id="46082" name="Slide Number Placeholder 3">
            <a:extLst>
              <a:ext uri="{FF2B5EF4-FFF2-40B4-BE49-F238E27FC236}">
                <a16:creationId xmlns:a16="http://schemas.microsoft.com/office/drawing/2014/main" id="{273A19F2-0C7B-8B82-6FA4-9C93A7ECF48B}"/>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D1F4F126-0510-45F8-923C-E51879DB93AF}" type="slidenum">
              <a:rPr lang="de-DE" altLang="en-US" sz="1100">
                <a:solidFill>
                  <a:schemeClr val="tx1">
                    <a:lumMod val="50000"/>
                    <a:lumOff val="50000"/>
                  </a:schemeClr>
                </a:solidFill>
              </a:rPr>
              <a:pPr>
                <a:spcAft>
                  <a:spcPts val="600"/>
                </a:spcAft>
              </a:pPr>
              <a:t>10</a:t>
            </a:fld>
            <a:endParaRPr lang="de-DE" altLang="en-US" sz="1100">
              <a:solidFill>
                <a:schemeClr val="tx1">
                  <a:lumMod val="50000"/>
                  <a:lumOff val="50000"/>
                </a:schemeClr>
              </a:solidFill>
            </a:endParaRPr>
          </a:p>
        </p:txBody>
      </p:sp>
      <p:graphicFrame>
        <p:nvGraphicFramePr>
          <p:cNvPr id="46086" name="Rectangle 3">
            <a:extLst>
              <a:ext uri="{FF2B5EF4-FFF2-40B4-BE49-F238E27FC236}">
                <a16:creationId xmlns:a16="http://schemas.microsoft.com/office/drawing/2014/main" id="{7911A839-A0C8-A7BB-D95A-4887623D9FBE}"/>
              </a:ext>
            </a:extLst>
          </p:cNvPr>
          <p:cNvGraphicFramePr/>
          <p:nvPr>
            <p:extLst>
              <p:ext uri="{D42A27DB-BD31-4B8C-83A1-F6EECF244321}">
                <p14:modId xmlns:p14="http://schemas.microsoft.com/office/powerpoint/2010/main" val="411985250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6F3C57-F572-472F-4664-4B9A496A4118}"/>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a:t>INDIRECTION</a:t>
            </a:r>
          </a:p>
        </p:txBody>
      </p:sp>
      <p:pic>
        <p:nvPicPr>
          <p:cNvPr id="4" name="Picture 3" descr="Computer script on a screen">
            <a:extLst>
              <a:ext uri="{FF2B5EF4-FFF2-40B4-BE49-F238E27FC236}">
                <a16:creationId xmlns:a16="http://schemas.microsoft.com/office/drawing/2014/main" id="{17056CD1-2FFB-F12B-20D0-736D996B11C3}"/>
              </a:ext>
            </a:extLst>
          </p:cNvPr>
          <p:cNvPicPr>
            <a:picLocks noChangeAspect="1"/>
          </p:cNvPicPr>
          <p:nvPr/>
        </p:nvPicPr>
        <p:blipFill rotWithShape="1">
          <a:blip r:embed="rId2"/>
          <a:srcRect l="5815" r="45587" b="-1"/>
          <a:stretch/>
        </p:blipFill>
        <p:spPr>
          <a:xfrm>
            <a:off x="20" y="10"/>
            <a:ext cx="4992985" cy="6857990"/>
          </a:xfrm>
          <a:prstGeom prst="rect">
            <a:avLst/>
          </a:prstGeom>
        </p:spPr>
      </p:pic>
    </p:spTree>
    <p:extLst>
      <p:ext uri="{BB962C8B-B14F-4D97-AF65-F5344CB8AC3E}">
        <p14:creationId xmlns:p14="http://schemas.microsoft.com/office/powerpoint/2010/main" val="56356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114" name="Rectangle 471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16" name="Rectangle 471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18" name="Rectangle 471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20" name="Rectangle 471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107" name="Rectangle 2">
            <a:extLst>
              <a:ext uri="{FF2B5EF4-FFF2-40B4-BE49-F238E27FC236}">
                <a16:creationId xmlns:a16="http://schemas.microsoft.com/office/drawing/2014/main" id="{C11C5796-5A1B-F5EF-59C5-633639962E72}"/>
              </a:ext>
            </a:extLst>
          </p:cNvPr>
          <p:cNvSpPr>
            <a:spLocks noGrp="1" noChangeArrowheads="1"/>
          </p:cNvSpPr>
          <p:nvPr>
            <p:ph type="title"/>
          </p:nvPr>
        </p:nvSpPr>
        <p:spPr>
          <a:xfrm>
            <a:off x="1371597" y="348865"/>
            <a:ext cx="10044023" cy="877729"/>
          </a:xfrm>
        </p:spPr>
        <p:txBody>
          <a:bodyPr anchor="ctr">
            <a:normAutofit/>
          </a:bodyPr>
          <a:lstStyle/>
          <a:p>
            <a:r>
              <a:rPr lang="en-US" altLang="en-US" sz="4000">
                <a:solidFill>
                  <a:srgbClr val="FFFFFF"/>
                </a:solidFill>
              </a:rPr>
              <a:t>Indirection</a:t>
            </a:r>
          </a:p>
        </p:txBody>
      </p:sp>
      <p:sp>
        <p:nvSpPr>
          <p:cNvPr id="47106" name="Slide Number Placeholder 3">
            <a:extLst>
              <a:ext uri="{FF2B5EF4-FFF2-40B4-BE49-F238E27FC236}">
                <a16:creationId xmlns:a16="http://schemas.microsoft.com/office/drawing/2014/main" id="{D2FA9EF3-FC4E-7B0D-59CF-D1AB4055E2A0}"/>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ED501D9A-D94A-4584-9F93-2EFEE8E763C0}" type="slidenum">
              <a:rPr lang="de-DE" altLang="en-US" sz="1100">
                <a:solidFill>
                  <a:schemeClr val="tx1">
                    <a:lumMod val="50000"/>
                    <a:lumOff val="50000"/>
                  </a:schemeClr>
                </a:solidFill>
              </a:rPr>
              <a:pPr>
                <a:spcAft>
                  <a:spcPts val="600"/>
                </a:spcAft>
              </a:pPr>
              <a:t>12</a:t>
            </a:fld>
            <a:endParaRPr lang="de-DE" altLang="en-US" sz="1100">
              <a:solidFill>
                <a:schemeClr val="tx1">
                  <a:lumMod val="50000"/>
                  <a:lumOff val="50000"/>
                </a:schemeClr>
              </a:solidFill>
            </a:endParaRPr>
          </a:p>
        </p:txBody>
      </p:sp>
      <p:graphicFrame>
        <p:nvGraphicFramePr>
          <p:cNvPr id="47110" name="Rectangle 3">
            <a:extLst>
              <a:ext uri="{FF2B5EF4-FFF2-40B4-BE49-F238E27FC236}">
                <a16:creationId xmlns:a16="http://schemas.microsoft.com/office/drawing/2014/main" id="{01EB6E97-0EFB-BE47-87EE-0C871DAF236C}"/>
              </a:ext>
            </a:extLst>
          </p:cNvPr>
          <p:cNvGraphicFramePr/>
          <p:nvPr>
            <p:extLst>
              <p:ext uri="{D42A27DB-BD31-4B8C-83A1-F6EECF244321}">
                <p14:modId xmlns:p14="http://schemas.microsoft.com/office/powerpoint/2010/main" val="278152581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137" name="Rectangle 4813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139" name="Rectangle 4813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41" name="Rectangle 4814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43" name="Rectangle 4814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45" name="Rectangle 4814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147" name="Freeform: Shape 4814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149" name="Rectangle 4814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31" name="Rectangle 2">
            <a:extLst>
              <a:ext uri="{FF2B5EF4-FFF2-40B4-BE49-F238E27FC236}">
                <a16:creationId xmlns:a16="http://schemas.microsoft.com/office/drawing/2014/main" id="{6655A329-0204-E3C8-923A-58ECF91873EA}"/>
              </a:ext>
            </a:extLst>
          </p:cNvPr>
          <p:cNvSpPr>
            <a:spLocks noGrp="1" noChangeArrowheads="1"/>
          </p:cNvSpPr>
          <p:nvPr>
            <p:ph type="title"/>
          </p:nvPr>
        </p:nvSpPr>
        <p:spPr>
          <a:xfrm>
            <a:off x="466722" y="586855"/>
            <a:ext cx="3201366" cy="3387497"/>
          </a:xfrm>
        </p:spPr>
        <p:txBody>
          <a:bodyPr anchor="b">
            <a:normAutofit/>
          </a:bodyPr>
          <a:lstStyle/>
          <a:p>
            <a:pPr algn="r"/>
            <a:r>
              <a:rPr lang="en-US" altLang="en-US" sz="4000" dirty="0">
                <a:solidFill>
                  <a:srgbClr val="FFFFFF"/>
                </a:solidFill>
              </a:rPr>
              <a:t>Indirection - Example</a:t>
            </a:r>
          </a:p>
        </p:txBody>
      </p:sp>
      <p:sp>
        <p:nvSpPr>
          <p:cNvPr id="48132" name="Rectangle 3">
            <a:extLst>
              <a:ext uri="{FF2B5EF4-FFF2-40B4-BE49-F238E27FC236}">
                <a16:creationId xmlns:a16="http://schemas.microsoft.com/office/drawing/2014/main" id="{F402281A-694A-A8AD-1D2C-A30F609DC516}"/>
              </a:ext>
            </a:extLst>
          </p:cNvPr>
          <p:cNvSpPr>
            <a:spLocks noGrp="1" noChangeArrowheads="1"/>
          </p:cNvSpPr>
          <p:nvPr>
            <p:ph type="body" idx="1"/>
          </p:nvPr>
        </p:nvSpPr>
        <p:spPr>
          <a:xfrm>
            <a:off x="4367695" y="649480"/>
            <a:ext cx="7676668" cy="5546047"/>
          </a:xfrm>
        </p:spPr>
        <p:txBody>
          <a:bodyPr anchor="ctr">
            <a:normAutofit/>
          </a:bodyPr>
          <a:lstStyle/>
          <a:p>
            <a:pPr marL="342900" indent="-342900"/>
            <a:r>
              <a:rPr lang="en-US" altLang="en-US" dirty="0"/>
              <a:t>In POST app, terminal must use modem to transmit credit payment requests.</a:t>
            </a:r>
          </a:p>
          <a:p>
            <a:pPr marL="342900" indent="-342900"/>
            <a:r>
              <a:rPr lang="en-US" altLang="en-US" dirty="0"/>
              <a:t>OS provide </a:t>
            </a:r>
            <a:r>
              <a:rPr lang="en-US" altLang="en-US" i="1" dirty="0"/>
              <a:t>low-level API to modem device</a:t>
            </a:r>
            <a:r>
              <a:rPr lang="en-US" altLang="en-US" dirty="0"/>
              <a:t>.</a:t>
            </a:r>
          </a:p>
          <a:p>
            <a:pPr marL="342900" indent="-342900"/>
            <a:r>
              <a:rPr lang="en-US" altLang="en-US" dirty="0"/>
              <a:t>Class </a:t>
            </a:r>
            <a:r>
              <a:rPr lang="en-US" altLang="en-US" i="1" dirty="0" err="1"/>
              <a:t>CreditAuthorizationService</a:t>
            </a:r>
            <a:r>
              <a:rPr lang="en-US" altLang="en-US" dirty="0"/>
              <a:t> is responsible for talking to modem.</a:t>
            </a:r>
          </a:p>
          <a:p>
            <a:pPr marL="342900" indent="-342900"/>
            <a:r>
              <a:rPr lang="en-US" altLang="en-US" dirty="0"/>
              <a:t>BUT, for interoperability, do not want device specific details in domain class – highly coupled to OS.</a:t>
            </a:r>
          </a:p>
          <a:p>
            <a:pPr marL="342900" indent="-342900"/>
            <a:r>
              <a:rPr lang="en-US" altLang="en-US" dirty="0"/>
              <a:t>Instead, add intermediate </a:t>
            </a:r>
            <a:r>
              <a:rPr lang="en-US" altLang="en-US" i="1" dirty="0"/>
              <a:t>Modem</a:t>
            </a:r>
            <a:r>
              <a:rPr lang="en-US" altLang="en-US" dirty="0"/>
              <a:t> class that presents consistent interface to domain class. Also known as device proxy.</a:t>
            </a:r>
          </a:p>
          <a:p>
            <a:pPr marL="342900" indent="-342900"/>
            <a:endParaRPr lang="en-US" altLang="en-US" sz="2000" dirty="0"/>
          </a:p>
        </p:txBody>
      </p:sp>
      <p:sp>
        <p:nvSpPr>
          <p:cNvPr id="48130" name="Slide Number Placeholder 3">
            <a:extLst>
              <a:ext uri="{FF2B5EF4-FFF2-40B4-BE49-F238E27FC236}">
                <a16:creationId xmlns:a16="http://schemas.microsoft.com/office/drawing/2014/main" id="{75315808-0C9E-80E1-A234-31BE124AD106}"/>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1D956AFB-52D7-49E9-8731-8ED3DAF512B8}" type="slidenum">
              <a:rPr lang="de-DE" altLang="en-US" sz="1100">
                <a:solidFill>
                  <a:schemeClr val="tx1">
                    <a:lumMod val="50000"/>
                    <a:lumOff val="50000"/>
                  </a:schemeClr>
                </a:solidFill>
              </a:rPr>
              <a:pPr>
                <a:spcAft>
                  <a:spcPts val="600"/>
                </a:spcAft>
              </a:pPr>
              <a:t>13</a:t>
            </a:fld>
            <a:endParaRPr lang="de-DE" altLang="en-US" sz="1100">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a:extLst>
              <a:ext uri="{FF2B5EF4-FFF2-40B4-BE49-F238E27FC236}">
                <a16:creationId xmlns:a16="http://schemas.microsoft.com/office/drawing/2014/main" id="{DA935A47-358C-4DE0-0008-997CE315F7A7}"/>
              </a:ext>
            </a:extLst>
          </p:cNvPr>
          <p:cNvSpPr>
            <a:spLocks noGrp="1"/>
          </p:cNvSpPr>
          <p:nvPr>
            <p:ph type="sldNum" sz="quarter" idx="10"/>
          </p:nvPr>
        </p:nvSpPr>
        <p:spPr>
          <a:xfrm>
            <a:off x="80772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00DC8B8-5712-4BB1-9E79-85BB7F2B3174}" type="slidenum">
              <a:rPr lang="en-GB" altLang="en-US" sz="1000"/>
              <a:pPr/>
              <a:t>14</a:t>
            </a:fld>
            <a:endParaRPr lang="en-GB" altLang="en-US" sz="1000"/>
          </a:p>
        </p:txBody>
      </p:sp>
      <p:sp>
        <p:nvSpPr>
          <p:cNvPr id="49155" name="Rectangle 2">
            <a:extLst>
              <a:ext uri="{FF2B5EF4-FFF2-40B4-BE49-F238E27FC236}">
                <a16:creationId xmlns:a16="http://schemas.microsoft.com/office/drawing/2014/main" id="{FF309EDC-4F57-D89B-1AB6-A481DEB23AFF}"/>
              </a:ext>
            </a:extLst>
          </p:cNvPr>
          <p:cNvSpPr>
            <a:spLocks noGrp="1" noChangeArrowheads="1"/>
          </p:cNvSpPr>
          <p:nvPr>
            <p:ph type="title"/>
          </p:nvPr>
        </p:nvSpPr>
        <p:spPr>
          <a:xfrm>
            <a:off x="2209800" y="609600"/>
            <a:ext cx="7772400" cy="609600"/>
          </a:xfrm>
        </p:spPr>
        <p:txBody>
          <a:bodyPr>
            <a:normAutofit fontScale="90000"/>
          </a:bodyPr>
          <a:lstStyle/>
          <a:p>
            <a:r>
              <a:rPr lang="en-GB" altLang="en-US"/>
              <a:t>Indirection : Example</a:t>
            </a:r>
          </a:p>
        </p:txBody>
      </p:sp>
      <p:pic>
        <p:nvPicPr>
          <p:cNvPr id="49156" name="Picture 3">
            <a:extLst>
              <a:ext uri="{FF2B5EF4-FFF2-40B4-BE49-F238E27FC236}">
                <a16:creationId xmlns:a16="http://schemas.microsoft.com/office/drawing/2014/main" id="{6EE1EE7A-0C0A-30E6-32C8-584A1EEF9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1" y="1600200"/>
            <a:ext cx="56864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Rectangle 5">
            <a:extLst>
              <a:ext uri="{FF2B5EF4-FFF2-40B4-BE49-F238E27FC236}">
                <a16:creationId xmlns:a16="http://schemas.microsoft.com/office/drawing/2014/main" id="{959C258E-0B51-68BF-D09B-A7BE4538153B}"/>
              </a:ext>
            </a:extLst>
          </p:cNvPr>
          <p:cNvSpPr>
            <a:spLocks noChangeArrowheads="1"/>
          </p:cNvSpPr>
          <p:nvPr/>
        </p:nvSpPr>
        <p:spPr bwMode="auto">
          <a:xfrm>
            <a:off x="3733800" y="4648200"/>
            <a:ext cx="2057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49158" name="Text Box 6">
            <a:extLst>
              <a:ext uri="{FF2B5EF4-FFF2-40B4-BE49-F238E27FC236}">
                <a16:creationId xmlns:a16="http://schemas.microsoft.com/office/drawing/2014/main" id="{7C42DC62-4409-0D28-4665-CFDC4F7EE77C}"/>
              </a:ext>
            </a:extLst>
          </p:cNvPr>
          <p:cNvSpPr txBox="1">
            <a:spLocks noChangeArrowheads="1"/>
          </p:cNvSpPr>
          <p:nvPr/>
        </p:nvSpPr>
        <p:spPr bwMode="auto">
          <a:xfrm>
            <a:off x="3581401" y="5029200"/>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t-EE" altLang="en-US" sz="2400"/>
          </a:p>
        </p:txBody>
      </p:sp>
      <p:sp>
        <p:nvSpPr>
          <p:cNvPr id="49159" name="Text Box 7">
            <a:extLst>
              <a:ext uri="{FF2B5EF4-FFF2-40B4-BE49-F238E27FC236}">
                <a16:creationId xmlns:a16="http://schemas.microsoft.com/office/drawing/2014/main" id="{E92DDF97-257F-CECF-BE46-D62077327B32}"/>
              </a:ext>
            </a:extLst>
          </p:cNvPr>
          <p:cNvSpPr txBox="1">
            <a:spLocks noChangeArrowheads="1"/>
          </p:cNvSpPr>
          <p:nvPr/>
        </p:nvSpPr>
        <p:spPr bwMode="auto">
          <a:xfrm>
            <a:off x="3679826" y="4724400"/>
            <a:ext cx="2263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Bef>
                <a:spcPct val="50000"/>
              </a:spcBef>
            </a:pPr>
            <a:r>
              <a:rPr lang="en-GB" altLang="en-US" sz="1600" u="sng"/>
              <a:t>CreditAuthorizationService</a:t>
            </a:r>
          </a:p>
        </p:txBody>
      </p:sp>
      <p:sp>
        <p:nvSpPr>
          <p:cNvPr id="49160" name="Rectangle 8">
            <a:extLst>
              <a:ext uri="{FF2B5EF4-FFF2-40B4-BE49-F238E27FC236}">
                <a16:creationId xmlns:a16="http://schemas.microsoft.com/office/drawing/2014/main" id="{849F16A0-4329-2267-DF84-CDC8081213B6}"/>
              </a:ext>
            </a:extLst>
          </p:cNvPr>
          <p:cNvSpPr>
            <a:spLocks noChangeArrowheads="1"/>
          </p:cNvSpPr>
          <p:nvPr/>
        </p:nvSpPr>
        <p:spPr bwMode="auto">
          <a:xfrm>
            <a:off x="7848600" y="4724400"/>
            <a:ext cx="1676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49161" name="Text Box 9">
            <a:extLst>
              <a:ext uri="{FF2B5EF4-FFF2-40B4-BE49-F238E27FC236}">
                <a16:creationId xmlns:a16="http://schemas.microsoft.com/office/drawing/2014/main" id="{59CA2906-535B-6763-BDD7-FB5D108358A5}"/>
              </a:ext>
            </a:extLst>
          </p:cNvPr>
          <p:cNvSpPr txBox="1">
            <a:spLocks noChangeArrowheads="1"/>
          </p:cNvSpPr>
          <p:nvPr/>
        </p:nvSpPr>
        <p:spPr bwMode="auto">
          <a:xfrm>
            <a:off x="7908926" y="4735513"/>
            <a:ext cx="8159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GB" altLang="en-US" sz="1800" u="sng"/>
              <a:t>Modem</a:t>
            </a:r>
          </a:p>
        </p:txBody>
      </p:sp>
      <p:sp>
        <p:nvSpPr>
          <p:cNvPr id="49162" name="Line 10">
            <a:extLst>
              <a:ext uri="{FF2B5EF4-FFF2-40B4-BE49-F238E27FC236}">
                <a16:creationId xmlns:a16="http://schemas.microsoft.com/office/drawing/2014/main" id="{506CF79D-4FF8-A34F-4C16-350D3DE74B7D}"/>
              </a:ext>
            </a:extLst>
          </p:cNvPr>
          <p:cNvSpPr>
            <a:spLocks noChangeShapeType="1"/>
          </p:cNvSpPr>
          <p:nvPr/>
        </p:nvSpPr>
        <p:spPr bwMode="auto">
          <a:xfrm>
            <a:off x="5791200" y="4953000"/>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3" name="Line 11">
            <a:extLst>
              <a:ext uri="{FF2B5EF4-FFF2-40B4-BE49-F238E27FC236}">
                <a16:creationId xmlns:a16="http://schemas.microsoft.com/office/drawing/2014/main" id="{07635794-AD4A-A917-3FE4-2B2F9111B92F}"/>
              </a:ext>
            </a:extLst>
          </p:cNvPr>
          <p:cNvSpPr>
            <a:spLocks noChangeShapeType="1"/>
          </p:cNvSpPr>
          <p:nvPr/>
        </p:nvSpPr>
        <p:spPr bwMode="auto">
          <a:xfrm>
            <a:off x="1905000" y="5029200"/>
            <a:ext cx="1828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4" name="Text Box 12">
            <a:extLst>
              <a:ext uri="{FF2B5EF4-FFF2-40B4-BE49-F238E27FC236}">
                <a16:creationId xmlns:a16="http://schemas.microsoft.com/office/drawing/2014/main" id="{795BC5BC-A8A6-60F0-8311-F918AC7B4049}"/>
              </a:ext>
            </a:extLst>
          </p:cNvPr>
          <p:cNvSpPr txBox="1">
            <a:spLocks noChangeArrowheads="1"/>
          </p:cNvSpPr>
          <p:nvPr/>
        </p:nvSpPr>
        <p:spPr bwMode="auto">
          <a:xfrm>
            <a:off x="5851526" y="4659313"/>
            <a:ext cx="1700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GB" altLang="en-US" sz="1800"/>
              <a:t>1:dial(phoneNum</a:t>
            </a:r>
            <a:r>
              <a:rPr lang="en-GB" altLang="en-US"/>
              <a:t>)</a:t>
            </a:r>
          </a:p>
        </p:txBody>
      </p:sp>
      <p:sp>
        <p:nvSpPr>
          <p:cNvPr id="49165" name="Text Box 13">
            <a:extLst>
              <a:ext uri="{FF2B5EF4-FFF2-40B4-BE49-F238E27FC236}">
                <a16:creationId xmlns:a16="http://schemas.microsoft.com/office/drawing/2014/main" id="{FCCE2D7F-FA80-FAA3-BB09-2121BC9E1201}"/>
              </a:ext>
            </a:extLst>
          </p:cNvPr>
          <p:cNvSpPr txBox="1">
            <a:spLocks noChangeArrowheads="1"/>
          </p:cNvSpPr>
          <p:nvPr/>
        </p:nvSpPr>
        <p:spPr bwMode="auto">
          <a:xfrm>
            <a:off x="1828800" y="4724400"/>
            <a:ext cx="1676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Bef>
                <a:spcPct val="50000"/>
              </a:spcBef>
            </a:pPr>
            <a:r>
              <a:rPr lang="en-GB" altLang="en-US" sz="1600"/>
              <a:t>authorize(payment)</a:t>
            </a:r>
          </a:p>
        </p:txBody>
      </p:sp>
      <p:sp>
        <p:nvSpPr>
          <p:cNvPr id="49166" name="Line 14">
            <a:extLst>
              <a:ext uri="{FF2B5EF4-FFF2-40B4-BE49-F238E27FC236}">
                <a16:creationId xmlns:a16="http://schemas.microsoft.com/office/drawing/2014/main" id="{AA1242FB-DE44-334C-610B-DC2D1D5B0262}"/>
              </a:ext>
            </a:extLst>
          </p:cNvPr>
          <p:cNvSpPr>
            <a:spLocks noChangeShapeType="1"/>
          </p:cNvSpPr>
          <p:nvPr/>
        </p:nvSpPr>
        <p:spPr bwMode="auto">
          <a:xfrm>
            <a:off x="5029200" y="3352800"/>
            <a:ext cx="1600200" cy="11430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9167" name="Line 15">
            <a:extLst>
              <a:ext uri="{FF2B5EF4-FFF2-40B4-BE49-F238E27FC236}">
                <a16:creationId xmlns:a16="http://schemas.microsoft.com/office/drawing/2014/main" id="{C678875B-B6C4-02A0-09F0-506385FDD0F8}"/>
              </a:ext>
            </a:extLst>
          </p:cNvPr>
          <p:cNvSpPr>
            <a:spLocks noChangeShapeType="1"/>
          </p:cNvSpPr>
          <p:nvPr/>
        </p:nvSpPr>
        <p:spPr bwMode="auto">
          <a:xfrm>
            <a:off x="3429000" y="4876800"/>
            <a:ext cx="228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8" name="Line 16">
            <a:extLst>
              <a:ext uri="{FF2B5EF4-FFF2-40B4-BE49-F238E27FC236}">
                <a16:creationId xmlns:a16="http://schemas.microsoft.com/office/drawing/2014/main" id="{5F5F7A0F-232B-A260-3516-511FC9D50F44}"/>
              </a:ext>
            </a:extLst>
          </p:cNvPr>
          <p:cNvSpPr>
            <a:spLocks noChangeShapeType="1"/>
          </p:cNvSpPr>
          <p:nvPr/>
        </p:nvSpPr>
        <p:spPr bwMode="auto">
          <a:xfrm>
            <a:off x="7543800" y="4876800"/>
            <a:ext cx="228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9587DC9-DF62-9CEF-C355-2210D94F6FD0}"/>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a:t>DON’T TALK TO STRANGERS</a:t>
            </a:r>
          </a:p>
        </p:txBody>
      </p:sp>
      <p:pic>
        <p:nvPicPr>
          <p:cNvPr id="4" name="Picture 3" descr="Two telephones communicating">
            <a:extLst>
              <a:ext uri="{FF2B5EF4-FFF2-40B4-BE49-F238E27FC236}">
                <a16:creationId xmlns:a16="http://schemas.microsoft.com/office/drawing/2014/main" id="{57B3826A-018F-3F57-EFA5-6641CEF23A13}"/>
              </a:ext>
            </a:extLst>
          </p:cNvPr>
          <p:cNvPicPr>
            <a:picLocks noChangeAspect="1"/>
          </p:cNvPicPr>
          <p:nvPr/>
        </p:nvPicPr>
        <p:blipFill rotWithShape="1">
          <a:blip r:embed="rId2"/>
          <a:srcRect l="17844" r="27552"/>
          <a:stretch/>
        </p:blipFill>
        <p:spPr>
          <a:xfrm>
            <a:off x="20" y="10"/>
            <a:ext cx="4992985" cy="6857990"/>
          </a:xfrm>
          <a:prstGeom prst="rect">
            <a:avLst/>
          </a:prstGeom>
        </p:spPr>
      </p:pic>
    </p:spTree>
    <p:extLst>
      <p:ext uri="{BB962C8B-B14F-4D97-AF65-F5344CB8AC3E}">
        <p14:creationId xmlns:p14="http://schemas.microsoft.com/office/powerpoint/2010/main" val="285767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09" name="Rectangle 5120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03" name="Rectangle 2">
            <a:extLst>
              <a:ext uri="{FF2B5EF4-FFF2-40B4-BE49-F238E27FC236}">
                <a16:creationId xmlns:a16="http://schemas.microsoft.com/office/drawing/2014/main" id="{38B8BAF0-21E4-D10F-A87C-C311E80F0FF1}"/>
              </a:ext>
            </a:extLst>
          </p:cNvPr>
          <p:cNvSpPr>
            <a:spLocks noGrp="1" noChangeArrowheads="1"/>
          </p:cNvSpPr>
          <p:nvPr>
            <p:ph type="title"/>
          </p:nvPr>
        </p:nvSpPr>
        <p:spPr>
          <a:xfrm>
            <a:off x="1136397" y="502022"/>
            <a:ext cx="9688296" cy="612404"/>
          </a:xfrm>
        </p:spPr>
        <p:txBody>
          <a:bodyPr anchor="b">
            <a:normAutofit fontScale="90000"/>
          </a:bodyPr>
          <a:lstStyle/>
          <a:p>
            <a:r>
              <a:rPr lang="en-US" altLang="en-US" sz="4000" dirty="0"/>
              <a:t>Don’t talk to Strangers…</a:t>
            </a:r>
          </a:p>
        </p:txBody>
      </p:sp>
      <p:sp>
        <p:nvSpPr>
          <p:cNvPr id="51204" name="Rectangle 3">
            <a:extLst>
              <a:ext uri="{FF2B5EF4-FFF2-40B4-BE49-F238E27FC236}">
                <a16:creationId xmlns:a16="http://schemas.microsoft.com/office/drawing/2014/main" id="{00E9DF86-66A5-E1F0-E63F-88A2A4BBCA06}"/>
              </a:ext>
            </a:extLst>
          </p:cNvPr>
          <p:cNvSpPr>
            <a:spLocks noGrp="1" noChangeArrowheads="1"/>
          </p:cNvSpPr>
          <p:nvPr>
            <p:ph type="body" idx="1"/>
          </p:nvPr>
        </p:nvSpPr>
        <p:spPr>
          <a:xfrm>
            <a:off x="158044" y="1282877"/>
            <a:ext cx="11808178" cy="4601179"/>
          </a:xfrm>
        </p:spPr>
        <p:txBody>
          <a:bodyPr anchor="t">
            <a:noAutofit/>
          </a:bodyPr>
          <a:lstStyle/>
          <a:p>
            <a:pPr marL="342900" indent="-342900"/>
            <a:r>
              <a:rPr lang="en-US" altLang="en-US" dirty="0"/>
              <a:t>Intent:</a:t>
            </a:r>
          </a:p>
          <a:p>
            <a:pPr marL="742950" lvl="1" indent="-285750"/>
            <a:r>
              <a:rPr lang="en-US" altLang="en-US" sz="2800" dirty="0"/>
              <a:t>Assign responsibility to a client’s direct object to collaborate with an indirect object, so that client does not need to know about the indirect object.</a:t>
            </a:r>
          </a:p>
          <a:p>
            <a:pPr marL="742950" lvl="1" indent="-285750" algn="just"/>
            <a:r>
              <a:rPr lang="en-US" altLang="en-US" sz="2800" dirty="0"/>
              <a:t>Places constraints on what objects should send messages to within a method. Within a method, messages should only be sent to:</a:t>
            </a:r>
          </a:p>
          <a:p>
            <a:pPr lvl="2"/>
            <a:r>
              <a:rPr lang="en-US" altLang="en-US" sz="2800" i="1" dirty="0"/>
              <a:t>self</a:t>
            </a:r>
            <a:r>
              <a:rPr lang="en-US" altLang="en-US" sz="2800" dirty="0"/>
              <a:t> (or </a:t>
            </a:r>
            <a:r>
              <a:rPr lang="en-US" altLang="en-US" sz="2800" i="1" dirty="0"/>
              <a:t>this</a:t>
            </a:r>
            <a:r>
              <a:rPr lang="en-US" altLang="en-US" sz="2800" dirty="0"/>
              <a:t>) or an attribute of </a:t>
            </a:r>
            <a:r>
              <a:rPr lang="en-US" altLang="en-US" sz="2800" i="1" dirty="0"/>
              <a:t>self</a:t>
            </a:r>
            <a:r>
              <a:rPr lang="en-US" altLang="en-US" sz="2800" dirty="0"/>
              <a:t> or an element of a collection which is an attribute of </a:t>
            </a:r>
            <a:r>
              <a:rPr lang="en-US" altLang="en-US" sz="2800" i="1" dirty="0"/>
              <a:t>self</a:t>
            </a:r>
          </a:p>
          <a:p>
            <a:pPr lvl="2"/>
            <a:r>
              <a:rPr lang="en-US" altLang="en-US" sz="2800" dirty="0"/>
              <a:t>A parameter of the method</a:t>
            </a:r>
          </a:p>
          <a:p>
            <a:pPr lvl="2"/>
            <a:r>
              <a:rPr lang="en-US" altLang="en-US" sz="2800" dirty="0"/>
              <a:t>An object created within the method</a:t>
            </a:r>
          </a:p>
        </p:txBody>
      </p:sp>
      <p:sp>
        <p:nvSpPr>
          <p:cNvPr id="51211" name="Rectangle 5121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13" name="Rectangle 5121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02" name="Slide Number Placeholder 3">
            <a:extLst>
              <a:ext uri="{FF2B5EF4-FFF2-40B4-BE49-F238E27FC236}">
                <a16:creationId xmlns:a16="http://schemas.microsoft.com/office/drawing/2014/main" id="{9E2B0424-2010-2471-A3F0-00075DAD9DC6}"/>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A289942B-2B6E-461D-8AE8-6AA784CF6565}" type="slidenum">
              <a:rPr lang="de-DE" altLang="en-US" sz="1100">
                <a:solidFill>
                  <a:srgbClr val="FFFFFF"/>
                </a:solidFill>
              </a:rPr>
              <a:pPr>
                <a:spcAft>
                  <a:spcPts val="600"/>
                </a:spcAft>
              </a:pPr>
              <a:t>16</a:t>
            </a:fld>
            <a:endParaRPr lang="de-DE" altLang="en-US" sz="110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233" name="Rectangle 5223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27" name="Rectangle 2">
            <a:extLst>
              <a:ext uri="{FF2B5EF4-FFF2-40B4-BE49-F238E27FC236}">
                <a16:creationId xmlns:a16="http://schemas.microsoft.com/office/drawing/2014/main" id="{A48075E1-C111-BAF8-EC8B-77FE101A7E72}"/>
              </a:ext>
            </a:extLst>
          </p:cNvPr>
          <p:cNvSpPr>
            <a:spLocks noGrp="1" noChangeArrowheads="1"/>
          </p:cNvSpPr>
          <p:nvPr>
            <p:ph type="title"/>
          </p:nvPr>
        </p:nvSpPr>
        <p:spPr>
          <a:xfrm>
            <a:off x="1136397" y="502022"/>
            <a:ext cx="9688296" cy="683842"/>
          </a:xfrm>
        </p:spPr>
        <p:txBody>
          <a:bodyPr anchor="b">
            <a:normAutofit/>
          </a:bodyPr>
          <a:lstStyle/>
          <a:p>
            <a:r>
              <a:rPr lang="en-US" altLang="en-US" sz="4000" dirty="0"/>
              <a:t>…Don’t talk to Strangers</a:t>
            </a:r>
          </a:p>
        </p:txBody>
      </p:sp>
      <p:sp>
        <p:nvSpPr>
          <p:cNvPr id="52228" name="Rectangle 3">
            <a:extLst>
              <a:ext uri="{FF2B5EF4-FFF2-40B4-BE49-F238E27FC236}">
                <a16:creationId xmlns:a16="http://schemas.microsoft.com/office/drawing/2014/main" id="{7380BBE6-1374-0FBA-4D0A-CEBD3B67C965}"/>
              </a:ext>
            </a:extLst>
          </p:cNvPr>
          <p:cNvSpPr>
            <a:spLocks noGrp="1" noChangeArrowheads="1"/>
          </p:cNvSpPr>
          <p:nvPr>
            <p:ph type="body" idx="1"/>
          </p:nvPr>
        </p:nvSpPr>
        <p:spPr>
          <a:xfrm>
            <a:off x="237067" y="1443038"/>
            <a:ext cx="11616266" cy="4429729"/>
          </a:xfrm>
        </p:spPr>
        <p:txBody>
          <a:bodyPr anchor="t">
            <a:noAutofit/>
          </a:bodyPr>
          <a:lstStyle/>
          <a:p>
            <a:pPr marL="342900" indent="-342900"/>
            <a:r>
              <a:rPr lang="en-US" altLang="en-US" sz="3600" dirty="0"/>
              <a:t>Problem:</a:t>
            </a:r>
          </a:p>
          <a:p>
            <a:pPr marL="742950" lvl="1" indent="-285750"/>
            <a:r>
              <a:rPr lang="en-US" altLang="en-US" sz="3600" dirty="0"/>
              <a:t>If an object has knowledge of the internal structure of other objects, then it suffers from high coupling. </a:t>
            </a:r>
          </a:p>
          <a:p>
            <a:pPr marL="742950" lvl="1" indent="-285750"/>
            <a:endParaRPr lang="en-US" altLang="en-US" sz="3600" dirty="0"/>
          </a:p>
          <a:p>
            <a:pPr marL="742950" lvl="1" indent="-285750"/>
            <a:r>
              <a:rPr lang="en-US" altLang="en-US" sz="3600" dirty="0"/>
              <a:t>If a client object has to use a service or obtain info from an indirect object, how can it do so without being coupled to knowledge of the internal structure of its direct server or indirect objects?</a:t>
            </a:r>
          </a:p>
        </p:txBody>
      </p:sp>
      <p:sp>
        <p:nvSpPr>
          <p:cNvPr id="52235" name="Rectangle 5223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37" name="Rectangle 5223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26" name="Slide Number Placeholder 3">
            <a:extLst>
              <a:ext uri="{FF2B5EF4-FFF2-40B4-BE49-F238E27FC236}">
                <a16:creationId xmlns:a16="http://schemas.microsoft.com/office/drawing/2014/main" id="{B2B348A9-5365-0E27-5A9A-FD1D1CB28652}"/>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00077CDE-3DB1-48E6-A4D7-7E0BE31D8D87}" type="slidenum">
              <a:rPr lang="de-DE" altLang="en-US" sz="1100">
                <a:solidFill>
                  <a:srgbClr val="FFFFFF"/>
                </a:solidFill>
              </a:rPr>
              <a:pPr>
                <a:spcAft>
                  <a:spcPts val="600"/>
                </a:spcAft>
              </a:pPr>
              <a:t>17</a:t>
            </a:fld>
            <a:endParaRPr lang="de-DE" altLang="en-US" sz="110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276" name="Rectangle 5327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78" name="Rectangle 5327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80" name="Rectangle 5327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82" name="Rectangle 5328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84" name="Rectangle 5328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51" name="Rectangle 2">
            <a:extLst>
              <a:ext uri="{FF2B5EF4-FFF2-40B4-BE49-F238E27FC236}">
                <a16:creationId xmlns:a16="http://schemas.microsoft.com/office/drawing/2014/main" id="{8A159E7C-2AFD-EA45-37BF-6444B2451FE4}"/>
              </a:ext>
            </a:extLst>
          </p:cNvPr>
          <p:cNvSpPr>
            <a:spLocks noGrp="1" noChangeArrowheads="1"/>
          </p:cNvSpPr>
          <p:nvPr>
            <p:ph type="title"/>
          </p:nvPr>
        </p:nvSpPr>
        <p:spPr>
          <a:xfrm>
            <a:off x="1371599" y="5510253"/>
            <a:ext cx="9895951" cy="1033669"/>
          </a:xfrm>
        </p:spPr>
        <p:txBody>
          <a:bodyPr>
            <a:normAutofit/>
          </a:bodyPr>
          <a:lstStyle/>
          <a:p>
            <a:r>
              <a:rPr lang="en-US" altLang="en-US" sz="4000">
                <a:solidFill>
                  <a:srgbClr val="FFFFFF"/>
                </a:solidFill>
              </a:rPr>
              <a:t>Don’t talk to Strangers – Example…</a:t>
            </a:r>
          </a:p>
        </p:txBody>
      </p:sp>
      <p:pic>
        <p:nvPicPr>
          <p:cNvPr id="53253" name="Picture 4">
            <a:extLst>
              <a:ext uri="{FF2B5EF4-FFF2-40B4-BE49-F238E27FC236}">
                <a16:creationId xmlns:a16="http://schemas.microsoft.com/office/drawing/2014/main" id="{0D03A9B8-6F7D-56CF-1ADE-DFFEEEEA08C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03597" y="191181"/>
            <a:ext cx="8311487" cy="2123577"/>
          </a:xfrm>
          <a:prstGeom prst="rect">
            <a:avLst/>
          </a:prstGeom>
          <a:solidFill>
            <a:schemeClr val="bg1"/>
          </a:solidFill>
          <a:extLst>
            <a:ext uri="{91240B29-F687-4F45-9708-019B960494DF}">
              <a14:hiddenLine xmlns:a14="http://schemas.microsoft.com/office/drawing/2010/main" w="12700">
                <a:solidFill>
                  <a:srgbClr val="000000"/>
                </a:solidFill>
                <a:miter lim="800000"/>
                <a:headEnd/>
                <a:tailEnd/>
              </a14:hiddenLine>
            </a:ext>
          </a:extLst>
        </p:spPr>
      </p:pic>
      <p:sp>
        <p:nvSpPr>
          <p:cNvPr id="53252" name="Rectangle 3">
            <a:extLst>
              <a:ext uri="{FF2B5EF4-FFF2-40B4-BE49-F238E27FC236}">
                <a16:creationId xmlns:a16="http://schemas.microsoft.com/office/drawing/2014/main" id="{D7E4E74D-145A-A08A-DDF1-B8B22245FCEB}"/>
              </a:ext>
            </a:extLst>
          </p:cNvPr>
          <p:cNvSpPr>
            <a:spLocks noGrp="1" noChangeArrowheads="1"/>
          </p:cNvSpPr>
          <p:nvPr>
            <p:ph type="body" idx="1"/>
          </p:nvPr>
        </p:nvSpPr>
        <p:spPr>
          <a:xfrm>
            <a:off x="614363" y="2554836"/>
            <a:ext cx="11089957" cy="2398345"/>
          </a:xfrm>
        </p:spPr>
        <p:txBody>
          <a:bodyPr anchor="ctr">
            <a:normAutofit/>
          </a:bodyPr>
          <a:lstStyle/>
          <a:p>
            <a:pPr marL="342900" indent="-342900"/>
            <a:r>
              <a:rPr lang="en-US" altLang="en-US" sz="2400" dirty="0"/>
              <a:t>In POST app, </a:t>
            </a:r>
            <a:r>
              <a:rPr lang="en-US" altLang="en-US" sz="2400" i="1" dirty="0"/>
              <a:t>POST</a:t>
            </a:r>
            <a:r>
              <a:rPr lang="en-US" altLang="en-US" sz="2400" dirty="0"/>
              <a:t> instance has attribute referring to </a:t>
            </a:r>
            <a:r>
              <a:rPr lang="en-US" altLang="en-US" sz="2400" i="1" dirty="0"/>
              <a:t>Sale</a:t>
            </a:r>
            <a:r>
              <a:rPr lang="en-US" altLang="en-US" sz="2400" dirty="0"/>
              <a:t>, which has an attribute referring to </a:t>
            </a:r>
            <a:r>
              <a:rPr lang="en-US" altLang="en-US" sz="2400" i="1" dirty="0"/>
              <a:t>Payment</a:t>
            </a:r>
            <a:r>
              <a:rPr lang="en-US" altLang="en-US" sz="2400" dirty="0"/>
              <a:t>.</a:t>
            </a:r>
          </a:p>
          <a:p>
            <a:pPr marL="342900" indent="-342900"/>
            <a:r>
              <a:rPr lang="en-US" altLang="en-US" sz="2400" i="1" dirty="0"/>
              <a:t>POST</a:t>
            </a:r>
            <a:r>
              <a:rPr lang="en-US" altLang="en-US" sz="2400" dirty="0"/>
              <a:t> instances support </a:t>
            </a:r>
            <a:r>
              <a:rPr lang="en-US" altLang="en-US" sz="2400" i="1" dirty="0" err="1"/>
              <a:t>paymentAmount</a:t>
            </a:r>
            <a:r>
              <a:rPr lang="en-US" altLang="en-US" sz="2400" dirty="0"/>
              <a:t> op, which returns the current amount tendered for the payment.</a:t>
            </a:r>
          </a:p>
          <a:p>
            <a:pPr marL="342900" indent="-342900"/>
            <a:r>
              <a:rPr lang="en-US" altLang="en-US" sz="2400" i="1" dirty="0"/>
              <a:t>Sale</a:t>
            </a:r>
            <a:r>
              <a:rPr lang="en-US" altLang="en-US" sz="2400" dirty="0"/>
              <a:t> instances support </a:t>
            </a:r>
            <a:r>
              <a:rPr lang="en-US" altLang="en-US" sz="2400" i="1" dirty="0"/>
              <a:t>payment</a:t>
            </a:r>
            <a:r>
              <a:rPr lang="en-US" altLang="en-US" sz="2400" dirty="0"/>
              <a:t> op, which returns the </a:t>
            </a:r>
            <a:r>
              <a:rPr lang="en-US" altLang="en-US" sz="2400" i="1" dirty="0"/>
              <a:t>Payment</a:t>
            </a:r>
            <a:r>
              <a:rPr lang="en-US" altLang="en-US" sz="2400" dirty="0"/>
              <a:t> instance associated with the </a:t>
            </a:r>
            <a:r>
              <a:rPr lang="en-US" altLang="en-US" sz="2400" i="1" dirty="0"/>
              <a:t>Sale</a:t>
            </a:r>
            <a:r>
              <a:rPr lang="en-US" altLang="en-US" sz="2400" dirty="0"/>
              <a:t>.</a:t>
            </a:r>
          </a:p>
          <a:p>
            <a:pPr marL="342900" indent="-342900"/>
            <a:endParaRPr lang="en-US" altLang="en-US" sz="1400" dirty="0"/>
          </a:p>
        </p:txBody>
      </p:sp>
      <p:sp>
        <p:nvSpPr>
          <p:cNvPr id="53250" name="Slide Number Placeholder 3">
            <a:extLst>
              <a:ext uri="{FF2B5EF4-FFF2-40B4-BE49-F238E27FC236}">
                <a16:creationId xmlns:a16="http://schemas.microsoft.com/office/drawing/2014/main" id="{F5673916-0D6C-0A01-51E3-16A500993C2A}"/>
              </a:ext>
            </a:extLst>
          </p:cNvPr>
          <p:cNvSpPr>
            <a:spLocks noGrp="1"/>
          </p:cNvSpPr>
          <p:nvPr>
            <p:ph type="sldNum" sz="quarter" idx="10"/>
          </p:nvPr>
        </p:nvSpPr>
        <p:spPr>
          <a:xfrm>
            <a:off x="11704320" y="6455431"/>
            <a:ext cx="445913"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BDEA83F3-2C78-4D46-BCF7-476B760C33AE}" type="slidenum">
              <a:rPr lang="de-DE" altLang="en-US" sz="1100">
                <a:solidFill>
                  <a:srgbClr val="FFFFFF"/>
                </a:solidFill>
              </a:rPr>
              <a:pPr>
                <a:spcAft>
                  <a:spcPts val="600"/>
                </a:spcAft>
              </a:pPr>
              <a:t>18</a:t>
            </a:fld>
            <a:endParaRPr lang="de-DE" altLang="en-US" sz="1100">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95A4A4A6-A662-929A-E677-B7A26196C9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653993F4-75B2-46FC-85FE-895AC89EE369}" type="slidenum">
              <a:rPr lang="de-DE" altLang="en-US" sz="1000"/>
              <a:pPr/>
              <a:t>19</a:t>
            </a:fld>
            <a:endParaRPr lang="de-DE" altLang="en-US" sz="1000"/>
          </a:p>
        </p:txBody>
      </p:sp>
      <p:sp>
        <p:nvSpPr>
          <p:cNvPr id="54275" name="Rectangle 2">
            <a:extLst>
              <a:ext uri="{FF2B5EF4-FFF2-40B4-BE49-F238E27FC236}">
                <a16:creationId xmlns:a16="http://schemas.microsoft.com/office/drawing/2014/main" id="{CB86C454-91DF-AA22-0A72-CED22845EE0E}"/>
              </a:ext>
            </a:extLst>
          </p:cNvPr>
          <p:cNvSpPr>
            <a:spLocks noGrp="1" noChangeArrowheads="1"/>
          </p:cNvSpPr>
          <p:nvPr>
            <p:ph type="title"/>
          </p:nvPr>
        </p:nvSpPr>
        <p:spPr>
          <a:xfrm>
            <a:off x="2133600" y="304800"/>
            <a:ext cx="8153400" cy="1143000"/>
          </a:xfrm>
        </p:spPr>
        <p:txBody>
          <a:bodyPr/>
          <a:lstStyle/>
          <a:p>
            <a:r>
              <a:rPr lang="en-US" altLang="en-US" sz="4000"/>
              <a:t>Don’t talk to Strangers – Example…</a:t>
            </a:r>
          </a:p>
        </p:txBody>
      </p:sp>
      <p:sp>
        <p:nvSpPr>
          <p:cNvPr id="54276" name="Rectangle 3">
            <a:extLst>
              <a:ext uri="{FF2B5EF4-FFF2-40B4-BE49-F238E27FC236}">
                <a16:creationId xmlns:a16="http://schemas.microsoft.com/office/drawing/2014/main" id="{1579B082-16FE-A625-47B1-BA190D3F9C3C}"/>
              </a:ext>
            </a:extLst>
          </p:cNvPr>
          <p:cNvSpPr>
            <a:spLocks noGrp="1" noChangeArrowheads="1"/>
          </p:cNvSpPr>
          <p:nvPr>
            <p:ph type="body" idx="1"/>
          </p:nvPr>
        </p:nvSpPr>
        <p:spPr>
          <a:xfrm>
            <a:off x="2362200" y="1905000"/>
            <a:ext cx="7772400" cy="4419600"/>
          </a:xfrm>
        </p:spPr>
        <p:txBody>
          <a:bodyPr/>
          <a:lstStyle/>
          <a:p>
            <a:pPr marL="342900" indent="-342900"/>
            <a:r>
              <a:rPr lang="en-US" altLang="en-US"/>
              <a:t>One approach is</a:t>
            </a:r>
          </a:p>
        </p:txBody>
      </p:sp>
      <p:pic>
        <p:nvPicPr>
          <p:cNvPr id="54277" name="Picture 4">
            <a:extLst>
              <a:ext uri="{FF2B5EF4-FFF2-40B4-BE49-F238E27FC236}">
                <a16:creationId xmlns:a16="http://schemas.microsoft.com/office/drawing/2014/main" id="{4796F92C-0862-ECAB-CBC8-93289682C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349500"/>
            <a:ext cx="6783388" cy="44323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a:extLst>
              <a:ext uri="{FF2B5EF4-FFF2-40B4-BE49-F238E27FC236}">
                <a16:creationId xmlns:a16="http://schemas.microsoft.com/office/drawing/2014/main" id="{C2B16558-5E5F-CB7E-3C5B-DB026B24F9E0}"/>
              </a:ext>
            </a:extLst>
          </p:cNvPr>
          <p:cNvSpPr>
            <a:spLocks noGrp="1"/>
          </p:cNvSpPr>
          <p:nvPr>
            <p:ph type="sldNum" sz="quarter" idx="10"/>
          </p:nvPr>
        </p:nvSpPr>
        <p:spPr>
          <a:xfrm>
            <a:off x="11291711" y="640080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57018BEE-EFC7-4835-820E-EE728BEDC92B}" type="slidenum">
              <a:rPr lang="de-DE" altLang="en-US" sz="1000"/>
              <a:pPr/>
              <a:t>20</a:t>
            </a:fld>
            <a:endParaRPr lang="de-DE" altLang="en-US" sz="1000"/>
          </a:p>
        </p:txBody>
      </p:sp>
      <p:sp>
        <p:nvSpPr>
          <p:cNvPr id="55299" name="Rectangle 2">
            <a:extLst>
              <a:ext uri="{FF2B5EF4-FFF2-40B4-BE49-F238E27FC236}">
                <a16:creationId xmlns:a16="http://schemas.microsoft.com/office/drawing/2014/main" id="{390188F8-7E44-EC66-F9DF-900D75200796}"/>
              </a:ext>
            </a:extLst>
          </p:cNvPr>
          <p:cNvSpPr>
            <a:spLocks noGrp="1" noChangeArrowheads="1"/>
          </p:cNvSpPr>
          <p:nvPr>
            <p:ph type="title"/>
          </p:nvPr>
        </p:nvSpPr>
        <p:spPr>
          <a:xfrm>
            <a:off x="2133600" y="304800"/>
            <a:ext cx="8153400" cy="1143000"/>
          </a:xfrm>
        </p:spPr>
        <p:txBody>
          <a:bodyPr/>
          <a:lstStyle/>
          <a:p>
            <a:r>
              <a:rPr lang="en-US" altLang="en-US" sz="4000"/>
              <a:t>Don’t talk to Strangers – Example…</a:t>
            </a:r>
          </a:p>
        </p:txBody>
      </p:sp>
      <p:pic>
        <p:nvPicPr>
          <p:cNvPr id="55300" name="Picture 3">
            <a:extLst>
              <a:ext uri="{FF2B5EF4-FFF2-40B4-BE49-F238E27FC236}">
                <a16:creationId xmlns:a16="http://schemas.microsoft.com/office/drawing/2014/main" id="{475CA05B-9457-FB82-1937-8236C9C41A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1" y="3036888"/>
            <a:ext cx="6773863" cy="37449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pic>
      <p:sp>
        <p:nvSpPr>
          <p:cNvPr id="55301" name="Rectangle 4">
            <a:extLst>
              <a:ext uri="{FF2B5EF4-FFF2-40B4-BE49-F238E27FC236}">
                <a16:creationId xmlns:a16="http://schemas.microsoft.com/office/drawing/2014/main" id="{DE77DE64-D7B6-C7B6-6548-2D7A46841D50}"/>
              </a:ext>
            </a:extLst>
          </p:cNvPr>
          <p:cNvSpPr>
            <a:spLocks noGrp="1" noChangeArrowheads="1"/>
          </p:cNvSpPr>
          <p:nvPr>
            <p:ph type="body" idx="1"/>
          </p:nvPr>
        </p:nvSpPr>
        <p:spPr>
          <a:xfrm>
            <a:off x="372533" y="1981200"/>
            <a:ext cx="11514667" cy="4419600"/>
          </a:xfrm>
        </p:spPr>
        <p:txBody>
          <a:bodyPr/>
          <a:lstStyle/>
          <a:p>
            <a:pPr marL="342900" indent="-342900"/>
            <a:r>
              <a:rPr lang="en-US" altLang="en-US" dirty="0"/>
              <a:t>A better approach is to add responsibility to direct object (</a:t>
            </a:r>
            <a:r>
              <a:rPr lang="en-US" altLang="en-US" i="1" dirty="0"/>
              <a:t>Sale</a:t>
            </a:r>
            <a:r>
              <a:rPr lang="en-US" altLang="en-US" dirty="0"/>
              <a:t>) to return payment amount to </a:t>
            </a:r>
            <a:r>
              <a:rPr lang="en-US" altLang="en-US" i="1" dirty="0"/>
              <a:t>POST</a:t>
            </a:r>
          </a:p>
          <a:p>
            <a:pPr marL="342900" indent="-342900"/>
            <a:r>
              <a:rPr lang="en-US" altLang="en-US" dirty="0"/>
              <a:t>Known as </a:t>
            </a:r>
            <a:r>
              <a:rPr lang="en-US" altLang="en-US" b="1" dirty="0"/>
              <a:t>promoting the interface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684E51-F97E-A38C-06A4-030DC56A06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5C8225E-DC48-1C0D-77BB-43C351894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CDC7EB-9C24-B572-2B00-CC590D01788A}"/>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dirty="0"/>
              <a:t>Tensions</a:t>
            </a:r>
          </a:p>
        </p:txBody>
      </p:sp>
      <p:pic>
        <p:nvPicPr>
          <p:cNvPr id="4" name="Picture 3">
            <a:extLst>
              <a:ext uri="{FF2B5EF4-FFF2-40B4-BE49-F238E27FC236}">
                <a16:creationId xmlns:a16="http://schemas.microsoft.com/office/drawing/2014/main" id="{A972168E-B6B1-3A5C-CB4A-5F5D0AE3B04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717" r="32717"/>
          <a:stretch/>
        </p:blipFill>
        <p:spPr>
          <a:xfrm>
            <a:off x="20" y="10"/>
            <a:ext cx="4992985" cy="6857990"/>
          </a:xfrm>
          <a:prstGeom prst="rect">
            <a:avLst/>
          </a:prstGeom>
        </p:spPr>
      </p:pic>
      <p:sp>
        <p:nvSpPr>
          <p:cNvPr id="3" name="TextBox 2">
            <a:extLst>
              <a:ext uri="{FF2B5EF4-FFF2-40B4-BE49-F238E27FC236}">
                <a16:creationId xmlns:a16="http://schemas.microsoft.com/office/drawing/2014/main" id="{7058E4A0-6439-2424-D823-389B9E71E7D7}"/>
              </a:ext>
            </a:extLst>
          </p:cNvPr>
          <p:cNvSpPr txBox="1"/>
          <p:nvPr/>
        </p:nvSpPr>
        <p:spPr>
          <a:xfrm>
            <a:off x="20" y="6858000"/>
            <a:ext cx="4992985" cy="230832"/>
          </a:xfrm>
          <a:prstGeom prst="rect">
            <a:avLst/>
          </a:prstGeom>
          <a:noFill/>
        </p:spPr>
        <p:txBody>
          <a:bodyPr wrap="square" rtlCol="0">
            <a:spAutoFit/>
          </a:bodyPr>
          <a:lstStyle/>
          <a:p>
            <a:r>
              <a:rPr lang="en-US" sz="900">
                <a:hlinkClick r:id="rId3" tooltip="https://ml.wikipedia.org/wiki/%E0%B4%A4%E0%B4%A8%E0%B4%A8_%E0%B4%AC%E0%B4%B2%E0%B4%82"/>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399940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373D1-166A-F0B9-11DE-F2AEB17AB57A}"/>
              </a:ext>
            </a:extLst>
          </p:cNvPr>
          <p:cNvSpPr>
            <a:spLocks noGrp="1"/>
          </p:cNvSpPr>
          <p:nvPr>
            <p:ph type="title"/>
          </p:nvPr>
        </p:nvSpPr>
        <p:spPr/>
        <p:txBody>
          <a:bodyPr/>
          <a:lstStyle/>
          <a:p>
            <a:r>
              <a:rPr lang="en-US" dirty="0" err="1"/>
              <a:t>Graps</a:t>
            </a:r>
            <a:r>
              <a:rPr lang="en-US" dirty="0"/>
              <a:t> Pattern Tension Examples</a:t>
            </a:r>
          </a:p>
        </p:txBody>
      </p:sp>
      <p:sp>
        <p:nvSpPr>
          <p:cNvPr id="3" name="Content Placeholder 2">
            <a:extLst>
              <a:ext uri="{FF2B5EF4-FFF2-40B4-BE49-F238E27FC236}">
                <a16:creationId xmlns:a16="http://schemas.microsoft.com/office/drawing/2014/main" id="{C87038B8-5D9C-12E9-9163-41FFACD9EA16}"/>
              </a:ext>
            </a:extLst>
          </p:cNvPr>
          <p:cNvSpPr>
            <a:spLocks noGrp="1"/>
          </p:cNvSpPr>
          <p:nvPr>
            <p:ph idx="1"/>
          </p:nvPr>
        </p:nvSpPr>
        <p:spPr/>
        <p:txBody>
          <a:bodyPr/>
          <a:lstStyle/>
          <a:p>
            <a:r>
              <a:rPr lang="en-US" dirty="0"/>
              <a:t>Controller vs High Cohesion</a:t>
            </a:r>
          </a:p>
          <a:p>
            <a:pPr lvl="1"/>
            <a:r>
              <a:rPr lang="en-US" dirty="0"/>
              <a:t>Controller says controller class should handle system operations</a:t>
            </a:r>
          </a:p>
          <a:p>
            <a:pPr lvl="1"/>
            <a:r>
              <a:rPr lang="en-US" dirty="0"/>
              <a:t>High Cohesion says you should avoid bloated classes</a:t>
            </a:r>
          </a:p>
          <a:p>
            <a:pPr lvl="1"/>
            <a:r>
              <a:rPr lang="en-US" dirty="0"/>
              <a:t>Need to compromise…</a:t>
            </a:r>
          </a:p>
          <a:p>
            <a:r>
              <a:rPr lang="en-US" dirty="0"/>
              <a:t>Polymorphism vs Indirection</a:t>
            </a:r>
          </a:p>
          <a:p>
            <a:pPr lvl="1"/>
            <a:r>
              <a:rPr lang="en-US" dirty="0"/>
              <a:t>Polymorphism delegates to subclasses</a:t>
            </a:r>
          </a:p>
          <a:p>
            <a:pPr lvl="1"/>
            <a:r>
              <a:rPr lang="en-US" dirty="0"/>
              <a:t>Indirection requires a mediator (though the mediator can use polymorphism)</a:t>
            </a:r>
          </a:p>
          <a:p>
            <a:endParaRPr lang="en-US" dirty="0"/>
          </a:p>
          <a:p>
            <a:pPr lvl="1"/>
            <a:endParaRPr lang="en-US" dirty="0"/>
          </a:p>
        </p:txBody>
      </p:sp>
    </p:spTree>
    <p:extLst>
      <p:ext uri="{BB962C8B-B14F-4D97-AF65-F5344CB8AC3E}">
        <p14:creationId xmlns:p14="http://schemas.microsoft.com/office/powerpoint/2010/main" val="738671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BD39-F777-572B-EC46-9AC25D026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745DB-6345-CDA7-7927-995F1C09E69C}"/>
              </a:ext>
            </a:extLst>
          </p:cNvPr>
          <p:cNvSpPr>
            <a:spLocks noGrp="1"/>
          </p:cNvSpPr>
          <p:nvPr>
            <p:ph type="title"/>
          </p:nvPr>
        </p:nvSpPr>
        <p:spPr/>
        <p:txBody>
          <a:bodyPr/>
          <a:lstStyle/>
          <a:p>
            <a:r>
              <a:rPr lang="en-US" dirty="0" err="1"/>
              <a:t>Graps</a:t>
            </a:r>
            <a:r>
              <a:rPr lang="en-US" dirty="0"/>
              <a:t> Pattern Tension Examples</a:t>
            </a:r>
          </a:p>
        </p:txBody>
      </p:sp>
      <p:sp>
        <p:nvSpPr>
          <p:cNvPr id="3" name="Content Placeholder 2">
            <a:extLst>
              <a:ext uri="{FF2B5EF4-FFF2-40B4-BE49-F238E27FC236}">
                <a16:creationId xmlns:a16="http://schemas.microsoft.com/office/drawing/2014/main" id="{BFDBC7FB-D7BE-5300-9DB3-992D8582C3CA}"/>
              </a:ext>
            </a:extLst>
          </p:cNvPr>
          <p:cNvSpPr>
            <a:spLocks noGrp="1"/>
          </p:cNvSpPr>
          <p:nvPr>
            <p:ph idx="1"/>
          </p:nvPr>
        </p:nvSpPr>
        <p:spPr/>
        <p:txBody>
          <a:bodyPr>
            <a:normAutofit lnSpcReduction="10000"/>
          </a:bodyPr>
          <a:lstStyle/>
          <a:p>
            <a:r>
              <a:rPr lang="en-US" dirty="0"/>
              <a:t>Fabrication vs Information Expert</a:t>
            </a:r>
          </a:p>
          <a:p>
            <a:pPr lvl="1"/>
            <a:r>
              <a:rPr lang="en-US" dirty="0"/>
              <a:t>Expert requires method where the information is</a:t>
            </a:r>
          </a:p>
          <a:p>
            <a:pPr lvl="1"/>
            <a:r>
              <a:rPr lang="en-US" dirty="0"/>
              <a:t>Fabrication creates new class to reduce coupling</a:t>
            </a:r>
          </a:p>
          <a:p>
            <a:pPr lvl="1"/>
            <a:r>
              <a:rPr lang="en-US" dirty="0"/>
              <a:t>Expert would move logging in every class, fabrication would centralize it</a:t>
            </a:r>
          </a:p>
          <a:p>
            <a:r>
              <a:rPr lang="en-US" dirty="0"/>
              <a:t>Expert vs Law of Demeter</a:t>
            </a:r>
          </a:p>
          <a:p>
            <a:pPr lvl="1"/>
            <a:r>
              <a:rPr lang="en-US" dirty="0"/>
              <a:t>Expert says to have the method where the data is and call it directly</a:t>
            </a:r>
          </a:p>
          <a:p>
            <a:pPr lvl="1"/>
            <a:r>
              <a:rPr lang="en-US" dirty="0"/>
              <a:t>Law of Demeter tells you to avoid talking to strangers (not directly connected classes)</a:t>
            </a:r>
          </a:p>
          <a:p>
            <a:r>
              <a:rPr lang="en-US" dirty="0"/>
              <a:t>And many others….</a:t>
            </a:r>
          </a:p>
          <a:p>
            <a:pPr lvl="1"/>
            <a:r>
              <a:rPr lang="en-US" dirty="0"/>
              <a:t>Fun exercise.  Use your favorite AI and find a tension between any pair of GRASP patterns</a:t>
            </a:r>
          </a:p>
        </p:txBody>
      </p:sp>
    </p:spTree>
    <p:extLst>
      <p:ext uri="{BB962C8B-B14F-4D97-AF65-F5344CB8AC3E}">
        <p14:creationId xmlns:p14="http://schemas.microsoft.com/office/powerpoint/2010/main" val="2982701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30CFA7-1521-5A28-0779-3410FA7649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3F2668-DA28-3085-803A-454FE6E6A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538102-A36A-347E-1C9E-67750FC74E73}"/>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dirty="0"/>
              <a:t>UI/UX Design</a:t>
            </a:r>
          </a:p>
        </p:txBody>
      </p:sp>
      <p:pic>
        <p:nvPicPr>
          <p:cNvPr id="4" name="Picture 3" descr="Transparent UI design">
            <a:extLst>
              <a:ext uri="{FF2B5EF4-FFF2-40B4-BE49-F238E27FC236}">
                <a16:creationId xmlns:a16="http://schemas.microsoft.com/office/drawing/2014/main" id="{09A96CFB-2BDE-0404-A34E-1875F30725C7}"/>
              </a:ext>
            </a:extLst>
          </p:cNvPr>
          <p:cNvPicPr>
            <a:picLocks noChangeAspect="1"/>
          </p:cNvPicPr>
          <p:nvPr/>
        </p:nvPicPr>
        <p:blipFill>
          <a:blip r:embed="rId2">
            <a:extLst>
              <a:ext uri="{28A0092B-C50C-407E-A947-70E740481C1C}">
                <a14:useLocalDpi xmlns:a14="http://schemas.microsoft.com/office/drawing/2010/main" val="0"/>
              </a:ext>
            </a:extLst>
          </a:blip>
          <a:srcRect l="25776" r="25776"/>
          <a:stretch/>
        </p:blipFill>
        <p:spPr>
          <a:xfrm>
            <a:off x="20" y="10"/>
            <a:ext cx="4992985" cy="6857990"/>
          </a:xfrm>
          <a:prstGeom prst="rect">
            <a:avLst/>
          </a:prstGeom>
        </p:spPr>
      </p:pic>
    </p:spTree>
    <p:extLst>
      <p:ext uri="{BB962C8B-B14F-4D97-AF65-F5344CB8AC3E}">
        <p14:creationId xmlns:p14="http://schemas.microsoft.com/office/powerpoint/2010/main" val="292984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EDD1-B81E-48C5-3FCC-001552F36A7A}"/>
              </a:ext>
            </a:extLst>
          </p:cNvPr>
          <p:cNvSpPr>
            <a:spLocks noGrp="1"/>
          </p:cNvSpPr>
          <p:nvPr>
            <p:ph type="title"/>
          </p:nvPr>
        </p:nvSpPr>
        <p:spPr/>
        <p:txBody>
          <a:bodyPr/>
          <a:lstStyle/>
          <a:p>
            <a:r>
              <a:rPr lang="en-US" dirty="0"/>
              <a:t>Cardinal Rules</a:t>
            </a:r>
          </a:p>
        </p:txBody>
      </p:sp>
      <p:sp>
        <p:nvSpPr>
          <p:cNvPr id="3" name="Content Placeholder 2">
            <a:extLst>
              <a:ext uri="{FF2B5EF4-FFF2-40B4-BE49-F238E27FC236}">
                <a16:creationId xmlns:a16="http://schemas.microsoft.com/office/drawing/2014/main" id="{4BA25BF1-BFA1-5B20-F2C5-154653B6B552}"/>
              </a:ext>
            </a:extLst>
          </p:cNvPr>
          <p:cNvSpPr>
            <a:spLocks noGrp="1"/>
          </p:cNvSpPr>
          <p:nvPr>
            <p:ph idx="1"/>
          </p:nvPr>
        </p:nvSpPr>
        <p:spPr/>
        <p:txBody>
          <a:bodyPr>
            <a:normAutofit fontScale="85000" lnSpcReduction="20000"/>
          </a:bodyPr>
          <a:lstStyle/>
          <a:p>
            <a:r>
              <a:rPr lang="en-US" dirty="0"/>
              <a:t>No business logic in the UI layer</a:t>
            </a:r>
          </a:p>
          <a:p>
            <a:r>
              <a:rPr lang="en-US" dirty="0"/>
              <a:t>Put the user in control</a:t>
            </a:r>
          </a:p>
          <a:p>
            <a:pPr lvl="1"/>
            <a:r>
              <a:rPr lang="en-US" dirty="0"/>
              <a:t>If there are multiple interaction modes make it easy to switch between them</a:t>
            </a:r>
          </a:p>
          <a:p>
            <a:pPr lvl="1"/>
            <a:r>
              <a:rPr lang="en-US" dirty="0"/>
              <a:t>Allow different forms of input (keyboard, mouse, other)</a:t>
            </a:r>
          </a:p>
          <a:p>
            <a:pPr lvl="1"/>
            <a:r>
              <a:rPr lang="en-US" dirty="0"/>
              <a:t>Allow operations to be interruptible and undoable</a:t>
            </a:r>
          </a:p>
          <a:p>
            <a:pPr lvl="1"/>
            <a:r>
              <a:rPr lang="en-US" dirty="0"/>
              <a:t>Casual vs Advanced mode</a:t>
            </a:r>
          </a:p>
          <a:p>
            <a:pPr lvl="1"/>
            <a:r>
              <a:rPr lang="en-US" dirty="0"/>
              <a:t>Make on screen object manipulation mimic the physical world</a:t>
            </a:r>
          </a:p>
          <a:p>
            <a:r>
              <a:rPr lang="en-US" dirty="0"/>
              <a:t>Reduce the user’s memory load</a:t>
            </a:r>
          </a:p>
          <a:p>
            <a:pPr lvl="1"/>
            <a:r>
              <a:rPr lang="en-US" dirty="0"/>
              <a:t>Meaningful defaults</a:t>
            </a:r>
          </a:p>
          <a:p>
            <a:pPr lvl="1"/>
            <a:r>
              <a:rPr lang="en-US" dirty="0"/>
              <a:t>Shortcuts</a:t>
            </a:r>
          </a:p>
          <a:p>
            <a:pPr lvl="1"/>
            <a:r>
              <a:rPr lang="en-US" dirty="0"/>
              <a:t>Disclose information in easy to consume chunks</a:t>
            </a:r>
          </a:p>
          <a:p>
            <a:pPr lvl="1"/>
            <a:r>
              <a:rPr lang="en-US" dirty="0"/>
              <a:t>Avoid lots of text</a:t>
            </a:r>
          </a:p>
          <a:p>
            <a:r>
              <a:rPr lang="en-US" dirty="0"/>
              <a:t>Make the interface consistent</a:t>
            </a:r>
          </a:p>
          <a:p>
            <a:pPr lvl="1"/>
            <a:r>
              <a:rPr lang="en-US" dirty="0"/>
              <a:t>Apps in a family should have a similar feel</a:t>
            </a:r>
          </a:p>
        </p:txBody>
      </p:sp>
    </p:spTree>
    <p:extLst>
      <p:ext uri="{BB962C8B-B14F-4D97-AF65-F5344CB8AC3E}">
        <p14:creationId xmlns:p14="http://schemas.microsoft.com/office/powerpoint/2010/main" val="574230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2E54A-A271-943F-8684-E555D5DC288A}"/>
              </a:ext>
            </a:extLst>
          </p:cNvPr>
          <p:cNvSpPr>
            <a:spLocks noGrp="1"/>
          </p:cNvSpPr>
          <p:nvPr>
            <p:ph type="title"/>
          </p:nvPr>
        </p:nvSpPr>
        <p:spPr/>
        <p:txBody>
          <a:bodyPr/>
          <a:lstStyle/>
          <a:p>
            <a:r>
              <a:rPr lang="en-US" dirty="0"/>
              <a:t>Design Workflow</a:t>
            </a:r>
          </a:p>
        </p:txBody>
      </p:sp>
      <p:pic>
        <p:nvPicPr>
          <p:cNvPr id="5" name="Picture 4" descr="A diagram of a design process&#10;&#10;AI-generated content may be incorrect.">
            <a:extLst>
              <a:ext uri="{FF2B5EF4-FFF2-40B4-BE49-F238E27FC236}">
                <a16:creationId xmlns:a16="http://schemas.microsoft.com/office/drawing/2014/main" id="{FC6C17E6-6963-E110-D27F-70A347CB3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1455526"/>
            <a:ext cx="7772400" cy="5178026"/>
          </a:xfrm>
          <a:prstGeom prst="rect">
            <a:avLst/>
          </a:prstGeom>
        </p:spPr>
      </p:pic>
    </p:spTree>
    <p:extLst>
      <p:ext uri="{BB962C8B-B14F-4D97-AF65-F5344CB8AC3E}">
        <p14:creationId xmlns:p14="http://schemas.microsoft.com/office/powerpoint/2010/main" val="3561112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293D-04EB-4A28-1172-1F5375F72365}"/>
              </a:ext>
            </a:extLst>
          </p:cNvPr>
          <p:cNvSpPr>
            <a:spLocks noGrp="1"/>
          </p:cNvSpPr>
          <p:nvPr>
            <p:ph type="title"/>
          </p:nvPr>
        </p:nvSpPr>
        <p:spPr/>
        <p:txBody>
          <a:bodyPr/>
          <a:lstStyle/>
          <a:p>
            <a:r>
              <a:rPr lang="en-US" dirty="0"/>
              <a:t>Mapping Objectives to Interface Actions</a:t>
            </a:r>
          </a:p>
        </p:txBody>
      </p:sp>
      <p:pic>
        <p:nvPicPr>
          <p:cNvPr id="5" name="Picture 4" descr="A graphic design of a website&#10;&#10;AI-generated content may be incorrect.">
            <a:extLst>
              <a:ext uri="{FF2B5EF4-FFF2-40B4-BE49-F238E27FC236}">
                <a16:creationId xmlns:a16="http://schemas.microsoft.com/office/drawing/2014/main" id="{5D43A700-A961-3E72-FF7B-3A95539A3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1934163"/>
            <a:ext cx="7772400" cy="4558712"/>
          </a:xfrm>
          <a:prstGeom prst="rect">
            <a:avLst/>
          </a:prstGeom>
        </p:spPr>
      </p:pic>
    </p:spTree>
    <p:extLst>
      <p:ext uri="{BB962C8B-B14F-4D97-AF65-F5344CB8AC3E}">
        <p14:creationId xmlns:p14="http://schemas.microsoft.com/office/powerpoint/2010/main" val="1039134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5DBEF-B3A5-583B-BA6A-5125BF00D7C1}"/>
              </a:ext>
            </a:extLst>
          </p:cNvPr>
          <p:cNvSpPr>
            <a:spLocks noGrp="1"/>
          </p:cNvSpPr>
          <p:nvPr>
            <p:ph type="title"/>
          </p:nvPr>
        </p:nvSpPr>
        <p:spPr/>
        <p:txBody>
          <a:bodyPr/>
          <a:lstStyle/>
          <a:p>
            <a:r>
              <a:rPr lang="en-US" dirty="0"/>
              <a:t>Interface Design Steps</a:t>
            </a:r>
          </a:p>
        </p:txBody>
      </p:sp>
      <p:sp>
        <p:nvSpPr>
          <p:cNvPr id="3" name="Content Placeholder 2">
            <a:extLst>
              <a:ext uri="{FF2B5EF4-FFF2-40B4-BE49-F238E27FC236}">
                <a16:creationId xmlns:a16="http://schemas.microsoft.com/office/drawing/2014/main" id="{0997EE38-5E59-D3FF-5976-6356AAD4BDFB}"/>
              </a:ext>
            </a:extLst>
          </p:cNvPr>
          <p:cNvSpPr>
            <a:spLocks noGrp="1"/>
          </p:cNvSpPr>
          <p:nvPr>
            <p:ph idx="1"/>
          </p:nvPr>
        </p:nvSpPr>
        <p:spPr/>
        <p:txBody>
          <a:bodyPr>
            <a:normAutofit fontScale="92500" lnSpcReduction="20000"/>
          </a:bodyPr>
          <a:lstStyle/>
          <a:p>
            <a:pPr marL="514350" indent="-514350">
              <a:buFont typeface="+mj-lt"/>
              <a:buAutoNum type="arabicPeriod"/>
            </a:pPr>
            <a:r>
              <a:rPr lang="en-US" dirty="0"/>
              <a:t>Review use cases/requirements</a:t>
            </a:r>
          </a:p>
          <a:p>
            <a:pPr marL="514350" indent="-514350">
              <a:buFont typeface="+mj-lt"/>
              <a:buAutoNum type="arabicPeriod"/>
            </a:pPr>
            <a:r>
              <a:rPr lang="en-US" dirty="0"/>
              <a:t>Develop rough sketch of interface layout</a:t>
            </a:r>
          </a:p>
          <a:p>
            <a:pPr marL="514350" indent="-514350">
              <a:buFont typeface="+mj-lt"/>
              <a:buAutoNum type="arabicPeriod"/>
            </a:pPr>
            <a:r>
              <a:rPr lang="en-US" dirty="0"/>
              <a:t>Map user objectives into specific interface actions</a:t>
            </a:r>
          </a:p>
          <a:p>
            <a:pPr marL="514350" indent="-514350">
              <a:buFont typeface="+mj-lt"/>
              <a:buAutoNum type="arabicPeriod"/>
            </a:pPr>
            <a:r>
              <a:rPr lang="en-US" dirty="0"/>
              <a:t>Define a set of user steps associated with each action</a:t>
            </a:r>
          </a:p>
          <a:p>
            <a:pPr marL="514350" indent="-514350">
              <a:buFont typeface="+mj-lt"/>
              <a:buAutoNum type="arabicPeriod"/>
            </a:pPr>
            <a:r>
              <a:rPr lang="en-US" dirty="0"/>
              <a:t>Storyboard screen images for each action</a:t>
            </a:r>
          </a:p>
          <a:p>
            <a:pPr marL="514350" indent="-514350">
              <a:buFont typeface="+mj-lt"/>
              <a:buAutoNum type="arabicPeriod"/>
            </a:pPr>
            <a:r>
              <a:rPr lang="en-US" dirty="0"/>
              <a:t>Ask someone with aesthetic acumen to refine layout and storyboards</a:t>
            </a:r>
          </a:p>
          <a:p>
            <a:pPr marL="514350" indent="-514350">
              <a:buFont typeface="+mj-lt"/>
              <a:buAutoNum type="arabicPeriod"/>
            </a:pPr>
            <a:r>
              <a:rPr lang="en-US" dirty="0"/>
              <a:t>Identify UI objects needed to implement the interface</a:t>
            </a:r>
          </a:p>
          <a:p>
            <a:pPr marL="514350" indent="-514350">
              <a:buFont typeface="+mj-lt"/>
              <a:buAutoNum type="arabicPeriod"/>
            </a:pPr>
            <a:r>
              <a:rPr lang="en-US" dirty="0"/>
              <a:t>Develop the behavioral representation of the interface (state transitions)</a:t>
            </a:r>
          </a:p>
          <a:p>
            <a:pPr marL="514350" indent="-514350">
              <a:buFont typeface="+mj-lt"/>
              <a:buAutoNum type="arabicPeriod"/>
            </a:pPr>
            <a:r>
              <a:rPr lang="en-US" dirty="0"/>
              <a:t>Describe the interface layout for each state (use information from steps 2, 5)</a:t>
            </a:r>
          </a:p>
          <a:p>
            <a:pPr marL="514350" indent="-514350">
              <a:buFont typeface="+mj-lt"/>
              <a:buAutoNum type="arabicPeriod"/>
            </a:pPr>
            <a:r>
              <a:rPr lang="en-US" dirty="0"/>
              <a:t>Review and refine your design based on feedback (back to step 1) </a:t>
            </a:r>
          </a:p>
        </p:txBody>
      </p:sp>
    </p:spTree>
    <p:extLst>
      <p:ext uri="{BB962C8B-B14F-4D97-AF65-F5344CB8AC3E}">
        <p14:creationId xmlns:p14="http://schemas.microsoft.com/office/powerpoint/2010/main" val="1197758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4B018-BDC5-EEE8-99DC-7EC648F9E7BC}"/>
              </a:ext>
            </a:extLst>
          </p:cNvPr>
          <p:cNvSpPr>
            <a:spLocks noGrp="1"/>
          </p:cNvSpPr>
          <p:nvPr>
            <p:ph type="title"/>
          </p:nvPr>
        </p:nvSpPr>
        <p:spPr>
          <a:xfrm>
            <a:off x="1043631" y="809898"/>
            <a:ext cx="10173010" cy="1554480"/>
          </a:xfrm>
        </p:spPr>
        <p:txBody>
          <a:bodyPr anchor="ctr">
            <a:normAutofit/>
          </a:bodyPr>
          <a:lstStyle/>
          <a:p>
            <a:r>
              <a:rPr lang="en-US" sz="4800"/>
              <a:t>Interactions Diagrams</a:t>
            </a:r>
          </a:p>
        </p:txBody>
      </p:sp>
      <p:graphicFrame>
        <p:nvGraphicFramePr>
          <p:cNvPr id="5" name="Content Placeholder 2">
            <a:extLst>
              <a:ext uri="{FF2B5EF4-FFF2-40B4-BE49-F238E27FC236}">
                <a16:creationId xmlns:a16="http://schemas.microsoft.com/office/drawing/2014/main" id="{8A2648F6-1B54-B1EB-5600-9F18DD5CC012}"/>
              </a:ext>
            </a:extLst>
          </p:cNvPr>
          <p:cNvGraphicFramePr>
            <a:graphicFrameLocks noGrp="1"/>
          </p:cNvGraphicFramePr>
          <p:nvPr>
            <p:ph idx="1"/>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2940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7C835-1817-D32B-3CC1-E94FFF0532F5}"/>
              </a:ext>
            </a:extLst>
          </p:cNvPr>
          <p:cNvSpPr>
            <a:spLocks noGrp="1"/>
          </p:cNvSpPr>
          <p:nvPr>
            <p:ph type="title"/>
          </p:nvPr>
        </p:nvSpPr>
        <p:spPr/>
        <p:txBody>
          <a:bodyPr/>
          <a:lstStyle/>
          <a:p>
            <a:r>
              <a:rPr lang="en-US" dirty="0"/>
              <a:t>Interaction Diagrams</a:t>
            </a:r>
          </a:p>
        </p:txBody>
      </p:sp>
      <p:sp>
        <p:nvSpPr>
          <p:cNvPr id="3" name="Content Placeholder 2">
            <a:extLst>
              <a:ext uri="{FF2B5EF4-FFF2-40B4-BE49-F238E27FC236}">
                <a16:creationId xmlns:a16="http://schemas.microsoft.com/office/drawing/2014/main" id="{6A0F285A-937E-D862-AAC3-0F94C7933888}"/>
              </a:ext>
            </a:extLst>
          </p:cNvPr>
          <p:cNvSpPr>
            <a:spLocks noGrp="1"/>
          </p:cNvSpPr>
          <p:nvPr>
            <p:ph idx="1"/>
          </p:nvPr>
        </p:nvSpPr>
        <p:spPr/>
        <p:txBody>
          <a:bodyPr/>
          <a:lstStyle/>
          <a:p>
            <a:r>
              <a:rPr lang="en-US" dirty="0"/>
              <a:t>Two kinds, sequence diagrams and collaboration diagrams.  They convey the same information with slightly different emphasis.</a:t>
            </a:r>
          </a:p>
          <a:p>
            <a:pPr lvl="1"/>
            <a:r>
              <a:rPr lang="en-US" dirty="0"/>
              <a:t>Sequence diagrams: Emphasize time and ordering of messages.  It will be the primary visual cue.  Structure is still there since you know who communicates with whom.</a:t>
            </a:r>
          </a:p>
          <a:p>
            <a:pPr lvl="1"/>
            <a:r>
              <a:rPr lang="en-US" dirty="0"/>
              <a:t>Collaboration diagrams: Emphasize structural relationships (who send messages to whom). Ordering and timing can be learned from numbering on messages.</a:t>
            </a:r>
          </a:p>
        </p:txBody>
      </p:sp>
    </p:spTree>
    <p:extLst>
      <p:ext uri="{BB962C8B-B14F-4D97-AF65-F5344CB8AC3E}">
        <p14:creationId xmlns:p14="http://schemas.microsoft.com/office/powerpoint/2010/main" val="100879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p:cNvSpPr>
            <a:spLocks noGrp="1" noChangeArrowheads="1"/>
          </p:cNvSpPr>
          <p:nvPr>
            <p:ph type="title"/>
          </p:nvPr>
        </p:nvSpPr>
        <p:spPr>
          <a:xfrm>
            <a:off x="838200" y="171162"/>
            <a:ext cx="2840182" cy="2371148"/>
          </a:xfrm>
        </p:spPr>
        <p:txBody>
          <a:bodyPr vert="horz" lIns="91440" tIns="45720" rIns="91440" bIns="45720" rtlCol="0" anchor="ctr">
            <a:normAutofit/>
          </a:bodyPr>
          <a:lstStyle/>
          <a:p>
            <a:r>
              <a:rPr lang="en-US" altLang="en-US" sz="3200" kern="1200">
                <a:solidFill>
                  <a:srgbClr val="FFFFFF"/>
                </a:solidFill>
                <a:latin typeface="+mj-lt"/>
                <a:ea typeface="+mj-ea"/>
                <a:cs typeface="+mj-cs"/>
              </a:rPr>
              <a:t>From Use Cases</a:t>
            </a:r>
          </a:p>
        </p:txBody>
      </p:sp>
      <p:pic>
        <p:nvPicPr>
          <p:cNvPr id="765955" name="Picture 3"/>
          <p:cNvPicPr>
            <a:picLocks noGrp="1" noChangeAspect="1" noChangeArrowheads="1"/>
          </p:cNvPicPr>
          <p:nvPr>
            <p:ph idx="1"/>
          </p:nvPr>
        </p:nvPicPr>
        <p:blipFill>
          <a:blip r:embed="rId3"/>
          <a:stretch>
            <a:fillRect/>
          </a:stretch>
        </p:blipFill>
        <p:spPr>
          <a:xfrm>
            <a:off x="4207933" y="1544625"/>
            <a:ext cx="7347537" cy="3769725"/>
          </a:xfrm>
          <a:prstGeom prst="rect">
            <a:avLst/>
          </a:prstGeom>
          <a:noFill/>
        </p:spPr>
      </p:pic>
      <p:sp>
        <p:nvSpPr>
          <p:cNvPr id="4" name="Slide Number Placeholder 3"/>
          <p:cNvSpPr>
            <a:spLocks noGrp="1"/>
          </p:cNvSpPr>
          <p:nvPr>
            <p:ph type="sldNum" sz="quarter" idx="10"/>
          </p:nvPr>
        </p:nvSpPr>
        <p:spPr>
          <a:xfrm>
            <a:off x="10926476" y="6356350"/>
            <a:ext cx="625443" cy="365125"/>
          </a:xfrm>
          <a:noFill/>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10C0E1BF-AC19-4E39-AD54-1E1A62203205}" type="slidenum">
              <a:rPr kumimoji="0" lang="en-US" b="0" i="0" u="none" strike="noStrike" cap="none" spc="0" normalizeH="0" baseline="0" noProof="0">
                <a:ln>
                  <a:noFill/>
                </a:ln>
                <a:effectLst/>
                <a:uLnTx/>
                <a:uFillTx/>
              </a:rPr>
              <a:pPr marR="0" lvl="0" indent="0" fontAlgn="auto">
                <a:spcBef>
                  <a:spcPts val="0"/>
                </a:spcBef>
                <a:spcAft>
                  <a:spcPts val="600"/>
                </a:spcAft>
                <a:buClrTx/>
                <a:buSzTx/>
                <a:buFontTx/>
                <a:buNone/>
                <a:tabLst/>
                <a:defRPr/>
              </a:pPr>
              <a:t>31</a:t>
            </a:fld>
            <a:endParaRPr kumimoji="0" lang="en-US" b="0" i="0" u="none" strike="noStrike" cap="none" spc="0" normalizeH="0" baseline="0" noProof="0">
              <a:ln>
                <a:noFill/>
              </a:ln>
              <a:effectLst/>
              <a:uLnTx/>
              <a:uFillTx/>
            </a:endParaRPr>
          </a:p>
        </p:txBody>
      </p:sp>
      <p:sp>
        <p:nvSpPr>
          <p:cNvPr id="2" name="TextBox 1">
            <a:extLst>
              <a:ext uri="{FF2B5EF4-FFF2-40B4-BE49-F238E27FC236}">
                <a16:creationId xmlns:a16="http://schemas.microsoft.com/office/drawing/2014/main" id="{B035C758-0FCF-3BA5-6631-8412484329B6}"/>
              </a:ext>
            </a:extLst>
          </p:cNvPr>
          <p:cNvSpPr txBox="1"/>
          <p:nvPr/>
        </p:nvSpPr>
        <p:spPr>
          <a:xfrm>
            <a:off x="308649" y="1028343"/>
            <a:ext cx="2946401" cy="4801314"/>
          </a:xfrm>
          <a:prstGeom prst="rect">
            <a:avLst/>
          </a:prstGeom>
          <a:noFill/>
        </p:spPr>
        <p:txBody>
          <a:bodyPr wrap="square" rtlCol="0">
            <a:spAutoFit/>
          </a:bodyPr>
          <a:lstStyle/>
          <a:p>
            <a:pPr marL="285750" indent="-285750">
              <a:buFont typeface="Arial" panose="020B0604020202020204" pitchFamily="34" charset="0"/>
              <a:buChar char="•"/>
            </a:pPr>
            <a:r>
              <a:rPr lang="en-US" dirty="0"/>
              <a:t>Pick the use case</a:t>
            </a:r>
          </a:p>
          <a:p>
            <a:pPr marL="285750" indent="-285750">
              <a:buFont typeface="Arial" panose="020B0604020202020204" pitchFamily="34" charset="0"/>
              <a:buChar char="•"/>
            </a:pPr>
            <a:r>
              <a:rPr lang="en-US" dirty="0"/>
              <a:t>Choose the scenario and system operation</a:t>
            </a:r>
          </a:p>
          <a:p>
            <a:pPr marL="285750" indent="-285750">
              <a:buFont typeface="Arial" panose="020B0604020202020204" pitchFamily="34" charset="0"/>
              <a:buChar char="•"/>
            </a:pPr>
            <a:r>
              <a:rPr lang="en-US" dirty="0"/>
              <a:t>Possibly check the operation contract for the operation</a:t>
            </a:r>
          </a:p>
          <a:p>
            <a:pPr marL="285750" indent="-285750">
              <a:buFont typeface="Arial" panose="020B0604020202020204" pitchFamily="34" charset="0"/>
              <a:buChar char="•"/>
            </a:pPr>
            <a:r>
              <a:rPr lang="en-US" dirty="0"/>
              <a:t>Identify participating entities</a:t>
            </a:r>
          </a:p>
          <a:p>
            <a:pPr marL="285750" indent="-285750">
              <a:buFont typeface="Arial" panose="020B0604020202020204" pitchFamily="34" charset="0"/>
              <a:buChar char="•"/>
            </a:pPr>
            <a:r>
              <a:rPr lang="en-US" dirty="0"/>
              <a:t>Apply Grasp principles to assign responsibilities to the right entities</a:t>
            </a:r>
          </a:p>
          <a:p>
            <a:pPr marL="285750" indent="-285750">
              <a:buFont typeface="Arial" panose="020B0604020202020204" pitchFamily="34" charset="0"/>
              <a:buChar char="•"/>
            </a:pPr>
            <a:r>
              <a:rPr lang="en-US" dirty="0"/>
              <a:t>Draw lifelines of the objects</a:t>
            </a:r>
          </a:p>
          <a:p>
            <a:pPr marL="285750" indent="-285750">
              <a:buFont typeface="Arial" panose="020B0604020202020204" pitchFamily="34" charset="0"/>
              <a:buChar char="•"/>
            </a:pPr>
            <a:r>
              <a:rPr lang="en-US" dirty="0"/>
              <a:t>Add messages between objects</a:t>
            </a:r>
          </a:p>
          <a:p>
            <a:pPr marL="285750" indent="-285750">
              <a:buFont typeface="Arial" panose="020B0604020202020204" pitchFamily="34" charset="0"/>
              <a:buChar char="•"/>
            </a:pPr>
            <a:r>
              <a:rPr lang="en-US" dirty="0"/>
              <a:t>Iterate if you find an object doing too much</a:t>
            </a:r>
          </a:p>
        </p:txBody>
      </p:sp>
    </p:spTree>
    <p:extLst>
      <p:ext uri="{BB962C8B-B14F-4D97-AF65-F5344CB8AC3E}">
        <p14:creationId xmlns:p14="http://schemas.microsoft.com/office/powerpoint/2010/main" val="3456437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23D36-391D-E091-2EC3-15503759EB8C}"/>
              </a:ext>
            </a:extLst>
          </p:cNvPr>
          <p:cNvSpPr>
            <a:spLocks noGrp="1"/>
          </p:cNvSpPr>
          <p:nvPr>
            <p:ph type="title"/>
          </p:nvPr>
        </p:nvSpPr>
        <p:spPr>
          <a:xfrm>
            <a:off x="5888505" y="0"/>
            <a:ext cx="5219307" cy="708552"/>
          </a:xfrm>
        </p:spPr>
        <p:txBody>
          <a:bodyPr anchor="b">
            <a:normAutofit/>
          </a:bodyPr>
          <a:lstStyle/>
          <a:p>
            <a:r>
              <a:rPr lang="en-US" sz="3200" dirty="0"/>
              <a:t>Use Case : Process Sale</a:t>
            </a:r>
          </a:p>
        </p:txBody>
      </p:sp>
      <p:pic>
        <p:nvPicPr>
          <p:cNvPr id="5" name="Picture 4" descr="Shopping cart">
            <a:extLst>
              <a:ext uri="{FF2B5EF4-FFF2-40B4-BE49-F238E27FC236}">
                <a16:creationId xmlns:a16="http://schemas.microsoft.com/office/drawing/2014/main" id="{6AF36379-697A-78A1-6236-BAA8FEF64C17}"/>
              </a:ext>
            </a:extLst>
          </p:cNvPr>
          <p:cNvPicPr>
            <a:picLocks noChangeAspect="1"/>
          </p:cNvPicPr>
          <p:nvPr/>
        </p:nvPicPr>
        <p:blipFill>
          <a:blip r:embed="rId2"/>
          <a:srcRect r="41935" b="1"/>
          <a:stretch/>
        </p:blipFill>
        <p:spPr>
          <a:xfrm>
            <a:off x="40585" y="2094632"/>
            <a:ext cx="2897380" cy="3142703"/>
          </a:xfrm>
          <a:prstGeom prst="rect">
            <a:avLst/>
          </a:prstGeom>
        </p:spPr>
      </p:pic>
      <p:sp>
        <p:nvSpPr>
          <p:cNvPr id="24" name="Content Placeholder 2">
            <a:extLst>
              <a:ext uri="{FF2B5EF4-FFF2-40B4-BE49-F238E27FC236}">
                <a16:creationId xmlns:a16="http://schemas.microsoft.com/office/drawing/2014/main" id="{23F1B146-4BA1-4D94-1BEF-9AC66FDC6EB2}"/>
              </a:ext>
            </a:extLst>
          </p:cNvPr>
          <p:cNvSpPr>
            <a:spLocks noGrp="1"/>
          </p:cNvSpPr>
          <p:nvPr>
            <p:ph idx="1"/>
          </p:nvPr>
        </p:nvSpPr>
        <p:spPr>
          <a:xfrm>
            <a:off x="3081867" y="708552"/>
            <a:ext cx="8805334" cy="6301848"/>
          </a:xfrm>
        </p:spPr>
        <p:txBody>
          <a:bodyPr anchor="t">
            <a:normAutofit/>
          </a:bodyPr>
          <a:lstStyle/>
          <a:p>
            <a:pPr>
              <a:buFont typeface="+mj-lt"/>
              <a:buAutoNum type="arabicPeriod"/>
            </a:pPr>
            <a:r>
              <a:rPr lang="en-US" sz="2400" b="1" dirty="0"/>
              <a:t>Cashier</a:t>
            </a:r>
            <a:r>
              <a:rPr lang="en-US" sz="2400" dirty="0"/>
              <a:t> selects </a:t>
            </a:r>
            <a:r>
              <a:rPr lang="en-US" sz="2400" b="1" dirty="0" err="1"/>
              <a:t>MakeNewSale</a:t>
            </a:r>
            <a:r>
              <a:rPr lang="en-US" sz="2400" dirty="0"/>
              <a:t> to begin a new sale.</a:t>
            </a:r>
          </a:p>
          <a:p>
            <a:pPr>
              <a:buFont typeface="+mj-lt"/>
              <a:buAutoNum type="arabicPeriod"/>
            </a:pPr>
            <a:r>
              <a:rPr lang="en-US" sz="2400" b="1" dirty="0"/>
              <a:t>System</a:t>
            </a:r>
            <a:r>
              <a:rPr lang="en-US" sz="2400" dirty="0"/>
              <a:t> initializes a new, empty sale.</a:t>
            </a:r>
          </a:p>
          <a:p>
            <a:pPr>
              <a:buFont typeface="+mj-lt"/>
              <a:buAutoNum type="arabicPeriod"/>
            </a:pPr>
            <a:r>
              <a:rPr lang="en-US" sz="2400" b="1" dirty="0"/>
              <a:t>Cashier</a:t>
            </a:r>
            <a:r>
              <a:rPr lang="en-US" sz="2400" dirty="0"/>
              <a:t> repeatedly invokes </a:t>
            </a:r>
            <a:r>
              <a:rPr lang="en-US" sz="2400" b="1" dirty="0" err="1"/>
              <a:t>EnterItem</a:t>
            </a:r>
            <a:r>
              <a:rPr lang="en-US" sz="2400" b="1" dirty="0"/>
              <a:t> </a:t>
            </a:r>
            <a:r>
              <a:rPr lang="en-US" sz="2400" dirty="0"/>
              <a:t>for each product being purchased:</a:t>
            </a:r>
          </a:p>
          <a:p>
            <a:pPr marL="742950" lvl="1" indent="-285750">
              <a:buFont typeface="+mj-lt"/>
              <a:buAutoNum type="arabicPeriod"/>
            </a:pPr>
            <a:r>
              <a:rPr lang="en-US" b="1" dirty="0"/>
              <a:t>System</a:t>
            </a:r>
            <a:r>
              <a:rPr lang="en-US" dirty="0"/>
              <a:t> looks up the product specification (price, description, etc.).</a:t>
            </a:r>
          </a:p>
          <a:p>
            <a:pPr marL="742950" lvl="1" indent="-285750">
              <a:buFont typeface="+mj-lt"/>
              <a:buAutoNum type="arabicPeriod"/>
            </a:pPr>
            <a:r>
              <a:rPr lang="en-US" b="1" dirty="0"/>
              <a:t>System</a:t>
            </a:r>
            <a:r>
              <a:rPr lang="en-US" dirty="0"/>
              <a:t> creates a line item for the product in the current sale.</a:t>
            </a:r>
          </a:p>
          <a:p>
            <a:pPr>
              <a:buFont typeface="+mj-lt"/>
              <a:buAutoNum type="arabicPeriod"/>
            </a:pPr>
            <a:r>
              <a:rPr lang="en-US" sz="2400" dirty="0"/>
              <a:t>When there are no more items, </a:t>
            </a:r>
            <a:r>
              <a:rPr lang="en-US" sz="2400" b="1" dirty="0"/>
              <a:t>Cashier</a:t>
            </a:r>
            <a:r>
              <a:rPr lang="en-US" sz="2400" dirty="0"/>
              <a:t>  invokes </a:t>
            </a:r>
            <a:r>
              <a:rPr lang="en-US" sz="2400" b="1" dirty="0" err="1"/>
              <a:t>EndSale</a:t>
            </a:r>
            <a:r>
              <a:rPr lang="en-US" sz="2400" dirty="0"/>
              <a:t>:</a:t>
            </a:r>
          </a:p>
          <a:p>
            <a:pPr marL="742950" lvl="1" indent="-285750">
              <a:buFont typeface="+mj-lt"/>
              <a:buAutoNum type="arabicPeriod"/>
            </a:pPr>
            <a:r>
              <a:rPr lang="en-US" b="1" dirty="0"/>
              <a:t>System</a:t>
            </a:r>
            <a:r>
              <a:rPr lang="en-US" dirty="0"/>
              <a:t> calculates the total price and displays it.</a:t>
            </a:r>
          </a:p>
          <a:p>
            <a:pPr>
              <a:buFont typeface="+mj-lt"/>
              <a:buAutoNum type="arabicPeriod"/>
            </a:pPr>
            <a:r>
              <a:rPr lang="en-US" sz="2400" b="1" dirty="0"/>
              <a:t>Cashier</a:t>
            </a:r>
            <a:r>
              <a:rPr lang="en-US" sz="2400" dirty="0"/>
              <a:t> invokes </a:t>
            </a:r>
            <a:r>
              <a:rPr lang="en-US" sz="2400" b="1" dirty="0" err="1"/>
              <a:t>MakePayment</a:t>
            </a:r>
            <a:r>
              <a:rPr lang="en-US" sz="2400" dirty="0"/>
              <a:t>:</a:t>
            </a:r>
          </a:p>
          <a:p>
            <a:pPr marL="742950" lvl="1" indent="-285750">
              <a:buFont typeface="+mj-lt"/>
              <a:buAutoNum type="arabicPeriod"/>
            </a:pPr>
            <a:r>
              <a:rPr lang="en-US" b="1" dirty="0"/>
              <a:t>System</a:t>
            </a:r>
            <a:r>
              <a:rPr lang="en-US" dirty="0"/>
              <a:t> processes the payment (e.g., cash or electronic).</a:t>
            </a:r>
          </a:p>
          <a:p>
            <a:pPr marL="742950" lvl="1" indent="-285750">
              <a:buFont typeface="+mj-lt"/>
              <a:buAutoNum type="arabicPeriod"/>
            </a:pPr>
            <a:r>
              <a:rPr lang="en-US" b="1" dirty="0"/>
              <a:t>System</a:t>
            </a:r>
            <a:r>
              <a:rPr lang="en-US" dirty="0"/>
              <a:t> records the payment and completes the sale.</a:t>
            </a:r>
          </a:p>
          <a:p>
            <a:pPr marL="742950" lvl="1" indent="-285750">
              <a:buFont typeface="+mj-lt"/>
              <a:buAutoNum type="arabicPeriod"/>
            </a:pPr>
            <a:r>
              <a:rPr lang="en-US" b="1" dirty="0"/>
              <a:t>System</a:t>
            </a:r>
            <a:r>
              <a:rPr lang="en-US" dirty="0"/>
              <a:t> prints or displays a receipt for the </a:t>
            </a:r>
            <a:r>
              <a:rPr lang="en-US" b="1" dirty="0"/>
              <a:t>Cashier</a:t>
            </a:r>
            <a:r>
              <a:rPr lang="en-US" dirty="0"/>
              <a:t> and </a:t>
            </a:r>
            <a:r>
              <a:rPr lang="en-US" b="1" dirty="0"/>
              <a:t>Customer</a:t>
            </a:r>
            <a:r>
              <a:rPr lang="en-US" dirty="0"/>
              <a:t>.</a:t>
            </a:r>
          </a:p>
          <a:p>
            <a:endParaRPr lang="en-US" sz="700" dirty="0"/>
          </a:p>
        </p:txBody>
      </p:sp>
    </p:spTree>
    <p:extLst>
      <p:ext uri="{BB962C8B-B14F-4D97-AF65-F5344CB8AC3E}">
        <p14:creationId xmlns:p14="http://schemas.microsoft.com/office/powerpoint/2010/main" val="188977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FBE33-633C-DCE4-463A-2024455365BB}"/>
              </a:ext>
            </a:extLst>
          </p:cNvPr>
          <p:cNvSpPr>
            <a:spLocks noGrp="1"/>
          </p:cNvSpPr>
          <p:nvPr>
            <p:ph type="title"/>
          </p:nvPr>
        </p:nvSpPr>
        <p:spPr>
          <a:xfrm>
            <a:off x="841248" y="334644"/>
            <a:ext cx="10509504" cy="1076914"/>
          </a:xfrm>
        </p:spPr>
        <p:txBody>
          <a:bodyPr anchor="ctr">
            <a:normAutofit/>
          </a:bodyPr>
          <a:lstStyle/>
          <a:p>
            <a:r>
              <a:rPr lang="en-US" sz="4000" dirty="0"/>
              <a:t>Domain Model is by RE based on all Use Cases</a:t>
            </a:r>
          </a:p>
        </p:txBody>
      </p:sp>
      <p:grpSp>
        <p:nvGrpSpPr>
          <p:cNvPr id="4" name="Group 4">
            <a:extLst>
              <a:ext uri="{FF2B5EF4-FFF2-40B4-BE49-F238E27FC236}">
                <a16:creationId xmlns:a16="http://schemas.microsoft.com/office/drawing/2014/main" id="{21C97506-756E-C972-37EE-227975771C54}"/>
              </a:ext>
            </a:extLst>
          </p:cNvPr>
          <p:cNvGrpSpPr>
            <a:grpSpLocks noChangeAspect="1"/>
          </p:cNvGrpSpPr>
          <p:nvPr/>
        </p:nvGrpSpPr>
        <p:grpSpPr bwMode="auto">
          <a:xfrm>
            <a:off x="3558578" y="1737360"/>
            <a:ext cx="6889565" cy="4535424"/>
            <a:chOff x="863" y="962"/>
            <a:chExt cx="3697" cy="3310"/>
          </a:xfrm>
        </p:grpSpPr>
        <p:sp>
          <p:nvSpPr>
            <p:cNvPr id="5" name="AutoShape 3">
              <a:extLst>
                <a:ext uri="{FF2B5EF4-FFF2-40B4-BE49-F238E27FC236}">
                  <a16:creationId xmlns:a16="http://schemas.microsoft.com/office/drawing/2014/main" id="{720670F7-5797-8495-D30B-2AC7B75E676F}"/>
                </a:ext>
              </a:extLst>
            </p:cNvPr>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5A67905-F8FA-DE70-7BBB-6E2957840251}"/>
                </a:ext>
              </a:extLst>
            </p:cNvPr>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9AAF07B8-30F0-39B8-94FF-8DA53FB97242}"/>
                </a:ext>
              </a:extLst>
            </p:cNvPr>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register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 name="Rectangle 7">
              <a:extLst>
                <a:ext uri="{FF2B5EF4-FFF2-40B4-BE49-F238E27FC236}">
                  <a16:creationId xmlns:a16="http://schemas.microsoft.com/office/drawing/2014/main" id="{B058123C-4AB1-3260-C796-CF85677C71B1}"/>
                </a:ext>
              </a:extLst>
            </p:cNvPr>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95177BB-4521-CD1E-CBBA-3865A6F3467B}"/>
                </a:ext>
              </a:extLst>
            </p:cNvPr>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146A6E8-21BB-8BE9-92EE-AB54FB6913C0}"/>
                </a:ext>
              </a:extLst>
            </p:cNvPr>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 name="Rectangle 10">
              <a:extLst>
                <a:ext uri="{FF2B5EF4-FFF2-40B4-BE49-F238E27FC236}">
                  <a16:creationId xmlns:a16="http://schemas.microsoft.com/office/drawing/2014/main" id="{EEB19EBB-6B35-47DE-ADDF-DE6DCD20DDF0}"/>
                </a:ext>
              </a:extLst>
            </p:cNvPr>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611FACC-AB90-10A6-8C4B-15CA70EA46A4}"/>
                </a:ext>
              </a:extLst>
            </p:cNvPr>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A96E249-ECCC-1D2D-4F00-11CED89DEEFE}"/>
                </a:ext>
              </a:extLst>
            </p:cNvPr>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Store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4" name="Rectangle 13">
              <a:extLst>
                <a:ext uri="{FF2B5EF4-FFF2-40B4-BE49-F238E27FC236}">
                  <a16:creationId xmlns:a16="http://schemas.microsoft.com/office/drawing/2014/main" id="{83053282-5A7F-3C5C-1DC5-6856E0F38A01}"/>
                </a:ext>
              </a:extLst>
            </p:cNvPr>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A1572C4D-3C6B-46BE-9F28-CA3BE6990C13}"/>
                </a:ext>
              </a:extLst>
            </p:cNvPr>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address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6" name="Rectangle 15">
              <a:extLst>
                <a:ext uri="{FF2B5EF4-FFF2-40B4-BE49-F238E27FC236}">
                  <a16:creationId xmlns:a16="http://schemas.microsoft.com/office/drawing/2014/main" id="{DE28DB24-A79B-D6A9-D2BC-2A6C05D7BD28}"/>
                </a:ext>
              </a:extLst>
            </p:cNvPr>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name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7" name="Rectangle 16">
              <a:extLst>
                <a:ext uri="{FF2B5EF4-FFF2-40B4-BE49-F238E27FC236}">
                  <a16:creationId xmlns:a16="http://schemas.microsoft.com/office/drawing/2014/main" id="{A5B89E7D-D776-7A00-8AB6-AB7CC50BF91F}"/>
                </a:ext>
              </a:extLst>
            </p:cNvPr>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8BD7759C-0070-8967-5514-D16ABBB54527}"/>
                </a:ext>
              </a:extLst>
            </p:cNvPr>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Sale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9" name="Rectangle 18">
              <a:extLst>
                <a:ext uri="{FF2B5EF4-FFF2-40B4-BE49-F238E27FC236}">
                  <a16:creationId xmlns:a16="http://schemas.microsoft.com/office/drawing/2014/main" id="{6CBE1354-F097-CB1E-CAC3-8BB4717C5FDA}"/>
                </a:ext>
              </a:extLst>
            </p:cNvPr>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32819031-2847-434D-9693-E6A6B1CFEC9A}"/>
                </a:ext>
              </a:extLst>
            </p:cNvPr>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date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 name="Rectangle 20">
              <a:extLst>
                <a:ext uri="{FF2B5EF4-FFF2-40B4-BE49-F238E27FC236}">
                  <a16:creationId xmlns:a16="http://schemas.microsoft.com/office/drawing/2014/main" id="{6905FD80-5A07-34BA-3675-07566C675A77}"/>
                </a:ext>
              </a:extLst>
            </p:cNvPr>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time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2" name="Rectangle 21">
              <a:extLst>
                <a:ext uri="{FF2B5EF4-FFF2-40B4-BE49-F238E27FC236}">
                  <a16:creationId xmlns:a16="http://schemas.microsoft.com/office/drawing/2014/main" id="{8A13DA31-8149-5D9D-F67E-959A5BDCDEAD}"/>
                </a:ext>
              </a:extLst>
            </p:cNvPr>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89619DC-CDD6-6A7C-3EB8-488990B7030A}"/>
                </a:ext>
              </a:extLst>
            </p:cNvPr>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Payment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 name="Rectangle 23">
              <a:extLst>
                <a:ext uri="{FF2B5EF4-FFF2-40B4-BE49-F238E27FC236}">
                  <a16:creationId xmlns:a16="http://schemas.microsoft.com/office/drawing/2014/main" id="{043D0BAB-FA76-5367-9BF7-EB50C5F73202}"/>
                </a:ext>
              </a:extLst>
            </p:cNvPr>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EB70EC30-31B2-33DF-DD9E-7DC0CD1E2D4A}"/>
                </a:ext>
              </a:extLst>
            </p:cNvPr>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amount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 name="Rectangle 25">
              <a:extLst>
                <a:ext uri="{FF2B5EF4-FFF2-40B4-BE49-F238E27FC236}">
                  <a16:creationId xmlns:a16="http://schemas.microsoft.com/office/drawing/2014/main" id="{6385508D-B172-9DDE-B7B9-0460DE50E2C0}"/>
                </a:ext>
              </a:extLst>
            </p:cNvPr>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B9586504-044F-3FB2-CCC0-8F731415127F}"/>
                </a:ext>
              </a:extLst>
            </p:cNvPr>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Sales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8" name="Rectangle 27">
              <a:extLst>
                <a:ext uri="{FF2B5EF4-FFF2-40B4-BE49-F238E27FC236}">
                  <a16:creationId xmlns:a16="http://schemas.microsoft.com/office/drawing/2014/main" id="{9CBCA06C-0585-73CD-2C33-637C02118CF5}"/>
                </a:ext>
              </a:extLst>
            </p:cNvPr>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LineItem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9" name="Rectangle 28">
              <a:extLst>
                <a:ext uri="{FF2B5EF4-FFF2-40B4-BE49-F238E27FC236}">
                  <a16:creationId xmlns:a16="http://schemas.microsoft.com/office/drawing/2014/main" id="{3E67344A-44BE-A031-F197-C61FA14A916B}"/>
                </a:ext>
              </a:extLst>
            </p:cNvPr>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640FC486-9188-17C0-AA34-8DAD5380C62F}"/>
                </a:ext>
              </a:extLst>
            </p:cNvPr>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quantity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1" name="Rectangle 30">
              <a:extLst>
                <a:ext uri="{FF2B5EF4-FFF2-40B4-BE49-F238E27FC236}">
                  <a16:creationId xmlns:a16="http://schemas.microsoft.com/office/drawing/2014/main" id="{57F20A28-E954-D16A-AB4B-F2D61DB28E43}"/>
                </a:ext>
              </a:extLst>
            </p:cNvPr>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F10F652-4554-1AAC-C0B3-7EACC181CC59}"/>
                </a:ext>
              </a:extLst>
            </p:cNvPr>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Cashier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3" name="Rectangle 32">
              <a:extLst>
                <a:ext uri="{FF2B5EF4-FFF2-40B4-BE49-F238E27FC236}">
                  <a16:creationId xmlns:a16="http://schemas.microsoft.com/office/drawing/2014/main" id="{6960D2F1-E2F5-2DA8-FB97-6AD3A9EBC1E9}"/>
                </a:ext>
              </a:extLst>
            </p:cNvPr>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BB4BA7DD-9496-276F-4022-6202246C4470}"/>
                </a:ext>
              </a:extLst>
            </p:cNvPr>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4619AA75-C262-4B63-4AF3-5F1F7758BE58}"/>
                </a:ext>
              </a:extLst>
            </p:cNvPr>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Customer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6" name="Rectangle 35">
              <a:extLst>
                <a:ext uri="{FF2B5EF4-FFF2-40B4-BE49-F238E27FC236}">
                  <a16:creationId xmlns:a16="http://schemas.microsoft.com/office/drawing/2014/main" id="{7FB68569-D74C-CA30-E954-EEE64006FCBD}"/>
                </a:ext>
              </a:extLst>
            </p:cNvPr>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31440E3-B36B-8464-1AAA-C217F31DD00B}"/>
                </a:ext>
              </a:extLst>
            </p:cNvPr>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045373E9-F59D-867D-9187-63AA5FA68F14}"/>
                </a:ext>
              </a:extLst>
            </p:cNvPr>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Manager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9" name="Rectangle 38">
              <a:extLst>
                <a:ext uri="{FF2B5EF4-FFF2-40B4-BE49-F238E27FC236}">
                  <a16:creationId xmlns:a16="http://schemas.microsoft.com/office/drawing/2014/main" id="{1DE14DDA-3585-D8FD-2210-E1B9EADA78B0}"/>
                </a:ext>
              </a:extLst>
            </p:cNvPr>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9A3FC904-D6F9-7B98-2733-E237FBAAF5AA}"/>
                </a:ext>
              </a:extLst>
            </p:cNvPr>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50D752F0-AC95-2E95-B53B-AD40A95167E1}"/>
                </a:ext>
              </a:extLst>
            </p:cNvPr>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2" name="Rectangle 41">
              <a:extLst>
                <a:ext uri="{FF2B5EF4-FFF2-40B4-BE49-F238E27FC236}">
                  <a16:creationId xmlns:a16="http://schemas.microsoft.com/office/drawing/2014/main" id="{84F2991B-AE03-82B2-4870-0500EE87B71A}"/>
                </a:ext>
              </a:extLst>
            </p:cNvPr>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Catalog</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3" name="Rectangle 42">
              <a:extLst>
                <a:ext uri="{FF2B5EF4-FFF2-40B4-BE49-F238E27FC236}">
                  <a16:creationId xmlns:a16="http://schemas.microsoft.com/office/drawing/2014/main" id="{A9738B36-650A-F997-EC12-6D714DFAF4DC}"/>
                </a:ext>
              </a:extLst>
            </p:cNvPr>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CE0D3576-5263-5B06-AF01-F7CE96F1C264}"/>
                </a:ext>
              </a:extLst>
            </p:cNvPr>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403AD5AA-93C2-AAEC-5DC2-2D0FC2A6E5A9}"/>
                </a:ext>
              </a:extLst>
            </p:cNvPr>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6" name="Rectangle 45">
              <a:extLst>
                <a:ext uri="{FF2B5EF4-FFF2-40B4-BE49-F238E27FC236}">
                  <a16:creationId xmlns:a16="http://schemas.microsoft.com/office/drawing/2014/main" id="{AAB6593D-2921-6841-F973-448AFD627F5F}"/>
                </a:ext>
              </a:extLst>
            </p:cNvPr>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Specification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7" name="Rectangle 46">
              <a:extLst>
                <a:ext uri="{FF2B5EF4-FFF2-40B4-BE49-F238E27FC236}">
                  <a16:creationId xmlns:a16="http://schemas.microsoft.com/office/drawing/2014/main" id="{7C5AAE86-8CD1-A22A-39D1-BD2CFC56319F}"/>
                </a:ext>
              </a:extLst>
            </p:cNvPr>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8ED10B6D-F98F-C295-4A17-1556BA090CC5}"/>
                </a:ext>
              </a:extLst>
            </p:cNvPr>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description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9" name="Rectangle 48">
              <a:extLst>
                <a:ext uri="{FF2B5EF4-FFF2-40B4-BE49-F238E27FC236}">
                  <a16:creationId xmlns:a16="http://schemas.microsoft.com/office/drawing/2014/main" id="{3A3FE746-63FE-B747-C4CA-26365EE68C93}"/>
                </a:ext>
              </a:extLst>
            </p:cNvPr>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price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0" name="Rectangle 49">
              <a:extLst>
                <a:ext uri="{FF2B5EF4-FFF2-40B4-BE49-F238E27FC236}">
                  <a16:creationId xmlns:a16="http://schemas.microsoft.com/office/drawing/2014/main" id="{ECF009DF-CEF5-8F66-2DA7-71551E2BCD0A}"/>
                </a:ext>
              </a:extLst>
            </p:cNvPr>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UPC</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1" name="Line 50">
              <a:extLst>
                <a:ext uri="{FF2B5EF4-FFF2-40B4-BE49-F238E27FC236}">
                  <a16:creationId xmlns:a16="http://schemas.microsoft.com/office/drawing/2014/main" id="{E17A34C4-1E74-8F01-4449-1A849B79B723}"/>
                </a:ext>
              </a:extLst>
            </p:cNvPr>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40A3359D-BCE1-52C3-C0EE-6C6A5E21E343}"/>
                </a:ext>
              </a:extLst>
            </p:cNvPr>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Stocks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3" name="Rectangle 52">
              <a:extLst>
                <a:ext uri="{FF2B5EF4-FFF2-40B4-BE49-F238E27FC236}">
                  <a16:creationId xmlns:a16="http://schemas.microsoft.com/office/drawing/2014/main" id="{C304F60A-0A17-AC50-AD13-998658C98E09}"/>
                </a:ext>
              </a:extLst>
            </p:cNvPr>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4" name="Line 53">
              <a:extLst>
                <a:ext uri="{FF2B5EF4-FFF2-40B4-BE49-F238E27FC236}">
                  <a16:creationId xmlns:a16="http://schemas.microsoft.com/office/drawing/2014/main" id="{993E34AC-7979-878F-941D-2D6E38634267}"/>
                </a:ext>
              </a:extLst>
            </p:cNvPr>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63566EEB-7F65-E876-8049-DEAC044EAD1F}"/>
                </a:ext>
              </a:extLst>
            </p:cNvPr>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Houses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6" name="Rectangle 55">
              <a:extLst>
                <a:ext uri="{FF2B5EF4-FFF2-40B4-BE49-F238E27FC236}">
                  <a16:creationId xmlns:a16="http://schemas.microsoft.com/office/drawing/2014/main" id="{338546CD-7ED0-3351-1817-1E12286991D2}"/>
                </a:ext>
              </a:extLst>
            </p:cNvPr>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7" name="Rectangle 56">
              <a:extLst>
                <a:ext uri="{FF2B5EF4-FFF2-40B4-BE49-F238E27FC236}">
                  <a16:creationId xmlns:a16="http://schemas.microsoft.com/office/drawing/2014/main" id="{1FF9C658-CDE6-B125-86DC-D1B565E6F425}"/>
                </a:ext>
              </a:extLst>
            </p:cNvPr>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025"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8" name="Line 57">
              <a:extLst>
                <a:ext uri="{FF2B5EF4-FFF2-40B4-BE49-F238E27FC236}">
                  <a16:creationId xmlns:a16="http://schemas.microsoft.com/office/drawing/2014/main" id="{B47C09A0-1D92-94F8-8DBC-1654B3011786}"/>
                </a:ext>
              </a:extLst>
            </p:cNvPr>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25BFD4CF-30DA-30B0-7192-68ABDAC44368}"/>
                </a:ext>
              </a:extLst>
            </p:cNvPr>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Used-by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0" name="Rectangle 59">
              <a:extLst>
                <a:ext uri="{FF2B5EF4-FFF2-40B4-BE49-F238E27FC236}">
                  <a16:creationId xmlns:a16="http://schemas.microsoft.com/office/drawing/2014/main" id="{51931C67-503B-CAD4-708D-F67594491439}"/>
                </a:ext>
              </a:extLst>
            </p:cNvPr>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1" name="Line 60">
              <a:extLst>
                <a:ext uri="{FF2B5EF4-FFF2-40B4-BE49-F238E27FC236}">
                  <a16:creationId xmlns:a16="http://schemas.microsoft.com/office/drawing/2014/main" id="{76CEBC2F-2BE1-2418-CF6D-CCFD27A96168}"/>
                </a:ext>
              </a:extLst>
            </p:cNvPr>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920D14F4-DDBD-8389-EA60-288146473DF6}"/>
                </a:ext>
              </a:extLst>
            </p:cNvPr>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Contains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3" name="Rectangle 62">
              <a:extLst>
                <a:ext uri="{FF2B5EF4-FFF2-40B4-BE49-F238E27FC236}">
                  <a16:creationId xmlns:a16="http://schemas.microsoft.com/office/drawing/2014/main" id="{55CD2F30-067F-3B50-AFC6-A6F363ACB024}"/>
                </a:ext>
              </a:extLst>
            </p:cNvPr>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4" name="Rectangle 63">
              <a:extLst>
                <a:ext uri="{FF2B5EF4-FFF2-40B4-BE49-F238E27FC236}">
                  <a16:creationId xmlns:a16="http://schemas.microsoft.com/office/drawing/2014/main" id="{6AB930A7-6F32-4AA9-7AC1-BF5075DECEFB}"/>
                </a:ext>
              </a:extLst>
            </p:cNvPr>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025"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5" name="Line 64">
              <a:extLst>
                <a:ext uri="{FF2B5EF4-FFF2-40B4-BE49-F238E27FC236}">
                  <a16:creationId xmlns:a16="http://schemas.microsoft.com/office/drawing/2014/main" id="{E367542F-6E61-2B5F-956D-2AE72FC0DED2}"/>
                </a:ext>
              </a:extLst>
            </p:cNvPr>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Rectangle 65">
              <a:extLst>
                <a:ext uri="{FF2B5EF4-FFF2-40B4-BE49-F238E27FC236}">
                  <a16:creationId xmlns:a16="http://schemas.microsoft.com/office/drawing/2014/main" id="{FC4E2126-24BB-CC2A-554A-C8FB22C8A97A}"/>
                </a:ext>
              </a:extLst>
            </p:cNvPr>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Describes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7" name="Rectangle 66">
              <a:extLst>
                <a:ext uri="{FF2B5EF4-FFF2-40B4-BE49-F238E27FC236}">
                  <a16:creationId xmlns:a16="http://schemas.microsoft.com/office/drawing/2014/main" id="{049BF7EA-CFC3-C15E-FA16-55FA8906B3BA}"/>
                </a:ext>
              </a:extLst>
            </p:cNvPr>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8" name="Line 67">
              <a:extLst>
                <a:ext uri="{FF2B5EF4-FFF2-40B4-BE49-F238E27FC236}">
                  <a16:creationId xmlns:a16="http://schemas.microsoft.com/office/drawing/2014/main" id="{EB505EC3-263D-B378-E8D3-33BE45048933}"/>
                </a:ext>
              </a:extLst>
            </p:cNvPr>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Rectangle 68">
              <a:extLst>
                <a:ext uri="{FF2B5EF4-FFF2-40B4-BE49-F238E27FC236}">
                  <a16:creationId xmlns:a16="http://schemas.microsoft.com/office/drawing/2014/main" id="{574E8295-B08A-1AE5-ED77-2353449F0CC3}"/>
                </a:ext>
              </a:extLst>
            </p:cNvPr>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Captured-on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0" name="Line 69">
              <a:extLst>
                <a:ext uri="{FF2B5EF4-FFF2-40B4-BE49-F238E27FC236}">
                  <a16:creationId xmlns:a16="http://schemas.microsoft.com/office/drawing/2014/main" id="{B4415FCE-C832-ADDB-F3F4-72462C28B6DD}"/>
                </a:ext>
              </a:extLst>
            </p:cNvPr>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Rectangle 70">
              <a:extLst>
                <a:ext uri="{FF2B5EF4-FFF2-40B4-BE49-F238E27FC236}">
                  <a16:creationId xmlns:a16="http://schemas.microsoft.com/office/drawing/2014/main" id="{F1C8F45D-1CBD-D20D-02BD-142B1AB1A683}"/>
                </a:ext>
              </a:extLst>
            </p:cNvPr>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Contained-in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2" name="Rectangle 71">
              <a:extLst>
                <a:ext uri="{FF2B5EF4-FFF2-40B4-BE49-F238E27FC236}">
                  <a16:creationId xmlns:a16="http://schemas.microsoft.com/office/drawing/2014/main" id="{DA4EF5B2-6619-8372-FC5F-FC20066F26F6}"/>
                </a:ext>
              </a:extLst>
            </p:cNvPr>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3" name="Rectangle 72">
              <a:extLst>
                <a:ext uri="{FF2B5EF4-FFF2-40B4-BE49-F238E27FC236}">
                  <a16:creationId xmlns:a16="http://schemas.microsoft.com/office/drawing/2014/main" id="{2335CF09-4A76-CB03-B36E-6D2793202BEC}"/>
                </a:ext>
              </a:extLst>
            </p:cNvPr>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025"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4" name="Freeform 73">
              <a:extLst>
                <a:ext uri="{FF2B5EF4-FFF2-40B4-BE49-F238E27FC236}">
                  <a16:creationId xmlns:a16="http://schemas.microsoft.com/office/drawing/2014/main" id="{5260EDC8-A0FC-66E9-D523-40FCDCD52C90}"/>
                </a:ext>
              </a:extLst>
            </p:cNvPr>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D3E4D4AC-304F-6EEF-356F-1C35A0189EE4}"/>
                </a:ext>
              </a:extLst>
            </p:cNvPr>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Described-by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6" name="Rectangle 75">
              <a:extLst>
                <a:ext uri="{FF2B5EF4-FFF2-40B4-BE49-F238E27FC236}">
                  <a16:creationId xmlns:a16="http://schemas.microsoft.com/office/drawing/2014/main" id="{5EB294B4-09C5-AB62-6188-A0982FFA6C18}"/>
                </a:ext>
              </a:extLst>
            </p:cNvPr>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7" name="Freeform 76">
              <a:extLst>
                <a:ext uri="{FF2B5EF4-FFF2-40B4-BE49-F238E27FC236}">
                  <a16:creationId xmlns:a16="http://schemas.microsoft.com/office/drawing/2014/main" id="{AB8A13F1-9F52-C7F3-23F7-4215D722F799}"/>
                </a:ext>
              </a:extLst>
            </p:cNvPr>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0D635C30-00D5-5470-1F58-D7455726E6C5}"/>
                </a:ext>
              </a:extLst>
            </p:cNvPr>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Records-sale-of</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9" name="Rectangle 78">
              <a:extLst>
                <a:ext uri="{FF2B5EF4-FFF2-40B4-BE49-F238E27FC236}">
                  <a16:creationId xmlns:a16="http://schemas.microsoft.com/office/drawing/2014/main" id="{E21B5BD7-02C1-B551-8526-6604CD8E85B2}"/>
                </a:ext>
              </a:extLst>
            </p:cNvPr>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0..1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0" name="Line 79">
              <a:extLst>
                <a:ext uri="{FF2B5EF4-FFF2-40B4-BE49-F238E27FC236}">
                  <a16:creationId xmlns:a16="http://schemas.microsoft.com/office/drawing/2014/main" id="{921247D1-1737-B7E8-FFEE-6536BD7BEF82}"/>
                </a:ext>
              </a:extLst>
            </p:cNvPr>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4D9C1FF6-34CF-1461-B3CA-769D8A13D2B0}"/>
                </a:ext>
              </a:extLst>
            </p:cNvPr>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Started-by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2" name="Freeform 81">
              <a:extLst>
                <a:ext uri="{FF2B5EF4-FFF2-40B4-BE49-F238E27FC236}">
                  <a16:creationId xmlns:a16="http://schemas.microsoft.com/office/drawing/2014/main" id="{EB549BE9-71F6-A1C2-7F11-EBC080A1C7D5}"/>
                </a:ext>
              </a:extLst>
            </p:cNvPr>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E7CD8EA5-B8A1-3D14-7ED0-9450AFBDF995}"/>
                </a:ext>
              </a:extLst>
            </p:cNvPr>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Paid-by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4" name="Freeform 83">
              <a:extLst>
                <a:ext uri="{FF2B5EF4-FFF2-40B4-BE49-F238E27FC236}">
                  <a16:creationId xmlns:a16="http://schemas.microsoft.com/office/drawing/2014/main" id="{D70EEB72-D308-DCD8-37A3-5516B5046E64}"/>
                </a:ext>
              </a:extLst>
            </p:cNvPr>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9DD18847-592E-D6BA-E92F-96196B5541C5}"/>
                </a:ext>
              </a:extLst>
            </p:cNvPr>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Initiated-by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6" name="Freeform 85">
              <a:extLst>
                <a:ext uri="{FF2B5EF4-FFF2-40B4-BE49-F238E27FC236}">
                  <a16:creationId xmlns:a16="http://schemas.microsoft.com/office/drawing/2014/main" id="{025F850E-4F52-6352-18DE-317289E7FDF0}"/>
                </a:ext>
              </a:extLst>
            </p:cNvPr>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69DF0D5F-A2B1-5D5E-9073-07071B60450E}"/>
                </a:ext>
              </a:extLst>
            </p:cNvPr>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Logs-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8" name="Rectangle 87">
              <a:extLst>
                <a:ext uri="{FF2B5EF4-FFF2-40B4-BE49-F238E27FC236}">
                  <a16:creationId xmlns:a16="http://schemas.microsoft.com/office/drawing/2014/main" id="{BE83D374-A4BD-9305-4B77-9277BE561604}"/>
                </a:ext>
              </a:extLst>
            </p:cNvPr>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completed</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9" name="Rectangle 88">
              <a:extLst>
                <a:ext uri="{FF2B5EF4-FFF2-40B4-BE49-F238E27FC236}">
                  <a16:creationId xmlns:a16="http://schemas.microsoft.com/office/drawing/2014/main" id="{0F477178-3D18-5EB5-5224-E31768495108}"/>
                </a:ext>
              </a:extLst>
            </p:cNvPr>
            <p:cNvSpPr>
              <a:spLocks noChangeArrowheads="1"/>
            </p:cNvSpPr>
            <p:nvPr/>
          </p:nvSpPr>
          <p:spPr bwMode="auto">
            <a:xfrm>
              <a:off x="2405" y="28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6</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0" name="Rectangle 89">
              <a:extLst>
                <a:ext uri="{FF2B5EF4-FFF2-40B4-BE49-F238E27FC236}">
                  <a16:creationId xmlns:a16="http://schemas.microsoft.com/office/drawing/2014/main" id="{7FE0EC98-F7A1-462F-EFFB-553A25164270}"/>
                </a:ext>
              </a:extLst>
            </p:cNvPr>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1" name="Freeform 90">
              <a:extLst>
                <a:ext uri="{FF2B5EF4-FFF2-40B4-BE49-F238E27FC236}">
                  <a16:creationId xmlns:a16="http://schemas.microsoft.com/office/drawing/2014/main" id="{E3667AAF-C1ED-3D47-8C72-122800165B3A}"/>
                </a:ext>
              </a:extLst>
            </p:cNvPr>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D5BA667D-7C0D-64B7-5A9A-7A236CAED72B}"/>
                </a:ext>
              </a:extLst>
            </p:cNvPr>
            <p:cNvSpPr>
              <a:spLocks noChangeArrowheads="1"/>
            </p:cNvSpPr>
            <p:nvPr/>
          </p:nvSpPr>
          <p:spPr bwMode="auto">
            <a:xfrm>
              <a:off x="2876" y="364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3</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3" name="Rectangle 92">
              <a:extLst>
                <a:ext uri="{FF2B5EF4-FFF2-40B4-BE49-F238E27FC236}">
                  <a16:creationId xmlns:a16="http://schemas.microsoft.com/office/drawing/2014/main" id="{EDF2B876-3B00-BFD2-A2A6-E55FEC556BE0}"/>
                </a:ext>
              </a:extLst>
            </p:cNvPr>
            <p:cNvSpPr>
              <a:spLocks noChangeArrowheads="1"/>
            </p:cNvSpPr>
            <p:nvPr/>
          </p:nvSpPr>
          <p:spPr bwMode="auto">
            <a:xfrm>
              <a:off x="2920" y="3645"/>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 Records-sales-on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4" name="Rectangle 93">
              <a:extLst>
                <a:ext uri="{FF2B5EF4-FFF2-40B4-BE49-F238E27FC236}">
                  <a16:creationId xmlns:a16="http://schemas.microsoft.com/office/drawing/2014/main" id="{40FF6BFA-C290-5AA6-402F-CFB990AF17DF}"/>
                </a:ext>
              </a:extLst>
            </p:cNvPr>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5" name="Rectangle 94">
              <a:extLst>
                <a:ext uri="{FF2B5EF4-FFF2-40B4-BE49-F238E27FC236}">
                  <a16:creationId xmlns:a16="http://schemas.microsoft.com/office/drawing/2014/main" id="{28A20B60-6347-B869-BEDC-503008F9230E}"/>
                </a:ext>
              </a:extLst>
            </p:cNvPr>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6" name="Rectangle 95">
              <a:extLst>
                <a:ext uri="{FF2B5EF4-FFF2-40B4-BE49-F238E27FC236}">
                  <a16:creationId xmlns:a16="http://schemas.microsoft.com/office/drawing/2014/main" id="{772FAF62-8AE2-2D19-7C6C-2AD357D59E07}"/>
                </a:ext>
              </a:extLst>
            </p:cNvPr>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7" name="Rectangle 96">
              <a:extLst>
                <a:ext uri="{FF2B5EF4-FFF2-40B4-BE49-F238E27FC236}">
                  <a16:creationId xmlns:a16="http://schemas.microsoft.com/office/drawing/2014/main" id="{92D49F9D-EB16-BFE2-57F1-67234C9F42A3}"/>
                </a:ext>
              </a:extLst>
            </p:cNvPr>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8" name="Rectangle 97">
              <a:extLst>
                <a:ext uri="{FF2B5EF4-FFF2-40B4-BE49-F238E27FC236}">
                  <a16:creationId xmlns:a16="http://schemas.microsoft.com/office/drawing/2014/main" id="{D0E2B50F-8335-4A46-74B0-272457C866C6}"/>
                </a:ext>
              </a:extLst>
            </p:cNvPr>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9" name="Rectangle 98">
              <a:extLst>
                <a:ext uri="{FF2B5EF4-FFF2-40B4-BE49-F238E27FC236}">
                  <a16:creationId xmlns:a16="http://schemas.microsoft.com/office/drawing/2014/main" id="{A8183378-7160-7FD2-A2F6-88E9E62B748E}"/>
                </a:ext>
              </a:extLst>
            </p:cNvPr>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0" name="Rectangle 99">
              <a:extLst>
                <a:ext uri="{FF2B5EF4-FFF2-40B4-BE49-F238E27FC236}">
                  <a16:creationId xmlns:a16="http://schemas.microsoft.com/office/drawing/2014/main" id="{DA64B7A2-210D-3700-E493-220998BEA14C}"/>
                </a:ext>
              </a:extLst>
            </p:cNvPr>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1" name="Rectangle 100">
              <a:extLst>
                <a:ext uri="{FF2B5EF4-FFF2-40B4-BE49-F238E27FC236}">
                  <a16:creationId xmlns:a16="http://schemas.microsoft.com/office/drawing/2014/main" id="{CDD216DF-C6E1-067C-21CF-7DDAAC660B71}"/>
                </a:ext>
              </a:extLst>
            </p:cNvPr>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2" name="Rectangle 101">
              <a:extLst>
                <a:ext uri="{FF2B5EF4-FFF2-40B4-BE49-F238E27FC236}">
                  <a16:creationId xmlns:a16="http://schemas.microsoft.com/office/drawing/2014/main" id="{33BBA5D0-33D1-ACE6-77AC-38026099A52B}"/>
                </a:ext>
              </a:extLst>
            </p:cNvPr>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 name="Rectangle 102">
              <a:extLst>
                <a:ext uri="{FF2B5EF4-FFF2-40B4-BE49-F238E27FC236}">
                  <a16:creationId xmlns:a16="http://schemas.microsoft.com/office/drawing/2014/main" id="{18859938-010B-E599-BA1B-523F0315A4AD}"/>
                </a:ext>
              </a:extLst>
            </p:cNvPr>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 name="Rectangle 103">
              <a:extLst>
                <a:ext uri="{FF2B5EF4-FFF2-40B4-BE49-F238E27FC236}">
                  <a16:creationId xmlns:a16="http://schemas.microsoft.com/office/drawing/2014/main" id="{A14C3589-64F9-395F-543E-BC2F29577368}"/>
                </a:ext>
              </a:extLst>
            </p:cNvPr>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 name="Rectangle 104">
              <a:extLst>
                <a:ext uri="{FF2B5EF4-FFF2-40B4-BE49-F238E27FC236}">
                  <a16:creationId xmlns:a16="http://schemas.microsoft.com/office/drawing/2014/main" id="{BD120E7C-CDEA-A42E-207D-0575AA719DD7}"/>
                </a:ext>
              </a:extLst>
            </p:cNvPr>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 name="Rectangle 105">
              <a:extLst>
                <a:ext uri="{FF2B5EF4-FFF2-40B4-BE49-F238E27FC236}">
                  <a16:creationId xmlns:a16="http://schemas.microsoft.com/office/drawing/2014/main" id="{8B3814C2-AF8F-32D6-AC43-95A3FB4272A1}"/>
                </a:ext>
              </a:extLst>
            </p:cNvPr>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 name="Rectangle 106">
              <a:extLst>
                <a:ext uri="{FF2B5EF4-FFF2-40B4-BE49-F238E27FC236}">
                  <a16:creationId xmlns:a16="http://schemas.microsoft.com/office/drawing/2014/main" id="{26B90A47-A214-83F1-CCFF-B7C85E02D1D0}"/>
                </a:ext>
              </a:extLst>
            </p:cNvPr>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 name="Rectangle 107">
              <a:extLst>
                <a:ext uri="{FF2B5EF4-FFF2-40B4-BE49-F238E27FC236}">
                  <a16:creationId xmlns:a16="http://schemas.microsoft.com/office/drawing/2014/main" id="{681951AC-8EC4-4828-F547-4A5ECE11E33C}"/>
                </a:ext>
              </a:extLst>
            </p:cNvPr>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 name="Rectangle 109">
              <a:extLst>
                <a:ext uri="{FF2B5EF4-FFF2-40B4-BE49-F238E27FC236}">
                  <a16:creationId xmlns:a16="http://schemas.microsoft.com/office/drawing/2014/main" id="{6E262ED8-AEF2-842B-7B4E-28BAA37693CD}"/>
                </a:ext>
              </a:extLst>
            </p:cNvPr>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 name="Rectangle 110">
              <a:extLst>
                <a:ext uri="{FF2B5EF4-FFF2-40B4-BE49-F238E27FC236}">
                  <a16:creationId xmlns:a16="http://schemas.microsoft.com/office/drawing/2014/main" id="{225B7087-1514-2A08-040B-9693C21E815C}"/>
                </a:ext>
              </a:extLst>
            </p:cNvPr>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grpSp>
      <p:cxnSp>
        <p:nvCxnSpPr>
          <p:cNvPr id="114" name="Straight Arrow Connector 113">
            <a:extLst>
              <a:ext uri="{FF2B5EF4-FFF2-40B4-BE49-F238E27FC236}">
                <a16:creationId xmlns:a16="http://schemas.microsoft.com/office/drawing/2014/main" id="{B15E1550-21C2-1ED1-EEE7-4F78048CA77A}"/>
              </a:ext>
            </a:extLst>
          </p:cNvPr>
          <p:cNvCxnSpPr>
            <a:endCxn id="26" idx="1"/>
          </p:cNvCxnSpPr>
          <p:nvPr/>
        </p:nvCxnSpPr>
        <p:spPr>
          <a:xfrm flipV="1">
            <a:off x="2968052" y="3526180"/>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8" name="TextBox 117">
            <a:extLst>
              <a:ext uri="{FF2B5EF4-FFF2-40B4-BE49-F238E27FC236}">
                <a16:creationId xmlns:a16="http://schemas.microsoft.com/office/drawing/2014/main" id="{DCEDEEAD-9B79-8A99-C52E-721C0C2FF444}"/>
              </a:ext>
            </a:extLst>
          </p:cNvPr>
          <p:cNvSpPr txBox="1"/>
          <p:nvPr/>
        </p:nvSpPr>
        <p:spPr>
          <a:xfrm>
            <a:off x="2146314" y="4101944"/>
            <a:ext cx="1052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Calibri" panose="020F0502020204030204"/>
                <a:ea typeface="+mn-ea"/>
                <a:cs typeface="+mn-cs"/>
              </a:rPr>
              <a:t>Concepts</a:t>
            </a:r>
          </a:p>
        </p:txBody>
      </p:sp>
      <p:cxnSp>
        <p:nvCxnSpPr>
          <p:cNvPr id="119" name="Straight Arrow Connector 118">
            <a:extLst>
              <a:ext uri="{FF2B5EF4-FFF2-40B4-BE49-F238E27FC236}">
                <a16:creationId xmlns:a16="http://schemas.microsoft.com/office/drawing/2014/main" id="{5B3E6DAF-36A0-49D3-2E1A-9A3B5EB24809}"/>
              </a:ext>
            </a:extLst>
          </p:cNvPr>
          <p:cNvCxnSpPr/>
          <p:nvPr/>
        </p:nvCxnSpPr>
        <p:spPr>
          <a:xfrm flipV="1">
            <a:off x="3120452" y="4982722"/>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0" name="TextBox 119">
            <a:extLst>
              <a:ext uri="{FF2B5EF4-FFF2-40B4-BE49-F238E27FC236}">
                <a16:creationId xmlns:a16="http://schemas.microsoft.com/office/drawing/2014/main" id="{13090A36-7139-6F23-13D4-D3F33C6CC377}"/>
              </a:ext>
            </a:extLst>
          </p:cNvPr>
          <p:cNvSpPr txBox="1"/>
          <p:nvPr/>
        </p:nvSpPr>
        <p:spPr>
          <a:xfrm>
            <a:off x="1983992" y="5462242"/>
            <a:ext cx="11188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Calibri" panose="020F0502020204030204"/>
                <a:ea typeface="+mn-ea"/>
                <a:cs typeface="+mn-cs"/>
              </a:rPr>
              <a:t>Attributes</a:t>
            </a:r>
          </a:p>
        </p:txBody>
      </p:sp>
      <p:cxnSp>
        <p:nvCxnSpPr>
          <p:cNvPr id="121" name="Straight Arrow Connector 120">
            <a:extLst>
              <a:ext uri="{FF2B5EF4-FFF2-40B4-BE49-F238E27FC236}">
                <a16:creationId xmlns:a16="http://schemas.microsoft.com/office/drawing/2014/main" id="{8D147621-074B-CE79-C4F3-1FC437F5454A}"/>
              </a:ext>
            </a:extLst>
          </p:cNvPr>
          <p:cNvCxnSpPr/>
          <p:nvPr/>
        </p:nvCxnSpPr>
        <p:spPr>
          <a:xfrm flipV="1">
            <a:off x="3210314" y="2702171"/>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3" name="TextBox 122">
            <a:extLst>
              <a:ext uri="{FF2B5EF4-FFF2-40B4-BE49-F238E27FC236}">
                <a16:creationId xmlns:a16="http://schemas.microsoft.com/office/drawing/2014/main" id="{75A8DFBB-8EFC-96FB-BDCF-B26F10CA3F24}"/>
              </a:ext>
            </a:extLst>
          </p:cNvPr>
          <p:cNvSpPr txBox="1"/>
          <p:nvPr/>
        </p:nvSpPr>
        <p:spPr>
          <a:xfrm>
            <a:off x="1967378" y="3187855"/>
            <a:ext cx="125175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Calibri" panose="020F0502020204030204"/>
                <a:ea typeface="+mn-ea"/>
                <a:cs typeface="+mn-cs"/>
              </a:rPr>
              <a:t>Association</a:t>
            </a:r>
          </a:p>
        </p:txBody>
      </p:sp>
      <p:sp>
        <p:nvSpPr>
          <p:cNvPr id="125" name="Slide Number Placeholder 124">
            <a:extLst>
              <a:ext uri="{FF2B5EF4-FFF2-40B4-BE49-F238E27FC236}">
                <a16:creationId xmlns:a16="http://schemas.microsoft.com/office/drawing/2014/main" id="{203A8ABC-1632-58C0-8347-96F4A82201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F6DEEC-D04A-4FF0-9A08-7D39859C24F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3" name="Straight Arrow Connector 2">
            <a:extLst>
              <a:ext uri="{FF2B5EF4-FFF2-40B4-BE49-F238E27FC236}">
                <a16:creationId xmlns:a16="http://schemas.microsoft.com/office/drawing/2014/main" id="{82FBBA79-9929-E019-6F0F-2C5F6CC7AA70}"/>
              </a:ext>
            </a:extLst>
          </p:cNvPr>
          <p:cNvCxnSpPr>
            <a:cxnSpLocks/>
            <a:endCxn id="25" idx="1"/>
          </p:cNvCxnSpPr>
          <p:nvPr/>
        </p:nvCxnSpPr>
        <p:spPr>
          <a:xfrm>
            <a:off x="3163504" y="5646594"/>
            <a:ext cx="505024" cy="4939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6" name="Straight Arrow Connector 115">
            <a:extLst>
              <a:ext uri="{FF2B5EF4-FFF2-40B4-BE49-F238E27FC236}">
                <a16:creationId xmlns:a16="http://schemas.microsoft.com/office/drawing/2014/main" id="{3396C1A6-67C9-66D3-A1AC-0ECD6FBE796A}"/>
              </a:ext>
            </a:extLst>
          </p:cNvPr>
          <p:cNvCxnSpPr>
            <a:cxnSpLocks/>
          </p:cNvCxnSpPr>
          <p:nvPr/>
        </p:nvCxnSpPr>
        <p:spPr>
          <a:xfrm>
            <a:off x="2946381" y="4181123"/>
            <a:ext cx="1419116" cy="3790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0455B3F6-80E7-D837-969F-3263F87155DE}"/>
              </a:ext>
            </a:extLst>
          </p:cNvPr>
          <p:cNvCxnSpPr>
            <a:cxnSpLocks/>
          </p:cNvCxnSpPr>
          <p:nvPr/>
        </p:nvCxnSpPr>
        <p:spPr>
          <a:xfrm flipV="1">
            <a:off x="3180387" y="2985629"/>
            <a:ext cx="1902580" cy="40215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8765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20" grpId="0"/>
      <p:bldP spid="1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21" name="Rectangle 5"/>
          <p:cNvSpPr>
            <a:spLocks noChangeArrowheads="1"/>
          </p:cNvSpPr>
          <p:nvPr/>
        </p:nvSpPr>
        <p:spPr bwMode="auto">
          <a:xfrm>
            <a:off x="645064" y="525982"/>
            <a:ext cx="4282983" cy="1200361"/>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kumimoji="0" lang="en-US" sz="3600" b="1" i="0" u="none" strike="noStrike" kern="1200" cap="none" spc="0" normalizeH="0" baseline="0" noProof="0">
                <a:ln>
                  <a:noFill/>
                </a:ln>
                <a:solidFill>
                  <a:schemeClr val="tx1"/>
                </a:solidFill>
                <a:effectLst/>
                <a:uLnTx/>
                <a:uFillTx/>
                <a:latin typeface="+mj-lt"/>
                <a:ea typeface="+mj-ea"/>
                <a:cs typeface="+mj-cs"/>
              </a:rPr>
              <a:t>SSD Example for use case : Process Sale</a:t>
            </a:r>
          </a:p>
        </p:txBody>
      </p:sp>
      <p:sp>
        <p:nvSpPr>
          <p:cNvPr id="3" name="TextBox 2">
            <a:extLst>
              <a:ext uri="{FF2B5EF4-FFF2-40B4-BE49-F238E27FC236}">
                <a16:creationId xmlns:a16="http://schemas.microsoft.com/office/drawing/2014/main" id="{62E65829-011D-0EBD-9744-CACB56A99935}"/>
              </a:ext>
            </a:extLst>
          </p:cNvPr>
          <p:cNvSpPr txBox="1"/>
          <p:nvPr/>
        </p:nvSpPr>
        <p:spPr>
          <a:xfrm>
            <a:off x="221551" y="2031101"/>
            <a:ext cx="5165009" cy="3511943"/>
          </a:xfrm>
          <a:prstGeom prst="rect">
            <a:avLst/>
          </a:prstGeom>
        </p:spPr>
        <p:txBody>
          <a:bodyPr vert="horz" lIns="91440" tIns="45720" rIns="91440" bIns="45720" rtlCol="0" anchor="ctr">
            <a:normAutofit/>
          </a:bodyPr>
          <a:lstStyle/>
          <a:p>
            <a:pPr marL="342900" indent="-228600" algn="just">
              <a:lnSpc>
                <a:spcPct val="90000"/>
              </a:lnSpc>
              <a:spcAft>
                <a:spcPts val="600"/>
              </a:spcAft>
              <a:buFont typeface="Arial" panose="020B0604020202020204" pitchFamily="34" charset="0"/>
              <a:buChar char="•"/>
            </a:pPr>
            <a:r>
              <a:rPr lang="en-US" b="1" dirty="0"/>
              <a:t>SSD’s are an almost direct translation of the UC scenario(s).</a:t>
            </a:r>
          </a:p>
          <a:p>
            <a:pPr marL="342900" indent="-228600" algn="just">
              <a:lnSpc>
                <a:spcPct val="90000"/>
              </a:lnSpc>
              <a:spcAft>
                <a:spcPts val="600"/>
              </a:spcAft>
              <a:buFont typeface="Arial" panose="020B0604020202020204" pitchFamily="34" charset="0"/>
              <a:buChar char="•"/>
            </a:pPr>
            <a:endParaRPr lang="en-US" b="1" dirty="0"/>
          </a:p>
          <a:p>
            <a:pPr marL="342900" indent="-228600" algn="just">
              <a:lnSpc>
                <a:spcPct val="90000"/>
              </a:lnSpc>
              <a:spcAft>
                <a:spcPts val="600"/>
              </a:spcAft>
              <a:buFont typeface="Arial" panose="020B0604020202020204" pitchFamily="34" charset="0"/>
              <a:buChar char="•"/>
            </a:pPr>
            <a:r>
              <a:rPr lang="en-US" b="1" dirty="0"/>
              <a:t>Each use case can be visually represented with one system sequence diagram.</a:t>
            </a:r>
          </a:p>
          <a:p>
            <a:pPr marL="342900" indent="-228600" algn="just">
              <a:lnSpc>
                <a:spcPct val="90000"/>
              </a:lnSpc>
              <a:spcAft>
                <a:spcPts val="600"/>
              </a:spcAft>
              <a:buFont typeface="Arial" panose="020B0604020202020204" pitchFamily="34" charset="0"/>
              <a:buChar char="•"/>
            </a:pPr>
            <a:endParaRPr lang="en-US" b="1" dirty="0"/>
          </a:p>
          <a:p>
            <a:pPr marL="342900" indent="-228600" algn="just">
              <a:lnSpc>
                <a:spcPct val="90000"/>
              </a:lnSpc>
              <a:spcAft>
                <a:spcPts val="600"/>
              </a:spcAft>
              <a:buFont typeface="Arial" panose="020B0604020202020204" pitchFamily="34" charset="0"/>
              <a:buChar char="•"/>
            </a:pPr>
            <a:r>
              <a:rPr lang="en-US" b="1" dirty="0"/>
              <a:t>The system sequence diagram shall focus on visually presenting the main success scenario of the use case.</a:t>
            </a:r>
          </a:p>
          <a:p>
            <a:pPr marL="342900" indent="-228600" algn="just">
              <a:lnSpc>
                <a:spcPct val="90000"/>
              </a:lnSpc>
              <a:spcAft>
                <a:spcPts val="600"/>
              </a:spcAft>
              <a:buFont typeface="Arial" panose="020B0604020202020204" pitchFamily="34" charset="0"/>
              <a:buChar char="•"/>
            </a:pPr>
            <a:endParaRPr lang="en-US" b="1" dirty="0"/>
          </a:p>
          <a:p>
            <a:pPr marL="342900" indent="-228600">
              <a:lnSpc>
                <a:spcPct val="90000"/>
              </a:lnSpc>
              <a:spcAft>
                <a:spcPts val="600"/>
              </a:spcAft>
              <a:buFont typeface="Arial" panose="020B0604020202020204" pitchFamily="34" charset="0"/>
              <a:buChar char="•"/>
            </a:pPr>
            <a:endParaRPr lang="en-US" b="1" dirty="0"/>
          </a:p>
        </p:txBody>
      </p:sp>
      <p:pic>
        <p:nvPicPr>
          <p:cNvPr id="828419" name="Picture 3"/>
          <p:cNvPicPr>
            <a:picLocks noChangeAspect="1" noChangeArrowheads="1"/>
          </p:cNvPicPr>
          <p:nvPr/>
        </p:nvPicPr>
        <p:blipFill>
          <a:blip r:embed="rId3"/>
          <a:stretch>
            <a:fillRect/>
          </a:stretch>
        </p:blipFill>
        <p:spPr bwMode="auto">
          <a:xfrm>
            <a:off x="5987738" y="1360869"/>
            <a:ext cx="5628018" cy="3903392"/>
          </a:xfrm>
          <a:prstGeom prst="rect">
            <a:avLst/>
          </a:prstGeom>
          <a:solidFill>
            <a:schemeClr val="bg1"/>
          </a:solidFill>
        </p:spPr>
      </p:pic>
      <p:sp>
        <p:nvSpPr>
          <p:cNvPr id="5" name="Slide Number Placeholder 1"/>
          <p:cNvSpPr>
            <a:spLocks noGrp="1"/>
          </p:cNvSpPr>
          <p:nvPr>
            <p:ph type="sldNum" sz="quarter" idx="10"/>
          </p:nvPr>
        </p:nvSpPr>
        <p:spPr>
          <a:xfrm>
            <a:off x="8610600" y="6492240"/>
            <a:ext cx="2743200" cy="365125"/>
          </a:xfrm>
        </p:spPr>
        <p:txBody>
          <a:bodyPr vert="horz" lIns="91440" tIns="45720" rIns="91440" bIns="45720" rtlCol="0" anchor="ctr">
            <a:normAutofit/>
          </a:bodyPr>
          <a:lstStyle/>
          <a:p>
            <a:pPr marR="0" lvl="0" indent="0" algn="r" fontAlgn="auto">
              <a:spcBef>
                <a:spcPts val="0"/>
              </a:spcBef>
              <a:spcAft>
                <a:spcPts val="600"/>
              </a:spcAft>
              <a:buClrTx/>
              <a:buSzTx/>
              <a:buFontTx/>
              <a:buNone/>
              <a:tabLst/>
              <a:defRPr/>
            </a:pPr>
            <a:fld id="{54EED831-2B35-429C-962D-5D046F2CC130}" type="slidenum">
              <a:rPr kumimoji="0" lang="en-US" b="0" i="0" u="none" strike="noStrike" cap="none" spc="0" normalizeH="0" baseline="0" noProof="0">
                <a:ln>
                  <a:noFill/>
                </a:ln>
                <a:effectLst/>
                <a:uLnTx/>
                <a:uFillTx/>
              </a:rPr>
              <a:pPr marR="0" lvl="0" indent="0" algn="r" fontAlgn="auto">
                <a:spcBef>
                  <a:spcPts val="0"/>
                </a:spcBef>
                <a:spcAft>
                  <a:spcPts val="600"/>
                </a:spcAft>
                <a:buClrTx/>
                <a:buSzTx/>
                <a:buFontTx/>
                <a:buNone/>
                <a:tabLst/>
                <a:defRPr/>
              </a:pPr>
              <a:t>34</a:t>
            </a:fld>
            <a:endParaRPr kumimoji="0" lang="en-US" b="0" i="0" u="none" strike="noStrike" cap="none" spc="0" normalizeH="0" baseline="0" noProof="0">
              <a:ln>
                <a:noFill/>
              </a:ln>
              <a:effectLst/>
              <a:uLnTx/>
              <a:uFillTx/>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p:cNvSpPr>
            <a:spLocks noGrp="1" noChangeArrowheads="1"/>
          </p:cNvSpPr>
          <p:nvPr>
            <p:ph type="title"/>
          </p:nvPr>
        </p:nvSpPr>
        <p:spPr>
          <a:xfrm>
            <a:off x="645064" y="525982"/>
            <a:ext cx="4282983" cy="1200361"/>
          </a:xfrm>
        </p:spPr>
        <p:txBody>
          <a:bodyPr vert="horz" lIns="91440" tIns="45720" rIns="91440" bIns="45720" rtlCol="0" anchor="b">
            <a:normAutofit/>
          </a:bodyPr>
          <a:lstStyle/>
          <a:p>
            <a:r>
              <a:rPr lang="en-US" altLang="en-US" sz="3100"/>
              <a:t>Operation Contract Example : for enterItem()</a:t>
            </a:r>
          </a:p>
        </p:txBody>
      </p:sp>
      <p:sp>
        <p:nvSpPr>
          <p:cNvPr id="3" name="TextBox 2">
            <a:extLst>
              <a:ext uri="{FF2B5EF4-FFF2-40B4-BE49-F238E27FC236}">
                <a16:creationId xmlns:a16="http://schemas.microsoft.com/office/drawing/2014/main" id="{3CA32E58-8148-3512-094F-BF09C1BC62B7}"/>
              </a:ext>
            </a:extLst>
          </p:cNvPr>
          <p:cNvSpPr txBox="1"/>
          <p:nvPr/>
        </p:nvSpPr>
        <p:spPr>
          <a:xfrm>
            <a:off x="67427" y="2031101"/>
            <a:ext cx="5654301" cy="3511943"/>
          </a:xfrm>
          <a:prstGeom prst="rect">
            <a:avLst/>
          </a:prstGeom>
        </p:spPr>
        <p:txBody>
          <a:bodyPr vert="horz" lIns="91440" tIns="45720" rIns="91440" bIns="45720" rtlCol="0" anchor="ctr">
            <a:normAutofit fontScale="92500" lnSpcReduction="10000"/>
          </a:bodyPr>
          <a:lstStyle/>
          <a:p>
            <a:pPr marL="342900" indent="-228600">
              <a:lnSpc>
                <a:spcPct val="90000"/>
              </a:lnSpc>
              <a:spcAft>
                <a:spcPts val="600"/>
              </a:spcAft>
              <a:buFont typeface="Arial" panose="020B0604020202020204" pitchFamily="34" charset="0"/>
              <a:buChar char="•"/>
            </a:pPr>
            <a:endParaRPr lang="en-US" sz="2200" dirty="0"/>
          </a:p>
          <a:p>
            <a:pPr marL="342900" indent="-228600">
              <a:lnSpc>
                <a:spcPct val="90000"/>
              </a:lnSpc>
              <a:spcAft>
                <a:spcPts val="600"/>
              </a:spcAft>
              <a:buFont typeface="Arial" panose="020B0604020202020204" pitchFamily="34" charset="0"/>
              <a:buChar char="•"/>
            </a:pPr>
            <a:endParaRPr lang="en-US" sz="2200" dirty="0"/>
          </a:p>
          <a:p>
            <a:pPr marL="342900" indent="-228600">
              <a:lnSpc>
                <a:spcPct val="90000"/>
              </a:lnSpc>
              <a:spcAft>
                <a:spcPts val="600"/>
              </a:spcAft>
              <a:buFont typeface="Arial" panose="020B0604020202020204" pitchFamily="34" charset="0"/>
              <a:buChar char="•"/>
            </a:pPr>
            <a:r>
              <a:rPr lang="en-US" sz="2200" dirty="0"/>
              <a:t>Operation Contracts are written for important system operations.</a:t>
            </a:r>
          </a:p>
          <a:p>
            <a:pPr marL="342900" indent="-228600">
              <a:lnSpc>
                <a:spcPct val="90000"/>
              </a:lnSpc>
              <a:spcAft>
                <a:spcPts val="600"/>
              </a:spcAft>
              <a:buFont typeface="Arial" panose="020B0604020202020204" pitchFamily="34" charset="0"/>
              <a:buChar char="•"/>
            </a:pPr>
            <a:endParaRPr lang="en-US" sz="2200" dirty="0"/>
          </a:p>
          <a:p>
            <a:pPr marL="342900" indent="-228600">
              <a:lnSpc>
                <a:spcPct val="90000"/>
              </a:lnSpc>
              <a:spcAft>
                <a:spcPts val="600"/>
              </a:spcAft>
              <a:buFont typeface="Arial" panose="020B0604020202020204" pitchFamily="34" charset="0"/>
              <a:buChar char="•"/>
            </a:pPr>
            <a:r>
              <a:rPr lang="en-US" sz="2200" dirty="0"/>
              <a:t>Each Operation Contract can be translated visually into one interaction diagram.</a:t>
            </a:r>
          </a:p>
          <a:p>
            <a:pPr marL="342900" indent="-228600">
              <a:lnSpc>
                <a:spcPct val="90000"/>
              </a:lnSpc>
              <a:spcAft>
                <a:spcPts val="600"/>
              </a:spcAft>
              <a:buFont typeface="Arial" panose="020B0604020202020204" pitchFamily="34" charset="0"/>
              <a:buChar char="•"/>
            </a:pPr>
            <a:endParaRPr lang="en-US" sz="2200" dirty="0"/>
          </a:p>
          <a:p>
            <a:pPr marL="342900" indent="-228600">
              <a:lnSpc>
                <a:spcPct val="90000"/>
              </a:lnSpc>
              <a:spcAft>
                <a:spcPts val="600"/>
              </a:spcAft>
              <a:buFont typeface="Arial" panose="020B0604020202020204" pitchFamily="34" charset="0"/>
              <a:buChar char="•"/>
            </a:pPr>
            <a:r>
              <a:rPr lang="en-US" sz="2200" dirty="0"/>
              <a:t>For example, in the next slide, we will show the interaction diagram that represents the operation </a:t>
            </a:r>
            <a:r>
              <a:rPr lang="en-US" sz="2200" dirty="0" err="1"/>
              <a:t>enterItem</a:t>
            </a:r>
            <a:r>
              <a:rPr lang="en-US" sz="2200" dirty="0"/>
              <a:t>()</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endParaRPr lang="en-US" dirty="0"/>
          </a:p>
        </p:txBody>
      </p:sp>
      <p:pic>
        <p:nvPicPr>
          <p:cNvPr id="774147" name="Picture 3" descr="contract"/>
          <p:cNvPicPr>
            <a:picLocks noGrp="1" noChangeAspect="1" noChangeArrowheads="1"/>
          </p:cNvPicPr>
          <p:nvPr>
            <p:ph idx="1"/>
          </p:nvPr>
        </p:nvPicPr>
        <p:blipFill>
          <a:blip r:embed="rId3"/>
          <a:srcRect l="2679" r="11434"/>
          <a:stretch/>
        </p:blipFill>
        <p:spPr>
          <a:xfrm>
            <a:off x="5987738" y="650494"/>
            <a:ext cx="5628018" cy="5324142"/>
          </a:xfrm>
          <a:prstGeom prst="rect">
            <a:avLst/>
          </a:prstGeom>
          <a:noFill/>
        </p:spPr>
      </p:pic>
      <p:sp>
        <p:nvSpPr>
          <p:cNvPr id="4" name="Slide Number Placeholder 3"/>
          <p:cNvSpPr>
            <a:spLocks noGrp="1"/>
          </p:cNvSpPr>
          <p:nvPr>
            <p:ph type="sldNum" sz="quarter" idx="10"/>
          </p:nvPr>
        </p:nvSpPr>
        <p:spPr>
          <a:xfrm>
            <a:off x="8610600" y="6492240"/>
            <a:ext cx="2743200" cy="365125"/>
          </a:xfrm>
        </p:spPr>
        <p:txBody>
          <a:bodyPr vert="horz" lIns="91440" tIns="45720" rIns="91440" bIns="45720" rtlCol="0" anchor="ctr">
            <a:normAutofit/>
          </a:bodyPr>
          <a:lstStyle/>
          <a:p>
            <a:pPr algn="r">
              <a:spcAft>
                <a:spcPts val="600"/>
              </a:spcAft>
              <a:defRPr/>
            </a:pPr>
            <a:fld id="{B4DA01F8-02BC-447E-BCC7-96AFC80205E3}" type="slidenum">
              <a:rPr lang="en-US">
                <a:solidFill>
                  <a:prstClr val="black">
                    <a:tint val="75000"/>
                  </a:prstClr>
                </a:solidFill>
                <a:latin typeface="Calibri" panose="020F0502020204030204"/>
              </a:rPr>
              <a:pPr algn="r">
                <a:spcAft>
                  <a:spcPts val="600"/>
                </a:spcAft>
                <a:defRPr/>
              </a:pPr>
              <a:t>35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9733765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8672C2FB-BDE4-453D-B736-F2F905298F57}"/>
              </a:ext>
            </a:extLst>
          </p:cNvPr>
          <p:cNvPicPr>
            <a:picLocks noChangeAspect="1" noChangeArrowheads="1"/>
          </p:cNvPicPr>
          <p:nvPr/>
        </p:nvPicPr>
        <p:blipFill>
          <a:blip r:embed="rId3"/>
          <a:stretch>
            <a:fillRect/>
          </a:stretch>
        </p:blipFill>
        <p:spPr bwMode="auto">
          <a:xfrm>
            <a:off x="643467" y="832679"/>
            <a:ext cx="10905066" cy="5192641"/>
          </a:xfrm>
          <a:prstGeom prst="rect">
            <a:avLst/>
          </a:prstGeom>
          <a:noFill/>
        </p:spPr>
      </p:pic>
      <p:sp>
        <p:nvSpPr>
          <p:cNvPr id="2" name="Slide Number Placeholder 1">
            <a:extLst>
              <a:ext uri="{FF2B5EF4-FFF2-40B4-BE49-F238E27FC236}">
                <a16:creationId xmlns:a16="http://schemas.microsoft.com/office/drawing/2014/main" id="{7F853D5C-23EC-4695-8F34-F54732ACE5A7}"/>
              </a:ext>
            </a:extLst>
          </p:cNvPr>
          <p:cNvSpPr>
            <a:spLocks noGrp="1"/>
          </p:cNvSpPr>
          <p:nvPr>
            <p:ph type="sldNum" sz="quarter" idx="10"/>
          </p:nvPr>
        </p:nvSpPr>
        <p:spPr>
          <a:xfrm>
            <a:off x="86106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44C8290B-349C-469A-A3A9-47E61E8F9E2E}" type="slidenum">
              <a:rPr kumimoji="0" lang="de-DE" sz="12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36</a:t>
            </a:fld>
            <a:endParaRPr kumimoji="0" lang="de-DE"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0570139-710F-27D0-7C62-80CBA8C62292}"/>
              </a:ext>
            </a:extLst>
          </p:cNvPr>
          <p:cNvSpPr txBox="1"/>
          <p:nvPr/>
        </p:nvSpPr>
        <p:spPr>
          <a:xfrm>
            <a:off x="3069883" y="270816"/>
            <a:ext cx="6052234" cy="461665"/>
          </a:xfrm>
          <a:prstGeom prst="rect">
            <a:avLst/>
          </a:prstGeom>
          <a:noFill/>
        </p:spPr>
        <p:txBody>
          <a:bodyPr wrap="none" rtlCol="0">
            <a:spAutoFit/>
          </a:bodyPr>
          <a:lstStyle/>
          <a:p>
            <a:r>
              <a:rPr lang="en-US" sz="2400" b="1" dirty="0"/>
              <a:t>Collaboration Diagram for </a:t>
            </a:r>
            <a:r>
              <a:rPr lang="en-US" sz="2400" b="1" dirty="0" err="1"/>
              <a:t>enterItem</a:t>
            </a:r>
            <a:r>
              <a:rPr lang="en-US" sz="2400" b="1" dirty="0"/>
              <a:t>(</a:t>
            </a:r>
            <a:r>
              <a:rPr lang="en-US" sz="2400" b="1" dirty="0" err="1"/>
              <a:t>upc</a:t>
            </a:r>
            <a:r>
              <a:rPr lang="en-US" sz="2400" b="1" dirty="0"/>
              <a:t>, qty)</a:t>
            </a:r>
          </a:p>
        </p:txBody>
      </p:sp>
    </p:spTree>
    <p:extLst>
      <p:ext uri="{BB962C8B-B14F-4D97-AF65-F5344CB8AC3E}">
        <p14:creationId xmlns:p14="http://schemas.microsoft.com/office/powerpoint/2010/main" val="2575120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6E85C-23DF-A17D-02B7-76C5F1D2B2CC}"/>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General Rules for drawing sequence diagrams</a:t>
            </a:r>
          </a:p>
        </p:txBody>
      </p:sp>
      <p:sp>
        <p:nvSpPr>
          <p:cNvPr id="3" name="Content Placeholder 2">
            <a:extLst>
              <a:ext uri="{FF2B5EF4-FFF2-40B4-BE49-F238E27FC236}">
                <a16:creationId xmlns:a16="http://schemas.microsoft.com/office/drawing/2014/main" id="{97B8A08F-7981-55E3-E4E5-593E1378D19E}"/>
              </a:ext>
            </a:extLst>
          </p:cNvPr>
          <p:cNvSpPr txBox="1">
            <a:spLocks/>
          </p:cNvSpPr>
          <p:nvPr/>
        </p:nvSpPr>
        <p:spPr>
          <a:xfrm>
            <a:off x="838200" y="1825624"/>
            <a:ext cx="5065889" cy="45751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t>Place objects across your drawing field</a:t>
            </a:r>
          </a:p>
          <a:p>
            <a:pPr marL="514350" indent="-514350">
              <a:buFont typeface="+mj-lt"/>
              <a:buAutoNum type="arabicPeriod"/>
            </a:pPr>
            <a:r>
              <a:rPr lang="en-US" dirty="0"/>
              <a:t>Time flows downwards</a:t>
            </a:r>
          </a:p>
          <a:p>
            <a:pPr marL="514350" indent="-514350">
              <a:buFont typeface="+mj-lt"/>
              <a:buAutoNum type="arabicPeriod"/>
            </a:pPr>
            <a:r>
              <a:rPr lang="en-US" dirty="0"/>
              <a:t>Avoid too many arrows crossing multiple lifelines</a:t>
            </a:r>
          </a:p>
          <a:p>
            <a:pPr marL="514350" indent="-514350">
              <a:buFont typeface="+mj-lt"/>
              <a:buAutoNum type="arabicPeriod"/>
            </a:pPr>
            <a:r>
              <a:rPr lang="en-US" dirty="0"/>
              <a:t>Shift </a:t>
            </a:r>
            <a:r>
              <a:rPr lang="en-US" dirty="0" err="1"/>
              <a:t>lifeflines</a:t>
            </a:r>
            <a:r>
              <a:rPr lang="en-US" dirty="0"/>
              <a:t> of objects if necessary</a:t>
            </a:r>
          </a:p>
        </p:txBody>
      </p:sp>
      <p:pic>
        <p:nvPicPr>
          <p:cNvPr id="1026" name="Picture 2" descr="[ Interaction for a session ]">
            <a:extLst>
              <a:ext uri="{FF2B5EF4-FFF2-40B4-BE49-F238E27FC236}">
                <a16:creationId xmlns:a16="http://schemas.microsoft.com/office/drawing/2014/main" id="{90D76FA4-D2D9-D07A-4438-F16F1079B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4089" y="1355022"/>
            <a:ext cx="5325340" cy="4881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443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8A987-8CD9-7173-8C96-C8381D0C40BB}"/>
              </a:ext>
            </a:extLst>
          </p:cNvPr>
          <p:cNvSpPr>
            <a:spLocks noGrp="1"/>
          </p:cNvSpPr>
          <p:nvPr>
            <p:ph type="title"/>
          </p:nvPr>
        </p:nvSpPr>
        <p:spPr>
          <a:xfrm>
            <a:off x="1289304" y="0"/>
            <a:ext cx="9849751" cy="1349671"/>
          </a:xfrm>
        </p:spPr>
        <p:txBody>
          <a:bodyPr anchor="b">
            <a:normAutofit/>
          </a:bodyPr>
          <a:lstStyle/>
          <a:p>
            <a:r>
              <a:rPr lang="en-US" sz="5400" dirty="0"/>
              <a:t>More on Interaction Diagrams</a:t>
            </a:r>
          </a:p>
        </p:txBody>
      </p:sp>
      <p:sp>
        <p:nvSpPr>
          <p:cNvPr id="3" name="Content Placeholder 2">
            <a:extLst>
              <a:ext uri="{FF2B5EF4-FFF2-40B4-BE49-F238E27FC236}">
                <a16:creationId xmlns:a16="http://schemas.microsoft.com/office/drawing/2014/main" id="{685C7032-1919-8173-3B4B-8088045CFE29}"/>
              </a:ext>
            </a:extLst>
          </p:cNvPr>
          <p:cNvSpPr>
            <a:spLocks noGrp="1"/>
          </p:cNvSpPr>
          <p:nvPr>
            <p:ph idx="1"/>
          </p:nvPr>
        </p:nvSpPr>
        <p:spPr>
          <a:xfrm>
            <a:off x="1289304" y="2902913"/>
            <a:ext cx="9849751" cy="3032168"/>
          </a:xfrm>
        </p:spPr>
        <p:txBody>
          <a:bodyPr anchor="ctr">
            <a:normAutofit fontScale="92500" lnSpcReduction="10000"/>
          </a:bodyPr>
          <a:lstStyle/>
          <a:p>
            <a:r>
              <a:rPr lang="en-US" sz="2400" dirty="0"/>
              <a:t>Designer designs these operation contracts and interaction diagrams taking as an input:</a:t>
            </a:r>
          </a:p>
          <a:p>
            <a:pPr marL="0" indent="0">
              <a:buNone/>
            </a:pPr>
            <a:endParaRPr lang="en-US" sz="2400" dirty="0"/>
          </a:p>
          <a:p>
            <a:pPr lvl="1"/>
            <a:r>
              <a:rPr lang="en-US" dirty="0"/>
              <a:t>All artifacts given by requirements engineer; specially the domain model</a:t>
            </a:r>
          </a:p>
          <a:p>
            <a:pPr lvl="1"/>
            <a:r>
              <a:rPr lang="en-US" dirty="0"/>
              <a:t>The importance to satisfy the GRASP Patterns where applicable</a:t>
            </a:r>
          </a:p>
          <a:p>
            <a:pPr lvl="1"/>
            <a:endParaRPr lang="en-US" dirty="0"/>
          </a:p>
          <a:p>
            <a:pPr lvl="1"/>
            <a:endParaRPr lang="en-US" dirty="0"/>
          </a:p>
          <a:p>
            <a:pPr lvl="1"/>
            <a:r>
              <a:rPr lang="en-US" dirty="0"/>
              <a:t>Can you try to find which GRASP Patterns were considered while designing </a:t>
            </a:r>
            <a:r>
              <a:rPr lang="en-US" dirty="0" err="1">
                <a:solidFill>
                  <a:srgbClr val="FF0000"/>
                </a:solidFill>
              </a:rPr>
              <a:t>enterItem</a:t>
            </a:r>
            <a:r>
              <a:rPr lang="en-US" dirty="0">
                <a:solidFill>
                  <a:srgbClr val="FF0000"/>
                </a:solidFill>
              </a:rPr>
              <a:t>()?</a:t>
            </a:r>
          </a:p>
          <a:p>
            <a:pPr lvl="1"/>
            <a:endParaRPr lang="en-US" sz="2000" dirty="0"/>
          </a:p>
          <a:p>
            <a:pPr lvl="1"/>
            <a:endParaRPr lang="en-US" sz="2000" dirty="0"/>
          </a:p>
        </p:txBody>
      </p:sp>
    </p:spTree>
    <p:extLst>
      <p:ext uri="{BB962C8B-B14F-4D97-AF65-F5344CB8AC3E}">
        <p14:creationId xmlns:p14="http://schemas.microsoft.com/office/powerpoint/2010/main" val="3333682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a:xfrm>
            <a:off x="5297762" y="329184"/>
            <a:ext cx="6251110" cy="1783080"/>
          </a:xfrm>
        </p:spPr>
        <p:txBody>
          <a:bodyPr anchor="b">
            <a:normAutofit/>
          </a:bodyPr>
          <a:lstStyle/>
          <a:p>
            <a:r>
              <a:rPr lang="en-US" sz="5400"/>
              <a:t>Object Communication</a:t>
            </a:r>
          </a:p>
        </p:txBody>
      </p:sp>
      <p:pic>
        <p:nvPicPr>
          <p:cNvPr id="829445" name="Picture 829444" descr="Empty speech bubbles">
            <a:extLst>
              <a:ext uri="{FF2B5EF4-FFF2-40B4-BE49-F238E27FC236}">
                <a16:creationId xmlns:a16="http://schemas.microsoft.com/office/drawing/2014/main" id="{E1A84D07-FE55-B7F6-8B34-7731FCA315D8}"/>
              </a:ext>
            </a:extLst>
          </p:cNvPr>
          <p:cNvPicPr>
            <a:picLocks noChangeAspect="1"/>
          </p:cNvPicPr>
          <p:nvPr/>
        </p:nvPicPr>
        <p:blipFill rotWithShape="1">
          <a:blip r:embed="rId3"/>
          <a:srcRect l="31582" r="23087"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829443" name="Rectangle 3"/>
          <p:cNvSpPr>
            <a:spLocks noGrp="1" noChangeArrowheads="1"/>
          </p:cNvSpPr>
          <p:nvPr>
            <p:ph type="body" idx="1"/>
          </p:nvPr>
        </p:nvSpPr>
        <p:spPr>
          <a:xfrm>
            <a:off x="5297762" y="2706624"/>
            <a:ext cx="6251110" cy="3483864"/>
          </a:xfrm>
        </p:spPr>
        <p:txBody>
          <a:bodyPr>
            <a:normAutofit/>
          </a:bodyPr>
          <a:lstStyle/>
          <a:p>
            <a:pPr marL="342900" indent="-342900"/>
            <a:r>
              <a:rPr lang="en-US" sz="2400" dirty="0"/>
              <a:t>How do objects communicate with each other?</a:t>
            </a:r>
          </a:p>
          <a:p>
            <a:pPr marL="342900" indent="-342900"/>
            <a:r>
              <a:rPr lang="en-US" sz="2400" dirty="0"/>
              <a:t>Interaction diagrams describe behavior, but the nature of the communication is implicit.</a:t>
            </a:r>
          </a:p>
          <a:p>
            <a:pPr marL="342900" indent="-342900"/>
            <a:r>
              <a:rPr lang="en-US" sz="2400" dirty="0"/>
              <a:t>For an object to send a message to another, the receiver must be visible – the sender must have some kind of reference to the receiver.</a:t>
            </a:r>
          </a:p>
          <a:p>
            <a:pPr marL="342900" indent="-342900"/>
            <a:r>
              <a:rPr lang="en-US" sz="2400" dirty="0"/>
              <a:t>Visibility is the ability of one object to see another.</a:t>
            </a:r>
          </a:p>
        </p:txBody>
      </p:sp>
      <p:sp>
        <p:nvSpPr>
          <p:cNvPr id="4" name="Slide Number Placeholder 3"/>
          <p:cNvSpPr>
            <a:spLocks noGrp="1"/>
          </p:cNvSpPr>
          <p:nvPr>
            <p:ph type="sldNum" sz="quarter" idx="10"/>
          </p:nvPr>
        </p:nvSpPr>
        <p:spPr>
          <a:xfrm>
            <a:off x="10052978" y="6356350"/>
            <a:ext cx="1300821"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7336BD8E-B5BA-48EA-A715-EF8DA1D1352E}"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39</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Attribute Visibility</a:t>
            </a:r>
          </a:p>
        </p:txBody>
      </p:sp>
      <p:sp>
        <p:nvSpPr>
          <p:cNvPr id="831491" name="Rectangle 3"/>
          <p:cNvSpPr>
            <a:spLocks noGrp="1" noChangeArrowheads="1"/>
          </p:cNvSpPr>
          <p:nvPr>
            <p:ph type="body" idx="1"/>
          </p:nvPr>
        </p:nvSpPr>
        <p:spPr>
          <a:xfrm>
            <a:off x="638881" y="1809541"/>
            <a:ext cx="10909643" cy="687406"/>
          </a:xfrm>
        </p:spPr>
        <p:txBody>
          <a:bodyPr vert="horz" lIns="91440" tIns="45720" rIns="91440" bIns="45720" rtlCol="0" anchor="ctr">
            <a:normAutofit/>
          </a:bodyPr>
          <a:lstStyle/>
          <a:p>
            <a:pPr marL="0" indent="0" algn="ctr">
              <a:buNone/>
            </a:pPr>
            <a:r>
              <a:rPr lang="en-US" sz="2400" kern="1200">
                <a:solidFill>
                  <a:schemeClr val="tx1"/>
                </a:solidFill>
                <a:latin typeface="+mn-lt"/>
                <a:ea typeface="+mn-ea"/>
                <a:cs typeface="+mn-cs"/>
              </a:rPr>
              <a:t>B is visible to A if B is an attribute of A</a:t>
            </a:r>
          </a:p>
        </p:txBody>
      </p:sp>
      <p:pic>
        <p:nvPicPr>
          <p:cNvPr id="831492" name="Picture 4"/>
          <p:cNvPicPr>
            <a:picLocks noChangeAspect="1" noChangeArrowheads="1"/>
          </p:cNvPicPr>
          <p:nvPr/>
        </p:nvPicPr>
        <p:blipFill>
          <a:blip r:embed="rId3"/>
          <a:stretch>
            <a:fillRect/>
          </a:stretch>
        </p:blipFill>
        <p:spPr bwMode="auto">
          <a:xfrm>
            <a:off x="2353647" y="2633472"/>
            <a:ext cx="7481658" cy="3586353"/>
          </a:xfrm>
          <a:prstGeom prst="rect">
            <a:avLst/>
          </a:prstGeom>
          <a:noFill/>
        </p:spPr>
      </p:pic>
      <p:sp>
        <p:nvSpPr>
          <p:cNvPr id="5" name="Slide Number Placeholder 3"/>
          <p:cNvSpPr>
            <a:spLocks noGrp="1"/>
          </p:cNvSpPr>
          <p:nvPr>
            <p:ph type="sldNum" sz="quarter" idx="10"/>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B841151F-FA5B-4E96-B889-B442E74CD463}"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16C8C-DBF5-D25F-54CA-7D9345E06F2B}"/>
              </a:ext>
            </a:extLst>
          </p:cNvPr>
          <p:cNvSpPr>
            <a:spLocks noGrp="1"/>
          </p:cNvSpPr>
          <p:nvPr>
            <p:ph type="title"/>
          </p:nvPr>
        </p:nvSpPr>
        <p:spPr>
          <a:xfrm>
            <a:off x="645064" y="525982"/>
            <a:ext cx="4282983" cy="1200361"/>
          </a:xfrm>
        </p:spPr>
        <p:txBody>
          <a:bodyPr anchor="b">
            <a:normAutofit/>
          </a:bodyPr>
          <a:lstStyle/>
          <a:p>
            <a:r>
              <a:rPr lang="en-US" sz="3600"/>
              <a:t>In Class Exercise</a:t>
            </a:r>
          </a:p>
        </p:txBody>
      </p:sp>
      <p:sp>
        <p:nvSpPr>
          <p:cNvPr id="3" name="Content Placeholder 2">
            <a:extLst>
              <a:ext uri="{FF2B5EF4-FFF2-40B4-BE49-F238E27FC236}">
                <a16:creationId xmlns:a16="http://schemas.microsoft.com/office/drawing/2014/main" id="{5645E5D4-04CA-94CC-76F1-54EF985E2C04}"/>
              </a:ext>
            </a:extLst>
          </p:cNvPr>
          <p:cNvSpPr>
            <a:spLocks noGrp="1"/>
          </p:cNvSpPr>
          <p:nvPr>
            <p:ph idx="1"/>
          </p:nvPr>
        </p:nvSpPr>
        <p:spPr>
          <a:xfrm>
            <a:off x="645066" y="2031101"/>
            <a:ext cx="4282984" cy="3511943"/>
          </a:xfrm>
        </p:spPr>
        <p:txBody>
          <a:bodyPr anchor="ctr">
            <a:normAutofit/>
          </a:bodyPr>
          <a:lstStyle/>
          <a:p>
            <a:pPr marL="0" indent="0">
              <a:buNone/>
            </a:pPr>
            <a:r>
              <a:rPr lang="en-US" b="1" dirty="0"/>
              <a:t>Library Borrowing System</a:t>
            </a:r>
          </a:p>
        </p:txBody>
      </p:sp>
      <p:pic>
        <p:nvPicPr>
          <p:cNvPr id="1026" name="Picture 2">
            <a:extLst>
              <a:ext uri="{FF2B5EF4-FFF2-40B4-BE49-F238E27FC236}">
                <a16:creationId xmlns:a16="http://schemas.microsoft.com/office/drawing/2014/main" id="{27BDF816-C9DD-06E2-5A35-5600701BD14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39676" y="650494"/>
            <a:ext cx="5324142" cy="5324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52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7"/>
            <a:ext cx="10881360" cy="4600067"/>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9, 11, 12, 14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lgn="just"/>
            <a:r>
              <a:rPr lang="en-US" sz="3100" dirty="0"/>
              <a:t>Assignment 2 is </a:t>
            </a:r>
            <a:r>
              <a:rPr lang="en-US" sz="3100"/>
              <a:t>due next Friday. </a:t>
            </a:r>
            <a:r>
              <a:rPr lang="en-US" sz="3100" u="sng" dirty="0"/>
              <a:t>This is an individual Assignment.</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42</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3553169"/>
            <a:ext cx="914400" cy="914400"/>
          </a:xfrm>
          <a:prstGeom prst="rect">
            <a:avLst/>
          </a:prstGeom>
        </p:spPr>
      </p:pic>
    </p:spTree>
    <p:extLst>
      <p:ext uri="{BB962C8B-B14F-4D97-AF65-F5344CB8AC3E}">
        <p14:creationId xmlns:p14="http://schemas.microsoft.com/office/powerpoint/2010/main" val="3295597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0"/>
            <a:ext cx="12191997" cy="6857988"/>
          </a:xfrm>
          <a:prstGeom prst="rect">
            <a:avLst/>
          </a:prstGeom>
        </p:spPr>
      </p:pic>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Tree>
    <p:extLst>
      <p:ext uri="{BB962C8B-B14F-4D97-AF65-F5344CB8AC3E}">
        <p14:creationId xmlns:p14="http://schemas.microsoft.com/office/powerpoint/2010/main" val="3472926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968248" y="1795028"/>
            <a:ext cx="10881360" cy="4600067"/>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8, 9, 10, 11, 12, 13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lgn="just"/>
            <a:r>
              <a:rPr lang="en-US" sz="3100" dirty="0"/>
              <a:t>Project Deliverable 2 is due tomorrow. </a:t>
            </a:r>
            <a:r>
              <a:rPr lang="en-US" sz="3100" u="sng" dirty="0"/>
              <a:t>This is a group submission Assignment.</a:t>
            </a:r>
          </a:p>
          <a:p>
            <a:pPr lvl="2" algn="just"/>
            <a:r>
              <a:rPr lang="en-US" sz="3100" dirty="0"/>
              <a:t>Assignment 2 will be released tomorrow. This is an </a:t>
            </a:r>
            <a:r>
              <a:rPr lang="en-US" sz="3100" u="sng" dirty="0"/>
              <a:t>individual submission.</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3553169"/>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0"/>
            <a:ext cx="12191997" cy="6857988"/>
          </a:xfrm>
          <a:prstGeom prst="rect">
            <a:avLst/>
          </a:prstGeom>
        </p:spPr>
      </p:pic>
      <p:grpSp>
        <p:nvGrpSpPr>
          <p:cNvPr id="9" name="Group 8">
            <a:extLst>
              <a:ext uri="{FF2B5EF4-FFF2-40B4-BE49-F238E27FC236}">
                <a16:creationId xmlns:a16="http://schemas.microsoft.com/office/drawing/2014/main" id="{17F72E41-D8D7-F589-0125-D336DE2AF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8" y="21736"/>
            <a:ext cx="12206598" cy="6879745"/>
            <a:chOff x="-14598" y="21736"/>
            <a:chExt cx="12206598" cy="6879745"/>
          </a:xfrm>
        </p:grpSpPr>
        <p:sp>
          <p:nvSpPr>
            <p:cNvPr id="10" name="Rectangle 9">
              <a:extLst>
                <a:ext uri="{FF2B5EF4-FFF2-40B4-BE49-F238E27FC236}">
                  <a16:creationId xmlns:a16="http://schemas.microsoft.com/office/drawing/2014/main" id="{FC13EADE-3A56-21CF-6809-E58C7DDC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78264" y="-733992"/>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B1EA0F4-FEA8-8A8D-25F3-BCCDA3F4F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3832304"/>
              <a:ext cx="12192000" cy="3055057"/>
            </a:xfrm>
            <a:prstGeom prst="rect">
              <a:avLst/>
            </a:prstGeom>
            <a:gradFill flip="none" rotWithShape="1">
              <a:gsLst>
                <a:gs pos="0">
                  <a:schemeClr val="accent5"/>
                </a:gs>
                <a:gs pos="75000">
                  <a:schemeClr val="accent5">
                    <a:lumMod val="60000"/>
                    <a:lumOff val="40000"/>
                    <a:alpha val="0"/>
                  </a:schemeClr>
                </a:gs>
              </a:gsLst>
              <a:lin ang="55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DD3842CE-80A1-1110-8DDA-D6F18BE0C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617204" y="1610686"/>
              <a:ext cx="4574794" cy="5290794"/>
            </a:xfrm>
            <a:prstGeom prst="rect">
              <a:avLst/>
            </a:prstGeom>
            <a:gradFill flip="none" rotWithShape="1">
              <a:gsLst>
                <a:gs pos="5000">
                  <a:schemeClr val="accent2"/>
                </a:gs>
                <a:gs pos="49000">
                  <a:schemeClr val="accent5">
                    <a:lumMod val="60000"/>
                    <a:lumOff val="40000"/>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C9318B-F00C-0365-EC3A-B46DF3523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4597" y="21736"/>
              <a:ext cx="3585523"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92A2C8-D25D-5522-FFDD-CF5793AEF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06026" y="1712428"/>
              <a:ext cx="4354310" cy="5995557"/>
            </a:xfrm>
            <a:prstGeom prst="rect">
              <a:avLst/>
            </a:prstGeom>
            <a:gradFill flip="none" rotWithShape="1">
              <a:gsLst>
                <a:gs pos="0">
                  <a:schemeClr val="accent5">
                    <a:lumMod val="60000"/>
                    <a:lumOff val="40000"/>
                  </a:schemeClr>
                </a:gs>
                <a:gs pos="54000">
                  <a:schemeClr val="accent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Tree>
    <p:extLst>
      <p:ext uri="{BB962C8B-B14F-4D97-AF65-F5344CB8AC3E}">
        <p14:creationId xmlns:p14="http://schemas.microsoft.com/office/powerpoint/2010/main" val="107709183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02 My SCR template">
  <a:themeElements>
    <a:clrScheme name="">
      <a:dk1>
        <a:srgbClr val="336699"/>
      </a:dk1>
      <a:lt1>
        <a:srgbClr val="FFFFFF"/>
      </a:lt1>
      <a:dk2>
        <a:srgbClr val="999999"/>
      </a:dk2>
      <a:lt2>
        <a:srgbClr val="990000"/>
      </a:lt2>
      <a:accent1>
        <a:srgbClr val="FFCC00"/>
      </a:accent1>
      <a:accent2>
        <a:srgbClr val="FF9900"/>
      </a:accent2>
      <a:accent3>
        <a:srgbClr val="FFFFFF"/>
      </a:accent3>
      <a:accent4>
        <a:srgbClr val="2A5682"/>
      </a:accent4>
      <a:accent5>
        <a:srgbClr val="FFE2AA"/>
      </a:accent5>
      <a:accent6>
        <a:srgbClr val="E78A00"/>
      </a:accent6>
      <a:hlink>
        <a:srgbClr val="99CC66"/>
      </a:hlink>
      <a:folHlink>
        <a:srgbClr val="336699"/>
      </a:folHlink>
    </a:clrScheme>
    <a:fontScheme name="2002 My SCR template">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lnDef>
  </a:objectDefaults>
  <a:extraClrSchemeLst>
    <a:extraClrScheme>
      <a:clrScheme name="2002 My SCR template 1">
        <a:dk1>
          <a:srgbClr val="002B5D"/>
        </a:dk1>
        <a:lt1>
          <a:srgbClr val="FFFFFF"/>
        </a:lt1>
        <a:dk2>
          <a:srgbClr val="FF9B06"/>
        </a:dk2>
        <a:lt2>
          <a:srgbClr val="641014"/>
        </a:lt2>
        <a:accent1>
          <a:srgbClr val="ACCF00"/>
        </a:accent1>
        <a:accent2>
          <a:srgbClr val="C8DB57"/>
        </a:accent2>
        <a:accent3>
          <a:srgbClr val="FFFFFF"/>
        </a:accent3>
        <a:accent4>
          <a:srgbClr val="00234E"/>
        </a:accent4>
        <a:accent5>
          <a:srgbClr val="D2E4AA"/>
        </a:accent5>
        <a:accent6>
          <a:srgbClr val="B5C64E"/>
        </a:accent6>
        <a:hlink>
          <a:srgbClr val="D8DE91"/>
        </a:hlink>
        <a:folHlink>
          <a:srgbClr val="E4E8B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4060</TotalTime>
  <Words>2897</Words>
  <Application>Microsoft Macintosh PowerPoint</Application>
  <PresentationFormat>Widescreen</PresentationFormat>
  <Paragraphs>401</Paragraphs>
  <Slides>45</Slides>
  <Notes>17</Notes>
  <HiddenSlides>0</HiddenSlides>
  <MMClips>1</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45</vt:i4>
      </vt:variant>
    </vt:vector>
  </HeadingPairs>
  <TitlesOfParts>
    <vt:vector size="60" baseType="lpstr">
      <vt:lpstr>Arial</vt:lpstr>
      <vt:lpstr>Arial Narrow</vt:lpstr>
      <vt:lpstr>Calibri</vt:lpstr>
      <vt:lpstr>Calibri Light</vt:lpstr>
      <vt:lpstr>Comic Sans MS</vt:lpstr>
      <vt:lpstr>Marlett</vt:lpstr>
      <vt:lpstr>Rockwell Extra Bold</vt:lpstr>
      <vt:lpstr>SIEMENS-Firmenmarke</vt:lpstr>
      <vt:lpstr>Times New Roman</vt:lpstr>
      <vt:lpstr>UniversS 55 Roman</vt:lpstr>
      <vt:lpstr>Wingdings</vt:lpstr>
      <vt:lpstr>Office Theme</vt:lpstr>
      <vt:lpstr>2002 My SCR template</vt:lpstr>
      <vt:lpstr>Wood Type</vt:lpstr>
      <vt:lpstr>VISIO</vt:lpstr>
      <vt:lpstr>Software Engineering CS411, FALL 2025 </vt:lpstr>
      <vt:lpstr>Lesson plan</vt:lpstr>
      <vt:lpstr>PURE FABRICAION</vt:lpstr>
      <vt:lpstr>Pure Fabrication…</vt:lpstr>
      <vt:lpstr>…Pure Fabrication</vt:lpstr>
      <vt:lpstr>Pure Fabrication – Example…</vt:lpstr>
      <vt:lpstr>Pure Fabrication – Example…</vt:lpstr>
      <vt:lpstr>Inheritance Digression</vt:lpstr>
      <vt:lpstr>Inheritance Digression</vt:lpstr>
      <vt:lpstr>Pure Fabrication</vt:lpstr>
      <vt:lpstr>INDIRECTION</vt:lpstr>
      <vt:lpstr>Indirection</vt:lpstr>
      <vt:lpstr>Indirection - Example</vt:lpstr>
      <vt:lpstr>Indirection : Example</vt:lpstr>
      <vt:lpstr>DON’T TALK TO STRANGERS</vt:lpstr>
      <vt:lpstr>Don’t talk to Strangers…</vt:lpstr>
      <vt:lpstr>…Don’t talk to Strangers</vt:lpstr>
      <vt:lpstr>Don’t talk to Strangers – Example…</vt:lpstr>
      <vt:lpstr>Don’t talk to Strangers – Example…</vt:lpstr>
      <vt:lpstr>Don’t talk to Strangers – Example…</vt:lpstr>
      <vt:lpstr>Tensions</vt:lpstr>
      <vt:lpstr>Graps Pattern Tension Examples</vt:lpstr>
      <vt:lpstr>Graps Pattern Tension Examples</vt:lpstr>
      <vt:lpstr>UI/UX Design</vt:lpstr>
      <vt:lpstr>Cardinal Rules</vt:lpstr>
      <vt:lpstr>Design Workflow</vt:lpstr>
      <vt:lpstr>Mapping Objectives to Interface Actions</vt:lpstr>
      <vt:lpstr>Interface Design Steps</vt:lpstr>
      <vt:lpstr>Interactions Diagrams</vt:lpstr>
      <vt:lpstr>Interaction Diagrams</vt:lpstr>
      <vt:lpstr>From Use Cases</vt:lpstr>
      <vt:lpstr>Use Case : Process Sale</vt:lpstr>
      <vt:lpstr>Domain Model is by RE based on all Use Cases</vt:lpstr>
      <vt:lpstr>PowerPoint Presentation</vt:lpstr>
      <vt:lpstr>Operation Contract Example : for enterItem()</vt:lpstr>
      <vt:lpstr>PowerPoint Presentation</vt:lpstr>
      <vt:lpstr>PowerPoint Presentation</vt:lpstr>
      <vt:lpstr>More on Interaction Diagrams</vt:lpstr>
      <vt:lpstr>Object Communication</vt:lpstr>
      <vt:lpstr>Attribute Visibility</vt:lpstr>
      <vt:lpstr>In Class Exercise</vt:lpstr>
      <vt:lpstr>Readings , Assignments, Project Tasks</vt:lpstr>
      <vt:lpstr>Questions?</vt:lpstr>
      <vt:lpstr>Readings , Assignments, Project Tasks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for Software and Systems, 3rd Edition</dc:title>
  <dc:creator>Kassab, Mohamad Hassan</dc:creator>
  <cp:lastModifiedBy>Kontothanassis, Leonidas</cp:lastModifiedBy>
  <cp:revision>77</cp:revision>
  <dcterms:created xsi:type="dcterms:W3CDTF">2022-09-05T18:50:47Z</dcterms:created>
  <dcterms:modified xsi:type="dcterms:W3CDTF">2025-10-01T23:13:05Z</dcterms:modified>
</cp:coreProperties>
</file>