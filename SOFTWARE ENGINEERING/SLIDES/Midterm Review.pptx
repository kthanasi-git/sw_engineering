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 id="2147483936" r:id="rId2"/>
    <p:sldMasterId id="2147483948" r:id="rId3"/>
  </p:sldMasterIdLst>
  <p:notesMasterIdLst>
    <p:notesMasterId r:id="rId46"/>
  </p:notesMasterIdLst>
  <p:sldIdLst>
    <p:sldId id="339" r:id="rId4"/>
    <p:sldId id="649" r:id="rId5"/>
    <p:sldId id="651" r:id="rId6"/>
    <p:sldId id="342" r:id="rId7"/>
    <p:sldId id="652" r:id="rId8"/>
    <p:sldId id="442" r:id="rId9"/>
    <p:sldId id="773" r:id="rId10"/>
    <p:sldId id="430" r:id="rId11"/>
    <p:sldId id="431" r:id="rId12"/>
    <p:sldId id="432" r:id="rId13"/>
    <p:sldId id="433" r:id="rId14"/>
    <p:sldId id="434" r:id="rId15"/>
    <p:sldId id="435" r:id="rId16"/>
    <p:sldId id="436" r:id="rId17"/>
    <p:sldId id="437" r:id="rId18"/>
    <p:sldId id="438" r:id="rId19"/>
    <p:sldId id="439" r:id="rId20"/>
    <p:sldId id="440" r:id="rId21"/>
    <p:sldId id="441" r:id="rId22"/>
    <p:sldId id="450" r:id="rId23"/>
    <p:sldId id="449" r:id="rId24"/>
    <p:sldId id="445" r:id="rId25"/>
    <p:sldId id="451" r:id="rId26"/>
    <p:sldId id="753" r:id="rId27"/>
    <p:sldId id="754" r:id="rId28"/>
    <p:sldId id="777" r:id="rId29"/>
    <p:sldId id="532" r:id="rId30"/>
    <p:sldId id="542" r:id="rId31"/>
    <p:sldId id="513" r:id="rId32"/>
    <p:sldId id="522" r:id="rId33"/>
    <p:sldId id="424" r:id="rId34"/>
    <p:sldId id="528" r:id="rId35"/>
    <p:sldId id="534" r:id="rId36"/>
    <p:sldId id="537" r:id="rId37"/>
    <p:sldId id="538" r:id="rId38"/>
    <p:sldId id="557" r:id="rId39"/>
    <p:sldId id="771" r:id="rId40"/>
    <p:sldId id="778" r:id="rId41"/>
    <p:sldId id="566" r:id="rId42"/>
    <p:sldId id="423" r:id="rId43"/>
    <p:sldId id="452" r:id="rId44"/>
    <p:sldId id="77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9A8756C-6171-4D7F-BE52-FCA22176A8D9}">
          <p14:sldIdLst>
            <p14:sldId id="339"/>
            <p14:sldId id="649"/>
            <p14:sldId id="651"/>
            <p14:sldId id="342"/>
            <p14:sldId id="652"/>
            <p14:sldId id="442"/>
            <p14:sldId id="773"/>
            <p14:sldId id="430"/>
            <p14:sldId id="431"/>
            <p14:sldId id="432"/>
            <p14:sldId id="433"/>
            <p14:sldId id="434"/>
            <p14:sldId id="435"/>
            <p14:sldId id="436"/>
            <p14:sldId id="437"/>
            <p14:sldId id="438"/>
            <p14:sldId id="439"/>
            <p14:sldId id="440"/>
            <p14:sldId id="441"/>
            <p14:sldId id="450"/>
            <p14:sldId id="449"/>
            <p14:sldId id="445"/>
            <p14:sldId id="451"/>
            <p14:sldId id="753"/>
            <p14:sldId id="754"/>
            <p14:sldId id="777"/>
            <p14:sldId id="532"/>
            <p14:sldId id="542"/>
            <p14:sldId id="513"/>
            <p14:sldId id="522"/>
            <p14:sldId id="424"/>
            <p14:sldId id="528"/>
            <p14:sldId id="534"/>
            <p14:sldId id="537"/>
            <p14:sldId id="538"/>
            <p14:sldId id="557"/>
            <p14:sldId id="771"/>
            <p14:sldId id="778"/>
            <p14:sldId id="566"/>
            <p14:sldId id="423"/>
            <p14:sldId id="452"/>
            <p14:sldId id="77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44"/>
    <p:restoredTop sz="78630"/>
  </p:normalViewPr>
  <p:slideViewPr>
    <p:cSldViewPr snapToGrid="0" snapToObjects="1">
      <p:cViewPr varScale="1">
        <p:scale>
          <a:sx n="98" d="100"/>
          <a:sy n="98" d="100"/>
        </p:scale>
        <p:origin x="1656"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182D98-E435-4B34-BD31-78311667CDCE}"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C4C640F1-5349-414D-AAD5-D06D01657E3E}">
      <dgm:prSet/>
      <dgm:spPr/>
      <dgm:t>
        <a:bodyPr/>
        <a:lstStyle/>
        <a:p>
          <a:r>
            <a:rPr lang="en-US"/>
            <a:t>Describes standard for, system engineering including quality requirements</a:t>
          </a:r>
        </a:p>
      </dgm:t>
    </dgm:pt>
    <dgm:pt modelId="{DFADA540-525D-4FCD-AD8F-3BC858EB2297}" type="parTrans" cxnId="{AEA89B81-A89B-49BF-BECF-F7877133CBCF}">
      <dgm:prSet/>
      <dgm:spPr/>
      <dgm:t>
        <a:bodyPr/>
        <a:lstStyle/>
        <a:p>
          <a:endParaRPr lang="en-US"/>
        </a:p>
      </dgm:t>
    </dgm:pt>
    <dgm:pt modelId="{C7C90600-B2C2-454D-82BA-8911120BEED1}" type="sibTrans" cxnId="{AEA89B81-A89B-49BF-BECF-F7877133CBCF}">
      <dgm:prSet/>
      <dgm:spPr/>
      <dgm:t>
        <a:bodyPr/>
        <a:lstStyle/>
        <a:p>
          <a:endParaRPr lang="en-US"/>
        </a:p>
      </dgm:t>
    </dgm:pt>
    <dgm:pt modelId="{7371FBF9-1987-43FF-BEE6-3F1A23318616}">
      <dgm:prSet/>
      <dgm:spPr/>
      <dgm:t>
        <a:bodyPr/>
        <a:lstStyle/>
        <a:p>
          <a:r>
            <a:rPr lang="en-US"/>
            <a:t>For a single requirement</a:t>
          </a:r>
        </a:p>
      </dgm:t>
    </dgm:pt>
    <dgm:pt modelId="{B8F09003-BE39-4362-B436-C48F653C8305}" type="parTrans" cxnId="{C0F83F64-6A10-4FB6-863D-2A466DCD7C5F}">
      <dgm:prSet/>
      <dgm:spPr/>
      <dgm:t>
        <a:bodyPr/>
        <a:lstStyle/>
        <a:p>
          <a:endParaRPr lang="en-US"/>
        </a:p>
      </dgm:t>
    </dgm:pt>
    <dgm:pt modelId="{8D5974BA-C0E9-4A1F-9B85-3382E21C73CC}" type="sibTrans" cxnId="{C0F83F64-6A10-4FB6-863D-2A466DCD7C5F}">
      <dgm:prSet/>
      <dgm:spPr/>
      <dgm:t>
        <a:bodyPr/>
        <a:lstStyle/>
        <a:p>
          <a:endParaRPr lang="en-US"/>
        </a:p>
      </dgm:t>
    </dgm:pt>
    <dgm:pt modelId="{CF5B6DA4-11A9-42C1-8405-741BD9A4B407}">
      <dgm:prSet/>
      <dgm:spPr/>
      <dgm:t>
        <a:bodyPr/>
        <a:lstStyle/>
        <a:p>
          <a:r>
            <a:rPr lang="en-US"/>
            <a:t>Singular</a:t>
          </a:r>
        </a:p>
      </dgm:t>
    </dgm:pt>
    <dgm:pt modelId="{403C76EC-7154-4323-AA4A-ECFC96A880BC}" type="parTrans" cxnId="{86526F8A-975F-4601-82F5-97AA70132D66}">
      <dgm:prSet/>
      <dgm:spPr/>
      <dgm:t>
        <a:bodyPr/>
        <a:lstStyle/>
        <a:p>
          <a:endParaRPr lang="en-US"/>
        </a:p>
      </dgm:t>
    </dgm:pt>
    <dgm:pt modelId="{7B0D763A-198C-4582-91A2-39B850A52DCA}" type="sibTrans" cxnId="{86526F8A-975F-4601-82F5-97AA70132D66}">
      <dgm:prSet/>
      <dgm:spPr/>
      <dgm:t>
        <a:bodyPr/>
        <a:lstStyle/>
        <a:p>
          <a:endParaRPr lang="en-US"/>
        </a:p>
      </dgm:t>
    </dgm:pt>
    <dgm:pt modelId="{22E5F417-0797-489D-9AF7-157F36239ADC}">
      <dgm:prSet/>
      <dgm:spPr/>
      <dgm:t>
        <a:bodyPr/>
        <a:lstStyle/>
        <a:p>
          <a:r>
            <a:rPr lang="en-US"/>
            <a:t>Feasible</a:t>
          </a:r>
        </a:p>
      </dgm:t>
    </dgm:pt>
    <dgm:pt modelId="{42757368-65A9-4B3C-9C2E-F9B5CBEDBE71}" type="parTrans" cxnId="{8993F1EA-9587-4AF2-8847-BEF16E3DDBD8}">
      <dgm:prSet/>
      <dgm:spPr/>
      <dgm:t>
        <a:bodyPr/>
        <a:lstStyle/>
        <a:p>
          <a:endParaRPr lang="en-US"/>
        </a:p>
      </dgm:t>
    </dgm:pt>
    <dgm:pt modelId="{AF136642-66A2-48A3-A44B-27245302B2CC}" type="sibTrans" cxnId="{8993F1EA-9587-4AF2-8847-BEF16E3DDBD8}">
      <dgm:prSet/>
      <dgm:spPr/>
      <dgm:t>
        <a:bodyPr/>
        <a:lstStyle/>
        <a:p>
          <a:endParaRPr lang="en-US"/>
        </a:p>
      </dgm:t>
    </dgm:pt>
    <dgm:pt modelId="{68B9F4D8-682F-45B2-8FED-21FE5DF70548}">
      <dgm:prSet/>
      <dgm:spPr/>
      <dgm:t>
        <a:bodyPr/>
        <a:lstStyle/>
        <a:p>
          <a:r>
            <a:rPr lang="en-US"/>
            <a:t>Unambiguous</a:t>
          </a:r>
        </a:p>
      </dgm:t>
    </dgm:pt>
    <dgm:pt modelId="{1813F13A-6480-4CBF-8224-F5898E00F099}" type="parTrans" cxnId="{BAC2A305-51A6-4795-B4B1-C80A626F2DE7}">
      <dgm:prSet/>
      <dgm:spPr/>
      <dgm:t>
        <a:bodyPr/>
        <a:lstStyle/>
        <a:p>
          <a:endParaRPr lang="en-US"/>
        </a:p>
      </dgm:t>
    </dgm:pt>
    <dgm:pt modelId="{0C944B40-AF7F-4669-87DD-64D27348387C}" type="sibTrans" cxnId="{BAC2A305-51A6-4795-B4B1-C80A626F2DE7}">
      <dgm:prSet/>
      <dgm:spPr/>
      <dgm:t>
        <a:bodyPr/>
        <a:lstStyle/>
        <a:p>
          <a:endParaRPr lang="en-US"/>
        </a:p>
      </dgm:t>
    </dgm:pt>
    <dgm:pt modelId="{D074E5A4-9FD4-40CA-A22C-6EF35A19FE48}">
      <dgm:prSet/>
      <dgm:spPr/>
      <dgm:t>
        <a:bodyPr/>
        <a:lstStyle/>
        <a:p>
          <a:r>
            <a:rPr lang="en-US"/>
            <a:t>Complete</a:t>
          </a:r>
        </a:p>
      </dgm:t>
    </dgm:pt>
    <dgm:pt modelId="{CB67DF7E-BBAF-4840-8D63-230A04A19B9D}" type="parTrans" cxnId="{E6A6B1DE-2B14-405F-8667-20DD0EFC1F3C}">
      <dgm:prSet/>
      <dgm:spPr/>
      <dgm:t>
        <a:bodyPr/>
        <a:lstStyle/>
        <a:p>
          <a:endParaRPr lang="en-US"/>
        </a:p>
      </dgm:t>
    </dgm:pt>
    <dgm:pt modelId="{C957ABD9-6082-4CFE-AA3B-68B52AB6B373}" type="sibTrans" cxnId="{E6A6B1DE-2B14-405F-8667-20DD0EFC1F3C}">
      <dgm:prSet/>
      <dgm:spPr/>
      <dgm:t>
        <a:bodyPr/>
        <a:lstStyle/>
        <a:p>
          <a:endParaRPr lang="en-US"/>
        </a:p>
      </dgm:t>
    </dgm:pt>
    <dgm:pt modelId="{1E598C76-825A-4DD8-971E-CEFEFAB2997B}">
      <dgm:prSet/>
      <dgm:spPr/>
      <dgm:t>
        <a:bodyPr/>
        <a:lstStyle/>
        <a:p>
          <a:r>
            <a:rPr lang="en-US"/>
            <a:t>Consistent</a:t>
          </a:r>
        </a:p>
      </dgm:t>
    </dgm:pt>
    <dgm:pt modelId="{B3B5CB5A-F19A-414F-BEB3-512B6916B4E1}" type="parTrans" cxnId="{4A48D7AB-E32B-4C1A-B1C9-CA3E0F421788}">
      <dgm:prSet/>
      <dgm:spPr/>
      <dgm:t>
        <a:bodyPr/>
        <a:lstStyle/>
        <a:p>
          <a:endParaRPr lang="en-US"/>
        </a:p>
      </dgm:t>
    </dgm:pt>
    <dgm:pt modelId="{C8D5AF17-5660-479A-A19F-B1723BAD0590}" type="sibTrans" cxnId="{4A48D7AB-E32B-4C1A-B1C9-CA3E0F421788}">
      <dgm:prSet/>
      <dgm:spPr/>
      <dgm:t>
        <a:bodyPr/>
        <a:lstStyle/>
        <a:p>
          <a:endParaRPr lang="en-US"/>
        </a:p>
      </dgm:t>
    </dgm:pt>
    <dgm:pt modelId="{2D573985-F5BF-4998-8525-161391A721FB}">
      <dgm:prSet/>
      <dgm:spPr/>
      <dgm:t>
        <a:bodyPr/>
        <a:lstStyle/>
        <a:p>
          <a:r>
            <a:rPr lang="en-US"/>
            <a:t>Verifiable</a:t>
          </a:r>
        </a:p>
      </dgm:t>
    </dgm:pt>
    <dgm:pt modelId="{5639316D-1CA0-485B-8879-7428D20E893F}" type="parTrans" cxnId="{B6CD47DD-DF14-4A73-86B3-D9279BB2DCA2}">
      <dgm:prSet/>
      <dgm:spPr/>
      <dgm:t>
        <a:bodyPr/>
        <a:lstStyle/>
        <a:p>
          <a:endParaRPr lang="en-US"/>
        </a:p>
      </dgm:t>
    </dgm:pt>
    <dgm:pt modelId="{FEB8A9CB-A4A3-45B6-9202-12E777D4039B}" type="sibTrans" cxnId="{B6CD47DD-DF14-4A73-86B3-D9279BB2DCA2}">
      <dgm:prSet/>
      <dgm:spPr/>
      <dgm:t>
        <a:bodyPr/>
        <a:lstStyle/>
        <a:p>
          <a:endParaRPr lang="en-US"/>
        </a:p>
      </dgm:t>
    </dgm:pt>
    <dgm:pt modelId="{E502E88B-707E-4392-ACB1-8DC19CDC843F}">
      <dgm:prSet/>
      <dgm:spPr/>
      <dgm:t>
        <a:bodyPr/>
        <a:lstStyle/>
        <a:p>
          <a:r>
            <a:rPr lang="en-US"/>
            <a:t>Traceable</a:t>
          </a:r>
        </a:p>
      </dgm:t>
    </dgm:pt>
    <dgm:pt modelId="{C5734332-4060-4A8A-B2D7-45367881CE52}" type="parTrans" cxnId="{F4B1212A-7319-44BC-83C3-2A322DB789AE}">
      <dgm:prSet/>
      <dgm:spPr/>
      <dgm:t>
        <a:bodyPr/>
        <a:lstStyle/>
        <a:p>
          <a:endParaRPr lang="en-US"/>
        </a:p>
      </dgm:t>
    </dgm:pt>
    <dgm:pt modelId="{CA8C34AA-248A-4E39-8B5A-4B75BA32FA1B}" type="sibTrans" cxnId="{F4B1212A-7319-44BC-83C3-2A322DB789AE}">
      <dgm:prSet/>
      <dgm:spPr/>
      <dgm:t>
        <a:bodyPr/>
        <a:lstStyle/>
        <a:p>
          <a:endParaRPr lang="en-US"/>
        </a:p>
      </dgm:t>
    </dgm:pt>
    <dgm:pt modelId="{4865CB50-998E-43E0-8148-30D132EAAB97}" type="pres">
      <dgm:prSet presAssocID="{C2182D98-E435-4B34-BD31-78311667CDCE}" presName="linear" presStyleCnt="0">
        <dgm:presLayoutVars>
          <dgm:animLvl val="lvl"/>
          <dgm:resizeHandles val="exact"/>
        </dgm:presLayoutVars>
      </dgm:prSet>
      <dgm:spPr/>
    </dgm:pt>
    <dgm:pt modelId="{FF8A413A-83C3-4AEF-8615-FA0BC2BFB2C1}" type="pres">
      <dgm:prSet presAssocID="{C4C640F1-5349-414D-AAD5-D06D01657E3E}" presName="parentText" presStyleLbl="node1" presStyleIdx="0" presStyleCnt="2">
        <dgm:presLayoutVars>
          <dgm:chMax val="0"/>
          <dgm:bulletEnabled val="1"/>
        </dgm:presLayoutVars>
      </dgm:prSet>
      <dgm:spPr/>
    </dgm:pt>
    <dgm:pt modelId="{6D262631-DAF3-4F65-9B89-51D9C6064563}" type="pres">
      <dgm:prSet presAssocID="{C7C90600-B2C2-454D-82BA-8911120BEED1}" presName="spacer" presStyleCnt="0"/>
      <dgm:spPr/>
    </dgm:pt>
    <dgm:pt modelId="{BC6F3F2D-D164-43C1-83D7-325522925075}" type="pres">
      <dgm:prSet presAssocID="{7371FBF9-1987-43FF-BEE6-3F1A23318616}" presName="parentText" presStyleLbl="node1" presStyleIdx="1" presStyleCnt="2">
        <dgm:presLayoutVars>
          <dgm:chMax val="0"/>
          <dgm:bulletEnabled val="1"/>
        </dgm:presLayoutVars>
      </dgm:prSet>
      <dgm:spPr/>
    </dgm:pt>
    <dgm:pt modelId="{8310EEBA-91AB-4496-9DC8-5B61244665E8}" type="pres">
      <dgm:prSet presAssocID="{7371FBF9-1987-43FF-BEE6-3F1A23318616}" presName="childText" presStyleLbl="revTx" presStyleIdx="0" presStyleCnt="1">
        <dgm:presLayoutVars>
          <dgm:bulletEnabled val="1"/>
        </dgm:presLayoutVars>
      </dgm:prSet>
      <dgm:spPr/>
    </dgm:pt>
  </dgm:ptLst>
  <dgm:cxnLst>
    <dgm:cxn modelId="{BAC2A305-51A6-4795-B4B1-C80A626F2DE7}" srcId="{7371FBF9-1987-43FF-BEE6-3F1A23318616}" destId="{68B9F4D8-682F-45B2-8FED-21FE5DF70548}" srcOrd="2" destOrd="0" parTransId="{1813F13A-6480-4CBF-8224-F5898E00F099}" sibTransId="{0C944B40-AF7F-4669-87DD-64D27348387C}"/>
    <dgm:cxn modelId="{A6330213-DA7A-4C19-907D-34E1A69B8A49}" type="presOf" srcId="{D074E5A4-9FD4-40CA-A22C-6EF35A19FE48}" destId="{8310EEBA-91AB-4496-9DC8-5B61244665E8}" srcOrd="0" destOrd="3" presId="urn:microsoft.com/office/officeart/2005/8/layout/vList2"/>
    <dgm:cxn modelId="{55547B23-04C3-477C-A4C5-178C05F00E06}" type="presOf" srcId="{C2182D98-E435-4B34-BD31-78311667CDCE}" destId="{4865CB50-998E-43E0-8148-30D132EAAB97}" srcOrd="0" destOrd="0" presId="urn:microsoft.com/office/officeart/2005/8/layout/vList2"/>
    <dgm:cxn modelId="{F4B1212A-7319-44BC-83C3-2A322DB789AE}" srcId="{7371FBF9-1987-43FF-BEE6-3F1A23318616}" destId="{E502E88B-707E-4392-ACB1-8DC19CDC843F}" srcOrd="6" destOrd="0" parTransId="{C5734332-4060-4A8A-B2D7-45367881CE52}" sibTransId="{CA8C34AA-248A-4E39-8B5A-4B75BA32FA1B}"/>
    <dgm:cxn modelId="{0AF8AC32-3E99-452B-BA05-30CD3D2CD12C}" type="presOf" srcId="{68B9F4D8-682F-45B2-8FED-21FE5DF70548}" destId="{8310EEBA-91AB-4496-9DC8-5B61244665E8}" srcOrd="0" destOrd="2" presId="urn:microsoft.com/office/officeart/2005/8/layout/vList2"/>
    <dgm:cxn modelId="{91056A57-DF65-49BE-99C1-1D7F415F6DB7}" type="presOf" srcId="{22E5F417-0797-489D-9AF7-157F36239ADC}" destId="{8310EEBA-91AB-4496-9DC8-5B61244665E8}" srcOrd="0" destOrd="1" presId="urn:microsoft.com/office/officeart/2005/8/layout/vList2"/>
    <dgm:cxn modelId="{69B74E59-9AE7-4CC8-BC9A-1DFC42B995DD}" type="presOf" srcId="{2D573985-F5BF-4998-8525-161391A721FB}" destId="{8310EEBA-91AB-4496-9DC8-5B61244665E8}" srcOrd="0" destOrd="5" presId="urn:microsoft.com/office/officeart/2005/8/layout/vList2"/>
    <dgm:cxn modelId="{9FD01763-C765-4FEF-A2FF-D2AAE39926F9}" type="presOf" srcId="{7371FBF9-1987-43FF-BEE6-3F1A23318616}" destId="{BC6F3F2D-D164-43C1-83D7-325522925075}" srcOrd="0" destOrd="0" presId="urn:microsoft.com/office/officeart/2005/8/layout/vList2"/>
    <dgm:cxn modelId="{C0F83F64-6A10-4FB6-863D-2A466DCD7C5F}" srcId="{C2182D98-E435-4B34-BD31-78311667CDCE}" destId="{7371FBF9-1987-43FF-BEE6-3F1A23318616}" srcOrd="1" destOrd="0" parTransId="{B8F09003-BE39-4362-B436-C48F653C8305}" sibTransId="{8D5974BA-C0E9-4A1F-9B85-3382E21C73CC}"/>
    <dgm:cxn modelId="{F5775867-9C7A-41DC-9362-5446D4ED8F54}" type="presOf" srcId="{CF5B6DA4-11A9-42C1-8405-741BD9A4B407}" destId="{8310EEBA-91AB-4496-9DC8-5B61244665E8}" srcOrd="0" destOrd="0" presId="urn:microsoft.com/office/officeart/2005/8/layout/vList2"/>
    <dgm:cxn modelId="{AEA89B81-A89B-49BF-BECF-F7877133CBCF}" srcId="{C2182D98-E435-4B34-BD31-78311667CDCE}" destId="{C4C640F1-5349-414D-AAD5-D06D01657E3E}" srcOrd="0" destOrd="0" parTransId="{DFADA540-525D-4FCD-AD8F-3BC858EB2297}" sibTransId="{C7C90600-B2C2-454D-82BA-8911120BEED1}"/>
    <dgm:cxn modelId="{86526F8A-975F-4601-82F5-97AA70132D66}" srcId="{7371FBF9-1987-43FF-BEE6-3F1A23318616}" destId="{CF5B6DA4-11A9-42C1-8405-741BD9A4B407}" srcOrd="0" destOrd="0" parTransId="{403C76EC-7154-4323-AA4A-ECFC96A880BC}" sibTransId="{7B0D763A-198C-4582-91A2-39B850A52DCA}"/>
    <dgm:cxn modelId="{4A48D7AB-E32B-4C1A-B1C9-CA3E0F421788}" srcId="{7371FBF9-1987-43FF-BEE6-3F1A23318616}" destId="{1E598C76-825A-4DD8-971E-CEFEFAB2997B}" srcOrd="4" destOrd="0" parTransId="{B3B5CB5A-F19A-414F-BEB3-512B6916B4E1}" sibTransId="{C8D5AF17-5660-479A-A19F-B1723BAD0590}"/>
    <dgm:cxn modelId="{C2A124D8-0D2B-4E03-8729-6BF09A9EE8C3}" type="presOf" srcId="{C4C640F1-5349-414D-AAD5-D06D01657E3E}" destId="{FF8A413A-83C3-4AEF-8615-FA0BC2BFB2C1}" srcOrd="0" destOrd="0" presId="urn:microsoft.com/office/officeart/2005/8/layout/vList2"/>
    <dgm:cxn modelId="{ADB610DA-7B1D-40A8-812C-7058BEEEE3DE}" type="presOf" srcId="{E502E88B-707E-4392-ACB1-8DC19CDC843F}" destId="{8310EEBA-91AB-4496-9DC8-5B61244665E8}" srcOrd="0" destOrd="6" presId="urn:microsoft.com/office/officeart/2005/8/layout/vList2"/>
    <dgm:cxn modelId="{B6CD47DD-DF14-4A73-86B3-D9279BB2DCA2}" srcId="{7371FBF9-1987-43FF-BEE6-3F1A23318616}" destId="{2D573985-F5BF-4998-8525-161391A721FB}" srcOrd="5" destOrd="0" parTransId="{5639316D-1CA0-485B-8879-7428D20E893F}" sibTransId="{FEB8A9CB-A4A3-45B6-9202-12E777D4039B}"/>
    <dgm:cxn modelId="{E6A6B1DE-2B14-405F-8667-20DD0EFC1F3C}" srcId="{7371FBF9-1987-43FF-BEE6-3F1A23318616}" destId="{D074E5A4-9FD4-40CA-A22C-6EF35A19FE48}" srcOrd="3" destOrd="0" parTransId="{CB67DF7E-BBAF-4840-8D63-230A04A19B9D}" sibTransId="{C957ABD9-6082-4CFE-AA3B-68B52AB6B373}"/>
    <dgm:cxn modelId="{8993F1EA-9587-4AF2-8847-BEF16E3DDBD8}" srcId="{7371FBF9-1987-43FF-BEE6-3F1A23318616}" destId="{22E5F417-0797-489D-9AF7-157F36239ADC}" srcOrd="1" destOrd="0" parTransId="{42757368-65A9-4B3C-9C2E-F9B5CBEDBE71}" sibTransId="{AF136642-66A2-48A3-A44B-27245302B2CC}"/>
    <dgm:cxn modelId="{1E0BA3F4-EA75-46AE-B561-D094BB2D18D4}" type="presOf" srcId="{1E598C76-825A-4DD8-971E-CEFEFAB2997B}" destId="{8310EEBA-91AB-4496-9DC8-5B61244665E8}" srcOrd="0" destOrd="4" presId="urn:microsoft.com/office/officeart/2005/8/layout/vList2"/>
    <dgm:cxn modelId="{65B8665F-C555-4D9B-AFAD-F6F4B90E06E7}" type="presParOf" srcId="{4865CB50-998E-43E0-8148-30D132EAAB97}" destId="{FF8A413A-83C3-4AEF-8615-FA0BC2BFB2C1}" srcOrd="0" destOrd="0" presId="urn:microsoft.com/office/officeart/2005/8/layout/vList2"/>
    <dgm:cxn modelId="{67F32D0F-A24D-4B0F-9FF6-8290E6E8A87D}" type="presParOf" srcId="{4865CB50-998E-43E0-8148-30D132EAAB97}" destId="{6D262631-DAF3-4F65-9B89-51D9C6064563}" srcOrd="1" destOrd="0" presId="urn:microsoft.com/office/officeart/2005/8/layout/vList2"/>
    <dgm:cxn modelId="{5E7B13E9-36BE-4A7E-9EA1-F61C29382710}" type="presParOf" srcId="{4865CB50-998E-43E0-8148-30D132EAAB97}" destId="{BC6F3F2D-D164-43C1-83D7-325522925075}" srcOrd="2" destOrd="0" presId="urn:microsoft.com/office/officeart/2005/8/layout/vList2"/>
    <dgm:cxn modelId="{0DF722B6-ED82-413C-AEC6-7D35A03D51A4}" type="presParOf" srcId="{4865CB50-998E-43E0-8148-30D132EAAB97}" destId="{8310EEBA-91AB-4496-9DC8-5B61244665E8}"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8A413A-83C3-4AEF-8615-FA0BC2BFB2C1}">
      <dsp:nvSpPr>
        <dsp:cNvPr id="0" name=""/>
        <dsp:cNvSpPr/>
      </dsp:nvSpPr>
      <dsp:spPr>
        <a:xfrm>
          <a:off x="0" y="239719"/>
          <a:ext cx="6666833" cy="111384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Describes standard for, system engineering including quality requirements</a:t>
          </a:r>
        </a:p>
      </dsp:txBody>
      <dsp:txXfrm>
        <a:off x="54373" y="294092"/>
        <a:ext cx="6558087" cy="1005094"/>
      </dsp:txXfrm>
    </dsp:sp>
    <dsp:sp modelId="{BC6F3F2D-D164-43C1-83D7-325522925075}">
      <dsp:nvSpPr>
        <dsp:cNvPr id="0" name=""/>
        <dsp:cNvSpPr/>
      </dsp:nvSpPr>
      <dsp:spPr>
        <a:xfrm>
          <a:off x="0" y="1434199"/>
          <a:ext cx="6666833" cy="111384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For a single requirement</a:t>
          </a:r>
        </a:p>
      </dsp:txBody>
      <dsp:txXfrm>
        <a:off x="54373" y="1488572"/>
        <a:ext cx="6558087" cy="1005094"/>
      </dsp:txXfrm>
    </dsp:sp>
    <dsp:sp modelId="{8310EEBA-91AB-4496-9DC8-5B61244665E8}">
      <dsp:nvSpPr>
        <dsp:cNvPr id="0" name=""/>
        <dsp:cNvSpPr/>
      </dsp:nvSpPr>
      <dsp:spPr>
        <a:xfrm>
          <a:off x="0" y="2548040"/>
          <a:ext cx="6666833" cy="266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Singular</a:t>
          </a:r>
        </a:p>
        <a:p>
          <a:pPr marL="228600" lvl="1" indent="-228600" algn="l" defTabSz="977900">
            <a:lnSpc>
              <a:spcPct val="90000"/>
            </a:lnSpc>
            <a:spcBef>
              <a:spcPct val="0"/>
            </a:spcBef>
            <a:spcAft>
              <a:spcPct val="20000"/>
            </a:spcAft>
            <a:buChar char="•"/>
          </a:pPr>
          <a:r>
            <a:rPr lang="en-US" sz="2200" kern="1200"/>
            <a:t>Feasible</a:t>
          </a:r>
        </a:p>
        <a:p>
          <a:pPr marL="228600" lvl="1" indent="-228600" algn="l" defTabSz="977900">
            <a:lnSpc>
              <a:spcPct val="90000"/>
            </a:lnSpc>
            <a:spcBef>
              <a:spcPct val="0"/>
            </a:spcBef>
            <a:spcAft>
              <a:spcPct val="20000"/>
            </a:spcAft>
            <a:buChar char="•"/>
          </a:pPr>
          <a:r>
            <a:rPr lang="en-US" sz="2200" kern="1200"/>
            <a:t>Unambiguous</a:t>
          </a:r>
        </a:p>
        <a:p>
          <a:pPr marL="228600" lvl="1" indent="-228600" algn="l" defTabSz="977900">
            <a:lnSpc>
              <a:spcPct val="90000"/>
            </a:lnSpc>
            <a:spcBef>
              <a:spcPct val="0"/>
            </a:spcBef>
            <a:spcAft>
              <a:spcPct val="20000"/>
            </a:spcAft>
            <a:buChar char="•"/>
          </a:pPr>
          <a:r>
            <a:rPr lang="en-US" sz="2200" kern="1200"/>
            <a:t>Complete</a:t>
          </a:r>
        </a:p>
        <a:p>
          <a:pPr marL="228600" lvl="1" indent="-228600" algn="l" defTabSz="977900">
            <a:lnSpc>
              <a:spcPct val="90000"/>
            </a:lnSpc>
            <a:spcBef>
              <a:spcPct val="0"/>
            </a:spcBef>
            <a:spcAft>
              <a:spcPct val="20000"/>
            </a:spcAft>
            <a:buChar char="•"/>
          </a:pPr>
          <a:r>
            <a:rPr lang="en-US" sz="2200" kern="1200"/>
            <a:t>Consistent</a:t>
          </a:r>
        </a:p>
        <a:p>
          <a:pPr marL="228600" lvl="1" indent="-228600" algn="l" defTabSz="977900">
            <a:lnSpc>
              <a:spcPct val="90000"/>
            </a:lnSpc>
            <a:spcBef>
              <a:spcPct val="0"/>
            </a:spcBef>
            <a:spcAft>
              <a:spcPct val="20000"/>
            </a:spcAft>
            <a:buChar char="•"/>
          </a:pPr>
          <a:r>
            <a:rPr lang="en-US" sz="2200" kern="1200"/>
            <a:t>Verifiable</a:t>
          </a:r>
        </a:p>
        <a:p>
          <a:pPr marL="228600" lvl="1" indent="-228600" algn="l" defTabSz="977900">
            <a:lnSpc>
              <a:spcPct val="90000"/>
            </a:lnSpc>
            <a:spcBef>
              <a:spcPct val="0"/>
            </a:spcBef>
            <a:spcAft>
              <a:spcPct val="20000"/>
            </a:spcAft>
            <a:buChar char="•"/>
          </a:pPr>
          <a:r>
            <a:rPr lang="en-US" sz="2200" kern="1200"/>
            <a:t>Traceable</a:t>
          </a:r>
        </a:p>
      </dsp:txBody>
      <dsp:txXfrm>
        <a:off x="0" y="2548040"/>
        <a:ext cx="6666833" cy="26661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9594B4-488C-1D4D-9D01-18FDF3232C7B}" type="datetimeFigureOut">
              <a:rPr lang="en-US" smtClean="0"/>
              <a:t>10/9/25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19D3B-3BB9-F24B-A943-E16822E4BADC}" type="slidenum">
              <a:rPr lang="en-US" smtClean="0"/>
              <a:t>‹#›</a:t>
            </a:fld>
            <a:endParaRPr lang="en-US"/>
          </a:p>
        </p:txBody>
      </p:sp>
    </p:spTree>
    <p:extLst>
      <p:ext uri="{BB962C8B-B14F-4D97-AF65-F5344CB8AC3E}">
        <p14:creationId xmlns:p14="http://schemas.microsoft.com/office/powerpoint/2010/main" val="1913611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just">
              <a:lnSpc>
                <a:spcPct val="107000"/>
              </a:lnSpc>
              <a:spcBef>
                <a:spcPts val="0"/>
              </a:spcBef>
              <a:spcAft>
                <a:spcPts val="0"/>
              </a:spcAft>
              <a:buFont typeface="+mj-lt"/>
              <a:buAutoNum type="arabicPeriod"/>
            </a:pPr>
            <a:r>
              <a:rPr lang="en-US" sz="1800" b="1" kern="100" dirty="0">
                <a:solidFill>
                  <a:srgbClr val="2D3B45"/>
                </a:solidFill>
                <a:effectLst/>
                <a:latin typeface="Times New Roman" panose="02020603050405020304" pitchFamily="18" charset="0"/>
                <a:ea typeface="Calibri" panose="020F0502020204030204" pitchFamily="34" charset="0"/>
                <a:cs typeface="Times New Roman" panose="02020603050405020304" pitchFamily="18" charset="0"/>
              </a:rPr>
              <a:t>You are chief engineer for a safety critical system that is being custom-built for a long-time customer. The customer keeps making changes to the requirements, even during the design and development phases. What approach could you have employed (could employ) to try to mitigate this problem?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07000"/>
              </a:lnSpc>
              <a:spcBef>
                <a:spcPts val="0"/>
              </a:spcBef>
              <a:spcAft>
                <a:spcPts val="0"/>
              </a:spcAft>
            </a:pPr>
            <a:r>
              <a:rPr lang="en-US" sz="1800" b="1" kern="100" dirty="0">
                <a:solidFill>
                  <a:srgbClr val="2D3B45"/>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Employ a new non- agile development methodology.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Reduce communications with the customer to minimize disagreements.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Have a customer representative at the vendor site at all times.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Increase charges to the customer for every requirements change.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4</a:t>
            </a:fld>
            <a:endParaRPr lang="en-US"/>
          </a:p>
        </p:txBody>
      </p:sp>
    </p:spTree>
    <p:extLst>
      <p:ext uri="{BB962C8B-B14F-4D97-AF65-F5344CB8AC3E}">
        <p14:creationId xmlns:p14="http://schemas.microsoft.com/office/powerpoint/2010/main" val="3321622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Crowd Sourcing</a:t>
            </a:r>
            <a:r>
              <a:rPr lang="en-US" dirty="0"/>
              <a:t> Distributed input, large sample, online-oriented Gathering diverse opinions; collecting large-scale preferences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Joint Application Design (JAD)</a:t>
            </a:r>
            <a:r>
              <a:rPr lang="en-US" dirty="0"/>
              <a:t> Structured workshop, think offsite. Requirements clarification; reconciling multiple viewpoints quickly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Protocol Analysis</a:t>
            </a:r>
            <a:r>
              <a:rPr lang="en-US" dirty="0"/>
              <a:t> Relevant to automating tasks.  Walk with customer through which procedures will be automated.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Quality Function Deployment (QFD)</a:t>
            </a:r>
            <a:r>
              <a:rPr lang="en-US" dirty="0"/>
              <a:t> Structured matrix, links needs to specs Aligning features with customer priorities; managing product quality </a:t>
            </a:r>
            <a:r>
              <a:rPr lang="en-US" b="1" dirty="0"/>
              <a:t>Repertory Grids</a:t>
            </a:r>
            <a:r>
              <a:rPr lang="en-US" dirty="0"/>
              <a:t> Matrix of features and desirable qualities of the system with scores for each combination.  Multiple people scoring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Reverse Engineering</a:t>
            </a:r>
            <a:r>
              <a:rPr lang="en-US" dirty="0"/>
              <a:t> Very useful in migrating old projects or copying someone else’s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Task Analysis</a:t>
            </a:r>
            <a:r>
              <a:rPr lang="en-US" dirty="0"/>
              <a:t> Start at high level and break down higher level tasks to lower level ones.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Scenarios &amp; Use Cases</a:t>
            </a:r>
            <a:r>
              <a:rPr lang="en-US" dirty="0"/>
              <a:t> Requirements as narrative/stories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User Stories</a:t>
            </a:r>
            <a:r>
              <a:rPr lang="en-US" dirty="0"/>
              <a:t> Simple, Agile-oriented, role-action-value Capturing functional needs from user perspective</a:t>
            </a:r>
          </a:p>
        </p:txBody>
      </p:sp>
      <p:sp>
        <p:nvSpPr>
          <p:cNvPr id="4" name="Slide Number Placeholder 3"/>
          <p:cNvSpPr>
            <a:spLocks noGrp="1"/>
          </p:cNvSpPr>
          <p:nvPr>
            <p:ph type="sldNum" sz="quarter" idx="5"/>
          </p:nvPr>
        </p:nvSpPr>
        <p:spPr/>
        <p:txBody>
          <a:bodyPr/>
          <a:lstStyle/>
          <a:p>
            <a:fld id="{DEB19D3B-3BB9-F24B-A943-E16822E4BADC}" type="slidenum">
              <a:rPr lang="en-US" smtClean="0"/>
              <a:t>7</a:t>
            </a:fld>
            <a:endParaRPr lang="en-US"/>
          </a:p>
        </p:txBody>
      </p:sp>
    </p:spTree>
    <p:extLst>
      <p:ext uri="{BB962C8B-B14F-4D97-AF65-F5344CB8AC3E}">
        <p14:creationId xmlns:p14="http://schemas.microsoft.com/office/powerpoint/2010/main" val="3610874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CF04A6-2E79-4A9B-8F4A-E1C48786311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268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CF04A6-2E79-4A9B-8F4A-E1C48786311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5216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Explained on upcoming slides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7E18AB-6E76-484C-93F8-F70244DFCF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F58AD-6FA1-46EF-8096-02201459DB51}"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4450" name="Rectangle 2"/>
          <p:cNvSpPr>
            <a:spLocks noGrp="1" noRot="1" noChangeAspect="1" noChangeArrowheads="1" noTextEdit="1"/>
          </p:cNvSpPr>
          <p:nvPr>
            <p:ph type="sldImg"/>
          </p:nvPr>
        </p:nvSpPr>
        <p:spPr>
          <a:xfrm>
            <a:off x="406400" y="696913"/>
            <a:ext cx="6188075" cy="3481387"/>
          </a:xfrm>
          <a:ln/>
        </p:spPr>
      </p:sp>
      <p:sp>
        <p:nvSpPr>
          <p:cNvPr id="744451" name="Rectangle 3"/>
          <p:cNvSpPr>
            <a:spLocks noGrp="1" noChangeArrowheads="1"/>
          </p:cNvSpPr>
          <p:nvPr>
            <p:ph type="body" idx="1"/>
          </p:nvPr>
        </p:nvSpPr>
        <p:spPr>
          <a:xfrm>
            <a:off x="933558" y="4409758"/>
            <a:ext cx="5130586" cy="4177665"/>
          </a:xfrm>
        </p:spPr>
        <p:txBody>
          <a:bodyPr/>
          <a:lstStyle/>
          <a:p>
            <a:pPr defTabSz="915772"/>
            <a:r>
              <a:rPr lang="en-US" altLang="en-US" dirty="0"/>
              <a:t>System</a:t>
            </a:r>
            <a:r>
              <a:rPr lang="en-US" altLang="en-US" baseline="0" dirty="0"/>
              <a:t> as a black box – the underline and : represent that it is an instance.</a:t>
            </a:r>
          </a:p>
          <a:p>
            <a:pPr defTabSz="915772"/>
            <a:endParaRPr lang="en-US" altLang="en-US" baseline="0" dirty="0"/>
          </a:p>
          <a:p>
            <a:pPr defTabSz="915772"/>
            <a:r>
              <a:rPr lang="en-US" altLang="en-US" baseline="0" dirty="0"/>
              <a:t>3 messages sent to the system</a:t>
            </a:r>
          </a:p>
          <a:p>
            <a:pPr defTabSz="915772"/>
            <a:endParaRPr lang="en-US" altLang="en-US" baseline="0" dirty="0"/>
          </a:p>
          <a:p>
            <a:pPr defTabSz="915772"/>
            <a:r>
              <a:rPr lang="en-US" altLang="en-US" baseline="0" dirty="0"/>
              <a:t>Student can select semester list and course list several time.</a:t>
            </a:r>
          </a:p>
          <a:p>
            <a:pPr defTabSz="915772"/>
            <a:endParaRPr lang="en-US" altLang="en-US" baseline="0" dirty="0"/>
          </a:p>
          <a:p>
            <a:pPr defTabSz="915772"/>
            <a:r>
              <a:rPr lang="en-US" altLang="en-US" baseline="0" dirty="0"/>
              <a:t>System sends bill request message to billing system class</a:t>
            </a:r>
          </a:p>
          <a:p>
            <a:pPr defTabSz="915772"/>
            <a:endParaRPr lang="en-US" altLang="en-US" baseline="0" dirty="0"/>
          </a:p>
          <a:p>
            <a:pPr defTabSz="915772"/>
            <a:r>
              <a:rPr lang="en-US" altLang="en-US" baseline="0" dirty="0"/>
              <a:t>Notice the activation bars – system active when it gets request from student.</a:t>
            </a:r>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B6CA01-7F24-4038-B129-E35BA8845748}"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6914" name="Rectangle 2"/>
          <p:cNvSpPr>
            <a:spLocks noGrp="1" noRot="1" noChangeAspect="1" noChangeArrowheads="1" noTextEdit="1"/>
          </p:cNvSpPr>
          <p:nvPr>
            <p:ph type="sldImg"/>
          </p:nvPr>
        </p:nvSpPr>
        <p:spPr>
          <a:xfrm>
            <a:off x="404813" y="695325"/>
            <a:ext cx="6178550" cy="3476625"/>
          </a:xfrm>
          <a:ln/>
        </p:spPr>
      </p:sp>
      <p:sp>
        <p:nvSpPr>
          <p:cNvPr id="806915" name="Rectangle 3"/>
          <p:cNvSpPr>
            <a:spLocks noGrp="1" noChangeArrowheads="1"/>
          </p:cNvSpPr>
          <p:nvPr>
            <p:ph type="body" idx="1"/>
          </p:nvPr>
        </p:nvSpPr>
        <p:spPr>
          <a:xfrm>
            <a:off x="931863" y="4403725"/>
            <a:ext cx="5121275" cy="4171950"/>
          </a:xfrm>
        </p:spPr>
        <p:txBody>
          <a:bodyPr/>
          <a:lstStyle/>
          <a:p>
            <a:pPr defTabSz="914400"/>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C22B37-E46D-4FF6-8C56-11738360E74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3058" name="Rectangle 2"/>
          <p:cNvSpPr>
            <a:spLocks noGrp="1" noRot="1" noChangeAspect="1" noChangeArrowheads="1" noTextEdit="1"/>
          </p:cNvSpPr>
          <p:nvPr>
            <p:ph type="sldImg"/>
          </p:nvPr>
        </p:nvSpPr>
        <p:spPr>
          <a:xfrm>
            <a:off x="404813" y="695325"/>
            <a:ext cx="6178550" cy="3476625"/>
          </a:xfrm>
          <a:ln/>
        </p:spPr>
      </p:sp>
      <p:sp>
        <p:nvSpPr>
          <p:cNvPr id="813059" name="Rectangle 3"/>
          <p:cNvSpPr>
            <a:spLocks noGrp="1" noChangeArrowheads="1"/>
          </p:cNvSpPr>
          <p:nvPr>
            <p:ph type="body" idx="1"/>
          </p:nvPr>
        </p:nvSpPr>
        <p:spPr>
          <a:xfrm>
            <a:off x="931863" y="4403725"/>
            <a:ext cx="5121275" cy="4171950"/>
          </a:xfrm>
        </p:spPr>
        <p:txBody>
          <a:bodyPr/>
          <a:lstStyle/>
          <a:p>
            <a:r>
              <a:rPr lang="en-US" dirty="0"/>
              <a:t>We can see from the diagram that a Person may work for a single Company. We need to keep information about the period of time that each employee works for each Company.</a:t>
            </a:r>
          </a:p>
          <a:p>
            <a:r>
              <a:rPr lang="en-US" dirty="0"/>
              <a:t>We can do this by adding a </a:t>
            </a:r>
            <a:r>
              <a:rPr lang="en-US" i="1" dirty="0" err="1"/>
              <a:t>dateRange</a:t>
            </a:r>
            <a:r>
              <a:rPr lang="en-US" dirty="0"/>
              <a:t> attribute to the association. We could add this attribute to the Person class, but it is really a fact about a Person's relationship to a Company, which will change should the person's employer change.</a:t>
            </a:r>
          </a:p>
          <a:p>
            <a:pPr defTabSz="914400"/>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46DF01-E611-496D-92B9-CB28AE6D012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7154" name="Rectangle 2"/>
          <p:cNvSpPr>
            <a:spLocks noGrp="1" noRot="1" noChangeAspect="1" noChangeArrowheads="1" noTextEdit="1"/>
          </p:cNvSpPr>
          <p:nvPr>
            <p:ph type="sldImg"/>
          </p:nvPr>
        </p:nvSpPr>
        <p:spPr>
          <a:xfrm>
            <a:off x="404813" y="695325"/>
            <a:ext cx="6178550" cy="3476625"/>
          </a:xfrm>
          <a:ln/>
        </p:spPr>
      </p:sp>
      <p:sp>
        <p:nvSpPr>
          <p:cNvPr id="817155" name="Rectangle 3"/>
          <p:cNvSpPr>
            <a:spLocks noGrp="1" noChangeArrowheads="1"/>
          </p:cNvSpPr>
          <p:nvPr>
            <p:ph type="body" idx="1"/>
          </p:nvPr>
        </p:nvSpPr>
        <p:spPr>
          <a:xfrm>
            <a:off x="931863" y="4403725"/>
            <a:ext cx="5121275" cy="4171950"/>
          </a:xfrm>
        </p:spPr>
        <p:txBody>
          <a:bodyPr/>
          <a:lstStyle/>
          <a:p>
            <a:pPr defTabSz="914400"/>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C99DAF-EA54-4817-9D63-0E53D1785A4D}"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6306" name="Rectangle 2"/>
          <p:cNvSpPr>
            <a:spLocks noGrp="1" noRot="1" noChangeAspect="1" noChangeArrowheads="1" noTextEdit="1"/>
          </p:cNvSpPr>
          <p:nvPr>
            <p:ph type="sldImg"/>
          </p:nvPr>
        </p:nvSpPr>
        <p:spPr>
          <a:xfrm>
            <a:off x="404813" y="695325"/>
            <a:ext cx="6178550" cy="3476625"/>
          </a:xfrm>
          <a:ln/>
        </p:spPr>
      </p:sp>
      <p:sp>
        <p:nvSpPr>
          <p:cNvPr id="866307" name="Rectangle 3"/>
          <p:cNvSpPr>
            <a:spLocks noGrp="1" noChangeArrowheads="1"/>
          </p:cNvSpPr>
          <p:nvPr>
            <p:ph type="body" idx="1"/>
          </p:nvPr>
        </p:nvSpPr>
        <p:spPr>
          <a:xfrm>
            <a:off x="931863" y="4403725"/>
            <a:ext cx="5121275" cy="4171950"/>
          </a:xfrm>
        </p:spPr>
        <p:txBody>
          <a:bodyPr/>
          <a:lstStyle/>
          <a:p>
            <a:pPr defTabSz="914400"/>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A482EEC-E663-438C-B41C-52AE046FACA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6978" name="Rectangle 2"/>
          <p:cNvSpPr>
            <a:spLocks noGrp="1" noRot="1" noChangeAspect="1" noChangeArrowheads="1" noTextEdit="1"/>
          </p:cNvSpPr>
          <p:nvPr>
            <p:ph type="sldImg"/>
          </p:nvPr>
        </p:nvSpPr>
        <p:spPr>
          <a:xfrm>
            <a:off x="406400" y="696913"/>
            <a:ext cx="6188075" cy="3481387"/>
          </a:xfrm>
          <a:ln/>
        </p:spPr>
      </p:sp>
      <p:sp>
        <p:nvSpPr>
          <p:cNvPr id="766979" name="Rectangle 3"/>
          <p:cNvSpPr>
            <a:spLocks noGrp="1" noChangeArrowheads="1"/>
          </p:cNvSpPr>
          <p:nvPr>
            <p:ph type="body" idx="1"/>
          </p:nvPr>
        </p:nvSpPr>
        <p:spPr>
          <a:xfrm>
            <a:off x="933558" y="4409758"/>
            <a:ext cx="5130586" cy="4177665"/>
          </a:xfrm>
        </p:spPr>
        <p:txBody>
          <a:bodyPr/>
          <a:lstStyle/>
          <a:p>
            <a:pPr defTabSz="915772"/>
            <a:r>
              <a:rPr lang="en-US" altLang="en-US" dirty="0"/>
              <a:t>Operation contractions use a pre and post condition</a:t>
            </a:r>
            <a:r>
              <a:rPr lang="en-US" altLang="en-US" baseline="0" dirty="0"/>
              <a:t> form to describe detailed changes to objects in a domain model</a:t>
            </a:r>
          </a:p>
          <a:p>
            <a:pPr defTabSz="915772"/>
            <a:endParaRPr lang="en-US" altLang="en-US" baseline="0" dirty="0"/>
          </a:p>
          <a:p>
            <a:pPr defTabSz="915772"/>
            <a:r>
              <a:rPr lang="en-US" altLang="en-US" baseline="0" dirty="0"/>
              <a:t>To create a contract – identify the system operations from the system sequence diagram</a:t>
            </a:r>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9FA703-E8BF-4CB3-BA55-5F9C93600BF5}"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3122" name="Rectangle 2"/>
          <p:cNvSpPr>
            <a:spLocks noGrp="1" noRot="1" noChangeAspect="1" noChangeArrowheads="1" noTextEdit="1"/>
          </p:cNvSpPr>
          <p:nvPr>
            <p:ph type="sldImg"/>
          </p:nvPr>
        </p:nvSpPr>
        <p:spPr>
          <a:xfrm>
            <a:off x="406400" y="696913"/>
            <a:ext cx="6188075" cy="3481387"/>
          </a:xfrm>
          <a:ln/>
        </p:spPr>
      </p:sp>
      <p:sp>
        <p:nvSpPr>
          <p:cNvPr id="773123" name="Rectangle 3"/>
          <p:cNvSpPr>
            <a:spLocks noGrp="1" noChangeArrowheads="1"/>
          </p:cNvSpPr>
          <p:nvPr>
            <p:ph type="body" idx="1"/>
          </p:nvPr>
        </p:nvSpPr>
        <p:spPr>
          <a:xfrm>
            <a:off x="933558" y="4409758"/>
            <a:ext cx="5130586" cy="4177665"/>
          </a:xfrm>
        </p:spPr>
        <p:txBody>
          <a:bodyPr/>
          <a:lstStyle/>
          <a:p>
            <a:pPr defTabSz="915772"/>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D954BD-C11F-4B84-93FB-D9AF7D3720E0}"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5170" name="Rectangle 2"/>
          <p:cNvSpPr>
            <a:spLocks noGrp="1" noRot="1" noChangeAspect="1" noChangeArrowheads="1" noTextEdit="1"/>
          </p:cNvSpPr>
          <p:nvPr>
            <p:ph type="sldImg"/>
          </p:nvPr>
        </p:nvSpPr>
        <p:spPr>
          <a:xfrm>
            <a:off x="406400" y="696913"/>
            <a:ext cx="6188075" cy="3481387"/>
          </a:xfrm>
          <a:ln/>
        </p:spPr>
      </p:sp>
      <p:sp>
        <p:nvSpPr>
          <p:cNvPr id="775171" name="Rectangle 3"/>
          <p:cNvSpPr>
            <a:spLocks noGrp="1" noChangeArrowheads="1"/>
          </p:cNvSpPr>
          <p:nvPr>
            <p:ph type="body" idx="1"/>
          </p:nvPr>
        </p:nvSpPr>
        <p:spPr>
          <a:xfrm>
            <a:off x="933558" y="4409758"/>
            <a:ext cx="5130586" cy="4177665"/>
          </a:xfrm>
        </p:spPr>
        <p:txBody>
          <a:bodyPr/>
          <a:lstStyle/>
          <a:p>
            <a:pPr defTabSz="915772"/>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UP does not define an artifact</a:t>
            </a:r>
            <a:r>
              <a:rPr lang="en-US" baseline="0" dirty="0"/>
              <a:t> called “design class diagram”</a:t>
            </a:r>
          </a:p>
          <a:p>
            <a:r>
              <a:rPr lang="en-US" baseline="0" dirty="0"/>
              <a:t>In the design model – several diagram types exist:  interaction, package, </a:t>
            </a:r>
            <a:r>
              <a:rPr lang="en-US" baseline="0" dirty="0" err="1"/>
              <a:t>classdiagrams</a:t>
            </a:r>
            <a:endParaRPr lang="en-US" baseline="0" dirty="0"/>
          </a:p>
          <a:p>
            <a:endParaRPr lang="en-US" baseline="0" dirty="0"/>
          </a:p>
          <a:p>
            <a:r>
              <a:rPr lang="en-US" baseline="0" dirty="0"/>
              <a:t>We will go over how to do each in the next few slides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672FC-9574-4AE4-89B8-0111A97AD77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Navigability is a property of the role</a:t>
            </a:r>
            <a:r>
              <a:rPr lang="en-US" baseline="0" dirty="0"/>
              <a:t> that indicates that it is possible to navigate </a:t>
            </a:r>
            <a:r>
              <a:rPr lang="en-US" baseline="0" dirty="0" err="1"/>
              <a:t>uni</a:t>
            </a:r>
            <a:r>
              <a:rPr lang="en-US" baseline="0" dirty="0"/>
              <a:t>-directionally across the association from objects of the source to target class. Navigability implies visibility.</a:t>
            </a:r>
          </a:p>
          <a:p>
            <a:endParaRPr lang="en-US" baseline="0" dirty="0"/>
          </a:p>
          <a:p>
            <a:r>
              <a:rPr lang="en-US" baseline="0" dirty="0"/>
              <a:t>Could have put </a:t>
            </a:r>
            <a:r>
              <a:rPr lang="en-US" baseline="0" dirty="0" err="1"/>
              <a:t>currentSale</a:t>
            </a:r>
            <a:r>
              <a:rPr lang="en-US" baseline="0" dirty="0"/>
              <a:t>: Sale to show the current Sale attribute.  It was excluded because it is implied by the navigable association from Register to Sale.</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672FC-9574-4AE4-89B8-0111A97AD77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6369DE2C-8EB9-BB4C-8ED4-A72D12859168}" type="datetime1">
              <a:rPr lang="en-US" smtClean="0"/>
              <a:t>10/9/25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3589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4A5A0F4-E4C2-E84A-B88E-D5AA96F54968}" type="datetime1">
              <a:rPr lang="en-US" smtClean="0"/>
              <a:t>10/9/25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10065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6C455166-5543-8548-8F78-7E1181578263}" type="datetime1">
              <a:rPr lang="en-US" smtClean="0"/>
              <a:t>10/9/25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5607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CAB9B8-C3D3-224C-A6A5-0AABE27F0797}" type="datetime1">
              <a:rPr lang="en-US" smtClean="0"/>
              <a:t>10/9/25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09689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4E04CF-D70D-4B41-A05D-FA7F0BDA36B5}" type="datetime1">
              <a:rPr lang="en-US" smtClean="0"/>
              <a:t>10/9/25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011700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D82DC82-0B65-B440-BFF6-0F4A8F262133}" type="datetime1">
              <a:rPr lang="en-US" smtClean="0"/>
              <a:t>10/9/25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8521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1F4EBA-DD8B-9C4F-A107-3F9F8D90ED66}" type="datetime1">
              <a:rPr lang="en-US" smtClean="0"/>
              <a:t>10/9/25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677770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8E581AC-EDEF-BE4F-B159-2BEA5EAFE9B4}" type="datetime1">
              <a:rPr lang="en-US" smtClean="0"/>
              <a:t>10/9/25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882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8D6754C-8A5A-E94B-8EEB-A7CC249DE37C}" type="datetime1">
              <a:rPr lang="en-US" smtClean="0"/>
              <a:t>10/9/25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622496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BCF06C-BA75-6847-BE5D-4A98EDA954D5}" type="datetime1">
              <a:rPr lang="en-US" smtClean="0"/>
              <a:t>10/9/25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15620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2BDDF5-8196-7B46-B681-A9F9E631E2B7}" type="datetime1">
              <a:rPr lang="en-US" smtClean="0"/>
              <a:t>10/9/25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3937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045640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87312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763826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160452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8413715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1092568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2475523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827196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9549699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0697618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BA20FC74-79A4-43E6-BBAD-E788C1A3E90F}" type="datetimeFigureOut">
              <a:rPr lang="en-US" smtClean="0"/>
              <a:t>10/9/25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0019880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D88740F0-8D79-495E-B31A-3E49AC1C392C}" type="datetime1">
              <a:rPr lang="en-US" smtClean="0"/>
              <a:t>10/9/25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9245183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A8928BDA-9B8E-40EE-8EFE-B18FAD0D75EC}" type="datetime1">
              <a:rPr lang="en-US" smtClean="0"/>
              <a:t>10/9/25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2048315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690D614-6458-4B51-9DCA-B0DBF6D8176E}" type="datetime1">
              <a:rPr lang="en-US" smtClean="0"/>
              <a:t>10/9/25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5899152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144A1686-F5EA-44B0-91C2-AF3A88CD829C}" type="datetime1">
              <a:rPr lang="en-US" smtClean="0"/>
              <a:t>10/9/25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2727506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E561C9CE-5F70-4D08-8D74-912FFF2544AC}" type="datetime1">
              <a:rPr lang="en-US" smtClean="0"/>
              <a:t>10/9/25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2456076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11852172-A2FA-488F-8B1C-F529DA47DF4B}" type="datetime1">
              <a:rPr lang="en-US" smtClean="0"/>
              <a:t>10/9/25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6597805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ED60BF12-A709-4858-8AEA-EDDDDF9B7248}" type="datetime1">
              <a:rPr lang="en-US" smtClean="0"/>
              <a:t>10/9/25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0950489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4259A0E3-2305-4250-853C-7606E57B25C6}" type="datetime1">
              <a:rPr lang="en-US" smtClean="0"/>
              <a:t>10/9/25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0956751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C3A6F473-73D7-4C02-8A96-0F759AA3D1BF}" type="datetime1">
              <a:rPr lang="en-US" smtClean="0"/>
              <a:t>10/9/25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3742043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4F2071A-2E6E-47D6-ACB5-F4F09F2F4C67}" type="datetime1">
              <a:rPr lang="en-US" smtClean="0"/>
              <a:t>10/9/25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5276920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5C5E3465-5FFD-4F56-952A-46D90904E51A}" type="datetime1">
              <a:rPr lang="en-US" smtClean="0"/>
              <a:t>10/9/25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093202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F69F6FB-E8EB-5743-AF64-133A0AE935F8}" type="datetime1">
              <a:rPr lang="en-US" smtClean="0"/>
              <a:t>10/9/25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83956294"/>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0FC74-79A4-43E6-BBAD-E788C1A3E90F}" type="datetimeFigureOut">
              <a:rPr lang="en-US" smtClean="0"/>
              <a:t>10/9/25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2504503338"/>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3404E8-3BFB-4863-AE30-0CED78AF3C5E}" type="datetime1">
              <a:rPr lang="en-US" smtClean="0"/>
              <a:t>10/9/25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4274878155"/>
      </p:ext>
    </p:extLst>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3.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jpeg"/><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png"/><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jpeg"/><Relationship Id="rId5" Type="http://schemas.microsoft.com/office/2007/relationships/hdphoto" Target="../media/hdphoto1.wdp"/><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22.wmf"/></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ctrTitle" sz="quarter"/>
          </p:nvPr>
        </p:nvSpPr>
        <p:spPr>
          <a:xfrm>
            <a:off x="6556100" y="1360493"/>
            <a:ext cx="4972511" cy="3106732"/>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dirty="0">
                <a:latin typeface="Calibri" panose="020F0502020204030204" pitchFamily="34" charset="0"/>
                <a:cs typeface="Calibri" panose="020F0502020204030204" pitchFamily="34" charset="0"/>
              </a:rPr>
            </a:br>
            <a:r>
              <a:rPr lang="en-US" sz="6100" dirty="0">
                <a:latin typeface="Calibri" panose="020F0502020204030204" pitchFamily="34" charset="0"/>
                <a:cs typeface="Calibri" panose="020F0502020204030204" pitchFamily="34" charset="0"/>
              </a:rPr>
              <a:t>CS-UH 2012, SPRING 2025 </a:t>
            </a:r>
            <a:endParaRPr lang="en-US" sz="6100" dirty="0"/>
          </a:p>
        </p:txBody>
      </p:sp>
      <p:sp>
        <p:nvSpPr>
          <p:cNvPr id="5" name="Subtitle 4"/>
          <p:cNvSpPr>
            <a:spLocks noGrp="1"/>
          </p:cNvSpPr>
          <p:nvPr>
            <p:ph type="subTitle" sz="quarter" idx="1"/>
          </p:nvPr>
        </p:nvSpPr>
        <p:spPr>
          <a:xfrm>
            <a:off x="6556100" y="4687316"/>
            <a:ext cx="4972512" cy="1517088"/>
          </a:xfrm>
        </p:spPr>
        <p:txBody>
          <a:bodyPr>
            <a:normAutofit/>
          </a:bodyPr>
          <a:lstStyle/>
          <a:p>
            <a:pPr algn="ctr"/>
            <a:r>
              <a:rPr lang="en-US" b="1" dirty="0"/>
              <a:t>Midterm Review</a:t>
            </a:r>
          </a:p>
          <a:p>
            <a:r>
              <a:rPr lang="en-US" dirty="0"/>
              <a:t>Dr. Mohamad Kassab, m.kassab@nyu.edu</a:t>
            </a:r>
          </a:p>
        </p:txBody>
      </p:sp>
      <p:sp>
        <p:nvSpPr>
          <p:cNvPr id="44" name="Freeform: Shape 43">
            <a:extLst>
              <a:ext uri="{FF2B5EF4-FFF2-40B4-BE49-F238E27FC236}">
                <a16:creationId xmlns:a16="http://schemas.microsoft.com/office/drawing/2014/main" id="{14A1598B-1957-47CF-AAF4-F7A36DA0E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1" b="285"/>
          <a:stretch/>
        </p:blipFill>
        <p:spPr>
          <a:xfrm>
            <a:off x="663388" y="2377424"/>
            <a:ext cx="3749586" cy="2103151"/>
          </a:xfrm>
          <a:prstGeom prst="rect">
            <a:avLst/>
          </a:prstGeom>
        </p:spPr>
      </p:pic>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75000"/>
                <a:shade val="58000"/>
                <a:satMod val="120000"/>
              </a:schemeClr>
              <a:schemeClr val="bg1">
                <a:tint val="50000"/>
                <a:shade val="96000"/>
              </a:schemeClr>
            </a:duotone>
          </a:blip>
          <a:tile tx="0" ty="0" sx="100000" sy="100000" flip="none" algn="tl"/>
        </a:blip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9" name="Rectangle 48">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1" name="Rectangle 50">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53" name="Group 52">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54" name="Oval 53">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55" name="Oval 54">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useBgFill="1">
        <p:nvSpPr>
          <p:cNvPr id="57" name="Rectangle 56">
            <a:extLst>
              <a:ext uri="{FF2B5EF4-FFF2-40B4-BE49-F238E27FC236}">
                <a16:creationId xmlns:a16="http://schemas.microsoft.com/office/drawing/2014/main" id="{0E2D3DCD-4716-40AA-90C0-6F2F9F116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9" name="Rectangle 58">
            <a:extLst>
              <a:ext uri="{FF2B5EF4-FFF2-40B4-BE49-F238E27FC236}">
                <a16:creationId xmlns:a16="http://schemas.microsoft.com/office/drawing/2014/main" id="{037BACED-9574-4AAE-9D04-510030835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25845"/>
            <a:ext cx="12192000" cy="2610465"/>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E0D85C-B6B1-7BFA-ADCF-657F236C4B5E}"/>
              </a:ext>
            </a:extLst>
          </p:cNvPr>
          <p:cNvSpPr>
            <a:spLocks noGrp="1"/>
          </p:cNvSpPr>
          <p:nvPr>
            <p:ph type="title"/>
          </p:nvPr>
        </p:nvSpPr>
        <p:spPr>
          <a:xfrm>
            <a:off x="1051559" y="4355692"/>
            <a:ext cx="10509069" cy="1472224"/>
          </a:xfrm>
        </p:spPr>
        <p:txBody>
          <a:bodyPr vert="horz" lIns="91440" tIns="45720" rIns="91440" bIns="45720" rtlCol="0" anchor="b">
            <a:normAutofit/>
          </a:bodyPr>
          <a:lstStyle/>
          <a:p>
            <a:pPr>
              <a:lnSpc>
                <a:spcPct val="80000"/>
              </a:lnSpc>
            </a:pPr>
            <a:r>
              <a:rPr lang="en-US" sz="5100">
                <a:solidFill>
                  <a:schemeClr val="tx1"/>
                </a:solidFill>
              </a:rPr>
              <a:t>Guidance to the Midterm exam </a:t>
            </a:r>
          </a:p>
        </p:txBody>
      </p:sp>
      <p:pic>
        <p:nvPicPr>
          <p:cNvPr id="5" name="Picture 4" descr="Rescue buoy floating at sea">
            <a:extLst>
              <a:ext uri="{FF2B5EF4-FFF2-40B4-BE49-F238E27FC236}">
                <a16:creationId xmlns:a16="http://schemas.microsoft.com/office/drawing/2014/main" id="{45E1E392-36AE-80C2-8D23-5F33D27074D7}"/>
              </a:ext>
            </a:extLst>
          </p:cNvPr>
          <p:cNvPicPr>
            <a:picLocks noChangeAspect="1"/>
          </p:cNvPicPr>
          <p:nvPr/>
        </p:nvPicPr>
        <p:blipFill rotWithShape="1">
          <a:blip r:embed="rId7"/>
          <a:srcRect t="14499" b="33360"/>
          <a:stretch/>
        </p:blipFill>
        <p:spPr>
          <a:xfrm>
            <a:off x="20" y="10"/>
            <a:ext cx="12191980" cy="4243361"/>
          </a:xfrm>
          <a:prstGeom prst="rect">
            <a:avLst/>
          </a:prstGeom>
        </p:spPr>
      </p:pic>
      <p:sp>
        <p:nvSpPr>
          <p:cNvPr id="4" name="Slide Number Placeholder 3">
            <a:extLst>
              <a:ext uri="{FF2B5EF4-FFF2-40B4-BE49-F238E27FC236}">
                <a16:creationId xmlns:a16="http://schemas.microsoft.com/office/drawing/2014/main" id="{37F0F67A-5D26-3E43-9DA9-3C16C55430C0}"/>
              </a:ext>
            </a:extLst>
          </p:cNvPr>
          <p:cNvSpPr>
            <a:spLocks noGrp="1"/>
          </p:cNvSpPr>
          <p:nvPr>
            <p:ph type="sldNum" sz="quarter" idx="12"/>
          </p:nvPr>
        </p:nvSpPr>
        <p:spPr>
          <a:xfrm>
            <a:off x="11237792" y="6115717"/>
            <a:ext cx="889764" cy="640080"/>
          </a:xfrm>
        </p:spPr>
        <p:txBody>
          <a:bodyPr vert="horz" lIns="91440" tIns="45720" rIns="91440" bIns="45720" rtlCol="0" anchor="ctr">
            <a:normAutofit/>
          </a:bodyPr>
          <a:lstStyle/>
          <a:p>
            <a:pPr defTabSz="457200">
              <a:spcAft>
                <a:spcPts val="600"/>
              </a:spcAft>
            </a:pPr>
            <a:fld id="{4FAB73BC-B049-4115-A692-8D63A059BFB8}" type="slidenum">
              <a:rPr lang="en-US" sz="2800">
                <a:solidFill>
                  <a:schemeClr val="tx1"/>
                </a:solidFill>
              </a:rPr>
              <a:pPr defTabSz="457200">
                <a:spcAft>
                  <a:spcPts val="600"/>
                </a:spcAft>
              </a:pPr>
              <a:t>2</a:t>
            </a:fld>
            <a:endParaRPr lang="en-US" sz="2800">
              <a:solidFill>
                <a:schemeClr val="tx1"/>
              </a:solidFill>
            </a:endParaRPr>
          </a:p>
        </p:txBody>
      </p:sp>
    </p:spTree>
    <p:extLst>
      <p:ext uri="{BB962C8B-B14F-4D97-AF65-F5344CB8AC3E}">
        <p14:creationId xmlns:p14="http://schemas.microsoft.com/office/powerpoint/2010/main" val="232626065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6" name="Group 15">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8" name="Oval 17">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pic>
        <p:nvPicPr>
          <p:cNvPr id="6" name="Picture 5" descr="Close-up of shoots growing in stone cracks">
            <a:extLst>
              <a:ext uri="{FF2B5EF4-FFF2-40B4-BE49-F238E27FC236}">
                <a16:creationId xmlns:a16="http://schemas.microsoft.com/office/drawing/2014/main" id="{93B7F275-7FD5-8533-C918-26DEA5308FC2}"/>
              </a:ext>
            </a:extLst>
          </p:cNvPr>
          <p:cNvPicPr>
            <a:picLocks noChangeAspect="1"/>
          </p:cNvPicPr>
          <p:nvPr/>
        </p:nvPicPr>
        <p:blipFill rotWithShape="1">
          <a:blip r:embed="rId6"/>
          <a:srcRect t="15730"/>
          <a:stretch/>
        </p:blipFill>
        <p:spPr>
          <a:xfrm>
            <a:off x="-1" y="10"/>
            <a:ext cx="12191999" cy="6857990"/>
          </a:xfrm>
          <a:prstGeom prst="rect">
            <a:avLst/>
          </a:prstGeom>
        </p:spPr>
      </p:pic>
      <p:sp>
        <p:nvSpPr>
          <p:cNvPr id="20" name="Rectangle 19">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2">
              <a:alphaModFix amt="9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11129F1-0938-5EC7-CE8E-580B7EF5B1F1}"/>
              </a:ext>
            </a:extLst>
          </p:cNvPr>
          <p:cNvSpPr>
            <a:spLocks noGrp="1"/>
          </p:cNvSpPr>
          <p:nvPr>
            <p:ph type="title"/>
          </p:nvPr>
        </p:nvSpPr>
        <p:spPr>
          <a:xfrm>
            <a:off x="1173480" y="4277802"/>
            <a:ext cx="9354820" cy="1622451"/>
          </a:xfrm>
        </p:spPr>
        <p:txBody>
          <a:bodyPr vert="horz" lIns="91440" tIns="45720" rIns="91440" bIns="45720" rtlCol="0" anchor="ctr">
            <a:normAutofit/>
          </a:bodyPr>
          <a:lstStyle/>
          <a:p>
            <a:pPr algn="r">
              <a:lnSpc>
                <a:spcPct val="80000"/>
              </a:lnSpc>
            </a:pPr>
            <a:r>
              <a:rPr lang="en-US" sz="3800" dirty="0">
                <a:blipFill dpi="0" rotWithShape="1">
                  <a:blip r:embed="rId4"/>
                  <a:srcRect/>
                  <a:tile tx="6350" ty="-127000" sx="65000" sy="64000" flip="none" algn="tl"/>
                </a:blipFill>
              </a:rPr>
              <a:t>Software Development Life Cycles</a:t>
            </a:r>
            <a:br>
              <a:rPr lang="en-US" sz="3800" dirty="0">
                <a:blipFill dpi="0" rotWithShape="1">
                  <a:blip r:embed="rId4"/>
                  <a:srcRect/>
                  <a:tile tx="6350" ty="-127000" sx="65000" sy="64000" flip="none" algn="tl"/>
                </a:blipFill>
              </a:rPr>
            </a:br>
            <a:endParaRPr lang="en-US" sz="3800" dirty="0">
              <a:blipFill dpi="0" rotWithShape="1">
                <a:blip r:embed="rId4"/>
                <a:srcRect/>
                <a:tile tx="6350" ty="-127000" sx="65000" sy="64000" flip="none" algn="tl"/>
              </a:blipFill>
            </a:endParaRPr>
          </a:p>
        </p:txBody>
      </p:sp>
      <p:sp>
        <p:nvSpPr>
          <p:cNvPr id="24" name="Rectangle 23">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619CBFCF-91CE-E4BB-1162-387A3EE3E1E8}"/>
              </a:ext>
            </a:extLst>
          </p:cNvPr>
          <p:cNvSpPr>
            <a:spLocks noGrp="1"/>
          </p:cNvSpPr>
          <p:nvPr>
            <p:ph type="sldNum" sz="quarter" idx="12"/>
          </p:nvPr>
        </p:nvSpPr>
        <p:spPr>
          <a:xfrm>
            <a:off x="11237976" y="6132125"/>
            <a:ext cx="792347" cy="605872"/>
          </a:xfrm>
        </p:spPr>
        <p:txBody>
          <a:bodyPr vert="horz" lIns="91440" tIns="45720" rIns="91440" bIns="45720" rtlCol="0" anchor="ctr">
            <a:normAutofit/>
          </a:bodyPr>
          <a:lstStyle/>
          <a:p>
            <a:pPr defTabSz="457200">
              <a:spcAft>
                <a:spcPts val="600"/>
              </a:spcAft>
            </a:pPr>
            <a:fld id="{4FAB73BC-B049-4115-A692-8D63A059BFB8}" type="slidenum">
              <a:rPr lang="en-US" sz="2000"/>
              <a:pPr defTabSz="457200">
                <a:spcAft>
                  <a:spcPts val="600"/>
                </a:spcAft>
              </a:pPr>
              <a:t>3</a:t>
            </a:fld>
            <a:endParaRPr lang="en-US" sz="2000"/>
          </a:p>
        </p:txBody>
      </p:sp>
    </p:spTree>
    <p:extLst>
      <p:ext uri="{BB962C8B-B14F-4D97-AF65-F5344CB8AC3E}">
        <p14:creationId xmlns:p14="http://schemas.microsoft.com/office/powerpoint/2010/main" val="4064208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1C7FF924-8DA0-4BE9-8C7E-095B0EC13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AE135-71B2-C4EF-7BD5-FF46F29AED96}"/>
              </a:ext>
            </a:extLst>
          </p:cNvPr>
          <p:cNvSpPr>
            <a:spLocks noGrp="1"/>
          </p:cNvSpPr>
          <p:nvPr>
            <p:ph type="title"/>
          </p:nvPr>
        </p:nvSpPr>
        <p:spPr>
          <a:xfrm>
            <a:off x="6400800" y="484632"/>
            <a:ext cx="5299586" cy="1609344"/>
          </a:xfrm>
          <a:ln>
            <a:noFill/>
          </a:ln>
        </p:spPr>
        <p:txBody>
          <a:bodyPr>
            <a:normAutofit/>
          </a:bodyPr>
          <a:lstStyle/>
          <a:p>
            <a:r>
              <a:rPr lang="en-US" sz="3400"/>
              <a:t>Software development processes</a:t>
            </a:r>
          </a:p>
        </p:txBody>
      </p:sp>
      <p:pic>
        <p:nvPicPr>
          <p:cNvPr id="6" name="Picture 5">
            <a:extLst>
              <a:ext uri="{FF2B5EF4-FFF2-40B4-BE49-F238E27FC236}">
                <a16:creationId xmlns:a16="http://schemas.microsoft.com/office/drawing/2014/main" id="{D18CC4A4-9460-21B6-43E9-7DDCB51AB37A}"/>
              </a:ext>
            </a:extLst>
          </p:cNvPr>
          <p:cNvPicPr>
            <a:picLocks noChangeAspect="1"/>
          </p:cNvPicPr>
          <p:nvPr/>
        </p:nvPicPr>
        <p:blipFill>
          <a:blip r:embed="rId5"/>
          <a:stretch>
            <a:fillRect/>
          </a:stretch>
        </p:blipFill>
        <p:spPr>
          <a:xfrm>
            <a:off x="633999" y="2290217"/>
            <a:ext cx="5112461" cy="2287826"/>
          </a:xfrm>
          <a:prstGeom prst="rect">
            <a:avLst/>
          </a:prstGeom>
        </p:spPr>
      </p:pic>
      <p:sp>
        <p:nvSpPr>
          <p:cNvPr id="3" name="Content Placeholder 2">
            <a:extLst>
              <a:ext uri="{FF2B5EF4-FFF2-40B4-BE49-F238E27FC236}">
                <a16:creationId xmlns:a16="http://schemas.microsoft.com/office/drawing/2014/main" id="{6D3B41CF-9296-AAC7-0238-B4D8052CDDF1}"/>
              </a:ext>
            </a:extLst>
          </p:cNvPr>
          <p:cNvSpPr>
            <a:spLocks noGrp="1"/>
          </p:cNvSpPr>
          <p:nvPr>
            <p:ph idx="1"/>
          </p:nvPr>
        </p:nvSpPr>
        <p:spPr>
          <a:xfrm>
            <a:off x="6400799" y="2121408"/>
            <a:ext cx="5299585" cy="4050792"/>
          </a:xfrm>
        </p:spPr>
        <p:txBody>
          <a:bodyPr>
            <a:normAutofit/>
          </a:bodyPr>
          <a:lstStyle/>
          <a:p>
            <a:r>
              <a:rPr lang="en-US" sz="1800" dirty="0"/>
              <a:t>Waterfall </a:t>
            </a:r>
          </a:p>
          <a:p>
            <a:r>
              <a:rPr lang="en-US" sz="1800" dirty="0"/>
              <a:t>Rapid Prototyping</a:t>
            </a:r>
          </a:p>
          <a:p>
            <a:r>
              <a:rPr lang="en-US" sz="1800" dirty="0"/>
              <a:t>Agile (Scrum)</a:t>
            </a:r>
          </a:p>
          <a:p>
            <a:pPr marL="0" indent="0">
              <a:buNone/>
            </a:pPr>
            <a:endParaRPr lang="en-US" sz="1800" dirty="0"/>
          </a:p>
          <a:p>
            <a:pPr marL="0" indent="0">
              <a:buNone/>
            </a:pPr>
            <a:r>
              <a:rPr lang="en-US" sz="1800" dirty="0"/>
              <a:t>What are the roles of SCRUM team?</a:t>
            </a:r>
          </a:p>
          <a:p>
            <a:pPr marL="0" indent="0">
              <a:buNone/>
            </a:pPr>
            <a:endPar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The customer keeps making changes to the requirements, even during the design and development phases. What approach could you have employed (could employ) to try to mitigate this problem?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p>
          <a:p>
            <a:endParaRPr lang="en-US" sz="1800" dirty="0"/>
          </a:p>
        </p:txBody>
      </p:sp>
      <p:grpSp>
        <p:nvGrpSpPr>
          <p:cNvPr id="30" name="Group 29">
            <a:extLst>
              <a:ext uri="{FF2B5EF4-FFF2-40B4-BE49-F238E27FC236}">
                <a16:creationId xmlns:a16="http://schemas.microsoft.com/office/drawing/2014/main" id="{5029B4A8-2CF0-48DC-B29E-F3B62EDDC4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31" name="Oval 30">
              <a:extLst>
                <a:ext uri="{FF2B5EF4-FFF2-40B4-BE49-F238E27FC236}">
                  <a16:creationId xmlns:a16="http://schemas.microsoft.com/office/drawing/2014/main" id="{F71DA811-F7AE-460D-9891-57F221994B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2" name="Oval 31">
              <a:extLst>
                <a:ext uri="{FF2B5EF4-FFF2-40B4-BE49-F238E27FC236}">
                  <a16:creationId xmlns:a16="http://schemas.microsoft.com/office/drawing/2014/main" id="{3747795E-BBFD-44B4-892D-2054745A8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AE5E2236-B9E6-CC70-439B-70208FD114A4}"/>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4</a:t>
            </a:fld>
            <a:endParaRPr lang="en-US"/>
          </a:p>
        </p:txBody>
      </p:sp>
    </p:spTree>
    <p:extLst>
      <p:ext uri="{BB962C8B-B14F-4D97-AF65-F5344CB8AC3E}">
        <p14:creationId xmlns:p14="http://schemas.microsoft.com/office/powerpoint/2010/main" val="1659075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6" name="Group 15">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8" name="Oval 17">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pic>
        <p:nvPicPr>
          <p:cNvPr id="6" name="Picture 5" descr="A high angle view of a drawing compass and a ruler on a diagram">
            <a:extLst>
              <a:ext uri="{FF2B5EF4-FFF2-40B4-BE49-F238E27FC236}">
                <a16:creationId xmlns:a16="http://schemas.microsoft.com/office/drawing/2014/main" id="{72F28500-A6D4-E483-8A89-2AF545EA1262}"/>
              </a:ext>
            </a:extLst>
          </p:cNvPr>
          <p:cNvPicPr>
            <a:picLocks noChangeAspect="1"/>
          </p:cNvPicPr>
          <p:nvPr/>
        </p:nvPicPr>
        <p:blipFill rotWithShape="1">
          <a:blip r:embed="rId6"/>
          <a:srcRect b="15094"/>
          <a:stretch/>
        </p:blipFill>
        <p:spPr>
          <a:xfrm>
            <a:off x="-1" y="10"/>
            <a:ext cx="12191999" cy="6857990"/>
          </a:xfrm>
          <a:prstGeom prst="rect">
            <a:avLst/>
          </a:prstGeom>
        </p:spPr>
      </p:pic>
      <p:sp>
        <p:nvSpPr>
          <p:cNvPr id="20" name="Rectangle 19">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2">
              <a:alphaModFix amt="9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080B7CA-2AAD-21D0-4D3D-FB460AD8A9CA}"/>
              </a:ext>
            </a:extLst>
          </p:cNvPr>
          <p:cNvSpPr>
            <a:spLocks noGrp="1"/>
          </p:cNvSpPr>
          <p:nvPr>
            <p:ph type="title"/>
          </p:nvPr>
        </p:nvSpPr>
        <p:spPr>
          <a:xfrm>
            <a:off x="1173480" y="4277802"/>
            <a:ext cx="6022449" cy="1622451"/>
          </a:xfrm>
        </p:spPr>
        <p:txBody>
          <a:bodyPr vert="horz" lIns="91440" tIns="45720" rIns="91440" bIns="45720" rtlCol="0" anchor="ctr">
            <a:normAutofit/>
          </a:bodyPr>
          <a:lstStyle/>
          <a:p>
            <a:pPr algn="r">
              <a:lnSpc>
                <a:spcPct val="80000"/>
              </a:lnSpc>
            </a:pPr>
            <a:r>
              <a:rPr lang="en-US" sz="6000">
                <a:blipFill dpi="0" rotWithShape="1">
                  <a:blip r:embed="rId4"/>
                  <a:srcRect/>
                  <a:tile tx="6350" ty="-127000" sx="65000" sy="64000" flip="none" algn="tl"/>
                </a:blipFill>
              </a:rPr>
              <a:t>Requirements engineering</a:t>
            </a:r>
          </a:p>
        </p:txBody>
      </p:sp>
      <p:sp>
        <p:nvSpPr>
          <p:cNvPr id="24" name="Rectangle 23">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9301D9E5-178A-AA24-2D2C-70DA5D59CDAB}"/>
              </a:ext>
            </a:extLst>
          </p:cNvPr>
          <p:cNvSpPr>
            <a:spLocks noGrp="1"/>
          </p:cNvSpPr>
          <p:nvPr>
            <p:ph type="sldNum" sz="quarter" idx="12"/>
          </p:nvPr>
        </p:nvSpPr>
        <p:spPr>
          <a:xfrm>
            <a:off x="11237976" y="6132125"/>
            <a:ext cx="792347" cy="605872"/>
          </a:xfrm>
        </p:spPr>
        <p:txBody>
          <a:bodyPr vert="horz" lIns="91440" tIns="45720" rIns="91440" bIns="45720" rtlCol="0" anchor="ctr">
            <a:normAutofit/>
          </a:bodyPr>
          <a:lstStyle/>
          <a:p>
            <a:pPr defTabSz="457200">
              <a:spcAft>
                <a:spcPts val="600"/>
              </a:spcAft>
            </a:pPr>
            <a:fld id="{4FAB73BC-B049-4115-A692-8D63A059BFB8}" type="slidenum">
              <a:rPr lang="en-US" sz="2000"/>
              <a:pPr defTabSz="457200">
                <a:spcAft>
                  <a:spcPts val="600"/>
                </a:spcAft>
              </a:pPr>
              <a:t>5</a:t>
            </a:fld>
            <a:endParaRPr lang="en-US" sz="2000"/>
          </a:p>
        </p:txBody>
      </p:sp>
    </p:spTree>
    <p:extLst>
      <p:ext uri="{BB962C8B-B14F-4D97-AF65-F5344CB8AC3E}">
        <p14:creationId xmlns:p14="http://schemas.microsoft.com/office/powerpoint/2010/main" val="996518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A194-9A26-A239-E9E5-62842704C984}"/>
              </a:ext>
            </a:extLst>
          </p:cNvPr>
          <p:cNvSpPr>
            <a:spLocks noGrp="1"/>
          </p:cNvSpPr>
          <p:nvPr>
            <p:ph type="title"/>
          </p:nvPr>
        </p:nvSpPr>
        <p:spPr/>
        <p:txBody>
          <a:bodyPr/>
          <a:lstStyle/>
          <a:p>
            <a:r>
              <a:rPr lang="en-US" dirty="0"/>
              <a:t>Requirements engineering</a:t>
            </a:r>
          </a:p>
        </p:txBody>
      </p:sp>
      <p:sp>
        <p:nvSpPr>
          <p:cNvPr id="3" name="Content Placeholder 2">
            <a:extLst>
              <a:ext uri="{FF2B5EF4-FFF2-40B4-BE49-F238E27FC236}">
                <a16:creationId xmlns:a16="http://schemas.microsoft.com/office/drawing/2014/main" id="{2BDB9234-E60D-ABB0-56B6-302C43E97EED}"/>
              </a:ext>
            </a:extLst>
          </p:cNvPr>
          <p:cNvSpPr>
            <a:spLocks noGrp="1"/>
          </p:cNvSpPr>
          <p:nvPr>
            <p:ph idx="1"/>
          </p:nvPr>
        </p:nvSpPr>
        <p:spPr/>
        <p:txBody>
          <a:bodyPr/>
          <a:lstStyle/>
          <a:p>
            <a:r>
              <a:rPr lang="en-US" dirty="0"/>
              <a:t>Elicitation Techniques</a:t>
            </a:r>
          </a:p>
          <a:p>
            <a:r>
              <a:rPr lang="en-US" dirty="0"/>
              <a:t>Requirements Documentation</a:t>
            </a:r>
          </a:p>
          <a:p>
            <a:pPr lvl="1"/>
            <a:r>
              <a:rPr lang="en-US" dirty="0"/>
              <a:t>Functional Requirements vs. Non-Functional Requirements.</a:t>
            </a:r>
          </a:p>
          <a:p>
            <a:pPr lvl="1"/>
            <a:r>
              <a:rPr lang="en-US" dirty="0"/>
              <a:t>Requirements Qualities</a:t>
            </a:r>
          </a:p>
        </p:txBody>
      </p:sp>
      <p:sp>
        <p:nvSpPr>
          <p:cNvPr id="4" name="Slide Number Placeholder 3">
            <a:extLst>
              <a:ext uri="{FF2B5EF4-FFF2-40B4-BE49-F238E27FC236}">
                <a16:creationId xmlns:a16="http://schemas.microsoft.com/office/drawing/2014/main" id="{64EE036B-3D20-16BE-A824-C9D9AB81E485}"/>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Tree>
    <p:extLst>
      <p:ext uri="{BB962C8B-B14F-4D97-AF65-F5344CB8AC3E}">
        <p14:creationId xmlns:p14="http://schemas.microsoft.com/office/powerpoint/2010/main" val="2296022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04672" y="1412489"/>
            <a:ext cx="2871095" cy="2156621"/>
          </a:xfrm>
        </p:spPr>
        <p:txBody>
          <a:bodyPr anchor="t">
            <a:normAutofit/>
          </a:bodyPr>
          <a:lstStyle/>
          <a:p>
            <a:pPr eaLnBrk="1" hangingPunct="1">
              <a:defRPr/>
            </a:pPr>
            <a:r>
              <a:rPr lang="en-US" sz="3600" dirty="0">
                <a:solidFill>
                  <a:srgbClr val="FFFFFF"/>
                </a:solidFill>
              </a:rPr>
              <a:t>Elicitation Techniques</a:t>
            </a:r>
          </a:p>
        </p:txBody>
      </p:sp>
      <p:sp>
        <p:nvSpPr>
          <p:cNvPr id="27651" name="Rectangle 3"/>
          <p:cNvSpPr>
            <a:spLocks noGrp="1" noChangeArrowheads="1"/>
          </p:cNvSpPr>
          <p:nvPr>
            <p:ph type="body" sz="half" idx="1"/>
          </p:nvPr>
        </p:nvSpPr>
        <p:spPr>
          <a:xfrm>
            <a:off x="0" y="1702375"/>
            <a:ext cx="3806456" cy="5155625"/>
          </a:xfrm>
        </p:spPr>
        <p:txBody>
          <a:bodyPr>
            <a:normAutofit fontScale="92500" lnSpcReduction="20000"/>
          </a:bodyPr>
          <a:lstStyle/>
          <a:p>
            <a:pPr eaLnBrk="1" hangingPunct="1">
              <a:defRPr/>
            </a:pPr>
            <a:r>
              <a:rPr lang="en-US" sz="2200" b="1" dirty="0"/>
              <a:t>Brainstorming *</a:t>
            </a:r>
          </a:p>
          <a:p>
            <a:pPr eaLnBrk="1" hangingPunct="1">
              <a:defRPr/>
            </a:pPr>
            <a:r>
              <a:rPr lang="en-US" sz="2200" b="1" dirty="0"/>
              <a:t>Card Sorting *</a:t>
            </a:r>
          </a:p>
          <a:p>
            <a:pPr>
              <a:defRPr/>
            </a:pPr>
            <a:r>
              <a:rPr lang="en-US" sz="2200" dirty="0"/>
              <a:t>Crowd Sourcing</a:t>
            </a:r>
          </a:p>
          <a:p>
            <a:pPr eaLnBrk="1" hangingPunct="1">
              <a:defRPr/>
            </a:pPr>
            <a:r>
              <a:rPr lang="en-US" sz="2200" b="1" dirty="0"/>
              <a:t>Designer as Apprentice</a:t>
            </a:r>
          </a:p>
          <a:p>
            <a:pPr eaLnBrk="1" hangingPunct="1">
              <a:defRPr/>
            </a:pPr>
            <a:r>
              <a:rPr lang="en-US" sz="2200" b="1" dirty="0"/>
              <a:t>Domain Analysis</a:t>
            </a:r>
          </a:p>
          <a:p>
            <a:pPr eaLnBrk="1" hangingPunct="1">
              <a:defRPr/>
            </a:pPr>
            <a:r>
              <a:rPr lang="en-US" sz="2200" b="1" dirty="0"/>
              <a:t>Ethnographic Observation *</a:t>
            </a:r>
          </a:p>
          <a:p>
            <a:pPr eaLnBrk="1" hangingPunct="1">
              <a:defRPr/>
            </a:pPr>
            <a:r>
              <a:rPr lang="en-US" sz="2200" b="1" dirty="0"/>
              <a:t>Goal Based Approaches</a:t>
            </a:r>
          </a:p>
          <a:p>
            <a:pPr eaLnBrk="1" hangingPunct="1">
              <a:defRPr/>
            </a:pPr>
            <a:r>
              <a:rPr lang="en-US" sz="2200" b="1" dirty="0"/>
              <a:t>Group Work *</a:t>
            </a:r>
          </a:p>
          <a:p>
            <a:pPr eaLnBrk="1" hangingPunct="1">
              <a:defRPr/>
            </a:pPr>
            <a:r>
              <a:rPr lang="en-US" sz="2200" b="1" dirty="0"/>
              <a:t>Interviews *</a:t>
            </a:r>
          </a:p>
          <a:p>
            <a:pPr eaLnBrk="1" hangingPunct="1">
              <a:defRPr/>
            </a:pPr>
            <a:r>
              <a:rPr lang="en-US" sz="2200" b="1" dirty="0"/>
              <a:t>Introspection *</a:t>
            </a:r>
          </a:p>
          <a:p>
            <a:pPr eaLnBrk="1" hangingPunct="1">
              <a:defRPr/>
            </a:pPr>
            <a:r>
              <a:rPr lang="en-US" sz="2200" dirty="0"/>
              <a:t>Joint Application Design</a:t>
            </a:r>
          </a:p>
          <a:p>
            <a:pPr eaLnBrk="1" hangingPunct="1">
              <a:defRPr/>
            </a:pPr>
            <a:r>
              <a:rPr lang="en-US" sz="2200" b="1" dirty="0"/>
              <a:t>Laddering *</a:t>
            </a:r>
          </a:p>
          <a:p>
            <a:pPr>
              <a:defRPr/>
            </a:pPr>
            <a:r>
              <a:rPr lang="en-US" sz="2200" dirty="0"/>
              <a:t>Protocol Analysis</a:t>
            </a:r>
          </a:p>
          <a:p>
            <a:pPr>
              <a:defRPr/>
            </a:pPr>
            <a:r>
              <a:rPr lang="en-US" sz="2400" b="1" dirty="0"/>
              <a:t>Prototyping</a:t>
            </a:r>
            <a:endParaRPr lang="en-US" sz="2200" b="1" dirty="0"/>
          </a:p>
          <a:p>
            <a:pPr eaLnBrk="1" hangingPunct="1">
              <a:defRPr/>
            </a:pPr>
            <a:endParaRPr lang="en-US" sz="2600" baseline="30000" dirty="0"/>
          </a:p>
        </p:txBody>
      </p:sp>
      <p:sp>
        <p:nvSpPr>
          <p:cNvPr id="27654" name="Rectangle 6"/>
          <p:cNvSpPr>
            <a:spLocks noGrp="1" noChangeArrowheads="1"/>
          </p:cNvSpPr>
          <p:nvPr>
            <p:ph type="body" sz="half" idx="2"/>
          </p:nvPr>
        </p:nvSpPr>
        <p:spPr>
          <a:xfrm>
            <a:off x="3675767" y="1665225"/>
            <a:ext cx="2926080" cy="4912484"/>
          </a:xfrm>
        </p:spPr>
        <p:txBody>
          <a:bodyPr>
            <a:noAutofit/>
          </a:bodyPr>
          <a:lstStyle/>
          <a:p>
            <a:pPr eaLnBrk="1" hangingPunct="1">
              <a:defRPr/>
            </a:pPr>
            <a:r>
              <a:rPr lang="en-US" sz="2000" dirty="0"/>
              <a:t>Quality Function Deployment (encompasses card sorting and laddering and domain analysis)</a:t>
            </a:r>
          </a:p>
          <a:p>
            <a:pPr eaLnBrk="1" hangingPunct="1">
              <a:defRPr/>
            </a:pPr>
            <a:r>
              <a:rPr lang="en-US" sz="2000" b="1" dirty="0"/>
              <a:t>Questionnaires *</a:t>
            </a:r>
          </a:p>
          <a:p>
            <a:pPr eaLnBrk="1" hangingPunct="1">
              <a:defRPr/>
            </a:pPr>
            <a:r>
              <a:rPr lang="en-US" sz="2000" dirty="0"/>
              <a:t>Repertory Grids</a:t>
            </a:r>
          </a:p>
          <a:p>
            <a:pPr eaLnBrk="1" hangingPunct="1">
              <a:defRPr/>
            </a:pPr>
            <a:r>
              <a:rPr lang="en-US" sz="2000" dirty="0"/>
              <a:t>Reverse Engineering</a:t>
            </a:r>
          </a:p>
          <a:p>
            <a:pPr eaLnBrk="1" hangingPunct="1">
              <a:defRPr/>
            </a:pPr>
            <a:r>
              <a:rPr lang="en-US" sz="2000" dirty="0"/>
              <a:t>Task Analysis</a:t>
            </a:r>
          </a:p>
          <a:p>
            <a:pPr eaLnBrk="1" hangingPunct="1">
              <a:defRPr/>
            </a:pPr>
            <a:r>
              <a:rPr lang="en-US" sz="2000" dirty="0"/>
              <a:t>Scenarios &amp; Use Cases</a:t>
            </a:r>
          </a:p>
          <a:p>
            <a:pPr eaLnBrk="1" hangingPunct="1">
              <a:defRPr/>
            </a:pPr>
            <a:r>
              <a:rPr lang="en-US" sz="2000" dirty="0"/>
              <a:t>User Stories</a:t>
            </a:r>
          </a:p>
          <a:p>
            <a:pPr eaLnBrk="1" hangingPunct="1">
              <a:defRPr/>
            </a:pPr>
            <a:r>
              <a:rPr lang="en-US" sz="2000" b="1" dirty="0"/>
              <a:t>Viewpoints *</a:t>
            </a:r>
          </a:p>
          <a:p>
            <a:pPr eaLnBrk="1" hangingPunct="1">
              <a:defRPr/>
            </a:pPr>
            <a:r>
              <a:rPr lang="en-US" sz="2000" b="1" dirty="0"/>
              <a:t>Workshops</a:t>
            </a:r>
          </a:p>
        </p:txBody>
      </p:sp>
      <p:sp>
        <p:nvSpPr>
          <p:cNvPr id="9" name="Slide Number Placeholder 6"/>
          <p:cNvSpPr>
            <a:spLocks noGrp="1"/>
          </p:cNvSpPr>
          <p:nvPr>
            <p:ph type="sldNum" sz="quarter" idx="12"/>
          </p:nvPr>
        </p:nvSpPr>
        <p:spPr>
          <a:xfrm>
            <a:off x="10969461" y="6080241"/>
            <a:ext cx="548640" cy="548640"/>
          </a:xfrm>
          <a:prstGeom prst="ellipse">
            <a:avLst/>
          </a:prstGeom>
          <a:solidFill>
            <a:srgbClr val="7F7F7F"/>
          </a:solidFill>
        </p:spPr>
        <p:txBody>
          <a:bodyPr>
            <a:normAutofit/>
          </a:bodyPr>
          <a:lstStyle/>
          <a:p>
            <a:pPr algn="ctr">
              <a:spcAft>
                <a:spcPts val="600"/>
              </a:spcAft>
              <a:defRPr/>
            </a:pPr>
            <a:fld id="{3D829C74-E40A-4E95-99D4-055E1E8DE0B5}" type="slidenum">
              <a:rPr lang="en-US">
                <a:solidFill>
                  <a:srgbClr val="FFFFFF"/>
                </a:solidFill>
              </a:rPr>
              <a:pPr algn="ctr">
                <a:spcAft>
                  <a:spcPts val="600"/>
                </a:spcAft>
                <a:defRPr/>
              </a:pPr>
              <a:t>7</a:t>
            </a:fld>
            <a:endParaRPr lang="en-US" dirty="0">
              <a:solidFill>
                <a:srgbClr val="FFFFFF"/>
              </a:solidFill>
            </a:endParaRPr>
          </a:p>
        </p:txBody>
      </p:sp>
      <p:sp>
        <p:nvSpPr>
          <p:cNvPr id="12295" name="Text Box 4"/>
          <p:cNvSpPr txBox="1">
            <a:spLocks noChangeArrowheads="1"/>
          </p:cNvSpPr>
          <p:nvPr/>
        </p:nvSpPr>
        <p:spPr bwMode="auto">
          <a:xfrm>
            <a:off x="1965326" y="5334001"/>
            <a:ext cx="4435475" cy="366713"/>
          </a:xfrm>
          <a:prstGeom prst="rect">
            <a:avLst/>
          </a:prstGeom>
          <a:noFill/>
          <a:ln w="9525">
            <a:noFill/>
            <a:miter lim="800000"/>
            <a:headEnd/>
            <a:tailEnd/>
          </a:ln>
        </p:spPr>
        <p:txBody>
          <a:bodyPr>
            <a:spAutoFit/>
          </a:bodyPr>
          <a:lstStyle/>
          <a:p>
            <a:endParaRPr lang="en-US" dirty="0"/>
          </a:p>
        </p:txBody>
      </p:sp>
      <p:sp>
        <p:nvSpPr>
          <p:cNvPr id="2" name="Rectangle 2">
            <a:extLst>
              <a:ext uri="{FF2B5EF4-FFF2-40B4-BE49-F238E27FC236}">
                <a16:creationId xmlns:a16="http://schemas.microsoft.com/office/drawing/2014/main" id="{E2135FEC-AE5A-3386-DB47-D73E6166038D}"/>
              </a:ext>
            </a:extLst>
          </p:cNvPr>
          <p:cNvSpPr txBox="1">
            <a:spLocks noChangeArrowheads="1"/>
          </p:cNvSpPr>
          <p:nvPr/>
        </p:nvSpPr>
        <p:spPr>
          <a:xfrm>
            <a:off x="256963" y="55881"/>
            <a:ext cx="11787399"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defRPr/>
            </a:pPr>
            <a:r>
              <a:rPr lang="en-US" sz="3200" dirty="0"/>
              <a:t>Requirements Elicitation Techniques </a:t>
            </a:r>
          </a:p>
          <a:p>
            <a:pPr algn="ctr">
              <a:defRPr/>
            </a:pPr>
            <a:r>
              <a:rPr lang="en-US" sz="2500" dirty="0"/>
              <a:t>Chapter 3 of Requirements engineering for software and systems  </a:t>
            </a:r>
            <a:br>
              <a:rPr lang="en-US" sz="2500" dirty="0"/>
            </a:br>
            <a:r>
              <a:rPr lang="en-US" sz="2500" u="sng" dirty="0"/>
              <a:t>MANDATORY </a:t>
            </a:r>
            <a:r>
              <a:rPr lang="en-US" sz="2500" u="sng" dirty="0" err="1"/>
              <a:t>reading</a:t>
            </a:r>
            <a:r>
              <a:rPr lang="en-US" sz="2000" u="sng" baseline="30000" dirty="0" err="1"/>
              <a:t>PDF</a:t>
            </a:r>
            <a:r>
              <a:rPr lang="en-US" sz="2000" u="sng" baseline="30000" dirty="0"/>
              <a:t> WILL BE POSTED</a:t>
            </a:r>
            <a:endParaRPr lang="en-US" sz="2500" baseline="30000" dirty="0"/>
          </a:p>
        </p:txBody>
      </p:sp>
      <p:pic>
        <p:nvPicPr>
          <p:cNvPr id="3" name="Picture 2">
            <a:extLst>
              <a:ext uri="{FF2B5EF4-FFF2-40B4-BE49-F238E27FC236}">
                <a16:creationId xmlns:a16="http://schemas.microsoft.com/office/drawing/2014/main" id="{CC707029-46E4-4B50-B06B-F6807BD6844A}"/>
              </a:ext>
            </a:extLst>
          </p:cNvPr>
          <p:cNvPicPr>
            <a:picLocks noChangeAspect="1"/>
          </p:cNvPicPr>
          <p:nvPr/>
        </p:nvPicPr>
        <p:blipFill rotWithShape="1">
          <a:blip r:embed="rId4"/>
          <a:srcRect t="3845" r="2" b="2"/>
          <a:stretch/>
        </p:blipFill>
        <p:spPr>
          <a:xfrm>
            <a:off x="7392866" y="1729877"/>
            <a:ext cx="3416725" cy="4693356"/>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IEEE Std 29148</a:t>
            </a:r>
          </a:p>
        </p:txBody>
      </p:sp>
      <p:sp>
        <p:nvSpPr>
          <p:cNvPr id="4" name="Slide Number Placeholder 3"/>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A97A682-319C-497E-8CA6-78F96D3139B4}" type="slidenum">
              <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a:t>
            </a:fld>
            <a:endPar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7" name="Content Placeholder 4">
            <a:extLst>
              <a:ext uri="{FF2B5EF4-FFF2-40B4-BE49-F238E27FC236}">
                <a16:creationId xmlns:a16="http://schemas.microsoft.com/office/drawing/2014/main" id="{5AEE1E27-50C9-8D43-B664-4D40DC24F882}"/>
              </a:ext>
            </a:extLst>
          </p:cNvPr>
          <p:cNvGraphicFramePr>
            <a:graphicFrameLocks noGrp="1"/>
          </p:cNvGraphicFramePr>
          <p:nvPr>
            <p:ph idx="1"/>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8792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IEEE Std 29148</a:t>
            </a:r>
          </a:p>
        </p:txBody>
      </p:sp>
      <p:sp>
        <p:nvSpPr>
          <p:cNvPr id="3" name="Content Placeholder 2"/>
          <p:cNvSpPr>
            <a:spLocks noGrp="1"/>
          </p:cNvSpPr>
          <p:nvPr>
            <p:ph idx="1"/>
          </p:nvPr>
        </p:nvSpPr>
        <p:spPr>
          <a:xfrm>
            <a:off x="4810259" y="649480"/>
            <a:ext cx="6555347" cy="5546047"/>
          </a:xfrm>
        </p:spPr>
        <p:txBody>
          <a:bodyPr anchor="ctr">
            <a:normAutofit/>
          </a:bodyPr>
          <a:lstStyle/>
          <a:p>
            <a:r>
              <a:rPr lang="en-US" sz="3600" dirty="0"/>
              <a:t>For a set of requirements</a:t>
            </a:r>
          </a:p>
          <a:p>
            <a:pPr lvl="1"/>
            <a:r>
              <a:rPr lang="en-US" sz="3600" dirty="0"/>
              <a:t>Complete</a:t>
            </a:r>
          </a:p>
          <a:p>
            <a:pPr lvl="1"/>
            <a:r>
              <a:rPr lang="en-US" sz="3600" dirty="0"/>
              <a:t>Consistent</a:t>
            </a:r>
          </a:p>
          <a:p>
            <a:pPr lvl="1"/>
            <a:r>
              <a:rPr lang="en-US" sz="3600" dirty="0"/>
              <a:t>Bounded</a:t>
            </a:r>
          </a:p>
          <a:p>
            <a:pPr lvl="1"/>
            <a:r>
              <a:rPr lang="en-US" sz="3600" dirty="0"/>
              <a:t>Affordable</a:t>
            </a:r>
          </a:p>
          <a:p>
            <a:pPr lvl="1"/>
            <a:endParaRPr lang="en-US" sz="2000" dirty="0"/>
          </a:p>
        </p:txBody>
      </p:sp>
      <p:sp>
        <p:nvSpPr>
          <p:cNvPr id="5" name="Slide Number Placeholder 4"/>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0631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Singular</a:t>
            </a:r>
          </a:p>
        </p:txBody>
      </p:sp>
      <p:sp>
        <p:nvSpPr>
          <p:cNvPr id="3" name="Content Placeholder 2"/>
          <p:cNvSpPr>
            <a:spLocks noGrp="1"/>
          </p:cNvSpPr>
          <p:nvPr>
            <p:ph idx="1"/>
          </p:nvPr>
        </p:nvSpPr>
        <p:spPr>
          <a:xfrm>
            <a:off x="838200" y="2057400"/>
            <a:ext cx="10515600" cy="3871762"/>
          </a:xfrm>
        </p:spPr>
        <p:txBody>
          <a:bodyPr>
            <a:normAutofit/>
          </a:bodyPr>
          <a:lstStyle/>
          <a:p>
            <a:r>
              <a:rPr lang="en-US" sz="2200"/>
              <a:t>Each requirement specifies a single and have no conjunctions. </a:t>
            </a:r>
          </a:p>
          <a:p>
            <a:pPr lvl="1"/>
            <a:r>
              <a:rPr lang="en-US" sz="2200"/>
              <a:t>3.1.1 The pump control unit shall start the submersible pump motors to prevent the wet well from running over and stop the pump motors before the wet well runs dry.</a:t>
            </a:r>
          </a:p>
          <a:p>
            <a:r>
              <a:rPr lang="en-US" sz="2200"/>
              <a:t>versus:</a:t>
            </a:r>
          </a:p>
          <a:p>
            <a:pPr lvl="1"/>
            <a:r>
              <a:rPr lang="en-US" sz="2200"/>
              <a:t>3.1.1.1 The pump control unit shall start the submersible pump motors to prevent the wet well from running over.</a:t>
            </a:r>
          </a:p>
          <a:p>
            <a:pPr lvl="1"/>
            <a:r>
              <a:rPr lang="en-US" sz="2200"/>
              <a:t>3.1.1.2 The pump control unit shall stop the pump motors before the wet well runs dry.</a:t>
            </a:r>
          </a:p>
          <a:p>
            <a:r>
              <a:rPr lang="en-US" sz="2200"/>
              <a:t>Conjunctions can be used if they describe a single behavior</a:t>
            </a:r>
          </a:p>
          <a:p>
            <a:pPr lvl="1"/>
            <a:r>
              <a:rPr lang="en-US" sz="2200"/>
              <a:t>3.2.6  The light emitted by the display shall be either red or yellow.</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4710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Feasible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that can be satisfied with current technology and cost constraints, </a:t>
            </a:r>
          </a:p>
          <a:p>
            <a:r>
              <a:rPr lang="en-US" sz="2400"/>
              <a:t>Not a ridiculous requirement.</a:t>
            </a:r>
          </a:p>
          <a:p>
            <a:r>
              <a:rPr lang="en-US" sz="2400"/>
              <a:t>Examples</a:t>
            </a:r>
          </a:p>
          <a:p>
            <a:pPr lvl="1"/>
            <a:r>
              <a:rPr lang="en-US" dirty="0"/>
              <a:t>The system shall consume no power.</a:t>
            </a:r>
          </a:p>
          <a:p>
            <a:pPr lvl="1"/>
            <a:r>
              <a:rPr lang="en-US" dirty="0"/>
              <a:t>The length of the beam shall be less than 0 feet. </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6241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Unambiguous</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is unambiguous if it can have only one interpretation.</a:t>
            </a:r>
          </a:p>
          <a:p>
            <a:r>
              <a:rPr lang="en-US" sz="2400"/>
              <a:t>Example</a:t>
            </a:r>
          </a:p>
          <a:p>
            <a:pPr lvl="1"/>
            <a:r>
              <a:rPr lang="en-US" dirty="0"/>
              <a:t>If the valve is open and the drain is open, then it should be closed.</a:t>
            </a:r>
          </a:p>
          <a:p>
            <a:r>
              <a:rPr lang="en-US" sz="2400"/>
              <a:t>Conjunctions can cause ambiguity and that is why they should be avoided.</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2254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Complete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is complete “to the extent that all of its parts are present and each part is fully developed.”</a:t>
            </a:r>
          </a:p>
          <a:p>
            <a:pPr lvl="1"/>
            <a:r>
              <a:rPr lang="en-US" dirty="0"/>
              <a:t>Switch 1 shall have two positions, one position is “on”.</a:t>
            </a:r>
          </a:p>
          <a:p>
            <a:r>
              <a:rPr lang="en-US" sz="2400"/>
              <a:t>Same property for a set of requirements</a:t>
            </a:r>
          </a:p>
          <a:p>
            <a:pPr lvl="1"/>
            <a:r>
              <a:rPr lang="en-US" dirty="0"/>
              <a:t>E.g. no “TBD”</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4121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Consistent</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is consistent if it does not contradict itself (internal) or a prevailing standard or law (external).</a:t>
            </a:r>
          </a:p>
          <a:p>
            <a:pPr lvl="1"/>
            <a:r>
              <a:rPr lang="en-US" dirty="0"/>
              <a:t>If the lever is in position 1 then it shall open and close the valve.</a:t>
            </a:r>
          </a:p>
          <a:p>
            <a:r>
              <a:rPr lang="en-US" sz="2400"/>
              <a:t>Same for a set of requirements (e.g.)</a:t>
            </a:r>
          </a:p>
          <a:p>
            <a:pPr lvl="1"/>
            <a:r>
              <a:rPr lang="en-US" dirty="0"/>
              <a:t>3.1 If the lever is in position 1, then valve 1 is opened.</a:t>
            </a:r>
          </a:p>
          <a:p>
            <a:pPr lvl="1"/>
            <a:r>
              <a:rPr lang="en-US" dirty="0"/>
              <a:t>3.2 If the lever is in position 1, then valve 1 is closed.</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3626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Verifiable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Satisfaction of the requirement can be demonstrated</a:t>
            </a:r>
          </a:p>
          <a:p>
            <a:pPr lvl="1"/>
            <a:r>
              <a:rPr lang="en-US" dirty="0"/>
              <a:t>The system shall be user friendly </a:t>
            </a:r>
          </a:p>
          <a:p>
            <a:r>
              <a:rPr lang="en-US" sz="2400"/>
              <a:t>Usually needs metrics associated with the requirement</a:t>
            </a:r>
          </a:p>
          <a:p>
            <a:r>
              <a:rPr lang="en-US" sz="2400"/>
              <a:t>Important to always envision the acceptance test along with the requirement</a:t>
            </a:r>
          </a:p>
          <a:p>
            <a:r>
              <a:rPr lang="en-US" sz="2400"/>
              <a:t>Goal-question-metric paradigm useful</a:t>
            </a:r>
          </a:p>
          <a:p>
            <a:endParaRPr lang="en-US" sz="2400"/>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15</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7132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Traceable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Numbered or indexed somehow</a:t>
            </a:r>
          </a:p>
          <a:p>
            <a:r>
              <a:rPr lang="en-US" sz="2400"/>
              <a:t>Essential quality for effective communications ease of modification, and legal considerations.</a:t>
            </a:r>
          </a:p>
          <a:p>
            <a:r>
              <a:rPr lang="en-US" sz="2400"/>
              <a:t>Stored in a requirements management tool</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6119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Bounded</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set of requirements is bounded if it does not exceed the scope of the system intent.</a:t>
            </a:r>
          </a:p>
          <a:p>
            <a:r>
              <a:rPr lang="en-US" sz="2400"/>
              <a:t>Important to avoid scope creep.</a:t>
            </a:r>
          </a:p>
          <a:p>
            <a:r>
              <a:rPr lang="en-US" sz="2400"/>
              <a:t>Refer to mission statement (or conops) to avoid scope creep;</a:t>
            </a:r>
          </a:p>
          <a:p>
            <a:pPr lvl="1"/>
            <a:r>
              <a:rPr lang="en-US" dirty="0"/>
              <a:t>e.g. does this requirement fit the mission?</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17</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4109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Affordable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For a set of requirements meets budgetary constraints.</a:t>
            </a:r>
          </a:p>
          <a:p>
            <a:r>
              <a:rPr lang="en-US" sz="2400"/>
              <a:t>Affordability analysis discussed later</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2056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Ranked</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Not a 29148 mandated quality, but…</a:t>
            </a:r>
          </a:p>
          <a:p>
            <a:r>
              <a:rPr lang="en-US" sz="2400"/>
              <a:t>Important for design decisions, tradeoff analysis, budget negotiations and more</a:t>
            </a:r>
          </a:p>
          <a:p>
            <a:r>
              <a:rPr lang="en-US" sz="2400"/>
              <a:t>Rank can be ordinal (1, 2, 3, …) or subjective (high, medium, low), or based on need (mandatory, desirable, optional)</a:t>
            </a:r>
          </a:p>
          <a:p>
            <a:r>
              <a:rPr lang="en-US" sz="2400"/>
              <a:t>Two requirements can hold the same rank</a:t>
            </a:r>
          </a:p>
          <a:p>
            <a:r>
              <a:rPr lang="en-US" sz="2400"/>
              <a:t>Ranking is part of the requirements agreement process</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19</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7386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Working space background">
            <a:extLst>
              <a:ext uri="{FF2B5EF4-FFF2-40B4-BE49-F238E27FC236}">
                <a16:creationId xmlns:a16="http://schemas.microsoft.com/office/drawing/2014/main" id="{D5DD0725-07B3-B455-8C11-DF7F45D0A8DA}"/>
              </a:ext>
            </a:extLst>
          </p:cNvPr>
          <p:cNvPicPr>
            <a:picLocks noChangeAspect="1"/>
          </p:cNvPicPr>
          <p:nvPr/>
        </p:nvPicPr>
        <p:blipFill rotWithShape="1">
          <a:blip r:embed="rId2"/>
          <a:srcRect t="5743" b="9987"/>
          <a:stretch/>
        </p:blipFill>
        <p:spPr>
          <a:xfrm>
            <a:off x="-3047" y="10"/>
            <a:ext cx="12191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DFD4BB-76E5-BEEC-CD97-F1B152341242}"/>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Writing Requirements as Use Cases</a:t>
            </a:r>
          </a:p>
        </p:txBody>
      </p:sp>
    </p:spTree>
    <p:extLst>
      <p:ext uri="{BB962C8B-B14F-4D97-AF65-F5344CB8AC3E}">
        <p14:creationId xmlns:p14="http://schemas.microsoft.com/office/powerpoint/2010/main" val="240833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0296" name="Rectangle 78029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0290" name="Rectangle 2"/>
          <p:cNvSpPr>
            <a:spLocks noGrp="1" noChangeArrowheads="1"/>
          </p:cNvSpPr>
          <p:nvPr>
            <p:ph type="title"/>
          </p:nvPr>
        </p:nvSpPr>
        <p:spPr>
          <a:xfrm>
            <a:off x="838200" y="365125"/>
            <a:ext cx="10515600" cy="1325563"/>
          </a:xfrm>
        </p:spPr>
        <p:txBody>
          <a:bodyPr>
            <a:normAutofit/>
          </a:bodyPr>
          <a:lstStyle/>
          <a:p>
            <a:r>
              <a:rPr lang="en-US" sz="5400"/>
              <a:t>Useful Use Case Guidelines</a:t>
            </a:r>
          </a:p>
        </p:txBody>
      </p:sp>
      <p:sp>
        <p:nvSpPr>
          <p:cNvPr id="78029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0291" name="Rectangle 3"/>
          <p:cNvSpPr>
            <a:spLocks noGrp="1" noChangeArrowheads="1"/>
          </p:cNvSpPr>
          <p:nvPr>
            <p:ph type="body" idx="1"/>
          </p:nvPr>
        </p:nvSpPr>
        <p:spPr>
          <a:xfrm>
            <a:off x="838200" y="1929384"/>
            <a:ext cx="10515600" cy="4251960"/>
          </a:xfrm>
        </p:spPr>
        <p:txBody>
          <a:bodyPr>
            <a:normAutofit/>
          </a:bodyPr>
          <a:lstStyle/>
          <a:p>
            <a:pPr marL="514350" indent="-514350">
              <a:buFont typeface="+mj-lt"/>
              <a:buAutoNum type="arabicPeriod"/>
            </a:pPr>
            <a:r>
              <a:rPr lang="en-US" sz="3000" dirty="0"/>
              <a:t>Complete Single Goal</a:t>
            </a:r>
          </a:p>
          <a:p>
            <a:pPr marL="514350" indent="-514350">
              <a:buFont typeface="+mj-lt"/>
              <a:buAutoNum type="arabicPeriod"/>
            </a:pPr>
            <a:r>
              <a:rPr lang="en-US" sz="3000" dirty="0"/>
              <a:t>Leveled Steps</a:t>
            </a:r>
          </a:p>
          <a:p>
            <a:pPr marL="514350" indent="-514350">
              <a:buFont typeface="+mj-lt"/>
              <a:buAutoNum type="arabicPeriod"/>
            </a:pPr>
            <a:r>
              <a:rPr lang="en-US" sz="3000" dirty="0"/>
              <a:t>Technology Neutral</a:t>
            </a:r>
          </a:p>
          <a:p>
            <a:pPr marL="514350" indent="-514350">
              <a:buFont typeface="+mj-lt"/>
              <a:buAutoNum type="arabicPeriod"/>
            </a:pPr>
            <a:r>
              <a:rPr lang="en-US" sz="3000" dirty="0"/>
              <a:t>Scenario Plus Fragments</a:t>
            </a:r>
          </a:p>
          <a:p>
            <a:pPr marL="514350" indent="-514350">
              <a:buFont typeface="+mj-lt"/>
              <a:buAutoNum type="arabicPeriod"/>
            </a:pPr>
            <a:r>
              <a:rPr lang="en-US" sz="3000" dirty="0"/>
              <a:t>Exhaustive Alternatives</a:t>
            </a:r>
          </a:p>
          <a:p>
            <a:pPr marL="514350" indent="-514350">
              <a:buFont typeface="+mj-lt"/>
              <a:buAutoNum type="arabicPeriod"/>
            </a:pPr>
            <a:r>
              <a:rPr lang="en-US" sz="3000" dirty="0"/>
              <a:t>Common Sub Behavior</a:t>
            </a:r>
          </a:p>
          <a:p>
            <a:pPr marL="514350" indent="-514350">
              <a:buFont typeface="+mj-lt"/>
              <a:buAutoNum type="arabicPeriod"/>
            </a:pPr>
            <a:r>
              <a:rPr lang="en-US" sz="3000" dirty="0"/>
              <a:t>Interrupts As Extensions</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7D89F08D-64F3-4BBE-B8B8-7C5C68143A1F}" type="slidenum">
              <a:rPr kumimoji="0" lang="de-D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21</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mputer code representation.">
            <a:extLst>
              <a:ext uri="{FF2B5EF4-FFF2-40B4-BE49-F238E27FC236}">
                <a16:creationId xmlns:a16="http://schemas.microsoft.com/office/drawing/2014/main" id="{69C41811-48B4-FBCC-4AAC-00EC6503ED2C}"/>
              </a:ext>
            </a:extLst>
          </p:cNvPr>
          <p:cNvPicPr>
            <a:picLocks noChangeAspect="1"/>
          </p:cNvPicPr>
          <p:nvPr/>
        </p:nvPicPr>
        <p:blipFill rotWithShape="1">
          <a:blip r:embed="rId2"/>
          <a:srcRect l="444"/>
          <a:stretch/>
        </p:blipFill>
        <p:spPr>
          <a:xfrm>
            <a:off x="-3047" y="10"/>
            <a:ext cx="12191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AB709B-3E69-2D66-3584-420705BF326E}"/>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Software Design</a:t>
            </a:r>
          </a:p>
        </p:txBody>
      </p:sp>
    </p:spTree>
    <p:extLst>
      <p:ext uri="{BB962C8B-B14F-4D97-AF65-F5344CB8AC3E}">
        <p14:creationId xmlns:p14="http://schemas.microsoft.com/office/powerpoint/2010/main" val="305038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CE25BF-CD75-14F8-F705-214E5399899D}"/>
              </a:ext>
            </a:extLst>
          </p:cNvPr>
          <p:cNvSpPr>
            <a:spLocks noGrp="1"/>
          </p:cNvSpPr>
          <p:nvPr>
            <p:ph type="title"/>
          </p:nvPr>
        </p:nvSpPr>
        <p:spPr>
          <a:xfrm>
            <a:off x="838201" y="365125"/>
            <a:ext cx="5251316" cy="1807305"/>
          </a:xfrm>
        </p:spPr>
        <p:txBody>
          <a:bodyPr>
            <a:normAutofit/>
          </a:bodyPr>
          <a:lstStyle/>
          <a:p>
            <a:r>
              <a:rPr lang="en-US"/>
              <a:t>Object Oriented Design </a:t>
            </a:r>
          </a:p>
        </p:txBody>
      </p:sp>
      <p:sp>
        <p:nvSpPr>
          <p:cNvPr id="3" name="Content Placeholder 2">
            <a:extLst>
              <a:ext uri="{FF2B5EF4-FFF2-40B4-BE49-F238E27FC236}">
                <a16:creationId xmlns:a16="http://schemas.microsoft.com/office/drawing/2014/main" id="{3FFE55D1-5513-5763-43AB-97CB017EE8A2}"/>
              </a:ext>
            </a:extLst>
          </p:cNvPr>
          <p:cNvSpPr>
            <a:spLocks noGrp="1"/>
          </p:cNvSpPr>
          <p:nvPr>
            <p:ph idx="1"/>
          </p:nvPr>
        </p:nvSpPr>
        <p:spPr>
          <a:xfrm>
            <a:off x="838200" y="2333297"/>
            <a:ext cx="4619621" cy="3843666"/>
          </a:xfrm>
        </p:spPr>
        <p:txBody>
          <a:bodyPr>
            <a:noAutofit/>
          </a:bodyPr>
          <a:lstStyle/>
          <a:p>
            <a:pPr marL="0" indent="0">
              <a:buNone/>
            </a:pPr>
            <a:r>
              <a:rPr lang="en-US" sz="4000" dirty="0"/>
              <a:t>Use Cases </a:t>
            </a:r>
            <a:r>
              <a:rPr lang="en-US" sz="4000" dirty="0">
                <a:sym typeface="Wingdings" panose="05000000000000000000" pitchFamily="2" charset="2"/>
              </a:rPr>
              <a:t> System Sequence Diagrams  Domain Model  Operation Contract  Interaction Diagram  Class Diagram</a:t>
            </a:r>
            <a:endParaRPr lang="en-US" sz="4000" dirty="0"/>
          </a:p>
        </p:txBody>
      </p:sp>
      <p:pic>
        <p:nvPicPr>
          <p:cNvPr id="5" name="Picture 4" descr="Person writing on a notepad">
            <a:extLst>
              <a:ext uri="{FF2B5EF4-FFF2-40B4-BE49-F238E27FC236}">
                <a16:creationId xmlns:a16="http://schemas.microsoft.com/office/drawing/2014/main" id="{EE6D3B46-075D-07A4-CBE7-A528756C5AF3}"/>
              </a:ext>
            </a:extLst>
          </p:cNvPr>
          <p:cNvPicPr>
            <a:picLocks noChangeAspect="1"/>
          </p:cNvPicPr>
          <p:nvPr/>
        </p:nvPicPr>
        <p:blipFill rotWithShape="1">
          <a:blip r:embed="rId2"/>
          <a:srcRect l="19240" r="11855"/>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480959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CBEA01E-1DAD-7EBA-3B92-751ABA0E2A1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a:solidFill>
                  <a:srgbClr val="FFFFFF"/>
                </a:solidFill>
                <a:latin typeface="+mj-lt"/>
                <a:ea typeface="+mj-ea"/>
                <a:cs typeface="+mj-cs"/>
              </a:rPr>
              <a:t>Use Case Example: Withdraw from ATM</a:t>
            </a:r>
          </a:p>
        </p:txBody>
      </p:sp>
      <p:sp>
        <p:nvSpPr>
          <p:cNvPr id="5" name="TextBox 4">
            <a:extLst>
              <a:ext uri="{FF2B5EF4-FFF2-40B4-BE49-F238E27FC236}">
                <a16:creationId xmlns:a16="http://schemas.microsoft.com/office/drawing/2014/main" id="{A5277166-18C9-7409-159C-9F74BBA68E2F}"/>
              </a:ext>
            </a:extLst>
          </p:cNvPr>
          <p:cNvSpPr txBox="1"/>
          <p:nvPr/>
        </p:nvSpPr>
        <p:spPr>
          <a:xfrm>
            <a:off x="329784" y="1622746"/>
            <a:ext cx="11542425" cy="5122828"/>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3200" b="1" i="0" u="none" strike="noStrike" kern="1200" cap="none" spc="0" normalizeH="0" baseline="0" noProof="0" dirty="0">
                <a:ln>
                  <a:noFill/>
                </a:ln>
                <a:solidFill>
                  <a:srgbClr val="ED7D31"/>
                </a:solidFill>
                <a:effectLst/>
                <a:uLnTx/>
                <a:uFillTx/>
                <a:latin typeface="Calibri" panose="020F0502020204030204"/>
                <a:ea typeface="+mn-ea"/>
                <a:cs typeface="+mn-cs"/>
              </a:rPr>
              <a:t>Scenario 1 (Main Success Scenario): Standard Withdrawal</a:t>
            </a:r>
            <a:endParaRPr kumimoji="0" lang="en-US" sz="3200" b="0" i="0" u="none" strike="noStrike" kern="1200" cap="none" spc="0" normalizeH="0" baseline="0" noProof="0" dirty="0">
              <a:ln>
                <a:noFill/>
              </a:ln>
              <a:solidFill>
                <a:srgbClr val="ED7D31"/>
              </a:solidFill>
              <a:effectLst/>
              <a:uLnTx/>
              <a:uFillTx/>
              <a:latin typeface="Calibri" panose="020F0502020204030204"/>
              <a:ea typeface="+mn-ea"/>
              <a:cs typeface="+mn-cs"/>
            </a:endParaRPr>
          </a:p>
          <a:p>
            <a:pPr marL="228600" marR="0" lvl="0" indent="-45720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User inserts their ATM card into the machine.</a:t>
            </a:r>
          </a:p>
          <a:p>
            <a:pPr marL="228600" marR="0" lvl="0" indent="-45720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ATM prompts the user to enter their PIN.</a:t>
            </a:r>
          </a:p>
          <a:p>
            <a:pPr marL="228600" marR="0" lvl="0" indent="-45720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User enters the correct PIN.</a:t>
            </a:r>
          </a:p>
          <a:p>
            <a:pPr marL="228600" marR="0" lvl="0" indent="-45720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ATM displays the main menu, and the user selects "Withdrawal" option.</a:t>
            </a:r>
          </a:p>
          <a:p>
            <a:pPr marL="228600" marR="0" lvl="0" indent="-45720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User specifies the amount to withdraw.</a:t>
            </a:r>
          </a:p>
          <a:p>
            <a:pPr marL="228600" marR="0" lvl="0" indent="-45720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ATM checks the account balance and ensures sufficient funds are available.</a:t>
            </a:r>
          </a:p>
          <a:p>
            <a:pPr marL="228600" marR="0" lvl="0" indent="-45720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If funds are available, ATM dispenses the requested amount in cash.</a:t>
            </a:r>
          </a:p>
          <a:p>
            <a:pPr marL="228600" marR="0" lvl="0" indent="-45720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ATM updates the account balance and prints a receipt.</a:t>
            </a:r>
          </a:p>
          <a:p>
            <a:pPr marL="228600" marR="0" lvl="0" indent="-45720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User retrieves the cash and the receipt.</a:t>
            </a:r>
          </a:p>
        </p:txBody>
      </p:sp>
    </p:spTree>
    <p:extLst>
      <p:ext uri="{BB962C8B-B14F-4D97-AF65-F5344CB8AC3E}">
        <p14:creationId xmlns:p14="http://schemas.microsoft.com/office/powerpoint/2010/main" val="2752498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3432" name="Rectangle 74343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3426" name="Rectangle 2"/>
          <p:cNvSpPr>
            <a:spLocks noGrp="1" noChangeArrowheads="1"/>
          </p:cNvSpPr>
          <p:nvPr>
            <p:ph type="title"/>
          </p:nvPr>
        </p:nvSpPr>
        <p:spPr>
          <a:xfrm>
            <a:off x="556532" y="643467"/>
            <a:ext cx="11210925" cy="744836"/>
          </a:xfrm>
        </p:spPr>
        <p:txBody>
          <a:bodyPr vert="horz" lIns="91440" tIns="45720" rIns="91440" bIns="45720" rtlCol="0" anchor="ctr">
            <a:normAutofit/>
          </a:bodyPr>
          <a:lstStyle/>
          <a:p>
            <a:pPr algn="ctr"/>
            <a:r>
              <a:rPr lang="en-US" altLang="en-US" sz="3200" kern="1200" dirty="0">
                <a:solidFill>
                  <a:schemeClr val="bg1"/>
                </a:solidFill>
                <a:latin typeface="+mj-lt"/>
                <a:ea typeface="+mj-ea"/>
                <a:cs typeface="+mj-cs"/>
              </a:rPr>
              <a:t>SSD Example: Register for Courses</a:t>
            </a:r>
          </a:p>
        </p:txBody>
      </p:sp>
      <p:pic>
        <p:nvPicPr>
          <p:cNvPr id="743427" name="Picture 3"/>
          <p:cNvPicPr>
            <a:picLocks noGrp="1" noChangeAspect="1" noChangeArrowheads="1"/>
          </p:cNvPicPr>
          <p:nvPr>
            <p:ph idx="1"/>
          </p:nvPr>
        </p:nvPicPr>
        <p:blipFill>
          <a:blip r:embed="rId3"/>
          <a:stretch>
            <a:fillRect/>
          </a:stretch>
        </p:blipFill>
        <p:spPr>
          <a:xfrm>
            <a:off x="2517977" y="1675227"/>
            <a:ext cx="7156045" cy="4394199"/>
          </a:xfrm>
          <a:prstGeom prst="rect">
            <a:avLst/>
          </a:prstGeom>
          <a:noFill/>
        </p:spPr>
      </p:pic>
      <p:sp>
        <p:nvSpPr>
          <p:cNvPr id="4" name="Slide Number Placeholder 3"/>
          <p:cNvSpPr>
            <a:spLocks noGrp="1"/>
          </p:cNvSpPr>
          <p:nvPr>
            <p:ph type="sldNum" sz="quarter" idx="10"/>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77E5FAB-3742-4317-8ACA-13163C519821}"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3AA347A-52EA-B9EA-7640-49A07BCC6070}"/>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dirty="0">
                <a:solidFill>
                  <a:srgbClr val="FFFFFF"/>
                </a:solidFill>
                <a:latin typeface="+mj-lt"/>
                <a:ea typeface="+mj-ea"/>
                <a:cs typeface="+mj-cs"/>
              </a:rPr>
              <a:t>	SSD EXAMPLE</a:t>
            </a:r>
          </a:p>
        </p:txBody>
      </p:sp>
      <p:pic>
        <p:nvPicPr>
          <p:cNvPr id="5" name="Content Placeholder 4" descr="A diagram of a cashier&#10;&#10;Description automatically generated">
            <a:extLst>
              <a:ext uri="{FF2B5EF4-FFF2-40B4-BE49-F238E27FC236}">
                <a16:creationId xmlns:a16="http://schemas.microsoft.com/office/drawing/2014/main" id="{F5603E30-F542-B80B-5C1A-0AF90B999362}"/>
              </a:ext>
            </a:extLst>
          </p:cNvPr>
          <p:cNvPicPr>
            <a:picLocks noGrp="1" noChangeAspect="1"/>
          </p:cNvPicPr>
          <p:nvPr>
            <p:ph idx="1"/>
          </p:nvPr>
        </p:nvPicPr>
        <p:blipFill>
          <a:blip r:embed="rId2"/>
          <a:stretch>
            <a:fillRect/>
          </a:stretch>
        </p:blipFill>
        <p:spPr>
          <a:xfrm>
            <a:off x="4777316" y="808790"/>
            <a:ext cx="6780700" cy="5238090"/>
          </a:xfrm>
          <a:prstGeom prst="rect">
            <a:avLst/>
          </a:prstGeom>
        </p:spPr>
      </p:pic>
    </p:spTree>
    <p:extLst>
      <p:ext uri="{BB962C8B-B14F-4D97-AF65-F5344CB8AC3E}">
        <p14:creationId xmlns:p14="http://schemas.microsoft.com/office/powerpoint/2010/main" val="3732912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0" name="Rectangle 129">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FCFBE33-633C-DCE4-463A-2024455365BB}"/>
              </a:ext>
            </a:extLst>
          </p:cNvPr>
          <p:cNvSpPr>
            <a:spLocks noGrp="1"/>
          </p:cNvSpPr>
          <p:nvPr>
            <p:ph type="title"/>
          </p:nvPr>
        </p:nvSpPr>
        <p:spPr>
          <a:xfrm>
            <a:off x="841248" y="334644"/>
            <a:ext cx="10509504" cy="1076914"/>
          </a:xfrm>
        </p:spPr>
        <p:txBody>
          <a:bodyPr anchor="ctr">
            <a:normAutofit/>
          </a:bodyPr>
          <a:lstStyle/>
          <a:p>
            <a:r>
              <a:rPr lang="en-US" sz="4000" dirty="0"/>
              <a:t>Hoes does a Domain Model Looks Like?</a:t>
            </a:r>
          </a:p>
        </p:txBody>
      </p:sp>
      <p:sp>
        <p:nvSpPr>
          <p:cNvPr id="131" name="Rectangle 130">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Rectangle 131">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 name="Group 4">
            <a:extLst>
              <a:ext uri="{FF2B5EF4-FFF2-40B4-BE49-F238E27FC236}">
                <a16:creationId xmlns:a16="http://schemas.microsoft.com/office/drawing/2014/main" id="{21C97506-756E-C972-37EE-227975771C54}"/>
              </a:ext>
            </a:extLst>
          </p:cNvPr>
          <p:cNvGrpSpPr>
            <a:grpSpLocks noChangeAspect="1"/>
          </p:cNvGrpSpPr>
          <p:nvPr/>
        </p:nvGrpSpPr>
        <p:grpSpPr bwMode="auto">
          <a:xfrm>
            <a:off x="3558578" y="1737360"/>
            <a:ext cx="6889565" cy="4535424"/>
            <a:chOff x="863" y="962"/>
            <a:chExt cx="3697" cy="3310"/>
          </a:xfrm>
        </p:grpSpPr>
        <p:sp>
          <p:nvSpPr>
            <p:cNvPr id="5" name="AutoShape 3">
              <a:extLst>
                <a:ext uri="{FF2B5EF4-FFF2-40B4-BE49-F238E27FC236}">
                  <a16:creationId xmlns:a16="http://schemas.microsoft.com/office/drawing/2014/main" id="{720670F7-5797-8495-D30B-2AC7B75E676F}"/>
                </a:ext>
              </a:extLst>
            </p:cNvPr>
            <p:cNvSpPr>
              <a:spLocks noChangeAspect="1" noChangeArrowheads="1" noTextEdit="1"/>
            </p:cNvSpPr>
            <p:nvPr/>
          </p:nvSpPr>
          <p:spPr bwMode="auto">
            <a:xfrm>
              <a:off x="863" y="962"/>
              <a:ext cx="3697" cy="33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E5A67905-F8FA-DE70-7BBB-6E2957840251}"/>
                </a:ext>
              </a:extLst>
            </p:cNvPr>
            <p:cNvSpPr>
              <a:spLocks noChangeArrowheads="1"/>
            </p:cNvSpPr>
            <p:nvPr/>
          </p:nvSpPr>
          <p:spPr bwMode="auto">
            <a:xfrm>
              <a:off x="2553"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9AAF07B8-30F0-39B8-94FF-8DA53FB97242}"/>
                </a:ext>
              </a:extLst>
            </p:cNvPr>
            <p:cNvSpPr>
              <a:spLocks noChangeArrowheads="1"/>
            </p:cNvSpPr>
            <p:nvPr/>
          </p:nvSpPr>
          <p:spPr bwMode="auto">
            <a:xfrm>
              <a:off x="2706" y="3055"/>
              <a:ext cx="26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register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 name="Rectangle 7">
              <a:extLst>
                <a:ext uri="{FF2B5EF4-FFF2-40B4-BE49-F238E27FC236}">
                  <a16:creationId xmlns:a16="http://schemas.microsoft.com/office/drawing/2014/main" id="{B058123C-4AB1-3260-C796-CF85677C71B1}"/>
                </a:ext>
              </a:extLst>
            </p:cNvPr>
            <p:cNvSpPr>
              <a:spLocks noChangeArrowheads="1"/>
            </p:cNvSpPr>
            <p:nvPr/>
          </p:nvSpPr>
          <p:spPr bwMode="auto">
            <a:xfrm>
              <a:off x="2553"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95177BB-4521-CD1E-CBBA-3865A6F3467B}"/>
                </a:ext>
              </a:extLst>
            </p:cNvPr>
            <p:cNvSpPr>
              <a:spLocks noChangeArrowheads="1"/>
            </p:cNvSpPr>
            <p:nvPr/>
          </p:nvSpPr>
          <p:spPr bwMode="auto">
            <a:xfrm>
              <a:off x="3703" y="2268"/>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2146A6E8-21BB-8BE9-92EE-AB54FB6913C0}"/>
                </a:ext>
              </a:extLst>
            </p:cNvPr>
            <p:cNvSpPr>
              <a:spLocks noChangeArrowheads="1"/>
            </p:cNvSpPr>
            <p:nvPr/>
          </p:nvSpPr>
          <p:spPr bwMode="auto">
            <a:xfrm>
              <a:off x="3930" y="2309"/>
              <a:ext cx="15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 name="Rectangle 10">
              <a:extLst>
                <a:ext uri="{FF2B5EF4-FFF2-40B4-BE49-F238E27FC236}">
                  <a16:creationId xmlns:a16="http://schemas.microsoft.com/office/drawing/2014/main" id="{EEB19EBB-6B35-47DE-ADDF-DE6DCD20DDF0}"/>
                </a:ext>
              </a:extLst>
            </p:cNvPr>
            <p:cNvSpPr>
              <a:spLocks noChangeArrowheads="1"/>
            </p:cNvSpPr>
            <p:nvPr/>
          </p:nvSpPr>
          <p:spPr bwMode="auto">
            <a:xfrm>
              <a:off x="3703" y="2445"/>
              <a:ext cx="609"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611FACC-AB90-10A6-8C4B-15CA70EA46A4}"/>
                </a:ext>
              </a:extLst>
            </p:cNvPr>
            <p:cNvSpPr>
              <a:spLocks noChangeArrowheads="1"/>
            </p:cNvSpPr>
            <p:nvPr/>
          </p:nvSpPr>
          <p:spPr bwMode="auto">
            <a:xfrm>
              <a:off x="2553" y="2222"/>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A96E249-ECCC-1D2D-4F00-11CED89DEEFE}"/>
                </a:ext>
              </a:extLst>
            </p:cNvPr>
            <p:cNvSpPr>
              <a:spLocks noChangeArrowheads="1"/>
            </p:cNvSpPr>
            <p:nvPr/>
          </p:nvSpPr>
          <p:spPr bwMode="auto">
            <a:xfrm>
              <a:off x="2720" y="2263"/>
              <a:ext cx="19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Store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4" name="Rectangle 13">
              <a:extLst>
                <a:ext uri="{FF2B5EF4-FFF2-40B4-BE49-F238E27FC236}">
                  <a16:creationId xmlns:a16="http://schemas.microsoft.com/office/drawing/2014/main" id="{83053282-5A7F-3C5C-1DC5-6856E0F38A01}"/>
                </a:ext>
              </a:extLst>
            </p:cNvPr>
            <p:cNvSpPr>
              <a:spLocks noChangeArrowheads="1"/>
            </p:cNvSpPr>
            <p:nvPr/>
          </p:nvSpPr>
          <p:spPr bwMode="auto">
            <a:xfrm>
              <a:off x="2553" y="2399"/>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A1572C4D-3C6B-46BE-9F28-CA3BE6990C13}"/>
                </a:ext>
              </a:extLst>
            </p:cNvPr>
            <p:cNvSpPr>
              <a:spLocks noChangeArrowheads="1"/>
            </p:cNvSpPr>
            <p:nvPr/>
          </p:nvSpPr>
          <p:spPr bwMode="auto">
            <a:xfrm>
              <a:off x="2599" y="2439"/>
              <a:ext cx="28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address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6" name="Rectangle 15">
              <a:extLst>
                <a:ext uri="{FF2B5EF4-FFF2-40B4-BE49-F238E27FC236}">
                  <a16:creationId xmlns:a16="http://schemas.microsoft.com/office/drawing/2014/main" id="{DE28DB24-A79B-D6A9-D2BC-2A6C05D7BD28}"/>
                </a:ext>
              </a:extLst>
            </p:cNvPr>
            <p:cNvSpPr>
              <a:spLocks noChangeArrowheads="1"/>
            </p:cNvSpPr>
            <p:nvPr/>
          </p:nvSpPr>
          <p:spPr bwMode="auto">
            <a:xfrm>
              <a:off x="2599" y="2534"/>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name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7" name="Rectangle 16">
              <a:extLst>
                <a:ext uri="{FF2B5EF4-FFF2-40B4-BE49-F238E27FC236}">
                  <a16:creationId xmlns:a16="http://schemas.microsoft.com/office/drawing/2014/main" id="{A5B89E7D-D776-7A00-8AB6-AB7CC50BF91F}"/>
                </a:ext>
              </a:extLst>
            </p:cNvPr>
            <p:cNvSpPr>
              <a:spLocks noChangeArrowheads="1"/>
            </p:cNvSpPr>
            <p:nvPr/>
          </p:nvSpPr>
          <p:spPr bwMode="auto">
            <a:xfrm>
              <a:off x="1319" y="3014"/>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8BD7759C-0070-8967-5514-D16ABBB54527}"/>
                </a:ext>
              </a:extLst>
            </p:cNvPr>
            <p:cNvSpPr>
              <a:spLocks noChangeArrowheads="1"/>
            </p:cNvSpPr>
            <p:nvPr/>
          </p:nvSpPr>
          <p:spPr bwMode="auto">
            <a:xfrm>
              <a:off x="1500" y="3055"/>
              <a:ext cx="16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Sale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9" name="Rectangle 18">
              <a:extLst>
                <a:ext uri="{FF2B5EF4-FFF2-40B4-BE49-F238E27FC236}">
                  <a16:creationId xmlns:a16="http://schemas.microsoft.com/office/drawing/2014/main" id="{6CBE1354-F097-CB1E-CAC3-8BB4717C5FDA}"/>
                </a:ext>
              </a:extLst>
            </p:cNvPr>
            <p:cNvSpPr>
              <a:spLocks noChangeArrowheads="1"/>
            </p:cNvSpPr>
            <p:nvPr/>
          </p:nvSpPr>
          <p:spPr bwMode="auto">
            <a:xfrm>
              <a:off x="1319" y="3191"/>
              <a:ext cx="521"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32819031-2847-434D-9693-E6A6B1CFEC9A}"/>
                </a:ext>
              </a:extLst>
            </p:cNvPr>
            <p:cNvSpPr>
              <a:spLocks noChangeArrowheads="1"/>
            </p:cNvSpPr>
            <p:nvPr/>
          </p:nvSpPr>
          <p:spPr bwMode="auto">
            <a:xfrm>
              <a:off x="1365" y="3231"/>
              <a:ext cx="15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date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 name="Rectangle 20">
              <a:extLst>
                <a:ext uri="{FF2B5EF4-FFF2-40B4-BE49-F238E27FC236}">
                  <a16:creationId xmlns:a16="http://schemas.microsoft.com/office/drawing/2014/main" id="{6905FD80-5A07-34BA-3675-07566C675A77}"/>
                </a:ext>
              </a:extLst>
            </p:cNvPr>
            <p:cNvSpPr>
              <a:spLocks noChangeArrowheads="1"/>
            </p:cNvSpPr>
            <p:nvPr/>
          </p:nvSpPr>
          <p:spPr bwMode="auto">
            <a:xfrm>
              <a:off x="1365" y="3420"/>
              <a:ext cx="152"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time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2" name="Rectangle 21">
              <a:extLst>
                <a:ext uri="{FF2B5EF4-FFF2-40B4-BE49-F238E27FC236}">
                  <a16:creationId xmlns:a16="http://schemas.microsoft.com/office/drawing/2014/main" id="{8A13DA31-8149-5D9D-F67E-959A5BDCDEAD}"/>
                </a:ext>
              </a:extLst>
            </p:cNvPr>
            <p:cNvSpPr>
              <a:spLocks noChangeArrowheads="1"/>
            </p:cNvSpPr>
            <p:nvPr/>
          </p:nvSpPr>
          <p:spPr bwMode="auto">
            <a:xfrm>
              <a:off x="876"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789619DC-CDD6-6A7C-3EB8-488990B7030A}"/>
                </a:ext>
              </a:extLst>
            </p:cNvPr>
            <p:cNvSpPr>
              <a:spLocks noChangeArrowheads="1"/>
            </p:cNvSpPr>
            <p:nvPr/>
          </p:nvSpPr>
          <p:spPr bwMode="auto">
            <a:xfrm>
              <a:off x="980" y="3950"/>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Payment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 name="Rectangle 23">
              <a:extLst>
                <a:ext uri="{FF2B5EF4-FFF2-40B4-BE49-F238E27FC236}">
                  <a16:creationId xmlns:a16="http://schemas.microsoft.com/office/drawing/2014/main" id="{043D0BAB-FA76-5367-9BF7-EB50C5F73202}"/>
                </a:ext>
              </a:extLst>
            </p:cNvPr>
            <p:cNvSpPr>
              <a:spLocks noChangeArrowheads="1"/>
            </p:cNvSpPr>
            <p:nvPr/>
          </p:nvSpPr>
          <p:spPr bwMode="auto">
            <a:xfrm>
              <a:off x="876"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EB70EC30-31B2-33DF-DD9E-7DC0CD1E2D4A}"/>
                </a:ext>
              </a:extLst>
            </p:cNvPr>
            <p:cNvSpPr>
              <a:spLocks noChangeArrowheads="1"/>
            </p:cNvSpPr>
            <p:nvPr/>
          </p:nvSpPr>
          <p:spPr bwMode="auto">
            <a:xfrm>
              <a:off x="922" y="4127"/>
              <a:ext cx="2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amount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 name="Rectangle 25">
              <a:extLst>
                <a:ext uri="{FF2B5EF4-FFF2-40B4-BE49-F238E27FC236}">
                  <a16:creationId xmlns:a16="http://schemas.microsoft.com/office/drawing/2014/main" id="{6385508D-B172-9DDE-B7B9-0460DE50E2C0}"/>
                </a:ext>
              </a:extLst>
            </p:cNvPr>
            <p:cNvSpPr>
              <a:spLocks noChangeArrowheads="1"/>
            </p:cNvSpPr>
            <p:nvPr/>
          </p:nvSpPr>
          <p:spPr bwMode="auto">
            <a:xfrm>
              <a:off x="1319" y="2134"/>
              <a:ext cx="521"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B9586504-044F-3FB2-CCC0-8F731415127F}"/>
                </a:ext>
              </a:extLst>
            </p:cNvPr>
            <p:cNvSpPr>
              <a:spLocks noChangeArrowheads="1"/>
            </p:cNvSpPr>
            <p:nvPr/>
          </p:nvSpPr>
          <p:spPr bwMode="auto">
            <a:xfrm>
              <a:off x="1480" y="2173"/>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Sales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8" name="Rectangle 27">
              <a:extLst>
                <a:ext uri="{FF2B5EF4-FFF2-40B4-BE49-F238E27FC236}">
                  <a16:creationId xmlns:a16="http://schemas.microsoft.com/office/drawing/2014/main" id="{9CBCA06C-0585-73CD-2C33-637C02118CF5}"/>
                </a:ext>
              </a:extLst>
            </p:cNvPr>
            <p:cNvSpPr>
              <a:spLocks noChangeArrowheads="1"/>
            </p:cNvSpPr>
            <p:nvPr/>
          </p:nvSpPr>
          <p:spPr bwMode="auto">
            <a:xfrm>
              <a:off x="1426" y="2268"/>
              <a:ext cx="30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LineItem</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9" name="Rectangle 28">
              <a:extLst>
                <a:ext uri="{FF2B5EF4-FFF2-40B4-BE49-F238E27FC236}">
                  <a16:creationId xmlns:a16="http://schemas.microsoft.com/office/drawing/2014/main" id="{3E67344A-44BE-A031-F197-C61FA14A916B}"/>
                </a:ext>
              </a:extLst>
            </p:cNvPr>
            <p:cNvSpPr>
              <a:spLocks noChangeArrowheads="1"/>
            </p:cNvSpPr>
            <p:nvPr/>
          </p:nvSpPr>
          <p:spPr bwMode="auto">
            <a:xfrm>
              <a:off x="1319" y="2401"/>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640FC486-9188-17C0-AA34-8DAD5380C62F}"/>
                </a:ext>
              </a:extLst>
            </p:cNvPr>
            <p:cNvSpPr>
              <a:spLocks noChangeArrowheads="1"/>
            </p:cNvSpPr>
            <p:nvPr/>
          </p:nvSpPr>
          <p:spPr bwMode="auto">
            <a:xfrm>
              <a:off x="1365" y="2443"/>
              <a:ext cx="28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quantity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31" name="Rectangle 30">
              <a:extLst>
                <a:ext uri="{FF2B5EF4-FFF2-40B4-BE49-F238E27FC236}">
                  <a16:creationId xmlns:a16="http://schemas.microsoft.com/office/drawing/2014/main" id="{57F20A28-E954-D16A-AB4B-F2D61DB28E43}"/>
                </a:ext>
              </a:extLst>
            </p:cNvPr>
            <p:cNvSpPr>
              <a:spLocks noChangeArrowheads="1"/>
            </p:cNvSpPr>
            <p:nvPr/>
          </p:nvSpPr>
          <p:spPr bwMode="auto">
            <a:xfrm>
              <a:off x="3363" y="3908"/>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F10F652-4554-1AAC-C0B3-7EACC181CC59}"/>
                </a:ext>
              </a:extLst>
            </p:cNvPr>
            <p:cNvSpPr>
              <a:spLocks noChangeArrowheads="1"/>
            </p:cNvSpPr>
            <p:nvPr/>
          </p:nvSpPr>
          <p:spPr bwMode="auto">
            <a:xfrm>
              <a:off x="3487" y="3950"/>
              <a:ext cx="27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Cashier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33" name="Rectangle 32">
              <a:extLst>
                <a:ext uri="{FF2B5EF4-FFF2-40B4-BE49-F238E27FC236}">
                  <a16:creationId xmlns:a16="http://schemas.microsoft.com/office/drawing/2014/main" id="{6960D2F1-E2F5-2DA8-FB97-6AD3A9EBC1E9}"/>
                </a:ext>
              </a:extLst>
            </p:cNvPr>
            <p:cNvSpPr>
              <a:spLocks noChangeArrowheads="1"/>
            </p:cNvSpPr>
            <p:nvPr/>
          </p:nvSpPr>
          <p:spPr bwMode="auto">
            <a:xfrm>
              <a:off x="3363" y="4086"/>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BB4BA7DD-9496-276F-4022-6202246C4470}"/>
                </a:ext>
              </a:extLst>
            </p:cNvPr>
            <p:cNvSpPr>
              <a:spLocks noChangeArrowheads="1"/>
            </p:cNvSpPr>
            <p:nvPr/>
          </p:nvSpPr>
          <p:spPr bwMode="auto">
            <a:xfrm>
              <a:off x="1774" y="3908"/>
              <a:ext cx="521"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4619AA75-C262-4B63-4AF3-5F1F7758BE58}"/>
                </a:ext>
              </a:extLst>
            </p:cNvPr>
            <p:cNvSpPr>
              <a:spLocks noChangeArrowheads="1"/>
            </p:cNvSpPr>
            <p:nvPr/>
          </p:nvSpPr>
          <p:spPr bwMode="auto">
            <a:xfrm>
              <a:off x="1862" y="3950"/>
              <a:ext cx="34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Customer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36" name="Rectangle 35">
              <a:extLst>
                <a:ext uri="{FF2B5EF4-FFF2-40B4-BE49-F238E27FC236}">
                  <a16:creationId xmlns:a16="http://schemas.microsoft.com/office/drawing/2014/main" id="{7FB68569-D74C-CA30-E954-EEE64006FCBD}"/>
                </a:ext>
              </a:extLst>
            </p:cNvPr>
            <p:cNvSpPr>
              <a:spLocks noChangeArrowheads="1"/>
            </p:cNvSpPr>
            <p:nvPr/>
          </p:nvSpPr>
          <p:spPr bwMode="auto">
            <a:xfrm>
              <a:off x="1774" y="408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231440E3-B36B-8464-1AAA-C217F31DD00B}"/>
                </a:ext>
              </a:extLst>
            </p:cNvPr>
            <p:cNvSpPr>
              <a:spLocks noChangeArrowheads="1"/>
            </p:cNvSpPr>
            <p:nvPr/>
          </p:nvSpPr>
          <p:spPr bwMode="auto">
            <a:xfrm>
              <a:off x="3706" y="3107"/>
              <a:ext cx="520"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045373E9-F59D-867D-9187-63AA5FA68F14}"/>
                </a:ext>
              </a:extLst>
            </p:cNvPr>
            <p:cNvSpPr>
              <a:spLocks noChangeArrowheads="1"/>
            </p:cNvSpPr>
            <p:nvPr/>
          </p:nvSpPr>
          <p:spPr bwMode="auto">
            <a:xfrm>
              <a:off x="3811" y="3148"/>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Manager</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39" name="Rectangle 38">
              <a:extLst>
                <a:ext uri="{FF2B5EF4-FFF2-40B4-BE49-F238E27FC236}">
                  <a16:creationId xmlns:a16="http://schemas.microsoft.com/office/drawing/2014/main" id="{1DE14DDA-3585-D8FD-2210-E1B9EADA78B0}"/>
                </a:ext>
              </a:extLst>
            </p:cNvPr>
            <p:cNvSpPr>
              <a:spLocks noChangeArrowheads="1"/>
            </p:cNvSpPr>
            <p:nvPr/>
          </p:nvSpPr>
          <p:spPr bwMode="auto">
            <a:xfrm>
              <a:off x="3706" y="3284"/>
              <a:ext cx="520" cy="17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9A3FC904-D6F9-7B98-2733-E237FBAAF5AA}"/>
                </a:ext>
              </a:extLst>
            </p:cNvPr>
            <p:cNvSpPr>
              <a:spLocks noChangeArrowheads="1"/>
            </p:cNvSpPr>
            <p:nvPr/>
          </p:nvSpPr>
          <p:spPr bwMode="auto">
            <a:xfrm>
              <a:off x="2553" y="1468"/>
              <a:ext cx="521" cy="268"/>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50D752F0-AC95-2E95-B53B-AD40A95167E1}"/>
                </a:ext>
              </a:extLst>
            </p:cNvPr>
            <p:cNvSpPr>
              <a:spLocks noChangeArrowheads="1"/>
            </p:cNvSpPr>
            <p:nvPr/>
          </p:nvSpPr>
          <p:spPr bwMode="auto">
            <a:xfrm>
              <a:off x="2677" y="1507"/>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2" name="Rectangle 41">
              <a:extLst>
                <a:ext uri="{FF2B5EF4-FFF2-40B4-BE49-F238E27FC236}">
                  <a16:creationId xmlns:a16="http://schemas.microsoft.com/office/drawing/2014/main" id="{84F2991B-AE03-82B2-4870-0500EE87B71A}"/>
                </a:ext>
              </a:extLst>
            </p:cNvPr>
            <p:cNvSpPr>
              <a:spLocks noChangeArrowheads="1"/>
            </p:cNvSpPr>
            <p:nvPr/>
          </p:nvSpPr>
          <p:spPr bwMode="auto">
            <a:xfrm>
              <a:off x="2679" y="1601"/>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Catalog</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3" name="Rectangle 42">
              <a:extLst>
                <a:ext uri="{FF2B5EF4-FFF2-40B4-BE49-F238E27FC236}">
                  <a16:creationId xmlns:a16="http://schemas.microsoft.com/office/drawing/2014/main" id="{A9738B36-650A-F997-EC12-6D714DFAF4DC}"/>
                </a:ext>
              </a:extLst>
            </p:cNvPr>
            <p:cNvSpPr>
              <a:spLocks noChangeArrowheads="1"/>
            </p:cNvSpPr>
            <p:nvPr/>
          </p:nvSpPr>
          <p:spPr bwMode="auto">
            <a:xfrm>
              <a:off x="2553" y="1736"/>
              <a:ext cx="521" cy="17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CE0D3576-5263-5B06-AF01-F7CE96F1C264}"/>
                </a:ext>
              </a:extLst>
            </p:cNvPr>
            <p:cNvSpPr>
              <a:spLocks noChangeArrowheads="1"/>
            </p:cNvSpPr>
            <p:nvPr/>
          </p:nvSpPr>
          <p:spPr bwMode="auto">
            <a:xfrm>
              <a:off x="3700" y="1376"/>
              <a:ext cx="615" cy="267"/>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403AD5AA-93C2-AAEC-5DC2-2D0FC2A6E5A9}"/>
                </a:ext>
              </a:extLst>
            </p:cNvPr>
            <p:cNvSpPr>
              <a:spLocks noChangeArrowheads="1"/>
            </p:cNvSpPr>
            <p:nvPr/>
          </p:nvSpPr>
          <p:spPr bwMode="auto">
            <a:xfrm>
              <a:off x="3870" y="1415"/>
              <a:ext cx="27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Product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6" name="Rectangle 45">
              <a:extLst>
                <a:ext uri="{FF2B5EF4-FFF2-40B4-BE49-F238E27FC236}">
                  <a16:creationId xmlns:a16="http://schemas.microsoft.com/office/drawing/2014/main" id="{AAB6593D-2921-6841-F973-448AFD627F5F}"/>
                </a:ext>
              </a:extLst>
            </p:cNvPr>
            <p:cNvSpPr>
              <a:spLocks noChangeArrowheads="1"/>
            </p:cNvSpPr>
            <p:nvPr/>
          </p:nvSpPr>
          <p:spPr bwMode="auto">
            <a:xfrm>
              <a:off x="3782" y="1509"/>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Specification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7" name="Rectangle 46">
              <a:extLst>
                <a:ext uri="{FF2B5EF4-FFF2-40B4-BE49-F238E27FC236}">
                  <a16:creationId xmlns:a16="http://schemas.microsoft.com/office/drawing/2014/main" id="{7C5AAE86-8CD1-A22A-39D1-BD2CFC56319F}"/>
                </a:ext>
              </a:extLst>
            </p:cNvPr>
            <p:cNvSpPr>
              <a:spLocks noChangeArrowheads="1"/>
            </p:cNvSpPr>
            <p:nvPr/>
          </p:nvSpPr>
          <p:spPr bwMode="auto">
            <a:xfrm>
              <a:off x="3700" y="1643"/>
              <a:ext cx="615" cy="363"/>
            </a:xfrm>
            <a:prstGeom prst="rect">
              <a:avLst/>
            </a:prstGeom>
            <a:solidFill>
              <a:srgbClr val="FFFFFF"/>
            </a:solidFill>
            <a:ln w="2">
              <a:solidFill>
                <a:srgbClr val="336699"/>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8ED10B6D-F98F-C295-4A17-1556BA090CC5}"/>
                </a:ext>
              </a:extLst>
            </p:cNvPr>
            <p:cNvSpPr>
              <a:spLocks noChangeArrowheads="1"/>
            </p:cNvSpPr>
            <p:nvPr/>
          </p:nvSpPr>
          <p:spPr bwMode="auto">
            <a:xfrm>
              <a:off x="3746" y="1683"/>
              <a:ext cx="3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description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9" name="Rectangle 48">
              <a:extLst>
                <a:ext uri="{FF2B5EF4-FFF2-40B4-BE49-F238E27FC236}">
                  <a16:creationId xmlns:a16="http://schemas.microsoft.com/office/drawing/2014/main" id="{3A3FE746-63FE-B747-C4CA-26365EE68C93}"/>
                </a:ext>
              </a:extLst>
            </p:cNvPr>
            <p:cNvSpPr>
              <a:spLocks noChangeArrowheads="1"/>
            </p:cNvSpPr>
            <p:nvPr/>
          </p:nvSpPr>
          <p:spPr bwMode="auto">
            <a:xfrm>
              <a:off x="3746" y="1777"/>
              <a:ext cx="1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price</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0" name="Rectangle 49">
              <a:extLst>
                <a:ext uri="{FF2B5EF4-FFF2-40B4-BE49-F238E27FC236}">
                  <a16:creationId xmlns:a16="http://schemas.microsoft.com/office/drawing/2014/main" id="{ECF009DF-CEF5-8F66-2DA7-71551E2BCD0A}"/>
                </a:ext>
              </a:extLst>
            </p:cNvPr>
            <p:cNvSpPr>
              <a:spLocks noChangeArrowheads="1"/>
            </p:cNvSpPr>
            <p:nvPr/>
          </p:nvSpPr>
          <p:spPr bwMode="auto">
            <a:xfrm>
              <a:off x="3746" y="1872"/>
              <a:ext cx="1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UPC</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1" name="Line 50">
              <a:extLst>
                <a:ext uri="{FF2B5EF4-FFF2-40B4-BE49-F238E27FC236}">
                  <a16:creationId xmlns:a16="http://schemas.microsoft.com/office/drawing/2014/main" id="{E17A34C4-1E74-8F01-4449-1A849B79B723}"/>
                </a:ext>
              </a:extLst>
            </p:cNvPr>
            <p:cNvSpPr>
              <a:spLocks noChangeShapeType="1"/>
            </p:cNvSpPr>
            <p:nvPr/>
          </p:nvSpPr>
          <p:spPr bwMode="auto">
            <a:xfrm flipH="1">
              <a:off x="3074" y="2445"/>
              <a:ext cx="629"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40A3359D-BCE1-52C3-C0EE-6C6A5E21E343}"/>
                </a:ext>
              </a:extLst>
            </p:cNvPr>
            <p:cNvSpPr>
              <a:spLocks noChangeArrowheads="1"/>
            </p:cNvSpPr>
            <p:nvPr/>
          </p:nvSpPr>
          <p:spPr bwMode="auto">
            <a:xfrm>
              <a:off x="3268" y="2358"/>
              <a:ext cx="24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Stocks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3" name="Rectangle 52">
              <a:extLst>
                <a:ext uri="{FF2B5EF4-FFF2-40B4-BE49-F238E27FC236}">
                  <a16:creationId xmlns:a16="http://schemas.microsoft.com/office/drawing/2014/main" id="{C304F60A-0A17-AC50-AD13-998658C98E09}"/>
                </a:ext>
              </a:extLst>
            </p:cNvPr>
            <p:cNvSpPr>
              <a:spLocks noChangeArrowheads="1"/>
            </p:cNvSpPr>
            <p:nvPr/>
          </p:nvSpPr>
          <p:spPr bwMode="auto">
            <a:xfrm>
              <a:off x="3576" y="2451"/>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452"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4" name="Line 53">
              <a:extLst>
                <a:ext uri="{FF2B5EF4-FFF2-40B4-BE49-F238E27FC236}">
                  <a16:creationId xmlns:a16="http://schemas.microsoft.com/office/drawing/2014/main" id="{993E34AC-7979-878F-941D-2D6E38634267}"/>
                </a:ext>
              </a:extLst>
            </p:cNvPr>
            <p:cNvSpPr>
              <a:spLocks noChangeShapeType="1"/>
            </p:cNvSpPr>
            <p:nvPr/>
          </p:nvSpPr>
          <p:spPr bwMode="auto">
            <a:xfrm flipV="1">
              <a:off x="2814" y="2667"/>
              <a:ext cx="1" cy="347"/>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Rectangle 54">
              <a:extLst>
                <a:ext uri="{FF2B5EF4-FFF2-40B4-BE49-F238E27FC236}">
                  <a16:creationId xmlns:a16="http://schemas.microsoft.com/office/drawing/2014/main" id="{63566EEB-7F65-E876-8049-DEAC044EAD1F}"/>
                </a:ext>
              </a:extLst>
            </p:cNvPr>
            <p:cNvSpPr>
              <a:spLocks noChangeArrowheads="1"/>
            </p:cNvSpPr>
            <p:nvPr/>
          </p:nvSpPr>
          <p:spPr bwMode="auto">
            <a:xfrm>
              <a:off x="2925" y="2752"/>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Houses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6" name="Rectangle 55">
              <a:extLst>
                <a:ext uri="{FF2B5EF4-FFF2-40B4-BE49-F238E27FC236}">
                  <a16:creationId xmlns:a16="http://schemas.microsoft.com/office/drawing/2014/main" id="{338546CD-7ED0-3351-1817-1E12286991D2}"/>
                </a:ext>
              </a:extLst>
            </p:cNvPr>
            <p:cNvSpPr>
              <a:spLocks noChangeArrowheads="1"/>
            </p:cNvSpPr>
            <p:nvPr/>
          </p:nvSpPr>
          <p:spPr bwMode="auto">
            <a:xfrm>
              <a:off x="2881" y="2884"/>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7" name="Rectangle 56">
              <a:extLst>
                <a:ext uri="{FF2B5EF4-FFF2-40B4-BE49-F238E27FC236}">
                  <a16:creationId xmlns:a16="http://schemas.microsoft.com/office/drawing/2014/main" id="{1FF9C658-CDE6-B125-86DC-D1B565E6F425}"/>
                </a:ext>
              </a:extLst>
            </p:cNvPr>
            <p:cNvSpPr>
              <a:spLocks noChangeArrowheads="1"/>
            </p:cNvSpPr>
            <p:nvPr/>
          </p:nvSpPr>
          <p:spPr bwMode="auto">
            <a:xfrm>
              <a:off x="2969" y="2868"/>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025"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58" name="Line 57">
              <a:extLst>
                <a:ext uri="{FF2B5EF4-FFF2-40B4-BE49-F238E27FC236}">
                  <a16:creationId xmlns:a16="http://schemas.microsoft.com/office/drawing/2014/main" id="{B47C09A0-1D92-94F8-8DBC-1654B3011786}"/>
                </a:ext>
              </a:extLst>
            </p:cNvPr>
            <p:cNvSpPr>
              <a:spLocks noChangeShapeType="1"/>
            </p:cNvSpPr>
            <p:nvPr/>
          </p:nvSpPr>
          <p:spPr bwMode="auto">
            <a:xfrm>
              <a:off x="2814" y="1913"/>
              <a:ext cx="1" cy="309"/>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25BFD4CF-30DA-30B0-7192-68ABDAC44368}"/>
                </a:ext>
              </a:extLst>
            </p:cNvPr>
            <p:cNvSpPr>
              <a:spLocks noChangeArrowheads="1"/>
            </p:cNvSpPr>
            <p:nvPr/>
          </p:nvSpPr>
          <p:spPr bwMode="auto">
            <a:xfrm>
              <a:off x="2914" y="2010"/>
              <a:ext cx="300"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Used-by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0" name="Rectangle 59">
              <a:extLst>
                <a:ext uri="{FF2B5EF4-FFF2-40B4-BE49-F238E27FC236}">
                  <a16:creationId xmlns:a16="http://schemas.microsoft.com/office/drawing/2014/main" id="{51931C67-503B-CAD4-708D-F67594491439}"/>
                </a:ext>
              </a:extLst>
            </p:cNvPr>
            <p:cNvSpPr>
              <a:spLocks noChangeArrowheads="1"/>
            </p:cNvSpPr>
            <p:nvPr/>
          </p:nvSpPr>
          <p:spPr bwMode="auto">
            <a:xfrm>
              <a:off x="2916" y="2095"/>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452"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1" name="Line 60">
              <a:extLst>
                <a:ext uri="{FF2B5EF4-FFF2-40B4-BE49-F238E27FC236}">
                  <a16:creationId xmlns:a16="http://schemas.microsoft.com/office/drawing/2014/main" id="{76CEBC2F-2BE1-2418-CF6D-CCFD27A96168}"/>
                </a:ext>
              </a:extLst>
            </p:cNvPr>
            <p:cNvSpPr>
              <a:spLocks noChangeShapeType="1"/>
            </p:cNvSpPr>
            <p:nvPr/>
          </p:nvSpPr>
          <p:spPr bwMode="auto">
            <a:xfrm flipH="1">
              <a:off x="3074" y="1690"/>
              <a:ext cx="626"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920D14F4-DDBD-8389-EA60-288146473DF6}"/>
                </a:ext>
              </a:extLst>
            </p:cNvPr>
            <p:cNvSpPr>
              <a:spLocks noChangeArrowheads="1"/>
            </p:cNvSpPr>
            <p:nvPr/>
          </p:nvSpPr>
          <p:spPr bwMode="auto">
            <a:xfrm>
              <a:off x="3231" y="1604"/>
              <a:ext cx="317"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Contains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3" name="Rectangle 62">
              <a:extLst>
                <a:ext uri="{FF2B5EF4-FFF2-40B4-BE49-F238E27FC236}">
                  <a16:creationId xmlns:a16="http://schemas.microsoft.com/office/drawing/2014/main" id="{55CD2F30-067F-3B50-AFC6-A6F363ACB024}"/>
                </a:ext>
              </a:extLst>
            </p:cNvPr>
            <p:cNvSpPr>
              <a:spLocks noChangeArrowheads="1"/>
            </p:cNvSpPr>
            <p:nvPr/>
          </p:nvSpPr>
          <p:spPr bwMode="auto">
            <a:xfrm>
              <a:off x="3548" y="1728"/>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4" name="Rectangle 63">
              <a:extLst>
                <a:ext uri="{FF2B5EF4-FFF2-40B4-BE49-F238E27FC236}">
                  <a16:creationId xmlns:a16="http://schemas.microsoft.com/office/drawing/2014/main" id="{6AB930A7-6F32-4AA9-7AC1-BF5075DECEFB}"/>
                </a:ext>
              </a:extLst>
            </p:cNvPr>
            <p:cNvSpPr>
              <a:spLocks noChangeArrowheads="1"/>
            </p:cNvSpPr>
            <p:nvPr/>
          </p:nvSpPr>
          <p:spPr bwMode="auto">
            <a:xfrm>
              <a:off x="3637" y="1712"/>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025"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5" name="Line 64">
              <a:extLst>
                <a:ext uri="{FF2B5EF4-FFF2-40B4-BE49-F238E27FC236}">
                  <a16:creationId xmlns:a16="http://schemas.microsoft.com/office/drawing/2014/main" id="{E367542F-6E61-2B5F-956D-2AE72FC0DED2}"/>
                </a:ext>
              </a:extLst>
            </p:cNvPr>
            <p:cNvSpPr>
              <a:spLocks noChangeShapeType="1"/>
            </p:cNvSpPr>
            <p:nvPr/>
          </p:nvSpPr>
          <p:spPr bwMode="auto">
            <a:xfrm flipV="1">
              <a:off x="4007" y="2006"/>
              <a:ext cx="1" cy="262"/>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Rectangle 65">
              <a:extLst>
                <a:ext uri="{FF2B5EF4-FFF2-40B4-BE49-F238E27FC236}">
                  <a16:creationId xmlns:a16="http://schemas.microsoft.com/office/drawing/2014/main" id="{FC4E2126-24BB-CC2A-554A-C8FB22C8A97A}"/>
                </a:ext>
              </a:extLst>
            </p:cNvPr>
            <p:cNvSpPr>
              <a:spLocks noChangeArrowheads="1"/>
            </p:cNvSpPr>
            <p:nvPr/>
          </p:nvSpPr>
          <p:spPr bwMode="auto">
            <a:xfrm>
              <a:off x="4094" y="2050"/>
              <a:ext cx="35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Describes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7" name="Rectangle 66">
              <a:extLst>
                <a:ext uri="{FF2B5EF4-FFF2-40B4-BE49-F238E27FC236}">
                  <a16:creationId xmlns:a16="http://schemas.microsoft.com/office/drawing/2014/main" id="{049BF7EA-CFC3-C15E-FA16-55FA8906B3BA}"/>
                </a:ext>
              </a:extLst>
            </p:cNvPr>
            <p:cNvSpPr>
              <a:spLocks noChangeArrowheads="1"/>
            </p:cNvSpPr>
            <p:nvPr/>
          </p:nvSpPr>
          <p:spPr bwMode="auto">
            <a:xfrm>
              <a:off x="4043" y="214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452"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68" name="Line 67">
              <a:extLst>
                <a:ext uri="{FF2B5EF4-FFF2-40B4-BE49-F238E27FC236}">
                  <a16:creationId xmlns:a16="http://schemas.microsoft.com/office/drawing/2014/main" id="{EB505EC3-263D-B378-E8D3-33BE45048933}"/>
                </a:ext>
              </a:extLst>
            </p:cNvPr>
            <p:cNvSpPr>
              <a:spLocks noChangeShapeType="1"/>
            </p:cNvSpPr>
            <p:nvPr/>
          </p:nvSpPr>
          <p:spPr bwMode="auto">
            <a:xfrm flipH="1">
              <a:off x="1840" y="3419"/>
              <a:ext cx="713"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Rectangle 68">
              <a:extLst>
                <a:ext uri="{FF2B5EF4-FFF2-40B4-BE49-F238E27FC236}">
                  <a16:creationId xmlns:a16="http://schemas.microsoft.com/office/drawing/2014/main" id="{574E8295-B08A-1AE5-ED77-2353449F0CC3}"/>
                </a:ext>
              </a:extLst>
            </p:cNvPr>
            <p:cNvSpPr>
              <a:spLocks noChangeArrowheads="1"/>
            </p:cNvSpPr>
            <p:nvPr/>
          </p:nvSpPr>
          <p:spPr bwMode="auto">
            <a:xfrm>
              <a:off x="1978" y="3333"/>
              <a:ext cx="446"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Captured-on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0" name="Line 69">
              <a:extLst>
                <a:ext uri="{FF2B5EF4-FFF2-40B4-BE49-F238E27FC236}">
                  <a16:creationId xmlns:a16="http://schemas.microsoft.com/office/drawing/2014/main" id="{B4415FCE-C832-ADDB-F3F4-72462C28B6DD}"/>
                </a:ext>
              </a:extLst>
            </p:cNvPr>
            <p:cNvSpPr>
              <a:spLocks noChangeShapeType="1"/>
            </p:cNvSpPr>
            <p:nvPr/>
          </p:nvSpPr>
          <p:spPr bwMode="auto">
            <a:xfrm flipV="1">
              <a:off x="1579" y="2579"/>
              <a:ext cx="1" cy="435"/>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Rectangle 70">
              <a:extLst>
                <a:ext uri="{FF2B5EF4-FFF2-40B4-BE49-F238E27FC236}">
                  <a16:creationId xmlns:a16="http://schemas.microsoft.com/office/drawing/2014/main" id="{F1C8F45D-1CBD-D20D-02BD-142B1AB1A683}"/>
                </a:ext>
              </a:extLst>
            </p:cNvPr>
            <p:cNvSpPr>
              <a:spLocks noChangeArrowheads="1"/>
            </p:cNvSpPr>
            <p:nvPr/>
          </p:nvSpPr>
          <p:spPr bwMode="auto">
            <a:xfrm>
              <a:off x="1099" y="2756"/>
              <a:ext cx="45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Contained-in</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2" name="Rectangle 71">
              <a:extLst>
                <a:ext uri="{FF2B5EF4-FFF2-40B4-BE49-F238E27FC236}">
                  <a16:creationId xmlns:a16="http://schemas.microsoft.com/office/drawing/2014/main" id="{DA4EF5B2-6619-8372-FC5F-FC20066F26F6}"/>
                </a:ext>
              </a:extLst>
            </p:cNvPr>
            <p:cNvSpPr>
              <a:spLocks noChangeArrowheads="1"/>
            </p:cNvSpPr>
            <p:nvPr/>
          </p:nvSpPr>
          <p:spPr bwMode="auto">
            <a:xfrm>
              <a:off x="1646" y="2620"/>
              <a:ext cx="89"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3" name="Rectangle 72">
              <a:extLst>
                <a:ext uri="{FF2B5EF4-FFF2-40B4-BE49-F238E27FC236}">
                  <a16:creationId xmlns:a16="http://schemas.microsoft.com/office/drawing/2014/main" id="{2335CF09-4A76-CB03-B36E-6D2793202BEC}"/>
                </a:ext>
              </a:extLst>
            </p:cNvPr>
            <p:cNvSpPr>
              <a:spLocks noChangeArrowheads="1"/>
            </p:cNvSpPr>
            <p:nvPr/>
          </p:nvSpPr>
          <p:spPr bwMode="auto">
            <a:xfrm>
              <a:off x="1735" y="2604"/>
              <a:ext cx="37" cy="11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025"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4" name="Freeform 73">
              <a:extLst>
                <a:ext uri="{FF2B5EF4-FFF2-40B4-BE49-F238E27FC236}">
                  <a16:creationId xmlns:a16="http://schemas.microsoft.com/office/drawing/2014/main" id="{5260EDC8-A0FC-66E9-D523-40FCDCD52C90}"/>
                </a:ext>
              </a:extLst>
            </p:cNvPr>
            <p:cNvSpPr>
              <a:spLocks/>
            </p:cNvSpPr>
            <p:nvPr/>
          </p:nvSpPr>
          <p:spPr bwMode="auto">
            <a:xfrm>
              <a:off x="1686" y="1293"/>
              <a:ext cx="2321" cy="841"/>
            </a:xfrm>
            <a:custGeom>
              <a:avLst/>
              <a:gdLst/>
              <a:ahLst/>
              <a:cxnLst>
                <a:cxn ang="0">
                  <a:pos x="2321" y="83"/>
                </a:cxn>
                <a:cxn ang="0">
                  <a:pos x="2321" y="0"/>
                </a:cxn>
                <a:cxn ang="0">
                  <a:pos x="0" y="0"/>
                </a:cxn>
                <a:cxn ang="0">
                  <a:pos x="0" y="841"/>
                </a:cxn>
              </a:cxnLst>
              <a:rect l="0" t="0" r="r" b="b"/>
              <a:pathLst>
                <a:path w="2321" h="841">
                  <a:moveTo>
                    <a:pt x="2321" y="83"/>
                  </a:moveTo>
                  <a:lnTo>
                    <a:pt x="2321" y="0"/>
                  </a:lnTo>
                  <a:lnTo>
                    <a:pt x="0" y="0"/>
                  </a:lnTo>
                  <a:lnTo>
                    <a:pt x="0" y="841"/>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D3E4D4AC-304F-6EEF-356F-1C35A0189EE4}"/>
                </a:ext>
              </a:extLst>
            </p:cNvPr>
            <p:cNvSpPr>
              <a:spLocks noChangeArrowheads="1"/>
            </p:cNvSpPr>
            <p:nvPr/>
          </p:nvSpPr>
          <p:spPr bwMode="auto">
            <a:xfrm>
              <a:off x="2615" y="1205"/>
              <a:ext cx="475"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Described-by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6" name="Rectangle 75">
              <a:extLst>
                <a:ext uri="{FF2B5EF4-FFF2-40B4-BE49-F238E27FC236}">
                  <a16:creationId xmlns:a16="http://schemas.microsoft.com/office/drawing/2014/main" id="{5EB294B4-09C5-AB62-6188-A0982FFA6C18}"/>
                </a:ext>
              </a:extLst>
            </p:cNvPr>
            <p:cNvSpPr>
              <a:spLocks noChangeArrowheads="1"/>
            </p:cNvSpPr>
            <p:nvPr/>
          </p:nvSpPr>
          <p:spPr bwMode="auto">
            <a:xfrm>
              <a:off x="1735" y="2008"/>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452"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7" name="Freeform 76">
              <a:extLst>
                <a:ext uri="{FF2B5EF4-FFF2-40B4-BE49-F238E27FC236}">
                  <a16:creationId xmlns:a16="http://schemas.microsoft.com/office/drawing/2014/main" id="{AB8A13F1-9F52-C7F3-23F7-4215D722F799}"/>
                </a:ext>
              </a:extLst>
            </p:cNvPr>
            <p:cNvSpPr>
              <a:spLocks/>
            </p:cNvSpPr>
            <p:nvPr/>
          </p:nvSpPr>
          <p:spPr bwMode="auto">
            <a:xfrm>
              <a:off x="1473" y="1071"/>
              <a:ext cx="3016" cy="1374"/>
            </a:xfrm>
            <a:custGeom>
              <a:avLst/>
              <a:gdLst/>
              <a:ahLst/>
              <a:cxnLst>
                <a:cxn ang="0">
                  <a:pos x="0" y="1063"/>
                </a:cxn>
                <a:cxn ang="0">
                  <a:pos x="0" y="0"/>
                </a:cxn>
                <a:cxn ang="0">
                  <a:pos x="3016" y="0"/>
                </a:cxn>
                <a:cxn ang="0">
                  <a:pos x="3016" y="1374"/>
                </a:cxn>
                <a:cxn ang="0">
                  <a:pos x="2839" y="1374"/>
                </a:cxn>
              </a:cxnLst>
              <a:rect l="0" t="0" r="r" b="b"/>
              <a:pathLst>
                <a:path w="3016" h="1374">
                  <a:moveTo>
                    <a:pt x="0" y="1063"/>
                  </a:moveTo>
                  <a:lnTo>
                    <a:pt x="0" y="0"/>
                  </a:lnTo>
                  <a:lnTo>
                    <a:pt x="3016" y="0"/>
                  </a:lnTo>
                  <a:lnTo>
                    <a:pt x="3016" y="1374"/>
                  </a:lnTo>
                  <a:lnTo>
                    <a:pt x="2839" y="137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0D635C30-00D5-5470-1F58-D7455726E6C5}"/>
                </a:ext>
              </a:extLst>
            </p:cNvPr>
            <p:cNvSpPr>
              <a:spLocks noChangeArrowheads="1"/>
            </p:cNvSpPr>
            <p:nvPr/>
          </p:nvSpPr>
          <p:spPr bwMode="auto">
            <a:xfrm>
              <a:off x="2702" y="984"/>
              <a:ext cx="568"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Records-sale-of</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79" name="Rectangle 78">
              <a:extLst>
                <a:ext uri="{FF2B5EF4-FFF2-40B4-BE49-F238E27FC236}">
                  <a16:creationId xmlns:a16="http://schemas.microsoft.com/office/drawing/2014/main" id="{E21B5BD7-02C1-B551-8526-6604CD8E85B2}"/>
                </a:ext>
              </a:extLst>
            </p:cNvPr>
            <p:cNvSpPr>
              <a:spLocks noChangeArrowheads="1"/>
            </p:cNvSpPr>
            <p:nvPr/>
          </p:nvSpPr>
          <p:spPr bwMode="auto">
            <a:xfrm>
              <a:off x="1330" y="1998"/>
              <a:ext cx="13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0..1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0" name="Line 79">
              <a:extLst>
                <a:ext uri="{FF2B5EF4-FFF2-40B4-BE49-F238E27FC236}">
                  <a16:creationId xmlns:a16="http://schemas.microsoft.com/office/drawing/2014/main" id="{921247D1-1737-B7E8-FFEE-6536BD7BEF82}"/>
                </a:ext>
              </a:extLst>
            </p:cNvPr>
            <p:cNvSpPr>
              <a:spLocks noChangeShapeType="1"/>
            </p:cNvSpPr>
            <p:nvPr/>
          </p:nvSpPr>
          <p:spPr bwMode="auto">
            <a:xfrm flipH="1">
              <a:off x="3074" y="3284"/>
              <a:ext cx="632" cy="1"/>
            </a:xfrm>
            <a:prstGeom prst="line">
              <a:avLst/>
            </a:pr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4D9C1FF6-34CF-1461-B3CA-769D8A13D2B0}"/>
                </a:ext>
              </a:extLst>
            </p:cNvPr>
            <p:cNvSpPr>
              <a:spLocks noChangeArrowheads="1"/>
            </p:cNvSpPr>
            <p:nvPr/>
          </p:nvSpPr>
          <p:spPr bwMode="auto">
            <a:xfrm>
              <a:off x="3208" y="3197"/>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Started-by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2" name="Freeform 81">
              <a:extLst>
                <a:ext uri="{FF2B5EF4-FFF2-40B4-BE49-F238E27FC236}">
                  <a16:creationId xmlns:a16="http://schemas.microsoft.com/office/drawing/2014/main" id="{EB549BE9-71F6-A1C2-7F11-EBC080A1C7D5}"/>
                </a:ext>
              </a:extLst>
            </p:cNvPr>
            <p:cNvSpPr>
              <a:spLocks/>
            </p:cNvSpPr>
            <p:nvPr/>
          </p:nvSpPr>
          <p:spPr bwMode="auto">
            <a:xfrm>
              <a:off x="1137" y="3554"/>
              <a:ext cx="336" cy="354"/>
            </a:xfrm>
            <a:custGeom>
              <a:avLst/>
              <a:gdLst/>
              <a:ahLst/>
              <a:cxnLst>
                <a:cxn ang="0">
                  <a:pos x="0" y="354"/>
                </a:cxn>
                <a:cxn ang="0">
                  <a:pos x="0" y="177"/>
                </a:cxn>
                <a:cxn ang="0">
                  <a:pos x="336" y="177"/>
                </a:cxn>
                <a:cxn ang="0">
                  <a:pos x="336" y="0"/>
                </a:cxn>
              </a:cxnLst>
              <a:rect l="0" t="0" r="r" b="b"/>
              <a:pathLst>
                <a:path w="336" h="354">
                  <a:moveTo>
                    <a:pt x="0" y="354"/>
                  </a:moveTo>
                  <a:lnTo>
                    <a:pt x="0" y="177"/>
                  </a:lnTo>
                  <a:lnTo>
                    <a:pt x="336" y="177"/>
                  </a:lnTo>
                  <a:lnTo>
                    <a:pt x="336"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Rectangle 82">
              <a:extLst>
                <a:ext uri="{FF2B5EF4-FFF2-40B4-BE49-F238E27FC236}">
                  <a16:creationId xmlns:a16="http://schemas.microsoft.com/office/drawing/2014/main" id="{E7CD8EA5-B8A1-3D14-7ED0-9450AFBDF995}"/>
                </a:ext>
              </a:extLst>
            </p:cNvPr>
            <p:cNvSpPr>
              <a:spLocks noChangeArrowheads="1"/>
            </p:cNvSpPr>
            <p:nvPr/>
          </p:nvSpPr>
          <p:spPr bwMode="auto">
            <a:xfrm>
              <a:off x="1106" y="3646"/>
              <a:ext cx="27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Paid-by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4" name="Freeform 83">
              <a:extLst>
                <a:ext uri="{FF2B5EF4-FFF2-40B4-BE49-F238E27FC236}">
                  <a16:creationId xmlns:a16="http://schemas.microsoft.com/office/drawing/2014/main" id="{D70EEB72-D308-DCD8-37A3-5516B5046E64}"/>
                </a:ext>
              </a:extLst>
            </p:cNvPr>
            <p:cNvSpPr>
              <a:spLocks/>
            </p:cNvSpPr>
            <p:nvPr/>
          </p:nvSpPr>
          <p:spPr bwMode="auto">
            <a:xfrm>
              <a:off x="1686" y="3554"/>
              <a:ext cx="348" cy="354"/>
            </a:xfrm>
            <a:custGeom>
              <a:avLst/>
              <a:gdLst/>
              <a:ahLst/>
              <a:cxnLst>
                <a:cxn ang="0">
                  <a:pos x="348" y="354"/>
                </a:cxn>
                <a:cxn ang="0">
                  <a:pos x="348" y="177"/>
                </a:cxn>
                <a:cxn ang="0">
                  <a:pos x="0" y="177"/>
                </a:cxn>
                <a:cxn ang="0">
                  <a:pos x="0" y="0"/>
                </a:cxn>
              </a:cxnLst>
              <a:rect l="0" t="0" r="r" b="b"/>
              <a:pathLst>
                <a:path w="348" h="354">
                  <a:moveTo>
                    <a:pt x="348" y="354"/>
                  </a:moveTo>
                  <a:lnTo>
                    <a:pt x="348" y="177"/>
                  </a:lnTo>
                  <a:lnTo>
                    <a:pt x="0" y="177"/>
                  </a:lnTo>
                  <a:lnTo>
                    <a:pt x="0"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9DD18847-592E-D6BA-E92F-96196B5541C5}"/>
                </a:ext>
              </a:extLst>
            </p:cNvPr>
            <p:cNvSpPr>
              <a:spLocks noChangeArrowheads="1"/>
            </p:cNvSpPr>
            <p:nvPr/>
          </p:nvSpPr>
          <p:spPr bwMode="auto">
            <a:xfrm>
              <a:off x="1794" y="3629"/>
              <a:ext cx="39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Initiated-by</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6" name="Freeform 85">
              <a:extLst>
                <a:ext uri="{FF2B5EF4-FFF2-40B4-BE49-F238E27FC236}">
                  <a16:creationId xmlns:a16="http://schemas.microsoft.com/office/drawing/2014/main" id="{025F850E-4F52-6352-18DE-317289E7FDF0}"/>
                </a:ext>
              </a:extLst>
            </p:cNvPr>
            <p:cNvSpPr>
              <a:spLocks/>
            </p:cNvSpPr>
            <p:nvPr/>
          </p:nvSpPr>
          <p:spPr bwMode="auto">
            <a:xfrm>
              <a:off x="1840" y="2556"/>
              <a:ext cx="713" cy="594"/>
            </a:xfrm>
            <a:custGeom>
              <a:avLst/>
              <a:gdLst/>
              <a:ahLst/>
              <a:cxnLst>
                <a:cxn ang="0">
                  <a:pos x="0" y="594"/>
                </a:cxn>
                <a:cxn ang="0">
                  <a:pos x="357" y="594"/>
                </a:cxn>
                <a:cxn ang="0">
                  <a:pos x="357" y="0"/>
                </a:cxn>
                <a:cxn ang="0">
                  <a:pos x="713" y="0"/>
                </a:cxn>
              </a:cxnLst>
              <a:rect l="0" t="0" r="r" b="b"/>
              <a:pathLst>
                <a:path w="713" h="594">
                  <a:moveTo>
                    <a:pt x="0" y="594"/>
                  </a:moveTo>
                  <a:lnTo>
                    <a:pt x="357" y="594"/>
                  </a:lnTo>
                  <a:lnTo>
                    <a:pt x="357" y="0"/>
                  </a:lnTo>
                  <a:lnTo>
                    <a:pt x="713" y="0"/>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69DF0D5F-A2B1-5D5E-9073-07071B60450E}"/>
                </a:ext>
              </a:extLst>
            </p:cNvPr>
            <p:cNvSpPr>
              <a:spLocks noChangeArrowheads="1"/>
            </p:cNvSpPr>
            <p:nvPr/>
          </p:nvSpPr>
          <p:spPr bwMode="auto">
            <a:xfrm>
              <a:off x="2328" y="2706"/>
              <a:ext cx="20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Logs-</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8" name="Rectangle 87">
              <a:extLst>
                <a:ext uri="{FF2B5EF4-FFF2-40B4-BE49-F238E27FC236}">
                  <a16:creationId xmlns:a16="http://schemas.microsoft.com/office/drawing/2014/main" id="{BE83D374-A4BD-9305-4B77-9277BE561604}"/>
                </a:ext>
              </a:extLst>
            </p:cNvPr>
            <p:cNvSpPr>
              <a:spLocks noChangeArrowheads="1"/>
            </p:cNvSpPr>
            <p:nvPr/>
          </p:nvSpPr>
          <p:spPr bwMode="auto">
            <a:xfrm>
              <a:off x="2244" y="2801"/>
              <a:ext cx="371"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completed</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89" name="Rectangle 88">
              <a:extLst>
                <a:ext uri="{FF2B5EF4-FFF2-40B4-BE49-F238E27FC236}">
                  <a16:creationId xmlns:a16="http://schemas.microsoft.com/office/drawing/2014/main" id="{0F477178-3D18-5EB5-5224-E31768495108}"/>
                </a:ext>
              </a:extLst>
            </p:cNvPr>
            <p:cNvSpPr>
              <a:spLocks noChangeArrowheads="1"/>
            </p:cNvSpPr>
            <p:nvPr/>
          </p:nvSpPr>
          <p:spPr bwMode="auto">
            <a:xfrm>
              <a:off x="2405" y="28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6</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0" name="Rectangle 89">
              <a:extLst>
                <a:ext uri="{FF2B5EF4-FFF2-40B4-BE49-F238E27FC236}">
                  <a16:creationId xmlns:a16="http://schemas.microsoft.com/office/drawing/2014/main" id="{7FE0EC98-F7A1-462F-EFFB-553A25164270}"/>
                </a:ext>
              </a:extLst>
            </p:cNvPr>
            <p:cNvSpPr>
              <a:spLocks noChangeArrowheads="1"/>
            </p:cNvSpPr>
            <p:nvPr/>
          </p:nvSpPr>
          <p:spPr bwMode="auto">
            <a:xfrm>
              <a:off x="1868" y="3000"/>
              <a:ext cx="54" cy="16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1452" b="0" i="0" u="none" strike="noStrike" kern="1200" cap="none" spc="0" normalizeH="0" baseline="0" noProof="0">
                  <a:ln>
                    <a:noFill/>
                  </a:ln>
                  <a:solidFill>
                    <a:srgbClr val="1D588A"/>
                  </a:solidFill>
                  <a:effectLst/>
                  <a:uLnTx/>
                  <a:uFillTx/>
                  <a:latin typeface="Arial" pitchFamily="34" charset="0"/>
                  <a:ea typeface="+mn-ea"/>
                  <a:cs typeface="+mn-cs"/>
                </a:rPr>
                <a:t>*</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1" name="Freeform 90">
              <a:extLst>
                <a:ext uri="{FF2B5EF4-FFF2-40B4-BE49-F238E27FC236}">
                  <a16:creationId xmlns:a16="http://schemas.microsoft.com/office/drawing/2014/main" id="{E3667AAF-C1ED-3D47-8C72-122800165B3A}"/>
                </a:ext>
              </a:extLst>
            </p:cNvPr>
            <p:cNvSpPr>
              <a:spLocks/>
            </p:cNvSpPr>
            <p:nvPr/>
          </p:nvSpPr>
          <p:spPr bwMode="auto">
            <a:xfrm>
              <a:off x="2814" y="3554"/>
              <a:ext cx="808" cy="354"/>
            </a:xfrm>
            <a:custGeom>
              <a:avLst/>
              <a:gdLst/>
              <a:ahLst/>
              <a:cxnLst>
                <a:cxn ang="0">
                  <a:pos x="0" y="0"/>
                </a:cxn>
                <a:cxn ang="0">
                  <a:pos x="0" y="177"/>
                </a:cxn>
                <a:cxn ang="0">
                  <a:pos x="808" y="177"/>
                </a:cxn>
                <a:cxn ang="0">
                  <a:pos x="808" y="354"/>
                </a:cxn>
              </a:cxnLst>
              <a:rect l="0" t="0" r="r" b="b"/>
              <a:pathLst>
                <a:path w="808" h="354">
                  <a:moveTo>
                    <a:pt x="0" y="0"/>
                  </a:moveTo>
                  <a:lnTo>
                    <a:pt x="0" y="177"/>
                  </a:lnTo>
                  <a:lnTo>
                    <a:pt x="808" y="177"/>
                  </a:lnTo>
                  <a:lnTo>
                    <a:pt x="808" y="354"/>
                  </a:lnTo>
                </a:path>
              </a:pathLst>
            </a:custGeom>
            <a:noFill/>
            <a:ln w="2">
              <a:solidFill>
                <a:srgbClr val="336699"/>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Rectangle 92">
              <a:extLst>
                <a:ext uri="{FF2B5EF4-FFF2-40B4-BE49-F238E27FC236}">
                  <a16:creationId xmlns:a16="http://schemas.microsoft.com/office/drawing/2014/main" id="{EDF2B876-3B00-BFD2-A2A6-E55FEC556BE0}"/>
                </a:ext>
              </a:extLst>
            </p:cNvPr>
            <p:cNvSpPr>
              <a:spLocks noChangeArrowheads="1"/>
            </p:cNvSpPr>
            <p:nvPr/>
          </p:nvSpPr>
          <p:spPr bwMode="auto">
            <a:xfrm>
              <a:off x="3019" y="3624"/>
              <a:ext cx="653"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dirty="0">
                  <a:ln>
                    <a:noFill/>
                  </a:ln>
                  <a:solidFill>
                    <a:srgbClr val="1D588A"/>
                  </a:solidFill>
                  <a:effectLst/>
                  <a:uLnTx/>
                  <a:uFillTx/>
                  <a:latin typeface="Arial" pitchFamily="34" charset="0"/>
                  <a:ea typeface="+mn-ea"/>
                  <a:cs typeface="+mn-cs"/>
                </a:rPr>
                <a:t> Records-sales-on</a:t>
              </a:r>
              <a:endParaRPr kumimoji="0" lang="en-US" sz="1800" b="0" i="0" u="none" strike="noStrike" kern="1200" cap="none" spc="0" normalizeH="0" baseline="0" noProof="0" dirty="0">
                <a:ln>
                  <a:noFill/>
                </a:ln>
                <a:solidFill>
                  <a:prstClr val="black"/>
                </a:solidFill>
                <a:effectLst/>
                <a:uLnTx/>
                <a:uFillTx/>
                <a:latin typeface="Arial" pitchFamily="34" charset="0"/>
                <a:ea typeface="+mn-ea"/>
                <a:cs typeface="+mn-cs"/>
              </a:endParaRPr>
            </a:p>
          </p:txBody>
        </p:sp>
        <p:sp>
          <p:nvSpPr>
            <p:cNvPr id="94" name="Rectangle 93">
              <a:extLst>
                <a:ext uri="{FF2B5EF4-FFF2-40B4-BE49-F238E27FC236}">
                  <a16:creationId xmlns:a16="http://schemas.microsoft.com/office/drawing/2014/main" id="{40FF6BFA-C290-5AA6-402F-CFB990AF17DF}"/>
                </a:ext>
              </a:extLst>
            </p:cNvPr>
            <p:cNvSpPr>
              <a:spLocks noChangeArrowheads="1"/>
            </p:cNvSpPr>
            <p:nvPr/>
          </p:nvSpPr>
          <p:spPr bwMode="auto">
            <a:xfrm>
              <a:off x="3114" y="169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5" name="Rectangle 94">
              <a:extLst>
                <a:ext uri="{FF2B5EF4-FFF2-40B4-BE49-F238E27FC236}">
                  <a16:creationId xmlns:a16="http://schemas.microsoft.com/office/drawing/2014/main" id="{28A20B60-6347-B869-BEDC-503008F9230E}"/>
                </a:ext>
              </a:extLst>
            </p:cNvPr>
            <p:cNvSpPr>
              <a:spLocks noChangeArrowheads="1"/>
            </p:cNvSpPr>
            <p:nvPr/>
          </p:nvSpPr>
          <p:spPr bwMode="auto">
            <a:xfrm>
              <a:off x="2449"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6" name="Rectangle 95">
              <a:extLst>
                <a:ext uri="{FF2B5EF4-FFF2-40B4-BE49-F238E27FC236}">
                  <a16:creationId xmlns:a16="http://schemas.microsoft.com/office/drawing/2014/main" id="{772FAF62-8AE2-2D19-7C6C-2AD357D59E07}"/>
                </a:ext>
              </a:extLst>
            </p:cNvPr>
            <p:cNvSpPr>
              <a:spLocks noChangeArrowheads="1"/>
            </p:cNvSpPr>
            <p:nvPr/>
          </p:nvSpPr>
          <p:spPr bwMode="auto">
            <a:xfrm>
              <a:off x="2845" y="270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7" name="Rectangle 96">
              <a:extLst>
                <a:ext uri="{FF2B5EF4-FFF2-40B4-BE49-F238E27FC236}">
                  <a16:creationId xmlns:a16="http://schemas.microsoft.com/office/drawing/2014/main" id="{92D49F9D-EB16-BFE2-57F1-67234C9F42A3}"/>
                </a:ext>
              </a:extLst>
            </p:cNvPr>
            <p:cNvSpPr>
              <a:spLocks noChangeArrowheads="1"/>
            </p:cNvSpPr>
            <p:nvPr/>
          </p:nvSpPr>
          <p:spPr bwMode="auto">
            <a:xfrm>
              <a:off x="3114" y="2453"/>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8" name="Rectangle 97">
              <a:extLst>
                <a:ext uri="{FF2B5EF4-FFF2-40B4-BE49-F238E27FC236}">
                  <a16:creationId xmlns:a16="http://schemas.microsoft.com/office/drawing/2014/main" id="{D0E2B50F-8335-4A46-74B0-272457C866C6}"/>
                </a:ext>
              </a:extLst>
            </p:cNvPr>
            <p:cNvSpPr>
              <a:spLocks noChangeArrowheads="1"/>
            </p:cNvSpPr>
            <p:nvPr/>
          </p:nvSpPr>
          <p:spPr bwMode="auto">
            <a:xfrm>
              <a:off x="4049" y="124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99" name="Rectangle 98">
              <a:extLst>
                <a:ext uri="{FF2B5EF4-FFF2-40B4-BE49-F238E27FC236}">
                  <a16:creationId xmlns:a16="http://schemas.microsoft.com/office/drawing/2014/main" id="{A8183378-7160-7FD2-A2F6-88E9E62B748E}"/>
                </a:ext>
              </a:extLst>
            </p:cNvPr>
            <p:cNvSpPr>
              <a:spLocks noChangeArrowheads="1"/>
            </p:cNvSpPr>
            <p:nvPr/>
          </p:nvSpPr>
          <p:spPr bwMode="auto">
            <a:xfrm>
              <a:off x="4355" y="244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0" name="Rectangle 99">
              <a:extLst>
                <a:ext uri="{FF2B5EF4-FFF2-40B4-BE49-F238E27FC236}">
                  <a16:creationId xmlns:a16="http://schemas.microsoft.com/office/drawing/2014/main" id="{DA64B7A2-210D-3700-E493-220998BEA14C}"/>
                </a:ext>
              </a:extLst>
            </p:cNvPr>
            <p:cNvSpPr>
              <a:spLocks noChangeArrowheads="1"/>
            </p:cNvSpPr>
            <p:nvPr/>
          </p:nvSpPr>
          <p:spPr bwMode="auto">
            <a:xfrm>
              <a:off x="3601" y="328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1" name="Rectangle 100">
              <a:extLst>
                <a:ext uri="{FF2B5EF4-FFF2-40B4-BE49-F238E27FC236}">
                  <a16:creationId xmlns:a16="http://schemas.microsoft.com/office/drawing/2014/main" id="{CDD216DF-C6E1-067C-21CF-7DDAAC660B71}"/>
                </a:ext>
              </a:extLst>
            </p:cNvPr>
            <p:cNvSpPr>
              <a:spLocks noChangeArrowheads="1"/>
            </p:cNvSpPr>
            <p:nvPr/>
          </p:nvSpPr>
          <p:spPr bwMode="auto">
            <a:xfrm>
              <a:off x="3114" y="3304"/>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2" name="Rectangle 101">
              <a:extLst>
                <a:ext uri="{FF2B5EF4-FFF2-40B4-BE49-F238E27FC236}">
                  <a16:creationId xmlns:a16="http://schemas.microsoft.com/office/drawing/2014/main" id="{33BBA5D0-33D1-ACE6-77AC-38026099A52B}"/>
                </a:ext>
              </a:extLst>
            </p:cNvPr>
            <p:cNvSpPr>
              <a:spLocks noChangeArrowheads="1"/>
            </p:cNvSpPr>
            <p:nvPr/>
          </p:nvSpPr>
          <p:spPr bwMode="auto">
            <a:xfrm>
              <a:off x="3654"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3" name="Rectangle 102">
              <a:extLst>
                <a:ext uri="{FF2B5EF4-FFF2-40B4-BE49-F238E27FC236}">
                  <a16:creationId xmlns:a16="http://schemas.microsoft.com/office/drawing/2014/main" id="{18859938-010B-E599-BA1B-523F0315A4AD}"/>
                </a:ext>
              </a:extLst>
            </p:cNvPr>
            <p:cNvSpPr>
              <a:spLocks noChangeArrowheads="1"/>
            </p:cNvSpPr>
            <p:nvPr/>
          </p:nvSpPr>
          <p:spPr bwMode="auto">
            <a:xfrm>
              <a:off x="2739"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4" name="Rectangle 103">
              <a:extLst>
                <a:ext uri="{FF2B5EF4-FFF2-40B4-BE49-F238E27FC236}">
                  <a16:creationId xmlns:a16="http://schemas.microsoft.com/office/drawing/2014/main" id="{A14C3589-64F9-395F-543E-BC2F29577368}"/>
                </a:ext>
              </a:extLst>
            </p:cNvPr>
            <p:cNvSpPr>
              <a:spLocks noChangeArrowheads="1"/>
            </p:cNvSpPr>
            <p:nvPr/>
          </p:nvSpPr>
          <p:spPr bwMode="auto">
            <a:xfrm>
              <a:off x="2066"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5" name="Rectangle 104">
              <a:extLst>
                <a:ext uri="{FF2B5EF4-FFF2-40B4-BE49-F238E27FC236}">
                  <a16:creationId xmlns:a16="http://schemas.microsoft.com/office/drawing/2014/main" id="{BD120E7C-CDEA-A42E-207D-0575AA719DD7}"/>
                </a:ext>
              </a:extLst>
            </p:cNvPr>
            <p:cNvSpPr>
              <a:spLocks noChangeArrowheads="1"/>
            </p:cNvSpPr>
            <p:nvPr/>
          </p:nvSpPr>
          <p:spPr bwMode="auto">
            <a:xfrm>
              <a:off x="1741" y="355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6" name="Rectangle 105">
              <a:extLst>
                <a:ext uri="{FF2B5EF4-FFF2-40B4-BE49-F238E27FC236}">
                  <a16:creationId xmlns:a16="http://schemas.microsoft.com/office/drawing/2014/main" id="{8B3814C2-AF8F-32D6-AC43-95A3FB4272A1}"/>
                </a:ext>
              </a:extLst>
            </p:cNvPr>
            <p:cNvSpPr>
              <a:spLocks noChangeArrowheads="1"/>
            </p:cNvSpPr>
            <p:nvPr/>
          </p:nvSpPr>
          <p:spPr bwMode="auto">
            <a:xfrm>
              <a:off x="1061" y="3772"/>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7" name="Rectangle 106">
              <a:extLst>
                <a:ext uri="{FF2B5EF4-FFF2-40B4-BE49-F238E27FC236}">
                  <a16:creationId xmlns:a16="http://schemas.microsoft.com/office/drawing/2014/main" id="{26B90A47-A214-83F1-CCFF-B7C85E02D1D0}"/>
                </a:ext>
              </a:extLst>
            </p:cNvPr>
            <p:cNvSpPr>
              <a:spLocks noChangeArrowheads="1"/>
            </p:cNvSpPr>
            <p:nvPr/>
          </p:nvSpPr>
          <p:spPr bwMode="auto">
            <a:xfrm>
              <a:off x="1503" y="3595"/>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8" name="Rectangle 107">
              <a:extLst>
                <a:ext uri="{FF2B5EF4-FFF2-40B4-BE49-F238E27FC236}">
                  <a16:creationId xmlns:a16="http://schemas.microsoft.com/office/drawing/2014/main" id="{681951AC-8EC4-4828-F547-4A5ECE11E33C}"/>
                </a:ext>
              </a:extLst>
            </p:cNvPr>
            <p:cNvSpPr>
              <a:spLocks noChangeArrowheads="1"/>
            </p:cNvSpPr>
            <p:nvPr/>
          </p:nvSpPr>
          <p:spPr bwMode="auto">
            <a:xfrm>
              <a:off x="1611" y="2886"/>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09" name="Rectangle 109">
              <a:extLst>
                <a:ext uri="{FF2B5EF4-FFF2-40B4-BE49-F238E27FC236}">
                  <a16:creationId xmlns:a16="http://schemas.microsoft.com/office/drawing/2014/main" id="{6E262ED8-AEF2-842B-7B4E-28BAA37693CD}"/>
                </a:ext>
              </a:extLst>
            </p:cNvPr>
            <p:cNvSpPr>
              <a:spLocks noChangeArrowheads="1"/>
            </p:cNvSpPr>
            <p:nvPr/>
          </p:nvSpPr>
          <p:spPr bwMode="auto">
            <a:xfrm>
              <a:off x="2449" y="3439"/>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10" name="Rectangle 110">
              <a:extLst>
                <a:ext uri="{FF2B5EF4-FFF2-40B4-BE49-F238E27FC236}">
                  <a16:creationId xmlns:a16="http://schemas.microsoft.com/office/drawing/2014/main" id="{225B7087-1514-2A08-040B-9693C21E815C}"/>
                </a:ext>
              </a:extLst>
            </p:cNvPr>
            <p:cNvSpPr>
              <a:spLocks noChangeArrowheads="1"/>
            </p:cNvSpPr>
            <p:nvPr/>
          </p:nvSpPr>
          <p:spPr bwMode="auto">
            <a:xfrm>
              <a:off x="2739" y="1911"/>
              <a:ext cx="44" cy="9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780770" rtl="0" eaLnBrk="1" fontAlgn="base" latinLnBrk="0" hangingPunct="1">
                <a:lnSpc>
                  <a:spcPct val="100000"/>
                </a:lnSpc>
                <a:spcBef>
                  <a:spcPct val="0"/>
                </a:spcBef>
                <a:spcAft>
                  <a:spcPts val="479"/>
                </a:spcAft>
                <a:buClrTx/>
                <a:buSzTx/>
                <a:buFontTx/>
                <a:buNone/>
                <a:tabLst/>
                <a:defRPr/>
              </a:pPr>
              <a:r>
                <a:rPr kumimoji="0" lang="en-US" sz="854" b="0" i="0" u="none" strike="noStrike" kern="1200" cap="none" spc="0" normalizeH="0" baseline="0" noProof="0">
                  <a:ln>
                    <a:noFill/>
                  </a:ln>
                  <a:solidFill>
                    <a:srgbClr val="1D588A"/>
                  </a:solidFill>
                  <a:effectLst/>
                  <a:uLnTx/>
                  <a:uFillTx/>
                  <a:latin typeface="Arial" pitchFamily="34" charset="0"/>
                  <a:ea typeface="+mn-ea"/>
                  <a:cs typeface="+mn-cs"/>
                </a:rPr>
                <a:t>1</a:t>
              </a:r>
              <a:endParaRPr kumimoji="0" 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grpSp>
      <p:cxnSp>
        <p:nvCxnSpPr>
          <p:cNvPr id="114" name="Straight Arrow Connector 113">
            <a:extLst>
              <a:ext uri="{FF2B5EF4-FFF2-40B4-BE49-F238E27FC236}">
                <a16:creationId xmlns:a16="http://schemas.microsoft.com/office/drawing/2014/main" id="{B15E1550-21C2-1ED1-EEE7-4F78048CA77A}"/>
              </a:ext>
            </a:extLst>
          </p:cNvPr>
          <p:cNvCxnSpPr>
            <a:endCxn id="26" idx="1"/>
          </p:cNvCxnSpPr>
          <p:nvPr/>
        </p:nvCxnSpPr>
        <p:spPr>
          <a:xfrm flipV="1">
            <a:off x="2968052" y="3526180"/>
            <a:ext cx="1440307" cy="6638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8" name="TextBox 117">
            <a:extLst>
              <a:ext uri="{FF2B5EF4-FFF2-40B4-BE49-F238E27FC236}">
                <a16:creationId xmlns:a16="http://schemas.microsoft.com/office/drawing/2014/main" id="{DCEDEEAD-9B79-8A99-C52E-721C0C2FF444}"/>
              </a:ext>
            </a:extLst>
          </p:cNvPr>
          <p:cNvSpPr txBox="1"/>
          <p:nvPr/>
        </p:nvSpPr>
        <p:spPr>
          <a:xfrm>
            <a:off x="2146314" y="4101944"/>
            <a:ext cx="10524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D7D31"/>
                </a:solidFill>
                <a:effectLst/>
                <a:uLnTx/>
                <a:uFillTx/>
                <a:latin typeface="Calibri" panose="020F0502020204030204"/>
                <a:ea typeface="+mn-ea"/>
                <a:cs typeface="+mn-cs"/>
              </a:rPr>
              <a:t>Concepts</a:t>
            </a:r>
          </a:p>
        </p:txBody>
      </p:sp>
      <p:cxnSp>
        <p:nvCxnSpPr>
          <p:cNvPr id="119" name="Straight Arrow Connector 118">
            <a:extLst>
              <a:ext uri="{FF2B5EF4-FFF2-40B4-BE49-F238E27FC236}">
                <a16:creationId xmlns:a16="http://schemas.microsoft.com/office/drawing/2014/main" id="{5B3E6DAF-36A0-49D3-2E1A-9A3B5EB24809}"/>
              </a:ext>
            </a:extLst>
          </p:cNvPr>
          <p:cNvCxnSpPr/>
          <p:nvPr/>
        </p:nvCxnSpPr>
        <p:spPr>
          <a:xfrm flipV="1">
            <a:off x="3120452" y="4982722"/>
            <a:ext cx="1440307" cy="6638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0" name="TextBox 119">
            <a:extLst>
              <a:ext uri="{FF2B5EF4-FFF2-40B4-BE49-F238E27FC236}">
                <a16:creationId xmlns:a16="http://schemas.microsoft.com/office/drawing/2014/main" id="{13090A36-7139-6F23-13D4-D3F33C6CC377}"/>
              </a:ext>
            </a:extLst>
          </p:cNvPr>
          <p:cNvSpPr txBox="1"/>
          <p:nvPr/>
        </p:nvSpPr>
        <p:spPr>
          <a:xfrm>
            <a:off x="1983992" y="5462242"/>
            <a:ext cx="11188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D7D31"/>
                </a:solidFill>
                <a:effectLst/>
                <a:uLnTx/>
                <a:uFillTx/>
                <a:latin typeface="Calibri" panose="020F0502020204030204"/>
                <a:ea typeface="+mn-ea"/>
                <a:cs typeface="+mn-cs"/>
              </a:rPr>
              <a:t>Attributes</a:t>
            </a:r>
          </a:p>
        </p:txBody>
      </p:sp>
      <p:cxnSp>
        <p:nvCxnSpPr>
          <p:cNvPr id="121" name="Straight Arrow Connector 120">
            <a:extLst>
              <a:ext uri="{FF2B5EF4-FFF2-40B4-BE49-F238E27FC236}">
                <a16:creationId xmlns:a16="http://schemas.microsoft.com/office/drawing/2014/main" id="{8D147621-074B-CE79-C4F3-1FC437F5454A}"/>
              </a:ext>
            </a:extLst>
          </p:cNvPr>
          <p:cNvCxnSpPr/>
          <p:nvPr/>
        </p:nvCxnSpPr>
        <p:spPr>
          <a:xfrm flipV="1">
            <a:off x="3210314" y="2702171"/>
            <a:ext cx="1440307" cy="6638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3" name="TextBox 122">
            <a:extLst>
              <a:ext uri="{FF2B5EF4-FFF2-40B4-BE49-F238E27FC236}">
                <a16:creationId xmlns:a16="http://schemas.microsoft.com/office/drawing/2014/main" id="{75A8DFBB-8EFC-96FB-BDCF-B26F10CA3F24}"/>
              </a:ext>
            </a:extLst>
          </p:cNvPr>
          <p:cNvSpPr txBox="1"/>
          <p:nvPr/>
        </p:nvSpPr>
        <p:spPr>
          <a:xfrm>
            <a:off x="1967378" y="3187855"/>
            <a:ext cx="125175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D7D31"/>
                </a:solidFill>
                <a:effectLst/>
                <a:uLnTx/>
                <a:uFillTx/>
                <a:latin typeface="Calibri" panose="020F0502020204030204"/>
                <a:ea typeface="+mn-ea"/>
                <a:cs typeface="+mn-cs"/>
              </a:rPr>
              <a:t>Association</a:t>
            </a:r>
          </a:p>
        </p:txBody>
      </p:sp>
      <p:sp>
        <p:nvSpPr>
          <p:cNvPr id="125" name="Slide Number Placeholder 124">
            <a:extLst>
              <a:ext uri="{FF2B5EF4-FFF2-40B4-BE49-F238E27FC236}">
                <a16:creationId xmlns:a16="http://schemas.microsoft.com/office/drawing/2014/main" id="{203A8ABC-1632-58C0-8347-96F4A822013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F6DEEC-D04A-4FF0-9A08-7D39859C24F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3" name="Straight Arrow Connector 2">
            <a:extLst>
              <a:ext uri="{FF2B5EF4-FFF2-40B4-BE49-F238E27FC236}">
                <a16:creationId xmlns:a16="http://schemas.microsoft.com/office/drawing/2014/main" id="{82FBBA79-9929-E019-6F0F-2C5F6CC7AA70}"/>
              </a:ext>
            </a:extLst>
          </p:cNvPr>
          <p:cNvCxnSpPr>
            <a:cxnSpLocks/>
            <a:endCxn id="25" idx="1"/>
          </p:cNvCxnSpPr>
          <p:nvPr/>
        </p:nvCxnSpPr>
        <p:spPr>
          <a:xfrm>
            <a:off x="3163504" y="5646594"/>
            <a:ext cx="505024" cy="49396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6" name="Straight Arrow Connector 115">
            <a:extLst>
              <a:ext uri="{FF2B5EF4-FFF2-40B4-BE49-F238E27FC236}">
                <a16:creationId xmlns:a16="http://schemas.microsoft.com/office/drawing/2014/main" id="{3396C1A6-67C9-66D3-A1AC-0ECD6FBE796A}"/>
              </a:ext>
            </a:extLst>
          </p:cNvPr>
          <p:cNvCxnSpPr>
            <a:cxnSpLocks/>
          </p:cNvCxnSpPr>
          <p:nvPr/>
        </p:nvCxnSpPr>
        <p:spPr>
          <a:xfrm>
            <a:off x="2946381" y="4181123"/>
            <a:ext cx="1419116" cy="37905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6" name="Straight Arrow Connector 125">
            <a:extLst>
              <a:ext uri="{FF2B5EF4-FFF2-40B4-BE49-F238E27FC236}">
                <a16:creationId xmlns:a16="http://schemas.microsoft.com/office/drawing/2014/main" id="{0455B3F6-80E7-D837-969F-3263F87155DE}"/>
              </a:ext>
            </a:extLst>
          </p:cNvPr>
          <p:cNvCxnSpPr>
            <a:cxnSpLocks/>
          </p:cNvCxnSpPr>
          <p:nvPr/>
        </p:nvCxnSpPr>
        <p:spPr>
          <a:xfrm flipV="1">
            <a:off x="3180387" y="2985629"/>
            <a:ext cx="1902580" cy="40215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8765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P spid="120" grpId="0"/>
      <p:bldP spid="123"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6A84634-AF90-9E5F-1F4F-995965098F76}"/>
              </a:ext>
            </a:extLst>
          </p:cNvPr>
          <p:cNvSpPr>
            <a:spLocks noGrp="1"/>
          </p:cNvSpPr>
          <p:nvPr>
            <p:ph type="title"/>
          </p:nvPr>
        </p:nvSpPr>
        <p:spPr>
          <a:xfrm>
            <a:off x="808638" y="386930"/>
            <a:ext cx="9236700" cy="1188950"/>
          </a:xfrm>
        </p:spPr>
        <p:txBody>
          <a:bodyPr anchor="b">
            <a:normAutofit/>
          </a:bodyPr>
          <a:lstStyle/>
          <a:p>
            <a:r>
              <a:rPr lang="en-US" sz="4200"/>
              <a:t>Special Considerations for Associations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0605582-BBC4-2FF1-4897-A92333E6FE7A}"/>
              </a:ext>
            </a:extLst>
          </p:cNvPr>
          <p:cNvSpPr>
            <a:spLocks noGrp="1"/>
          </p:cNvSpPr>
          <p:nvPr>
            <p:ph idx="1"/>
          </p:nvPr>
        </p:nvSpPr>
        <p:spPr>
          <a:xfrm>
            <a:off x="793660" y="2599509"/>
            <a:ext cx="10143668" cy="3435531"/>
          </a:xfrm>
        </p:spPr>
        <p:txBody>
          <a:bodyPr anchor="ctr">
            <a:normAutofit/>
          </a:bodyPr>
          <a:lstStyle/>
          <a:p>
            <a:r>
              <a:rPr lang="en-US" sz="3700" dirty="0"/>
              <a:t>Generalizations</a:t>
            </a:r>
          </a:p>
          <a:p>
            <a:r>
              <a:rPr lang="en-US" sz="3700" dirty="0"/>
              <a:t>Association Classes</a:t>
            </a:r>
          </a:p>
          <a:p>
            <a:r>
              <a:rPr lang="en-US" sz="3700" dirty="0"/>
              <a:t>Aggregation and Composition</a:t>
            </a:r>
          </a:p>
        </p:txBody>
      </p:sp>
      <p:sp>
        <p:nvSpPr>
          <p:cNvPr id="4" name="Slide Number Placeholder 3">
            <a:extLst>
              <a:ext uri="{FF2B5EF4-FFF2-40B4-BE49-F238E27FC236}">
                <a16:creationId xmlns:a16="http://schemas.microsoft.com/office/drawing/2014/main" id="{1729AF20-6165-3728-E4B9-4784D594D8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F6DEEC-D04A-4FF0-9A08-7D39859C24F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2186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8154C9-F5B3-4FD9-9FDE-D0FC5B8DC467}"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05890" name="Rectangle 2"/>
          <p:cNvSpPr>
            <a:spLocks noGrp="1" noChangeArrowheads="1"/>
          </p:cNvSpPr>
          <p:nvPr>
            <p:ph type="title"/>
          </p:nvPr>
        </p:nvSpPr>
        <p:spPr/>
        <p:txBody>
          <a:bodyPr/>
          <a:lstStyle/>
          <a:p>
            <a:r>
              <a:rPr lang="en-US" altLang="en-US"/>
              <a:t>Generalization</a:t>
            </a:r>
          </a:p>
        </p:txBody>
      </p:sp>
      <p:sp>
        <p:nvSpPr>
          <p:cNvPr id="805891" name="Rectangle 3"/>
          <p:cNvSpPr>
            <a:spLocks noGrp="1" noChangeArrowheads="1"/>
          </p:cNvSpPr>
          <p:nvPr>
            <p:ph type="body" idx="1"/>
          </p:nvPr>
        </p:nvSpPr>
        <p:spPr/>
        <p:txBody>
          <a:bodyPr/>
          <a:lstStyle/>
          <a:p>
            <a:pPr marL="342900" indent="-342900" algn="just"/>
            <a:r>
              <a:rPr lang="en-US" sz="2600" b="0" i="0" dirty="0">
                <a:solidFill>
                  <a:srgbClr val="2D3B45"/>
                </a:solidFill>
                <a:effectLst/>
                <a:latin typeface="Lato Extended"/>
              </a:rPr>
              <a:t>One type of association is Generalization. This type aims to organize concepts to identify commonality among them.</a:t>
            </a:r>
            <a:r>
              <a:rPr lang="en-US" sz="2600" dirty="0"/>
              <a:t>)</a:t>
            </a:r>
          </a:p>
          <a:p>
            <a:pPr marL="342900" indent="-342900" algn="just"/>
            <a:r>
              <a:rPr lang="en-US" sz="2600" dirty="0">
                <a:solidFill>
                  <a:srgbClr val="2D3B45"/>
                </a:solidFill>
                <a:latin typeface="Lato Extended"/>
              </a:rPr>
              <a:t>T</a:t>
            </a:r>
            <a:r>
              <a:rPr lang="en-US" sz="2600" b="0" i="0" dirty="0">
                <a:solidFill>
                  <a:srgbClr val="2D3B45"/>
                </a:solidFill>
                <a:effectLst/>
                <a:latin typeface="Lato Extended"/>
              </a:rPr>
              <a:t>he superclass of </a:t>
            </a:r>
            <a:r>
              <a:rPr lang="en-US" sz="2600" b="1" i="1" dirty="0">
                <a:solidFill>
                  <a:srgbClr val="2D3B45"/>
                </a:solidFill>
                <a:effectLst/>
                <a:latin typeface="Lato Extended"/>
              </a:rPr>
              <a:t>payment</a:t>
            </a:r>
            <a:r>
              <a:rPr lang="en-US" sz="2600" b="0" i="0" dirty="0">
                <a:solidFill>
                  <a:srgbClr val="2D3B45"/>
                </a:solidFill>
                <a:effectLst/>
                <a:latin typeface="Lato Extended"/>
              </a:rPr>
              <a:t> and the subclasses of </a:t>
            </a:r>
            <a:r>
              <a:rPr lang="en-US" sz="2600" b="0" i="1" dirty="0">
                <a:solidFill>
                  <a:srgbClr val="2D3B45"/>
                </a:solidFill>
                <a:effectLst/>
                <a:latin typeface="Lato Extended"/>
              </a:rPr>
              <a:t>cash payment</a:t>
            </a:r>
            <a:r>
              <a:rPr lang="en-US" sz="2600" b="0" i="0" dirty="0">
                <a:solidFill>
                  <a:srgbClr val="2D3B45"/>
                </a:solidFill>
                <a:effectLst/>
                <a:latin typeface="Lato Extended"/>
              </a:rPr>
              <a:t>, </a:t>
            </a:r>
            <a:r>
              <a:rPr lang="en-US" sz="2600" b="0" i="1" dirty="0">
                <a:solidFill>
                  <a:srgbClr val="2D3B45"/>
                </a:solidFill>
                <a:effectLst/>
                <a:latin typeface="Lato Extended"/>
              </a:rPr>
              <a:t>credit payment</a:t>
            </a:r>
            <a:r>
              <a:rPr lang="en-US" sz="2600" b="0" i="0" dirty="0">
                <a:solidFill>
                  <a:srgbClr val="2D3B45"/>
                </a:solidFill>
                <a:effectLst/>
                <a:latin typeface="Lato Extended"/>
              </a:rPr>
              <a:t>, </a:t>
            </a:r>
            <a:r>
              <a:rPr lang="en-US" sz="2600" b="0" i="1" dirty="0">
                <a:solidFill>
                  <a:srgbClr val="2D3B45"/>
                </a:solidFill>
                <a:effectLst/>
                <a:latin typeface="Lato Extended"/>
              </a:rPr>
              <a:t>check payment</a:t>
            </a:r>
            <a:endParaRPr lang="en-US" sz="2600" dirty="0"/>
          </a:p>
          <a:p>
            <a:pPr marL="342900" indent="-342900"/>
            <a:endParaRPr lang="en-US" sz="3600" dirty="0"/>
          </a:p>
        </p:txBody>
      </p:sp>
      <p:grpSp>
        <p:nvGrpSpPr>
          <p:cNvPr id="805900" name="Group 12"/>
          <p:cNvGrpSpPr>
            <a:grpSpLocks/>
          </p:cNvGrpSpPr>
          <p:nvPr/>
        </p:nvGrpSpPr>
        <p:grpSpPr bwMode="auto">
          <a:xfrm>
            <a:off x="2728210" y="3772183"/>
            <a:ext cx="8625590" cy="2267736"/>
            <a:chOff x="1232" y="2426"/>
            <a:chExt cx="2785" cy="786"/>
          </a:xfrm>
        </p:grpSpPr>
        <p:sp>
          <p:nvSpPr>
            <p:cNvPr id="805892" name="Text Box 4"/>
            <p:cNvSpPr txBox="1">
              <a:spLocks noChangeArrowheads="1"/>
            </p:cNvSpPr>
            <p:nvPr/>
          </p:nvSpPr>
          <p:spPr bwMode="blackWhite">
            <a:xfrm>
              <a:off x="2265" y="2426"/>
              <a:ext cx="857" cy="192"/>
            </a:xfrm>
            <a:prstGeom prst="rect">
              <a:avLst/>
            </a:prstGeom>
            <a:noFill/>
            <a:ln w="9525">
              <a:solidFill>
                <a:schemeClr val="tx1"/>
              </a:solid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              Payment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5893" name="Text Box 5"/>
            <p:cNvSpPr txBox="1">
              <a:spLocks noChangeArrowheads="1"/>
            </p:cNvSpPr>
            <p:nvPr/>
          </p:nvSpPr>
          <p:spPr bwMode="blackWhite">
            <a:xfrm>
              <a:off x="1232" y="3012"/>
              <a:ext cx="857" cy="192"/>
            </a:xfrm>
            <a:prstGeom prst="rect">
              <a:avLst/>
            </a:prstGeom>
            <a:noFill/>
            <a:ln w="9525">
              <a:solidFill>
                <a:schemeClr val="tx1"/>
              </a:solid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Cash Payment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5894" name="Text Box 6"/>
            <p:cNvSpPr txBox="1">
              <a:spLocks noChangeArrowheads="1"/>
            </p:cNvSpPr>
            <p:nvPr/>
          </p:nvSpPr>
          <p:spPr bwMode="blackWhite">
            <a:xfrm>
              <a:off x="2192" y="3012"/>
              <a:ext cx="857" cy="192"/>
            </a:xfrm>
            <a:prstGeom prst="rect">
              <a:avLst/>
            </a:prstGeom>
            <a:noFill/>
            <a:ln w="9525">
              <a:solidFill>
                <a:schemeClr val="tx1"/>
              </a:solid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Credit Payment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5895" name="Text Box 7"/>
            <p:cNvSpPr txBox="1">
              <a:spLocks noChangeArrowheads="1"/>
            </p:cNvSpPr>
            <p:nvPr/>
          </p:nvSpPr>
          <p:spPr bwMode="blackWhite">
            <a:xfrm>
              <a:off x="3160" y="3020"/>
              <a:ext cx="857" cy="192"/>
            </a:xfrm>
            <a:prstGeom prst="rect">
              <a:avLst/>
            </a:prstGeom>
            <a:noFill/>
            <a:ln w="9525">
              <a:solidFill>
                <a:schemeClr val="tx1"/>
              </a:solid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Check Payment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5897" name="AutoShape 9"/>
            <p:cNvSpPr>
              <a:spLocks noChangeArrowheads="1"/>
            </p:cNvSpPr>
            <p:nvPr/>
          </p:nvSpPr>
          <p:spPr bwMode="blackWhite">
            <a:xfrm>
              <a:off x="2561" y="2619"/>
              <a:ext cx="133" cy="114"/>
            </a:xfrm>
            <a:prstGeom prst="triangle">
              <a:avLst>
                <a:gd name="adj" fmla="val 50000"/>
              </a:avLst>
            </a:prstGeom>
            <a:noFill/>
            <a:ln w="9525">
              <a:solidFill>
                <a:schemeClr val="tx1"/>
              </a:solidFill>
              <a:miter lim="800000"/>
              <a:headEnd/>
              <a:tailEnd/>
            </a:ln>
            <a:effectLst/>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5898" name="Line 10"/>
            <p:cNvSpPr>
              <a:spLocks noChangeShapeType="1"/>
            </p:cNvSpPr>
            <p:nvPr/>
          </p:nvSpPr>
          <p:spPr bwMode="blackWhite">
            <a:xfrm flipH="1">
              <a:off x="2626" y="2742"/>
              <a:ext cx="5" cy="146"/>
            </a:xfrm>
            <a:prstGeom prst="line">
              <a:avLst/>
            </a:prstGeom>
            <a:noFill/>
            <a:ln w="9525">
              <a:solidFill>
                <a:schemeClr val="tx1"/>
              </a:solidFill>
              <a:round/>
              <a:headEnd/>
              <a:tailEnd/>
            </a:ln>
            <a:effec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5899" name="Freeform 11"/>
            <p:cNvSpPr>
              <a:spLocks/>
            </p:cNvSpPr>
            <p:nvPr/>
          </p:nvSpPr>
          <p:spPr bwMode="blackWhite">
            <a:xfrm>
              <a:off x="1614" y="2888"/>
              <a:ext cx="2026" cy="146"/>
            </a:xfrm>
            <a:custGeom>
              <a:avLst/>
              <a:gdLst/>
              <a:ahLst/>
              <a:cxnLst>
                <a:cxn ang="0">
                  <a:pos x="0" y="112"/>
                </a:cxn>
                <a:cxn ang="0">
                  <a:pos x="0" y="0"/>
                </a:cxn>
                <a:cxn ang="0">
                  <a:pos x="2016" y="0"/>
                </a:cxn>
                <a:cxn ang="0">
                  <a:pos x="2016" y="128"/>
                </a:cxn>
              </a:cxnLst>
              <a:rect l="0" t="0" r="r" b="b"/>
              <a:pathLst>
                <a:path w="2016" h="128">
                  <a:moveTo>
                    <a:pt x="0" y="112"/>
                  </a:moveTo>
                  <a:lnTo>
                    <a:pt x="0" y="0"/>
                  </a:lnTo>
                  <a:lnTo>
                    <a:pt x="2016" y="0"/>
                  </a:lnTo>
                  <a:lnTo>
                    <a:pt x="2016" y="128"/>
                  </a:lnTo>
                </a:path>
              </a:pathLst>
            </a:custGeom>
            <a:noFill/>
            <a:ln w="9525" cap="flat" cmpd="sng">
              <a:solidFill>
                <a:schemeClr val="tx1"/>
              </a:solidFill>
              <a:prstDash val="solid"/>
              <a:round/>
              <a:headEnd/>
              <a:tailEnd/>
            </a:ln>
            <a:effec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3" name="Straight Connector 2">
            <a:extLst>
              <a:ext uri="{FF2B5EF4-FFF2-40B4-BE49-F238E27FC236}">
                <a16:creationId xmlns:a16="http://schemas.microsoft.com/office/drawing/2014/main" id="{104BE659-22B1-6C57-2ADA-8EAA7F4CE7F8}"/>
              </a:ext>
            </a:extLst>
          </p:cNvPr>
          <p:cNvCxnSpPr>
            <a:endCxn id="805894" idx="0"/>
          </p:cNvCxnSpPr>
          <p:nvPr/>
        </p:nvCxnSpPr>
        <p:spPr>
          <a:xfrm flipH="1">
            <a:off x="7028616" y="5105115"/>
            <a:ext cx="32521" cy="357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F95D0128-E62A-1B5F-B2B1-9D97D05679FA}"/>
              </a:ext>
            </a:extLst>
          </p:cNvPr>
          <p:cNvCxnSpPr/>
          <p:nvPr/>
        </p:nvCxnSpPr>
        <p:spPr>
          <a:xfrm>
            <a:off x="3237875" y="4326134"/>
            <a:ext cx="3477718" cy="16733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 name="TextBox 4">
            <a:extLst>
              <a:ext uri="{FF2B5EF4-FFF2-40B4-BE49-F238E27FC236}">
                <a16:creationId xmlns:a16="http://schemas.microsoft.com/office/drawing/2014/main" id="{B4576C96-78C3-99A6-2209-C85B75A81B39}"/>
              </a:ext>
            </a:extLst>
          </p:cNvPr>
          <p:cNvSpPr txBox="1"/>
          <p:nvPr/>
        </p:nvSpPr>
        <p:spPr>
          <a:xfrm>
            <a:off x="927600" y="3957001"/>
            <a:ext cx="31556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D7D31"/>
                </a:solidFill>
                <a:effectLst/>
                <a:uLnTx/>
                <a:uFillTx/>
                <a:latin typeface="Calibri" panose="020F0502020204030204"/>
                <a:ea typeface="+mn-ea"/>
                <a:cs typeface="+mn-cs"/>
              </a:rPr>
              <a:t>This is how we represent Generalization in UML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a:xfrm>
            <a:off x="3581392"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CF7F1F-BD89-4691-81D3-3829BAC0D3FE}"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12034" name="Rectangle 2"/>
          <p:cNvSpPr>
            <a:spLocks noGrp="1" noChangeArrowheads="1"/>
          </p:cNvSpPr>
          <p:nvPr>
            <p:ph type="title"/>
          </p:nvPr>
        </p:nvSpPr>
        <p:spPr>
          <a:xfrm>
            <a:off x="331539" y="48888"/>
            <a:ext cx="10515600" cy="1325563"/>
          </a:xfrm>
        </p:spPr>
        <p:txBody>
          <a:bodyPr/>
          <a:lstStyle/>
          <a:p>
            <a:r>
              <a:rPr lang="en-US" altLang="en-US" dirty="0"/>
              <a:t>Association Classes</a:t>
            </a:r>
          </a:p>
        </p:txBody>
      </p:sp>
      <p:sp>
        <p:nvSpPr>
          <p:cNvPr id="812036" name="Text Box 4"/>
          <p:cNvSpPr txBox="1">
            <a:spLocks noChangeArrowheads="1"/>
          </p:cNvSpPr>
          <p:nvPr/>
        </p:nvSpPr>
        <p:spPr bwMode="blackWhite">
          <a:xfrm>
            <a:off x="6489692" y="4318001"/>
            <a:ext cx="1460500" cy="276999"/>
          </a:xfrm>
          <a:prstGeom prst="rect">
            <a:avLst/>
          </a:prstGeom>
          <a:noFill/>
          <a:ln w="9525">
            <a:solidFill>
              <a:schemeClr val="tx1"/>
            </a:solid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Company</a:t>
            </a:r>
          </a:p>
        </p:txBody>
      </p:sp>
      <p:sp>
        <p:nvSpPr>
          <p:cNvPr id="812037" name="Text Box 5"/>
          <p:cNvSpPr txBox="1">
            <a:spLocks noChangeArrowheads="1"/>
          </p:cNvSpPr>
          <p:nvPr/>
        </p:nvSpPr>
        <p:spPr bwMode="blackWhite">
          <a:xfrm>
            <a:off x="9728192" y="4279901"/>
            <a:ext cx="1460500" cy="276999"/>
          </a:xfrm>
          <a:prstGeom prst="rect">
            <a:avLst/>
          </a:prstGeom>
          <a:noFill/>
          <a:ln w="9525">
            <a:solidFill>
              <a:schemeClr val="tx1"/>
            </a:solid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Person</a:t>
            </a:r>
          </a:p>
        </p:txBody>
      </p:sp>
      <p:sp>
        <p:nvSpPr>
          <p:cNvPr id="812038" name="Line 6"/>
          <p:cNvSpPr>
            <a:spLocks noChangeShapeType="1"/>
          </p:cNvSpPr>
          <p:nvPr/>
        </p:nvSpPr>
        <p:spPr bwMode="blackWhite">
          <a:xfrm>
            <a:off x="7937492" y="4457700"/>
            <a:ext cx="1803400" cy="0"/>
          </a:xfrm>
          <a:prstGeom prst="line">
            <a:avLst/>
          </a:prstGeom>
          <a:noFill/>
          <a:ln w="9525">
            <a:solidFill>
              <a:schemeClr val="tx1"/>
            </a:solidFill>
            <a:round/>
            <a:headEnd/>
            <a:tailEnd/>
          </a:ln>
          <a:effectLst/>
        </p:spPr>
        <p:txBody>
          <a:bodyPr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2039" name="Text Box 7"/>
          <p:cNvSpPr txBox="1">
            <a:spLocks noChangeArrowheads="1"/>
          </p:cNvSpPr>
          <p:nvPr/>
        </p:nvSpPr>
        <p:spPr bwMode="blackWhite">
          <a:xfrm>
            <a:off x="7967472" y="4149360"/>
            <a:ext cx="1714500" cy="553998"/>
          </a:xfrm>
          <a:prstGeom prst="rect">
            <a:avLst/>
          </a:prstGeom>
          <a:noFill/>
          <a:ln w="9525">
            <a:noFill/>
            <a:miter lim="800000"/>
            <a:headEnd/>
            <a:tailEnd/>
          </a:ln>
          <a:effectLst/>
        </p:spPr>
        <p:txBody>
          <a:bodyPr wrap="square" lIns="0" tIns="0" rIns="0" bIns="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Employs       0..*                       *</a:t>
            </a:r>
          </a:p>
        </p:txBody>
      </p:sp>
      <p:sp>
        <p:nvSpPr>
          <p:cNvPr id="812040" name="Text Box 8"/>
          <p:cNvSpPr txBox="1">
            <a:spLocks noChangeArrowheads="1"/>
          </p:cNvSpPr>
          <p:nvPr/>
        </p:nvSpPr>
        <p:spPr bwMode="blackWhite">
          <a:xfrm>
            <a:off x="8204192" y="5321301"/>
            <a:ext cx="1460500" cy="276999"/>
          </a:xfrm>
          <a:prstGeom prst="rect">
            <a:avLst/>
          </a:prstGeom>
          <a:noFill/>
          <a:ln w="9525">
            <a:solidFill>
              <a:schemeClr val="tx1"/>
            </a:solidFill>
            <a:miter lim="800000"/>
            <a:headEnd/>
            <a:tailEnd/>
          </a:ln>
          <a:effectLst/>
        </p:spPr>
        <p:txBody>
          <a:bodyPr lIns="0" tIns="0" rIns="0" bIns="0">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Employment</a:t>
            </a:r>
          </a:p>
        </p:txBody>
      </p:sp>
      <p:sp>
        <p:nvSpPr>
          <p:cNvPr id="812041" name="Line 9"/>
          <p:cNvSpPr>
            <a:spLocks noChangeShapeType="1"/>
          </p:cNvSpPr>
          <p:nvPr/>
        </p:nvSpPr>
        <p:spPr bwMode="blackWhite">
          <a:xfrm>
            <a:off x="8864592" y="4457700"/>
            <a:ext cx="38100" cy="850900"/>
          </a:xfrm>
          <a:prstGeom prst="line">
            <a:avLst/>
          </a:prstGeom>
          <a:noFill/>
          <a:ln w="9525">
            <a:solidFill>
              <a:schemeClr val="tx1"/>
            </a:solidFill>
            <a:prstDash val="dash"/>
            <a:round/>
            <a:headEnd/>
            <a:tailEnd/>
          </a:ln>
          <a:effectLst/>
        </p:spPr>
        <p:txBody>
          <a:bodyPr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Rectangle 3"/>
          <p:cNvSpPr txBox="1">
            <a:spLocks noChangeArrowheads="1"/>
          </p:cNvSpPr>
          <p:nvPr/>
        </p:nvSpPr>
        <p:spPr>
          <a:xfrm>
            <a:off x="331539" y="1620108"/>
            <a:ext cx="5993053" cy="473624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D3B45"/>
                </a:solidFill>
                <a:effectLst/>
                <a:uLnTx/>
                <a:uFillTx/>
                <a:latin typeface="Lato Extended"/>
                <a:ea typeface="+mn-ea"/>
                <a:cs typeface="+mn-cs"/>
              </a:rPr>
              <a:t>Let's consider an example using a "Person" and "Company" scenario”.</a:t>
            </a: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rgbClr val="2D3B45"/>
              </a:solidFill>
              <a:effectLst/>
              <a:uLnTx/>
              <a:uFillTx/>
              <a:latin typeface="Lato Extended"/>
              <a:ea typeface="+mn-ea"/>
              <a:cs typeface="+mn-cs"/>
            </a:endParaRP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D3B45"/>
                </a:solidFill>
                <a:effectLst/>
                <a:uLnTx/>
                <a:uFillTx/>
                <a:latin typeface="Lato Extended"/>
                <a:ea typeface="+mn-ea"/>
                <a:cs typeface="+mn-cs"/>
              </a:rPr>
              <a:t>Assume you have a system where individuals can be employed by multiple companies, and for each employment, there is additional information such as the role or position and the start date. </a:t>
            </a: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rgbClr val="2D3B45"/>
              </a:solidFill>
              <a:effectLst/>
              <a:uLnTx/>
              <a:uFillTx/>
              <a:latin typeface="Lato Extended"/>
              <a:ea typeface="+mn-ea"/>
              <a:cs typeface="+mn-cs"/>
            </a:endParaRPr>
          </a:p>
          <a:p>
            <a:pPr marL="342900" marR="0" lvl="0" indent="-3429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2D3B45"/>
                </a:solidFill>
                <a:effectLst/>
                <a:uLnTx/>
                <a:uFillTx/>
                <a:latin typeface="Lato Extended"/>
                <a:ea typeface="+mn-ea"/>
                <a:cs typeface="+mn-cs"/>
              </a:rPr>
              <a:t>In this case, you can use an association class to represent the relationship between "Person" and "Company" with the added information about the employment.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16136" name="Group 816135">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16137" name="Rectangle 816136">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6138" name="Rectangle 816137">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6139" name="Rectangle 816138">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16130" name="Rectangle 2"/>
          <p:cNvSpPr>
            <a:spLocks noGrp="1" noChangeArrowheads="1"/>
          </p:cNvSpPr>
          <p:nvPr>
            <p:ph type="title"/>
          </p:nvPr>
        </p:nvSpPr>
        <p:spPr>
          <a:xfrm>
            <a:off x="876691" y="301843"/>
            <a:ext cx="10477109" cy="1003532"/>
          </a:xfrm>
        </p:spPr>
        <p:txBody>
          <a:bodyPr anchor="ctr">
            <a:normAutofit/>
          </a:bodyPr>
          <a:lstStyle/>
          <a:p>
            <a:r>
              <a:rPr lang="en-US" altLang="en-US" sz="3200">
                <a:solidFill>
                  <a:srgbClr val="FFFFFF"/>
                </a:solidFill>
              </a:rPr>
              <a:t>Aggregation</a:t>
            </a:r>
          </a:p>
        </p:txBody>
      </p:sp>
      <p:sp>
        <p:nvSpPr>
          <p:cNvPr id="816131" name="Rectangle 3"/>
          <p:cNvSpPr>
            <a:spLocks noGrp="1" noChangeArrowheads="1"/>
          </p:cNvSpPr>
          <p:nvPr>
            <p:ph type="body" idx="1"/>
          </p:nvPr>
        </p:nvSpPr>
        <p:spPr>
          <a:xfrm>
            <a:off x="194872" y="2308124"/>
            <a:ext cx="11467476" cy="3673576"/>
          </a:xfrm>
        </p:spPr>
        <p:txBody>
          <a:bodyPr>
            <a:normAutofit lnSpcReduction="10000"/>
          </a:bodyPr>
          <a:lstStyle/>
          <a:p>
            <a:pPr marL="342900" indent="-342900"/>
            <a:r>
              <a:rPr lang="en-US" sz="3200" dirty="0"/>
              <a:t>It is a kind of association used for modeling whole-part relationships</a:t>
            </a:r>
          </a:p>
          <a:p>
            <a:pPr marL="0" indent="0">
              <a:buNone/>
            </a:pPr>
            <a:endParaRPr lang="en-US" sz="3200" dirty="0"/>
          </a:p>
          <a:p>
            <a:pPr marL="742950" lvl="1" indent="-285750"/>
            <a:r>
              <a:rPr lang="en-US" sz="3200" dirty="0"/>
              <a:t>Shown in UML as a hollow diamond symbol at the “whole end” of the whole-part association</a:t>
            </a:r>
          </a:p>
          <a:p>
            <a:pPr marL="457200" lvl="1" indent="0">
              <a:buNone/>
            </a:pPr>
            <a:endParaRPr lang="en-US" sz="3200" dirty="0"/>
          </a:p>
          <a:p>
            <a:pPr marL="742950" lvl="1" indent="-285750"/>
            <a:r>
              <a:rPr lang="en-US" sz="3200" dirty="0"/>
              <a:t>No semantic difference to a regular association, which is why </a:t>
            </a:r>
            <a:r>
              <a:rPr lang="en-US" sz="3200" dirty="0" err="1"/>
              <a:t>Larman</a:t>
            </a:r>
            <a:r>
              <a:rPr lang="en-US" sz="3200" dirty="0"/>
              <a:t> avoids it. </a:t>
            </a:r>
          </a:p>
          <a:p>
            <a:pPr marL="742950" lvl="1" indent="-285750"/>
            <a:endParaRPr lang="en-US" sz="2000" dirty="0"/>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AE379D67-711F-4FD1-8CAC-73C869398775}" type="slidenum">
              <a:rPr kumimoji="0" lang="de-DE" sz="12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31</a:t>
            </a:fld>
            <a:endParaRPr kumimoji="0" lang="de-DE" sz="12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65288" name="Group 86528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865289" name="Rectangle 86528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5290" name="Rectangle 86528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5291" name="Rectangle 86529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65282" name="Rectangle 2"/>
          <p:cNvSpPr>
            <a:spLocks noGrp="1" noChangeArrowheads="1"/>
          </p:cNvSpPr>
          <p:nvPr>
            <p:ph type="title"/>
          </p:nvPr>
        </p:nvSpPr>
        <p:spPr>
          <a:xfrm>
            <a:off x="876691" y="301843"/>
            <a:ext cx="10477109" cy="1003532"/>
          </a:xfrm>
        </p:spPr>
        <p:txBody>
          <a:bodyPr anchor="ctr">
            <a:normAutofit/>
          </a:bodyPr>
          <a:lstStyle/>
          <a:p>
            <a:r>
              <a:rPr lang="en-US" altLang="en-US" sz="3200">
                <a:solidFill>
                  <a:srgbClr val="FFFFFF"/>
                </a:solidFill>
              </a:rPr>
              <a:t>Composition</a:t>
            </a:r>
          </a:p>
        </p:txBody>
      </p:sp>
      <p:sp>
        <p:nvSpPr>
          <p:cNvPr id="865283" name="Rectangle 3"/>
          <p:cNvSpPr>
            <a:spLocks noGrp="1" noChangeArrowheads="1"/>
          </p:cNvSpPr>
          <p:nvPr>
            <p:ph type="body" idx="1"/>
          </p:nvPr>
        </p:nvSpPr>
        <p:spPr>
          <a:xfrm>
            <a:off x="269823" y="2308124"/>
            <a:ext cx="11737297" cy="3673576"/>
          </a:xfrm>
        </p:spPr>
        <p:txBody>
          <a:bodyPr>
            <a:normAutofit/>
          </a:bodyPr>
          <a:lstStyle/>
          <a:p>
            <a:pPr marL="342900" indent="-342900"/>
            <a:r>
              <a:rPr lang="en-US" dirty="0"/>
              <a:t>It is a specialized form of aggregation</a:t>
            </a:r>
          </a:p>
          <a:p>
            <a:pPr marL="742950" lvl="1" indent="-285750"/>
            <a:r>
              <a:rPr lang="en-US" sz="2800" dirty="0"/>
              <a:t>Shown in UML as a filled diamond symbol at the “whole end” of the whole-part association</a:t>
            </a:r>
          </a:p>
          <a:p>
            <a:pPr marL="457200" lvl="1" indent="0">
              <a:buNone/>
            </a:pPr>
            <a:endParaRPr lang="en-US" sz="2800" dirty="0"/>
          </a:p>
          <a:p>
            <a:pPr marL="742950" lvl="1" indent="-285750"/>
            <a:r>
              <a:rPr lang="en-US" sz="2800" dirty="0"/>
              <a:t>More meaningful than aggregation.</a:t>
            </a:r>
          </a:p>
          <a:p>
            <a:pPr lvl="2"/>
            <a:r>
              <a:rPr lang="en-US" sz="2800" dirty="0"/>
              <a:t>The parts are “owned” by the whole…they are often created together, they definitely die together, and operations applied to the whole propagate to the parts.</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C01CC517-C50E-4398-9830-AA253266BFB0}" type="slidenum">
              <a:rPr kumimoji="0" lang="de-DE" sz="12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32</a:t>
            </a:fld>
            <a:endParaRPr kumimoji="0" lang="de-DE" sz="12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5960" name="Rectangle 76595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5962" name="Rectangle 76596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5964" name="Rectangle 76596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5966" name="Rectangle 76596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5954" name="Rectangle 2"/>
          <p:cNvSpPr>
            <a:spLocks noGrp="1" noChangeArrowheads="1"/>
          </p:cNvSpPr>
          <p:nvPr>
            <p:ph type="title"/>
          </p:nvPr>
        </p:nvSpPr>
        <p:spPr>
          <a:xfrm>
            <a:off x="699713" y="248038"/>
            <a:ext cx="7063721" cy="1159200"/>
          </a:xfrm>
        </p:spPr>
        <p:txBody>
          <a:bodyPr vert="horz" lIns="91440" tIns="45720" rIns="91440" bIns="45720" rtlCol="0" anchor="ctr">
            <a:normAutofit/>
          </a:bodyPr>
          <a:lstStyle/>
          <a:p>
            <a:r>
              <a:rPr lang="en-US" altLang="en-US" sz="4000" kern="1200">
                <a:solidFill>
                  <a:srgbClr val="FFFFFF"/>
                </a:solidFill>
                <a:latin typeface="+mj-lt"/>
                <a:ea typeface="+mj-ea"/>
                <a:cs typeface="+mj-cs"/>
              </a:rPr>
              <a:t>System Operation Contracts</a:t>
            </a:r>
          </a:p>
        </p:txBody>
      </p:sp>
      <p:pic>
        <p:nvPicPr>
          <p:cNvPr id="765955" name="Picture 3"/>
          <p:cNvPicPr>
            <a:picLocks noGrp="1" noChangeAspect="1" noChangeArrowheads="1"/>
          </p:cNvPicPr>
          <p:nvPr>
            <p:ph idx="1"/>
          </p:nvPr>
        </p:nvPicPr>
        <p:blipFill>
          <a:blip r:embed="rId3"/>
          <a:stretch>
            <a:fillRect/>
          </a:stretch>
        </p:blipFill>
        <p:spPr>
          <a:xfrm>
            <a:off x="1757167" y="1966293"/>
            <a:ext cx="8677664" cy="4452160"/>
          </a:xfrm>
          <a:prstGeom prst="rect">
            <a:avLst/>
          </a:prstGeom>
          <a:noFill/>
        </p:spPr>
      </p:pic>
      <p:sp>
        <p:nvSpPr>
          <p:cNvPr id="4" name="Slide Number Placeholder 3"/>
          <p:cNvSpPr>
            <a:spLocks noGrp="1"/>
          </p:cNvSpPr>
          <p:nvPr>
            <p:ph type="sldNum" sz="quarter" idx="10"/>
          </p:nvPr>
        </p:nvSpPr>
        <p:spPr>
          <a:xfrm>
            <a:off x="11704319" y="6455664"/>
            <a:ext cx="448056"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10C0E1BF-AC19-4E39-AD54-1E1A62203205}" type="slidenum">
              <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33</a:t>
            </a:fld>
            <a:endPar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2104" name="Rectangle 77210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2106" name="Rectangle 77210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2108" name="Rectangle 77210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2110" name="Rectangle 77210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2112" name="Freeform: Shape 77211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2098" name="Rectangle 2"/>
          <p:cNvSpPr>
            <a:spLocks noGrp="1" noChangeArrowheads="1"/>
          </p:cNvSpPr>
          <p:nvPr>
            <p:ph type="title"/>
          </p:nvPr>
        </p:nvSpPr>
        <p:spPr>
          <a:xfrm>
            <a:off x="660041" y="2767106"/>
            <a:ext cx="2880828" cy="3071906"/>
          </a:xfrm>
        </p:spPr>
        <p:txBody>
          <a:bodyPr vert="horz" lIns="91440" tIns="45720" rIns="91440" bIns="45720" rtlCol="0" anchor="t">
            <a:normAutofit/>
          </a:bodyPr>
          <a:lstStyle/>
          <a:p>
            <a:r>
              <a:rPr lang="en-US" altLang="en-US" sz="4000" kern="1200" dirty="0">
                <a:solidFill>
                  <a:srgbClr val="FFFFFF"/>
                </a:solidFill>
                <a:latin typeface="+mj-lt"/>
                <a:ea typeface="+mj-ea"/>
                <a:cs typeface="+mj-cs"/>
              </a:rPr>
              <a:t>Operation Contract Full Template</a:t>
            </a:r>
          </a:p>
        </p:txBody>
      </p:sp>
      <p:pic>
        <p:nvPicPr>
          <p:cNvPr id="772099" name="Picture 3" descr="contract2"/>
          <p:cNvPicPr>
            <a:picLocks noGrp="1" noChangeAspect="1" noChangeArrowheads="1"/>
          </p:cNvPicPr>
          <p:nvPr>
            <p:ph idx="1"/>
          </p:nvPr>
        </p:nvPicPr>
        <p:blipFill>
          <a:blip r:embed="rId3"/>
          <a:stretch>
            <a:fillRect/>
          </a:stretch>
        </p:blipFill>
        <p:spPr>
          <a:xfrm>
            <a:off x="4038605" y="37211"/>
            <a:ext cx="8113770" cy="6875819"/>
          </a:xfrm>
          <a:prstGeom prst="rect">
            <a:avLst/>
          </a:prstGeom>
          <a:noFill/>
        </p:spPr>
      </p:pic>
      <p:sp>
        <p:nvSpPr>
          <p:cNvPr id="4" name="Slide Number Placeholder 3"/>
          <p:cNvSpPr>
            <a:spLocks noGrp="1"/>
          </p:cNvSpPr>
          <p:nvPr>
            <p:ph type="sldNum" sz="quarter" idx="10"/>
          </p:nvPr>
        </p:nvSpPr>
        <p:spPr>
          <a:xfrm>
            <a:off x="11704319" y="6455664"/>
            <a:ext cx="448056"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50ADCC1-ADA1-436F-8E49-4B03770FD01B}" type="slidenum">
              <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34</a:t>
            </a:fld>
            <a:endPar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4152" name="Rectangle 77415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4154" name="Rectangle 77415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4156" name="Rectangle 77415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4158" name="Rectangle 77415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4160" name="Freeform: Shape 77415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4146" name="Rectangle 2"/>
          <p:cNvSpPr>
            <a:spLocks noGrp="1" noChangeArrowheads="1"/>
          </p:cNvSpPr>
          <p:nvPr>
            <p:ph type="title"/>
          </p:nvPr>
        </p:nvSpPr>
        <p:spPr>
          <a:xfrm>
            <a:off x="660041" y="2767106"/>
            <a:ext cx="2880828" cy="3071906"/>
          </a:xfrm>
        </p:spPr>
        <p:txBody>
          <a:bodyPr vert="horz" lIns="91440" tIns="45720" rIns="91440" bIns="45720" rtlCol="0" anchor="t">
            <a:normAutofit/>
          </a:bodyPr>
          <a:lstStyle/>
          <a:p>
            <a:r>
              <a:rPr lang="en-US" altLang="en-US" sz="4000" kern="1200" dirty="0">
                <a:solidFill>
                  <a:srgbClr val="FFFFFF"/>
                </a:solidFill>
                <a:latin typeface="+mj-lt"/>
                <a:ea typeface="+mj-ea"/>
                <a:cs typeface="+mj-cs"/>
              </a:rPr>
              <a:t>Example (Operation Contract for </a:t>
            </a:r>
            <a:r>
              <a:rPr lang="en-US" altLang="en-US" sz="4000" i="1" kern="1200" dirty="0" err="1">
                <a:solidFill>
                  <a:srgbClr val="FFFFFF"/>
                </a:solidFill>
                <a:latin typeface="+mj-lt"/>
                <a:ea typeface="+mj-ea"/>
                <a:cs typeface="+mj-cs"/>
              </a:rPr>
              <a:t>enterItem</a:t>
            </a:r>
            <a:r>
              <a:rPr lang="en-US" altLang="en-US" sz="4000" kern="1200" dirty="0">
                <a:solidFill>
                  <a:srgbClr val="FFFFFF"/>
                </a:solidFill>
                <a:latin typeface="+mj-lt"/>
                <a:ea typeface="+mj-ea"/>
                <a:cs typeface="+mj-cs"/>
              </a:rPr>
              <a:t>)</a:t>
            </a:r>
          </a:p>
        </p:txBody>
      </p:sp>
      <p:pic>
        <p:nvPicPr>
          <p:cNvPr id="774147" name="Picture 3" descr="contract"/>
          <p:cNvPicPr>
            <a:picLocks noGrp="1" noChangeAspect="1" noChangeArrowheads="1"/>
          </p:cNvPicPr>
          <p:nvPr>
            <p:ph idx="1"/>
          </p:nvPr>
        </p:nvPicPr>
        <p:blipFill>
          <a:blip r:embed="rId3"/>
          <a:stretch>
            <a:fillRect/>
          </a:stretch>
        </p:blipFill>
        <p:spPr>
          <a:xfrm>
            <a:off x="4502428" y="493540"/>
            <a:ext cx="7225748" cy="5870920"/>
          </a:xfrm>
          <a:prstGeom prst="rect">
            <a:avLst/>
          </a:prstGeom>
          <a:noFill/>
        </p:spPr>
      </p:pic>
      <p:sp>
        <p:nvSpPr>
          <p:cNvPr id="4" name="Slide Number Placeholder 3"/>
          <p:cNvSpPr>
            <a:spLocks noGrp="1"/>
          </p:cNvSpPr>
          <p:nvPr>
            <p:ph type="sldNum" sz="quarter" idx="10"/>
          </p:nvPr>
        </p:nvSpPr>
        <p:spPr>
          <a:xfrm>
            <a:off x="11704319" y="6455664"/>
            <a:ext cx="448056"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B4DA01F8-02BC-447E-BCC7-96AFC80205E3}" type="slidenum">
              <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35</a:t>
            </a:fld>
            <a:endPar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4">
            <a:extLst>
              <a:ext uri="{FF2B5EF4-FFF2-40B4-BE49-F238E27FC236}">
                <a16:creationId xmlns:a16="http://schemas.microsoft.com/office/drawing/2014/main" id="{8672C2FB-BDE4-453D-B736-F2F905298F57}"/>
              </a:ext>
            </a:extLst>
          </p:cNvPr>
          <p:cNvPicPr>
            <a:picLocks noChangeAspect="1" noChangeArrowheads="1"/>
          </p:cNvPicPr>
          <p:nvPr/>
        </p:nvPicPr>
        <p:blipFill>
          <a:blip r:embed="rId2"/>
          <a:stretch>
            <a:fillRect/>
          </a:stretch>
        </p:blipFill>
        <p:spPr bwMode="auto">
          <a:xfrm>
            <a:off x="643467" y="832679"/>
            <a:ext cx="10905066" cy="5192641"/>
          </a:xfrm>
          <a:prstGeom prst="rect">
            <a:avLst/>
          </a:prstGeom>
          <a:noFill/>
        </p:spPr>
      </p:pic>
      <p:sp>
        <p:nvSpPr>
          <p:cNvPr id="2" name="Slide Number Placeholder 1">
            <a:extLst>
              <a:ext uri="{FF2B5EF4-FFF2-40B4-BE49-F238E27FC236}">
                <a16:creationId xmlns:a16="http://schemas.microsoft.com/office/drawing/2014/main" id="{7F853D5C-23EC-4695-8F34-F54732ACE5A7}"/>
              </a:ext>
            </a:extLst>
          </p:cNvPr>
          <p:cNvSpPr>
            <a:spLocks noGrp="1"/>
          </p:cNvSpPr>
          <p:nvPr>
            <p:ph type="sldNum" sz="quarter" idx="10"/>
          </p:nvPr>
        </p:nvSpPr>
        <p:spPr>
          <a:xfrm>
            <a:off x="86106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44C8290B-349C-469A-A3A9-47E61E8F9E2E}" type="slidenum">
              <a:rPr kumimoji="0" lang="de-DE" sz="1200" b="0" i="0" u="none" strike="noStrike" kern="1200" cap="none" spc="0" normalizeH="0" baseline="0" noProof="0">
                <a:ln>
                  <a:noFill/>
                </a:ln>
                <a:solidFill>
                  <a:srgbClr val="FFFFFF"/>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36</a:t>
            </a:fld>
            <a:endParaRPr kumimoji="0" lang="de-DE"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5120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9A3347-8576-FA16-4B27-35AF1FDC98D0}"/>
              </a:ext>
            </a:extLst>
          </p:cNvPr>
          <p:cNvSpPr>
            <a:spLocks noGrp="1"/>
          </p:cNvSpPr>
          <p:nvPr>
            <p:ph type="title"/>
          </p:nvPr>
        </p:nvSpPr>
        <p:spPr>
          <a:xfrm>
            <a:off x="1069848" y="484632"/>
            <a:ext cx="10058400" cy="1609344"/>
          </a:xfrm>
        </p:spPr>
        <p:txBody>
          <a:bodyPr>
            <a:normAutofit/>
          </a:bodyPr>
          <a:lstStyle/>
          <a:p>
            <a:pPr marL="342900" indent="-342900"/>
            <a:r>
              <a:rPr lang="en-US" altLang="en-US" sz="5400" dirty="0"/>
              <a:t>GRASP Patterns</a:t>
            </a:r>
          </a:p>
        </p:txBody>
      </p:sp>
      <p:sp>
        <p:nvSpPr>
          <p:cNvPr id="3" name="Content Placeholder 2">
            <a:extLst>
              <a:ext uri="{FF2B5EF4-FFF2-40B4-BE49-F238E27FC236}">
                <a16:creationId xmlns:a16="http://schemas.microsoft.com/office/drawing/2014/main" id="{84BD7749-20C1-909A-BE69-465D4AE59EE8}"/>
              </a:ext>
            </a:extLst>
          </p:cNvPr>
          <p:cNvSpPr>
            <a:spLocks noGrp="1"/>
          </p:cNvSpPr>
          <p:nvPr>
            <p:ph idx="1"/>
          </p:nvPr>
        </p:nvSpPr>
        <p:spPr>
          <a:xfrm>
            <a:off x="536647" y="2291220"/>
            <a:ext cx="11202271" cy="4366469"/>
          </a:xfrm>
        </p:spPr>
        <p:txBody>
          <a:bodyPr>
            <a:normAutofit fontScale="92500" lnSpcReduction="10000"/>
          </a:bodyPr>
          <a:lstStyle/>
          <a:p>
            <a:pPr marL="0" indent="0" algn="just">
              <a:buNone/>
            </a:pPr>
            <a:endParaRPr lang="en-US" sz="3400" dirty="0">
              <a:latin typeface="Times New Roman" panose="02020603050405020304" pitchFamily="18" charset="0"/>
              <a:cs typeface="Times New Roman" panose="02020603050405020304" pitchFamily="18" charset="0"/>
            </a:endParaRPr>
          </a:p>
          <a:p>
            <a:pPr marL="608012" lvl="1" indent="-342900"/>
            <a:r>
              <a:rPr lang="en-US" altLang="en-US" dirty="0"/>
              <a:t>Expert</a:t>
            </a:r>
          </a:p>
          <a:p>
            <a:pPr marL="608012" lvl="1" indent="-342900"/>
            <a:r>
              <a:rPr lang="en-US" altLang="en-US" dirty="0"/>
              <a:t>Creator</a:t>
            </a:r>
          </a:p>
          <a:p>
            <a:pPr marL="608012" lvl="1" indent="-342900"/>
            <a:r>
              <a:rPr lang="en-US" altLang="en-US" dirty="0"/>
              <a:t>Controller</a:t>
            </a:r>
          </a:p>
          <a:p>
            <a:pPr marL="608012" lvl="1" indent="-342900"/>
            <a:r>
              <a:rPr lang="en-US" altLang="en-US" dirty="0"/>
              <a:t>Low Coupling/High Cohesion</a:t>
            </a:r>
          </a:p>
          <a:p>
            <a:pPr marL="608012" lvl="1" indent="-342900"/>
            <a:r>
              <a:rPr lang="en-US" altLang="en-US" dirty="0"/>
              <a:t>Polymorphism</a:t>
            </a:r>
          </a:p>
          <a:p>
            <a:pPr marL="608012" lvl="1" indent="-342900"/>
            <a:r>
              <a:rPr lang="en-US" altLang="en-US" dirty="0"/>
              <a:t>Pure Fabrication</a:t>
            </a:r>
          </a:p>
          <a:p>
            <a:pPr marL="608012" lvl="1" indent="-342900"/>
            <a:r>
              <a:rPr lang="en-US" altLang="en-US" dirty="0"/>
              <a:t>Indirection</a:t>
            </a:r>
          </a:p>
          <a:p>
            <a:pPr marL="608012" lvl="1" indent="-342900"/>
            <a:r>
              <a:rPr lang="en-US" altLang="en-US" dirty="0"/>
              <a:t>Don’t Talk to Strangers (Law of Demeter)</a:t>
            </a:r>
          </a:p>
          <a:p>
            <a:pPr lvl="2"/>
            <a:endParaRPr lang="en-US" dirty="0"/>
          </a:p>
          <a:p>
            <a:pPr lvl="1"/>
            <a:endParaRPr lang="en-US" dirty="0"/>
          </a:p>
          <a:p>
            <a:endParaRPr lang="en-US" dirty="0"/>
          </a:p>
          <a:p>
            <a:endParaRPr lang="en-US" dirty="0"/>
          </a:p>
          <a:p>
            <a:endParaRPr lang="en-US" dirty="0"/>
          </a:p>
        </p:txBody>
      </p:sp>
      <p:sp>
        <p:nvSpPr>
          <p:cNvPr id="32" name="Oval 31">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4" name="Oval 33">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5C70DE7D-4BAE-F41A-DF31-318F363A90B4}"/>
              </a:ext>
            </a:extLst>
          </p:cNvPr>
          <p:cNvSpPr>
            <a:spLocks noGrp="1"/>
          </p:cNvSpPr>
          <p:nvPr>
            <p:ph type="sldNum" sz="quarter" idx="12"/>
          </p:nvPr>
        </p:nvSpPr>
        <p:spPr>
          <a:xfrm>
            <a:off x="11311128" y="6272784"/>
            <a:ext cx="64008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37</a:t>
            </a:fld>
            <a:endParaRPr kumimoji="0" lang="en-US" sz="14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822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hought Bubble: Cloud 3">
            <a:extLst>
              <a:ext uri="{FF2B5EF4-FFF2-40B4-BE49-F238E27FC236}">
                <a16:creationId xmlns:a16="http://schemas.microsoft.com/office/drawing/2014/main" id="{BEBA861C-DDD4-7D32-BDC5-444F49C6EFEF}"/>
              </a:ext>
            </a:extLst>
          </p:cNvPr>
          <p:cNvSpPr/>
          <p:nvPr/>
        </p:nvSpPr>
        <p:spPr>
          <a:xfrm>
            <a:off x="666771" y="1625827"/>
            <a:ext cx="2753591" cy="1505527"/>
          </a:xfrm>
          <a:prstGeom prst="cloudCallout">
            <a:avLst>
              <a:gd name="adj1" fmla="val 48349"/>
              <a:gd name="adj2" fmla="val 6924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SEQUENCE DIAGRAMS</a:t>
            </a:r>
          </a:p>
        </p:txBody>
      </p:sp>
      <p:sp>
        <p:nvSpPr>
          <p:cNvPr id="6" name="Thought Bubble: Cloud 5">
            <a:extLst>
              <a:ext uri="{FF2B5EF4-FFF2-40B4-BE49-F238E27FC236}">
                <a16:creationId xmlns:a16="http://schemas.microsoft.com/office/drawing/2014/main" id="{69E4241D-A7B7-D23D-2166-0229658AF989}"/>
              </a:ext>
            </a:extLst>
          </p:cNvPr>
          <p:cNvSpPr/>
          <p:nvPr/>
        </p:nvSpPr>
        <p:spPr>
          <a:xfrm>
            <a:off x="7596907" y="218436"/>
            <a:ext cx="2753591" cy="1505527"/>
          </a:xfrm>
          <a:prstGeom prst="cloudCallout">
            <a:avLst>
              <a:gd name="adj1" fmla="val -67877"/>
              <a:gd name="adj2" fmla="val 11142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SYSTEM SEQUENCE DIAGRAMS</a:t>
            </a:r>
          </a:p>
        </p:txBody>
      </p:sp>
      <p:sp>
        <p:nvSpPr>
          <p:cNvPr id="7" name="Thought Bubble: Cloud 6">
            <a:extLst>
              <a:ext uri="{FF2B5EF4-FFF2-40B4-BE49-F238E27FC236}">
                <a16:creationId xmlns:a16="http://schemas.microsoft.com/office/drawing/2014/main" id="{5AF09484-7101-2375-9DBC-02202A182ECA}"/>
              </a:ext>
            </a:extLst>
          </p:cNvPr>
          <p:cNvSpPr/>
          <p:nvPr/>
        </p:nvSpPr>
        <p:spPr>
          <a:xfrm>
            <a:off x="3597373" y="218436"/>
            <a:ext cx="2753591" cy="1505527"/>
          </a:xfrm>
          <a:prstGeom prst="cloudCallout">
            <a:avLst>
              <a:gd name="adj1" fmla="val 10068"/>
              <a:gd name="adj2" fmla="val 11564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INTERACTION DIAGRAMS</a:t>
            </a:r>
          </a:p>
        </p:txBody>
      </p:sp>
      <p:sp>
        <p:nvSpPr>
          <p:cNvPr id="8" name="Thought Bubble: Cloud 7">
            <a:extLst>
              <a:ext uri="{FF2B5EF4-FFF2-40B4-BE49-F238E27FC236}">
                <a16:creationId xmlns:a16="http://schemas.microsoft.com/office/drawing/2014/main" id="{09884AB9-D6FD-97BE-429C-B39A2C52080A}"/>
              </a:ext>
            </a:extLst>
          </p:cNvPr>
          <p:cNvSpPr/>
          <p:nvPr/>
        </p:nvSpPr>
        <p:spPr>
          <a:xfrm>
            <a:off x="7596907" y="2676236"/>
            <a:ext cx="3185392" cy="1505527"/>
          </a:xfrm>
          <a:prstGeom prst="cloudCallout">
            <a:avLst>
              <a:gd name="adj1" fmla="val -53925"/>
              <a:gd name="adj2" fmla="val 9455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COMMUNICATION (COLLABORATION) DIAGRAMS</a:t>
            </a:r>
          </a:p>
        </p:txBody>
      </p:sp>
      <p:pic>
        <p:nvPicPr>
          <p:cNvPr id="11" name="Picture 10">
            <a:extLst>
              <a:ext uri="{FF2B5EF4-FFF2-40B4-BE49-F238E27FC236}">
                <a16:creationId xmlns:a16="http://schemas.microsoft.com/office/drawing/2014/main" id="{7C2431D4-1B04-E530-DDF4-E0F0CF16F6C1}"/>
              </a:ext>
            </a:extLst>
          </p:cNvPr>
          <p:cNvPicPr>
            <a:picLocks noChangeAspect="1"/>
          </p:cNvPicPr>
          <p:nvPr/>
        </p:nvPicPr>
        <p:blipFill>
          <a:blip r:embed="rId2"/>
          <a:stretch>
            <a:fillRect/>
          </a:stretch>
        </p:blipFill>
        <p:spPr>
          <a:xfrm>
            <a:off x="3597373" y="2889299"/>
            <a:ext cx="3822523" cy="2584928"/>
          </a:xfrm>
          <a:prstGeom prst="rect">
            <a:avLst/>
          </a:prstGeom>
        </p:spPr>
      </p:pic>
      <p:sp>
        <p:nvSpPr>
          <p:cNvPr id="2" name="Thought Bubble: Cloud 3">
            <a:extLst>
              <a:ext uri="{FF2B5EF4-FFF2-40B4-BE49-F238E27FC236}">
                <a16:creationId xmlns:a16="http://schemas.microsoft.com/office/drawing/2014/main" id="{A8D904BA-2BE5-ECB4-7B18-DE450A49953F}"/>
              </a:ext>
            </a:extLst>
          </p:cNvPr>
          <p:cNvSpPr/>
          <p:nvPr/>
        </p:nvSpPr>
        <p:spPr>
          <a:xfrm>
            <a:off x="296657" y="3607027"/>
            <a:ext cx="2753591" cy="1505527"/>
          </a:xfrm>
          <a:prstGeom prst="cloudCallout">
            <a:avLst>
              <a:gd name="adj1" fmla="val 48349"/>
              <a:gd name="adj2" fmla="val 6924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DOMAIN</a:t>
            </a:r>
          </a:p>
          <a:p>
            <a:pPr algn="ctr"/>
            <a:r>
              <a:rPr lang="en-US" b="1" dirty="0">
                <a:solidFill>
                  <a:schemeClr val="tx1"/>
                </a:solidFill>
              </a:rPr>
              <a:t>MODEL</a:t>
            </a:r>
          </a:p>
        </p:txBody>
      </p:sp>
    </p:spTree>
    <p:extLst>
      <p:ext uri="{BB962C8B-B14F-4D97-AF65-F5344CB8AC3E}">
        <p14:creationId xmlns:p14="http://schemas.microsoft.com/office/powerpoint/2010/main" val="2561721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C4816C5-AB4D-4E9E-9A8C-08C156D24402}"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37634" name="Rectangle 2"/>
          <p:cNvSpPr>
            <a:spLocks noGrp="1" noChangeArrowheads="1"/>
          </p:cNvSpPr>
          <p:nvPr>
            <p:ph type="title"/>
          </p:nvPr>
        </p:nvSpPr>
        <p:spPr/>
        <p:txBody>
          <a:bodyPr/>
          <a:lstStyle/>
          <a:p>
            <a:r>
              <a:rPr lang="en-US"/>
              <a:t>How to Make a Class Diagram</a:t>
            </a:r>
          </a:p>
        </p:txBody>
      </p:sp>
      <p:sp>
        <p:nvSpPr>
          <p:cNvPr id="837635" name="Rectangle 3"/>
          <p:cNvSpPr>
            <a:spLocks noGrp="1" noChangeArrowheads="1"/>
          </p:cNvSpPr>
          <p:nvPr>
            <p:ph type="body" idx="1"/>
          </p:nvPr>
        </p:nvSpPr>
        <p:spPr/>
        <p:txBody>
          <a:bodyPr/>
          <a:lstStyle/>
          <a:p>
            <a:pPr marL="0" indent="0">
              <a:buNone/>
            </a:pPr>
            <a:r>
              <a:rPr lang="en-US" sz="2400" u="sng" dirty="0"/>
              <a:t>1. Identify all the classes</a:t>
            </a:r>
            <a:r>
              <a:rPr lang="en-US" sz="2400" dirty="0"/>
              <a:t> participating in the software solution by analyzing the interaction diagrams. </a:t>
            </a:r>
            <a:r>
              <a:rPr lang="en-US" sz="2400" b="1" dirty="0"/>
              <a:t>The interaction diagrams is your starting point.</a:t>
            </a:r>
          </a:p>
          <a:p>
            <a:pPr marL="723900" lvl="1" indent="-342900"/>
            <a:r>
              <a:rPr lang="en-US" sz="2200" dirty="0"/>
              <a:t>Draw them in a class diagram</a:t>
            </a:r>
          </a:p>
          <a:p>
            <a:pPr marL="0" indent="0">
              <a:buNone/>
            </a:pPr>
            <a:r>
              <a:rPr lang="en-US" sz="2400" u="sng" dirty="0"/>
              <a:t>2. Duplicate the attributes</a:t>
            </a:r>
            <a:r>
              <a:rPr lang="en-US" sz="2400" dirty="0"/>
              <a:t> from the associated concepts in the domain model.</a:t>
            </a:r>
          </a:p>
          <a:p>
            <a:pPr marL="0" indent="0">
              <a:buNone/>
            </a:pPr>
            <a:r>
              <a:rPr lang="en-US" sz="2400" u="sng" dirty="0"/>
              <a:t>3. Add method</a:t>
            </a:r>
            <a:r>
              <a:rPr lang="en-US" sz="2400" dirty="0"/>
              <a:t> names by analyzing interaction diagrams</a:t>
            </a:r>
          </a:p>
          <a:p>
            <a:pPr marL="0" indent="0">
              <a:buNone/>
            </a:pPr>
            <a:r>
              <a:rPr lang="en-US" sz="2400" u="sng" dirty="0"/>
              <a:t>4. Add type</a:t>
            </a:r>
            <a:r>
              <a:rPr lang="en-US" sz="2400" dirty="0"/>
              <a:t> information to attributes and methods</a:t>
            </a:r>
          </a:p>
          <a:p>
            <a:pPr marL="0" indent="0">
              <a:buNone/>
            </a:pPr>
            <a:r>
              <a:rPr lang="en-US" sz="2400" u="sng" dirty="0"/>
              <a:t>5. Add associations</a:t>
            </a:r>
            <a:r>
              <a:rPr lang="en-US" sz="2400" dirty="0"/>
              <a:t> necessary to support required attribute visibility</a:t>
            </a:r>
          </a:p>
          <a:p>
            <a:pPr marL="0" indent="0">
              <a:buNone/>
            </a:pPr>
            <a:r>
              <a:rPr lang="en-US" sz="2400" u="sng" dirty="0"/>
              <a:t>6. Add navigability</a:t>
            </a:r>
            <a:r>
              <a:rPr lang="en-US" sz="2400" dirty="0"/>
              <a:t> to associations to indicate direction of visibility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7B24B46-FC7A-4859-8E5B-18985FA5EFE7}" type="slidenum">
              <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52994" name="Freeform 2"/>
          <p:cNvSpPr>
            <a:spLocks/>
          </p:cNvSpPr>
          <p:nvPr/>
        </p:nvSpPr>
        <p:spPr bwMode="auto">
          <a:xfrm>
            <a:off x="4324350" y="2906714"/>
            <a:ext cx="6167438" cy="3354387"/>
          </a:xfrm>
          <a:custGeom>
            <a:avLst/>
            <a:gdLst/>
            <a:ahLst/>
            <a:cxnLst>
              <a:cxn ang="0">
                <a:pos x="294" y="99"/>
              </a:cxn>
              <a:cxn ang="0">
                <a:pos x="171" y="184"/>
              </a:cxn>
              <a:cxn ang="0">
                <a:pos x="147" y="454"/>
              </a:cxn>
              <a:cxn ang="0">
                <a:pos x="134" y="540"/>
              </a:cxn>
              <a:cxn ang="0">
                <a:pos x="24" y="613"/>
              </a:cxn>
              <a:cxn ang="0">
                <a:pos x="0" y="650"/>
              </a:cxn>
              <a:cxn ang="0">
                <a:pos x="85" y="809"/>
              </a:cxn>
              <a:cxn ang="0">
                <a:pos x="73" y="956"/>
              </a:cxn>
              <a:cxn ang="0">
                <a:pos x="85" y="1018"/>
              </a:cxn>
              <a:cxn ang="0">
                <a:pos x="147" y="1103"/>
              </a:cxn>
              <a:cxn ang="0">
                <a:pos x="122" y="1275"/>
              </a:cxn>
              <a:cxn ang="0">
                <a:pos x="98" y="1581"/>
              </a:cxn>
              <a:cxn ang="0">
                <a:pos x="134" y="1753"/>
              </a:cxn>
              <a:cxn ang="0">
                <a:pos x="159" y="1900"/>
              </a:cxn>
              <a:cxn ang="0">
                <a:pos x="318" y="1974"/>
              </a:cxn>
              <a:cxn ang="0">
                <a:pos x="649" y="2084"/>
              </a:cxn>
              <a:cxn ang="0">
                <a:pos x="747" y="2108"/>
              </a:cxn>
              <a:cxn ang="0">
                <a:pos x="1250" y="2072"/>
              </a:cxn>
              <a:cxn ang="0">
                <a:pos x="1323" y="2047"/>
              </a:cxn>
              <a:cxn ang="0">
                <a:pos x="1360" y="2023"/>
              </a:cxn>
              <a:cxn ang="0">
                <a:pos x="1409" y="2010"/>
              </a:cxn>
              <a:cxn ang="0">
                <a:pos x="1458" y="1986"/>
              </a:cxn>
              <a:cxn ang="0">
                <a:pos x="1531" y="1863"/>
              </a:cxn>
              <a:cxn ang="0">
                <a:pos x="1654" y="1189"/>
              </a:cxn>
              <a:cxn ang="0">
                <a:pos x="1777" y="1152"/>
              </a:cxn>
              <a:cxn ang="0">
                <a:pos x="2291" y="1091"/>
              </a:cxn>
              <a:cxn ang="0">
                <a:pos x="2733" y="1103"/>
              </a:cxn>
              <a:cxn ang="0">
                <a:pos x="3112" y="1202"/>
              </a:cxn>
              <a:cxn ang="0">
                <a:pos x="3443" y="1251"/>
              </a:cxn>
              <a:cxn ang="0">
                <a:pos x="3627" y="1238"/>
              </a:cxn>
              <a:cxn ang="0">
                <a:pos x="3786" y="1152"/>
              </a:cxn>
              <a:cxn ang="0">
                <a:pos x="3848" y="1079"/>
              </a:cxn>
              <a:cxn ang="0">
                <a:pos x="3885" y="920"/>
              </a:cxn>
              <a:cxn ang="0">
                <a:pos x="3872" y="724"/>
              </a:cxn>
              <a:cxn ang="0">
                <a:pos x="3835" y="626"/>
              </a:cxn>
              <a:cxn ang="0">
                <a:pos x="3566" y="197"/>
              </a:cxn>
              <a:cxn ang="0">
                <a:pos x="3358" y="135"/>
              </a:cxn>
              <a:cxn ang="0">
                <a:pos x="3186" y="99"/>
              </a:cxn>
              <a:cxn ang="0">
                <a:pos x="2757" y="135"/>
              </a:cxn>
              <a:cxn ang="0">
                <a:pos x="2438" y="123"/>
              </a:cxn>
              <a:cxn ang="0">
                <a:pos x="2353" y="86"/>
              </a:cxn>
              <a:cxn ang="0">
                <a:pos x="2230" y="50"/>
              </a:cxn>
              <a:cxn ang="0">
                <a:pos x="1948" y="99"/>
              </a:cxn>
              <a:cxn ang="0">
                <a:pos x="1715" y="50"/>
              </a:cxn>
              <a:cxn ang="0">
                <a:pos x="1617" y="62"/>
              </a:cxn>
              <a:cxn ang="0">
                <a:pos x="1568" y="86"/>
              </a:cxn>
              <a:cxn ang="0">
                <a:pos x="1470" y="74"/>
              </a:cxn>
              <a:cxn ang="0">
                <a:pos x="1323" y="25"/>
              </a:cxn>
              <a:cxn ang="0">
                <a:pos x="1225" y="0"/>
              </a:cxn>
              <a:cxn ang="0">
                <a:pos x="882" y="13"/>
              </a:cxn>
              <a:cxn ang="0">
                <a:pos x="612" y="86"/>
              </a:cxn>
              <a:cxn ang="0">
                <a:pos x="527" y="62"/>
              </a:cxn>
              <a:cxn ang="0">
                <a:pos x="453" y="37"/>
              </a:cxn>
              <a:cxn ang="0">
                <a:pos x="367" y="50"/>
              </a:cxn>
              <a:cxn ang="0">
                <a:pos x="343" y="86"/>
              </a:cxn>
              <a:cxn ang="0">
                <a:pos x="294" y="99"/>
              </a:cxn>
            </a:cxnLst>
            <a:rect l="0" t="0" r="r" b="b"/>
            <a:pathLst>
              <a:path w="3885" h="2113">
                <a:moveTo>
                  <a:pt x="294" y="99"/>
                </a:moveTo>
                <a:cubicBezTo>
                  <a:pt x="252" y="126"/>
                  <a:pt x="213" y="157"/>
                  <a:pt x="171" y="184"/>
                </a:cubicBezTo>
                <a:cubicBezTo>
                  <a:pt x="109" y="280"/>
                  <a:pt x="105" y="334"/>
                  <a:pt x="147" y="454"/>
                </a:cubicBezTo>
                <a:cubicBezTo>
                  <a:pt x="143" y="483"/>
                  <a:pt x="145" y="513"/>
                  <a:pt x="134" y="540"/>
                </a:cubicBezTo>
                <a:cubicBezTo>
                  <a:pt x="118" y="579"/>
                  <a:pt x="59" y="602"/>
                  <a:pt x="24" y="613"/>
                </a:cubicBezTo>
                <a:cubicBezTo>
                  <a:pt x="16" y="625"/>
                  <a:pt x="0" y="635"/>
                  <a:pt x="0" y="650"/>
                </a:cubicBezTo>
                <a:cubicBezTo>
                  <a:pt x="0" y="713"/>
                  <a:pt x="53" y="762"/>
                  <a:pt x="85" y="809"/>
                </a:cubicBezTo>
                <a:cubicBezTo>
                  <a:pt x="100" y="866"/>
                  <a:pt x="91" y="901"/>
                  <a:pt x="73" y="956"/>
                </a:cubicBezTo>
                <a:cubicBezTo>
                  <a:pt x="77" y="977"/>
                  <a:pt x="76" y="999"/>
                  <a:pt x="85" y="1018"/>
                </a:cubicBezTo>
                <a:cubicBezTo>
                  <a:pt x="101" y="1049"/>
                  <a:pt x="147" y="1103"/>
                  <a:pt x="147" y="1103"/>
                </a:cubicBezTo>
                <a:cubicBezTo>
                  <a:pt x="164" y="1173"/>
                  <a:pt x="144" y="1208"/>
                  <a:pt x="122" y="1275"/>
                </a:cubicBezTo>
                <a:cubicBezTo>
                  <a:pt x="130" y="1375"/>
                  <a:pt x="157" y="1492"/>
                  <a:pt x="98" y="1581"/>
                </a:cubicBezTo>
                <a:cubicBezTo>
                  <a:pt x="107" y="1643"/>
                  <a:pt x="123" y="1693"/>
                  <a:pt x="134" y="1753"/>
                </a:cubicBezTo>
                <a:cubicBezTo>
                  <a:pt x="143" y="1802"/>
                  <a:pt x="138" y="1855"/>
                  <a:pt x="159" y="1900"/>
                </a:cubicBezTo>
                <a:cubicBezTo>
                  <a:pt x="173" y="1930"/>
                  <a:pt x="290" y="1962"/>
                  <a:pt x="318" y="1974"/>
                </a:cubicBezTo>
                <a:cubicBezTo>
                  <a:pt x="364" y="2113"/>
                  <a:pt x="533" y="2055"/>
                  <a:pt x="649" y="2084"/>
                </a:cubicBezTo>
                <a:cubicBezTo>
                  <a:pt x="682" y="2092"/>
                  <a:pt x="747" y="2108"/>
                  <a:pt x="747" y="2108"/>
                </a:cubicBezTo>
                <a:cubicBezTo>
                  <a:pt x="942" y="2100"/>
                  <a:pt x="1066" y="2085"/>
                  <a:pt x="1250" y="2072"/>
                </a:cubicBezTo>
                <a:cubicBezTo>
                  <a:pt x="1274" y="2063"/>
                  <a:pt x="1300" y="2058"/>
                  <a:pt x="1323" y="2047"/>
                </a:cubicBezTo>
                <a:cubicBezTo>
                  <a:pt x="1336" y="2041"/>
                  <a:pt x="1346" y="2029"/>
                  <a:pt x="1360" y="2023"/>
                </a:cubicBezTo>
                <a:cubicBezTo>
                  <a:pt x="1376" y="2016"/>
                  <a:pt x="1393" y="2016"/>
                  <a:pt x="1409" y="2010"/>
                </a:cubicBezTo>
                <a:cubicBezTo>
                  <a:pt x="1426" y="2004"/>
                  <a:pt x="1442" y="1994"/>
                  <a:pt x="1458" y="1986"/>
                </a:cubicBezTo>
                <a:cubicBezTo>
                  <a:pt x="1517" y="1897"/>
                  <a:pt x="1494" y="1939"/>
                  <a:pt x="1531" y="1863"/>
                </a:cubicBezTo>
                <a:cubicBezTo>
                  <a:pt x="1533" y="1793"/>
                  <a:pt x="1432" y="1287"/>
                  <a:pt x="1654" y="1189"/>
                </a:cubicBezTo>
                <a:cubicBezTo>
                  <a:pt x="1684" y="1176"/>
                  <a:pt x="1742" y="1161"/>
                  <a:pt x="1777" y="1152"/>
                </a:cubicBezTo>
                <a:cubicBezTo>
                  <a:pt x="1909" y="1064"/>
                  <a:pt x="2186" y="1094"/>
                  <a:pt x="2291" y="1091"/>
                </a:cubicBezTo>
                <a:cubicBezTo>
                  <a:pt x="2438" y="1095"/>
                  <a:pt x="2586" y="1093"/>
                  <a:pt x="2733" y="1103"/>
                </a:cubicBezTo>
                <a:cubicBezTo>
                  <a:pt x="2857" y="1112"/>
                  <a:pt x="2991" y="1175"/>
                  <a:pt x="3112" y="1202"/>
                </a:cubicBezTo>
                <a:cubicBezTo>
                  <a:pt x="3221" y="1226"/>
                  <a:pt x="3333" y="1234"/>
                  <a:pt x="3443" y="1251"/>
                </a:cubicBezTo>
                <a:cubicBezTo>
                  <a:pt x="3504" y="1247"/>
                  <a:pt x="3566" y="1245"/>
                  <a:pt x="3627" y="1238"/>
                </a:cubicBezTo>
                <a:cubicBezTo>
                  <a:pt x="3683" y="1232"/>
                  <a:pt x="3735" y="1178"/>
                  <a:pt x="3786" y="1152"/>
                </a:cubicBezTo>
                <a:cubicBezTo>
                  <a:pt x="3804" y="1126"/>
                  <a:pt x="3835" y="1108"/>
                  <a:pt x="3848" y="1079"/>
                </a:cubicBezTo>
                <a:cubicBezTo>
                  <a:pt x="3855" y="1063"/>
                  <a:pt x="3878" y="951"/>
                  <a:pt x="3885" y="920"/>
                </a:cubicBezTo>
                <a:cubicBezTo>
                  <a:pt x="3881" y="855"/>
                  <a:pt x="3879" y="789"/>
                  <a:pt x="3872" y="724"/>
                </a:cubicBezTo>
                <a:cubicBezTo>
                  <a:pt x="3870" y="707"/>
                  <a:pt x="3836" y="629"/>
                  <a:pt x="3835" y="626"/>
                </a:cubicBezTo>
                <a:cubicBezTo>
                  <a:pt x="3777" y="462"/>
                  <a:pt x="3745" y="279"/>
                  <a:pt x="3566" y="197"/>
                </a:cubicBezTo>
                <a:cubicBezTo>
                  <a:pt x="3445" y="142"/>
                  <a:pt x="3468" y="152"/>
                  <a:pt x="3358" y="135"/>
                </a:cubicBezTo>
                <a:cubicBezTo>
                  <a:pt x="3302" y="117"/>
                  <a:pt x="3243" y="113"/>
                  <a:pt x="3186" y="99"/>
                </a:cubicBezTo>
                <a:cubicBezTo>
                  <a:pt x="2991" y="106"/>
                  <a:pt x="2906" y="87"/>
                  <a:pt x="2757" y="135"/>
                </a:cubicBezTo>
                <a:cubicBezTo>
                  <a:pt x="2651" y="131"/>
                  <a:pt x="2544" y="130"/>
                  <a:pt x="2438" y="123"/>
                </a:cubicBezTo>
                <a:cubicBezTo>
                  <a:pt x="2413" y="121"/>
                  <a:pt x="2371" y="93"/>
                  <a:pt x="2353" y="86"/>
                </a:cubicBezTo>
                <a:cubicBezTo>
                  <a:pt x="2306" y="67"/>
                  <a:pt x="2276" y="61"/>
                  <a:pt x="2230" y="50"/>
                </a:cubicBezTo>
                <a:cubicBezTo>
                  <a:pt x="2013" y="63"/>
                  <a:pt x="2084" y="51"/>
                  <a:pt x="1948" y="99"/>
                </a:cubicBezTo>
                <a:cubicBezTo>
                  <a:pt x="1848" y="89"/>
                  <a:pt x="1802" y="78"/>
                  <a:pt x="1715" y="50"/>
                </a:cubicBezTo>
                <a:cubicBezTo>
                  <a:pt x="1682" y="54"/>
                  <a:pt x="1649" y="54"/>
                  <a:pt x="1617" y="62"/>
                </a:cubicBezTo>
                <a:cubicBezTo>
                  <a:pt x="1599" y="66"/>
                  <a:pt x="1586" y="85"/>
                  <a:pt x="1568" y="86"/>
                </a:cubicBezTo>
                <a:cubicBezTo>
                  <a:pt x="1535" y="89"/>
                  <a:pt x="1503" y="78"/>
                  <a:pt x="1470" y="74"/>
                </a:cubicBezTo>
                <a:cubicBezTo>
                  <a:pt x="1422" y="58"/>
                  <a:pt x="1372" y="38"/>
                  <a:pt x="1323" y="25"/>
                </a:cubicBezTo>
                <a:cubicBezTo>
                  <a:pt x="1290" y="17"/>
                  <a:pt x="1225" y="0"/>
                  <a:pt x="1225" y="0"/>
                </a:cubicBezTo>
                <a:cubicBezTo>
                  <a:pt x="1084" y="15"/>
                  <a:pt x="1032" y="23"/>
                  <a:pt x="882" y="13"/>
                </a:cubicBezTo>
                <a:cubicBezTo>
                  <a:pt x="741" y="31"/>
                  <a:pt x="710" y="22"/>
                  <a:pt x="612" y="86"/>
                </a:cubicBezTo>
                <a:cubicBezTo>
                  <a:pt x="584" y="78"/>
                  <a:pt x="555" y="71"/>
                  <a:pt x="527" y="62"/>
                </a:cubicBezTo>
                <a:cubicBezTo>
                  <a:pt x="502" y="54"/>
                  <a:pt x="453" y="37"/>
                  <a:pt x="453" y="37"/>
                </a:cubicBezTo>
                <a:cubicBezTo>
                  <a:pt x="424" y="41"/>
                  <a:pt x="393" y="38"/>
                  <a:pt x="367" y="50"/>
                </a:cubicBezTo>
                <a:cubicBezTo>
                  <a:pt x="354" y="56"/>
                  <a:pt x="355" y="78"/>
                  <a:pt x="343" y="86"/>
                </a:cubicBezTo>
                <a:cubicBezTo>
                  <a:pt x="329" y="95"/>
                  <a:pt x="310" y="95"/>
                  <a:pt x="294" y="99"/>
                </a:cubicBezTo>
                <a:close/>
              </a:path>
            </a:pathLst>
          </a:custGeom>
          <a:solidFill>
            <a:srgbClr val="99CCFF"/>
          </a:solidFill>
          <a:ln w="9525" cap="flat" cmpd="sng">
            <a:solidFill>
              <a:srgbClr val="CCFFFF"/>
            </a:solidFill>
            <a:prstDash val="solid"/>
            <a:round/>
            <a:headEnd type="none" w="med" len="med"/>
            <a:tailEnd type="none" w="med" len="med"/>
          </a:ln>
          <a:effec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52995" name="Group 3"/>
          <p:cNvGrpSpPr>
            <a:grpSpLocks/>
          </p:cNvGrpSpPr>
          <p:nvPr/>
        </p:nvGrpSpPr>
        <p:grpSpPr bwMode="auto">
          <a:xfrm>
            <a:off x="1932163" y="497411"/>
            <a:ext cx="8361359" cy="2390775"/>
            <a:chOff x="57" y="57"/>
            <a:chExt cx="5267" cy="1506"/>
          </a:xfrm>
        </p:grpSpPr>
        <p:pic>
          <p:nvPicPr>
            <p:cNvPr id="852996" name="Picture 4"/>
            <p:cNvPicPr>
              <a:picLocks noChangeAspect="1" noChangeArrowheads="1"/>
            </p:cNvPicPr>
            <p:nvPr/>
          </p:nvPicPr>
          <p:blipFill>
            <a:blip r:embed="rId3"/>
            <a:srcRect/>
            <a:stretch>
              <a:fillRect/>
            </a:stretch>
          </p:blipFill>
          <p:spPr bwMode="auto">
            <a:xfrm>
              <a:off x="57" y="57"/>
              <a:ext cx="2834" cy="1506"/>
            </a:xfrm>
            <a:prstGeom prst="rect">
              <a:avLst/>
            </a:prstGeom>
            <a:solidFill>
              <a:schemeClr val="bg1"/>
            </a:solidFill>
            <a:ln w="9525">
              <a:noFill/>
              <a:miter lim="800000"/>
              <a:headEnd/>
              <a:tailEnd/>
            </a:ln>
            <a:effectLst/>
          </p:spPr>
        </p:pic>
        <p:sp>
          <p:nvSpPr>
            <p:cNvPr id="852997" name="Text Box 5"/>
            <p:cNvSpPr txBox="1">
              <a:spLocks noChangeArrowheads="1"/>
            </p:cNvSpPr>
            <p:nvPr/>
          </p:nvSpPr>
          <p:spPr bwMode="auto">
            <a:xfrm>
              <a:off x="3168" y="720"/>
              <a:ext cx="2156" cy="407"/>
            </a:xfrm>
            <a:prstGeom prst="rect">
              <a:avLst/>
            </a:prstGeom>
            <a:noFill/>
            <a:ln w="9525">
              <a:noFill/>
              <a:miter lim="800000"/>
              <a:headEnd/>
              <a:tailEnd/>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80808"/>
                  </a:solidFill>
                  <a:effectLst/>
                  <a:uLnTx/>
                  <a:uFillTx/>
                  <a:latin typeface="Comic Sans MS" pitchFamily="66" charset="0"/>
                  <a:ea typeface="+mn-ea"/>
                  <a:cs typeface="+mn-cs"/>
                </a:rPr>
                <a:t>From</a:t>
              </a:r>
              <a:r>
                <a:rPr kumimoji="0" lang="en-US" sz="1800" b="0" i="0" u="none" strike="noStrike" kern="1200" cap="none" spc="0" normalizeH="0" baseline="0" noProof="0" dirty="0">
                  <a:ln>
                    <a:noFill/>
                  </a:ln>
                  <a:solidFill>
                    <a:srgbClr val="E7E6E6"/>
                  </a:solidFill>
                  <a:effectLst/>
                  <a:uLnTx/>
                  <a:uFillTx/>
                  <a:latin typeface="Comic Sans MS" pitchFamily="66" charset="0"/>
                  <a:ea typeface="+mn-ea"/>
                  <a:cs typeface="+mn-cs"/>
                </a:rPr>
                <a:t> </a:t>
              </a:r>
              <a:r>
                <a:rPr kumimoji="0" lang="en-US" sz="1800" b="0" i="0" u="none" strike="noStrike" kern="1200" cap="none" spc="0" normalizeH="0" baseline="0" noProof="0" dirty="0">
                  <a:ln>
                    <a:noFill/>
                  </a:ln>
                  <a:solidFill>
                    <a:srgbClr val="080808"/>
                  </a:solidFill>
                  <a:effectLst/>
                  <a:uLnTx/>
                  <a:uFillTx/>
                  <a:latin typeface="Comic Sans MS" pitchFamily="66" charset="0"/>
                  <a:ea typeface="+mn-ea"/>
                  <a:cs typeface="+mn-cs"/>
                </a:rPr>
                <a:t>Communication</a:t>
              </a:r>
              <a:r>
                <a:rPr kumimoji="0" lang="en-US" sz="1800" b="0" i="0" u="none" strike="noStrike" kern="1200" cap="none" spc="0" normalizeH="0" baseline="0" noProof="0" dirty="0">
                  <a:ln>
                    <a:noFill/>
                  </a:ln>
                  <a:solidFill>
                    <a:srgbClr val="E7E6E6"/>
                  </a:solidFill>
                  <a:effectLst/>
                  <a:uLnTx/>
                  <a:uFillTx/>
                  <a:latin typeface="Comic Sans MS" pitchFamily="66" charset="0"/>
                  <a:ea typeface="+mn-ea"/>
                  <a:cs typeface="+mn-cs"/>
                </a:rPr>
                <a:t> </a:t>
              </a:r>
              <a:r>
                <a:rPr kumimoji="0" lang="en-US" sz="1800" b="0" i="0" u="none" strike="noStrike" kern="1200" cap="none" spc="0" normalizeH="0" baseline="0" noProof="0" dirty="0">
                  <a:ln>
                    <a:noFill/>
                  </a:ln>
                  <a:solidFill>
                    <a:srgbClr val="080808"/>
                  </a:solidFill>
                  <a:effectLst/>
                  <a:uLnTx/>
                  <a:uFillTx/>
                  <a:latin typeface="Comic Sans MS" pitchFamily="66" charset="0"/>
                  <a:ea typeface="+mn-ea"/>
                  <a:cs typeface="+mn-cs"/>
                </a:rPr>
                <a:t>diagram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7E6E6"/>
                </a:solidFill>
                <a:effectLst/>
                <a:uLnTx/>
                <a:uFillTx/>
                <a:latin typeface="Comic Sans MS" pitchFamily="66" charset="0"/>
                <a:ea typeface="+mn-ea"/>
                <a:cs typeface="+mn-cs"/>
              </a:endParaRPr>
            </a:p>
          </p:txBody>
        </p:sp>
        <p:sp>
          <p:nvSpPr>
            <p:cNvPr id="852998" name="Freeform 6"/>
            <p:cNvSpPr>
              <a:spLocks/>
            </p:cNvSpPr>
            <p:nvPr/>
          </p:nvSpPr>
          <p:spPr bwMode="auto">
            <a:xfrm>
              <a:off x="2879" y="282"/>
              <a:ext cx="1198" cy="438"/>
            </a:xfrm>
            <a:custGeom>
              <a:avLst/>
              <a:gdLst/>
              <a:ahLst/>
              <a:cxnLst>
                <a:cxn ang="0">
                  <a:pos x="1200" y="440"/>
                </a:cxn>
                <a:cxn ang="0">
                  <a:pos x="672" y="56"/>
                </a:cxn>
                <a:cxn ang="0">
                  <a:pos x="0" y="104"/>
                </a:cxn>
              </a:cxnLst>
              <a:rect l="0" t="0" r="r" b="b"/>
              <a:pathLst>
                <a:path w="1200" h="440">
                  <a:moveTo>
                    <a:pt x="1200" y="440"/>
                  </a:moveTo>
                  <a:cubicBezTo>
                    <a:pt x="1036" y="276"/>
                    <a:pt x="872" y="112"/>
                    <a:pt x="672" y="56"/>
                  </a:cubicBezTo>
                  <a:cubicBezTo>
                    <a:pt x="472" y="0"/>
                    <a:pt x="236" y="52"/>
                    <a:pt x="0" y="104"/>
                  </a:cubicBezTo>
                </a:path>
              </a:pathLst>
            </a:custGeom>
            <a:noFill/>
            <a:ln w="9525" cap="flat" cmpd="sng">
              <a:solidFill>
                <a:srgbClr val="080808"/>
              </a:solidFill>
              <a:prstDash val="solid"/>
              <a:round/>
              <a:headEnd type="none" w="med" len="med"/>
              <a:tailEnd type="stealth" w="med" len="med"/>
            </a:ln>
            <a:effec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52999" name="Group 7"/>
          <p:cNvGrpSpPr>
            <a:grpSpLocks/>
          </p:cNvGrpSpPr>
          <p:nvPr/>
        </p:nvGrpSpPr>
        <p:grpSpPr bwMode="auto">
          <a:xfrm>
            <a:off x="4633914" y="1778000"/>
            <a:ext cx="5392737" cy="5029200"/>
            <a:chOff x="2159" y="912"/>
            <a:chExt cx="3485" cy="3237"/>
          </a:xfrm>
        </p:grpSpPr>
        <p:pic>
          <p:nvPicPr>
            <p:cNvPr id="853000" name="Picture 8"/>
            <p:cNvPicPr>
              <a:picLocks noChangeAspect="1" noChangeArrowheads="1"/>
            </p:cNvPicPr>
            <p:nvPr/>
          </p:nvPicPr>
          <p:blipFill>
            <a:blip r:embed="rId4"/>
            <a:srcRect/>
            <a:stretch>
              <a:fillRect/>
            </a:stretch>
          </p:blipFill>
          <p:spPr bwMode="auto">
            <a:xfrm>
              <a:off x="2159" y="1894"/>
              <a:ext cx="3485" cy="2255"/>
            </a:xfrm>
            <a:prstGeom prst="rect">
              <a:avLst/>
            </a:prstGeom>
            <a:noFill/>
            <a:ln w="9525">
              <a:noFill/>
              <a:miter lim="800000"/>
              <a:headEnd/>
              <a:tailEnd/>
            </a:ln>
            <a:effectLst/>
          </p:spPr>
        </p:pic>
        <p:sp>
          <p:nvSpPr>
            <p:cNvPr id="853001" name="Freeform 9"/>
            <p:cNvSpPr>
              <a:spLocks/>
            </p:cNvSpPr>
            <p:nvPr/>
          </p:nvSpPr>
          <p:spPr bwMode="auto">
            <a:xfrm>
              <a:off x="4368" y="1104"/>
              <a:ext cx="104" cy="720"/>
            </a:xfrm>
            <a:custGeom>
              <a:avLst/>
              <a:gdLst/>
              <a:ahLst/>
              <a:cxnLst>
                <a:cxn ang="0">
                  <a:pos x="0" y="0"/>
                </a:cxn>
                <a:cxn ang="0">
                  <a:pos x="96" y="432"/>
                </a:cxn>
                <a:cxn ang="0">
                  <a:pos x="48" y="720"/>
                </a:cxn>
              </a:cxnLst>
              <a:rect l="0" t="0" r="r" b="b"/>
              <a:pathLst>
                <a:path w="104" h="720">
                  <a:moveTo>
                    <a:pt x="0" y="0"/>
                  </a:moveTo>
                  <a:cubicBezTo>
                    <a:pt x="44" y="156"/>
                    <a:pt x="88" y="312"/>
                    <a:pt x="96" y="432"/>
                  </a:cubicBezTo>
                  <a:cubicBezTo>
                    <a:pt x="104" y="552"/>
                    <a:pt x="76" y="636"/>
                    <a:pt x="48" y="720"/>
                  </a:cubicBezTo>
                </a:path>
              </a:pathLst>
            </a:custGeom>
            <a:noFill/>
            <a:ln w="9525" cap="flat" cmpd="sng">
              <a:solidFill>
                <a:srgbClr val="080808"/>
              </a:solidFill>
              <a:prstDash val="solid"/>
              <a:round/>
              <a:headEnd type="none" w="med" len="med"/>
              <a:tailEnd type="stealth" w="med" len="med"/>
            </a:ln>
            <a:effec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3002" name="Rectangle 10"/>
            <p:cNvSpPr>
              <a:spLocks noChangeArrowheads="1"/>
            </p:cNvSpPr>
            <p:nvPr/>
          </p:nvSpPr>
          <p:spPr bwMode="auto">
            <a:xfrm>
              <a:off x="3600" y="912"/>
              <a:ext cx="1279" cy="236"/>
            </a:xfrm>
            <a:prstGeom prst="rect">
              <a:avLst/>
            </a:prstGeom>
            <a:noFill/>
            <a:ln w="9525">
              <a:noFill/>
              <a:miter lim="800000"/>
              <a:headEnd/>
              <a:tailEnd/>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80808"/>
                  </a:solidFill>
                  <a:effectLst/>
                  <a:uLnTx/>
                  <a:uFillTx/>
                  <a:latin typeface="Comic Sans MS" pitchFamily="66" charset="0"/>
                  <a:ea typeface="+mn-ea"/>
                  <a:cs typeface="+mn-cs"/>
                </a:rPr>
                <a:t>To</a:t>
              </a:r>
              <a:r>
                <a:rPr kumimoji="0" lang="en-US" sz="1800" b="0" i="0" u="none" strike="noStrike" kern="1200" cap="none" spc="0" normalizeH="0" baseline="0" noProof="0" dirty="0">
                  <a:ln>
                    <a:noFill/>
                  </a:ln>
                  <a:solidFill>
                    <a:srgbClr val="E7E6E6"/>
                  </a:solidFill>
                  <a:effectLst/>
                  <a:uLnTx/>
                  <a:uFillTx/>
                  <a:latin typeface="Comic Sans MS" pitchFamily="66" charset="0"/>
                  <a:ea typeface="+mn-ea"/>
                  <a:cs typeface="+mn-cs"/>
                </a:rPr>
                <a:t> </a:t>
              </a:r>
              <a:r>
                <a:rPr kumimoji="0" lang="en-US" sz="1800" b="0" i="0" u="none" strike="noStrike" kern="1200" cap="none" spc="0" normalizeH="0" baseline="0" noProof="0" dirty="0">
                  <a:ln>
                    <a:noFill/>
                  </a:ln>
                  <a:solidFill>
                    <a:srgbClr val="080808"/>
                  </a:solidFill>
                  <a:effectLst/>
                  <a:uLnTx/>
                  <a:uFillTx/>
                  <a:latin typeface="Comic Sans MS" pitchFamily="66" charset="0"/>
                  <a:ea typeface="+mn-ea"/>
                  <a:cs typeface="+mn-cs"/>
                </a:rPr>
                <a:t>Class</a:t>
              </a:r>
              <a:r>
                <a:rPr kumimoji="0" lang="en-US" sz="1800" b="0" i="0" u="none" strike="noStrike" kern="1200" cap="none" spc="0" normalizeH="0" baseline="0" noProof="0" dirty="0">
                  <a:ln>
                    <a:noFill/>
                  </a:ln>
                  <a:solidFill>
                    <a:srgbClr val="E7E6E6"/>
                  </a:solidFill>
                  <a:effectLst/>
                  <a:uLnTx/>
                  <a:uFillTx/>
                  <a:latin typeface="Comic Sans MS" pitchFamily="66" charset="0"/>
                  <a:ea typeface="+mn-ea"/>
                  <a:cs typeface="+mn-cs"/>
                </a:rPr>
                <a:t> </a:t>
              </a:r>
              <a:r>
                <a:rPr kumimoji="0" lang="en-US" sz="1800" b="0" i="0" u="none" strike="noStrike" kern="1200" cap="none" spc="0" normalizeH="0" baseline="0" noProof="0" dirty="0">
                  <a:ln>
                    <a:noFill/>
                  </a:ln>
                  <a:solidFill>
                    <a:srgbClr val="080808"/>
                  </a:solidFill>
                  <a:effectLst/>
                  <a:uLnTx/>
                  <a:uFillTx/>
                  <a:latin typeface="Comic Sans MS" pitchFamily="66" charset="0"/>
                  <a:ea typeface="+mn-ea"/>
                  <a:cs typeface="+mn-cs"/>
                </a:rPr>
                <a:t>diagram</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52994"/>
                                        </p:tgtEl>
                                        <p:attrNameLst>
                                          <p:attrName>style.visibility</p:attrName>
                                        </p:attrNameLst>
                                      </p:cBhvr>
                                      <p:to>
                                        <p:strVal val="visible"/>
                                      </p:to>
                                    </p:set>
                                    <p:anim calcmode="lin" valueType="num">
                                      <p:cBhvr>
                                        <p:cTn id="7" dur="500" fill="hold"/>
                                        <p:tgtEl>
                                          <p:spTgt spid="852994"/>
                                        </p:tgtEl>
                                        <p:attrNameLst>
                                          <p:attrName>ppt_w</p:attrName>
                                        </p:attrNameLst>
                                      </p:cBhvr>
                                      <p:tavLst>
                                        <p:tav tm="0">
                                          <p:val>
                                            <p:fltVal val="0"/>
                                          </p:val>
                                        </p:tav>
                                        <p:tav tm="100000">
                                          <p:val>
                                            <p:strVal val="#ppt_w"/>
                                          </p:val>
                                        </p:tav>
                                      </p:tavLst>
                                    </p:anim>
                                    <p:anim calcmode="lin" valueType="num">
                                      <p:cBhvr>
                                        <p:cTn id="8" dur="500" fill="hold"/>
                                        <p:tgtEl>
                                          <p:spTgt spid="8529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EA979BB6-F81A-CF5D-B549-58AF7E52C8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0628"/>
            <a:ext cx="12004765" cy="6596743"/>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52436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B73B40-B091-525B-A9F6-D0769B641F53}"/>
              </a:ext>
            </a:extLst>
          </p:cNvPr>
          <p:cNvSpPr>
            <a:spLocks noGrp="1"/>
          </p:cNvSpPr>
          <p:nvPr>
            <p:ph type="ctrTitle"/>
          </p:nvPr>
        </p:nvSpPr>
        <p:spPr>
          <a:xfrm>
            <a:off x="138545" y="1928018"/>
            <a:ext cx="5624945" cy="2387600"/>
          </a:xfrm>
        </p:spPr>
        <p:txBody>
          <a:bodyPr/>
          <a:lstStyle/>
          <a:p>
            <a:r>
              <a:rPr lang="en-US" dirty="0"/>
              <a:t>SOFTWARE CONSTRUCTION</a:t>
            </a:r>
          </a:p>
        </p:txBody>
      </p:sp>
      <p:pic>
        <p:nvPicPr>
          <p:cNvPr id="1026" name="Picture 2">
            <a:extLst>
              <a:ext uri="{FF2B5EF4-FFF2-40B4-BE49-F238E27FC236}">
                <a16:creationId xmlns:a16="http://schemas.microsoft.com/office/drawing/2014/main" id="{6BDEB070-DEB1-055D-E9E3-85BA5940BE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1018" y="281781"/>
            <a:ext cx="4461164" cy="28400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F108D30-0FD4-5C11-2260-6336FD32B0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6036" y="3736183"/>
            <a:ext cx="3435927" cy="2740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1610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{D25AD5BC-38A8-EF4E-B3DC-F920D3A82ACC}tf10001070</Template>
  <TotalTime>8212</TotalTime>
  <Words>1948</Words>
  <Application>Microsoft Macintosh PowerPoint</Application>
  <PresentationFormat>Widescreen</PresentationFormat>
  <Paragraphs>363</Paragraphs>
  <Slides>42</Slides>
  <Notes>15</Notes>
  <HiddenSlides>0</HiddenSlides>
  <MMClips>1</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42</vt:i4>
      </vt:variant>
    </vt:vector>
  </HeadingPairs>
  <TitlesOfParts>
    <vt:vector size="53" baseType="lpstr">
      <vt:lpstr>Arial</vt:lpstr>
      <vt:lpstr>Calibri</vt:lpstr>
      <vt:lpstr>Calibri Light</vt:lpstr>
      <vt:lpstr>Comic Sans MS</vt:lpstr>
      <vt:lpstr>Lato Extended</vt:lpstr>
      <vt:lpstr>Rockwell Extra Bold</vt:lpstr>
      <vt:lpstr>Times New Roman</vt:lpstr>
      <vt:lpstr>Wingdings</vt:lpstr>
      <vt:lpstr>Wood Type</vt:lpstr>
      <vt:lpstr>Office Theme</vt:lpstr>
      <vt:lpstr>1_Office Theme</vt:lpstr>
      <vt:lpstr>Software Engineering CS-UH 2012, SPRING 2025 </vt:lpstr>
      <vt:lpstr>Guidance to the Midterm exam </vt:lpstr>
      <vt:lpstr>Software Development Life Cycles </vt:lpstr>
      <vt:lpstr>Software development processes</vt:lpstr>
      <vt:lpstr>Requirements engineering</vt:lpstr>
      <vt:lpstr>Requirements engineering</vt:lpstr>
      <vt:lpstr>Elicitation Techniques</vt:lpstr>
      <vt:lpstr>IEEE Std 29148</vt:lpstr>
      <vt:lpstr>IEEE Std 29148</vt:lpstr>
      <vt:lpstr>Singular</vt:lpstr>
      <vt:lpstr>Feasible</vt:lpstr>
      <vt:lpstr>Unambiguous</vt:lpstr>
      <vt:lpstr>Complete</vt:lpstr>
      <vt:lpstr>Consistent</vt:lpstr>
      <vt:lpstr>Verifiable</vt:lpstr>
      <vt:lpstr>Traceable</vt:lpstr>
      <vt:lpstr>Bounded</vt:lpstr>
      <vt:lpstr>Affordable</vt:lpstr>
      <vt:lpstr>Ranked</vt:lpstr>
      <vt:lpstr>Writing Requirements as Use Cases</vt:lpstr>
      <vt:lpstr>Useful Use Case Guidelines</vt:lpstr>
      <vt:lpstr>Software Design</vt:lpstr>
      <vt:lpstr>Object Oriented Design </vt:lpstr>
      <vt:lpstr>Use Case Example: Withdraw from ATM</vt:lpstr>
      <vt:lpstr>SSD Example: Register for Courses</vt:lpstr>
      <vt:lpstr> SSD EXAMPLE</vt:lpstr>
      <vt:lpstr>Hoes does a Domain Model Looks Like?</vt:lpstr>
      <vt:lpstr>Special Considerations for Associations</vt:lpstr>
      <vt:lpstr>Generalization</vt:lpstr>
      <vt:lpstr>Association Classes</vt:lpstr>
      <vt:lpstr>Aggregation</vt:lpstr>
      <vt:lpstr>Composition</vt:lpstr>
      <vt:lpstr>System Operation Contracts</vt:lpstr>
      <vt:lpstr>Operation Contract Full Template</vt:lpstr>
      <vt:lpstr>Example (Operation Contract for enterItem)</vt:lpstr>
      <vt:lpstr>PowerPoint Presentation</vt:lpstr>
      <vt:lpstr>GRASP Patterns</vt:lpstr>
      <vt:lpstr>PowerPoint Presentation</vt:lpstr>
      <vt:lpstr>How to Make a Class Diagram</vt:lpstr>
      <vt:lpstr>PowerPoint Presentation</vt:lpstr>
      <vt:lpstr>PowerPoint Presentation</vt:lpstr>
      <vt:lpstr>SOFTWARE CONSTRUCTION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Computer Science CS-UH 1001, Spring 2018</dc:title>
  <dc:creator>Mai Oudah</dc:creator>
  <cp:lastModifiedBy>Kontothanassis, Leonidas</cp:lastModifiedBy>
  <cp:revision>352</cp:revision>
  <cp:lastPrinted>2019-01-29T11:38:48Z</cp:lastPrinted>
  <dcterms:created xsi:type="dcterms:W3CDTF">2019-01-29T04:54:51Z</dcterms:created>
  <dcterms:modified xsi:type="dcterms:W3CDTF">2025-10-09T19:23:46Z</dcterms:modified>
</cp:coreProperties>
</file>