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 id="2147483948" r:id="rId3"/>
  </p:sldMasterIdLst>
  <p:notesMasterIdLst>
    <p:notesMasterId r:id="rId45"/>
  </p:notesMasterIdLst>
  <p:sldIdLst>
    <p:sldId id="339" r:id="rId4"/>
    <p:sldId id="649" r:id="rId5"/>
    <p:sldId id="651" r:id="rId6"/>
    <p:sldId id="342" r:id="rId7"/>
    <p:sldId id="652" r:id="rId8"/>
    <p:sldId id="442" r:id="rId9"/>
    <p:sldId id="430" r:id="rId10"/>
    <p:sldId id="431" r:id="rId11"/>
    <p:sldId id="432" r:id="rId12"/>
    <p:sldId id="433" r:id="rId13"/>
    <p:sldId id="434" r:id="rId14"/>
    <p:sldId id="435" r:id="rId15"/>
    <p:sldId id="436" r:id="rId16"/>
    <p:sldId id="437" r:id="rId17"/>
    <p:sldId id="438" r:id="rId18"/>
    <p:sldId id="439" r:id="rId19"/>
    <p:sldId id="440" r:id="rId20"/>
    <p:sldId id="441" r:id="rId21"/>
    <p:sldId id="450" r:id="rId22"/>
    <p:sldId id="449" r:id="rId23"/>
    <p:sldId id="445" r:id="rId24"/>
    <p:sldId id="451" r:id="rId25"/>
    <p:sldId id="753" r:id="rId26"/>
    <p:sldId id="754" r:id="rId27"/>
    <p:sldId id="777" r:id="rId28"/>
    <p:sldId id="532" r:id="rId29"/>
    <p:sldId id="542" r:id="rId30"/>
    <p:sldId id="513" r:id="rId31"/>
    <p:sldId id="522" r:id="rId32"/>
    <p:sldId id="424" r:id="rId33"/>
    <p:sldId id="528" r:id="rId34"/>
    <p:sldId id="534" r:id="rId35"/>
    <p:sldId id="537" r:id="rId36"/>
    <p:sldId id="538" r:id="rId37"/>
    <p:sldId id="557" r:id="rId38"/>
    <p:sldId id="771" r:id="rId39"/>
    <p:sldId id="778" r:id="rId40"/>
    <p:sldId id="566" r:id="rId41"/>
    <p:sldId id="423" r:id="rId42"/>
    <p:sldId id="452" r:id="rId43"/>
    <p:sldId id="779"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9A8756C-6171-4D7F-BE52-FCA22176A8D9}">
          <p14:sldIdLst>
            <p14:sldId id="339"/>
            <p14:sldId id="649"/>
            <p14:sldId id="651"/>
            <p14:sldId id="342"/>
            <p14:sldId id="652"/>
            <p14:sldId id="442"/>
            <p14:sldId id="430"/>
            <p14:sldId id="431"/>
            <p14:sldId id="432"/>
            <p14:sldId id="433"/>
            <p14:sldId id="434"/>
            <p14:sldId id="435"/>
            <p14:sldId id="436"/>
            <p14:sldId id="437"/>
            <p14:sldId id="438"/>
            <p14:sldId id="439"/>
            <p14:sldId id="440"/>
            <p14:sldId id="441"/>
            <p14:sldId id="450"/>
            <p14:sldId id="449"/>
            <p14:sldId id="445"/>
            <p14:sldId id="451"/>
            <p14:sldId id="753"/>
            <p14:sldId id="754"/>
            <p14:sldId id="777"/>
            <p14:sldId id="532"/>
            <p14:sldId id="542"/>
            <p14:sldId id="513"/>
            <p14:sldId id="522"/>
            <p14:sldId id="424"/>
            <p14:sldId id="528"/>
            <p14:sldId id="534"/>
            <p14:sldId id="537"/>
            <p14:sldId id="538"/>
            <p14:sldId id="557"/>
            <p14:sldId id="771"/>
            <p14:sldId id="778"/>
            <p14:sldId id="566"/>
            <p14:sldId id="423"/>
            <p14:sldId id="452"/>
            <p14:sldId id="779"/>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8562"/>
  </p:normalViewPr>
  <p:slideViewPr>
    <p:cSldViewPr snapToGrid="0" snapToObjects="1">
      <p:cViewPr varScale="1">
        <p:scale>
          <a:sx n="60" d="100"/>
          <a:sy n="60" d="100"/>
        </p:scale>
        <p:origin x="744" y="43"/>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C4C640F1-5349-414D-AAD5-D06D01657E3E}">
      <dgm:prSet/>
      <dgm:spPr/>
      <dgm:t>
        <a:bodyPr/>
        <a:lstStyle/>
        <a:p>
          <a:r>
            <a:rPr lang="en-US"/>
            <a:t>Describes standard for, system engineering including quality requirements</a:t>
          </a:r>
        </a:p>
      </dgm:t>
    </dgm:pt>
    <dgm:pt modelId="{DFADA540-525D-4FCD-AD8F-3BC858EB2297}" type="parTrans" cxnId="{AEA89B81-A89B-49BF-BECF-F7877133CBCF}">
      <dgm:prSet/>
      <dgm:spPr/>
      <dgm:t>
        <a:bodyPr/>
        <a:lstStyle/>
        <a:p>
          <a:endParaRPr lang="en-US"/>
        </a:p>
      </dgm:t>
    </dgm:pt>
    <dgm:pt modelId="{C7C90600-B2C2-454D-82BA-8911120BEED1}" type="sibTrans" cxnId="{AEA89B81-A89B-49BF-BECF-F7877133CBCF}">
      <dgm:prSet/>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FF8A413A-83C3-4AEF-8615-FA0BC2BFB2C1}" type="pres">
      <dgm:prSet presAssocID="{C4C640F1-5349-414D-AAD5-D06D01657E3E}" presName="parentText" presStyleLbl="node1" presStyleIdx="0" presStyleCnt="2">
        <dgm:presLayoutVars>
          <dgm:chMax val="0"/>
          <dgm:bulletEnabled val="1"/>
        </dgm:presLayoutVars>
      </dgm:prSet>
      <dgm:spPr/>
    </dgm:pt>
    <dgm:pt modelId="{6D262631-DAF3-4F65-9B89-51D9C6064563}" type="pres">
      <dgm:prSet presAssocID="{C7C90600-B2C2-454D-82BA-8911120BEED1}" presName="spacer" presStyleCnt="0"/>
      <dgm:spPr/>
    </dgm:pt>
    <dgm:pt modelId="{BC6F3F2D-D164-43C1-83D7-325522925075}" type="pres">
      <dgm:prSet presAssocID="{7371FBF9-1987-43FF-BEE6-3F1A23318616}" presName="parentText" presStyleLbl="node1" presStyleIdx="1" presStyleCnt="2">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1"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AEA89B81-A89B-49BF-BECF-F7877133CBCF}" srcId="{C2182D98-E435-4B34-BD31-78311667CDCE}" destId="{C4C640F1-5349-414D-AAD5-D06D01657E3E}" srcOrd="0" destOrd="0" parTransId="{DFADA540-525D-4FCD-AD8F-3BC858EB2297}" sibTransId="{C7C90600-B2C2-454D-82BA-8911120BEED1}"/>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C2A124D8-0D2B-4E03-8729-6BF09A9EE8C3}" type="presOf" srcId="{C4C640F1-5349-414D-AAD5-D06D01657E3E}" destId="{FF8A413A-83C3-4AEF-8615-FA0BC2BFB2C1}" srcOrd="0" destOrd="0" presId="urn:microsoft.com/office/officeart/2005/8/layout/vList2"/>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65B8665F-C555-4D9B-AFAD-F6F4B90E06E7}" type="presParOf" srcId="{4865CB50-998E-43E0-8148-30D132EAAB97}" destId="{FF8A413A-83C3-4AEF-8615-FA0BC2BFB2C1}" srcOrd="0" destOrd="0" presId="urn:microsoft.com/office/officeart/2005/8/layout/vList2"/>
    <dgm:cxn modelId="{67F32D0F-A24D-4B0F-9FF6-8290E6E8A87D}" type="presParOf" srcId="{4865CB50-998E-43E0-8148-30D132EAAB97}" destId="{6D262631-DAF3-4F65-9B89-51D9C6064563}" srcOrd="1" destOrd="0" presId="urn:microsoft.com/office/officeart/2005/8/layout/vList2"/>
    <dgm:cxn modelId="{5E7B13E9-36BE-4A7E-9EA1-F61C29382710}" type="presParOf" srcId="{4865CB50-998E-43E0-8148-30D132EAAB97}" destId="{BC6F3F2D-D164-43C1-83D7-325522925075}" srcOrd="2" destOrd="0" presId="urn:microsoft.com/office/officeart/2005/8/layout/vList2"/>
    <dgm:cxn modelId="{0DF722B6-ED82-413C-AEC6-7D35A03D51A4}" type="presParOf" srcId="{4865CB50-998E-43E0-8148-30D132EAAB97}" destId="{8310EEBA-91AB-4496-9DC8-5B61244665E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8A413A-83C3-4AEF-8615-FA0BC2BFB2C1}">
      <dsp:nvSpPr>
        <dsp:cNvPr id="0" name=""/>
        <dsp:cNvSpPr/>
      </dsp:nvSpPr>
      <dsp:spPr>
        <a:xfrm>
          <a:off x="0" y="239719"/>
          <a:ext cx="6666833" cy="11138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Describes standard for, system engineering including quality requirements</a:t>
          </a:r>
        </a:p>
      </dsp:txBody>
      <dsp:txXfrm>
        <a:off x="54373" y="294092"/>
        <a:ext cx="6558087" cy="1005094"/>
      </dsp:txXfrm>
    </dsp:sp>
    <dsp:sp modelId="{BC6F3F2D-D164-43C1-83D7-325522925075}">
      <dsp:nvSpPr>
        <dsp:cNvPr id="0" name=""/>
        <dsp:cNvSpPr/>
      </dsp:nvSpPr>
      <dsp:spPr>
        <a:xfrm>
          <a:off x="0" y="1434199"/>
          <a:ext cx="6666833" cy="111384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For a single requirement</a:t>
          </a:r>
        </a:p>
      </dsp:txBody>
      <dsp:txXfrm>
        <a:off x="54373" y="1488572"/>
        <a:ext cx="6558087" cy="1005094"/>
      </dsp:txXfrm>
    </dsp:sp>
    <dsp:sp modelId="{8310EEBA-91AB-4496-9DC8-5B61244665E8}">
      <dsp:nvSpPr>
        <dsp:cNvPr id="0" name=""/>
        <dsp:cNvSpPr/>
      </dsp:nvSpPr>
      <dsp:spPr>
        <a:xfrm>
          <a:off x="0" y="2548040"/>
          <a:ext cx="6666833" cy="2666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Singular</a:t>
          </a:r>
        </a:p>
        <a:p>
          <a:pPr marL="228600" lvl="1" indent="-228600" algn="l" defTabSz="977900">
            <a:lnSpc>
              <a:spcPct val="90000"/>
            </a:lnSpc>
            <a:spcBef>
              <a:spcPct val="0"/>
            </a:spcBef>
            <a:spcAft>
              <a:spcPct val="20000"/>
            </a:spcAft>
            <a:buChar char="•"/>
          </a:pPr>
          <a:r>
            <a:rPr lang="en-US" sz="2200" kern="1200"/>
            <a:t>Feasible</a:t>
          </a:r>
        </a:p>
        <a:p>
          <a:pPr marL="228600" lvl="1" indent="-228600" algn="l" defTabSz="977900">
            <a:lnSpc>
              <a:spcPct val="90000"/>
            </a:lnSpc>
            <a:spcBef>
              <a:spcPct val="0"/>
            </a:spcBef>
            <a:spcAft>
              <a:spcPct val="20000"/>
            </a:spcAft>
            <a:buChar char="•"/>
          </a:pPr>
          <a:r>
            <a:rPr lang="en-US" sz="2200" kern="1200"/>
            <a:t>Unambiguous</a:t>
          </a:r>
        </a:p>
        <a:p>
          <a:pPr marL="228600" lvl="1" indent="-228600" algn="l" defTabSz="977900">
            <a:lnSpc>
              <a:spcPct val="90000"/>
            </a:lnSpc>
            <a:spcBef>
              <a:spcPct val="0"/>
            </a:spcBef>
            <a:spcAft>
              <a:spcPct val="20000"/>
            </a:spcAft>
            <a:buChar char="•"/>
          </a:pPr>
          <a:r>
            <a:rPr lang="en-US" sz="2200" kern="1200"/>
            <a:t>Complete</a:t>
          </a:r>
        </a:p>
        <a:p>
          <a:pPr marL="228600" lvl="1" indent="-228600" algn="l" defTabSz="977900">
            <a:lnSpc>
              <a:spcPct val="90000"/>
            </a:lnSpc>
            <a:spcBef>
              <a:spcPct val="0"/>
            </a:spcBef>
            <a:spcAft>
              <a:spcPct val="20000"/>
            </a:spcAft>
            <a:buChar char="•"/>
          </a:pPr>
          <a:r>
            <a:rPr lang="en-US" sz="2200" kern="1200"/>
            <a:t>Consistent</a:t>
          </a:r>
        </a:p>
        <a:p>
          <a:pPr marL="228600" lvl="1" indent="-228600" algn="l" defTabSz="977900">
            <a:lnSpc>
              <a:spcPct val="90000"/>
            </a:lnSpc>
            <a:spcBef>
              <a:spcPct val="0"/>
            </a:spcBef>
            <a:spcAft>
              <a:spcPct val="20000"/>
            </a:spcAft>
            <a:buChar char="•"/>
          </a:pPr>
          <a:r>
            <a:rPr lang="en-US" sz="2200" kern="1200"/>
            <a:t>Verifiable</a:t>
          </a:r>
        </a:p>
        <a:p>
          <a:pPr marL="228600" lvl="1" indent="-228600" algn="l" defTabSz="977900">
            <a:lnSpc>
              <a:spcPct val="90000"/>
            </a:lnSpc>
            <a:spcBef>
              <a:spcPct val="0"/>
            </a:spcBef>
            <a:spcAft>
              <a:spcPct val="20000"/>
            </a:spcAft>
            <a:buChar char="•"/>
          </a:pPr>
          <a:r>
            <a:rPr lang="en-US" sz="2200" kern="1200"/>
            <a:t>Traceable</a:t>
          </a:r>
        </a:p>
      </dsp:txBody>
      <dsp:txXfrm>
        <a:off x="0" y="2548040"/>
        <a:ext cx="6666833" cy="266616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3/4/2025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just">
              <a:lnSpc>
                <a:spcPct val="107000"/>
              </a:lnSpc>
              <a:spcBef>
                <a:spcPts val="0"/>
              </a:spcBef>
              <a:spcAft>
                <a:spcPts val="0"/>
              </a:spcAft>
              <a:buFont typeface="+mj-lt"/>
              <a:buAutoNum type="arabicPeriod"/>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You are chief engineer for a safety critical system that is being custom-built for a long-time customer. The customer keeps making changes to the requirements, even during the design and development phases. What approach could you have employed (could employ) to try to mitigate this problem?</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228600" marR="0" algn="just">
              <a:lnSpc>
                <a:spcPct val="107000"/>
              </a:lnSpc>
              <a:spcBef>
                <a:spcPts val="0"/>
              </a:spcBef>
              <a:spcAft>
                <a:spcPts val="0"/>
              </a:spcAft>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Employ a new non- agile development methodology.</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Reduce communications with the customer to minimize disagreements.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Have a customer representative at the vendor site at all times.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Increase charges to the customer for every requirements change.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a:t>
            </a:fld>
            <a:endParaRPr lang="en-US"/>
          </a:p>
        </p:txBody>
      </p:sp>
    </p:spTree>
    <p:extLst>
      <p:ext uri="{BB962C8B-B14F-4D97-AF65-F5344CB8AC3E}">
        <p14:creationId xmlns:p14="http://schemas.microsoft.com/office/powerpoint/2010/main" val="3321622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1CF04A6-2E79-4A9B-8F4A-E1C48786311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02688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1CF04A6-2E79-4A9B-8F4A-E1C48786311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5216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Explained on upcoming slides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7E18AB-6E76-484C-93F8-F70244DFCFE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87F58AD-6FA1-46EF-8096-02201459DB5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4450" name="Rectangle 2"/>
          <p:cNvSpPr>
            <a:spLocks noGrp="1" noRot="1" noChangeAspect="1" noChangeArrowheads="1" noTextEdit="1"/>
          </p:cNvSpPr>
          <p:nvPr>
            <p:ph type="sldImg"/>
          </p:nvPr>
        </p:nvSpPr>
        <p:spPr>
          <a:xfrm>
            <a:off x="406400" y="696913"/>
            <a:ext cx="6188075" cy="3481387"/>
          </a:xfrm>
          <a:ln/>
        </p:spPr>
      </p:sp>
      <p:sp>
        <p:nvSpPr>
          <p:cNvPr id="744451" name="Rectangle 3"/>
          <p:cNvSpPr>
            <a:spLocks noGrp="1" noChangeArrowheads="1"/>
          </p:cNvSpPr>
          <p:nvPr>
            <p:ph type="body" idx="1"/>
          </p:nvPr>
        </p:nvSpPr>
        <p:spPr>
          <a:xfrm>
            <a:off x="933558" y="4409758"/>
            <a:ext cx="5130586" cy="4177665"/>
          </a:xfrm>
        </p:spPr>
        <p:txBody>
          <a:bodyPr/>
          <a:lstStyle/>
          <a:p>
            <a:pPr defTabSz="915772"/>
            <a:r>
              <a:rPr lang="en-US" altLang="en-US" dirty="0"/>
              <a:t>System</a:t>
            </a:r>
            <a:r>
              <a:rPr lang="en-US" altLang="en-US" baseline="0" dirty="0"/>
              <a:t> as a black box – the underline and : represent that it is an instance.</a:t>
            </a:r>
          </a:p>
          <a:p>
            <a:pPr defTabSz="915772"/>
            <a:endParaRPr lang="en-US" altLang="en-US" baseline="0" dirty="0"/>
          </a:p>
          <a:p>
            <a:pPr defTabSz="915772"/>
            <a:r>
              <a:rPr lang="en-US" altLang="en-US" baseline="0" dirty="0"/>
              <a:t>3 messages sent to the system</a:t>
            </a:r>
          </a:p>
          <a:p>
            <a:pPr defTabSz="915772"/>
            <a:endParaRPr lang="en-US" altLang="en-US" baseline="0" dirty="0"/>
          </a:p>
          <a:p>
            <a:pPr defTabSz="915772"/>
            <a:r>
              <a:rPr lang="en-US" altLang="en-US" baseline="0" dirty="0"/>
              <a:t>Student can select semester list and course list several time.</a:t>
            </a:r>
          </a:p>
          <a:p>
            <a:pPr defTabSz="915772"/>
            <a:endParaRPr lang="en-US" altLang="en-US" baseline="0" dirty="0"/>
          </a:p>
          <a:p>
            <a:pPr defTabSz="915772"/>
            <a:r>
              <a:rPr lang="en-US" altLang="en-US" baseline="0" dirty="0"/>
              <a:t>System sends bill request message to billing system class</a:t>
            </a:r>
          </a:p>
          <a:p>
            <a:pPr defTabSz="915772"/>
            <a:endParaRPr lang="en-US" altLang="en-US" baseline="0" dirty="0"/>
          </a:p>
          <a:p>
            <a:pPr defTabSz="915772"/>
            <a:r>
              <a:rPr lang="en-US" altLang="en-US" baseline="0" dirty="0"/>
              <a:t>Notice the activation bars – system active when it gets request from student.</a:t>
            </a:r>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FB6CA01-7F24-4038-B129-E35BA8845748}"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6914" name="Rectangle 2"/>
          <p:cNvSpPr>
            <a:spLocks noGrp="1" noRot="1" noChangeAspect="1" noChangeArrowheads="1" noTextEdit="1"/>
          </p:cNvSpPr>
          <p:nvPr>
            <p:ph type="sldImg"/>
          </p:nvPr>
        </p:nvSpPr>
        <p:spPr>
          <a:xfrm>
            <a:off x="404813" y="695325"/>
            <a:ext cx="6178550" cy="3476625"/>
          </a:xfrm>
          <a:ln/>
        </p:spPr>
      </p:sp>
      <p:sp>
        <p:nvSpPr>
          <p:cNvPr id="806915" name="Rectangle 3"/>
          <p:cNvSpPr>
            <a:spLocks noGrp="1" noChangeArrowheads="1"/>
          </p:cNvSpPr>
          <p:nvPr>
            <p:ph type="body" idx="1"/>
          </p:nvPr>
        </p:nvSpPr>
        <p:spPr>
          <a:xfrm>
            <a:off x="931863" y="4403725"/>
            <a:ext cx="5121275" cy="4171950"/>
          </a:xfrm>
        </p:spPr>
        <p:txBody>
          <a:bodyPr/>
          <a:lstStyle/>
          <a:p>
            <a:pPr defTabSz="914400"/>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4C22B37-E46D-4FF6-8C56-11738360E749}"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3058" name="Rectangle 2"/>
          <p:cNvSpPr>
            <a:spLocks noGrp="1" noRot="1" noChangeAspect="1" noChangeArrowheads="1" noTextEdit="1"/>
          </p:cNvSpPr>
          <p:nvPr>
            <p:ph type="sldImg"/>
          </p:nvPr>
        </p:nvSpPr>
        <p:spPr>
          <a:xfrm>
            <a:off x="404813" y="695325"/>
            <a:ext cx="6178550" cy="3476625"/>
          </a:xfrm>
          <a:ln/>
        </p:spPr>
      </p:sp>
      <p:sp>
        <p:nvSpPr>
          <p:cNvPr id="813059" name="Rectangle 3"/>
          <p:cNvSpPr>
            <a:spLocks noGrp="1" noChangeArrowheads="1"/>
          </p:cNvSpPr>
          <p:nvPr>
            <p:ph type="body" idx="1"/>
          </p:nvPr>
        </p:nvSpPr>
        <p:spPr>
          <a:xfrm>
            <a:off x="931863" y="4403725"/>
            <a:ext cx="5121275" cy="4171950"/>
          </a:xfrm>
        </p:spPr>
        <p:txBody>
          <a:bodyPr/>
          <a:lstStyle/>
          <a:p>
            <a:r>
              <a:rPr lang="en-US" dirty="0"/>
              <a:t>We can see from the diagram that a Person may work for a single Company. We need to keep information about the period of time that each employee works for each Company.</a:t>
            </a:r>
          </a:p>
          <a:p>
            <a:r>
              <a:rPr lang="en-US" dirty="0"/>
              <a:t>We can do this by adding a </a:t>
            </a:r>
            <a:r>
              <a:rPr lang="en-US" i="1" dirty="0" err="1"/>
              <a:t>dateRange</a:t>
            </a:r>
            <a:r>
              <a:rPr lang="en-US" dirty="0"/>
              <a:t> attribute to the association. We could add this attribute to the Person class, but it is really a fact about a Person's relationship to a Company, which will change should the person's employer change.</a:t>
            </a:r>
          </a:p>
          <a:p>
            <a:pPr defTabSz="914400"/>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46DF01-E611-496D-92B9-CB28AE6D0123}"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7154" name="Rectangle 2"/>
          <p:cNvSpPr>
            <a:spLocks noGrp="1" noRot="1" noChangeAspect="1" noChangeArrowheads="1" noTextEdit="1"/>
          </p:cNvSpPr>
          <p:nvPr>
            <p:ph type="sldImg"/>
          </p:nvPr>
        </p:nvSpPr>
        <p:spPr>
          <a:xfrm>
            <a:off x="404813" y="695325"/>
            <a:ext cx="6178550" cy="3476625"/>
          </a:xfrm>
          <a:ln/>
        </p:spPr>
      </p:sp>
      <p:sp>
        <p:nvSpPr>
          <p:cNvPr id="817155"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7C99DAF-EA54-4817-9D63-0E53D1785A4D}"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6306" name="Rectangle 2"/>
          <p:cNvSpPr>
            <a:spLocks noGrp="1" noRot="1" noChangeAspect="1" noChangeArrowheads="1" noTextEdit="1"/>
          </p:cNvSpPr>
          <p:nvPr>
            <p:ph type="sldImg"/>
          </p:nvPr>
        </p:nvSpPr>
        <p:spPr>
          <a:xfrm>
            <a:off x="404813" y="695325"/>
            <a:ext cx="6178550" cy="3476625"/>
          </a:xfrm>
          <a:ln/>
        </p:spPr>
      </p:sp>
      <p:sp>
        <p:nvSpPr>
          <p:cNvPr id="866307"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A482EEC-E663-438C-B41C-52AE046FACA3}"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6978" name="Rectangle 2"/>
          <p:cNvSpPr>
            <a:spLocks noGrp="1" noRot="1" noChangeAspect="1" noChangeArrowheads="1" noTextEdit="1"/>
          </p:cNvSpPr>
          <p:nvPr>
            <p:ph type="sldImg"/>
          </p:nvPr>
        </p:nvSpPr>
        <p:spPr>
          <a:xfrm>
            <a:off x="406400" y="696913"/>
            <a:ext cx="6188075" cy="3481387"/>
          </a:xfrm>
          <a:ln/>
        </p:spPr>
      </p:sp>
      <p:sp>
        <p:nvSpPr>
          <p:cNvPr id="766979" name="Rectangle 3"/>
          <p:cNvSpPr>
            <a:spLocks noGrp="1" noChangeArrowheads="1"/>
          </p:cNvSpPr>
          <p:nvPr>
            <p:ph type="body" idx="1"/>
          </p:nvPr>
        </p:nvSpPr>
        <p:spPr>
          <a:xfrm>
            <a:off x="933558" y="4409758"/>
            <a:ext cx="5130586" cy="4177665"/>
          </a:xfrm>
        </p:spPr>
        <p:txBody>
          <a:bodyPr/>
          <a:lstStyle/>
          <a:p>
            <a:pPr defTabSz="915772"/>
            <a:r>
              <a:rPr lang="en-US" altLang="en-US" dirty="0"/>
              <a:t>Operation contractions use a pre and post condition</a:t>
            </a:r>
            <a:r>
              <a:rPr lang="en-US" altLang="en-US" baseline="0" dirty="0"/>
              <a:t> form to describe detailed changes to objects in a domain model</a:t>
            </a:r>
          </a:p>
          <a:p>
            <a:pPr defTabSz="915772"/>
            <a:endParaRPr lang="en-US" altLang="en-US" baseline="0" dirty="0"/>
          </a:p>
          <a:p>
            <a:pPr defTabSz="915772"/>
            <a:r>
              <a:rPr lang="en-US" altLang="en-US" baseline="0" dirty="0"/>
              <a:t>To create a contract – identify the system operations from the system sequence diagram</a:t>
            </a:r>
            <a:endParaRPr lang="en-US"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B9FA703-E8BF-4CB3-BA55-5F9C93600BF5}"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3122" name="Rectangle 2"/>
          <p:cNvSpPr>
            <a:spLocks noGrp="1" noRot="1" noChangeAspect="1" noChangeArrowheads="1" noTextEdit="1"/>
          </p:cNvSpPr>
          <p:nvPr>
            <p:ph type="sldImg"/>
          </p:nvPr>
        </p:nvSpPr>
        <p:spPr>
          <a:xfrm>
            <a:off x="406400" y="696913"/>
            <a:ext cx="6188075" cy="3481387"/>
          </a:xfrm>
          <a:ln/>
        </p:spPr>
      </p:sp>
      <p:sp>
        <p:nvSpPr>
          <p:cNvPr id="773123"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D954BD-C11F-4B84-93FB-D9AF7D3720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5170" name="Rectangle 2"/>
          <p:cNvSpPr>
            <a:spLocks noGrp="1" noRot="1" noChangeAspect="1" noChangeArrowheads="1" noTextEdit="1"/>
          </p:cNvSpPr>
          <p:nvPr>
            <p:ph type="sldImg"/>
          </p:nvPr>
        </p:nvSpPr>
        <p:spPr>
          <a:xfrm>
            <a:off x="406400" y="696913"/>
            <a:ext cx="6188075" cy="3481387"/>
          </a:xfrm>
          <a:ln/>
        </p:spPr>
      </p:sp>
      <p:sp>
        <p:nvSpPr>
          <p:cNvPr id="775171"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UP does not define an artifact</a:t>
            </a:r>
            <a:r>
              <a:rPr lang="en-US" baseline="0" dirty="0"/>
              <a:t> called “design class diagram”</a:t>
            </a:r>
          </a:p>
          <a:p>
            <a:r>
              <a:rPr lang="en-US" baseline="0" dirty="0"/>
              <a:t>In the design model – several diagram types exist:  interaction, package, </a:t>
            </a:r>
            <a:r>
              <a:rPr lang="en-US" baseline="0" dirty="0" err="1"/>
              <a:t>classdiagrams</a:t>
            </a:r>
            <a:endParaRPr lang="en-US" baseline="0" dirty="0"/>
          </a:p>
          <a:p>
            <a:endParaRPr lang="en-US" baseline="0" dirty="0"/>
          </a:p>
          <a:p>
            <a:r>
              <a:rPr lang="en-US" baseline="0" dirty="0"/>
              <a:t>We will go over how to do each in the next few slides</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Navigability is a property of the role</a:t>
            </a:r>
            <a:r>
              <a:rPr lang="en-US" baseline="0" dirty="0"/>
              <a:t> that indicates that it is possible to navigate </a:t>
            </a:r>
            <a:r>
              <a:rPr lang="en-US" baseline="0" dirty="0" err="1"/>
              <a:t>uni</a:t>
            </a:r>
            <a:r>
              <a:rPr lang="en-US" baseline="0" dirty="0"/>
              <a:t>-directionally across the association from objects of the source to target class. Navigability implies visibility.</a:t>
            </a:r>
          </a:p>
          <a:p>
            <a:endParaRPr lang="en-US" baseline="0" dirty="0"/>
          </a:p>
          <a:p>
            <a:r>
              <a:rPr lang="en-US" baseline="0" dirty="0"/>
              <a:t>Could have put </a:t>
            </a:r>
            <a:r>
              <a:rPr lang="en-US" baseline="0" dirty="0" err="1"/>
              <a:t>currentSale</a:t>
            </a:r>
            <a:r>
              <a:rPr lang="en-US" baseline="0" dirty="0"/>
              <a:t>: Sale to show the current Sale attribute.  It was excluded because it is implied by the navigable association from Register to Sale.</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3B672FC-9574-4AE4-89B8-0111A97AD77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3/4/2025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3/4/2025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3/4/2025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3/4/2025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3/4/2025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3/4/2025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3/4/2025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3/4/2025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3/4/2025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3/4/2025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3/4/2025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456400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73120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763826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604523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41371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09256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475523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827196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9549699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697618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3/4/2025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019880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D88740F0-8D79-495E-B31A-3E49AC1C392C}" type="datetime1">
              <a:rPr lang="en-US" smtClean="0"/>
              <a:t>3/4/2025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245183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A8928BDA-9B8E-40EE-8EFE-B18FAD0D75EC}" type="datetime1">
              <a:rPr lang="en-US" smtClean="0"/>
              <a:t>3/4/2025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048315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690D614-6458-4B51-9DCA-B0DBF6D8176E}" type="datetime1">
              <a:rPr lang="en-US" smtClean="0"/>
              <a:t>3/4/2025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58991525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144A1686-F5EA-44B0-91C2-AF3A88CD829C}" type="datetime1">
              <a:rPr lang="en-US" smtClean="0"/>
              <a:t>3/4/2025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727506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E561C9CE-5F70-4D08-8D74-912FFF2544AC}" type="datetime1">
              <a:rPr lang="en-US" smtClean="0"/>
              <a:t>3/4/2025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4560765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11852172-A2FA-488F-8B1C-F529DA47DF4B}" type="datetime1">
              <a:rPr lang="en-US" smtClean="0"/>
              <a:t>3/4/2025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65978050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D60BF12-A709-4858-8AEA-EDDDDF9B7248}" type="datetime1">
              <a:rPr lang="en-US" smtClean="0"/>
              <a:t>3/4/2025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09504896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4259A0E3-2305-4250-853C-7606E57B25C6}" type="datetime1">
              <a:rPr lang="en-US" smtClean="0"/>
              <a:t>3/4/2025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0956751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C3A6F473-73D7-4C02-8A96-0F759AA3D1BF}" type="datetime1">
              <a:rPr lang="en-US" smtClean="0"/>
              <a:t>3/4/2025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3742043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4F2071A-2E6E-47D6-ACB5-F4F09F2F4C67}" type="datetime1">
              <a:rPr lang="en-US" smtClean="0"/>
              <a:t>3/4/2025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5276920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5C5E3465-5FFD-4F56-952A-46D90904E51A}" type="datetime1">
              <a:rPr lang="en-US" smtClean="0"/>
              <a:t>3/4/2025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093202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3/4/2025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3/4/2025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2504503338"/>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3404E8-3BFB-4863-AE30-0CED78AF3C5E}" type="datetime1">
              <a:rPr lang="en-US" smtClean="0"/>
              <a:t>3/4/2025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4274878155"/>
      </p:ext>
    </p:extLst>
  </p:cSld>
  <p:clrMap bg1="lt1" tx1="dk1" bg2="lt2" tx2="dk2" accent1="accent1" accent2="accent2" accent3="accent3" accent4="accent4" accent5="accent5" accent6="accent6" hlink="hlink" folHlink="folHlink"/>
  <p:sldLayoutIdLst>
    <p:sldLayoutId id="2147483949" r:id="rId1"/>
    <p:sldLayoutId id="2147483950" r:id="rId2"/>
    <p:sldLayoutId id="2147483951" r:id="rId3"/>
    <p:sldLayoutId id="2147483952" r:id="rId4"/>
    <p:sldLayoutId id="2147483953" r:id="rId5"/>
    <p:sldLayoutId id="2147483954" r:id="rId6"/>
    <p:sldLayoutId id="2147483955" r:id="rId7"/>
    <p:sldLayoutId id="2147483956" r:id="rId8"/>
    <p:sldLayoutId id="2147483957" r:id="rId9"/>
    <p:sldLayoutId id="2147483958" r:id="rId10"/>
    <p:sldLayoutId id="21474839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jpeg"/><Relationship Id="rId2" Type="http://schemas.openxmlformats.org/officeDocument/2006/relationships/image" Target="../media/image1.jpeg"/><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3.png"/><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8.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9.jpeg"/><Relationship Id="rId5" Type="http://schemas.microsoft.com/office/2007/relationships/hdphoto" Target="../media/hdphoto1.wdp"/><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4.xml"/><Relationship Id="rId1" Type="http://schemas.openxmlformats.org/officeDocument/2006/relationships/slideLayout" Target="../slideLayouts/slideLayout18.xml"/><Relationship Id="rId4" Type="http://schemas.openxmlformats.org/officeDocument/2006/relationships/image" Target="../media/image21.wmf"/></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ctrTitle" sz="quarter"/>
          </p:nvPr>
        </p:nvSpPr>
        <p:spPr>
          <a:xfrm>
            <a:off x="6556100" y="1360493"/>
            <a:ext cx="4972511" cy="3106732"/>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6556100" y="4687316"/>
            <a:ext cx="4972512" cy="1517088"/>
          </a:xfrm>
        </p:spPr>
        <p:txBody>
          <a:bodyPr>
            <a:normAutofit/>
          </a:bodyPr>
          <a:lstStyle/>
          <a:p>
            <a:pPr algn="ctr"/>
            <a:r>
              <a:rPr lang="en-US" b="1" dirty="0"/>
              <a:t>Midterm Review</a:t>
            </a:r>
          </a:p>
          <a:p>
            <a:r>
              <a:rPr lang="en-US" dirty="0"/>
              <a:t>Dr. Mohamad Kassab, m.kassab@nyu.edu</a:t>
            </a:r>
          </a:p>
        </p:txBody>
      </p:sp>
      <p:sp>
        <p:nvSpPr>
          <p:cNvPr id="44" name="Freeform: Shape 43">
            <a:extLst>
              <a:ext uri="{FF2B5EF4-FFF2-40B4-BE49-F238E27FC236}">
                <a16:creationId xmlns:a16="http://schemas.microsoft.com/office/drawing/2014/main" id="{14A1598B-1957-47CF-AAF4-F7A36DA0E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3"/>
            <a:ext cx="6095695" cy="6857997"/>
          </a:xfrm>
          <a:custGeom>
            <a:avLst/>
            <a:gdLst>
              <a:gd name="connsiteX0" fmla="*/ 3435036 w 6095695"/>
              <a:gd name="connsiteY0" fmla="*/ 0 h 6857997"/>
              <a:gd name="connsiteX1" fmla="*/ 4198562 w 6095695"/>
              <a:gd name="connsiteY1" fmla="*/ 0 h 6857997"/>
              <a:gd name="connsiteX2" fmla="*/ 4365987 w 6095695"/>
              <a:gd name="connsiteY2" fmla="*/ 128761 h 6857997"/>
              <a:gd name="connsiteX3" fmla="*/ 6095695 w 6095695"/>
              <a:gd name="connsiteY3" fmla="*/ 3718209 h 6857997"/>
              <a:gd name="connsiteX4" fmla="*/ 4860911 w 6095695"/>
              <a:gd name="connsiteY4" fmla="*/ 6845880 h 6857997"/>
              <a:gd name="connsiteX5" fmla="*/ 4849107 w 6095695"/>
              <a:gd name="connsiteY5" fmla="*/ 6857997 h 6857997"/>
              <a:gd name="connsiteX6" fmla="*/ 4253869 w 6095695"/>
              <a:gd name="connsiteY6" fmla="*/ 6857997 h 6857997"/>
              <a:gd name="connsiteX7" fmla="*/ 4409441 w 6095695"/>
              <a:gd name="connsiteY7" fmla="*/ 6719623 h 6857997"/>
              <a:gd name="connsiteX8" fmla="*/ 5679794 w 6095695"/>
              <a:gd name="connsiteY8" fmla="*/ 3718209 h 6857997"/>
              <a:gd name="connsiteX9" fmla="*/ 3591563 w 6095695"/>
              <a:gd name="connsiteY9" fmla="*/ 88079 h 6857997"/>
              <a:gd name="connsiteX10" fmla="*/ 0 w 6095695"/>
              <a:gd name="connsiteY10" fmla="*/ 0 h 6857997"/>
              <a:gd name="connsiteX11" fmla="*/ 3177466 w 6095695"/>
              <a:gd name="connsiteY11" fmla="*/ 0 h 6857997"/>
              <a:gd name="connsiteX12" fmla="*/ 3353291 w 6095695"/>
              <a:gd name="connsiteY12" fmla="*/ 88129 h 6857997"/>
              <a:gd name="connsiteX13" fmla="*/ 5560965 w 6095695"/>
              <a:gd name="connsiteY13" fmla="*/ 3718209 h 6857997"/>
              <a:gd name="connsiteX14" fmla="*/ 4325417 w 6095695"/>
              <a:gd name="connsiteY14" fmla="*/ 6637392 h 6857997"/>
              <a:gd name="connsiteX15" fmla="*/ 4077394 w 6095695"/>
              <a:gd name="connsiteY15" fmla="*/ 6857997 h 6857997"/>
              <a:gd name="connsiteX16" fmla="*/ 0 w 6095695"/>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4"/>
          <a:srcRect r="1" b="285"/>
          <a:stretch/>
        </p:blipFill>
        <p:spPr>
          <a:xfrm>
            <a:off x="663388" y="2377424"/>
            <a:ext cx="3749586" cy="2103151"/>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tint val="75000"/>
                <a:shade val="58000"/>
                <a:satMod val="120000"/>
              </a:schemeClr>
              <a:schemeClr val="bg1">
                <a:tint val="50000"/>
                <a:shade val="96000"/>
              </a:schemeClr>
            </a:duotone>
          </a:blip>
          <a:tile tx="0" ty="0" sx="100000" sy="100000" flip="none" algn="tl"/>
        </a:blipFill>
        <a:effectLst/>
      </p:bgPr>
    </p:bg>
    <p:spTree>
      <p:nvGrpSpPr>
        <p:cNvPr id="1" name=""/>
        <p:cNvGrpSpPr/>
        <p:nvPr/>
      </p:nvGrpSpPr>
      <p:grpSpPr>
        <a:xfrm>
          <a:off x="0" y="0"/>
          <a:ext cx="0" cy="0"/>
          <a:chOff x="0" y="0"/>
          <a:chExt cx="0" cy="0"/>
        </a:xfrm>
      </p:grpSpPr>
      <p:sp>
        <p:nvSpPr>
          <p:cNvPr id="47" name="Rectangle 46">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9" name="Rectangle 48">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1" name="Rectangle 50">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53" name="Group 52">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54" name="Oval 53">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5">
                <a:duotone>
                  <a:schemeClr val="accent1">
                    <a:shade val="45000"/>
                    <a:satMod val="135000"/>
                  </a:schemeClr>
                  <a:prstClr val="white"/>
                </a:duotone>
                <a:extLst>
                  <a:ext uri="{BEBA8EAE-BF5A-486C-A8C5-ECC9F3942E4B}">
                    <a14:imgProps xmlns:a14="http://schemas.microsoft.com/office/drawing/2010/main">
                      <a14:imgLayer r:embed="rId6">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55" name="Oval 54">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57" name="Rectangle 56">
            <a:extLst>
              <a:ext uri="{FF2B5EF4-FFF2-40B4-BE49-F238E27FC236}">
                <a16:creationId xmlns:a16="http://schemas.microsoft.com/office/drawing/2014/main" id="{0E2D3DCD-4716-40AA-90C0-6F2F9F116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1"/>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9" name="Rectangle 58">
            <a:extLst>
              <a:ext uri="{FF2B5EF4-FFF2-40B4-BE49-F238E27FC236}">
                <a16:creationId xmlns:a16="http://schemas.microsoft.com/office/drawing/2014/main" id="{037BACED-9574-4AAE-9D04-510030835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25845"/>
            <a:ext cx="12192000" cy="2610465"/>
          </a:xfrm>
          <a:prstGeom prst="rect">
            <a:avLst/>
          </a:prstGeom>
          <a:solidFill>
            <a:schemeClr val="bg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E0D85C-B6B1-7BFA-ADCF-657F236C4B5E}"/>
              </a:ext>
            </a:extLst>
          </p:cNvPr>
          <p:cNvSpPr>
            <a:spLocks noGrp="1"/>
          </p:cNvSpPr>
          <p:nvPr>
            <p:ph type="title"/>
          </p:nvPr>
        </p:nvSpPr>
        <p:spPr>
          <a:xfrm>
            <a:off x="1051559" y="4355692"/>
            <a:ext cx="10509069" cy="1472224"/>
          </a:xfrm>
        </p:spPr>
        <p:txBody>
          <a:bodyPr vert="horz" lIns="91440" tIns="45720" rIns="91440" bIns="45720" rtlCol="0" anchor="b">
            <a:normAutofit/>
          </a:bodyPr>
          <a:lstStyle/>
          <a:p>
            <a:pPr>
              <a:lnSpc>
                <a:spcPct val="80000"/>
              </a:lnSpc>
            </a:pPr>
            <a:r>
              <a:rPr lang="en-US" sz="5100">
                <a:solidFill>
                  <a:schemeClr val="tx1"/>
                </a:solidFill>
              </a:rPr>
              <a:t>Guidance to the Midterm exam </a:t>
            </a:r>
          </a:p>
        </p:txBody>
      </p:sp>
      <p:pic>
        <p:nvPicPr>
          <p:cNvPr id="5" name="Picture 4" descr="Rescue buoy floating at sea">
            <a:extLst>
              <a:ext uri="{FF2B5EF4-FFF2-40B4-BE49-F238E27FC236}">
                <a16:creationId xmlns:a16="http://schemas.microsoft.com/office/drawing/2014/main" id="{45E1E392-36AE-80C2-8D23-5F33D27074D7}"/>
              </a:ext>
            </a:extLst>
          </p:cNvPr>
          <p:cNvPicPr>
            <a:picLocks noChangeAspect="1"/>
          </p:cNvPicPr>
          <p:nvPr/>
        </p:nvPicPr>
        <p:blipFill rotWithShape="1">
          <a:blip r:embed="rId7"/>
          <a:srcRect t="14499" b="33360"/>
          <a:stretch/>
        </p:blipFill>
        <p:spPr>
          <a:xfrm>
            <a:off x="20" y="10"/>
            <a:ext cx="12191980" cy="4243361"/>
          </a:xfrm>
          <a:prstGeom prst="rect">
            <a:avLst/>
          </a:prstGeom>
        </p:spPr>
      </p:pic>
      <p:sp>
        <p:nvSpPr>
          <p:cNvPr id="4" name="Slide Number Placeholder 3">
            <a:extLst>
              <a:ext uri="{FF2B5EF4-FFF2-40B4-BE49-F238E27FC236}">
                <a16:creationId xmlns:a16="http://schemas.microsoft.com/office/drawing/2014/main" id="{37F0F67A-5D26-3E43-9DA9-3C16C55430C0}"/>
              </a:ext>
            </a:extLst>
          </p:cNvPr>
          <p:cNvSpPr>
            <a:spLocks noGrp="1"/>
          </p:cNvSpPr>
          <p:nvPr>
            <p:ph type="sldNum" sz="quarter" idx="12"/>
          </p:nvPr>
        </p:nvSpPr>
        <p:spPr>
          <a:xfrm>
            <a:off x="11237792" y="6115717"/>
            <a:ext cx="889764" cy="640080"/>
          </a:xfrm>
        </p:spPr>
        <p:txBody>
          <a:bodyPr vert="horz" lIns="91440" tIns="45720" rIns="91440" bIns="45720" rtlCol="0" anchor="ctr">
            <a:normAutofit/>
          </a:bodyPr>
          <a:lstStyle/>
          <a:p>
            <a:pPr defTabSz="457200">
              <a:spcAft>
                <a:spcPts val="600"/>
              </a:spcAft>
            </a:pPr>
            <a:fld id="{4FAB73BC-B049-4115-A692-8D63A059BFB8}" type="slidenum">
              <a:rPr lang="en-US" sz="2800">
                <a:solidFill>
                  <a:schemeClr val="tx1"/>
                </a:solidFill>
              </a:rPr>
              <a:pPr defTabSz="457200">
                <a:spcAft>
                  <a:spcPts val="600"/>
                </a:spcAft>
              </a:pPr>
              <a:t>2</a:t>
            </a:fld>
            <a:endParaRPr lang="en-US" sz="2800">
              <a:solidFill>
                <a:schemeClr val="tx1"/>
              </a:solidFill>
            </a:endParaRPr>
          </a:p>
        </p:txBody>
      </p:sp>
    </p:spTree>
    <p:extLst>
      <p:ext uri="{BB962C8B-B14F-4D97-AF65-F5344CB8AC3E}">
        <p14:creationId xmlns:p14="http://schemas.microsoft.com/office/powerpoint/2010/main" val="2326260654"/>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Close-up of shoots growing in stone cracks">
            <a:extLst>
              <a:ext uri="{FF2B5EF4-FFF2-40B4-BE49-F238E27FC236}">
                <a16:creationId xmlns:a16="http://schemas.microsoft.com/office/drawing/2014/main" id="{93B7F275-7FD5-8533-C918-26DEA5308FC2}"/>
              </a:ext>
            </a:extLst>
          </p:cNvPr>
          <p:cNvPicPr>
            <a:picLocks noChangeAspect="1"/>
          </p:cNvPicPr>
          <p:nvPr/>
        </p:nvPicPr>
        <p:blipFill rotWithShape="1">
          <a:blip r:embed="rId6"/>
          <a:srcRect t="15730"/>
          <a:stretch/>
        </p:blipFill>
        <p:spPr>
          <a:xfrm>
            <a:off x="-1" y="10"/>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611129F1-0938-5EC7-CE8E-580B7EF5B1F1}"/>
              </a:ext>
            </a:extLst>
          </p:cNvPr>
          <p:cNvSpPr>
            <a:spLocks noGrp="1"/>
          </p:cNvSpPr>
          <p:nvPr>
            <p:ph type="title"/>
          </p:nvPr>
        </p:nvSpPr>
        <p:spPr>
          <a:xfrm>
            <a:off x="1173480" y="4277802"/>
            <a:ext cx="9354820" cy="1622451"/>
          </a:xfrm>
        </p:spPr>
        <p:txBody>
          <a:bodyPr vert="horz" lIns="91440" tIns="45720" rIns="91440" bIns="45720" rtlCol="0" anchor="ctr">
            <a:normAutofit/>
          </a:bodyPr>
          <a:lstStyle/>
          <a:p>
            <a:pPr algn="r">
              <a:lnSpc>
                <a:spcPct val="80000"/>
              </a:lnSpc>
            </a:pPr>
            <a:r>
              <a:rPr lang="en-US" sz="3800" dirty="0">
                <a:blipFill dpi="0" rotWithShape="1">
                  <a:blip r:embed="rId4"/>
                  <a:srcRect/>
                  <a:tile tx="6350" ty="-127000" sx="65000" sy="64000" flip="none" algn="tl"/>
                </a:blipFill>
              </a:rPr>
              <a:t>Software Development Life Cycles</a:t>
            </a:r>
            <a:br>
              <a:rPr lang="en-US" sz="3800" dirty="0">
                <a:blipFill dpi="0" rotWithShape="1">
                  <a:blip r:embed="rId4"/>
                  <a:srcRect/>
                  <a:tile tx="6350" ty="-127000" sx="65000" sy="64000" flip="none" algn="tl"/>
                </a:blipFill>
              </a:rPr>
            </a:br>
            <a:endParaRPr lang="en-US" sz="3800" dirty="0">
              <a:blipFill dpi="0" rotWithShape="1">
                <a:blip r:embed="rId4"/>
                <a:srcRect/>
                <a:tile tx="6350" ty="-127000" sx="65000" sy="64000" flip="none" algn="tl"/>
              </a:blipFill>
            </a:endParaRP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619CBFCF-91CE-E4BB-1162-387A3EE3E1E8}"/>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3</a:t>
            </a:fld>
            <a:endParaRPr lang="en-US" sz="2000"/>
          </a:p>
        </p:txBody>
      </p:sp>
    </p:spTree>
    <p:extLst>
      <p:ext uri="{BB962C8B-B14F-4D97-AF65-F5344CB8AC3E}">
        <p14:creationId xmlns:p14="http://schemas.microsoft.com/office/powerpoint/2010/main" val="4064208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1C7FF924-8DA0-4BE9-8C7E-095B0EC13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6502" y="0"/>
            <a:ext cx="6125497" cy="6857999"/>
          </a:xfrm>
          <a:prstGeom prst="rect">
            <a:avLst/>
          </a:prstGeom>
          <a:blipFill dpi="0" rotWithShape="1">
            <a:blip r:embed="rId3">
              <a:alphaModFix amt="60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AE135-71B2-C4EF-7BD5-FF46F29AED96}"/>
              </a:ext>
            </a:extLst>
          </p:cNvPr>
          <p:cNvSpPr>
            <a:spLocks noGrp="1"/>
          </p:cNvSpPr>
          <p:nvPr>
            <p:ph type="title"/>
          </p:nvPr>
        </p:nvSpPr>
        <p:spPr>
          <a:xfrm>
            <a:off x="6400800" y="484632"/>
            <a:ext cx="5299586" cy="1609344"/>
          </a:xfrm>
          <a:ln>
            <a:noFill/>
          </a:ln>
        </p:spPr>
        <p:txBody>
          <a:bodyPr>
            <a:normAutofit/>
          </a:bodyPr>
          <a:lstStyle/>
          <a:p>
            <a:r>
              <a:rPr lang="en-US" sz="3400"/>
              <a:t>Software development processes</a:t>
            </a:r>
          </a:p>
        </p:txBody>
      </p:sp>
      <p:pic>
        <p:nvPicPr>
          <p:cNvPr id="6" name="Picture 5">
            <a:extLst>
              <a:ext uri="{FF2B5EF4-FFF2-40B4-BE49-F238E27FC236}">
                <a16:creationId xmlns:a16="http://schemas.microsoft.com/office/drawing/2014/main" id="{D18CC4A4-9460-21B6-43E9-7DDCB51AB37A}"/>
              </a:ext>
            </a:extLst>
          </p:cNvPr>
          <p:cNvPicPr>
            <a:picLocks noChangeAspect="1"/>
          </p:cNvPicPr>
          <p:nvPr/>
        </p:nvPicPr>
        <p:blipFill>
          <a:blip r:embed="rId5"/>
          <a:stretch>
            <a:fillRect/>
          </a:stretch>
        </p:blipFill>
        <p:spPr>
          <a:xfrm>
            <a:off x="633999" y="2290217"/>
            <a:ext cx="5112461" cy="2287826"/>
          </a:xfrm>
          <a:prstGeom prst="rect">
            <a:avLst/>
          </a:prstGeom>
        </p:spPr>
      </p:pic>
      <p:sp>
        <p:nvSpPr>
          <p:cNvPr id="3" name="Content Placeholder 2">
            <a:extLst>
              <a:ext uri="{FF2B5EF4-FFF2-40B4-BE49-F238E27FC236}">
                <a16:creationId xmlns:a16="http://schemas.microsoft.com/office/drawing/2014/main" id="{6D3B41CF-9296-AAC7-0238-B4D8052CDDF1}"/>
              </a:ext>
            </a:extLst>
          </p:cNvPr>
          <p:cNvSpPr>
            <a:spLocks noGrp="1"/>
          </p:cNvSpPr>
          <p:nvPr>
            <p:ph idx="1"/>
          </p:nvPr>
        </p:nvSpPr>
        <p:spPr>
          <a:xfrm>
            <a:off x="6400799" y="2121408"/>
            <a:ext cx="5299585" cy="4050792"/>
          </a:xfrm>
        </p:spPr>
        <p:txBody>
          <a:bodyPr>
            <a:normAutofit/>
          </a:bodyPr>
          <a:lstStyle/>
          <a:p>
            <a:r>
              <a:rPr lang="en-US" sz="1800" dirty="0"/>
              <a:t>Waterfall </a:t>
            </a:r>
          </a:p>
          <a:p>
            <a:r>
              <a:rPr lang="en-US" sz="1800" dirty="0"/>
              <a:t>Agile (Scrum)</a:t>
            </a:r>
          </a:p>
          <a:p>
            <a:pPr marL="0" indent="0">
              <a:buNone/>
            </a:pPr>
            <a:endParaRPr lang="en-US" sz="1800" dirty="0"/>
          </a:p>
          <a:p>
            <a:pPr marL="0" indent="0">
              <a:buNone/>
            </a:pPr>
            <a:r>
              <a:rPr lang="en-US" sz="1800" dirty="0"/>
              <a:t>What are the roles of SCRUM team?</a:t>
            </a:r>
          </a:p>
          <a:p>
            <a:pPr marL="0" indent="0">
              <a:buNone/>
            </a:pPr>
            <a:endPar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endParaRPr>
          </a:p>
          <a:p>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The customer keeps making changes to the requirements, even during the design and development phases. What approach could you have employed (could employ) to try to mitigate this problem?</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1800" dirty="0"/>
          </a:p>
          <a:p>
            <a:endParaRPr lang="en-US" sz="1800" dirty="0"/>
          </a:p>
        </p:txBody>
      </p:sp>
      <p:grpSp>
        <p:nvGrpSpPr>
          <p:cNvPr id="30" name="Group 29">
            <a:extLst>
              <a:ext uri="{FF2B5EF4-FFF2-40B4-BE49-F238E27FC236}">
                <a16:creationId xmlns:a16="http://schemas.microsoft.com/office/drawing/2014/main" id="{5029B4A8-2CF0-48DC-B29E-F3B62EDDC44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31" name="Oval 30">
              <a:extLst>
                <a:ext uri="{FF2B5EF4-FFF2-40B4-BE49-F238E27FC236}">
                  <a16:creationId xmlns:a16="http://schemas.microsoft.com/office/drawing/2014/main" id="{F71DA811-F7AE-460D-9891-57F221994B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6">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2" name="Oval 31">
              <a:extLst>
                <a:ext uri="{FF2B5EF4-FFF2-40B4-BE49-F238E27FC236}">
                  <a16:creationId xmlns:a16="http://schemas.microsoft.com/office/drawing/2014/main" id="{3747795E-BBFD-44B4-892D-2054745A84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AE5E2236-B9E6-CC70-439B-70208FD114A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a:t>
            </a:fld>
            <a:endParaRPr lang="en-US"/>
          </a:p>
        </p:txBody>
      </p:sp>
    </p:spTree>
    <p:extLst>
      <p:ext uri="{BB962C8B-B14F-4D97-AF65-F5344CB8AC3E}">
        <p14:creationId xmlns:p14="http://schemas.microsoft.com/office/powerpoint/2010/main" val="16590751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A high angle view of a drawing compass and a ruler on a diagram">
            <a:extLst>
              <a:ext uri="{FF2B5EF4-FFF2-40B4-BE49-F238E27FC236}">
                <a16:creationId xmlns:a16="http://schemas.microsoft.com/office/drawing/2014/main" id="{72F28500-A6D4-E483-8A89-2AF545EA1262}"/>
              </a:ext>
            </a:extLst>
          </p:cNvPr>
          <p:cNvPicPr>
            <a:picLocks noChangeAspect="1"/>
          </p:cNvPicPr>
          <p:nvPr/>
        </p:nvPicPr>
        <p:blipFill rotWithShape="1">
          <a:blip r:embed="rId6"/>
          <a:srcRect b="15094"/>
          <a:stretch/>
        </p:blipFill>
        <p:spPr>
          <a:xfrm>
            <a:off x="-1" y="10"/>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7080B7CA-2AAD-21D0-4D3D-FB460AD8A9CA}"/>
              </a:ext>
            </a:extLst>
          </p:cNvPr>
          <p:cNvSpPr>
            <a:spLocks noGrp="1"/>
          </p:cNvSpPr>
          <p:nvPr>
            <p:ph type="title"/>
          </p:nvPr>
        </p:nvSpPr>
        <p:spPr>
          <a:xfrm>
            <a:off x="1173480" y="4277802"/>
            <a:ext cx="6022449" cy="1622451"/>
          </a:xfrm>
        </p:spPr>
        <p:txBody>
          <a:bodyPr vert="horz" lIns="91440" tIns="45720" rIns="91440" bIns="45720" rtlCol="0" anchor="ctr">
            <a:normAutofit/>
          </a:bodyPr>
          <a:lstStyle/>
          <a:p>
            <a:pPr algn="r">
              <a:lnSpc>
                <a:spcPct val="80000"/>
              </a:lnSpc>
            </a:pPr>
            <a:r>
              <a:rPr lang="en-US" sz="6000">
                <a:blipFill dpi="0" rotWithShape="1">
                  <a:blip r:embed="rId4"/>
                  <a:srcRect/>
                  <a:tile tx="6350" ty="-127000" sx="65000" sy="64000" flip="none" algn="tl"/>
                </a:blipFill>
              </a:rPr>
              <a:t>Requirements engineering</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9301D9E5-178A-AA24-2D2C-70DA5D59CDAB}"/>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5</a:t>
            </a:fld>
            <a:endParaRPr lang="en-US" sz="2000"/>
          </a:p>
        </p:txBody>
      </p:sp>
    </p:spTree>
    <p:extLst>
      <p:ext uri="{BB962C8B-B14F-4D97-AF65-F5344CB8AC3E}">
        <p14:creationId xmlns:p14="http://schemas.microsoft.com/office/powerpoint/2010/main" val="996518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5A194-9A26-A239-E9E5-62842704C984}"/>
              </a:ext>
            </a:extLst>
          </p:cNvPr>
          <p:cNvSpPr>
            <a:spLocks noGrp="1"/>
          </p:cNvSpPr>
          <p:nvPr>
            <p:ph type="title"/>
          </p:nvPr>
        </p:nvSpPr>
        <p:spPr/>
        <p:txBody>
          <a:bodyPr/>
          <a:lstStyle/>
          <a:p>
            <a:r>
              <a:rPr lang="en-US" dirty="0"/>
              <a:t>Requirements engineering</a:t>
            </a:r>
          </a:p>
        </p:txBody>
      </p:sp>
      <p:sp>
        <p:nvSpPr>
          <p:cNvPr id="3" name="Content Placeholder 2">
            <a:extLst>
              <a:ext uri="{FF2B5EF4-FFF2-40B4-BE49-F238E27FC236}">
                <a16:creationId xmlns:a16="http://schemas.microsoft.com/office/drawing/2014/main" id="{2BDB9234-E60D-ABB0-56B6-302C43E97EED}"/>
              </a:ext>
            </a:extLst>
          </p:cNvPr>
          <p:cNvSpPr>
            <a:spLocks noGrp="1"/>
          </p:cNvSpPr>
          <p:nvPr>
            <p:ph idx="1"/>
          </p:nvPr>
        </p:nvSpPr>
        <p:spPr/>
        <p:txBody>
          <a:bodyPr/>
          <a:lstStyle/>
          <a:p>
            <a:r>
              <a:rPr lang="en-US" dirty="0"/>
              <a:t>Elicitation Techniques</a:t>
            </a:r>
          </a:p>
          <a:p>
            <a:r>
              <a:rPr lang="en-US" dirty="0"/>
              <a:t>Requirements Documentation</a:t>
            </a:r>
          </a:p>
          <a:p>
            <a:pPr lvl="1"/>
            <a:r>
              <a:rPr lang="en-US" dirty="0"/>
              <a:t>Functional Requirements vs. Non-Functional Requirements.</a:t>
            </a:r>
          </a:p>
          <a:p>
            <a:pPr lvl="1"/>
            <a:r>
              <a:rPr lang="en-US" dirty="0"/>
              <a:t>Requirements Qualities</a:t>
            </a:r>
          </a:p>
        </p:txBody>
      </p:sp>
      <p:sp>
        <p:nvSpPr>
          <p:cNvPr id="4" name="Slide Number Placeholder 3">
            <a:extLst>
              <a:ext uri="{FF2B5EF4-FFF2-40B4-BE49-F238E27FC236}">
                <a16:creationId xmlns:a16="http://schemas.microsoft.com/office/drawing/2014/main" id="{64EE036B-3D20-16BE-A824-C9D9AB81E485}"/>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229602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IEEE Std 29148</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A97A682-319C-497E-8CA6-78F96D3139B4}"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7</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8</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0631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9</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24710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10</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62414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11</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2254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complete “to the extent that all of its parts are present and each part is fully developed.”</a:t>
            </a:r>
          </a:p>
          <a:p>
            <a:pPr lvl="1"/>
            <a:r>
              <a:rPr lang="en-US" dirty="0"/>
              <a:t>Switch 1 shall have two positions, one position is “on”.</a:t>
            </a:r>
          </a:p>
          <a:p>
            <a:r>
              <a:rPr lang="en-US" sz="240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12</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941210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13</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3626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17132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Numbered or indexed somehow</a:t>
            </a:r>
          </a:p>
          <a:p>
            <a:r>
              <a:rPr lang="en-US" sz="2400"/>
              <a:t>Essential quality for effective communications ease of modification, and legal considerations.</a:t>
            </a:r>
          </a:p>
          <a:p>
            <a:r>
              <a:rPr lang="en-US" sz="240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15</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61190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41096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17</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82056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18</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73868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Working space background">
            <a:extLst>
              <a:ext uri="{FF2B5EF4-FFF2-40B4-BE49-F238E27FC236}">
                <a16:creationId xmlns:a16="http://schemas.microsoft.com/office/drawing/2014/main" id="{D5DD0725-07B3-B455-8C11-DF7F45D0A8DA}"/>
              </a:ext>
            </a:extLst>
          </p:cNvPr>
          <p:cNvPicPr>
            <a:picLocks noChangeAspect="1"/>
          </p:cNvPicPr>
          <p:nvPr/>
        </p:nvPicPr>
        <p:blipFill rotWithShape="1">
          <a:blip r:embed="rId2"/>
          <a:srcRect t="5743" b="9987"/>
          <a:stretch/>
        </p:blipFill>
        <p:spPr>
          <a:xfrm>
            <a:off x="-3047" y="10"/>
            <a:ext cx="12191999" cy="6857990"/>
          </a:xfrm>
          <a:prstGeom prst="rect">
            <a:avLst/>
          </a:prstGeom>
        </p:spPr>
      </p:pic>
      <p:sp>
        <p:nvSpPr>
          <p:cNvPr id="10" name="Rectangle 9">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DFD4BB-76E5-BEEC-CD97-F1B152341242}"/>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Writing Requirements as Use Cases</a:t>
            </a:r>
          </a:p>
        </p:txBody>
      </p:sp>
    </p:spTree>
    <p:extLst>
      <p:ext uri="{BB962C8B-B14F-4D97-AF65-F5344CB8AC3E}">
        <p14:creationId xmlns:p14="http://schemas.microsoft.com/office/powerpoint/2010/main" val="2408335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0296" name="Rectangle 78029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0290" name="Rectangle 2"/>
          <p:cNvSpPr>
            <a:spLocks noGrp="1" noChangeArrowheads="1"/>
          </p:cNvSpPr>
          <p:nvPr>
            <p:ph type="title"/>
          </p:nvPr>
        </p:nvSpPr>
        <p:spPr>
          <a:xfrm>
            <a:off x="838200" y="365125"/>
            <a:ext cx="10515600" cy="1325563"/>
          </a:xfrm>
        </p:spPr>
        <p:txBody>
          <a:bodyPr>
            <a:normAutofit/>
          </a:bodyPr>
          <a:lstStyle/>
          <a:p>
            <a:r>
              <a:rPr lang="en-US" sz="5400"/>
              <a:t>Useful Use Case Guidelines</a:t>
            </a:r>
          </a:p>
        </p:txBody>
      </p:sp>
      <p:sp>
        <p:nvSpPr>
          <p:cNvPr id="78029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0291" name="Rectangle 3"/>
          <p:cNvSpPr>
            <a:spLocks noGrp="1" noChangeArrowheads="1"/>
          </p:cNvSpPr>
          <p:nvPr>
            <p:ph type="body" idx="1"/>
          </p:nvPr>
        </p:nvSpPr>
        <p:spPr>
          <a:xfrm>
            <a:off x="838200" y="1929384"/>
            <a:ext cx="10515600" cy="4251960"/>
          </a:xfrm>
        </p:spPr>
        <p:txBody>
          <a:bodyPr>
            <a:normAutofit/>
          </a:bodyPr>
          <a:lstStyle/>
          <a:p>
            <a:pPr marL="514350" indent="-514350">
              <a:buFont typeface="+mj-lt"/>
              <a:buAutoNum type="arabicPeriod"/>
            </a:pPr>
            <a:r>
              <a:rPr lang="en-US" sz="3000" dirty="0"/>
              <a:t>Complete Single Goal</a:t>
            </a:r>
          </a:p>
          <a:p>
            <a:pPr marL="514350" indent="-514350">
              <a:buFont typeface="+mj-lt"/>
              <a:buAutoNum type="arabicPeriod"/>
            </a:pPr>
            <a:r>
              <a:rPr lang="en-US" sz="3000" dirty="0"/>
              <a:t>Leveled Steps</a:t>
            </a:r>
          </a:p>
          <a:p>
            <a:pPr marL="514350" indent="-514350">
              <a:buFont typeface="+mj-lt"/>
              <a:buAutoNum type="arabicPeriod"/>
            </a:pPr>
            <a:r>
              <a:rPr lang="en-US" sz="3000" dirty="0"/>
              <a:t>Technology Neutral</a:t>
            </a:r>
          </a:p>
          <a:p>
            <a:pPr marL="514350" indent="-514350">
              <a:buFont typeface="+mj-lt"/>
              <a:buAutoNum type="arabicPeriod"/>
            </a:pPr>
            <a:r>
              <a:rPr lang="en-US" sz="3000" dirty="0"/>
              <a:t>Scenario Plus Fragments</a:t>
            </a:r>
          </a:p>
          <a:p>
            <a:pPr marL="514350" indent="-514350">
              <a:buFont typeface="+mj-lt"/>
              <a:buAutoNum type="arabicPeriod"/>
            </a:pPr>
            <a:r>
              <a:rPr lang="en-US" sz="3000" dirty="0"/>
              <a:t>Exhaustive Alternatives</a:t>
            </a:r>
          </a:p>
          <a:p>
            <a:pPr marL="514350" indent="-514350">
              <a:buFont typeface="+mj-lt"/>
              <a:buAutoNum type="arabicPeriod"/>
            </a:pPr>
            <a:r>
              <a:rPr lang="en-US" sz="3000" dirty="0"/>
              <a:t>Common Sub Behavior</a:t>
            </a:r>
          </a:p>
          <a:p>
            <a:pPr marL="514350" indent="-514350">
              <a:buFont typeface="+mj-lt"/>
              <a:buAutoNum type="arabicPeriod"/>
            </a:pPr>
            <a:r>
              <a:rPr lang="en-US" sz="3000" dirty="0"/>
              <a:t>Interrupts As Extensions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D89F08D-64F3-4BBE-B8B8-7C5C68143A1F}" type="slidenum">
              <a:rPr kumimoji="0" lang="de-D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20</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Computer code representation.">
            <a:extLst>
              <a:ext uri="{FF2B5EF4-FFF2-40B4-BE49-F238E27FC236}">
                <a16:creationId xmlns:a16="http://schemas.microsoft.com/office/drawing/2014/main" id="{69C41811-48B4-FBCC-4AAC-00EC6503ED2C}"/>
              </a:ext>
            </a:extLst>
          </p:cNvPr>
          <p:cNvPicPr>
            <a:picLocks noChangeAspect="1"/>
          </p:cNvPicPr>
          <p:nvPr/>
        </p:nvPicPr>
        <p:blipFill rotWithShape="1">
          <a:blip r:embed="rId2"/>
          <a:srcRect l="444"/>
          <a:stretch/>
        </p:blipFill>
        <p:spPr>
          <a:xfrm>
            <a:off x="-3047" y="10"/>
            <a:ext cx="12191999" cy="6857990"/>
          </a:xfrm>
          <a:prstGeom prst="rect">
            <a:avLst/>
          </a:prstGeom>
        </p:spPr>
      </p:pic>
      <p:sp>
        <p:nvSpPr>
          <p:cNvPr id="10" name="Rectangle 9">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AB709B-3E69-2D66-3584-420705BF326E}"/>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Software Design</a:t>
            </a:r>
          </a:p>
        </p:txBody>
      </p:sp>
    </p:spTree>
    <p:extLst>
      <p:ext uri="{BB962C8B-B14F-4D97-AF65-F5344CB8AC3E}">
        <p14:creationId xmlns:p14="http://schemas.microsoft.com/office/powerpoint/2010/main" val="3050381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009D6D5-DAC2-4A8B-A17A-E206B9012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CE25BF-CD75-14F8-F705-214E5399899D}"/>
              </a:ext>
            </a:extLst>
          </p:cNvPr>
          <p:cNvSpPr>
            <a:spLocks noGrp="1"/>
          </p:cNvSpPr>
          <p:nvPr>
            <p:ph type="title"/>
          </p:nvPr>
        </p:nvSpPr>
        <p:spPr>
          <a:xfrm>
            <a:off x="838201" y="365125"/>
            <a:ext cx="5251316" cy="1807305"/>
          </a:xfrm>
        </p:spPr>
        <p:txBody>
          <a:bodyPr>
            <a:normAutofit/>
          </a:bodyPr>
          <a:lstStyle/>
          <a:p>
            <a:r>
              <a:rPr lang="en-US"/>
              <a:t>Object Oriented Design </a:t>
            </a:r>
          </a:p>
        </p:txBody>
      </p:sp>
      <p:sp>
        <p:nvSpPr>
          <p:cNvPr id="3" name="Content Placeholder 2">
            <a:extLst>
              <a:ext uri="{FF2B5EF4-FFF2-40B4-BE49-F238E27FC236}">
                <a16:creationId xmlns:a16="http://schemas.microsoft.com/office/drawing/2014/main" id="{3FFE55D1-5513-5763-43AB-97CB017EE8A2}"/>
              </a:ext>
            </a:extLst>
          </p:cNvPr>
          <p:cNvSpPr>
            <a:spLocks noGrp="1"/>
          </p:cNvSpPr>
          <p:nvPr>
            <p:ph idx="1"/>
          </p:nvPr>
        </p:nvSpPr>
        <p:spPr>
          <a:xfrm>
            <a:off x="838200" y="2333297"/>
            <a:ext cx="4619621" cy="3843666"/>
          </a:xfrm>
        </p:spPr>
        <p:txBody>
          <a:bodyPr>
            <a:noAutofit/>
          </a:bodyPr>
          <a:lstStyle/>
          <a:p>
            <a:pPr marL="0" indent="0">
              <a:buNone/>
            </a:pPr>
            <a:r>
              <a:rPr lang="en-US" sz="4000" dirty="0"/>
              <a:t>Use Cases </a:t>
            </a:r>
            <a:r>
              <a:rPr lang="en-US" sz="4000" dirty="0">
                <a:sym typeface="Wingdings" panose="05000000000000000000" pitchFamily="2" charset="2"/>
              </a:rPr>
              <a:t> System Sequence Diagrams  Domain Model  Operation Contract  Interaction Diagram  Class Diagram</a:t>
            </a:r>
            <a:endParaRPr lang="en-US" sz="4000" dirty="0"/>
          </a:p>
        </p:txBody>
      </p:sp>
      <p:pic>
        <p:nvPicPr>
          <p:cNvPr id="5" name="Picture 4" descr="Person writing on a notepad">
            <a:extLst>
              <a:ext uri="{FF2B5EF4-FFF2-40B4-BE49-F238E27FC236}">
                <a16:creationId xmlns:a16="http://schemas.microsoft.com/office/drawing/2014/main" id="{EE6D3B46-075D-07A4-CBE7-A528756C5AF3}"/>
              </a:ext>
            </a:extLst>
          </p:cNvPr>
          <p:cNvPicPr>
            <a:picLocks noChangeAspect="1"/>
          </p:cNvPicPr>
          <p:nvPr/>
        </p:nvPicPr>
        <p:blipFill rotWithShape="1">
          <a:blip r:embed="rId2"/>
          <a:srcRect l="19240" r="11855"/>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Tree>
    <p:extLst>
      <p:ext uri="{BB962C8B-B14F-4D97-AF65-F5344CB8AC3E}">
        <p14:creationId xmlns:p14="http://schemas.microsoft.com/office/powerpoint/2010/main" val="14809597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CBEA01E-1DAD-7EBA-3B92-751ABA0E2A1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Use Case Example: Withdraw from ATM</a:t>
            </a:r>
          </a:p>
        </p:txBody>
      </p:sp>
      <p:sp>
        <p:nvSpPr>
          <p:cNvPr id="5" name="TextBox 4">
            <a:extLst>
              <a:ext uri="{FF2B5EF4-FFF2-40B4-BE49-F238E27FC236}">
                <a16:creationId xmlns:a16="http://schemas.microsoft.com/office/drawing/2014/main" id="{A5277166-18C9-7409-159C-9F74BBA68E2F}"/>
              </a:ext>
            </a:extLst>
          </p:cNvPr>
          <p:cNvSpPr txBox="1"/>
          <p:nvPr/>
        </p:nvSpPr>
        <p:spPr>
          <a:xfrm>
            <a:off x="329784" y="1622746"/>
            <a:ext cx="11542425" cy="5122828"/>
          </a:xfrm>
          <a:prstGeom prst="rect">
            <a:avLst/>
          </a:prstGeom>
        </p:spPr>
        <p:txBody>
          <a:bodyPr vert="horz" lIns="91440" tIns="45720" rIns="91440" bIns="45720" rtlCol="0" anchor="ctr">
            <a:normAutofit/>
          </a:bodyPr>
          <a:lstStyle/>
          <a:p>
            <a:pPr marL="0" marR="0" lvl="0" indent="0" algn="ctr" defTabSz="914400" rtl="0" eaLnBrk="1" fontAlgn="auto" latinLnBrk="0" hangingPunct="1">
              <a:lnSpc>
                <a:spcPct val="90000"/>
              </a:lnSpc>
              <a:spcBef>
                <a:spcPts val="0"/>
              </a:spcBef>
              <a:spcAft>
                <a:spcPts val="600"/>
              </a:spcAft>
              <a:buClrTx/>
              <a:buSzTx/>
              <a:buFontTx/>
              <a:buNone/>
              <a:tabLst/>
              <a:defRPr/>
            </a:pPr>
            <a:r>
              <a:rPr kumimoji="0" lang="en-US" sz="3200" b="1" i="0" u="none" strike="noStrike" kern="1200" cap="none" spc="0" normalizeH="0" baseline="0" noProof="0" dirty="0">
                <a:ln>
                  <a:noFill/>
                </a:ln>
                <a:solidFill>
                  <a:srgbClr val="ED7D31"/>
                </a:solidFill>
                <a:effectLst/>
                <a:uLnTx/>
                <a:uFillTx/>
                <a:latin typeface="Calibri" panose="020F0502020204030204"/>
                <a:ea typeface="+mn-ea"/>
                <a:cs typeface="+mn-cs"/>
              </a:rPr>
              <a:t>Scenario 1 (Main Success Scenario): Standard Withdrawal</a:t>
            </a:r>
            <a:endParaRPr kumimoji="0" lang="en-US" sz="3200" b="0" i="0" u="none" strike="noStrike" kern="1200" cap="none" spc="0" normalizeH="0" baseline="0" noProof="0" dirty="0">
              <a:ln>
                <a:noFill/>
              </a:ln>
              <a:solidFill>
                <a:srgbClr val="ED7D31"/>
              </a:solidFill>
              <a:effectLst/>
              <a:uLnTx/>
              <a:uFillTx/>
              <a:latin typeface="Calibri" panose="020F0502020204030204"/>
              <a:ea typeface="+mn-ea"/>
              <a:cs typeface="+mn-cs"/>
            </a:endParaRP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inserts their ATM card into the machine.</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prompts the user to enter their PIN.</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enters the correct PIN.</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displays the main menu, and the user selects "Withdrawal" option.</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specifies the amount to withdraw.</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checks the account balance and ensures sufficient funds are available.</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If funds are available, ATM dispenses the requested amount in cash.</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ATM updates the account balance and prints a receipt.</a:t>
            </a:r>
          </a:p>
          <a:p>
            <a:pPr marL="228600" marR="0" lvl="0" indent="-457200" algn="l" defTabSz="914400" rtl="0" eaLnBrk="1" fontAlgn="auto" latinLnBrk="0" hangingPunct="1">
              <a:lnSpc>
                <a:spcPct val="90000"/>
              </a:lnSpc>
              <a:spcBef>
                <a:spcPts val="0"/>
              </a:spcBef>
              <a:spcAft>
                <a:spcPts val="600"/>
              </a:spcAft>
              <a:buClrTx/>
              <a:buSzTx/>
              <a:buFont typeface="+mj-lt"/>
              <a:buAutoNum type="arabicPeriod"/>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User retrieves the cash and the receipt.</a:t>
            </a:r>
          </a:p>
        </p:txBody>
      </p:sp>
    </p:spTree>
    <p:extLst>
      <p:ext uri="{BB962C8B-B14F-4D97-AF65-F5344CB8AC3E}">
        <p14:creationId xmlns:p14="http://schemas.microsoft.com/office/powerpoint/2010/main" val="2752498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3432" name="Rectangle 74343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43426" name="Rectangle 2"/>
          <p:cNvSpPr>
            <a:spLocks noGrp="1" noChangeArrowheads="1"/>
          </p:cNvSpPr>
          <p:nvPr>
            <p:ph type="title"/>
          </p:nvPr>
        </p:nvSpPr>
        <p:spPr>
          <a:xfrm>
            <a:off x="556532" y="643467"/>
            <a:ext cx="11210925" cy="744836"/>
          </a:xfrm>
        </p:spPr>
        <p:txBody>
          <a:bodyPr vert="horz" lIns="91440" tIns="45720" rIns="91440" bIns="45720" rtlCol="0" anchor="ctr">
            <a:normAutofit/>
          </a:bodyPr>
          <a:lstStyle/>
          <a:p>
            <a:pPr algn="ctr"/>
            <a:r>
              <a:rPr lang="en-US" altLang="en-US" sz="3200" kern="1200" dirty="0">
                <a:solidFill>
                  <a:schemeClr val="bg1"/>
                </a:solidFill>
                <a:latin typeface="+mj-lt"/>
                <a:ea typeface="+mj-ea"/>
                <a:cs typeface="+mj-cs"/>
              </a:rPr>
              <a:t>SSD Example: Register for Courses</a:t>
            </a:r>
          </a:p>
        </p:txBody>
      </p:sp>
      <p:pic>
        <p:nvPicPr>
          <p:cNvPr id="743427" name="Picture 3"/>
          <p:cNvPicPr>
            <a:picLocks noGrp="1" noChangeAspect="1" noChangeArrowheads="1"/>
          </p:cNvPicPr>
          <p:nvPr>
            <p:ph idx="1"/>
          </p:nvPr>
        </p:nvPicPr>
        <p:blipFill>
          <a:blip r:embed="rId3"/>
          <a:stretch>
            <a:fillRect/>
          </a:stretch>
        </p:blipFill>
        <p:spPr>
          <a:xfrm>
            <a:off x="2517977" y="1675227"/>
            <a:ext cx="7156045" cy="4394199"/>
          </a:xfrm>
          <a:prstGeom prst="rect">
            <a:avLst/>
          </a:prstGeom>
          <a:noFill/>
        </p:spPr>
      </p:pic>
      <p:sp>
        <p:nvSpPr>
          <p:cNvPr id="4" name="Slide Number Placeholder 3"/>
          <p:cNvSpPr>
            <a:spLocks noGrp="1"/>
          </p:cNvSpPr>
          <p:nvPr>
            <p:ph type="sldNum" sz="quarter" idx="10"/>
          </p:nvPr>
        </p:nvSpPr>
        <p:spPr>
          <a:xfrm>
            <a:off x="8610600" y="6356350"/>
            <a:ext cx="2743200"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77E5FAB-3742-4317-8ACA-13163C519821}"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3AA347A-52EA-B9EA-7640-49A07BCC607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300" kern="1200" dirty="0">
                <a:solidFill>
                  <a:srgbClr val="FFFFFF"/>
                </a:solidFill>
                <a:latin typeface="+mj-lt"/>
                <a:ea typeface="+mj-ea"/>
                <a:cs typeface="+mj-cs"/>
              </a:rPr>
              <a:t>	SSD EXAMPLE</a:t>
            </a:r>
          </a:p>
        </p:txBody>
      </p:sp>
      <p:pic>
        <p:nvPicPr>
          <p:cNvPr id="5" name="Content Placeholder 4" descr="A diagram of a cashier&#10;&#10;Description automatically generated">
            <a:extLst>
              <a:ext uri="{FF2B5EF4-FFF2-40B4-BE49-F238E27FC236}">
                <a16:creationId xmlns:a16="http://schemas.microsoft.com/office/drawing/2014/main" id="{F5603E30-F542-B80B-5C1A-0AF90B999362}"/>
              </a:ext>
            </a:extLst>
          </p:cNvPr>
          <p:cNvPicPr>
            <a:picLocks noGrp="1" noChangeAspect="1"/>
          </p:cNvPicPr>
          <p:nvPr>
            <p:ph idx="1"/>
          </p:nvPr>
        </p:nvPicPr>
        <p:blipFill>
          <a:blip r:embed="rId2"/>
          <a:stretch>
            <a:fillRect/>
          </a:stretch>
        </p:blipFill>
        <p:spPr>
          <a:xfrm>
            <a:off x="4777316" y="808790"/>
            <a:ext cx="6780700" cy="5238090"/>
          </a:xfrm>
          <a:prstGeom prst="rect">
            <a:avLst/>
          </a:prstGeom>
        </p:spPr>
      </p:pic>
    </p:spTree>
    <p:extLst>
      <p:ext uri="{BB962C8B-B14F-4D97-AF65-F5344CB8AC3E}">
        <p14:creationId xmlns:p14="http://schemas.microsoft.com/office/powerpoint/2010/main" val="37329124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0" name="Rectangle 129">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FCFBE33-633C-DCE4-463A-2024455365BB}"/>
              </a:ext>
            </a:extLst>
          </p:cNvPr>
          <p:cNvSpPr>
            <a:spLocks noGrp="1"/>
          </p:cNvSpPr>
          <p:nvPr>
            <p:ph type="title"/>
          </p:nvPr>
        </p:nvSpPr>
        <p:spPr>
          <a:xfrm>
            <a:off x="841248" y="334644"/>
            <a:ext cx="10509504" cy="1076914"/>
          </a:xfrm>
        </p:spPr>
        <p:txBody>
          <a:bodyPr anchor="ctr">
            <a:normAutofit/>
          </a:bodyPr>
          <a:lstStyle/>
          <a:p>
            <a:r>
              <a:rPr lang="en-US" sz="4000" dirty="0"/>
              <a:t>Hoes does a Domain Model Looks Like?</a:t>
            </a:r>
          </a:p>
        </p:txBody>
      </p:sp>
      <p:sp>
        <p:nvSpPr>
          <p:cNvPr id="131" name="Rectangle 130">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131">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4">
            <a:extLst>
              <a:ext uri="{FF2B5EF4-FFF2-40B4-BE49-F238E27FC236}">
                <a16:creationId xmlns:a16="http://schemas.microsoft.com/office/drawing/2014/main" id="{21C97506-756E-C972-37EE-227975771C54}"/>
              </a:ext>
            </a:extLst>
          </p:cNvPr>
          <p:cNvGrpSpPr>
            <a:grpSpLocks noChangeAspect="1"/>
          </p:cNvGrpSpPr>
          <p:nvPr/>
        </p:nvGrpSpPr>
        <p:grpSpPr bwMode="auto">
          <a:xfrm>
            <a:off x="3558578" y="1737360"/>
            <a:ext cx="6889565" cy="4535424"/>
            <a:chOff x="863" y="962"/>
            <a:chExt cx="3697" cy="3310"/>
          </a:xfrm>
        </p:grpSpPr>
        <p:sp>
          <p:nvSpPr>
            <p:cNvPr id="5" name="AutoShape 3">
              <a:extLst>
                <a:ext uri="{FF2B5EF4-FFF2-40B4-BE49-F238E27FC236}">
                  <a16:creationId xmlns:a16="http://schemas.microsoft.com/office/drawing/2014/main" id="{720670F7-5797-8495-D30B-2AC7B75E676F}"/>
                </a:ext>
              </a:extLst>
            </p:cNvPr>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E5A67905-F8FA-DE70-7BBB-6E2957840251}"/>
                </a:ext>
              </a:extLst>
            </p:cNvPr>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9AAF07B8-30F0-39B8-94FF-8DA53FB97242}"/>
                </a:ext>
              </a:extLst>
            </p:cNvPr>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 name="Rectangle 7">
              <a:extLst>
                <a:ext uri="{FF2B5EF4-FFF2-40B4-BE49-F238E27FC236}">
                  <a16:creationId xmlns:a16="http://schemas.microsoft.com/office/drawing/2014/main" id="{B058123C-4AB1-3260-C796-CF85677C71B1}"/>
                </a:ext>
              </a:extLst>
            </p:cNvPr>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95177BB-4521-CD1E-CBBA-3865A6F3467B}"/>
                </a:ext>
              </a:extLst>
            </p:cNvPr>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2146A6E8-21BB-8BE9-92EE-AB54FB6913C0}"/>
                </a:ext>
              </a:extLst>
            </p:cNvPr>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 name="Rectangle 10">
              <a:extLst>
                <a:ext uri="{FF2B5EF4-FFF2-40B4-BE49-F238E27FC236}">
                  <a16:creationId xmlns:a16="http://schemas.microsoft.com/office/drawing/2014/main" id="{EEB19EBB-6B35-47DE-ADDF-DE6DCD20DDF0}"/>
                </a:ext>
              </a:extLst>
            </p:cNvPr>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B611FACC-AB90-10A6-8C4B-15CA70EA46A4}"/>
                </a:ext>
              </a:extLst>
            </p:cNvPr>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A96E249-ECCC-1D2D-4F00-11CED89DEEFE}"/>
                </a:ext>
              </a:extLst>
            </p:cNvPr>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4" name="Rectangle 13">
              <a:extLst>
                <a:ext uri="{FF2B5EF4-FFF2-40B4-BE49-F238E27FC236}">
                  <a16:creationId xmlns:a16="http://schemas.microsoft.com/office/drawing/2014/main" id="{83053282-5A7F-3C5C-1DC5-6856E0F38A01}"/>
                </a:ext>
              </a:extLst>
            </p:cNvPr>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A1572C4D-3C6B-46BE-9F28-CA3BE6990C13}"/>
                </a:ext>
              </a:extLst>
            </p:cNvPr>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6" name="Rectangle 15">
              <a:extLst>
                <a:ext uri="{FF2B5EF4-FFF2-40B4-BE49-F238E27FC236}">
                  <a16:creationId xmlns:a16="http://schemas.microsoft.com/office/drawing/2014/main" id="{DE28DB24-A79B-D6A9-D2BC-2A6C05D7BD28}"/>
                </a:ext>
              </a:extLst>
            </p:cNvPr>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7" name="Rectangle 16">
              <a:extLst>
                <a:ext uri="{FF2B5EF4-FFF2-40B4-BE49-F238E27FC236}">
                  <a16:creationId xmlns:a16="http://schemas.microsoft.com/office/drawing/2014/main" id="{A5B89E7D-D776-7A00-8AB6-AB7CC50BF91F}"/>
                </a:ext>
              </a:extLst>
            </p:cNvPr>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8BD7759C-0070-8967-5514-D16ABBB54527}"/>
                </a:ext>
              </a:extLst>
            </p:cNvPr>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9" name="Rectangle 18">
              <a:extLst>
                <a:ext uri="{FF2B5EF4-FFF2-40B4-BE49-F238E27FC236}">
                  <a16:creationId xmlns:a16="http://schemas.microsoft.com/office/drawing/2014/main" id="{6CBE1354-F097-CB1E-CAC3-8BB4717C5FDA}"/>
                </a:ext>
              </a:extLst>
            </p:cNvPr>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32819031-2847-434D-9693-E6A6B1CFEC9A}"/>
                </a:ext>
              </a:extLst>
            </p:cNvPr>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 name="Rectangle 20">
              <a:extLst>
                <a:ext uri="{FF2B5EF4-FFF2-40B4-BE49-F238E27FC236}">
                  <a16:creationId xmlns:a16="http://schemas.microsoft.com/office/drawing/2014/main" id="{6905FD80-5A07-34BA-3675-07566C675A77}"/>
                </a:ext>
              </a:extLst>
            </p:cNvPr>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2" name="Rectangle 21">
              <a:extLst>
                <a:ext uri="{FF2B5EF4-FFF2-40B4-BE49-F238E27FC236}">
                  <a16:creationId xmlns:a16="http://schemas.microsoft.com/office/drawing/2014/main" id="{8A13DA31-8149-5D9D-F67E-959A5BDCDEAD}"/>
                </a:ext>
              </a:extLst>
            </p:cNvPr>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789619DC-CDD6-6A7C-3EB8-488990B7030A}"/>
                </a:ext>
              </a:extLst>
            </p:cNvPr>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 name="Rectangle 23">
              <a:extLst>
                <a:ext uri="{FF2B5EF4-FFF2-40B4-BE49-F238E27FC236}">
                  <a16:creationId xmlns:a16="http://schemas.microsoft.com/office/drawing/2014/main" id="{043D0BAB-FA76-5367-9BF7-EB50C5F73202}"/>
                </a:ext>
              </a:extLst>
            </p:cNvPr>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EB70EC30-31B2-33DF-DD9E-7DC0CD1E2D4A}"/>
                </a:ext>
              </a:extLst>
            </p:cNvPr>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 name="Rectangle 25">
              <a:extLst>
                <a:ext uri="{FF2B5EF4-FFF2-40B4-BE49-F238E27FC236}">
                  <a16:creationId xmlns:a16="http://schemas.microsoft.com/office/drawing/2014/main" id="{6385508D-B172-9DDE-B7B9-0460DE50E2C0}"/>
                </a:ext>
              </a:extLst>
            </p:cNvPr>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B9586504-044F-3FB2-CCC0-8F731415127F}"/>
                </a:ext>
              </a:extLst>
            </p:cNvPr>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8" name="Rectangle 27">
              <a:extLst>
                <a:ext uri="{FF2B5EF4-FFF2-40B4-BE49-F238E27FC236}">
                  <a16:creationId xmlns:a16="http://schemas.microsoft.com/office/drawing/2014/main" id="{9CBCA06C-0585-73CD-2C33-637C02118CF5}"/>
                </a:ext>
              </a:extLst>
            </p:cNvPr>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9" name="Rectangle 28">
              <a:extLst>
                <a:ext uri="{FF2B5EF4-FFF2-40B4-BE49-F238E27FC236}">
                  <a16:creationId xmlns:a16="http://schemas.microsoft.com/office/drawing/2014/main" id="{3E67344A-44BE-A031-F197-C61FA14A916B}"/>
                </a:ext>
              </a:extLst>
            </p:cNvPr>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640FC486-9188-17C0-AA34-8DAD5380C62F}"/>
                </a:ext>
              </a:extLst>
            </p:cNvPr>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1" name="Rectangle 30">
              <a:extLst>
                <a:ext uri="{FF2B5EF4-FFF2-40B4-BE49-F238E27FC236}">
                  <a16:creationId xmlns:a16="http://schemas.microsoft.com/office/drawing/2014/main" id="{57F20A28-E954-D16A-AB4B-F2D61DB28E43}"/>
                </a:ext>
              </a:extLst>
            </p:cNvPr>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Rectangle 31">
              <a:extLst>
                <a:ext uri="{FF2B5EF4-FFF2-40B4-BE49-F238E27FC236}">
                  <a16:creationId xmlns:a16="http://schemas.microsoft.com/office/drawing/2014/main" id="{7F10F652-4554-1AAC-C0B3-7EACC181CC59}"/>
                </a:ext>
              </a:extLst>
            </p:cNvPr>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3" name="Rectangle 32">
              <a:extLst>
                <a:ext uri="{FF2B5EF4-FFF2-40B4-BE49-F238E27FC236}">
                  <a16:creationId xmlns:a16="http://schemas.microsoft.com/office/drawing/2014/main" id="{6960D2F1-E2F5-2DA8-FB97-6AD3A9EBC1E9}"/>
                </a:ext>
              </a:extLst>
            </p:cNvPr>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Rectangle 33">
              <a:extLst>
                <a:ext uri="{FF2B5EF4-FFF2-40B4-BE49-F238E27FC236}">
                  <a16:creationId xmlns:a16="http://schemas.microsoft.com/office/drawing/2014/main" id="{BB4BA7DD-9496-276F-4022-6202246C4470}"/>
                </a:ext>
              </a:extLst>
            </p:cNvPr>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Rectangle 34">
              <a:extLst>
                <a:ext uri="{FF2B5EF4-FFF2-40B4-BE49-F238E27FC236}">
                  <a16:creationId xmlns:a16="http://schemas.microsoft.com/office/drawing/2014/main" id="{4619AA75-C262-4B63-4AF3-5F1F7758BE58}"/>
                </a:ext>
              </a:extLst>
            </p:cNvPr>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6" name="Rectangle 35">
              <a:extLst>
                <a:ext uri="{FF2B5EF4-FFF2-40B4-BE49-F238E27FC236}">
                  <a16:creationId xmlns:a16="http://schemas.microsoft.com/office/drawing/2014/main" id="{7FB68569-D74C-CA30-E954-EEE64006FCBD}"/>
                </a:ext>
              </a:extLst>
            </p:cNvPr>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Rectangle 36">
              <a:extLst>
                <a:ext uri="{FF2B5EF4-FFF2-40B4-BE49-F238E27FC236}">
                  <a16:creationId xmlns:a16="http://schemas.microsoft.com/office/drawing/2014/main" id="{231440E3-B36B-8464-1AAA-C217F31DD00B}"/>
                </a:ext>
              </a:extLst>
            </p:cNvPr>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Rectangle 37">
              <a:extLst>
                <a:ext uri="{FF2B5EF4-FFF2-40B4-BE49-F238E27FC236}">
                  <a16:creationId xmlns:a16="http://schemas.microsoft.com/office/drawing/2014/main" id="{045373E9-F59D-867D-9187-63AA5FA68F14}"/>
                </a:ext>
              </a:extLst>
            </p:cNvPr>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39" name="Rectangle 38">
              <a:extLst>
                <a:ext uri="{FF2B5EF4-FFF2-40B4-BE49-F238E27FC236}">
                  <a16:creationId xmlns:a16="http://schemas.microsoft.com/office/drawing/2014/main" id="{1DE14DDA-3585-D8FD-2210-E1B9EADA78B0}"/>
                </a:ext>
              </a:extLst>
            </p:cNvPr>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Rectangle 39">
              <a:extLst>
                <a:ext uri="{FF2B5EF4-FFF2-40B4-BE49-F238E27FC236}">
                  <a16:creationId xmlns:a16="http://schemas.microsoft.com/office/drawing/2014/main" id="{9A3FC904-D6F9-7B98-2733-E237FBAAF5AA}"/>
                </a:ext>
              </a:extLst>
            </p:cNvPr>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Rectangle 40">
              <a:extLst>
                <a:ext uri="{FF2B5EF4-FFF2-40B4-BE49-F238E27FC236}">
                  <a16:creationId xmlns:a16="http://schemas.microsoft.com/office/drawing/2014/main" id="{50D752F0-AC95-2E95-B53B-AD40A95167E1}"/>
                </a:ext>
              </a:extLst>
            </p:cNvPr>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2" name="Rectangle 41">
              <a:extLst>
                <a:ext uri="{FF2B5EF4-FFF2-40B4-BE49-F238E27FC236}">
                  <a16:creationId xmlns:a16="http://schemas.microsoft.com/office/drawing/2014/main" id="{84F2991B-AE03-82B2-4870-0500EE87B71A}"/>
                </a:ext>
              </a:extLst>
            </p:cNvPr>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3" name="Rectangle 42">
              <a:extLst>
                <a:ext uri="{FF2B5EF4-FFF2-40B4-BE49-F238E27FC236}">
                  <a16:creationId xmlns:a16="http://schemas.microsoft.com/office/drawing/2014/main" id="{A9738B36-650A-F997-EC12-6D714DFAF4DC}"/>
                </a:ext>
              </a:extLst>
            </p:cNvPr>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Rectangle 43">
              <a:extLst>
                <a:ext uri="{FF2B5EF4-FFF2-40B4-BE49-F238E27FC236}">
                  <a16:creationId xmlns:a16="http://schemas.microsoft.com/office/drawing/2014/main" id="{CE0D3576-5263-5B06-AF01-F7CE96F1C264}"/>
                </a:ext>
              </a:extLst>
            </p:cNvPr>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Rectangle 44">
              <a:extLst>
                <a:ext uri="{FF2B5EF4-FFF2-40B4-BE49-F238E27FC236}">
                  <a16:creationId xmlns:a16="http://schemas.microsoft.com/office/drawing/2014/main" id="{403AD5AA-93C2-AAEC-5DC2-2D0FC2A6E5A9}"/>
                </a:ext>
              </a:extLst>
            </p:cNvPr>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6" name="Rectangle 45">
              <a:extLst>
                <a:ext uri="{FF2B5EF4-FFF2-40B4-BE49-F238E27FC236}">
                  <a16:creationId xmlns:a16="http://schemas.microsoft.com/office/drawing/2014/main" id="{AAB6593D-2921-6841-F973-448AFD627F5F}"/>
                </a:ext>
              </a:extLst>
            </p:cNvPr>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7" name="Rectangle 46">
              <a:extLst>
                <a:ext uri="{FF2B5EF4-FFF2-40B4-BE49-F238E27FC236}">
                  <a16:creationId xmlns:a16="http://schemas.microsoft.com/office/drawing/2014/main" id="{7C5AAE86-8CD1-A22A-39D1-BD2CFC56319F}"/>
                </a:ext>
              </a:extLst>
            </p:cNvPr>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Rectangle 47">
              <a:extLst>
                <a:ext uri="{FF2B5EF4-FFF2-40B4-BE49-F238E27FC236}">
                  <a16:creationId xmlns:a16="http://schemas.microsoft.com/office/drawing/2014/main" id="{8ED10B6D-F98F-C295-4A17-1556BA090CC5}"/>
                </a:ext>
              </a:extLst>
            </p:cNvPr>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49" name="Rectangle 48">
              <a:extLst>
                <a:ext uri="{FF2B5EF4-FFF2-40B4-BE49-F238E27FC236}">
                  <a16:creationId xmlns:a16="http://schemas.microsoft.com/office/drawing/2014/main" id="{3A3FE746-63FE-B747-C4CA-26365EE68C93}"/>
                </a:ext>
              </a:extLst>
            </p:cNvPr>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0" name="Rectangle 49">
              <a:extLst>
                <a:ext uri="{FF2B5EF4-FFF2-40B4-BE49-F238E27FC236}">
                  <a16:creationId xmlns:a16="http://schemas.microsoft.com/office/drawing/2014/main" id="{ECF009DF-CEF5-8F66-2DA7-71551E2BCD0A}"/>
                </a:ext>
              </a:extLst>
            </p:cNvPr>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1" name="Line 50">
              <a:extLst>
                <a:ext uri="{FF2B5EF4-FFF2-40B4-BE49-F238E27FC236}">
                  <a16:creationId xmlns:a16="http://schemas.microsoft.com/office/drawing/2014/main" id="{E17A34C4-1E74-8F01-4449-1A849B79B723}"/>
                </a:ext>
              </a:extLst>
            </p:cNvPr>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Rectangle 51">
              <a:extLst>
                <a:ext uri="{FF2B5EF4-FFF2-40B4-BE49-F238E27FC236}">
                  <a16:creationId xmlns:a16="http://schemas.microsoft.com/office/drawing/2014/main" id="{40A3359D-BCE1-52C3-C0EE-6C6A5E21E343}"/>
                </a:ext>
              </a:extLst>
            </p:cNvPr>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3" name="Rectangle 52">
              <a:extLst>
                <a:ext uri="{FF2B5EF4-FFF2-40B4-BE49-F238E27FC236}">
                  <a16:creationId xmlns:a16="http://schemas.microsoft.com/office/drawing/2014/main" id="{C304F60A-0A17-AC50-AD13-998658C98E09}"/>
                </a:ext>
              </a:extLst>
            </p:cNvPr>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4" name="Line 53">
              <a:extLst>
                <a:ext uri="{FF2B5EF4-FFF2-40B4-BE49-F238E27FC236}">
                  <a16:creationId xmlns:a16="http://schemas.microsoft.com/office/drawing/2014/main" id="{993E34AC-7979-878F-941D-2D6E38634267}"/>
                </a:ext>
              </a:extLst>
            </p:cNvPr>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Rectangle 54">
              <a:extLst>
                <a:ext uri="{FF2B5EF4-FFF2-40B4-BE49-F238E27FC236}">
                  <a16:creationId xmlns:a16="http://schemas.microsoft.com/office/drawing/2014/main" id="{63566EEB-7F65-E876-8049-DEAC044EAD1F}"/>
                </a:ext>
              </a:extLst>
            </p:cNvPr>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6" name="Rectangle 55">
              <a:extLst>
                <a:ext uri="{FF2B5EF4-FFF2-40B4-BE49-F238E27FC236}">
                  <a16:creationId xmlns:a16="http://schemas.microsoft.com/office/drawing/2014/main" id="{338546CD-7ED0-3351-1817-1E12286991D2}"/>
                </a:ext>
              </a:extLst>
            </p:cNvPr>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7" name="Rectangle 56">
              <a:extLst>
                <a:ext uri="{FF2B5EF4-FFF2-40B4-BE49-F238E27FC236}">
                  <a16:creationId xmlns:a16="http://schemas.microsoft.com/office/drawing/2014/main" id="{1FF9C658-CDE6-B125-86DC-D1B565E6F425}"/>
                </a:ext>
              </a:extLst>
            </p:cNvPr>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58" name="Line 57">
              <a:extLst>
                <a:ext uri="{FF2B5EF4-FFF2-40B4-BE49-F238E27FC236}">
                  <a16:creationId xmlns:a16="http://schemas.microsoft.com/office/drawing/2014/main" id="{B47C09A0-1D92-94F8-8DBC-1654B3011786}"/>
                </a:ext>
              </a:extLst>
            </p:cNvPr>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Rectangle 58">
              <a:extLst>
                <a:ext uri="{FF2B5EF4-FFF2-40B4-BE49-F238E27FC236}">
                  <a16:creationId xmlns:a16="http://schemas.microsoft.com/office/drawing/2014/main" id="{25BFD4CF-30DA-30B0-7192-68ABDAC44368}"/>
                </a:ext>
              </a:extLst>
            </p:cNvPr>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0" name="Rectangle 59">
              <a:extLst>
                <a:ext uri="{FF2B5EF4-FFF2-40B4-BE49-F238E27FC236}">
                  <a16:creationId xmlns:a16="http://schemas.microsoft.com/office/drawing/2014/main" id="{51931C67-503B-CAD4-708D-F67594491439}"/>
                </a:ext>
              </a:extLst>
            </p:cNvPr>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1" name="Line 60">
              <a:extLst>
                <a:ext uri="{FF2B5EF4-FFF2-40B4-BE49-F238E27FC236}">
                  <a16:creationId xmlns:a16="http://schemas.microsoft.com/office/drawing/2014/main" id="{76CEBC2F-2BE1-2418-CF6D-CCFD27A96168}"/>
                </a:ext>
              </a:extLst>
            </p:cNvPr>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920D14F4-DDBD-8389-EA60-288146473DF6}"/>
                </a:ext>
              </a:extLst>
            </p:cNvPr>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3" name="Rectangle 62">
              <a:extLst>
                <a:ext uri="{FF2B5EF4-FFF2-40B4-BE49-F238E27FC236}">
                  <a16:creationId xmlns:a16="http://schemas.microsoft.com/office/drawing/2014/main" id="{55CD2F30-067F-3B50-AFC6-A6F363ACB024}"/>
                </a:ext>
              </a:extLst>
            </p:cNvPr>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4" name="Rectangle 63">
              <a:extLst>
                <a:ext uri="{FF2B5EF4-FFF2-40B4-BE49-F238E27FC236}">
                  <a16:creationId xmlns:a16="http://schemas.microsoft.com/office/drawing/2014/main" id="{6AB930A7-6F32-4AA9-7AC1-BF5075DECEFB}"/>
                </a:ext>
              </a:extLst>
            </p:cNvPr>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5" name="Line 64">
              <a:extLst>
                <a:ext uri="{FF2B5EF4-FFF2-40B4-BE49-F238E27FC236}">
                  <a16:creationId xmlns:a16="http://schemas.microsoft.com/office/drawing/2014/main" id="{E367542F-6E61-2B5F-956D-2AE72FC0DED2}"/>
                </a:ext>
              </a:extLst>
            </p:cNvPr>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Rectangle 65">
              <a:extLst>
                <a:ext uri="{FF2B5EF4-FFF2-40B4-BE49-F238E27FC236}">
                  <a16:creationId xmlns:a16="http://schemas.microsoft.com/office/drawing/2014/main" id="{FC4E2126-24BB-CC2A-554A-C8FB22C8A97A}"/>
                </a:ext>
              </a:extLst>
            </p:cNvPr>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7" name="Rectangle 66">
              <a:extLst>
                <a:ext uri="{FF2B5EF4-FFF2-40B4-BE49-F238E27FC236}">
                  <a16:creationId xmlns:a16="http://schemas.microsoft.com/office/drawing/2014/main" id="{049BF7EA-CFC3-C15E-FA16-55FA8906B3BA}"/>
                </a:ext>
              </a:extLst>
            </p:cNvPr>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68" name="Line 67">
              <a:extLst>
                <a:ext uri="{FF2B5EF4-FFF2-40B4-BE49-F238E27FC236}">
                  <a16:creationId xmlns:a16="http://schemas.microsoft.com/office/drawing/2014/main" id="{EB505EC3-263D-B378-E8D3-33BE45048933}"/>
                </a:ext>
              </a:extLst>
            </p:cNvPr>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Rectangle 68">
              <a:extLst>
                <a:ext uri="{FF2B5EF4-FFF2-40B4-BE49-F238E27FC236}">
                  <a16:creationId xmlns:a16="http://schemas.microsoft.com/office/drawing/2014/main" id="{574E8295-B08A-1AE5-ED77-2353449F0CC3}"/>
                </a:ext>
              </a:extLst>
            </p:cNvPr>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0" name="Line 69">
              <a:extLst>
                <a:ext uri="{FF2B5EF4-FFF2-40B4-BE49-F238E27FC236}">
                  <a16:creationId xmlns:a16="http://schemas.microsoft.com/office/drawing/2014/main" id="{B4415FCE-C832-ADDB-F3F4-72462C28B6DD}"/>
                </a:ext>
              </a:extLst>
            </p:cNvPr>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Rectangle 70">
              <a:extLst>
                <a:ext uri="{FF2B5EF4-FFF2-40B4-BE49-F238E27FC236}">
                  <a16:creationId xmlns:a16="http://schemas.microsoft.com/office/drawing/2014/main" id="{F1C8F45D-1CBD-D20D-02BD-142B1AB1A683}"/>
                </a:ext>
              </a:extLst>
            </p:cNvPr>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2" name="Rectangle 71">
              <a:extLst>
                <a:ext uri="{FF2B5EF4-FFF2-40B4-BE49-F238E27FC236}">
                  <a16:creationId xmlns:a16="http://schemas.microsoft.com/office/drawing/2014/main" id="{DA4EF5B2-6619-8372-FC5F-FC20066F26F6}"/>
                </a:ext>
              </a:extLst>
            </p:cNvPr>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3" name="Rectangle 72">
              <a:extLst>
                <a:ext uri="{FF2B5EF4-FFF2-40B4-BE49-F238E27FC236}">
                  <a16:creationId xmlns:a16="http://schemas.microsoft.com/office/drawing/2014/main" id="{2335CF09-4A76-CB03-B36E-6D2793202BEC}"/>
                </a:ext>
              </a:extLst>
            </p:cNvPr>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025"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4" name="Freeform 73">
              <a:extLst>
                <a:ext uri="{FF2B5EF4-FFF2-40B4-BE49-F238E27FC236}">
                  <a16:creationId xmlns:a16="http://schemas.microsoft.com/office/drawing/2014/main" id="{5260EDC8-A0FC-66E9-D523-40FCDCD52C90}"/>
                </a:ext>
              </a:extLst>
            </p:cNvPr>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D3E4D4AC-304F-6EEF-356F-1C35A0189EE4}"/>
                </a:ext>
              </a:extLst>
            </p:cNvPr>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6" name="Rectangle 75">
              <a:extLst>
                <a:ext uri="{FF2B5EF4-FFF2-40B4-BE49-F238E27FC236}">
                  <a16:creationId xmlns:a16="http://schemas.microsoft.com/office/drawing/2014/main" id="{5EB294B4-09C5-AB62-6188-A0982FFA6C18}"/>
                </a:ext>
              </a:extLst>
            </p:cNvPr>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7" name="Freeform 76">
              <a:extLst>
                <a:ext uri="{FF2B5EF4-FFF2-40B4-BE49-F238E27FC236}">
                  <a16:creationId xmlns:a16="http://schemas.microsoft.com/office/drawing/2014/main" id="{AB8A13F1-9F52-C7F3-23F7-4215D722F799}"/>
                </a:ext>
              </a:extLst>
            </p:cNvPr>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0D635C30-00D5-5470-1F58-D7455726E6C5}"/>
                </a:ext>
              </a:extLst>
            </p:cNvPr>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79" name="Rectangle 78">
              <a:extLst>
                <a:ext uri="{FF2B5EF4-FFF2-40B4-BE49-F238E27FC236}">
                  <a16:creationId xmlns:a16="http://schemas.microsoft.com/office/drawing/2014/main" id="{E21B5BD7-02C1-B551-8526-6604CD8E85B2}"/>
                </a:ext>
              </a:extLst>
            </p:cNvPr>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0" name="Line 79">
              <a:extLst>
                <a:ext uri="{FF2B5EF4-FFF2-40B4-BE49-F238E27FC236}">
                  <a16:creationId xmlns:a16="http://schemas.microsoft.com/office/drawing/2014/main" id="{921247D1-1737-B7E8-FFEE-6536BD7BEF82}"/>
                </a:ext>
              </a:extLst>
            </p:cNvPr>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4D9C1FF6-34CF-1461-B3CA-769D8A13D2B0}"/>
                </a:ext>
              </a:extLst>
            </p:cNvPr>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2" name="Freeform 81">
              <a:extLst>
                <a:ext uri="{FF2B5EF4-FFF2-40B4-BE49-F238E27FC236}">
                  <a16:creationId xmlns:a16="http://schemas.microsoft.com/office/drawing/2014/main" id="{EB549BE9-71F6-A1C2-7F11-EBC080A1C7D5}"/>
                </a:ext>
              </a:extLst>
            </p:cNvPr>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 name="Rectangle 82">
              <a:extLst>
                <a:ext uri="{FF2B5EF4-FFF2-40B4-BE49-F238E27FC236}">
                  <a16:creationId xmlns:a16="http://schemas.microsoft.com/office/drawing/2014/main" id="{E7CD8EA5-B8A1-3D14-7ED0-9450AFBDF995}"/>
                </a:ext>
              </a:extLst>
            </p:cNvPr>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4" name="Freeform 83">
              <a:extLst>
                <a:ext uri="{FF2B5EF4-FFF2-40B4-BE49-F238E27FC236}">
                  <a16:creationId xmlns:a16="http://schemas.microsoft.com/office/drawing/2014/main" id="{D70EEB72-D308-DCD8-37A3-5516B5046E64}"/>
                </a:ext>
              </a:extLst>
            </p:cNvPr>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9DD18847-592E-D6BA-E92F-96196B5541C5}"/>
                </a:ext>
              </a:extLst>
            </p:cNvPr>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6" name="Freeform 85">
              <a:extLst>
                <a:ext uri="{FF2B5EF4-FFF2-40B4-BE49-F238E27FC236}">
                  <a16:creationId xmlns:a16="http://schemas.microsoft.com/office/drawing/2014/main" id="{025F850E-4F52-6352-18DE-317289E7FDF0}"/>
                </a:ext>
              </a:extLst>
            </p:cNvPr>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Rectangle 86">
              <a:extLst>
                <a:ext uri="{FF2B5EF4-FFF2-40B4-BE49-F238E27FC236}">
                  <a16:creationId xmlns:a16="http://schemas.microsoft.com/office/drawing/2014/main" id="{69DF0D5F-A2B1-5D5E-9073-07071B60450E}"/>
                </a:ext>
              </a:extLst>
            </p:cNvPr>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8" name="Rectangle 87">
              <a:extLst>
                <a:ext uri="{FF2B5EF4-FFF2-40B4-BE49-F238E27FC236}">
                  <a16:creationId xmlns:a16="http://schemas.microsoft.com/office/drawing/2014/main" id="{BE83D374-A4BD-9305-4B77-9277BE561604}"/>
                </a:ext>
              </a:extLst>
            </p:cNvPr>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89" name="Rectangle 88">
              <a:extLst>
                <a:ext uri="{FF2B5EF4-FFF2-40B4-BE49-F238E27FC236}">
                  <a16:creationId xmlns:a16="http://schemas.microsoft.com/office/drawing/2014/main" id="{0F477178-3D18-5EB5-5224-E31768495108}"/>
                </a:ext>
              </a:extLst>
            </p:cNvPr>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6</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0" name="Rectangle 89">
              <a:extLst>
                <a:ext uri="{FF2B5EF4-FFF2-40B4-BE49-F238E27FC236}">
                  <a16:creationId xmlns:a16="http://schemas.microsoft.com/office/drawing/2014/main" id="{7FE0EC98-F7A1-462F-EFFB-553A25164270}"/>
                </a:ext>
              </a:extLst>
            </p:cNvPr>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1452" b="0" i="0" u="none" strike="noStrike" kern="1200" cap="none" spc="0" normalizeH="0" baseline="0" noProof="0">
                  <a:ln>
                    <a:noFill/>
                  </a:ln>
                  <a:solidFill>
                    <a:srgbClr val="1D588A"/>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1" name="Freeform 90">
              <a:extLst>
                <a:ext uri="{FF2B5EF4-FFF2-40B4-BE49-F238E27FC236}">
                  <a16:creationId xmlns:a16="http://schemas.microsoft.com/office/drawing/2014/main" id="{E3667AAF-C1ED-3D47-8C72-122800165B3A}"/>
                </a:ext>
              </a:extLst>
            </p:cNvPr>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Rectangle 92">
              <a:extLst>
                <a:ext uri="{FF2B5EF4-FFF2-40B4-BE49-F238E27FC236}">
                  <a16:creationId xmlns:a16="http://schemas.microsoft.com/office/drawing/2014/main" id="{EDF2B876-3B00-BFD2-A2A6-E55FEC556BE0}"/>
                </a:ext>
              </a:extLst>
            </p:cNvPr>
            <p:cNvSpPr>
              <a:spLocks noChangeArrowheads="1"/>
            </p:cNvSpPr>
            <p:nvPr/>
          </p:nvSpPr>
          <p:spPr bwMode="auto">
            <a:xfrm>
              <a:off x="3019" y="3624"/>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dirty="0">
                  <a:ln>
                    <a:noFill/>
                  </a:ln>
                  <a:solidFill>
                    <a:srgbClr val="1D588A"/>
                  </a:solidFill>
                  <a:effectLst/>
                  <a:uLnTx/>
                  <a:uFillTx/>
                  <a:latin typeface="Arial" pitchFamily="34" charset="0"/>
                  <a:ea typeface="+mn-ea"/>
                  <a:cs typeface="+mn-cs"/>
                </a:rPr>
                <a:t> Records-sales-on</a:t>
              </a:r>
              <a:endParaRPr kumimoji="0" lang="en-US" sz="1800" b="0" i="0" u="none" strike="noStrike" kern="1200" cap="none" spc="0" normalizeH="0" baseline="0" noProof="0" dirty="0">
                <a:ln>
                  <a:noFill/>
                </a:ln>
                <a:solidFill>
                  <a:prstClr val="black"/>
                </a:solidFill>
                <a:effectLst/>
                <a:uLnTx/>
                <a:uFillTx/>
                <a:latin typeface="Arial" pitchFamily="34" charset="0"/>
                <a:ea typeface="+mn-ea"/>
                <a:cs typeface="+mn-cs"/>
              </a:endParaRPr>
            </a:p>
          </p:txBody>
        </p:sp>
        <p:sp>
          <p:nvSpPr>
            <p:cNvPr id="94" name="Rectangle 93">
              <a:extLst>
                <a:ext uri="{FF2B5EF4-FFF2-40B4-BE49-F238E27FC236}">
                  <a16:creationId xmlns:a16="http://schemas.microsoft.com/office/drawing/2014/main" id="{40FF6BFA-C290-5AA6-402F-CFB990AF17DF}"/>
                </a:ext>
              </a:extLst>
            </p:cNvPr>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5" name="Rectangle 94">
              <a:extLst>
                <a:ext uri="{FF2B5EF4-FFF2-40B4-BE49-F238E27FC236}">
                  <a16:creationId xmlns:a16="http://schemas.microsoft.com/office/drawing/2014/main" id="{28A20B60-6347-B869-BEDC-503008F9230E}"/>
                </a:ext>
              </a:extLst>
            </p:cNvPr>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6" name="Rectangle 95">
              <a:extLst>
                <a:ext uri="{FF2B5EF4-FFF2-40B4-BE49-F238E27FC236}">
                  <a16:creationId xmlns:a16="http://schemas.microsoft.com/office/drawing/2014/main" id="{772FAF62-8AE2-2D19-7C6C-2AD357D59E07}"/>
                </a:ext>
              </a:extLst>
            </p:cNvPr>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7" name="Rectangle 96">
              <a:extLst>
                <a:ext uri="{FF2B5EF4-FFF2-40B4-BE49-F238E27FC236}">
                  <a16:creationId xmlns:a16="http://schemas.microsoft.com/office/drawing/2014/main" id="{92D49F9D-EB16-BFE2-57F1-67234C9F42A3}"/>
                </a:ext>
              </a:extLst>
            </p:cNvPr>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8" name="Rectangle 97">
              <a:extLst>
                <a:ext uri="{FF2B5EF4-FFF2-40B4-BE49-F238E27FC236}">
                  <a16:creationId xmlns:a16="http://schemas.microsoft.com/office/drawing/2014/main" id="{D0E2B50F-8335-4A46-74B0-272457C866C6}"/>
                </a:ext>
              </a:extLst>
            </p:cNvPr>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99" name="Rectangle 98">
              <a:extLst>
                <a:ext uri="{FF2B5EF4-FFF2-40B4-BE49-F238E27FC236}">
                  <a16:creationId xmlns:a16="http://schemas.microsoft.com/office/drawing/2014/main" id="{A8183378-7160-7FD2-A2F6-88E9E62B748E}"/>
                </a:ext>
              </a:extLst>
            </p:cNvPr>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0" name="Rectangle 99">
              <a:extLst>
                <a:ext uri="{FF2B5EF4-FFF2-40B4-BE49-F238E27FC236}">
                  <a16:creationId xmlns:a16="http://schemas.microsoft.com/office/drawing/2014/main" id="{DA64B7A2-210D-3700-E493-220998BEA14C}"/>
                </a:ext>
              </a:extLst>
            </p:cNvPr>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1" name="Rectangle 100">
              <a:extLst>
                <a:ext uri="{FF2B5EF4-FFF2-40B4-BE49-F238E27FC236}">
                  <a16:creationId xmlns:a16="http://schemas.microsoft.com/office/drawing/2014/main" id="{CDD216DF-C6E1-067C-21CF-7DDAAC660B71}"/>
                </a:ext>
              </a:extLst>
            </p:cNvPr>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2" name="Rectangle 101">
              <a:extLst>
                <a:ext uri="{FF2B5EF4-FFF2-40B4-BE49-F238E27FC236}">
                  <a16:creationId xmlns:a16="http://schemas.microsoft.com/office/drawing/2014/main" id="{33BBA5D0-33D1-ACE6-77AC-38026099A52B}"/>
                </a:ext>
              </a:extLst>
            </p:cNvPr>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 name="Rectangle 102">
              <a:extLst>
                <a:ext uri="{FF2B5EF4-FFF2-40B4-BE49-F238E27FC236}">
                  <a16:creationId xmlns:a16="http://schemas.microsoft.com/office/drawing/2014/main" id="{18859938-010B-E599-BA1B-523F0315A4AD}"/>
                </a:ext>
              </a:extLst>
            </p:cNvPr>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 name="Rectangle 103">
              <a:extLst>
                <a:ext uri="{FF2B5EF4-FFF2-40B4-BE49-F238E27FC236}">
                  <a16:creationId xmlns:a16="http://schemas.microsoft.com/office/drawing/2014/main" id="{A14C3589-64F9-395F-543E-BC2F29577368}"/>
                </a:ext>
              </a:extLst>
            </p:cNvPr>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 name="Rectangle 104">
              <a:extLst>
                <a:ext uri="{FF2B5EF4-FFF2-40B4-BE49-F238E27FC236}">
                  <a16:creationId xmlns:a16="http://schemas.microsoft.com/office/drawing/2014/main" id="{BD120E7C-CDEA-A42E-207D-0575AA719DD7}"/>
                </a:ext>
              </a:extLst>
            </p:cNvPr>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 name="Rectangle 105">
              <a:extLst>
                <a:ext uri="{FF2B5EF4-FFF2-40B4-BE49-F238E27FC236}">
                  <a16:creationId xmlns:a16="http://schemas.microsoft.com/office/drawing/2014/main" id="{8B3814C2-AF8F-32D6-AC43-95A3FB4272A1}"/>
                </a:ext>
              </a:extLst>
            </p:cNvPr>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 name="Rectangle 106">
              <a:extLst>
                <a:ext uri="{FF2B5EF4-FFF2-40B4-BE49-F238E27FC236}">
                  <a16:creationId xmlns:a16="http://schemas.microsoft.com/office/drawing/2014/main" id="{26B90A47-A214-83F1-CCFF-B7C85E02D1D0}"/>
                </a:ext>
              </a:extLst>
            </p:cNvPr>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 name="Rectangle 107">
              <a:extLst>
                <a:ext uri="{FF2B5EF4-FFF2-40B4-BE49-F238E27FC236}">
                  <a16:creationId xmlns:a16="http://schemas.microsoft.com/office/drawing/2014/main" id="{681951AC-8EC4-4828-F547-4A5ECE11E33C}"/>
                </a:ext>
              </a:extLst>
            </p:cNvPr>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 name="Rectangle 109">
              <a:extLst>
                <a:ext uri="{FF2B5EF4-FFF2-40B4-BE49-F238E27FC236}">
                  <a16:creationId xmlns:a16="http://schemas.microsoft.com/office/drawing/2014/main" id="{6E262ED8-AEF2-842B-7B4E-28BAA37693CD}"/>
                </a:ext>
              </a:extLst>
            </p:cNvPr>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 name="Rectangle 110">
              <a:extLst>
                <a:ext uri="{FF2B5EF4-FFF2-40B4-BE49-F238E27FC236}">
                  <a16:creationId xmlns:a16="http://schemas.microsoft.com/office/drawing/2014/main" id="{225B7087-1514-2A08-040B-9693C21E815C}"/>
                </a:ext>
              </a:extLst>
            </p:cNvPr>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780770" rtl="0" eaLnBrk="1" fontAlgn="base" latinLnBrk="0" hangingPunct="1">
                <a:lnSpc>
                  <a:spcPct val="100000"/>
                </a:lnSpc>
                <a:spcBef>
                  <a:spcPct val="0"/>
                </a:spcBef>
                <a:spcAft>
                  <a:spcPts val="479"/>
                </a:spcAft>
                <a:buClrTx/>
                <a:buSzTx/>
                <a:buFontTx/>
                <a:buNone/>
                <a:tabLst/>
                <a:defRPr/>
              </a:pPr>
              <a:r>
                <a:rPr kumimoji="0" lang="en-US" sz="854" b="0" i="0" u="none" strike="noStrike" kern="1200" cap="none" spc="0" normalizeH="0" baseline="0" noProof="0">
                  <a:ln>
                    <a:noFill/>
                  </a:ln>
                  <a:solidFill>
                    <a:srgbClr val="1D588A"/>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cxnSp>
        <p:nvCxnSpPr>
          <p:cNvPr id="114" name="Straight Arrow Connector 113">
            <a:extLst>
              <a:ext uri="{FF2B5EF4-FFF2-40B4-BE49-F238E27FC236}">
                <a16:creationId xmlns:a16="http://schemas.microsoft.com/office/drawing/2014/main" id="{B15E1550-21C2-1ED1-EEE7-4F78048CA77A}"/>
              </a:ext>
            </a:extLst>
          </p:cNvPr>
          <p:cNvCxnSpPr>
            <a:endCxn id="26" idx="1"/>
          </p:cNvCxnSpPr>
          <p:nvPr/>
        </p:nvCxnSpPr>
        <p:spPr>
          <a:xfrm flipV="1">
            <a:off x="2968052" y="3526180"/>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8" name="TextBox 117">
            <a:extLst>
              <a:ext uri="{FF2B5EF4-FFF2-40B4-BE49-F238E27FC236}">
                <a16:creationId xmlns:a16="http://schemas.microsoft.com/office/drawing/2014/main" id="{DCEDEEAD-9B79-8A99-C52E-721C0C2FF444}"/>
              </a:ext>
            </a:extLst>
          </p:cNvPr>
          <p:cNvSpPr txBox="1"/>
          <p:nvPr/>
        </p:nvSpPr>
        <p:spPr>
          <a:xfrm>
            <a:off x="2146314" y="4101944"/>
            <a:ext cx="1052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Concepts</a:t>
            </a:r>
          </a:p>
        </p:txBody>
      </p:sp>
      <p:cxnSp>
        <p:nvCxnSpPr>
          <p:cNvPr id="119" name="Straight Arrow Connector 118">
            <a:extLst>
              <a:ext uri="{FF2B5EF4-FFF2-40B4-BE49-F238E27FC236}">
                <a16:creationId xmlns:a16="http://schemas.microsoft.com/office/drawing/2014/main" id="{5B3E6DAF-36A0-49D3-2E1A-9A3B5EB24809}"/>
              </a:ext>
            </a:extLst>
          </p:cNvPr>
          <p:cNvCxnSpPr/>
          <p:nvPr/>
        </p:nvCxnSpPr>
        <p:spPr>
          <a:xfrm flipV="1">
            <a:off x="3120452" y="4982722"/>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0" name="TextBox 119">
            <a:extLst>
              <a:ext uri="{FF2B5EF4-FFF2-40B4-BE49-F238E27FC236}">
                <a16:creationId xmlns:a16="http://schemas.microsoft.com/office/drawing/2014/main" id="{13090A36-7139-6F23-13D4-D3F33C6CC377}"/>
              </a:ext>
            </a:extLst>
          </p:cNvPr>
          <p:cNvSpPr txBox="1"/>
          <p:nvPr/>
        </p:nvSpPr>
        <p:spPr>
          <a:xfrm>
            <a:off x="1983992" y="5462242"/>
            <a:ext cx="111883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Attributes</a:t>
            </a:r>
          </a:p>
        </p:txBody>
      </p:sp>
      <p:cxnSp>
        <p:nvCxnSpPr>
          <p:cNvPr id="121" name="Straight Arrow Connector 120">
            <a:extLst>
              <a:ext uri="{FF2B5EF4-FFF2-40B4-BE49-F238E27FC236}">
                <a16:creationId xmlns:a16="http://schemas.microsoft.com/office/drawing/2014/main" id="{8D147621-074B-CE79-C4F3-1FC437F5454A}"/>
              </a:ext>
            </a:extLst>
          </p:cNvPr>
          <p:cNvCxnSpPr/>
          <p:nvPr/>
        </p:nvCxnSpPr>
        <p:spPr>
          <a:xfrm flipV="1">
            <a:off x="3210314" y="2702171"/>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3" name="TextBox 122">
            <a:extLst>
              <a:ext uri="{FF2B5EF4-FFF2-40B4-BE49-F238E27FC236}">
                <a16:creationId xmlns:a16="http://schemas.microsoft.com/office/drawing/2014/main" id="{75A8DFBB-8EFC-96FB-BDCF-B26F10CA3F24}"/>
              </a:ext>
            </a:extLst>
          </p:cNvPr>
          <p:cNvSpPr txBox="1"/>
          <p:nvPr/>
        </p:nvSpPr>
        <p:spPr>
          <a:xfrm>
            <a:off x="1967378" y="3187855"/>
            <a:ext cx="125175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Association</a:t>
            </a:r>
          </a:p>
        </p:txBody>
      </p:sp>
      <p:sp>
        <p:nvSpPr>
          <p:cNvPr id="125" name="Slide Number Placeholder 124">
            <a:extLst>
              <a:ext uri="{FF2B5EF4-FFF2-40B4-BE49-F238E27FC236}">
                <a16:creationId xmlns:a16="http://schemas.microsoft.com/office/drawing/2014/main" id="{203A8ABC-1632-58C0-8347-96F4A822013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F6DEEC-D04A-4FF0-9A08-7D39859C24F4}"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3" name="Straight Arrow Connector 2">
            <a:extLst>
              <a:ext uri="{FF2B5EF4-FFF2-40B4-BE49-F238E27FC236}">
                <a16:creationId xmlns:a16="http://schemas.microsoft.com/office/drawing/2014/main" id="{82FBBA79-9929-E019-6F0F-2C5F6CC7AA70}"/>
              </a:ext>
            </a:extLst>
          </p:cNvPr>
          <p:cNvCxnSpPr>
            <a:cxnSpLocks/>
            <a:endCxn id="25" idx="1"/>
          </p:cNvCxnSpPr>
          <p:nvPr/>
        </p:nvCxnSpPr>
        <p:spPr>
          <a:xfrm>
            <a:off x="3163504" y="5646594"/>
            <a:ext cx="505024" cy="4939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6" name="Straight Arrow Connector 115">
            <a:extLst>
              <a:ext uri="{FF2B5EF4-FFF2-40B4-BE49-F238E27FC236}">
                <a16:creationId xmlns:a16="http://schemas.microsoft.com/office/drawing/2014/main" id="{3396C1A6-67C9-66D3-A1AC-0ECD6FBE796A}"/>
              </a:ext>
            </a:extLst>
          </p:cNvPr>
          <p:cNvCxnSpPr>
            <a:cxnSpLocks/>
          </p:cNvCxnSpPr>
          <p:nvPr/>
        </p:nvCxnSpPr>
        <p:spPr>
          <a:xfrm>
            <a:off x="2946381" y="4181123"/>
            <a:ext cx="1419116" cy="3790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6" name="Straight Arrow Connector 125">
            <a:extLst>
              <a:ext uri="{FF2B5EF4-FFF2-40B4-BE49-F238E27FC236}">
                <a16:creationId xmlns:a16="http://schemas.microsoft.com/office/drawing/2014/main" id="{0455B3F6-80E7-D837-969F-3263F87155DE}"/>
              </a:ext>
            </a:extLst>
          </p:cNvPr>
          <p:cNvCxnSpPr>
            <a:cxnSpLocks/>
          </p:cNvCxnSpPr>
          <p:nvPr/>
        </p:nvCxnSpPr>
        <p:spPr>
          <a:xfrm flipV="1">
            <a:off x="3180387" y="2985629"/>
            <a:ext cx="1902580" cy="40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654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20" grpId="0"/>
      <p:bldP spid="123"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6A84634-AF90-9E5F-1F4F-995965098F76}"/>
              </a:ext>
            </a:extLst>
          </p:cNvPr>
          <p:cNvSpPr>
            <a:spLocks noGrp="1"/>
          </p:cNvSpPr>
          <p:nvPr>
            <p:ph type="title"/>
          </p:nvPr>
        </p:nvSpPr>
        <p:spPr>
          <a:xfrm>
            <a:off x="808638" y="386930"/>
            <a:ext cx="9236700" cy="1188950"/>
          </a:xfrm>
        </p:spPr>
        <p:txBody>
          <a:bodyPr anchor="b">
            <a:normAutofit/>
          </a:bodyPr>
          <a:lstStyle/>
          <a:p>
            <a:r>
              <a:rPr lang="en-US" sz="4200"/>
              <a:t>Special Considerations for Associations</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40605582-BBC4-2FF1-4897-A92333E6FE7A}"/>
              </a:ext>
            </a:extLst>
          </p:cNvPr>
          <p:cNvSpPr>
            <a:spLocks noGrp="1"/>
          </p:cNvSpPr>
          <p:nvPr>
            <p:ph idx="1"/>
          </p:nvPr>
        </p:nvSpPr>
        <p:spPr>
          <a:xfrm>
            <a:off x="793660" y="2599509"/>
            <a:ext cx="10143668" cy="3435531"/>
          </a:xfrm>
        </p:spPr>
        <p:txBody>
          <a:bodyPr anchor="ctr">
            <a:normAutofit/>
          </a:bodyPr>
          <a:lstStyle/>
          <a:p>
            <a:r>
              <a:rPr lang="en-US" sz="3700" dirty="0"/>
              <a:t>Generalizations</a:t>
            </a:r>
          </a:p>
          <a:p>
            <a:r>
              <a:rPr lang="en-US" sz="3700" dirty="0"/>
              <a:t>Association Classes</a:t>
            </a:r>
          </a:p>
          <a:p>
            <a:r>
              <a:rPr lang="en-US" sz="3700" dirty="0"/>
              <a:t>Aggregation and Composition</a:t>
            </a:r>
          </a:p>
        </p:txBody>
      </p:sp>
      <p:sp>
        <p:nvSpPr>
          <p:cNvPr id="4" name="Slide Number Placeholder 3">
            <a:extLst>
              <a:ext uri="{FF2B5EF4-FFF2-40B4-BE49-F238E27FC236}">
                <a16:creationId xmlns:a16="http://schemas.microsoft.com/office/drawing/2014/main" id="{1729AF20-6165-3728-E4B9-4784D594D82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F6DEEC-D04A-4FF0-9A08-7D39859C24F4}"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221864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C8154C9-F5B3-4FD9-9FDE-D0FC5B8DC46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05890" name="Rectangle 2"/>
          <p:cNvSpPr>
            <a:spLocks noGrp="1" noChangeArrowheads="1"/>
          </p:cNvSpPr>
          <p:nvPr>
            <p:ph type="title"/>
          </p:nvPr>
        </p:nvSpPr>
        <p:spPr/>
        <p:txBody>
          <a:bodyPr/>
          <a:lstStyle/>
          <a:p>
            <a:r>
              <a:rPr lang="en-US" altLang="en-US"/>
              <a:t>Generalization</a:t>
            </a:r>
          </a:p>
        </p:txBody>
      </p:sp>
      <p:sp>
        <p:nvSpPr>
          <p:cNvPr id="805891" name="Rectangle 3"/>
          <p:cNvSpPr>
            <a:spLocks noGrp="1" noChangeArrowheads="1"/>
          </p:cNvSpPr>
          <p:nvPr>
            <p:ph type="body" idx="1"/>
          </p:nvPr>
        </p:nvSpPr>
        <p:spPr/>
        <p:txBody>
          <a:bodyPr/>
          <a:lstStyle/>
          <a:p>
            <a:pPr marL="342900" indent="-342900" algn="just"/>
            <a:r>
              <a:rPr lang="en-US" sz="2600" b="0" i="0" dirty="0">
                <a:solidFill>
                  <a:srgbClr val="2D3B45"/>
                </a:solidFill>
                <a:effectLst/>
                <a:latin typeface="Lato Extended"/>
              </a:rPr>
              <a:t>One type of association is Generalization. This type aims to organize concepts to identify commonality among them.</a:t>
            </a:r>
            <a:r>
              <a:rPr lang="en-US" sz="2600" dirty="0"/>
              <a:t>)</a:t>
            </a:r>
          </a:p>
          <a:p>
            <a:pPr marL="342900" indent="-342900" algn="just"/>
            <a:r>
              <a:rPr lang="en-US" sz="2600" dirty="0">
                <a:solidFill>
                  <a:srgbClr val="2D3B45"/>
                </a:solidFill>
                <a:latin typeface="Lato Extended"/>
              </a:rPr>
              <a:t>T</a:t>
            </a:r>
            <a:r>
              <a:rPr lang="en-US" sz="2600" b="0" i="0" dirty="0">
                <a:solidFill>
                  <a:srgbClr val="2D3B45"/>
                </a:solidFill>
                <a:effectLst/>
                <a:latin typeface="Lato Extended"/>
              </a:rPr>
              <a:t>he superclass of </a:t>
            </a:r>
            <a:r>
              <a:rPr lang="en-US" sz="2600" b="1" i="1" dirty="0">
                <a:solidFill>
                  <a:srgbClr val="2D3B45"/>
                </a:solidFill>
                <a:effectLst/>
                <a:latin typeface="Lato Extended"/>
              </a:rPr>
              <a:t>payment</a:t>
            </a:r>
            <a:r>
              <a:rPr lang="en-US" sz="2600" b="0" i="0" dirty="0">
                <a:solidFill>
                  <a:srgbClr val="2D3B45"/>
                </a:solidFill>
                <a:effectLst/>
                <a:latin typeface="Lato Extended"/>
              </a:rPr>
              <a:t> and the subclasses of </a:t>
            </a:r>
            <a:r>
              <a:rPr lang="en-US" sz="2600" b="0" i="1" dirty="0">
                <a:solidFill>
                  <a:srgbClr val="2D3B45"/>
                </a:solidFill>
                <a:effectLst/>
                <a:latin typeface="Lato Extended"/>
              </a:rPr>
              <a:t>cash payment</a:t>
            </a:r>
            <a:r>
              <a:rPr lang="en-US" sz="2600" b="0" i="0" dirty="0">
                <a:solidFill>
                  <a:srgbClr val="2D3B45"/>
                </a:solidFill>
                <a:effectLst/>
                <a:latin typeface="Lato Extended"/>
              </a:rPr>
              <a:t>, </a:t>
            </a:r>
            <a:r>
              <a:rPr lang="en-US" sz="2600" b="0" i="1" dirty="0">
                <a:solidFill>
                  <a:srgbClr val="2D3B45"/>
                </a:solidFill>
                <a:effectLst/>
                <a:latin typeface="Lato Extended"/>
              </a:rPr>
              <a:t>credit payment</a:t>
            </a:r>
            <a:r>
              <a:rPr lang="en-US" sz="2600" b="0" i="0" dirty="0">
                <a:solidFill>
                  <a:srgbClr val="2D3B45"/>
                </a:solidFill>
                <a:effectLst/>
                <a:latin typeface="Lato Extended"/>
              </a:rPr>
              <a:t>, </a:t>
            </a:r>
            <a:r>
              <a:rPr lang="en-US" sz="2600" b="0" i="1" dirty="0">
                <a:solidFill>
                  <a:srgbClr val="2D3B45"/>
                </a:solidFill>
                <a:effectLst/>
                <a:latin typeface="Lato Extended"/>
              </a:rPr>
              <a:t>check payment</a:t>
            </a:r>
            <a:endParaRPr lang="en-US" sz="2600" dirty="0"/>
          </a:p>
          <a:p>
            <a:pPr marL="342900" indent="-342900"/>
            <a:endParaRPr lang="en-US" sz="3600" dirty="0"/>
          </a:p>
        </p:txBody>
      </p:sp>
      <p:grpSp>
        <p:nvGrpSpPr>
          <p:cNvPr id="805900" name="Group 12"/>
          <p:cNvGrpSpPr>
            <a:grpSpLocks/>
          </p:cNvGrpSpPr>
          <p:nvPr/>
        </p:nvGrpSpPr>
        <p:grpSpPr bwMode="auto">
          <a:xfrm>
            <a:off x="2728210" y="3772183"/>
            <a:ext cx="8625590" cy="2267736"/>
            <a:chOff x="1232" y="2426"/>
            <a:chExt cx="2785" cy="786"/>
          </a:xfrm>
        </p:grpSpPr>
        <p:sp>
          <p:nvSpPr>
            <p:cNvPr id="805892" name="Text Box 4"/>
            <p:cNvSpPr txBox="1">
              <a:spLocks noChangeArrowheads="1"/>
            </p:cNvSpPr>
            <p:nvPr/>
          </p:nvSpPr>
          <p:spPr bwMode="blackWhite">
            <a:xfrm>
              <a:off x="2265" y="2426"/>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a:ln>
                    <a:noFill/>
                  </a:ln>
                  <a:solidFill>
                    <a:prstClr val="black"/>
                  </a:solidFill>
                  <a:effectLst/>
                  <a:uLnTx/>
                  <a:uFillTx/>
                  <a:latin typeface="Calibri" panose="020F0502020204030204"/>
                  <a:ea typeface="+mn-ea"/>
                  <a:cs typeface="+mn-cs"/>
                </a:rPr>
                <a:t>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3" name="Text Box 5"/>
            <p:cNvSpPr txBox="1">
              <a:spLocks noChangeArrowheads="1"/>
            </p:cNvSpPr>
            <p:nvPr/>
          </p:nvSpPr>
          <p:spPr bwMode="blackWhite">
            <a:xfrm>
              <a:off x="1232" y="3012"/>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Cash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4" name="Text Box 6"/>
            <p:cNvSpPr txBox="1">
              <a:spLocks noChangeArrowheads="1"/>
            </p:cNvSpPr>
            <p:nvPr/>
          </p:nvSpPr>
          <p:spPr bwMode="blackWhite">
            <a:xfrm>
              <a:off x="2192" y="3012"/>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Credit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5" name="Text Box 7"/>
            <p:cNvSpPr txBox="1">
              <a:spLocks noChangeArrowheads="1"/>
            </p:cNvSpPr>
            <p:nvPr/>
          </p:nvSpPr>
          <p:spPr bwMode="blackWhite">
            <a:xfrm>
              <a:off x="3160" y="3020"/>
              <a:ext cx="857" cy="192"/>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             Check Payment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5897" name="AutoShape 9"/>
            <p:cNvSpPr>
              <a:spLocks noChangeArrowheads="1"/>
            </p:cNvSpPr>
            <p:nvPr/>
          </p:nvSpPr>
          <p:spPr bwMode="blackWhite">
            <a:xfrm>
              <a:off x="2561" y="2619"/>
              <a:ext cx="133" cy="114"/>
            </a:xfrm>
            <a:prstGeom prst="triangle">
              <a:avLst>
                <a:gd name="adj" fmla="val 50000"/>
              </a:avLst>
            </a:prstGeom>
            <a:noFill/>
            <a:ln w="9525">
              <a:solidFill>
                <a:schemeClr val="tx1"/>
              </a:solidFill>
              <a:miter lim="800000"/>
              <a:headEnd/>
              <a:tailEnd/>
            </a:ln>
            <a:effectLst/>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898" name="Line 10"/>
            <p:cNvSpPr>
              <a:spLocks noChangeShapeType="1"/>
            </p:cNvSpPr>
            <p:nvPr/>
          </p:nvSpPr>
          <p:spPr bwMode="blackWhite">
            <a:xfrm flipH="1">
              <a:off x="2626" y="2742"/>
              <a:ext cx="5" cy="146"/>
            </a:xfrm>
            <a:prstGeom prst="line">
              <a:avLst/>
            </a:prstGeom>
            <a:noFill/>
            <a:ln w="9525">
              <a:solidFill>
                <a:schemeClr val="tx1"/>
              </a:solidFill>
              <a:round/>
              <a:headEnd/>
              <a:tailEnd/>
            </a:ln>
            <a:effectLst/>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899" name="Freeform 11"/>
            <p:cNvSpPr>
              <a:spLocks/>
            </p:cNvSpPr>
            <p:nvPr/>
          </p:nvSpPr>
          <p:spPr bwMode="blackWhite">
            <a:xfrm>
              <a:off x="1614" y="2888"/>
              <a:ext cx="2026" cy="146"/>
            </a:xfrm>
            <a:custGeom>
              <a:avLst/>
              <a:gdLst/>
              <a:ahLst/>
              <a:cxnLst>
                <a:cxn ang="0">
                  <a:pos x="0" y="112"/>
                </a:cxn>
                <a:cxn ang="0">
                  <a:pos x="0" y="0"/>
                </a:cxn>
                <a:cxn ang="0">
                  <a:pos x="2016" y="0"/>
                </a:cxn>
                <a:cxn ang="0">
                  <a:pos x="2016" y="128"/>
                </a:cxn>
              </a:cxnLst>
              <a:rect l="0" t="0" r="r" b="b"/>
              <a:pathLst>
                <a:path w="2016" h="128">
                  <a:moveTo>
                    <a:pt x="0" y="112"/>
                  </a:moveTo>
                  <a:lnTo>
                    <a:pt x="0" y="0"/>
                  </a:lnTo>
                  <a:lnTo>
                    <a:pt x="2016" y="0"/>
                  </a:lnTo>
                  <a:lnTo>
                    <a:pt x="2016" y="128"/>
                  </a:lnTo>
                </a:path>
              </a:pathLst>
            </a:custGeom>
            <a:noFill/>
            <a:ln w="9525" cap="flat" cmpd="sng">
              <a:solidFill>
                <a:schemeClr val="tx1"/>
              </a:solidFill>
              <a:prstDash val="solid"/>
              <a:round/>
              <a:headEnd/>
              <a:tailEnd/>
            </a:ln>
            <a:effectLst/>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3" name="Straight Connector 2">
            <a:extLst>
              <a:ext uri="{FF2B5EF4-FFF2-40B4-BE49-F238E27FC236}">
                <a16:creationId xmlns:a16="http://schemas.microsoft.com/office/drawing/2014/main" id="{104BE659-22B1-6C57-2ADA-8EAA7F4CE7F8}"/>
              </a:ext>
            </a:extLst>
          </p:cNvPr>
          <p:cNvCxnSpPr>
            <a:endCxn id="805894" idx="0"/>
          </p:cNvCxnSpPr>
          <p:nvPr/>
        </p:nvCxnSpPr>
        <p:spPr>
          <a:xfrm flipH="1">
            <a:off x="7028616" y="5105115"/>
            <a:ext cx="32521" cy="35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95D0128-E62A-1B5F-B2B1-9D97D05679FA}"/>
              </a:ext>
            </a:extLst>
          </p:cNvPr>
          <p:cNvCxnSpPr/>
          <p:nvPr/>
        </p:nvCxnSpPr>
        <p:spPr>
          <a:xfrm>
            <a:off x="3237875" y="4326134"/>
            <a:ext cx="3477718" cy="1673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B4576C96-78C3-99A6-2209-C85B75A81B39}"/>
              </a:ext>
            </a:extLst>
          </p:cNvPr>
          <p:cNvSpPr txBox="1"/>
          <p:nvPr/>
        </p:nvSpPr>
        <p:spPr>
          <a:xfrm>
            <a:off x="927600" y="3957001"/>
            <a:ext cx="315561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D7D31"/>
                </a:solidFill>
                <a:effectLst/>
                <a:uLnTx/>
                <a:uFillTx/>
                <a:latin typeface="Calibri" panose="020F0502020204030204"/>
                <a:ea typeface="+mn-ea"/>
                <a:cs typeface="+mn-cs"/>
              </a:rPr>
              <a:t>This is how we represent Generalization in UML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a:xfrm>
            <a:off x="3581392"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5CF7F1F-BD89-4691-81D3-3829BAC0D3FE}"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12034" name="Rectangle 2"/>
          <p:cNvSpPr>
            <a:spLocks noGrp="1" noChangeArrowheads="1"/>
          </p:cNvSpPr>
          <p:nvPr>
            <p:ph type="title"/>
          </p:nvPr>
        </p:nvSpPr>
        <p:spPr>
          <a:xfrm>
            <a:off x="331539" y="48888"/>
            <a:ext cx="10515600" cy="1325563"/>
          </a:xfrm>
        </p:spPr>
        <p:txBody>
          <a:bodyPr/>
          <a:lstStyle/>
          <a:p>
            <a:r>
              <a:rPr lang="en-US" altLang="en-US" dirty="0"/>
              <a:t>Association Classes</a:t>
            </a:r>
          </a:p>
        </p:txBody>
      </p:sp>
      <p:sp>
        <p:nvSpPr>
          <p:cNvPr id="812036" name="Text Box 4"/>
          <p:cNvSpPr txBox="1">
            <a:spLocks noChangeArrowheads="1"/>
          </p:cNvSpPr>
          <p:nvPr/>
        </p:nvSpPr>
        <p:spPr bwMode="blackWhite">
          <a:xfrm>
            <a:off x="6489692" y="4318001"/>
            <a:ext cx="1460500" cy="276999"/>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Company</a:t>
            </a:r>
          </a:p>
        </p:txBody>
      </p:sp>
      <p:sp>
        <p:nvSpPr>
          <p:cNvPr id="812037" name="Text Box 5"/>
          <p:cNvSpPr txBox="1">
            <a:spLocks noChangeArrowheads="1"/>
          </p:cNvSpPr>
          <p:nvPr/>
        </p:nvSpPr>
        <p:spPr bwMode="blackWhite">
          <a:xfrm>
            <a:off x="9728192" y="4279901"/>
            <a:ext cx="1460500" cy="276999"/>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Person</a:t>
            </a:r>
          </a:p>
        </p:txBody>
      </p:sp>
      <p:sp>
        <p:nvSpPr>
          <p:cNvPr id="812038" name="Line 6"/>
          <p:cNvSpPr>
            <a:spLocks noChangeShapeType="1"/>
          </p:cNvSpPr>
          <p:nvPr/>
        </p:nvSpPr>
        <p:spPr bwMode="blackWhite">
          <a:xfrm>
            <a:off x="7937492" y="4457700"/>
            <a:ext cx="1803400" cy="0"/>
          </a:xfrm>
          <a:prstGeom prst="line">
            <a:avLst/>
          </a:prstGeom>
          <a:noFill/>
          <a:ln w="9525">
            <a:solidFill>
              <a:schemeClr val="tx1"/>
            </a:solidFill>
            <a:round/>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2039" name="Text Box 7"/>
          <p:cNvSpPr txBox="1">
            <a:spLocks noChangeArrowheads="1"/>
          </p:cNvSpPr>
          <p:nvPr/>
        </p:nvSpPr>
        <p:spPr bwMode="blackWhite">
          <a:xfrm>
            <a:off x="7967472" y="4149360"/>
            <a:ext cx="1714500" cy="553998"/>
          </a:xfrm>
          <a:prstGeom prst="rect">
            <a:avLst/>
          </a:prstGeom>
          <a:noFill/>
          <a:ln w="9525">
            <a:noFill/>
            <a:miter lim="800000"/>
            <a:headEnd/>
            <a:tailEnd/>
          </a:ln>
          <a:effectLst/>
        </p:spPr>
        <p:txBody>
          <a:bodyPr wrap="square"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Employs       0..*                       *</a:t>
            </a:r>
          </a:p>
        </p:txBody>
      </p:sp>
      <p:sp>
        <p:nvSpPr>
          <p:cNvPr id="812040" name="Text Box 8"/>
          <p:cNvSpPr txBox="1">
            <a:spLocks noChangeArrowheads="1"/>
          </p:cNvSpPr>
          <p:nvPr/>
        </p:nvSpPr>
        <p:spPr bwMode="blackWhite">
          <a:xfrm>
            <a:off x="8204192" y="5321301"/>
            <a:ext cx="1460500" cy="276999"/>
          </a:xfrm>
          <a:prstGeom prst="rect">
            <a:avLst/>
          </a:prstGeom>
          <a:noFill/>
          <a:ln w="9525">
            <a:solidFill>
              <a:schemeClr val="tx1"/>
            </a:solidFill>
            <a:miter lim="800000"/>
            <a:headEnd/>
            <a:tailEnd/>
          </a:ln>
          <a:effectLst/>
        </p:spPr>
        <p:txBody>
          <a:bodyPr lIns="0" tIns="0" rIns="0" bIns="0">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Employment</a:t>
            </a:r>
          </a:p>
        </p:txBody>
      </p:sp>
      <p:sp>
        <p:nvSpPr>
          <p:cNvPr id="812041" name="Line 9"/>
          <p:cNvSpPr>
            <a:spLocks noChangeShapeType="1"/>
          </p:cNvSpPr>
          <p:nvPr/>
        </p:nvSpPr>
        <p:spPr bwMode="blackWhite">
          <a:xfrm>
            <a:off x="8864592" y="4457700"/>
            <a:ext cx="38100" cy="850900"/>
          </a:xfrm>
          <a:prstGeom prst="line">
            <a:avLst/>
          </a:prstGeom>
          <a:noFill/>
          <a:ln w="9525">
            <a:solidFill>
              <a:schemeClr val="tx1"/>
            </a:solidFill>
            <a:prstDash val="dash"/>
            <a:round/>
            <a:headEnd/>
            <a:tailEnd/>
          </a:ln>
          <a:effectLst/>
        </p:spPr>
        <p:txBody>
          <a:bodyPr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Rectangle 3"/>
          <p:cNvSpPr txBox="1">
            <a:spLocks noChangeArrowheads="1"/>
          </p:cNvSpPr>
          <p:nvPr/>
        </p:nvSpPr>
        <p:spPr>
          <a:xfrm>
            <a:off x="331539" y="1620108"/>
            <a:ext cx="5993053" cy="473624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2D3B45"/>
                </a:solidFill>
                <a:effectLst/>
                <a:uLnTx/>
                <a:uFillTx/>
                <a:latin typeface="Lato Extended"/>
                <a:ea typeface="+mn-ea"/>
                <a:cs typeface="+mn-cs"/>
              </a:rPr>
              <a:t>Let's consider an example using a "Person" and "Company" scenario”.</a:t>
            </a: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srgbClr val="2D3B45"/>
              </a:solidFill>
              <a:effectLst/>
              <a:uLnTx/>
              <a:uFillTx/>
              <a:latin typeface="Lato Extended"/>
              <a:ea typeface="+mn-ea"/>
              <a:cs typeface="+mn-cs"/>
            </a:endParaRPr>
          </a:p>
          <a:p>
            <a:pPr marL="342900" marR="0" lvl="0" indent="-3429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2D3B45"/>
                </a:solidFill>
                <a:effectLst/>
                <a:uLnTx/>
                <a:uFillTx/>
                <a:latin typeface="Lato Extended"/>
                <a:ea typeface="+mn-ea"/>
                <a:cs typeface="+mn-cs"/>
              </a:rPr>
              <a:t>Assume you have a system where individuals can be employed by multiple companies, and for each employment, there is additional information such as the role or position and the start date. </a:t>
            </a: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srgbClr val="2D3B45"/>
              </a:solidFill>
              <a:effectLst/>
              <a:uLnTx/>
              <a:uFillTx/>
              <a:latin typeface="Lato Extended"/>
              <a:ea typeface="+mn-ea"/>
              <a:cs typeface="+mn-cs"/>
            </a:endParaRPr>
          </a:p>
          <a:p>
            <a:pPr marL="342900" marR="0" lvl="0" indent="-3429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2D3B45"/>
                </a:solidFill>
                <a:effectLst/>
                <a:uLnTx/>
                <a:uFillTx/>
                <a:latin typeface="Lato Extended"/>
                <a:ea typeface="+mn-ea"/>
                <a:cs typeface="+mn-cs"/>
              </a:rPr>
              <a:t>In this case, you can use an association class to represent the relationship between "Person" and "Company" with the added information about the employment.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6136" name="Group 81613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6137" name="Rectangle 81613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6138" name="Rectangle 81613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6139" name="Rectangle 81613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6130"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Aggregation</a:t>
            </a:r>
          </a:p>
        </p:txBody>
      </p:sp>
      <p:sp>
        <p:nvSpPr>
          <p:cNvPr id="816131" name="Rectangle 3"/>
          <p:cNvSpPr>
            <a:spLocks noGrp="1" noChangeArrowheads="1"/>
          </p:cNvSpPr>
          <p:nvPr>
            <p:ph type="body" idx="1"/>
          </p:nvPr>
        </p:nvSpPr>
        <p:spPr>
          <a:xfrm>
            <a:off x="194872" y="2308124"/>
            <a:ext cx="11467476" cy="3673576"/>
          </a:xfrm>
        </p:spPr>
        <p:txBody>
          <a:bodyPr>
            <a:normAutofit lnSpcReduction="10000"/>
          </a:bodyPr>
          <a:lstStyle/>
          <a:p>
            <a:pPr marL="342900" indent="-342900"/>
            <a:r>
              <a:rPr lang="en-US" sz="3200" dirty="0"/>
              <a:t>It is a kind of association used for modeling whole-part relationships</a:t>
            </a:r>
          </a:p>
          <a:p>
            <a:pPr marL="0" indent="0">
              <a:buNone/>
            </a:pPr>
            <a:endParaRPr lang="en-US" sz="3200" dirty="0"/>
          </a:p>
          <a:p>
            <a:pPr marL="742950" lvl="1" indent="-285750"/>
            <a:r>
              <a:rPr lang="en-US" sz="3200" dirty="0"/>
              <a:t>Shown in UML as a hollow diamond symbol at the “whole end” of the whole-part association</a:t>
            </a:r>
          </a:p>
          <a:p>
            <a:pPr marL="457200" lvl="1" indent="0">
              <a:buNone/>
            </a:pPr>
            <a:endParaRPr lang="en-US" sz="3200" dirty="0"/>
          </a:p>
          <a:p>
            <a:pPr marL="742950" lvl="1" indent="-285750"/>
            <a:r>
              <a:rPr lang="en-US" sz="3200" dirty="0"/>
              <a:t>No semantic difference to a regular association, which is why </a:t>
            </a:r>
            <a:r>
              <a:rPr lang="en-US" sz="3200" dirty="0" err="1"/>
              <a:t>Larman</a:t>
            </a:r>
            <a:r>
              <a:rPr lang="en-US" sz="3200" dirty="0"/>
              <a:t> avoids it. </a:t>
            </a:r>
          </a:p>
          <a:p>
            <a:pPr marL="742950" lvl="1" indent="-28575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AE379D67-711F-4FD1-8CAC-73C869398775}" type="slidenum">
              <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30</a:t>
            </a:fld>
            <a:endPar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65288" name="Group 8652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65289" name="Rectangle 8652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5290" name="Rectangle 8652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5291" name="Rectangle 8652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652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Composition</a:t>
            </a:r>
          </a:p>
        </p:txBody>
      </p:sp>
      <p:sp>
        <p:nvSpPr>
          <p:cNvPr id="865283" name="Rectangle 3"/>
          <p:cNvSpPr>
            <a:spLocks noGrp="1" noChangeArrowheads="1"/>
          </p:cNvSpPr>
          <p:nvPr>
            <p:ph type="body" idx="1"/>
          </p:nvPr>
        </p:nvSpPr>
        <p:spPr>
          <a:xfrm>
            <a:off x="269823" y="2308124"/>
            <a:ext cx="11737297" cy="3673576"/>
          </a:xfrm>
        </p:spPr>
        <p:txBody>
          <a:bodyPr>
            <a:normAutofit/>
          </a:bodyPr>
          <a:lstStyle/>
          <a:p>
            <a:pPr marL="342900" indent="-342900"/>
            <a:r>
              <a:rPr lang="en-US" dirty="0"/>
              <a:t>It is a specialized form of aggregation</a:t>
            </a:r>
          </a:p>
          <a:p>
            <a:pPr marL="742950" lvl="1" indent="-285750"/>
            <a:r>
              <a:rPr lang="en-US" sz="2800" dirty="0"/>
              <a:t>Shown in UML as a filled diamond symbol at the “whole end” of the whole-part association</a:t>
            </a:r>
          </a:p>
          <a:p>
            <a:pPr marL="457200" lvl="1" indent="0">
              <a:buNone/>
            </a:pPr>
            <a:endParaRPr lang="en-US" sz="2800" dirty="0"/>
          </a:p>
          <a:p>
            <a:pPr marL="742950" lvl="1" indent="-285750"/>
            <a:r>
              <a:rPr lang="en-US" sz="2800" dirty="0"/>
              <a:t>More meaningful than aggregation.</a:t>
            </a:r>
          </a:p>
          <a:p>
            <a:pPr lvl="2"/>
            <a:r>
              <a:rPr lang="en-US" sz="2800" dirty="0"/>
              <a:t>The parts are “owned” by the whole…they are often created together, they definitely die together, and operations applied to the whole propagate to the parts.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C01CC517-C50E-4398-9830-AA253266BFB0}" type="slidenum">
              <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31</a:t>
            </a:fld>
            <a:endParaRPr kumimoji="0" lang="de-DE" sz="12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5960" name="Rectangle 76595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62" name="Rectangle 76596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64" name="Rectangle 76596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66" name="Rectangle 76596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5954" name="Rectangle 2"/>
          <p:cNvSpPr>
            <a:spLocks noGrp="1" noChangeArrowheads="1"/>
          </p:cNvSpPr>
          <p:nvPr>
            <p:ph type="title"/>
          </p:nvPr>
        </p:nvSpPr>
        <p:spPr>
          <a:xfrm>
            <a:off x="699713" y="248038"/>
            <a:ext cx="7063721" cy="1159200"/>
          </a:xfrm>
        </p:spPr>
        <p:txBody>
          <a:bodyPr vert="horz" lIns="91440" tIns="45720" rIns="91440" bIns="45720" rtlCol="0" anchor="ctr">
            <a:normAutofit/>
          </a:bodyPr>
          <a:lstStyle/>
          <a:p>
            <a:r>
              <a:rPr lang="en-US" altLang="en-US" sz="4000" kern="1200">
                <a:solidFill>
                  <a:srgbClr val="FFFFFF"/>
                </a:solidFill>
                <a:latin typeface="+mj-lt"/>
                <a:ea typeface="+mj-ea"/>
                <a:cs typeface="+mj-cs"/>
              </a:rPr>
              <a:t>System Operation Contracts</a:t>
            </a:r>
          </a:p>
        </p:txBody>
      </p:sp>
      <p:pic>
        <p:nvPicPr>
          <p:cNvPr id="765955" name="Picture 3"/>
          <p:cNvPicPr>
            <a:picLocks noGrp="1" noChangeAspect="1" noChangeArrowheads="1"/>
          </p:cNvPicPr>
          <p:nvPr>
            <p:ph idx="1"/>
          </p:nvPr>
        </p:nvPicPr>
        <p:blipFill>
          <a:blip r:embed="rId3"/>
          <a:stretch>
            <a:fillRect/>
          </a:stretch>
        </p:blipFill>
        <p:spPr>
          <a:xfrm>
            <a:off x="1757167" y="1966293"/>
            <a:ext cx="8677664" cy="4452160"/>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10C0E1BF-AC19-4E39-AD54-1E1A62203205}"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32</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2104" name="Rectangle 77210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2106" name="Rectangle 772105">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2108" name="Rectangle 772107">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2110" name="Rectangle 772109">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2112" name="Freeform: Shape 772111">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2098" name="Rectangle 2"/>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dirty="0">
                <a:solidFill>
                  <a:srgbClr val="FFFFFF"/>
                </a:solidFill>
                <a:latin typeface="+mj-lt"/>
                <a:ea typeface="+mj-ea"/>
                <a:cs typeface="+mj-cs"/>
              </a:rPr>
              <a:t>Operation Contract Full Template</a:t>
            </a:r>
          </a:p>
        </p:txBody>
      </p:sp>
      <p:pic>
        <p:nvPicPr>
          <p:cNvPr id="772099" name="Picture 3" descr="contract2"/>
          <p:cNvPicPr>
            <a:picLocks noGrp="1" noChangeAspect="1" noChangeArrowheads="1"/>
          </p:cNvPicPr>
          <p:nvPr>
            <p:ph idx="1"/>
          </p:nvPr>
        </p:nvPicPr>
        <p:blipFill>
          <a:blip r:embed="rId3"/>
          <a:stretch>
            <a:fillRect/>
          </a:stretch>
        </p:blipFill>
        <p:spPr>
          <a:xfrm>
            <a:off x="4038605" y="37211"/>
            <a:ext cx="8113770" cy="6875819"/>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50ADCC1-ADA1-436F-8E49-4B03770FD01B}"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33</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4152" name="Rectangle 77415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4154" name="Rectangle 774153">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4156" name="Rectangle 774155">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4158" name="Rectangle 774157">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4160" name="Freeform: Shape 774159">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4146" name="Rectangle 2"/>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dirty="0">
                <a:solidFill>
                  <a:srgbClr val="FFFFFF"/>
                </a:solidFill>
                <a:latin typeface="+mj-lt"/>
                <a:ea typeface="+mj-ea"/>
                <a:cs typeface="+mj-cs"/>
              </a:rPr>
              <a:t>Example (Operation Contract for </a:t>
            </a:r>
            <a:r>
              <a:rPr lang="en-US" altLang="en-US" sz="4000" i="1" kern="1200" dirty="0" err="1">
                <a:solidFill>
                  <a:srgbClr val="FFFFFF"/>
                </a:solidFill>
                <a:latin typeface="+mj-lt"/>
                <a:ea typeface="+mj-ea"/>
                <a:cs typeface="+mj-cs"/>
              </a:rPr>
              <a:t>enterItem</a:t>
            </a:r>
            <a:r>
              <a:rPr lang="en-US" altLang="en-US" sz="4000" kern="1200" dirty="0">
                <a:solidFill>
                  <a:srgbClr val="FFFFFF"/>
                </a:solidFill>
                <a:latin typeface="+mj-lt"/>
                <a:ea typeface="+mj-ea"/>
                <a:cs typeface="+mj-cs"/>
              </a:rPr>
              <a:t>)</a:t>
            </a:r>
          </a:p>
        </p:txBody>
      </p:sp>
      <p:pic>
        <p:nvPicPr>
          <p:cNvPr id="774147" name="Picture 3" descr="contract"/>
          <p:cNvPicPr>
            <a:picLocks noGrp="1" noChangeAspect="1" noChangeArrowheads="1"/>
          </p:cNvPicPr>
          <p:nvPr>
            <p:ph idx="1"/>
          </p:nvPr>
        </p:nvPicPr>
        <p:blipFill>
          <a:blip r:embed="rId3"/>
          <a:stretch>
            <a:fillRect/>
          </a:stretch>
        </p:blipFill>
        <p:spPr>
          <a:xfrm>
            <a:off x="4502428" y="493540"/>
            <a:ext cx="7225748" cy="5870920"/>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B4DA01F8-02BC-447E-BCC7-96AFC80205E3}"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34</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Picture 4">
            <a:extLst>
              <a:ext uri="{FF2B5EF4-FFF2-40B4-BE49-F238E27FC236}">
                <a16:creationId xmlns:a16="http://schemas.microsoft.com/office/drawing/2014/main" id="{8672C2FB-BDE4-453D-B736-F2F905298F57}"/>
              </a:ext>
            </a:extLst>
          </p:cNvPr>
          <p:cNvPicPr>
            <a:picLocks noChangeAspect="1" noChangeArrowheads="1"/>
          </p:cNvPicPr>
          <p:nvPr/>
        </p:nvPicPr>
        <p:blipFill>
          <a:blip r:embed="rId2"/>
          <a:stretch>
            <a:fillRect/>
          </a:stretch>
        </p:blipFill>
        <p:spPr bwMode="auto">
          <a:xfrm>
            <a:off x="643467" y="832679"/>
            <a:ext cx="10905066" cy="5192641"/>
          </a:xfrm>
          <a:prstGeom prst="rect">
            <a:avLst/>
          </a:prstGeom>
          <a:noFill/>
        </p:spPr>
      </p:pic>
      <p:sp>
        <p:nvSpPr>
          <p:cNvPr id="2" name="Slide Number Placeholder 1">
            <a:extLst>
              <a:ext uri="{FF2B5EF4-FFF2-40B4-BE49-F238E27FC236}">
                <a16:creationId xmlns:a16="http://schemas.microsoft.com/office/drawing/2014/main" id="{7F853D5C-23EC-4695-8F34-F54732ACE5A7}"/>
              </a:ext>
            </a:extLst>
          </p:cNvPr>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44C8290B-349C-469A-A3A9-47E61E8F9E2E}" type="slidenum">
              <a:rPr kumimoji="0" lang="de-DE" sz="1200" b="0" i="0" u="none" strike="noStrike" kern="1200" cap="none" spc="0" normalizeH="0" baseline="0" noProof="0">
                <a:ln>
                  <a:noFill/>
                </a:ln>
                <a:solidFill>
                  <a:srgbClr val="FFFFFF"/>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35</a:t>
            </a:fld>
            <a:endParaRPr kumimoji="0" lang="de-DE"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51208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pPr marL="342900" indent="-342900"/>
            <a:r>
              <a:rPr lang="en-US" altLang="en-US" sz="5400" dirty="0"/>
              <a:t>GRASP Patterns</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1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36</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hought Bubble: Cloud 3">
            <a:extLst>
              <a:ext uri="{FF2B5EF4-FFF2-40B4-BE49-F238E27FC236}">
                <a16:creationId xmlns:a16="http://schemas.microsoft.com/office/drawing/2014/main" id="{BEBA861C-DDD4-7D32-BDC5-444F49C6EFEF}"/>
              </a:ext>
            </a:extLst>
          </p:cNvPr>
          <p:cNvSpPr/>
          <p:nvPr/>
        </p:nvSpPr>
        <p:spPr>
          <a:xfrm>
            <a:off x="666771" y="1625827"/>
            <a:ext cx="2753591" cy="1505527"/>
          </a:xfrm>
          <a:prstGeom prst="cloudCallout">
            <a:avLst>
              <a:gd name="adj1" fmla="val 48349"/>
              <a:gd name="adj2" fmla="val 69248"/>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SEQUENCE DIAGRAMS</a:t>
            </a:r>
          </a:p>
        </p:txBody>
      </p:sp>
      <p:sp>
        <p:nvSpPr>
          <p:cNvPr id="6" name="Thought Bubble: Cloud 5">
            <a:extLst>
              <a:ext uri="{FF2B5EF4-FFF2-40B4-BE49-F238E27FC236}">
                <a16:creationId xmlns:a16="http://schemas.microsoft.com/office/drawing/2014/main" id="{69E4241D-A7B7-D23D-2166-0229658AF989}"/>
              </a:ext>
            </a:extLst>
          </p:cNvPr>
          <p:cNvSpPr/>
          <p:nvPr/>
        </p:nvSpPr>
        <p:spPr>
          <a:xfrm>
            <a:off x="7596907" y="218436"/>
            <a:ext cx="2753591" cy="1505527"/>
          </a:xfrm>
          <a:prstGeom prst="cloudCallout">
            <a:avLst>
              <a:gd name="adj1" fmla="val -67877"/>
              <a:gd name="adj2" fmla="val 111426"/>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SYSTEM SEQUENCE DIAGRAMS</a:t>
            </a:r>
          </a:p>
        </p:txBody>
      </p:sp>
      <p:sp>
        <p:nvSpPr>
          <p:cNvPr id="7" name="Thought Bubble: Cloud 6">
            <a:extLst>
              <a:ext uri="{FF2B5EF4-FFF2-40B4-BE49-F238E27FC236}">
                <a16:creationId xmlns:a16="http://schemas.microsoft.com/office/drawing/2014/main" id="{5AF09484-7101-2375-9DBC-02202A182ECA}"/>
              </a:ext>
            </a:extLst>
          </p:cNvPr>
          <p:cNvSpPr/>
          <p:nvPr/>
        </p:nvSpPr>
        <p:spPr>
          <a:xfrm>
            <a:off x="3597373" y="218436"/>
            <a:ext cx="2753591" cy="1505527"/>
          </a:xfrm>
          <a:prstGeom prst="cloudCallout">
            <a:avLst>
              <a:gd name="adj1" fmla="val 10068"/>
              <a:gd name="adj2" fmla="val 11564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INTERACTION DIAGRAMS</a:t>
            </a:r>
          </a:p>
        </p:txBody>
      </p:sp>
      <p:sp>
        <p:nvSpPr>
          <p:cNvPr id="8" name="Thought Bubble: Cloud 7">
            <a:extLst>
              <a:ext uri="{FF2B5EF4-FFF2-40B4-BE49-F238E27FC236}">
                <a16:creationId xmlns:a16="http://schemas.microsoft.com/office/drawing/2014/main" id="{09884AB9-D6FD-97BE-429C-B39A2C52080A}"/>
              </a:ext>
            </a:extLst>
          </p:cNvPr>
          <p:cNvSpPr/>
          <p:nvPr/>
        </p:nvSpPr>
        <p:spPr>
          <a:xfrm>
            <a:off x="7596907" y="2676236"/>
            <a:ext cx="3185392" cy="1505527"/>
          </a:xfrm>
          <a:prstGeom prst="cloudCallout">
            <a:avLst>
              <a:gd name="adj1" fmla="val -53925"/>
              <a:gd name="adj2" fmla="val 9455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COMMUNICATION DIAGRAMS</a:t>
            </a:r>
          </a:p>
        </p:txBody>
      </p:sp>
      <p:pic>
        <p:nvPicPr>
          <p:cNvPr id="11" name="Picture 10">
            <a:extLst>
              <a:ext uri="{FF2B5EF4-FFF2-40B4-BE49-F238E27FC236}">
                <a16:creationId xmlns:a16="http://schemas.microsoft.com/office/drawing/2014/main" id="{7C2431D4-1B04-E530-DDF4-E0F0CF16F6C1}"/>
              </a:ext>
            </a:extLst>
          </p:cNvPr>
          <p:cNvPicPr>
            <a:picLocks noChangeAspect="1"/>
          </p:cNvPicPr>
          <p:nvPr/>
        </p:nvPicPr>
        <p:blipFill>
          <a:blip r:embed="rId2"/>
          <a:stretch>
            <a:fillRect/>
          </a:stretch>
        </p:blipFill>
        <p:spPr>
          <a:xfrm>
            <a:off x="3597373" y="2889299"/>
            <a:ext cx="3822523" cy="2584928"/>
          </a:xfrm>
          <a:prstGeom prst="rect">
            <a:avLst/>
          </a:prstGeom>
        </p:spPr>
      </p:pic>
    </p:spTree>
    <p:extLst>
      <p:ext uri="{BB962C8B-B14F-4D97-AF65-F5344CB8AC3E}">
        <p14:creationId xmlns:p14="http://schemas.microsoft.com/office/powerpoint/2010/main" val="2561721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C4816C5-AB4D-4E9E-9A8C-08C156D24402}"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37634" name="Rectangle 2"/>
          <p:cNvSpPr>
            <a:spLocks noGrp="1" noChangeArrowheads="1"/>
          </p:cNvSpPr>
          <p:nvPr>
            <p:ph type="title"/>
          </p:nvPr>
        </p:nvSpPr>
        <p:spPr/>
        <p:txBody>
          <a:bodyPr/>
          <a:lstStyle/>
          <a:p>
            <a:r>
              <a:rPr lang="en-US"/>
              <a:t>How to Make a Class Diagram</a:t>
            </a:r>
          </a:p>
        </p:txBody>
      </p:sp>
      <p:sp>
        <p:nvSpPr>
          <p:cNvPr id="837635" name="Rectangle 3"/>
          <p:cNvSpPr>
            <a:spLocks noGrp="1" noChangeArrowheads="1"/>
          </p:cNvSpPr>
          <p:nvPr>
            <p:ph type="body" idx="1"/>
          </p:nvPr>
        </p:nvSpPr>
        <p:spPr/>
        <p:txBody>
          <a:bodyPr/>
          <a:lstStyle/>
          <a:p>
            <a:pPr marL="0" indent="0">
              <a:buNone/>
            </a:pPr>
            <a:r>
              <a:rPr lang="en-US" sz="2400" u="sng" dirty="0"/>
              <a:t>1. Identify all the classes</a:t>
            </a:r>
            <a:r>
              <a:rPr lang="en-US" sz="2400" dirty="0"/>
              <a:t> participating in the software solution by analyzing the interaction diagrams. </a:t>
            </a:r>
            <a:r>
              <a:rPr lang="en-US" sz="2400" b="1" dirty="0"/>
              <a:t>The interaction diagrams is your starting point.</a:t>
            </a:r>
          </a:p>
          <a:p>
            <a:pPr marL="723900" lvl="1" indent="-342900"/>
            <a:r>
              <a:rPr lang="en-US" sz="2200" dirty="0"/>
              <a:t>Draw them in a class diagram</a:t>
            </a:r>
          </a:p>
          <a:p>
            <a:pPr marL="0" indent="0">
              <a:buNone/>
            </a:pPr>
            <a:r>
              <a:rPr lang="en-US" sz="2400" u="sng" dirty="0"/>
              <a:t>2. Duplicate the attributes</a:t>
            </a:r>
            <a:r>
              <a:rPr lang="en-US" sz="2400" dirty="0"/>
              <a:t> from the associated concepts in the domain model.</a:t>
            </a:r>
          </a:p>
          <a:p>
            <a:pPr marL="0" indent="0">
              <a:buNone/>
            </a:pPr>
            <a:r>
              <a:rPr lang="en-US" sz="2400" u="sng" dirty="0"/>
              <a:t>3. Add method</a:t>
            </a:r>
            <a:r>
              <a:rPr lang="en-US" sz="2400" dirty="0"/>
              <a:t> names by analyzing interaction diagrams</a:t>
            </a:r>
          </a:p>
          <a:p>
            <a:pPr marL="0" indent="0">
              <a:buNone/>
            </a:pPr>
            <a:r>
              <a:rPr lang="en-US" sz="2400" u="sng" dirty="0"/>
              <a:t>4. Add type</a:t>
            </a:r>
            <a:r>
              <a:rPr lang="en-US" sz="2400" dirty="0"/>
              <a:t> information to attributes and methods</a:t>
            </a:r>
          </a:p>
          <a:p>
            <a:pPr marL="0" indent="0">
              <a:buNone/>
            </a:pPr>
            <a:r>
              <a:rPr lang="en-US" sz="2400" u="sng" dirty="0"/>
              <a:t>5. Add associations</a:t>
            </a:r>
            <a:r>
              <a:rPr lang="en-US" sz="2400" dirty="0"/>
              <a:t> necessary to support required attribute visibility</a:t>
            </a:r>
          </a:p>
          <a:p>
            <a:pPr marL="0" indent="0">
              <a:buNone/>
            </a:pPr>
            <a:r>
              <a:rPr lang="en-US" sz="2400" u="sng" dirty="0"/>
              <a:t>6. Add navigability</a:t>
            </a:r>
            <a:r>
              <a:rPr lang="en-US" sz="2400" dirty="0"/>
              <a:t> to associations to indicate direction of visibility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7B24B46-FC7A-4859-8E5B-18985FA5EFE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52994" name="Freeform 2"/>
          <p:cNvSpPr>
            <a:spLocks/>
          </p:cNvSpPr>
          <p:nvPr/>
        </p:nvSpPr>
        <p:spPr bwMode="auto">
          <a:xfrm>
            <a:off x="4324350" y="2906714"/>
            <a:ext cx="6167438" cy="3354387"/>
          </a:xfrm>
          <a:custGeom>
            <a:avLst/>
            <a:gdLst/>
            <a:ahLst/>
            <a:cxnLst>
              <a:cxn ang="0">
                <a:pos x="294" y="99"/>
              </a:cxn>
              <a:cxn ang="0">
                <a:pos x="171" y="184"/>
              </a:cxn>
              <a:cxn ang="0">
                <a:pos x="147" y="454"/>
              </a:cxn>
              <a:cxn ang="0">
                <a:pos x="134" y="540"/>
              </a:cxn>
              <a:cxn ang="0">
                <a:pos x="24" y="613"/>
              </a:cxn>
              <a:cxn ang="0">
                <a:pos x="0" y="650"/>
              </a:cxn>
              <a:cxn ang="0">
                <a:pos x="85" y="809"/>
              </a:cxn>
              <a:cxn ang="0">
                <a:pos x="73" y="956"/>
              </a:cxn>
              <a:cxn ang="0">
                <a:pos x="85" y="1018"/>
              </a:cxn>
              <a:cxn ang="0">
                <a:pos x="147" y="1103"/>
              </a:cxn>
              <a:cxn ang="0">
                <a:pos x="122" y="1275"/>
              </a:cxn>
              <a:cxn ang="0">
                <a:pos x="98" y="1581"/>
              </a:cxn>
              <a:cxn ang="0">
                <a:pos x="134" y="1753"/>
              </a:cxn>
              <a:cxn ang="0">
                <a:pos x="159" y="1900"/>
              </a:cxn>
              <a:cxn ang="0">
                <a:pos x="318" y="1974"/>
              </a:cxn>
              <a:cxn ang="0">
                <a:pos x="649" y="2084"/>
              </a:cxn>
              <a:cxn ang="0">
                <a:pos x="747" y="2108"/>
              </a:cxn>
              <a:cxn ang="0">
                <a:pos x="1250" y="2072"/>
              </a:cxn>
              <a:cxn ang="0">
                <a:pos x="1323" y="2047"/>
              </a:cxn>
              <a:cxn ang="0">
                <a:pos x="1360" y="2023"/>
              </a:cxn>
              <a:cxn ang="0">
                <a:pos x="1409" y="2010"/>
              </a:cxn>
              <a:cxn ang="0">
                <a:pos x="1458" y="1986"/>
              </a:cxn>
              <a:cxn ang="0">
                <a:pos x="1531" y="1863"/>
              </a:cxn>
              <a:cxn ang="0">
                <a:pos x="1654" y="1189"/>
              </a:cxn>
              <a:cxn ang="0">
                <a:pos x="1777" y="1152"/>
              </a:cxn>
              <a:cxn ang="0">
                <a:pos x="2291" y="1091"/>
              </a:cxn>
              <a:cxn ang="0">
                <a:pos x="2733" y="1103"/>
              </a:cxn>
              <a:cxn ang="0">
                <a:pos x="3112" y="1202"/>
              </a:cxn>
              <a:cxn ang="0">
                <a:pos x="3443" y="1251"/>
              </a:cxn>
              <a:cxn ang="0">
                <a:pos x="3627" y="1238"/>
              </a:cxn>
              <a:cxn ang="0">
                <a:pos x="3786" y="1152"/>
              </a:cxn>
              <a:cxn ang="0">
                <a:pos x="3848" y="1079"/>
              </a:cxn>
              <a:cxn ang="0">
                <a:pos x="3885" y="920"/>
              </a:cxn>
              <a:cxn ang="0">
                <a:pos x="3872" y="724"/>
              </a:cxn>
              <a:cxn ang="0">
                <a:pos x="3835" y="626"/>
              </a:cxn>
              <a:cxn ang="0">
                <a:pos x="3566" y="197"/>
              </a:cxn>
              <a:cxn ang="0">
                <a:pos x="3358" y="135"/>
              </a:cxn>
              <a:cxn ang="0">
                <a:pos x="3186" y="99"/>
              </a:cxn>
              <a:cxn ang="0">
                <a:pos x="2757" y="135"/>
              </a:cxn>
              <a:cxn ang="0">
                <a:pos x="2438" y="123"/>
              </a:cxn>
              <a:cxn ang="0">
                <a:pos x="2353" y="86"/>
              </a:cxn>
              <a:cxn ang="0">
                <a:pos x="2230" y="50"/>
              </a:cxn>
              <a:cxn ang="0">
                <a:pos x="1948" y="99"/>
              </a:cxn>
              <a:cxn ang="0">
                <a:pos x="1715" y="50"/>
              </a:cxn>
              <a:cxn ang="0">
                <a:pos x="1617" y="62"/>
              </a:cxn>
              <a:cxn ang="0">
                <a:pos x="1568" y="86"/>
              </a:cxn>
              <a:cxn ang="0">
                <a:pos x="1470" y="74"/>
              </a:cxn>
              <a:cxn ang="0">
                <a:pos x="1323" y="25"/>
              </a:cxn>
              <a:cxn ang="0">
                <a:pos x="1225" y="0"/>
              </a:cxn>
              <a:cxn ang="0">
                <a:pos x="882" y="13"/>
              </a:cxn>
              <a:cxn ang="0">
                <a:pos x="612" y="86"/>
              </a:cxn>
              <a:cxn ang="0">
                <a:pos x="527" y="62"/>
              </a:cxn>
              <a:cxn ang="0">
                <a:pos x="453" y="37"/>
              </a:cxn>
              <a:cxn ang="0">
                <a:pos x="367" y="50"/>
              </a:cxn>
              <a:cxn ang="0">
                <a:pos x="343" y="86"/>
              </a:cxn>
              <a:cxn ang="0">
                <a:pos x="294" y="99"/>
              </a:cxn>
            </a:cxnLst>
            <a:rect l="0" t="0" r="r" b="b"/>
            <a:pathLst>
              <a:path w="3885" h="2113">
                <a:moveTo>
                  <a:pt x="294" y="99"/>
                </a:moveTo>
                <a:cubicBezTo>
                  <a:pt x="252" y="126"/>
                  <a:pt x="213" y="157"/>
                  <a:pt x="171" y="184"/>
                </a:cubicBezTo>
                <a:cubicBezTo>
                  <a:pt x="109" y="280"/>
                  <a:pt x="105" y="334"/>
                  <a:pt x="147" y="454"/>
                </a:cubicBezTo>
                <a:cubicBezTo>
                  <a:pt x="143" y="483"/>
                  <a:pt x="145" y="513"/>
                  <a:pt x="134" y="540"/>
                </a:cubicBezTo>
                <a:cubicBezTo>
                  <a:pt x="118" y="579"/>
                  <a:pt x="59" y="602"/>
                  <a:pt x="24" y="613"/>
                </a:cubicBezTo>
                <a:cubicBezTo>
                  <a:pt x="16" y="625"/>
                  <a:pt x="0" y="635"/>
                  <a:pt x="0" y="650"/>
                </a:cubicBezTo>
                <a:cubicBezTo>
                  <a:pt x="0" y="713"/>
                  <a:pt x="53" y="762"/>
                  <a:pt x="85" y="809"/>
                </a:cubicBezTo>
                <a:cubicBezTo>
                  <a:pt x="100" y="866"/>
                  <a:pt x="91" y="901"/>
                  <a:pt x="73" y="956"/>
                </a:cubicBezTo>
                <a:cubicBezTo>
                  <a:pt x="77" y="977"/>
                  <a:pt x="76" y="999"/>
                  <a:pt x="85" y="1018"/>
                </a:cubicBezTo>
                <a:cubicBezTo>
                  <a:pt x="101" y="1049"/>
                  <a:pt x="147" y="1103"/>
                  <a:pt x="147" y="1103"/>
                </a:cubicBezTo>
                <a:cubicBezTo>
                  <a:pt x="164" y="1173"/>
                  <a:pt x="144" y="1208"/>
                  <a:pt x="122" y="1275"/>
                </a:cubicBezTo>
                <a:cubicBezTo>
                  <a:pt x="130" y="1375"/>
                  <a:pt x="157" y="1492"/>
                  <a:pt x="98" y="1581"/>
                </a:cubicBezTo>
                <a:cubicBezTo>
                  <a:pt x="107" y="1643"/>
                  <a:pt x="123" y="1693"/>
                  <a:pt x="134" y="1753"/>
                </a:cubicBezTo>
                <a:cubicBezTo>
                  <a:pt x="143" y="1802"/>
                  <a:pt x="138" y="1855"/>
                  <a:pt x="159" y="1900"/>
                </a:cubicBezTo>
                <a:cubicBezTo>
                  <a:pt x="173" y="1930"/>
                  <a:pt x="290" y="1962"/>
                  <a:pt x="318" y="1974"/>
                </a:cubicBezTo>
                <a:cubicBezTo>
                  <a:pt x="364" y="2113"/>
                  <a:pt x="533" y="2055"/>
                  <a:pt x="649" y="2084"/>
                </a:cubicBezTo>
                <a:cubicBezTo>
                  <a:pt x="682" y="2092"/>
                  <a:pt x="747" y="2108"/>
                  <a:pt x="747" y="2108"/>
                </a:cubicBezTo>
                <a:cubicBezTo>
                  <a:pt x="942" y="2100"/>
                  <a:pt x="1066" y="2085"/>
                  <a:pt x="1250" y="2072"/>
                </a:cubicBezTo>
                <a:cubicBezTo>
                  <a:pt x="1274" y="2063"/>
                  <a:pt x="1300" y="2058"/>
                  <a:pt x="1323" y="2047"/>
                </a:cubicBezTo>
                <a:cubicBezTo>
                  <a:pt x="1336" y="2041"/>
                  <a:pt x="1346" y="2029"/>
                  <a:pt x="1360" y="2023"/>
                </a:cubicBezTo>
                <a:cubicBezTo>
                  <a:pt x="1376" y="2016"/>
                  <a:pt x="1393" y="2016"/>
                  <a:pt x="1409" y="2010"/>
                </a:cubicBezTo>
                <a:cubicBezTo>
                  <a:pt x="1426" y="2004"/>
                  <a:pt x="1442" y="1994"/>
                  <a:pt x="1458" y="1986"/>
                </a:cubicBezTo>
                <a:cubicBezTo>
                  <a:pt x="1517" y="1897"/>
                  <a:pt x="1494" y="1939"/>
                  <a:pt x="1531" y="1863"/>
                </a:cubicBezTo>
                <a:cubicBezTo>
                  <a:pt x="1533" y="1793"/>
                  <a:pt x="1432" y="1287"/>
                  <a:pt x="1654" y="1189"/>
                </a:cubicBezTo>
                <a:cubicBezTo>
                  <a:pt x="1684" y="1176"/>
                  <a:pt x="1742" y="1161"/>
                  <a:pt x="1777" y="1152"/>
                </a:cubicBezTo>
                <a:cubicBezTo>
                  <a:pt x="1909" y="1064"/>
                  <a:pt x="2186" y="1094"/>
                  <a:pt x="2291" y="1091"/>
                </a:cubicBezTo>
                <a:cubicBezTo>
                  <a:pt x="2438" y="1095"/>
                  <a:pt x="2586" y="1093"/>
                  <a:pt x="2733" y="1103"/>
                </a:cubicBezTo>
                <a:cubicBezTo>
                  <a:pt x="2857" y="1112"/>
                  <a:pt x="2991" y="1175"/>
                  <a:pt x="3112" y="1202"/>
                </a:cubicBezTo>
                <a:cubicBezTo>
                  <a:pt x="3221" y="1226"/>
                  <a:pt x="3333" y="1234"/>
                  <a:pt x="3443" y="1251"/>
                </a:cubicBezTo>
                <a:cubicBezTo>
                  <a:pt x="3504" y="1247"/>
                  <a:pt x="3566" y="1245"/>
                  <a:pt x="3627" y="1238"/>
                </a:cubicBezTo>
                <a:cubicBezTo>
                  <a:pt x="3683" y="1232"/>
                  <a:pt x="3735" y="1178"/>
                  <a:pt x="3786" y="1152"/>
                </a:cubicBezTo>
                <a:cubicBezTo>
                  <a:pt x="3804" y="1126"/>
                  <a:pt x="3835" y="1108"/>
                  <a:pt x="3848" y="1079"/>
                </a:cubicBezTo>
                <a:cubicBezTo>
                  <a:pt x="3855" y="1063"/>
                  <a:pt x="3878" y="951"/>
                  <a:pt x="3885" y="920"/>
                </a:cubicBezTo>
                <a:cubicBezTo>
                  <a:pt x="3881" y="855"/>
                  <a:pt x="3879" y="789"/>
                  <a:pt x="3872" y="724"/>
                </a:cubicBezTo>
                <a:cubicBezTo>
                  <a:pt x="3870" y="707"/>
                  <a:pt x="3836" y="629"/>
                  <a:pt x="3835" y="626"/>
                </a:cubicBezTo>
                <a:cubicBezTo>
                  <a:pt x="3777" y="462"/>
                  <a:pt x="3745" y="279"/>
                  <a:pt x="3566" y="197"/>
                </a:cubicBezTo>
                <a:cubicBezTo>
                  <a:pt x="3445" y="142"/>
                  <a:pt x="3468" y="152"/>
                  <a:pt x="3358" y="135"/>
                </a:cubicBezTo>
                <a:cubicBezTo>
                  <a:pt x="3302" y="117"/>
                  <a:pt x="3243" y="113"/>
                  <a:pt x="3186" y="99"/>
                </a:cubicBezTo>
                <a:cubicBezTo>
                  <a:pt x="2991" y="106"/>
                  <a:pt x="2906" y="87"/>
                  <a:pt x="2757" y="135"/>
                </a:cubicBezTo>
                <a:cubicBezTo>
                  <a:pt x="2651" y="131"/>
                  <a:pt x="2544" y="130"/>
                  <a:pt x="2438" y="123"/>
                </a:cubicBezTo>
                <a:cubicBezTo>
                  <a:pt x="2413" y="121"/>
                  <a:pt x="2371" y="93"/>
                  <a:pt x="2353" y="86"/>
                </a:cubicBezTo>
                <a:cubicBezTo>
                  <a:pt x="2306" y="67"/>
                  <a:pt x="2276" y="61"/>
                  <a:pt x="2230" y="50"/>
                </a:cubicBezTo>
                <a:cubicBezTo>
                  <a:pt x="2013" y="63"/>
                  <a:pt x="2084" y="51"/>
                  <a:pt x="1948" y="99"/>
                </a:cubicBezTo>
                <a:cubicBezTo>
                  <a:pt x="1848" y="89"/>
                  <a:pt x="1802" y="78"/>
                  <a:pt x="1715" y="50"/>
                </a:cubicBezTo>
                <a:cubicBezTo>
                  <a:pt x="1682" y="54"/>
                  <a:pt x="1649" y="54"/>
                  <a:pt x="1617" y="62"/>
                </a:cubicBezTo>
                <a:cubicBezTo>
                  <a:pt x="1599" y="66"/>
                  <a:pt x="1586" y="85"/>
                  <a:pt x="1568" y="86"/>
                </a:cubicBezTo>
                <a:cubicBezTo>
                  <a:pt x="1535" y="89"/>
                  <a:pt x="1503" y="78"/>
                  <a:pt x="1470" y="74"/>
                </a:cubicBezTo>
                <a:cubicBezTo>
                  <a:pt x="1422" y="58"/>
                  <a:pt x="1372" y="38"/>
                  <a:pt x="1323" y="25"/>
                </a:cubicBezTo>
                <a:cubicBezTo>
                  <a:pt x="1290" y="17"/>
                  <a:pt x="1225" y="0"/>
                  <a:pt x="1225" y="0"/>
                </a:cubicBezTo>
                <a:cubicBezTo>
                  <a:pt x="1084" y="15"/>
                  <a:pt x="1032" y="23"/>
                  <a:pt x="882" y="13"/>
                </a:cubicBezTo>
                <a:cubicBezTo>
                  <a:pt x="741" y="31"/>
                  <a:pt x="710" y="22"/>
                  <a:pt x="612" y="86"/>
                </a:cubicBezTo>
                <a:cubicBezTo>
                  <a:pt x="584" y="78"/>
                  <a:pt x="555" y="71"/>
                  <a:pt x="527" y="62"/>
                </a:cubicBezTo>
                <a:cubicBezTo>
                  <a:pt x="502" y="54"/>
                  <a:pt x="453" y="37"/>
                  <a:pt x="453" y="37"/>
                </a:cubicBezTo>
                <a:cubicBezTo>
                  <a:pt x="424" y="41"/>
                  <a:pt x="393" y="38"/>
                  <a:pt x="367" y="50"/>
                </a:cubicBezTo>
                <a:cubicBezTo>
                  <a:pt x="354" y="56"/>
                  <a:pt x="355" y="78"/>
                  <a:pt x="343" y="86"/>
                </a:cubicBezTo>
                <a:cubicBezTo>
                  <a:pt x="329" y="95"/>
                  <a:pt x="310" y="95"/>
                  <a:pt x="294" y="99"/>
                </a:cubicBezTo>
                <a:close/>
              </a:path>
            </a:pathLst>
          </a:custGeom>
          <a:solidFill>
            <a:srgbClr val="99CCFF"/>
          </a:solidFill>
          <a:ln w="9525" cap="flat" cmpd="sng">
            <a:solidFill>
              <a:srgbClr val="CCFFFF"/>
            </a:solidFill>
            <a:prstDash val="solid"/>
            <a:round/>
            <a:headEnd type="none" w="med" len="med"/>
            <a:tailEnd type="none" w="med" len="med"/>
          </a:ln>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852995" name="Group 3"/>
          <p:cNvGrpSpPr>
            <a:grpSpLocks/>
          </p:cNvGrpSpPr>
          <p:nvPr/>
        </p:nvGrpSpPr>
        <p:grpSpPr bwMode="auto">
          <a:xfrm>
            <a:off x="1932163" y="497411"/>
            <a:ext cx="8361359" cy="2390775"/>
            <a:chOff x="57" y="57"/>
            <a:chExt cx="5267" cy="1506"/>
          </a:xfrm>
        </p:grpSpPr>
        <p:pic>
          <p:nvPicPr>
            <p:cNvPr id="852996" name="Picture 4"/>
            <p:cNvPicPr>
              <a:picLocks noChangeAspect="1" noChangeArrowheads="1"/>
            </p:cNvPicPr>
            <p:nvPr/>
          </p:nvPicPr>
          <p:blipFill>
            <a:blip r:embed="rId3"/>
            <a:srcRect/>
            <a:stretch>
              <a:fillRect/>
            </a:stretch>
          </p:blipFill>
          <p:spPr bwMode="auto">
            <a:xfrm>
              <a:off x="57" y="57"/>
              <a:ext cx="2834" cy="1506"/>
            </a:xfrm>
            <a:prstGeom prst="rect">
              <a:avLst/>
            </a:prstGeom>
            <a:solidFill>
              <a:schemeClr val="bg1"/>
            </a:solidFill>
            <a:ln w="9525">
              <a:noFill/>
              <a:miter lim="800000"/>
              <a:headEnd/>
              <a:tailEnd/>
            </a:ln>
            <a:effectLst/>
          </p:spPr>
        </p:pic>
        <p:sp>
          <p:nvSpPr>
            <p:cNvPr id="852997" name="Text Box 5"/>
            <p:cNvSpPr txBox="1">
              <a:spLocks noChangeArrowheads="1"/>
            </p:cNvSpPr>
            <p:nvPr/>
          </p:nvSpPr>
          <p:spPr bwMode="auto">
            <a:xfrm>
              <a:off x="3168" y="720"/>
              <a:ext cx="2156" cy="407"/>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From</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Communication</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diagram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endParaRPr>
            </a:p>
          </p:txBody>
        </p:sp>
        <p:sp>
          <p:nvSpPr>
            <p:cNvPr id="852998" name="Freeform 6"/>
            <p:cNvSpPr>
              <a:spLocks/>
            </p:cNvSpPr>
            <p:nvPr/>
          </p:nvSpPr>
          <p:spPr bwMode="auto">
            <a:xfrm>
              <a:off x="2879" y="282"/>
              <a:ext cx="1198" cy="438"/>
            </a:xfrm>
            <a:custGeom>
              <a:avLst/>
              <a:gdLst/>
              <a:ahLst/>
              <a:cxnLst>
                <a:cxn ang="0">
                  <a:pos x="1200" y="440"/>
                </a:cxn>
                <a:cxn ang="0">
                  <a:pos x="672" y="56"/>
                </a:cxn>
                <a:cxn ang="0">
                  <a:pos x="0" y="104"/>
                </a:cxn>
              </a:cxnLst>
              <a:rect l="0" t="0" r="r" b="b"/>
              <a:pathLst>
                <a:path w="1200" h="440">
                  <a:moveTo>
                    <a:pt x="1200" y="440"/>
                  </a:moveTo>
                  <a:cubicBezTo>
                    <a:pt x="1036" y="276"/>
                    <a:pt x="872" y="112"/>
                    <a:pt x="672" y="56"/>
                  </a:cubicBezTo>
                  <a:cubicBezTo>
                    <a:pt x="472" y="0"/>
                    <a:pt x="236" y="52"/>
                    <a:pt x="0" y="104"/>
                  </a:cubicBezTo>
                </a:path>
              </a:pathLst>
            </a:custGeom>
            <a:noFill/>
            <a:ln w="9525" cap="flat" cmpd="sng">
              <a:solidFill>
                <a:srgbClr val="080808"/>
              </a:solidFill>
              <a:prstDash val="solid"/>
              <a:round/>
              <a:headEnd type="none" w="med" len="med"/>
              <a:tailEnd type="stealth" w="med" len="med"/>
            </a:ln>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2999" name="Group 7"/>
          <p:cNvGrpSpPr>
            <a:grpSpLocks/>
          </p:cNvGrpSpPr>
          <p:nvPr/>
        </p:nvGrpSpPr>
        <p:grpSpPr bwMode="auto">
          <a:xfrm>
            <a:off x="4633914" y="1778000"/>
            <a:ext cx="5392737" cy="5029200"/>
            <a:chOff x="2159" y="912"/>
            <a:chExt cx="3485" cy="3237"/>
          </a:xfrm>
        </p:grpSpPr>
        <p:pic>
          <p:nvPicPr>
            <p:cNvPr id="853000" name="Picture 8"/>
            <p:cNvPicPr>
              <a:picLocks noChangeAspect="1" noChangeArrowheads="1"/>
            </p:cNvPicPr>
            <p:nvPr/>
          </p:nvPicPr>
          <p:blipFill>
            <a:blip r:embed="rId4"/>
            <a:srcRect/>
            <a:stretch>
              <a:fillRect/>
            </a:stretch>
          </p:blipFill>
          <p:spPr bwMode="auto">
            <a:xfrm>
              <a:off x="2159" y="1894"/>
              <a:ext cx="3485" cy="2255"/>
            </a:xfrm>
            <a:prstGeom prst="rect">
              <a:avLst/>
            </a:prstGeom>
            <a:noFill/>
            <a:ln w="9525">
              <a:noFill/>
              <a:miter lim="800000"/>
              <a:headEnd/>
              <a:tailEnd/>
            </a:ln>
            <a:effectLst/>
          </p:spPr>
        </p:pic>
        <p:sp>
          <p:nvSpPr>
            <p:cNvPr id="853001" name="Freeform 9"/>
            <p:cNvSpPr>
              <a:spLocks/>
            </p:cNvSpPr>
            <p:nvPr/>
          </p:nvSpPr>
          <p:spPr bwMode="auto">
            <a:xfrm>
              <a:off x="4368" y="1104"/>
              <a:ext cx="104" cy="720"/>
            </a:xfrm>
            <a:custGeom>
              <a:avLst/>
              <a:gdLst/>
              <a:ahLst/>
              <a:cxnLst>
                <a:cxn ang="0">
                  <a:pos x="0" y="0"/>
                </a:cxn>
                <a:cxn ang="0">
                  <a:pos x="96" y="432"/>
                </a:cxn>
                <a:cxn ang="0">
                  <a:pos x="48" y="720"/>
                </a:cxn>
              </a:cxnLst>
              <a:rect l="0" t="0" r="r" b="b"/>
              <a:pathLst>
                <a:path w="104" h="720">
                  <a:moveTo>
                    <a:pt x="0" y="0"/>
                  </a:moveTo>
                  <a:cubicBezTo>
                    <a:pt x="44" y="156"/>
                    <a:pt x="88" y="312"/>
                    <a:pt x="96" y="432"/>
                  </a:cubicBezTo>
                  <a:cubicBezTo>
                    <a:pt x="104" y="552"/>
                    <a:pt x="76" y="636"/>
                    <a:pt x="48" y="720"/>
                  </a:cubicBezTo>
                </a:path>
              </a:pathLst>
            </a:custGeom>
            <a:noFill/>
            <a:ln w="9525" cap="flat" cmpd="sng">
              <a:solidFill>
                <a:srgbClr val="080808"/>
              </a:solidFill>
              <a:prstDash val="solid"/>
              <a:round/>
              <a:headEnd type="none" w="med" len="med"/>
              <a:tailEnd type="stealth" w="med" len="med"/>
            </a:ln>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3002" name="Rectangle 10"/>
            <p:cNvSpPr>
              <a:spLocks noChangeArrowheads="1"/>
            </p:cNvSpPr>
            <p:nvPr/>
          </p:nvSpPr>
          <p:spPr bwMode="auto">
            <a:xfrm>
              <a:off x="3600" y="912"/>
              <a:ext cx="1279" cy="236"/>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To</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Class</a:t>
              </a:r>
              <a:r>
                <a:rPr kumimoji="0" lang="en-US" sz="1800" b="0" i="0" u="none" strike="noStrike" kern="1200" cap="none" spc="0" normalizeH="0" baseline="0" noProof="0" dirty="0">
                  <a:ln>
                    <a:noFill/>
                  </a:ln>
                  <a:solidFill>
                    <a:srgbClr val="E7E6E6"/>
                  </a:solidFill>
                  <a:effectLst/>
                  <a:uLnTx/>
                  <a:uFillTx/>
                  <a:latin typeface="Comic Sans MS" pitchFamily="66" charset="0"/>
                  <a:ea typeface="+mn-ea"/>
                  <a:cs typeface="+mn-cs"/>
                </a:rPr>
                <a:t> </a:t>
              </a:r>
              <a:r>
                <a:rPr kumimoji="0" lang="en-US" sz="1800" b="0" i="0" u="none" strike="noStrike" kern="1200" cap="none" spc="0" normalizeH="0" baseline="0" noProof="0" dirty="0">
                  <a:ln>
                    <a:noFill/>
                  </a:ln>
                  <a:solidFill>
                    <a:srgbClr val="080808"/>
                  </a:solidFill>
                  <a:effectLst/>
                  <a:uLnTx/>
                  <a:uFillTx/>
                  <a:latin typeface="Comic Sans MS" pitchFamily="66" charset="0"/>
                  <a:ea typeface="+mn-ea"/>
                  <a:cs typeface="+mn-cs"/>
                </a:rPr>
                <a:t>diagram</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childTnLst>
                                    <p:set>
                                      <p:cBhvr>
                                        <p:cTn id="6" dur="1" fill="hold">
                                          <p:stCondLst>
                                            <p:cond delay="0"/>
                                          </p:stCondLst>
                                        </p:cTn>
                                        <p:tgtEl>
                                          <p:spTgt spid="852994"/>
                                        </p:tgtEl>
                                        <p:attrNameLst>
                                          <p:attrName>style.visibility</p:attrName>
                                        </p:attrNameLst>
                                      </p:cBhvr>
                                      <p:to>
                                        <p:strVal val="visible"/>
                                      </p:to>
                                    </p:set>
                                    <p:anim calcmode="lin" valueType="num">
                                      <p:cBhvr>
                                        <p:cTn id="7" dur="500" fill="hold"/>
                                        <p:tgtEl>
                                          <p:spTgt spid="852994"/>
                                        </p:tgtEl>
                                        <p:attrNameLst>
                                          <p:attrName>ppt_w</p:attrName>
                                        </p:attrNameLst>
                                      </p:cBhvr>
                                      <p:tavLst>
                                        <p:tav tm="0">
                                          <p:val>
                                            <p:fltVal val="0"/>
                                          </p:val>
                                        </p:tav>
                                        <p:tav tm="100000">
                                          <p:val>
                                            <p:strVal val="#ppt_w"/>
                                          </p:val>
                                        </p:tav>
                                      </p:tavLst>
                                    </p:anim>
                                    <p:anim calcmode="lin" valueType="num">
                                      <p:cBhvr>
                                        <p:cTn id="8" dur="500" fill="hold"/>
                                        <p:tgtEl>
                                          <p:spTgt spid="85299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299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EA979BB6-F81A-CF5D-B549-58AF7E52C8C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30628"/>
            <a:ext cx="12004765" cy="6596743"/>
          </a:xfrm>
          <a:prstGeom prst="rect">
            <a:avLst/>
          </a:prstGeom>
          <a:ln>
            <a:noFill/>
          </a:ln>
        </p:spPr>
      </p:pic>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52436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B73B40-B091-525B-A9F6-D0769B641F53}"/>
              </a:ext>
            </a:extLst>
          </p:cNvPr>
          <p:cNvSpPr>
            <a:spLocks noGrp="1"/>
          </p:cNvSpPr>
          <p:nvPr>
            <p:ph type="ctrTitle"/>
          </p:nvPr>
        </p:nvSpPr>
        <p:spPr>
          <a:xfrm>
            <a:off x="138545" y="1928018"/>
            <a:ext cx="5624945" cy="2387600"/>
          </a:xfrm>
        </p:spPr>
        <p:txBody>
          <a:bodyPr/>
          <a:lstStyle/>
          <a:p>
            <a:r>
              <a:rPr lang="en-US" dirty="0"/>
              <a:t>SOFTWARE CONSTRUCTION</a:t>
            </a:r>
          </a:p>
        </p:txBody>
      </p:sp>
      <p:pic>
        <p:nvPicPr>
          <p:cNvPr id="1026" name="Picture 2">
            <a:extLst>
              <a:ext uri="{FF2B5EF4-FFF2-40B4-BE49-F238E27FC236}">
                <a16:creationId xmlns:a16="http://schemas.microsoft.com/office/drawing/2014/main" id="{6BDEB070-DEB1-055D-E9E3-85BA5940BE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1018" y="281781"/>
            <a:ext cx="4461164" cy="284003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4F108D30-0FD4-5C11-2260-6336FD32B0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26036" y="3736183"/>
            <a:ext cx="3435927" cy="2740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16105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7867</TotalTime>
  <Words>1711</Words>
  <Application>Microsoft Office PowerPoint</Application>
  <PresentationFormat>Widescreen</PresentationFormat>
  <Paragraphs>324</Paragraphs>
  <Slides>41</Slides>
  <Notes>14</Notes>
  <HiddenSlides>0</HiddenSlides>
  <MMClips>1</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41</vt:i4>
      </vt:variant>
    </vt:vector>
  </HeadingPairs>
  <TitlesOfParts>
    <vt:vector size="52" baseType="lpstr">
      <vt:lpstr>Arial</vt:lpstr>
      <vt:lpstr>Calibri</vt:lpstr>
      <vt:lpstr>Calibri Light</vt:lpstr>
      <vt:lpstr>Comic Sans MS</vt:lpstr>
      <vt:lpstr>Lato Extended</vt:lpstr>
      <vt:lpstr>Rockwell Extra Bold</vt:lpstr>
      <vt:lpstr>Times New Roman</vt:lpstr>
      <vt:lpstr>Wingdings</vt:lpstr>
      <vt:lpstr>Wood Type</vt:lpstr>
      <vt:lpstr>Office Theme</vt:lpstr>
      <vt:lpstr>1_Office Theme</vt:lpstr>
      <vt:lpstr>Software Engineering CS-UH 2012, SPRING 2025 </vt:lpstr>
      <vt:lpstr>Guidance to the Midterm exam </vt:lpstr>
      <vt:lpstr>Software Development Life Cycles </vt:lpstr>
      <vt:lpstr>Software development processes</vt:lpstr>
      <vt:lpstr>Requirements engineering</vt:lpstr>
      <vt:lpstr>Requirements engineering</vt:lpstr>
      <vt:lpstr>IEEE Std 29148</vt:lpstr>
      <vt:lpstr>IEEE Std 29148</vt:lpstr>
      <vt:lpstr>Singular</vt:lpstr>
      <vt:lpstr>Feasible</vt:lpstr>
      <vt:lpstr>Unambiguous</vt:lpstr>
      <vt:lpstr>Complete</vt:lpstr>
      <vt:lpstr>Consistent</vt:lpstr>
      <vt:lpstr>Verifiable</vt:lpstr>
      <vt:lpstr>Traceable</vt:lpstr>
      <vt:lpstr>Bounded</vt:lpstr>
      <vt:lpstr>Affordable</vt:lpstr>
      <vt:lpstr>Ranked</vt:lpstr>
      <vt:lpstr>Writing Requirements as Use Cases</vt:lpstr>
      <vt:lpstr>Useful Use Case Guidelines</vt:lpstr>
      <vt:lpstr>Software Design</vt:lpstr>
      <vt:lpstr>Object Oriented Design </vt:lpstr>
      <vt:lpstr>Use Case Example: Withdraw from ATM</vt:lpstr>
      <vt:lpstr>SSD Example: Register for Courses</vt:lpstr>
      <vt:lpstr> SSD EXAMPLE</vt:lpstr>
      <vt:lpstr>Hoes does a Domain Model Looks Like?</vt:lpstr>
      <vt:lpstr>Special Considerations for Associations</vt:lpstr>
      <vt:lpstr>Generalization</vt:lpstr>
      <vt:lpstr>Association Classes</vt:lpstr>
      <vt:lpstr>Aggregation</vt:lpstr>
      <vt:lpstr>Composition</vt:lpstr>
      <vt:lpstr>System Operation Contracts</vt:lpstr>
      <vt:lpstr>Operation Contract Full Template</vt:lpstr>
      <vt:lpstr>Example (Operation Contract for enterItem)</vt:lpstr>
      <vt:lpstr>PowerPoint Presentation</vt:lpstr>
      <vt:lpstr>GRASP Patterns</vt:lpstr>
      <vt:lpstr>PowerPoint Presentation</vt:lpstr>
      <vt:lpstr>How to Make a Class Diagram</vt:lpstr>
      <vt:lpstr>PowerPoint Presentation</vt:lpstr>
      <vt:lpstr>PowerPoint Presentation</vt:lpstr>
      <vt:lpstr>SOFTWARE CONSTRUCTION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Kassab, Mohamad Hassan</cp:lastModifiedBy>
  <cp:revision>350</cp:revision>
  <cp:lastPrinted>2019-01-29T11:38:48Z</cp:lastPrinted>
  <dcterms:created xsi:type="dcterms:W3CDTF">2019-01-29T04:54:51Z</dcterms:created>
  <dcterms:modified xsi:type="dcterms:W3CDTF">2025-03-04T07:42:03Z</dcterms:modified>
</cp:coreProperties>
</file>